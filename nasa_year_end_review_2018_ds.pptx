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39"/>
  </p:notesMasterIdLst>
  <p:handoutMasterIdLst>
    <p:handoutMasterId r:id="rId40"/>
  </p:handoutMasterIdLst>
  <p:sldIdLst>
    <p:sldId id="334" r:id="rId2"/>
    <p:sldId id="423" r:id="rId3"/>
    <p:sldId id="424" r:id="rId4"/>
    <p:sldId id="425" r:id="rId5"/>
    <p:sldId id="407" r:id="rId6"/>
    <p:sldId id="408" r:id="rId7"/>
    <p:sldId id="409" r:id="rId8"/>
    <p:sldId id="410" r:id="rId9"/>
    <p:sldId id="411" r:id="rId10"/>
    <p:sldId id="412" r:id="rId11"/>
    <p:sldId id="413" r:id="rId12"/>
    <p:sldId id="414" r:id="rId13"/>
    <p:sldId id="415" r:id="rId14"/>
    <p:sldId id="416" r:id="rId15"/>
    <p:sldId id="417" r:id="rId16"/>
    <p:sldId id="418" r:id="rId17"/>
    <p:sldId id="419" r:id="rId18"/>
    <p:sldId id="420" r:id="rId19"/>
    <p:sldId id="421" r:id="rId20"/>
    <p:sldId id="422" r:id="rId21"/>
    <p:sldId id="381" r:id="rId22"/>
    <p:sldId id="382" r:id="rId23"/>
    <p:sldId id="383" r:id="rId24"/>
    <p:sldId id="384" r:id="rId25"/>
    <p:sldId id="363" r:id="rId26"/>
    <p:sldId id="404" r:id="rId27"/>
    <p:sldId id="375" r:id="rId28"/>
    <p:sldId id="430" r:id="rId29"/>
    <p:sldId id="434" r:id="rId30"/>
    <p:sldId id="429" r:id="rId31"/>
    <p:sldId id="426" r:id="rId32"/>
    <p:sldId id="432" r:id="rId33"/>
    <p:sldId id="433" r:id="rId34"/>
    <p:sldId id="435" r:id="rId35"/>
    <p:sldId id="436" r:id="rId36"/>
    <p:sldId id="437" r:id="rId37"/>
    <p:sldId id="438" r:id="rId3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6768" autoAdjust="0"/>
  </p:normalViewPr>
  <p:slideViewPr>
    <p:cSldViewPr snapToGrid="0" snapToObjects="1">
      <p:cViewPr>
        <p:scale>
          <a:sx n="86" d="100"/>
          <a:sy n="86" d="100"/>
        </p:scale>
        <p:origin x="-594" y="-2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730651A-009A-2449-BC63-7A557E80C367}" type="datetimeFigureOut">
              <a:rPr lang="en-US" smtClean="0"/>
              <a:pPr/>
              <a:t>9/6/2018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FC8DC30-6F07-E44C-A860-65C7176AC235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672513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93D448-A9D5-784B-AD7F-7D93197B9014}" type="datetimeFigureOut">
              <a:rPr lang="en-US" smtClean="0"/>
              <a:pPr/>
              <a:t>9/6/2018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A6F4145-9A54-8B4E-B462-B59B3AACC30B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470562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4607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720600" indent="-277153" defTabSz="914607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08615" indent="-221723" defTabSz="914607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552061" indent="-221723" defTabSz="914607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1995507" indent="-221723" defTabSz="914607" eaLnBrk="0" hangingPunct="0"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438953" indent="-221723" defTabSz="91460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marL="2882399" indent="-221723" defTabSz="91460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marL="3325846" indent="-221723" defTabSz="91460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marL="3769291" indent="-221723" defTabSz="91460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pPr eaLnBrk="1" hangingPunct="1"/>
            <a:fld id="{F07951DB-2D6E-497D-83D0-D1AFA43BF5B7}" type="slidenum">
              <a:rPr lang="en-US"/>
              <a:pPr eaLnBrk="1" hangingPunct="1"/>
              <a:t>1</a:t>
            </a:fld>
            <a:endParaRPr lang="en-US"/>
          </a:p>
        </p:txBody>
      </p:sp>
      <p:sp>
        <p:nvSpPr>
          <p:cNvPr id="235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46175" y="687388"/>
            <a:ext cx="4567238" cy="3427412"/>
          </a:xfrm>
          <a:ln/>
        </p:spPr>
      </p:sp>
      <p:sp>
        <p:nvSpPr>
          <p:cNvPr id="2355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494" y="4341856"/>
            <a:ext cx="5487013" cy="41148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smtClean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76BD0-54EC-5A4F-9A86-96D8F8A44B06}" type="datetime1">
              <a:rPr lang="en-US" smtClean="0"/>
              <a:t>9/6/2018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AMASE   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F127A-2DBF-924B-94E1-163D8C9D5B47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4F935-B9BA-8A44-9CF0-3E62648D4F31}" type="datetime1">
              <a:rPr lang="en-US" smtClean="0"/>
              <a:t>9/6/2018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AMASE   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F127A-2DBF-924B-94E1-163D8C9D5B47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7E9D40-AF9B-8543-A31E-92833821DB04}" type="datetime1">
              <a:rPr lang="en-US" smtClean="0"/>
              <a:t>9/6/2018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AMASE   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F127A-2DBF-924B-94E1-163D8C9D5B47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4A950-8A82-894F-86EA-3DBB82416994}" type="datetime1">
              <a:rPr lang="en-US" smtClean="0"/>
              <a:t>9/6/2018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AMASE   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F127A-2DBF-924B-94E1-163D8C9D5B47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BC36FA-1F08-6E4A-A3E1-81759D2FA0BD}" type="datetime1">
              <a:rPr lang="en-US" smtClean="0"/>
              <a:t>9/6/2018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AMASE   </a:t>
            </a: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F127A-2DBF-924B-94E1-163D8C9D5B47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75299D-D3C6-584C-AB03-4CAE0BF71587}" type="datetime1">
              <a:rPr lang="en-US" smtClean="0"/>
              <a:t>9/6/2018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AMASE   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F127A-2DBF-924B-94E1-163D8C9D5B47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9B315-8124-FB48-BFA4-A3087563EECF}" type="datetime1">
              <a:rPr lang="en-US" smtClean="0"/>
              <a:t>9/6/2018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AMASE   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F127A-2DBF-924B-94E1-163D8C9D5B47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1C80EF-44E1-B64F-B9AF-5F0B8532B64E}" type="datetime1">
              <a:rPr lang="en-US" smtClean="0"/>
              <a:t>9/6/2018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AMASE   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F127A-2DBF-924B-94E1-163D8C9D5B47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6CEAF0-7D55-F142-A2FB-C0F029B42E99}" type="datetime1">
              <a:rPr lang="en-US" smtClean="0"/>
              <a:t>9/6/2018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AMASE   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F127A-2DBF-924B-94E1-163D8C9D5B47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91E2CD-57C1-1748-A7EB-F9D196069DA9}" type="datetime1">
              <a:rPr lang="en-US" smtClean="0"/>
              <a:t>9/6/2018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AMASE   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F127A-2DBF-924B-94E1-163D8C9D5B47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EFB99-0E25-9B49-B48E-BFA21B37F281}" type="datetime1">
              <a:rPr lang="en-US" smtClean="0"/>
              <a:t>9/6/2018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AMASE   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F127A-2DBF-924B-94E1-163D8C9D5B47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2204695-789B-5147-975B-E0272964B50F}" type="datetime1">
              <a:rPr lang="en-US" smtClean="0"/>
              <a:t>9/6/2018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smtClean="0"/>
              <a:t>AMASE   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FF127A-2DBF-924B-94E1-163D8C9D5B47}" type="slidenum">
              <a:rPr lang="en-US" smtClean="0"/>
              <a:pPr/>
              <a:t>‹Nr.›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9.png"/><Relationship Id="rId7" Type="http://schemas.openxmlformats.org/officeDocument/2006/relationships/image" Target="../media/image31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image" Target="../media/image41.png"/><Relationship Id="rId7" Type="http://schemas.openxmlformats.org/officeDocument/2006/relationships/image" Target="../media/image45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62000" y="1484312"/>
            <a:ext cx="7848600" cy="993775"/>
          </a:xfrm>
        </p:spPr>
        <p:txBody>
          <a:bodyPr>
            <a:normAutofit fontScale="90000"/>
          </a:bodyPr>
          <a:lstStyle/>
          <a:p>
            <a:r>
              <a:rPr lang="en-US" dirty="0" smtClean="0"/>
              <a:t>Architectural Modeling and Analysis for Safety Engineering (AMASE)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62000" y="4267200"/>
            <a:ext cx="3962400" cy="1066800"/>
          </a:xfrm>
        </p:spPr>
        <p:txBody>
          <a:bodyPr/>
          <a:lstStyle/>
          <a:p>
            <a:pPr algn="l"/>
            <a:r>
              <a:rPr lang="en-US" sz="1600" dirty="0" smtClean="0"/>
              <a:t>Year-end Review: Progress</a:t>
            </a:r>
          </a:p>
          <a:p>
            <a:pPr algn="l"/>
            <a:r>
              <a:rPr lang="en-US" sz="1600" dirty="0" smtClean="0"/>
              <a:t>Danielle Stewart</a:t>
            </a:r>
          </a:p>
          <a:p>
            <a:pPr algn="l"/>
            <a:r>
              <a:rPr lang="en-US" sz="1600" dirty="0"/>
              <a:t>4</a:t>
            </a:r>
            <a:r>
              <a:rPr lang="en-US" sz="1600" dirty="0" smtClean="0"/>
              <a:t> Oct 2018</a:t>
            </a:r>
            <a:endParaRPr lang="en-US" sz="1600" dirty="0"/>
          </a:p>
        </p:txBody>
      </p:sp>
      <p:sp>
        <p:nvSpPr>
          <p:cNvPr id="6" name="Subtitle 2"/>
          <p:cNvSpPr txBox="1">
            <a:spLocks/>
          </p:cNvSpPr>
          <p:nvPr/>
        </p:nvSpPr>
        <p:spPr bwMode="auto">
          <a:xfrm>
            <a:off x="762000" y="3203575"/>
            <a:ext cx="7620000" cy="83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0" indent="0" algn="l" rtl="0" eaLnBrk="1" fontAlgn="base" hangingPunct="1">
              <a:spcBef>
                <a:spcPct val="20000"/>
              </a:spcBef>
              <a:spcAft>
                <a:spcPct val="0"/>
              </a:spcAft>
              <a:buFontTx/>
              <a:buNone/>
              <a:defRPr sz="2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+mn-lt"/>
                <a:cs typeface="+mn-cs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400">
                <a:solidFill>
                  <a:schemeClr val="tx1"/>
                </a:solidFill>
                <a:latin typeface="+mn-lt"/>
                <a:cs typeface="+mn-cs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+mn-lt"/>
                <a:cs typeface="+mn-cs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+mn-lt"/>
                <a:cs typeface="+mn-cs"/>
              </a:defRPr>
            </a:lvl5pPr>
            <a:lvl6pPr marL="25146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+mn-lt"/>
                <a:cs typeface="+mn-cs"/>
              </a:defRPr>
            </a:lvl6pPr>
            <a:lvl7pPr marL="29718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+mn-lt"/>
                <a:cs typeface="+mn-cs"/>
              </a:defRPr>
            </a:lvl7pPr>
            <a:lvl8pPr marL="3429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+mn-lt"/>
                <a:cs typeface="+mn-cs"/>
              </a:defRPr>
            </a:lvl8pPr>
            <a:lvl9pPr marL="3886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+mn-lt"/>
                <a:cs typeface="+mn-cs"/>
              </a:defRPr>
            </a:lvl9pPr>
          </a:lstStyle>
          <a:p>
            <a:r>
              <a:rPr lang="en-US" sz="1800" b="1" dirty="0"/>
              <a:t>Research Opportunities in Aeronautics </a:t>
            </a:r>
            <a:r>
              <a:rPr lang="en-US" sz="1800" b="1" dirty="0" smtClean="0"/>
              <a:t>(</a:t>
            </a:r>
            <a:r>
              <a:rPr lang="en-US" sz="1800" b="1" dirty="0"/>
              <a:t>NRA ROA-2015</a:t>
            </a:r>
            <a:r>
              <a:rPr lang="en-US" sz="1800" b="1" dirty="0" smtClean="0"/>
              <a:t>)</a:t>
            </a:r>
          </a:p>
          <a:p>
            <a:pPr marL="0" lvl="1" indent="0">
              <a:buNone/>
            </a:pPr>
            <a:r>
              <a:rPr lang="en-US" dirty="0"/>
              <a:t>Model-based safety analysis of highly complex safety critical systems</a:t>
            </a:r>
          </a:p>
          <a:p>
            <a:endParaRPr lang="en-US" sz="1800" b="1" dirty="0"/>
          </a:p>
        </p:txBody>
      </p:sp>
      <p:pic>
        <p:nvPicPr>
          <p:cNvPr id="5" name="Picture 4" descr="uofm_rockwell_log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6750" y="4921250"/>
            <a:ext cx="4660900" cy="1257300"/>
          </a:xfrm>
          <a:prstGeom prst="rect">
            <a:avLst/>
          </a:prstGeom>
        </p:spPr>
      </p:pic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38914"/>
          </a:xfrm>
        </p:spPr>
        <p:txBody>
          <a:bodyPr>
            <a:normAutofit/>
          </a:bodyPr>
          <a:lstStyle/>
          <a:p>
            <a:pPr algn="l"/>
            <a:r>
              <a:rPr lang="de-DE" sz="3600" b="1" dirty="0" smtClean="0">
                <a:solidFill>
                  <a:schemeClr val="bg1">
                    <a:lumMod val="50000"/>
                  </a:schemeClr>
                </a:solidFill>
              </a:rPr>
              <a:t>Year </a:t>
            </a:r>
            <a:r>
              <a:rPr lang="de-DE" sz="3600" b="1" dirty="0" err="1" smtClean="0">
                <a:solidFill>
                  <a:schemeClr val="bg1">
                    <a:lumMod val="50000"/>
                  </a:schemeClr>
                </a:solidFill>
              </a:rPr>
              <a:t>Two</a:t>
            </a:r>
            <a:r>
              <a:rPr lang="de-DE" sz="3600" b="1" dirty="0" smtClean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de-DE" sz="3600" b="1" dirty="0" err="1" smtClean="0">
                <a:solidFill>
                  <a:schemeClr val="bg1">
                    <a:lumMod val="50000"/>
                  </a:schemeClr>
                </a:solidFill>
              </a:rPr>
              <a:t>Overview</a:t>
            </a:r>
            <a:endParaRPr lang="de-DE" sz="3600" b="1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0" name="Inhaltsplatzhalter 2"/>
          <p:cNvSpPr>
            <a:spLocks noGrp="1"/>
          </p:cNvSpPr>
          <p:nvPr>
            <p:ph idx="1"/>
          </p:nvPr>
        </p:nvSpPr>
        <p:spPr>
          <a:xfrm>
            <a:off x="465494" y="1595182"/>
            <a:ext cx="8229600" cy="4525963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 err="1" smtClean="0"/>
              <a:t>Byzantine</a:t>
            </a:r>
            <a:r>
              <a:rPr lang="de-DE" dirty="0" smtClean="0"/>
              <a:t> </a:t>
            </a:r>
            <a:r>
              <a:rPr lang="de-DE" dirty="0" err="1" smtClean="0"/>
              <a:t>Faults</a:t>
            </a:r>
            <a:endParaRPr lang="de-DE" dirty="0" smtClean="0"/>
          </a:p>
          <a:p>
            <a:pPr marL="514350" indent="-514350">
              <a:buFont typeface="+mj-lt"/>
              <a:buAutoNum type="arabicPeriod"/>
            </a:pPr>
            <a:endParaRPr lang="de-DE" dirty="0" smtClean="0"/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Hardware </a:t>
            </a:r>
            <a:r>
              <a:rPr lang="de-DE" dirty="0" err="1" smtClean="0"/>
              <a:t>Faults</a:t>
            </a:r>
            <a:endParaRPr lang="de-DE" dirty="0" smtClean="0"/>
          </a:p>
          <a:p>
            <a:pPr marL="514350" indent="-514350">
              <a:buFont typeface="+mj-lt"/>
              <a:buAutoNum type="arabicPeriod"/>
            </a:pPr>
            <a:r>
              <a:rPr lang="de-DE" dirty="0" err="1" smtClean="0"/>
              <a:t>Probabilistic</a:t>
            </a:r>
            <a:r>
              <a:rPr lang="de-DE" dirty="0" smtClean="0"/>
              <a:t> </a:t>
            </a:r>
            <a:r>
              <a:rPr lang="de-DE" dirty="0" err="1" smtClean="0"/>
              <a:t>Threshold</a:t>
            </a:r>
            <a:r>
              <a:rPr lang="de-DE" dirty="0" smtClean="0"/>
              <a:t> Analysis</a:t>
            </a:r>
          </a:p>
          <a:p>
            <a:pPr marL="514350" indent="-514350">
              <a:buFont typeface="+mj-lt"/>
              <a:buAutoNum type="arabicPeriod"/>
            </a:pPr>
            <a:r>
              <a:rPr lang="de-DE" dirty="0" smtClean="0"/>
              <a:t>Fault </a:t>
            </a:r>
            <a:r>
              <a:rPr lang="de-DE" dirty="0" err="1" smtClean="0"/>
              <a:t>Tree</a:t>
            </a:r>
            <a:r>
              <a:rPr lang="de-DE" dirty="0" smtClean="0"/>
              <a:t> Generation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92367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38914"/>
          </a:xfrm>
        </p:spPr>
        <p:txBody>
          <a:bodyPr>
            <a:normAutofit/>
          </a:bodyPr>
          <a:lstStyle/>
          <a:p>
            <a:pPr algn="l"/>
            <a:r>
              <a:rPr lang="de-DE" sz="3600" b="1" dirty="0" smtClean="0">
                <a:solidFill>
                  <a:schemeClr val="bg1">
                    <a:lumMod val="50000"/>
                  </a:schemeClr>
                </a:solidFill>
              </a:rPr>
              <a:t>Year </a:t>
            </a:r>
            <a:r>
              <a:rPr lang="de-DE" sz="3600" b="1" dirty="0" err="1" smtClean="0">
                <a:solidFill>
                  <a:schemeClr val="bg1">
                    <a:lumMod val="50000"/>
                  </a:schemeClr>
                </a:solidFill>
              </a:rPr>
              <a:t>Two</a:t>
            </a:r>
            <a:r>
              <a:rPr lang="de-DE" sz="3600" b="1" dirty="0" smtClean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de-DE" sz="3600" b="1" dirty="0" err="1" smtClean="0">
                <a:solidFill>
                  <a:schemeClr val="bg1">
                    <a:lumMod val="50000"/>
                  </a:schemeClr>
                </a:solidFill>
              </a:rPr>
              <a:t>Overview</a:t>
            </a:r>
            <a:endParaRPr lang="de-DE" sz="3600" b="1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65494" y="1595182"/>
            <a:ext cx="8229600" cy="4525963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 err="1" smtClean="0"/>
              <a:t>Byzantine</a:t>
            </a:r>
            <a:r>
              <a:rPr lang="de-DE" dirty="0" smtClean="0"/>
              <a:t> </a:t>
            </a:r>
            <a:r>
              <a:rPr lang="de-DE" dirty="0" err="1" smtClean="0"/>
              <a:t>Faults</a:t>
            </a:r>
            <a:endParaRPr lang="de-DE" dirty="0" smtClean="0"/>
          </a:p>
          <a:p>
            <a:pPr marL="514350" indent="-514350">
              <a:buFont typeface="+mj-lt"/>
              <a:buAutoNum type="arabicPeriod"/>
            </a:pPr>
            <a:endParaRPr lang="de-DE" dirty="0" smtClean="0"/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Hardware </a:t>
            </a:r>
            <a:r>
              <a:rPr lang="de-DE" dirty="0" err="1" smtClean="0"/>
              <a:t>Faults</a:t>
            </a:r>
            <a:endParaRPr lang="de-DE" dirty="0" smtClean="0"/>
          </a:p>
          <a:p>
            <a:pPr marL="514350" indent="-514350">
              <a:buFont typeface="+mj-lt"/>
              <a:buAutoNum type="arabicPeriod"/>
            </a:pPr>
            <a:r>
              <a:rPr lang="de-DE" dirty="0" err="1" smtClean="0"/>
              <a:t>Probabilistic</a:t>
            </a:r>
            <a:r>
              <a:rPr lang="de-DE" dirty="0" smtClean="0"/>
              <a:t> </a:t>
            </a:r>
            <a:r>
              <a:rPr lang="de-DE" dirty="0" err="1" smtClean="0"/>
              <a:t>Threshold</a:t>
            </a:r>
            <a:r>
              <a:rPr lang="de-DE" dirty="0" smtClean="0"/>
              <a:t> Analysis</a:t>
            </a:r>
          </a:p>
          <a:p>
            <a:pPr marL="514350" indent="-514350">
              <a:buFont typeface="+mj-lt"/>
              <a:buAutoNum type="arabicPeriod"/>
            </a:pPr>
            <a:r>
              <a:rPr lang="de-DE" dirty="0" smtClean="0"/>
              <a:t>Fault </a:t>
            </a:r>
            <a:r>
              <a:rPr lang="de-DE" dirty="0" err="1" smtClean="0"/>
              <a:t>Tree</a:t>
            </a:r>
            <a:r>
              <a:rPr lang="de-DE" dirty="0" smtClean="0"/>
              <a:t> Generation</a:t>
            </a:r>
            <a:endParaRPr lang="de-DE" dirty="0"/>
          </a:p>
        </p:txBody>
      </p:sp>
      <p:sp>
        <p:nvSpPr>
          <p:cNvPr id="6" name="Geschweifte Klammer rechts 5"/>
          <p:cNvSpPr/>
          <p:nvPr/>
        </p:nvSpPr>
        <p:spPr>
          <a:xfrm>
            <a:off x="3977089" y="1650029"/>
            <a:ext cx="352540" cy="521142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grpSp>
        <p:nvGrpSpPr>
          <p:cNvPr id="9" name="Group 1"/>
          <p:cNvGrpSpPr/>
          <p:nvPr/>
        </p:nvGrpSpPr>
        <p:grpSpPr>
          <a:xfrm>
            <a:off x="5359708" y="1153975"/>
            <a:ext cx="3276637" cy="2265576"/>
            <a:chOff x="2145684" y="1306945"/>
            <a:chExt cx="4611948" cy="3188855"/>
          </a:xfrm>
        </p:grpSpPr>
        <p:grpSp>
          <p:nvGrpSpPr>
            <p:cNvPr id="10" name="Group 34"/>
            <p:cNvGrpSpPr/>
            <p:nvPr/>
          </p:nvGrpSpPr>
          <p:grpSpPr>
            <a:xfrm flipH="1">
              <a:off x="3200400" y="3152217"/>
              <a:ext cx="2590800" cy="855847"/>
              <a:chOff x="3333844" y="3295554"/>
              <a:chExt cx="2590800" cy="855847"/>
            </a:xfrm>
          </p:grpSpPr>
          <p:cxnSp>
            <p:nvCxnSpPr>
              <p:cNvPr id="33" name="Straight Arrow Connector 35"/>
              <p:cNvCxnSpPr/>
              <p:nvPr/>
            </p:nvCxnSpPr>
            <p:spPr>
              <a:xfrm flipH="1" flipV="1">
                <a:off x="3755871" y="3299408"/>
                <a:ext cx="2168773" cy="762000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miter lim="800000"/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Arrow Connector 36"/>
              <p:cNvCxnSpPr/>
              <p:nvPr/>
            </p:nvCxnSpPr>
            <p:spPr>
              <a:xfrm flipH="1" flipV="1">
                <a:off x="3581400" y="3299408"/>
                <a:ext cx="1438324" cy="762002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miter lim="800000"/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Arrow Connector 37"/>
              <p:cNvCxnSpPr/>
              <p:nvPr/>
            </p:nvCxnSpPr>
            <p:spPr>
              <a:xfrm flipH="1" flipV="1">
                <a:off x="3457616" y="3299408"/>
                <a:ext cx="682370" cy="762001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miter lim="800000"/>
                <a:tailEnd type="none"/>
              </a:ln>
              <a:effectLst>
                <a:outerShdw blurRad="40000" dist="20000" dir="5400000" rotWithShape="0">
                  <a:srgbClr val="3366FF">
                    <a:alpha val="38000"/>
                  </a:srgbClr>
                </a:outerShd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Arrow Connector 38"/>
              <p:cNvCxnSpPr/>
              <p:nvPr/>
            </p:nvCxnSpPr>
            <p:spPr>
              <a:xfrm flipV="1">
                <a:off x="3333844" y="3295554"/>
                <a:ext cx="0" cy="855847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miter lim="800000"/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1" name="Straight Arrow Connector 39"/>
            <p:cNvCxnSpPr/>
            <p:nvPr/>
          </p:nvCxnSpPr>
          <p:spPr>
            <a:xfrm flipH="1" flipV="1">
              <a:off x="3603471" y="3147008"/>
              <a:ext cx="2168773" cy="762000"/>
            </a:xfrm>
            <a:prstGeom prst="straightConnector1">
              <a:avLst/>
            </a:prstGeom>
            <a:ln>
              <a:solidFill>
                <a:srgbClr val="0000FF"/>
              </a:solidFill>
              <a:miter lim="800000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40"/>
            <p:cNvCxnSpPr/>
            <p:nvPr/>
          </p:nvCxnSpPr>
          <p:spPr>
            <a:xfrm flipH="1" flipV="1">
              <a:off x="3429000" y="3147008"/>
              <a:ext cx="1438324" cy="762002"/>
            </a:xfrm>
            <a:prstGeom prst="straightConnector1">
              <a:avLst/>
            </a:prstGeom>
            <a:ln>
              <a:solidFill>
                <a:srgbClr val="0000FF"/>
              </a:solidFill>
              <a:miter lim="800000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41"/>
            <p:cNvCxnSpPr/>
            <p:nvPr/>
          </p:nvCxnSpPr>
          <p:spPr>
            <a:xfrm flipH="1" flipV="1">
              <a:off x="3305216" y="3147008"/>
              <a:ext cx="682370" cy="762001"/>
            </a:xfrm>
            <a:prstGeom prst="straightConnector1">
              <a:avLst/>
            </a:prstGeom>
            <a:ln>
              <a:solidFill>
                <a:srgbClr val="0000FF"/>
              </a:solidFill>
              <a:miter lim="800000"/>
              <a:tailEnd type="none"/>
            </a:ln>
            <a:effectLst>
              <a:outerShdw blurRad="40000" dist="20000" dir="5400000" rotWithShape="0">
                <a:srgbClr val="3366FF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42"/>
            <p:cNvCxnSpPr/>
            <p:nvPr/>
          </p:nvCxnSpPr>
          <p:spPr>
            <a:xfrm flipV="1">
              <a:off x="3181444" y="3143154"/>
              <a:ext cx="0" cy="855847"/>
            </a:xfrm>
            <a:prstGeom prst="straightConnector1">
              <a:avLst/>
            </a:prstGeom>
            <a:ln>
              <a:solidFill>
                <a:srgbClr val="0000FF"/>
              </a:solidFill>
              <a:miter lim="800000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Freeform 43"/>
            <p:cNvSpPr/>
            <p:nvPr/>
          </p:nvSpPr>
          <p:spPr>
            <a:xfrm>
              <a:off x="3276600" y="1306945"/>
              <a:ext cx="1130916" cy="392263"/>
            </a:xfrm>
            <a:custGeom>
              <a:avLst/>
              <a:gdLst>
                <a:gd name="connsiteX0" fmla="*/ 0 w 839799"/>
                <a:gd name="connsiteY0" fmla="*/ 647038 h 647038"/>
                <a:gd name="connsiteX1" fmla="*/ 839799 w 839799"/>
                <a:gd name="connsiteY1" fmla="*/ 647038 h 647038"/>
                <a:gd name="connsiteX2" fmla="*/ 839799 w 839799"/>
                <a:gd name="connsiteY2" fmla="*/ 0 h 647038"/>
                <a:gd name="connsiteX3" fmla="*/ 0 w 839799"/>
                <a:gd name="connsiteY3" fmla="*/ 0 h 647038"/>
                <a:gd name="connsiteX4" fmla="*/ 0 w 839799"/>
                <a:gd name="connsiteY4" fmla="*/ 647038 h 647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39799" h="647038">
                  <a:moveTo>
                    <a:pt x="0" y="647038"/>
                  </a:moveTo>
                  <a:lnTo>
                    <a:pt x="839799" y="647038"/>
                  </a:lnTo>
                  <a:lnTo>
                    <a:pt x="839799" y="0"/>
                  </a:lnTo>
                  <a:lnTo>
                    <a:pt x="0" y="0"/>
                  </a:lnTo>
                  <a:lnTo>
                    <a:pt x="0" y="647038"/>
                  </a:lnTo>
                  <a:close/>
                </a:path>
              </a:pathLst>
            </a:cu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defRPr/>
              </a:pPr>
              <a:r>
                <a:rPr lang="en-US" sz="1100" b="1" dirty="0" smtClean="0">
                  <a:latin typeface="Arial"/>
                  <a:cs typeface="Arial"/>
                </a:rPr>
                <a:t>FCC</a:t>
              </a:r>
              <a:endParaRPr lang="en-US" sz="700" dirty="0">
                <a:latin typeface="Arial"/>
                <a:cs typeface="Arial"/>
              </a:endParaRPr>
            </a:p>
          </p:txBody>
        </p:sp>
        <p:sp>
          <p:nvSpPr>
            <p:cNvPr id="16" name="Freeform 44"/>
            <p:cNvSpPr/>
            <p:nvPr/>
          </p:nvSpPr>
          <p:spPr>
            <a:xfrm>
              <a:off x="4495800" y="1306945"/>
              <a:ext cx="1130916" cy="392263"/>
            </a:xfrm>
            <a:custGeom>
              <a:avLst/>
              <a:gdLst>
                <a:gd name="connsiteX0" fmla="*/ 0 w 839799"/>
                <a:gd name="connsiteY0" fmla="*/ 647038 h 647038"/>
                <a:gd name="connsiteX1" fmla="*/ 839799 w 839799"/>
                <a:gd name="connsiteY1" fmla="*/ 647038 h 647038"/>
                <a:gd name="connsiteX2" fmla="*/ 839799 w 839799"/>
                <a:gd name="connsiteY2" fmla="*/ 0 h 647038"/>
                <a:gd name="connsiteX3" fmla="*/ 0 w 839799"/>
                <a:gd name="connsiteY3" fmla="*/ 0 h 647038"/>
                <a:gd name="connsiteX4" fmla="*/ 0 w 839799"/>
                <a:gd name="connsiteY4" fmla="*/ 647038 h 647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39799" h="647038">
                  <a:moveTo>
                    <a:pt x="0" y="647038"/>
                  </a:moveTo>
                  <a:lnTo>
                    <a:pt x="839799" y="647038"/>
                  </a:lnTo>
                  <a:lnTo>
                    <a:pt x="839799" y="0"/>
                  </a:lnTo>
                  <a:lnTo>
                    <a:pt x="0" y="0"/>
                  </a:lnTo>
                  <a:lnTo>
                    <a:pt x="0" y="647038"/>
                  </a:lnTo>
                  <a:close/>
                </a:path>
              </a:pathLst>
            </a:cu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defRPr/>
              </a:pPr>
              <a:r>
                <a:rPr lang="en-US" sz="1100" b="1" dirty="0" smtClean="0">
                  <a:latin typeface="Arial"/>
                  <a:cs typeface="Arial"/>
                </a:rPr>
                <a:t>FCC</a:t>
              </a:r>
              <a:endParaRPr lang="en-US" sz="700" dirty="0">
                <a:latin typeface="Arial"/>
                <a:cs typeface="Arial"/>
              </a:endParaRPr>
            </a:p>
          </p:txBody>
        </p:sp>
        <p:sp>
          <p:nvSpPr>
            <p:cNvPr id="17" name="Freeform 45"/>
            <p:cNvSpPr/>
            <p:nvPr/>
          </p:nvSpPr>
          <p:spPr>
            <a:xfrm>
              <a:off x="2145684" y="1828800"/>
              <a:ext cx="1130916" cy="392263"/>
            </a:xfrm>
            <a:custGeom>
              <a:avLst/>
              <a:gdLst>
                <a:gd name="connsiteX0" fmla="*/ 0 w 839799"/>
                <a:gd name="connsiteY0" fmla="*/ 647038 h 647038"/>
                <a:gd name="connsiteX1" fmla="*/ 839799 w 839799"/>
                <a:gd name="connsiteY1" fmla="*/ 647038 h 647038"/>
                <a:gd name="connsiteX2" fmla="*/ 839799 w 839799"/>
                <a:gd name="connsiteY2" fmla="*/ 0 h 647038"/>
                <a:gd name="connsiteX3" fmla="*/ 0 w 839799"/>
                <a:gd name="connsiteY3" fmla="*/ 0 h 647038"/>
                <a:gd name="connsiteX4" fmla="*/ 0 w 839799"/>
                <a:gd name="connsiteY4" fmla="*/ 647038 h 647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39799" h="647038">
                  <a:moveTo>
                    <a:pt x="0" y="647038"/>
                  </a:moveTo>
                  <a:lnTo>
                    <a:pt x="839799" y="647038"/>
                  </a:lnTo>
                  <a:lnTo>
                    <a:pt x="839799" y="0"/>
                  </a:lnTo>
                  <a:lnTo>
                    <a:pt x="0" y="0"/>
                  </a:lnTo>
                  <a:lnTo>
                    <a:pt x="0" y="647038"/>
                  </a:lnTo>
                  <a:close/>
                </a:path>
              </a:pathLst>
            </a:cu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defRPr/>
              </a:pPr>
              <a:r>
                <a:rPr lang="en-US" sz="1100" b="1" dirty="0" smtClean="0">
                  <a:latin typeface="Arial"/>
                  <a:cs typeface="Arial"/>
                </a:rPr>
                <a:t>FCC</a:t>
              </a:r>
              <a:endParaRPr lang="en-US" sz="700" dirty="0">
                <a:latin typeface="Arial"/>
                <a:cs typeface="Arial"/>
              </a:endParaRPr>
            </a:p>
          </p:txBody>
        </p:sp>
        <p:sp>
          <p:nvSpPr>
            <p:cNvPr id="18" name="Freeform 46"/>
            <p:cNvSpPr/>
            <p:nvPr/>
          </p:nvSpPr>
          <p:spPr>
            <a:xfrm>
              <a:off x="5626716" y="1837961"/>
              <a:ext cx="1130916" cy="392263"/>
            </a:xfrm>
            <a:custGeom>
              <a:avLst/>
              <a:gdLst>
                <a:gd name="connsiteX0" fmla="*/ 0 w 839799"/>
                <a:gd name="connsiteY0" fmla="*/ 647038 h 647038"/>
                <a:gd name="connsiteX1" fmla="*/ 839799 w 839799"/>
                <a:gd name="connsiteY1" fmla="*/ 647038 h 647038"/>
                <a:gd name="connsiteX2" fmla="*/ 839799 w 839799"/>
                <a:gd name="connsiteY2" fmla="*/ 0 h 647038"/>
                <a:gd name="connsiteX3" fmla="*/ 0 w 839799"/>
                <a:gd name="connsiteY3" fmla="*/ 0 h 647038"/>
                <a:gd name="connsiteX4" fmla="*/ 0 w 839799"/>
                <a:gd name="connsiteY4" fmla="*/ 647038 h 647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39799" h="647038">
                  <a:moveTo>
                    <a:pt x="0" y="647038"/>
                  </a:moveTo>
                  <a:lnTo>
                    <a:pt x="839799" y="647038"/>
                  </a:lnTo>
                  <a:lnTo>
                    <a:pt x="839799" y="0"/>
                  </a:lnTo>
                  <a:lnTo>
                    <a:pt x="0" y="0"/>
                  </a:lnTo>
                  <a:lnTo>
                    <a:pt x="0" y="647038"/>
                  </a:lnTo>
                  <a:close/>
                </a:path>
              </a:pathLst>
            </a:cu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defRPr/>
              </a:pPr>
              <a:r>
                <a:rPr lang="en-US" sz="1100" b="1" dirty="0" smtClean="0">
                  <a:latin typeface="Arial"/>
                  <a:cs typeface="Arial"/>
                </a:rPr>
                <a:t>FCC</a:t>
              </a:r>
              <a:endParaRPr lang="en-US" sz="700" dirty="0">
                <a:latin typeface="Arial"/>
                <a:cs typeface="Arial"/>
              </a:endParaRPr>
            </a:p>
          </p:txBody>
        </p:sp>
        <p:sp>
          <p:nvSpPr>
            <p:cNvPr id="19" name="Freeform 47"/>
            <p:cNvSpPr/>
            <p:nvPr/>
          </p:nvSpPr>
          <p:spPr>
            <a:xfrm>
              <a:off x="2934678" y="3847300"/>
              <a:ext cx="597516" cy="648500"/>
            </a:xfrm>
            <a:custGeom>
              <a:avLst/>
              <a:gdLst>
                <a:gd name="connsiteX0" fmla="*/ 0 w 839799"/>
                <a:gd name="connsiteY0" fmla="*/ 647038 h 647038"/>
                <a:gd name="connsiteX1" fmla="*/ 839799 w 839799"/>
                <a:gd name="connsiteY1" fmla="*/ 647038 h 647038"/>
                <a:gd name="connsiteX2" fmla="*/ 839799 w 839799"/>
                <a:gd name="connsiteY2" fmla="*/ 0 h 647038"/>
                <a:gd name="connsiteX3" fmla="*/ 0 w 839799"/>
                <a:gd name="connsiteY3" fmla="*/ 0 h 647038"/>
                <a:gd name="connsiteX4" fmla="*/ 0 w 839799"/>
                <a:gd name="connsiteY4" fmla="*/ 647038 h 647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39799" h="647038">
                  <a:moveTo>
                    <a:pt x="0" y="647038"/>
                  </a:moveTo>
                  <a:lnTo>
                    <a:pt x="839799" y="647038"/>
                  </a:lnTo>
                  <a:lnTo>
                    <a:pt x="839799" y="0"/>
                  </a:lnTo>
                  <a:lnTo>
                    <a:pt x="0" y="0"/>
                  </a:lnTo>
                  <a:lnTo>
                    <a:pt x="0" y="647038"/>
                  </a:lnTo>
                  <a:close/>
                </a:path>
              </a:pathLst>
            </a:custGeom>
            <a:solidFill>
              <a:schemeClr val="bg1"/>
            </a:solidFill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defRPr/>
              </a:pPr>
              <a:r>
                <a:rPr lang="en-US" sz="1100" b="1" dirty="0" smtClean="0">
                  <a:latin typeface="Arial"/>
                  <a:cs typeface="Arial"/>
                </a:rPr>
                <a:t>DaC</a:t>
              </a:r>
            </a:p>
          </p:txBody>
        </p:sp>
        <p:sp>
          <p:nvSpPr>
            <p:cNvPr id="20" name="Freeform 48"/>
            <p:cNvSpPr/>
            <p:nvPr/>
          </p:nvSpPr>
          <p:spPr>
            <a:xfrm>
              <a:off x="3745884" y="3845499"/>
              <a:ext cx="597516" cy="648500"/>
            </a:xfrm>
            <a:custGeom>
              <a:avLst/>
              <a:gdLst>
                <a:gd name="connsiteX0" fmla="*/ 0 w 839799"/>
                <a:gd name="connsiteY0" fmla="*/ 647038 h 647038"/>
                <a:gd name="connsiteX1" fmla="*/ 839799 w 839799"/>
                <a:gd name="connsiteY1" fmla="*/ 647038 h 647038"/>
                <a:gd name="connsiteX2" fmla="*/ 839799 w 839799"/>
                <a:gd name="connsiteY2" fmla="*/ 0 h 647038"/>
                <a:gd name="connsiteX3" fmla="*/ 0 w 839799"/>
                <a:gd name="connsiteY3" fmla="*/ 0 h 647038"/>
                <a:gd name="connsiteX4" fmla="*/ 0 w 839799"/>
                <a:gd name="connsiteY4" fmla="*/ 647038 h 647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39799" h="647038">
                  <a:moveTo>
                    <a:pt x="0" y="647038"/>
                  </a:moveTo>
                  <a:lnTo>
                    <a:pt x="839799" y="647038"/>
                  </a:lnTo>
                  <a:lnTo>
                    <a:pt x="839799" y="0"/>
                  </a:lnTo>
                  <a:lnTo>
                    <a:pt x="0" y="0"/>
                  </a:lnTo>
                  <a:lnTo>
                    <a:pt x="0" y="647038"/>
                  </a:lnTo>
                  <a:close/>
                </a:path>
              </a:pathLst>
            </a:custGeom>
            <a:solidFill>
              <a:schemeClr val="bg1"/>
            </a:solidFill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defRPr/>
              </a:pPr>
              <a:r>
                <a:rPr lang="en-US" sz="1100" b="1" dirty="0" smtClean="0">
                  <a:latin typeface="Arial"/>
                  <a:cs typeface="Arial"/>
                </a:rPr>
                <a:t>DaC</a:t>
              </a:r>
            </a:p>
          </p:txBody>
        </p:sp>
        <p:sp>
          <p:nvSpPr>
            <p:cNvPr id="21" name="Freeform 49"/>
            <p:cNvSpPr/>
            <p:nvPr/>
          </p:nvSpPr>
          <p:spPr>
            <a:xfrm>
              <a:off x="4572000" y="3847300"/>
              <a:ext cx="597516" cy="648500"/>
            </a:xfrm>
            <a:custGeom>
              <a:avLst/>
              <a:gdLst>
                <a:gd name="connsiteX0" fmla="*/ 0 w 839799"/>
                <a:gd name="connsiteY0" fmla="*/ 647038 h 647038"/>
                <a:gd name="connsiteX1" fmla="*/ 839799 w 839799"/>
                <a:gd name="connsiteY1" fmla="*/ 647038 h 647038"/>
                <a:gd name="connsiteX2" fmla="*/ 839799 w 839799"/>
                <a:gd name="connsiteY2" fmla="*/ 0 h 647038"/>
                <a:gd name="connsiteX3" fmla="*/ 0 w 839799"/>
                <a:gd name="connsiteY3" fmla="*/ 0 h 647038"/>
                <a:gd name="connsiteX4" fmla="*/ 0 w 839799"/>
                <a:gd name="connsiteY4" fmla="*/ 647038 h 647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39799" h="647038">
                  <a:moveTo>
                    <a:pt x="0" y="647038"/>
                  </a:moveTo>
                  <a:lnTo>
                    <a:pt x="839799" y="647038"/>
                  </a:lnTo>
                  <a:lnTo>
                    <a:pt x="839799" y="0"/>
                  </a:lnTo>
                  <a:lnTo>
                    <a:pt x="0" y="0"/>
                  </a:lnTo>
                  <a:lnTo>
                    <a:pt x="0" y="647038"/>
                  </a:lnTo>
                  <a:close/>
                </a:path>
              </a:pathLst>
            </a:custGeom>
            <a:solidFill>
              <a:schemeClr val="bg1"/>
            </a:solidFill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defRPr/>
              </a:pPr>
              <a:r>
                <a:rPr lang="en-US" sz="1100" b="1" dirty="0" smtClean="0">
                  <a:latin typeface="Arial"/>
                  <a:cs typeface="Arial"/>
                </a:rPr>
                <a:t>DaC</a:t>
              </a:r>
            </a:p>
          </p:txBody>
        </p:sp>
        <p:sp>
          <p:nvSpPr>
            <p:cNvPr id="22" name="Freeform 50"/>
            <p:cNvSpPr/>
            <p:nvPr/>
          </p:nvSpPr>
          <p:spPr>
            <a:xfrm>
              <a:off x="5410200" y="3845499"/>
              <a:ext cx="597516" cy="648500"/>
            </a:xfrm>
            <a:custGeom>
              <a:avLst/>
              <a:gdLst>
                <a:gd name="connsiteX0" fmla="*/ 0 w 839799"/>
                <a:gd name="connsiteY0" fmla="*/ 647038 h 647038"/>
                <a:gd name="connsiteX1" fmla="*/ 839799 w 839799"/>
                <a:gd name="connsiteY1" fmla="*/ 647038 h 647038"/>
                <a:gd name="connsiteX2" fmla="*/ 839799 w 839799"/>
                <a:gd name="connsiteY2" fmla="*/ 0 h 647038"/>
                <a:gd name="connsiteX3" fmla="*/ 0 w 839799"/>
                <a:gd name="connsiteY3" fmla="*/ 0 h 647038"/>
                <a:gd name="connsiteX4" fmla="*/ 0 w 839799"/>
                <a:gd name="connsiteY4" fmla="*/ 647038 h 647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39799" h="647038">
                  <a:moveTo>
                    <a:pt x="0" y="647038"/>
                  </a:moveTo>
                  <a:lnTo>
                    <a:pt x="839799" y="647038"/>
                  </a:lnTo>
                  <a:lnTo>
                    <a:pt x="839799" y="0"/>
                  </a:lnTo>
                  <a:lnTo>
                    <a:pt x="0" y="0"/>
                  </a:lnTo>
                  <a:lnTo>
                    <a:pt x="0" y="647038"/>
                  </a:lnTo>
                  <a:close/>
                </a:path>
              </a:pathLst>
            </a:custGeom>
            <a:solidFill>
              <a:schemeClr val="bg1"/>
            </a:solidFill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defRPr/>
              </a:pPr>
              <a:r>
                <a:rPr lang="en-US" sz="1100" b="1" dirty="0" smtClean="0">
                  <a:latin typeface="Arial"/>
                  <a:cs typeface="Arial"/>
                </a:rPr>
                <a:t>DaC</a:t>
              </a:r>
            </a:p>
          </p:txBody>
        </p:sp>
        <p:cxnSp>
          <p:nvCxnSpPr>
            <p:cNvPr id="23" name="Straight Arrow Connector 51"/>
            <p:cNvCxnSpPr/>
            <p:nvPr/>
          </p:nvCxnSpPr>
          <p:spPr>
            <a:xfrm>
              <a:off x="3276600" y="1981200"/>
              <a:ext cx="1784658" cy="762000"/>
            </a:xfrm>
            <a:prstGeom prst="straightConnector1">
              <a:avLst/>
            </a:prstGeom>
            <a:ln>
              <a:solidFill>
                <a:srgbClr val="FF0000"/>
              </a:solidFill>
              <a:miter lim="800000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52"/>
            <p:cNvCxnSpPr/>
            <p:nvPr/>
          </p:nvCxnSpPr>
          <p:spPr>
            <a:xfrm>
              <a:off x="3603471" y="1699208"/>
              <a:ext cx="1578129" cy="887917"/>
            </a:xfrm>
            <a:prstGeom prst="straightConnector1">
              <a:avLst/>
            </a:prstGeom>
            <a:ln>
              <a:solidFill>
                <a:srgbClr val="FF0000"/>
              </a:solidFill>
              <a:miter lim="800000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53"/>
            <p:cNvCxnSpPr/>
            <p:nvPr/>
          </p:nvCxnSpPr>
          <p:spPr>
            <a:xfrm>
              <a:off x="5257800" y="1699208"/>
              <a:ext cx="152400" cy="887917"/>
            </a:xfrm>
            <a:prstGeom prst="straightConnector1">
              <a:avLst/>
            </a:prstGeom>
            <a:ln>
              <a:solidFill>
                <a:srgbClr val="FF0000"/>
              </a:solidFill>
              <a:miter lim="800000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54"/>
            <p:cNvCxnSpPr/>
            <p:nvPr/>
          </p:nvCxnSpPr>
          <p:spPr>
            <a:xfrm flipH="1">
              <a:off x="5626716" y="2221063"/>
              <a:ext cx="240684" cy="366062"/>
            </a:xfrm>
            <a:prstGeom prst="straightConnector1">
              <a:avLst/>
            </a:prstGeom>
            <a:ln>
              <a:solidFill>
                <a:srgbClr val="FF0000"/>
              </a:solidFill>
              <a:miter lim="800000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55"/>
            <p:cNvCxnSpPr/>
            <p:nvPr/>
          </p:nvCxnSpPr>
          <p:spPr>
            <a:xfrm flipH="1">
              <a:off x="3835186" y="1977346"/>
              <a:ext cx="1784658" cy="762000"/>
            </a:xfrm>
            <a:prstGeom prst="straightConnector1">
              <a:avLst/>
            </a:prstGeom>
            <a:ln>
              <a:solidFill>
                <a:srgbClr val="0000FF"/>
              </a:solidFill>
              <a:miter lim="800000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56"/>
            <p:cNvCxnSpPr/>
            <p:nvPr/>
          </p:nvCxnSpPr>
          <p:spPr>
            <a:xfrm flipH="1">
              <a:off x="3714844" y="1695354"/>
              <a:ext cx="1578129" cy="887917"/>
            </a:xfrm>
            <a:prstGeom prst="straightConnector1">
              <a:avLst/>
            </a:prstGeom>
            <a:ln>
              <a:solidFill>
                <a:srgbClr val="0000FF"/>
              </a:solidFill>
              <a:miter lim="800000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57"/>
            <p:cNvCxnSpPr/>
            <p:nvPr/>
          </p:nvCxnSpPr>
          <p:spPr>
            <a:xfrm flipH="1">
              <a:off x="3486244" y="1695354"/>
              <a:ext cx="152400" cy="887917"/>
            </a:xfrm>
            <a:prstGeom prst="straightConnector1">
              <a:avLst/>
            </a:prstGeom>
            <a:ln>
              <a:solidFill>
                <a:srgbClr val="0000FF"/>
              </a:solidFill>
              <a:miter lim="800000"/>
              <a:tailEnd type="none"/>
            </a:ln>
            <a:effectLst>
              <a:outerShdw blurRad="40000" dist="20000" dir="5400000" rotWithShape="0">
                <a:srgbClr val="3366FF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58"/>
            <p:cNvCxnSpPr/>
            <p:nvPr/>
          </p:nvCxnSpPr>
          <p:spPr>
            <a:xfrm>
              <a:off x="3029044" y="2217209"/>
              <a:ext cx="240684" cy="366062"/>
            </a:xfrm>
            <a:prstGeom prst="straightConnector1">
              <a:avLst/>
            </a:prstGeom>
            <a:ln>
              <a:solidFill>
                <a:srgbClr val="0000FF"/>
              </a:solidFill>
              <a:miter lim="800000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Freeform 59"/>
            <p:cNvSpPr/>
            <p:nvPr/>
          </p:nvSpPr>
          <p:spPr>
            <a:xfrm>
              <a:off x="5061258" y="2438400"/>
              <a:ext cx="1130916" cy="800900"/>
            </a:xfrm>
            <a:custGeom>
              <a:avLst/>
              <a:gdLst>
                <a:gd name="connsiteX0" fmla="*/ 0 w 839799"/>
                <a:gd name="connsiteY0" fmla="*/ 647038 h 647038"/>
                <a:gd name="connsiteX1" fmla="*/ 839799 w 839799"/>
                <a:gd name="connsiteY1" fmla="*/ 647038 h 647038"/>
                <a:gd name="connsiteX2" fmla="*/ 839799 w 839799"/>
                <a:gd name="connsiteY2" fmla="*/ 0 h 647038"/>
                <a:gd name="connsiteX3" fmla="*/ 0 w 839799"/>
                <a:gd name="connsiteY3" fmla="*/ 0 h 647038"/>
                <a:gd name="connsiteX4" fmla="*/ 0 w 839799"/>
                <a:gd name="connsiteY4" fmla="*/ 647038 h 647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39799" h="647038">
                  <a:moveTo>
                    <a:pt x="0" y="647038"/>
                  </a:moveTo>
                  <a:lnTo>
                    <a:pt x="839799" y="647038"/>
                  </a:lnTo>
                  <a:lnTo>
                    <a:pt x="839799" y="0"/>
                  </a:lnTo>
                  <a:lnTo>
                    <a:pt x="0" y="0"/>
                  </a:lnTo>
                  <a:lnTo>
                    <a:pt x="0" y="647038"/>
                  </a:lnTo>
                  <a:close/>
                </a:path>
              </a:pathLst>
            </a:custGeom>
            <a:solidFill>
              <a:schemeClr val="bg1"/>
            </a:solidFill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defRPr/>
              </a:pPr>
              <a:r>
                <a:rPr lang="en-US" sz="1100" b="1" dirty="0" smtClean="0">
                  <a:latin typeface="Arial"/>
                  <a:cs typeface="Arial"/>
                </a:rPr>
                <a:t>AFDX </a:t>
              </a:r>
              <a:r>
                <a:rPr lang="en-US" sz="1000" dirty="0" smtClean="0">
                  <a:latin typeface="Arial"/>
                  <a:cs typeface="Arial"/>
                </a:rPr>
                <a:t>or</a:t>
              </a:r>
            </a:p>
            <a:p>
              <a:pPr algn="ctr">
                <a:defRPr/>
              </a:pPr>
              <a:r>
                <a:rPr lang="en-US" sz="1000" b="1" dirty="0" smtClean="0">
                  <a:latin typeface="Arial"/>
                  <a:cs typeface="Arial"/>
                </a:rPr>
                <a:t>TTE</a:t>
              </a:r>
            </a:p>
            <a:p>
              <a:pPr algn="ctr">
                <a:defRPr/>
              </a:pPr>
              <a:r>
                <a:rPr lang="en-US" sz="1000" b="1" dirty="0" smtClean="0">
                  <a:latin typeface="Arial"/>
                  <a:cs typeface="Arial"/>
                </a:rPr>
                <a:t>Switch</a:t>
              </a:r>
              <a:endParaRPr lang="en-US" sz="1100" b="1" dirty="0" smtClean="0">
                <a:latin typeface="Arial"/>
                <a:cs typeface="Arial"/>
              </a:endParaRPr>
            </a:p>
          </p:txBody>
        </p:sp>
        <p:sp>
          <p:nvSpPr>
            <p:cNvPr id="32" name="Freeform 60"/>
            <p:cNvSpPr/>
            <p:nvPr/>
          </p:nvSpPr>
          <p:spPr>
            <a:xfrm>
              <a:off x="2755284" y="2438400"/>
              <a:ext cx="1130916" cy="800900"/>
            </a:xfrm>
            <a:custGeom>
              <a:avLst/>
              <a:gdLst>
                <a:gd name="connsiteX0" fmla="*/ 0 w 839799"/>
                <a:gd name="connsiteY0" fmla="*/ 647038 h 647038"/>
                <a:gd name="connsiteX1" fmla="*/ 839799 w 839799"/>
                <a:gd name="connsiteY1" fmla="*/ 647038 h 647038"/>
                <a:gd name="connsiteX2" fmla="*/ 839799 w 839799"/>
                <a:gd name="connsiteY2" fmla="*/ 0 h 647038"/>
                <a:gd name="connsiteX3" fmla="*/ 0 w 839799"/>
                <a:gd name="connsiteY3" fmla="*/ 0 h 647038"/>
                <a:gd name="connsiteX4" fmla="*/ 0 w 839799"/>
                <a:gd name="connsiteY4" fmla="*/ 647038 h 647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39799" h="647038">
                  <a:moveTo>
                    <a:pt x="0" y="647038"/>
                  </a:moveTo>
                  <a:lnTo>
                    <a:pt x="839799" y="647038"/>
                  </a:lnTo>
                  <a:lnTo>
                    <a:pt x="839799" y="0"/>
                  </a:lnTo>
                  <a:lnTo>
                    <a:pt x="0" y="0"/>
                  </a:lnTo>
                  <a:lnTo>
                    <a:pt x="0" y="647038"/>
                  </a:lnTo>
                  <a:close/>
                </a:path>
              </a:pathLst>
            </a:custGeom>
            <a:solidFill>
              <a:schemeClr val="bg1"/>
            </a:solidFill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defRPr/>
              </a:pPr>
              <a:r>
                <a:rPr lang="en-US" sz="1100" b="1" dirty="0" smtClean="0">
                  <a:latin typeface="Arial"/>
                  <a:cs typeface="Arial"/>
                </a:rPr>
                <a:t>AFDX </a:t>
              </a:r>
              <a:r>
                <a:rPr lang="en-US" sz="1000" dirty="0" smtClean="0">
                  <a:latin typeface="Arial"/>
                  <a:cs typeface="Arial"/>
                </a:rPr>
                <a:t>or</a:t>
              </a:r>
            </a:p>
            <a:p>
              <a:pPr algn="ctr">
                <a:defRPr/>
              </a:pPr>
              <a:r>
                <a:rPr lang="en-US" sz="1000" b="1" dirty="0" smtClean="0">
                  <a:latin typeface="Arial"/>
                  <a:cs typeface="Arial"/>
                </a:rPr>
                <a:t>TTE</a:t>
              </a:r>
            </a:p>
            <a:p>
              <a:pPr algn="ctr">
                <a:defRPr/>
              </a:pPr>
              <a:r>
                <a:rPr lang="en-US" sz="1000" b="1" dirty="0" smtClean="0">
                  <a:latin typeface="Arial"/>
                  <a:cs typeface="Arial"/>
                </a:rPr>
                <a:t>Switch</a:t>
              </a:r>
              <a:endParaRPr lang="en-US" sz="1100" b="1" dirty="0" smtClean="0">
                <a:latin typeface="Arial"/>
                <a:cs typeface="Arial"/>
              </a:endParaRPr>
            </a:p>
          </p:txBody>
        </p:sp>
      </p:grpSp>
      <p:sp>
        <p:nvSpPr>
          <p:cNvPr id="37" name="Rectangle 2"/>
          <p:cNvSpPr/>
          <p:nvPr/>
        </p:nvSpPr>
        <p:spPr>
          <a:xfrm>
            <a:off x="5076053" y="501265"/>
            <a:ext cx="3657600" cy="533400"/>
          </a:xfrm>
          <a:prstGeom prst="rect">
            <a:avLst/>
          </a:prstGeom>
          <a:solidFill>
            <a:srgbClr val="8693B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smtClean="0"/>
              <a:t>Example system: Quad-redundant flight control system provided by NASA</a:t>
            </a:r>
            <a:endParaRPr lang="en-US" sz="1200" b="1" dirty="0"/>
          </a:p>
        </p:txBody>
      </p:sp>
      <p:sp>
        <p:nvSpPr>
          <p:cNvPr id="38" name="Circular Arrow 9216"/>
          <p:cNvSpPr/>
          <p:nvPr/>
        </p:nvSpPr>
        <p:spPr>
          <a:xfrm rot="15419931" flipH="1">
            <a:off x="5428997" y="436174"/>
            <a:ext cx="1116616" cy="1116616"/>
          </a:xfrm>
          <a:prstGeom prst="circularArrow">
            <a:avLst>
              <a:gd name="adj1" fmla="val 10171"/>
              <a:gd name="adj2" fmla="val 1142319"/>
              <a:gd name="adj3" fmla="val 18623744"/>
              <a:gd name="adj4" fmla="val 15645266"/>
              <a:gd name="adj5" fmla="val 13600"/>
            </a:avLst>
          </a:prstGeom>
          <a:solidFill>
            <a:srgbClr val="8693B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410007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38914"/>
          </a:xfrm>
        </p:spPr>
        <p:txBody>
          <a:bodyPr>
            <a:normAutofit/>
          </a:bodyPr>
          <a:lstStyle/>
          <a:p>
            <a:pPr algn="l"/>
            <a:r>
              <a:rPr lang="de-DE" sz="3600" b="1" dirty="0" smtClean="0">
                <a:solidFill>
                  <a:schemeClr val="bg1">
                    <a:lumMod val="50000"/>
                  </a:schemeClr>
                </a:solidFill>
              </a:rPr>
              <a:t>Year </a:t>
            </a:r>
            <a:r>
              <a:rPr lang="de-DE" sz="3600" b="1" dirty="0" err="1" smtClean="0">
                <a:solidFill>
                  <a:schemeClr val="bg1">
                    <a:lumMod val="50000"/>
                  </a:schemeClr>
                </a:solidFill>
              </a:rPr>
              <a:t>Two</a:t>
            </a:r>
            <a:r>
              <a:rPr lang="de-DE" sz="3600" b="1" dirty="0" smtClean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de-DE" sz="3600" b="1" dirty="0" err="1" smtClean="0">
                <a:solidFill>
                  <a:schemeClr val="bg1">
                    <a:lumMod val="50000"/>
                  </a:schemeClr>
                </a:solidFill>
              </a:rPr>
              <a:t>Overview</a:t>
            </a:r>
            <a:endParaRPr lang="de-DE" sz="3600" b="1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65494" y="1595182"/>
            <a:ext cx="8229600" cy="4525963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 err="1" smtClean="0"/>
              <a:t>Byzantine</a:t>
            </a:r>
            <a:r>
              <a:rPr lang="de-DE" dirty="0" smtClean="0"/>
              <a:t> </a:t>
            </a:r>
            <a:r>
              <a:rPr lang="de-DE" dirty="0" err="1" smtClean="0"/>
              <a:t>Faults</a:t>
            </a:r>
            <a:endParaRPr lang="de-DE" dirty="0" smtClean="0"/>
          </a:p>
          <a:p>
            <a:pPr marL="514350" indent="-514350">
              <a:buFont typeface="+mj-lt"/>
              <a:buAutoNum type="arabicPeriod"/>
            </a:pPr>
            <a:endParaRPr lang="de-DE" dirty="0" smtClean="0"/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Hardware </a:t>
            </a:r>
            <a:r>
              <a:rPr lang="de-DE" dirty="0" err="1" smtClean="0"/>
              <a:t>Faults</a:t>
            </a:r>
            <a:endParaRPr lang="de-DE" dirty="0" smtClean="0"/>
          </a:p>
          <a:p>
            <a:pPr marL="514350" indent="-514350">
              <a:buFont typeface="+mj-lt"/>
              <a:buAutoNum type="arabicPeriod"/>
            </a:pPr>
            <a:r>
              <a:rPr lang="de-DE" dirty="0" err="1" smtClean="0"/>
              <a:t>Probabilistic</a:t>
            </a:r>
            <a:r>
              <a:rPr lang="de-DE" dirty="0" smtClean="0"/>
              <a:t> </a:t>
            </a:r>
            <a:r>
              <a:rPr lang="de-DE" dirty="0" err="1" smtClean="0"/>
              <a:t>Threshold</a:t>
            </a:r>
            <a:r>
              <a:rPr lang="de-DE" dirty="0" smtClean="0"/>
              <a:t> Analysis</a:t>
            </a:r>
          </a:p>
          <a:p>
            <a:pPr marL="514350" indent="-514350">
              <a:buFont typeface="+mj-lt"/>
              <a:buAutoNum type="arabicPeriod"/>
            </a:pPr>
            <a:r>
              <a:rPr lang="de-DE" dirty="0" smtClean="0"/>
              <a:t>Fault </a:t>
            </a:r>
            <a:r>
              <a:rPr lang="de-DE" dirty="0" err="1" smtClean="0"/>
              <a:t>Tree</a:t>
            </a:r>
            <a:r>
              <a:rPr lang="de-DE" dirty="0" smtClean="0"/>
              <a:t> Generation</a:t>
            </a:r>
            <a:endParaRPr lang="de-DE" dirty="0"/>
          </a:p>
        </p:txBody>
      </p:sp>
      <p:sp>
        <p:nvSpPr>
          <p:cNvPr id="39" name="Geschweifte Klammer rechts 38"/>
          <p:cNvSpPr/>
          <p:nvPr/>
        </p:nvSpPr>
        <p:spPr>
          <a:xfrm>
            <a:off x="6376930" y="4032173"/>
            <a:ext cx="352540" cy="1663547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pic>
        <p:nvPicPr>
          <p:cNvPr id="40" name="Content Placeholder 3" descr="wbs_sae.ppm"/>
          <p:cNvPicPr>
            <a:picLocks noChangeAspect="1"/>
          </p:cNvPicPr>
          <p:nvPr/>
        </p:nvPicPr>
        <p:blipFill>
          <a:blip r:embed="rId2"/>
          <a:srcRect l="-25397" r="-25397"/>
          <a:stretch>
            <a:fillRect/>
          </a:stretch>
        </p:blipFill>
        <p:spPr>
          <a:xfrm>
            <a:off x="4277143" y="472990"/>
            <a:ext cx="5154244" cy="2887154"/>
          </a:xfrm>
          <a:prstGeom prst="rect">
            <a:avLst/>
          </a:prstGeom>
        </p:spPr>
      </p:pic>
      <p:sp>
        <p:nvSpPr>
          <p:cNvPr id="41" name="Rectangle 2"/>
          <p:cNvSpPr/>
          <p:nvPr/>
        </p:nvSpPr>
        <p:spPr>
          <a:xfrm>
            <a:off x="5181600" y="3344996"/>
            <a:ext cx="3657600" cy="533400"/>
          </a:xfrm>
          <a:prstGeom prst="rect">
            <a:avLst/>
          </a:prstGeom>
          <a:solidFill>
            <a:srgbClr val="8693B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smtClean="0"/>
              <a:t>Example system: Wheel Brake System from AIR6110</a:t>
            </a:r>
            <a:endParaRPr lang="en-US" sz="1200" b="1" dirty="0"/>
          </a:p>
        </p:txBody>
      </p:sp>
      <p:sp>
        <p:nvSpPr>
          <p:cNvPr id="42" name="Circular Arrow 9216"/>
          <p:cNvSpPr/>
          <p:nvPr/>
        </p:nvSpPr>
        <p:spPr>
          <a:xfrm rot="5089515" flipH="1">
            <a:off x="7740607" y="2878493"/>
            <a:ext cx="1116616" cy="1116616"/>
          </a:xfrm>
          <a:prstGeom prst="circularArrow">
            <a:avLst>
              <a:gd name="adj1" fmla="val 10171"/>
              <a:gd name="adj2" fmla="val 1142319"/>
              <a:gd name="adj3" fmla="val 18623744"/>
              <a:gd name="adj4" fmla="val 15645266"/>
              <a:gd name="adj5" fmla="val 13600"/>
            </a:avLst>
          </a:prstGeom>
          <a:solidFill>
            <a:srgbClr val="8693B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956654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57200"/>
            <a:ext cx="8229600" cy="738604"/>
          </a:xfrm>
        </p:spPr>
        <p:txBody>
          <a:bodyPr>
            <a:normAutofit fontScale="90000"/>
          </a:bodyPr>
          <a:lstStyle/>
          <a:p>
            <a:r>
              <a:rPr lang="en-US" dirty="0" smtClean="0"/>
              <a:t>Wheel Brake System</a:t>
            </a:r>
            <a:endParaRPr lang="en-US" dirty="0"/>
          </a:p>
        </p:txBody>
      </p:sp>
      <p:pic>
        <p:nvPicPr>
          <p:cNvPr id="4" name="Content Placeholder 3" descr="wbs_sae.ppm"/>
          <p:cNvPicPr>
            <a:picLocks noGrp="1" noChangeAspect="1"/>
          </p:cNvPicPr>
          <p:nvPr>
            <p:ph idx="1"/>
          </p:nvPr>
        </p:nvPicPr>
        <p:blipFill>
          <a:blip r:embed="rId2"/>
          <a:srcRect l="-25397" r="-25397"/>
          <a:stretch>
            <a:fillRect/>
          </a:stretch>
        </p:blipFill>
        <p:spPr>
          <a:xfrm>
            <a:off x="1" y="1127344"/>
            <a:ext cx="9317322" cy="5219106"/>
          </a:xfrm>
        </p:spPr>
      </p:pic>
    </p:spTree>
    <p:extLst>
      <p:ext uri="{BB962C8B-B14F-4D97-AF65-F5344CB8AC3E}">
        <p14:creationId xmlns:p14="http://schemas.microsoft.com/office/powerpoint/2010/main" val="24574502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 descr="C:\Users\stew_da\Downloads\Unbenannt.PNG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1735154" y="-1437700"/>
            <a:ext cx="5816909" cy="900078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189662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 txBox="1">
            <a:spLocks/>
          </p:cNvSpPr>
          <p:nvPr/>
        </p:nvSpPr>
        <p:spPr>
          <a:xfrm>
            <a:off x="629798" y="616744"/>
            <a:ext cx="7772400" cy="503237"/>
          </a:xfrm>
          <a:prstGeom prst="rect">
            <a:avLst/>
          </a:prstGeom>
        </p:spPr>
        <p:txBody>
          <a:bodyPr/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600" b="1" dirty="0" smtClean="0">
                <a:solidFill>
                  <a:schemeClr val="bg1">
                    <a:lumMod val="50000"/>
                  </a:schemeClr>
                </a:solidFill>
              </a:rPr>
              <a:t>WBS Architecture Details</a:t>
            </a:r>
            <a:endParaRPr lang="en-US" sz="3600" b="1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49156" name="Picture 4" descr="C:\Users\stew_da\Desktop\Universität\arch2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9937" y="2324022"/>
            <a:ext cx="8272122" cy="18403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305725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 txBox="1">
            <a:spLocks/>
          </p:cNvSpPr>
          <p:nvPr/>
        </p:nvSpPr>
        <p:spPr>
          <a:xfrm>
            <a:off x="629798" y="616744"/>
            <a:ext cx="7772400" cy="503237"/>
          </a:xfrm>
          <a:prstGeom prst="rect">
            <a:avLst/>
          </a:prstGeom>
        </p:spPr>
        <p:txBody>
          <a:bodyPr/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600" b="1" dirty="0" smtClean="0">
                <a:solidFill>
                  <a:schemeClr val="bg1">
                    <a:lumMod val="50000"/>
                  </a:schemeClr>
                </a:solidFill>
              </a:rPr>
              <a:t>WBS AGREE Contract Details</a:t>
            </a:r>
            <a:endParaRPr lang="en-US" sz="3600" b="1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52226" name="Picture 2" descr="C:\Users\stew_da\Desktop\Universität\agree2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9937" y="2420709"/>
            <a:ext cx="8022261" cy="11001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9395" name="Picture 3" descr="C:\Users\stew_da\Desktop\Universität\Images for NASA Presentation\agree2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9937" y="4730750"/>
            <a:ext cx="8104287" cy="7776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055196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457200" y="2349500"/>
            <a:ext cx="8229600" cy="3776663"/>
          </a:xfrm>
        </p:spPr>
        <p:txBody>
          <a:bodyPr/>
          <a:lstStyle/>
          <a:p>
            <a:r>
              <a:rPr lang="en-US" dirty="0" smtClean="0"/>
              <a:t>Wrap nominal component in fault</a:t>
            </a:r>
          </a:p>
          <a:p>
            <a:r>
              <a:rPr lang="en-US" dirty="0" smtClean="0"/>
              <a:t>Watch behavior of system through AGREE contracts</a:t>
            </a:r>
          </a:p>
          <a:p>
            <a:pPr>
              <a:buNone/>
            </a:pPr>
            <a:endParaRPr lang="en-US" dirty="0"/>
          </a:p>
        </p:txBody>
      </p:sp>
      <p:sp>
        <p:nvSpPr>
          <p:cNvPr id="3" name="Title 3"/>
          <p:cNvSpPr txBox="1">
            <a:spLocks/>
          </p:cNvSpPr>
          <p:nvPr/>
        </p:nvSpPr>
        <p:spPr>
          <a:xfrm>
            <a:off x="629798" y="352540"/>
            <a:ext cx="8359966" cy="767441"/>
          </a:xfrm>
          <a:prstGeom prst="rect">
            <a:avLst/>
          </a:prstGeom>
        </p:spPr>
        <p:txBody>
          <a:bodyPr/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600" b="1" dirty="0" smtClean="0">
                <a:solidFill>
                  <a:schemeClr val="bg1">
                    <a:lumMod val="50000"/>
                  </a:schemeClr>
                </a:solidFill>
              </a:rPr>
              <a:t>Example of Behavioral Fault Propagation</a:t>
            </a:r>
            <a:endParaRPr lang="en-US" sz="3600" b="1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35843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235316" y="2119299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/>
          <p:cNvSpPr/>
          <p:nvPr/>
        </p:nvSpPr>
        <p:spPr>
          <a:xfrm>
            <a:off x="6734875" y="2141688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2895600" y="1752600"/>
            <a:ext cx="1582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Component A</a:t>
            </a:r>
            <a:endParaRPr 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6371525" y="1760688"/>
            <a:ext cx="1595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Component B</a:t>
            </a:r>
            <a:endParaRPr lang="en-US" dirty="0"/>
          </a:p>
        </p:txBody>
      </p:sp>
      <p:cxnSp>
        <p:nvCxnSpPr>
          <p:cNvPr id="8" name="Straight Arrow Connector 7"/>
          <p:cNvCxnSpPr>
            <a:stCxn id="2" idx="3"/>
          </p:cNvCxnSpPr>
          <p:nvPr/>
        </p:nvCxnSpPr>
        <p:spPr>
          <a:xfrm>
            <a:off x="4149716" y="2576499"/>
            <a:ext cx="259080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149715" y="2240845"/>
            <a:ext cx="5565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Out</a:t>
            </a:r>
            <a:endParaRPr lang="en-US" dirty="0"/>
          </a:p>
        </p:txBody>
      </p:sp>
      <p:sp>
        <p:nvSpPr>
          <p:cNvPr id="11" name="TextBox 10"/>
          <p:cNvSpPr txBox="1"/>
          <p:nvPr/>
        </p:nvSpPr>
        <p:spPr>
          <a:xfrm>
            <a:off x="6357848" y="2240845"/>
            <a:ext cx="3770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In</a:t>
            </a:r>
            <a:endParaRPr lang="en-US" dirty="0"/>
          </a:p>
        </p:txBody>
      </p:sp>
      <p:sp>
        <p:nvSpPr>
          <p:cNvPr id="12" name="Rectangle 11"/>
          <p:cNvSpPr/>
          <p:nvPr/>
        </p:nvSpPr>
        <p:spPr>
          <a:xfrm>
            <a:off x="3240207" y="4427688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6739766" y="4450077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2900491" y="4060989"/>
            <a:ext cx="1582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Component A</a:t>
            </a:r>
            <a:endParaRPr lang="en-US" dirty="0"/>
          </a:p>
        </p:txBody>
      </p:sp>
      <p:sp>
        <p:nvSpPr>
          <p:cNvPr id="15" name="TextBox 14"/>
          <p:cNvSpPr txBox="1"/>
          <p:nvPr/>
        </p:nvSpPr>
        <p:spPr>
          <a:xfrm>
            <a:off x="6405691" y="4069077"/>
            <a:ext cx="1595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Component B</a:t>
            </a:r>
            <a:endParaRPr lang="en-US" dirty="0"/>
          </a:p>
        </p:txBody>
      </p:sp>
      <p:cxnSp>
        <p:nvCxnSpPr>
          <p:cNvPr id="16" name="Straight Arrow Connector 15"/>
          <p:cNvCxnSpPr>
            <a:stCxn id="12" idx="3"/>
          </p:cNvCxnSpPr>
          <p:nvPr/>
        </p:nvCxnSpPr>
        <p:spPr>
          <a:xfrm>
            <a:off x="4154607" y="4884888"/>
            <a:ext cx="259080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154606" y="4549234"/>
            <a:ext cx="5565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Out</a:t>
            </a:r>
            <a:endParaRPr lang="en-US" dirty="0"/>
          </a:p>
        </p:txBody>
      </p:sp>
      <p:sp>
        <p:nvSpPr>
          <p:cNvPr id="18" name="TextBox 17"/>
          <p:cNvSpPr txBox="1"/>
          <p:nvPr/>
        </p:nvSpPr>
        <p:spPr>
          <a:xfrm>
            <a:off x="6362739" y="4549234"/>
            <a:ext cx="3770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In</a:t>
            </a:r>
            <a:endParaRPr lang="en-US" dirty="0"/>
          </a:p>
        </p:txBody>
      </p:sp>
      <p:sp>
        <p:nvSpPr>
          <p:cNvPr id="19" name="TextBox 18"/>
          <p:cNvSpPr txBox="1"/>
          <p:nvPr/>
        </p:nvSpPr>
        <p:spPr>
          <a:xfrm>
            <a:off x="672735" y="2425511"/>
            <a:ext cx="21339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Nominal Behavior: </a:t>
            </a:r>
            <a:endParaRPr lang="en-US" dirty="0"/>
          </a:p>
        </p:txBody>
      </p:sp>
      <p:sp>
        <p:nvSpPr>
          <p:cNvPr id="27" name="TextBox 26"/>
          <p:cNvSpPr txBox="1"/>
          <p:nvPr/>
        </p:nvSpPr>
        <p:spPr>
          <a:xfrm>
            <a:off x="685229" y="4733900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Fault Behavior: </a:t>
            </a:r>
            <a:endParaRPr lang="en-US" dirty="0"/>
          </a:p>
        </p:txBody>
      </p:sp>
      <p:sp>
        <p:nvSpPr>
          <p:cNvPr id="28" name="Oval 27"/>
          <p:cNvSpPr/>
          <p:nvPr/>
        </p:nvSpPr>
        <p:spPr>
          <a:xfrm>
            <a:off x="5034192" y="4461366"/>
            <a:ext cx="914400" cy="9144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/>
              <a:t>Fault</a:t>
            </a:r>
            <a:endParaRPr lang="en-US" sz="1400" dirty="0"/>
          </a:p>
        </p:txBody>
      </p:sp>
      <p:sp>
        <p:nvSpPr>
          <p:cNvPr id="20" name="Title 3"/>
          <p:cNvSpPr txBox="1">
            <a:spLocks/>
          </p:cNvSpPr>
          <p:nvPr/>
        </p:nvSpPr>
        <p:spPr>
          <a:xfrm>
            <a:off x="629798" y="352540"/>
            <a:ext cx="8359966" cy="767441"/>
          </a:xfrm>
          <a:prstGeom prst="rect">
            <a:avLst/>
          </a:prstGeom>
        </p:spPr>
        <p:txBody>
          <a:bodyPr/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600" b="1" dirty="0" smtClean="0">
                <a:solidFill>
                  <a:schemeClr val="bg1">
                    <a:lumMod val="50000"/>
                  </a:schemeClr>
                </a:solidFill>
              </a:rPr>
              <a:t>Example of Behavioral Fault Propagation</a:t>
            </a:r>
            <a:endParaRPr lang="en-US" sz="3600" b="1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167443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600" b="1" dirty="0" smtClean="0">
                <a:solidFill>
                  <a:schemeClr val="bg1">
                    <a:lumMod val="50000"/>
                  </a:schemeClr>
                </a:solidFill>
              </a:rPr>
              <a:t>Safety Annex</a:t>
            </a:r>
            <a:r>
              <a:rPr lang="en-US" sz="3600" b="1" dirty="0" smtClean="0"/>
              <a:t>	</a:t>
            </a:r>
            <a:endParaRPr lang="en-US" sz="3600" b="1" dirty="0"/>
          </a:p>
        </p:txBody>
      </p:sp>
      <p:sp>
        <p:nvSpPr>
          <p:cNvPr id="7" name="Rectangle 5"/>
          <p:cNvSpPr/>
          <p:nvPr/>
        </p:nvSpPr>
        <p:spPr>
          <a:xfrm>
            <a:off x="457199" y="1583324"/>
            <a:ext cx="8143876" cy="4432300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9154" name="Picture 2" descr="C:\Users\stew_da\Downloads\fault_sensor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072" y="1924050"/>
            <a:ext cx="7784130" cy="36077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Rechteck 9"/>
          <p:cNvSpPr/>
          <p:nvPr/>
        </p:nvSpPr>
        <p:spPr>
          <a:xfrm>
            <a:off x="828675" y="3945524"/>
            <a:ext cx="7505700" cy="1400175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486857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600" b="1" dirty="0" smtClean="0">
                <a:solidFill>
                  <a:schemeClr val="bg1">
                    <a:lumMod val="50000"/>
                  </a:schemeClr>
                </a:solidFill>
              </a:rPr>
              <a:t>WBS : No inadvertent braking</a:t>
            </a:r>
            <a:endParaRPr lang="en-US" sz="3600" b="1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2000" y="1600201"/>
            <a:ext cx="7924800" cy="1600200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 smtClean="0"/>
              <a:t>Normal Operating Mode: </a:t>
            </a:r>
          </a:p>
          <a:p>
            <a:r>
              <a:rPr lang="en-US" dirty="0" smtClean="0"/>
              <a:t>Mechanical pedal pressed (brakes commanded)</a:t>
            </a:r>
          </a:p>
          <a:p>
            <a:r>
              <a:rPr lang="en-US" dirty="0" smtClean="0"/>
              <a:t>Sensor on pedal converts to electrical signal</a:t>
            </a:r>
          </a:p>
          <a:p>
            <a:r>
              <a:rPr lang="en-US" dirty="0" smtClean="0"/>
              <a:t>Signal sent to BSCU to command brakes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93026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600" b="1" dirty="0" smtClean="0">
                <a:solidFill>
                  <a:schemeClr val="bg1">
                    <a:lumMod val="50000"/>
                  </a:schemeClr>
                </a:solidFill>
              </a:rPr>
              <a:t>A Fault on the Pedal </a:t>
            </a:r>
            <a:r>
              <a:rPr lang="en-US" sz="3600" b="1" dirty="0">
                <a:solidFill>
                  <a:schemeClr val="bg1">
                    <a:lumMod val="50000"/>
                  </a:schemeClr>
                </a:solidFill>
              </a:rPr>
              <a:t>S</a:t>
            </a:r>
            <a:r>
              <a:rPr lang="en-US" sz="3600" b="1" dirty="0" smtClean="0">
                <a:solidFill>
                  <a:schemeClr val="bg1">
                    <a:lumMod val="50000"/>
                  </a:schemeClr>
                </a:solidFill>
              </a:rPr>
              <a:t>ensor </a:t>
            </a:r>
            <a:r>
              <a:rPr lang="en-US" sz="3600" b="1" dirty="0">
                <a:solidFill>
                  <a:schemeClr val="bg1">
                    <a:lumMod val="50000"/>
                  </a:schemeClr>
                </a:solidFill>
              </a:rPr>
              <a:t>C</a:t>
            </a:r>
            <a:r>
              <a:rPr lang="en-US" sz="3600" b="1" dirty="0" smtClean="0">
                <a:solidFill>
                  <a:schemeClr val="bg1">
                    <a:lumMod val="50000"/>
                  </a:schemeClr>
                </a:solidFill>
              </a:rPr>
              <a:t>omponent</a:t>
            </a:r>
            <a:endParaRPr lang="en-US" sz="3600" b="1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568" y="2590800"/>
            <a:ext cx="8815263" cy="1600200"/>
          </a:xfrm>
        </p:spPr>
      </p:pic>
    </p:spTree>
    <p:extLst>
      <p:ext uri="{BB962C8B-B14F-4D97-AF65-F5344CB8AC3E}">
        <p14:creationId xmlns:p14="http://schemas.microsoft.com/office/powerpoint/2010/main" val="24602672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600" b="1" dirty="0" smtClean="0">
                <a:solidFill>
                  <a:schemeClr val="bg1">
                    <a:lumMod val="50000"/>
                  </a:schemeClr>
                </a:solidFill>
              </a:rPr>
              <a:t>Behavioral Fault Propagation</a:t>
            </a:r>
            <a:endParaRPr lang="en-US" sz="3600" b="1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5123" name="Picture 3" descr="C:\Users\stew_da\Desktop\DLR_presentations\current_work\images\SA_approach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799" y="2057400"/>
            <a:ext cx="8458201" cy="3962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hteck 5"/>
          <p:cNvSpPr/>
          <p:nvPr/>
        </p:nvSpPr>
        <p:spPr>
          <a:xfrm>
            <a:off x="304799" y="5715000"/>
            <a:ext cx="1905001" cy="6096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674388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600" b="1" dirty="0" smtClean="0">
                <a:solidFill>
                  <a:schemeClr val="bg1">
                    <a:lumMod val="50000"/>
                  </a:schemeClr>
                </a:solidFill>
              </a:rPr>
              <a:t>Active Sensor </a:t>
            </a:r>
            <a:r>
              <a:rPr lang="en-US" sz="3600" b="1" dirty="0">
                <a:solidFill>
                  <a:schemeClr val="bg1">
                    <a:lumMod val="50000"/>
                  </a:schemeClr>
                </a:solidFill>
              </a:rPr>
              <a:t>F</a:t>
            </a:r>
            <a:r>
              <a:rPr lang="en-US" sz="3600" b="1" dirty="0" smtClean="0">
                <a:solidFill>
                  <a:schemeClr val="bg1">
                    <a:lumMod val="50000"/>
                  </a:schemeClr>
                </a:solidFill>
              </a:rPr>
              <a:t>ault</a:t>
            </a:r>
            <a:endParaRPr lang="en-US" sz="3600" b="1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Mechanical pedal is not pressed</a:t>
            </a:r>
          </a:p>
          <a:p>
            <a:r>
              <a:rPr lang="en-US" dirty="0" smtClean="0"/>
              <a:t>Inverted Boolean failure on sensor activated</a:t>
            </a:r>
          </a:p>
          <a:p>
            <a:r>
              <a:rPr lang="en-US" dirty="0" smtClean="0"/>
              <a:t>Electrical signal is true and braking is commanded through BSCU</a:t>
            </a:r>
          </a:p>
          <a:p>
            <a:r>
              <a:rPr lang="en-US" dirty="0" smtClean="0"/>
              <a:t>Top level lemma fails (Unintentional braking occurs)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43537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600" b="1" dirty="0" smtClean="0">
                <a:solidFill>
                  <a:schemeClr val="bg1">
                    <a:lumMod val="50000"/>
                  </a:schemeClr>
                </a:solidFill>
              </a:rPr>
              <a:t>Maximum Fault vs. Probabilistic </a:t>
            </a:r>
            <a:endParaRPr lang="en-US" sz="3600" b="1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54274" name="Picture 2" descr="C:\Users\stew_da\Desktop\Universität\topLevel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" y="1417638"/>
            <a:ext cx="4305300" cy="3067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feld 8"/>
          <p:cNvSpPr txBox="1"/>
          <p:nvPr/>
        </p:nvSpPr>
        <p:spPr>
          <a:xfrm>
            <a:off x="1035586" y="4300022"/>
            <a:ext cx="463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smtClean="0"/>
              <a:t>. . .</a:t>
            </a:r>
            <a:endParaRPr lang="de-DE" dirty="0"/>
          </a:p>
        </p:txBody>
      </p:sp>
      <p:pic>
        <p:nvPicPr>
          <p:cNvPr id="54275" name="Picture 3" descr="C:\Users\stew_da\Desktop\Universität\agreecode1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4930" y="4856047"/>
            <a:ext cx="1104900" cy="1809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feld 11"/>
          <p:cNvSpPr txBox="1"/>
          <p:nvPr/>
        </p:nvSpPr>
        <p:spPr>
          <a:xfrm>
            <a:off x="1089714" y="4979277"/>
            <a:ext cx="463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smtClean="0"/>
              <a:t>. . .</a:t>
            </a:r>
            <a:endParaRPr lang="de-DE" dirty="0"/>
          </a:p>
        </p:txBody>
      </p:sp>
      <p:pic>
        <p:nvPicPr>
          <p:cNvPr id="54276" name="Picture 4" descr="C:\Users\stew_da\Desktop\Universität\sacode1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4930" y="5264199"/>
            <a:ext cx="2152650" cy="10763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4277" name="Picture 5" descr="C:\Users\stew_da\Desktop\Universität\endinst.PNG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2177" y="6483350"/>
            <a:ext cx="952500" cy="209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Abgerundetes Rechteck 9"/>
          <p:cNvSpPr/>
          <p:nvPr/>
        </p:nvSpPr>
        <p:spPr>
          <a:xfrm>
            <a:off x="176270" y="1222872"/>
            <a:ext cx="5277079" cy="3446482"/>
          </a:xfrm>
          <a:prstGeom prst="roundRect">
            <a:avLst/>
          </a:prstGeom>
          <a:noFill/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954979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600" b="1" dirty="0" smtClean="0">
                <a:solidFill>
                  <a:schemeClr val="bg1">
                    <a:lumMod val="50000"/>
                  </a:schemeClr>
                </a:solidFill>
              </a:rPr>
              <a:t>Maximum Fault vs. Probabilistic </a:t>
            </a:r>
            <a:endParaRPr lang="en-US" sz="3600" b="1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54274" name="Picture 2" descr="C:\Users\stew_da\Desktop\Universität\topLevel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" y="1417638"/>
            <a:ext cx="4305300" cy="3067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feld 8"/>
          <p:cNvSpPr txBox="1"/>
          <p:nvPr/>
        </p:nvSpPr>
        <p:spPr>
          <a:xfrm>
            <a:off x="1035586" y="4300022"/>
            <a:ext cx="463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smtClean="0"/>
              <a:t>. . .</a:t>
            </a:r>
            <a:endParaRPr lang="de-DE" dirty="0"/>
          </a:p>
        </p:txBody>
      </p:sp>
      <p:pic>
        <p:nvPicPr>
          <p:cNvPr id="54275" name="Picture 3" descr="C:\Users\stew_da\Desktop\Universität\agreecode1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4930" y="4856047"/>
            <a:ext cx="1104900" cy="1809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feld 11"/>
          <p:cNvSpPr txBox="1"/>
          <p:nvPr/>
        </p:nvSpPr>
        <p:spPr>
          <a:xfrm>
            <a:off x="1089714" y="4979277"/>
            <a:ext cx="463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smtClean="0"/>
              <a:t>. . .</a:t>
            </a:r>
            <a:endParaRPr lang="de-DE" dirty="0"/>
          </a:p>
        </p:txBody>
      </p:sp>
      <p:pic>
        <p:nvPicPr>
          <p:cNvPr id="54276" name="Picture 4" descr="C:\Users\stew_da\Desktop\Universität\sacode1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4930" y="5264199"/>
            <a:ext cx="2152650" cy="10763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4277" name="Picture 5" descr="C:\Users\stew_da\Desktop\Universität\endinst.PNG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2177" y="6483350"/>
            <a:ext cx="952500" cy="209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Abgerundetes Rechteck 9"/>
          <p:cNvSpPr/>
          <p:nvPr/>
        </p:nvSpPr>
        <p:spPr>
          <a:xfrm>
            <a:off x="297457" y="4637137"/>
            <a:ext cx="3084721" cy="904348"/>
          </a:xfrm>
          <a:prstGeom prst="roundRect">
            <a:avLst/>
          </a:prstGeom>
          <a:noFill/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936745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600" b="1" dirty="0" smtClean="0">
                <a:solidFill>
                  <a:schemeClr val="bg1">
                    <a:lumMod val="50000"/>
                  </a:schemeClr>
                </a:solidFill>
              </a:rPr>
              <a:t>Maximum Fault vs. Probabilistic </a:t>
            </a:r>
            <a:endParaRPr lang="en-US" sz="3600" b="1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54274" name="Picture 2" descr="C:\Users\stew_da\Desktop\Universität\topLevel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" y="1417638"/>
            <a:ext cx="4305300" cy="3067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feld 8"/>
          <p:cNvSpPr txBox="1"/>
          <p:nvPr/>
        </p:nvSpPr>
        <p:spPr>
          <a:xfrm>
            <a:off x="1035586" y="4300022"/>
            <a:ext cx="463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smtClean="0"/>
              <a:t>. . .</a:t>
            </a:r>
            <a:endParaRPr lang="de-DE" dirty="0"/>
          </a:p>
        </p:txBody>
      </p:sp>
      <p:pic>
        <p:nvPicPr>
          <p:cNvPr id="54275" name="Picture 3" descr="C:\Users\stew_da\Desktop\Universität\agreecode1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4930" y="4856047"/>
            <a:ext cx="1104900" cy="1809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feld 11"/>
          <p:cNvSpPr txBox="1"/>
          <p:nvPr/>
        </p:nvSpPr>
        <p:spPr>
          <a:xfrm>
            <a:off x="1089714" y="4979277"/>
            <a:ext cx="463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smtClean="0"/>
              <a:t>. . .</a:t>
            </a:r>
            <a:endParaRPr lang="de-DE" dirty="0"/>
          </a:p>
        </p:txBody>
      </p:sp>
      <p:pic>
        <p:nvPicPr>
          <p:cNvPr id="54277" name="Picture 5" descr="C:\Users\stew_da\Desktop\Universität\endinst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2177" y="6483350"/>
            <a:ext cx="952500" cy="209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5298" name="Picture 2" descr="C:\Users\stew_da\Desktop\Universität\sacode2.PNG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0862" y="5316824"/>
            <a:ext cx="1714500" cy="1133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Abgerundetes Rechteck 12"/>
          <p:cNvSpPr/>
          <p:nvPr/>
        </p:nvSpPr>
        <p:spPr>
          <a:xfrm>
            <a:off x="297457" y="5541485"/>
            <a:ext cx="3084721" cy="904348"/>
          </a:xfrm>
          <a:prstGeom prst="roundRect">
            <a:avLst/>
          </a:prstGeom>
          <a:noFill/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655470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600" b="1" dirty="0" smtClean="0">
                <a:solidFill>
                  <a:schemeClr val="bg1">
                    <a:lumMod val="50000"/>
                  </a:schemeClr>
                </a:solidFill>
              </a:rPr>
              <a:t>Maximum Fault vs. Probabilistic </a:t>
            </a:r>
            <a:endParaRPr lang="en-US" sz="3600" b="1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54274" name="Picture 2" descr="C:\Users\stew_da\Desktop\Universität\topLevel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" y="1417638"/>
            <a:ext cx="4305300" cy="3067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feld 8"/>
          <p:cNvSpPr txBox="1"/>
          <p:nvPr/>
        </p:nvSpPr>
        <p:spPr>
          <a:xfrm>
            <a:off x="1035586" y="4300022"/>
            <a:ext cx="463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smtClean="0"/>
              <a:t>. . .</a:t>
            </a:r>
            <a:endParaRPr lang="de-DE" dirty="0"/>
          </a:p>
        </p:txBody>
      </p:sp>
      <p:pic>
        <p:nvPicPr>
          <p:cNvPr id="54275" name="Picture 3" descr="C:\Users\stew_da\Desktop\Universität\agreecode1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4930" y="4856047"/>
            <a:ext cx="1104900" cy="1809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feld 11"/>
          <p:cNvSpPr txBox="1"/>
          <p:nvPr/>
        </p:nvSpPr>
        <p:spPr>
          <a:xfrm>
            <a:off x="1089714" y="4979277"/>
            <a:ext cx="463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smtClean="0"/>
              <a:t>. . .</a:t>
            </a:r>
            <a:endParaRPr lang="de-DE" dirty="0"/>
          </a:p>
        </p:txBody>
      </p:sp>
      <p:pic>
        <p:nvPicPr>
          <p:cNvPr id="54276" name="Picture 4" descr="C:\Users\stew_da\Desktop\Universität\sacode1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1879" y="5341318"/>
            <a:ext cx="2152650" cy="10763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4277" name="Picture 5" descr="C:\Users\stew_da\Desktop\Universität\endinst.PNG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2177" y="6483350"/>
            <a:ext cx="952500" cy="209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Abgerundetes Rechteck 9"/>
          <p:cNvSpPr/>
          <p:nvPr/>
        </p:nvSpPr>
        <p:spPr>
          <a:xfrm>
            <a:off x="297457" y="5541485"/>
            <a:ext cx="3084721" cy="904348"/>
          </a:xfrm>
          <a:prstGeom prst="roundRect">
            <a:avLst/>
          </a:prstGeom>
          <a:noFill/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343522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 txBox="1">
            <a:spLocks/>
          </p:cNvSpPr>
          <p:nvPr/>
        </p:nvSpPr>
        <p:spPr>
          <a:xfrm>
            <a:off x="629798" y="616744"/>
            <a:ext cx="7772400" cy="503237"/>
          </a:xfrm>
          <a:prstGeom prst="rect">
            <a:avLst/>
          </a:prstGeom>
        </p:spPr>
        <p:txBody>
          <a:bodyPr/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600" b="1" dirty="0" smtClean="0">
                <a:solidFill>
                  <a:schemeClr val="bg1">
                    <a:lumMod val="50000"/>
                  </a:schemeClr>
                </a:solidFill>
              </a:rPr>
              <a:t>WBS Fault Model Details</a:t>
            </a:r>
            <a:endParaRPr lang="en-US" sz="3600" b="1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6" name="Picture 2" descr="C:\Users\stew_da\Desktop\Universität\fm2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9936" y="2454161"/>
            <a:ext cx="8022261" cy="7665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0418" name="Picture 2" descr="C:\Users\stew_da\Desktop\Universität\Images for NASA Presentation\fault_analysis2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9935" y="4548273"/>
            <a:ext cx="8111139" cy="7796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9925861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/>
          <p:cNvSpPr txBox="1">
            <a:spLocks/>
          </p:cNvSpPr>
          <p:nvPr/>
        </p:nvSpPr>
        <p:spPr>
          <a:xfrm>
            <a:off x="453528" y="1645319"/>
            <a:ext cx="8233272" cy="4711031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 smtClean="0"/>
              <a:t>Built for NASA’s Transport Class Model (TCM) aircraft simulation</a:t>
            </a:r>
          </a:p>
          <a:p>
            <a:r>
              <a:rPr lang="en-US" sz="2000" dirty="0" smtClean="0"/>
              <a:t>Developed in AADL/AGREE  and includes:</a:t>
            </a:r>
          </a:p>
          <a:p>
            <a:pPr lvl="1"/>
            <a:r>
              <a:rPr lang="en-US" sz="2000" dirty="0" smtClean="0"/>
              <a:t>Control Laws</a:t>
            </a:r>
          </a:p>
          <a:p>
            <a:pPr lvl="1"/>
            <a:r>
              <a:rPr lang="en-US" sz="2000" dirty="0" smtClean="0"/>
              <a:t>Sensors</a:t>
            </a:r>
          </a:p>
          <a:p>
            <a:pPr lvl="1"/>
            <a:r>
              <a:rPr lang="en-US" sz="2000" dirty="0" smtClean="0"/>
              <a:t>Actuators</a:t>
            </a:r>
          </a:p>
          <a:p>
            <a:pPr lvl="1"/>
            <a:r>
              <a:rPr lang="en-US" sz="2000" dirty="0" smtClean="0"/>
              <a:t>Dynamics</a:t>
            </a:r>
          </a:p>
          <a:p>
            <a:r>
              <a:rPr lang="en-US" sz="2000" dirty="0" smtClean="0"/>
              <a:t>Includes a hierarchy of English language requirements</a:t>
            </a:r>
          </a:p>
          <a:p>
            <a:r>
              <a:rPr lang="en-US" sz="2000" dirty="0" smtClean="0"/>
              <a:t>Initial AADL model developed as part of CVFCS project</a:t>
            </a:r>
          </a:p>
        </p:txBody>
      </p:sp>
      <p:sp>
        <p:nvSpPr>
          <p:cNvPr id="5" name="Title 1"/>
          <p:cNvSpPr txBox="1">
            <a:spLocks/>
          </p:cNvSpPr>
          <p:nvPr/>
        </p:nvSpPr>
        <p:spPr>
          <a:xfrm>
            <a:off x="605928" y="288926"/>
            <a:ext cx="7772400" cy="579437"/>
          </a:xfrm>
          <a:prstGeom prst="rect">
            <a:avLst/>
          </a:prstGeom>
        </p:spPr>
        <p:txBody>
          <a:bodyPr/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400" b="1" dirty="0" smtClean="0">
                <a:solidFill>
                  <a:schemeClr val="bg1">
                    <a:lumMod val="50000"/>
                  </a:schemeClr>
                </a:solidFill>
              </a:rPr>
              <a:t>Quad-redundant Flight Control System</a:t>
            </a:r>
            <a:endParaRPr lang="en-US" sz="2400" b="1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8918211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/>
          <p:cNvSpPr txBox="1">
            <a:spLocks/>
          </p:cNvSpPr>
          <p:nvPr/>
        </p:nvSpPr>
        <p:spPr>
          <a:xfrm>
            <a:off x="453528" y="1255923"/>
            <a:ext cx="6013373" cy="5100427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/>
              <a:t>The flight control system consists of four flight control computers (FCC).</a:t>
            </a:r>
          </a:p>
          <a:p>
            <a:r>
              <a:rPr lang="en-US" sz="2000" dirty="0"/>
              <a:t>Each FCC includes:</a:t>
            </a:r>
          </a:p>
          <a:p>
            <a:pPr lvl="1"/>
            <a:r>
              <a:rPr lang="en-US" sz="2000" dirty="0"/>
              <a:t>Navigation (NAV)</a:t>
            </a:r>
          </a:p>
          <a:p>
            <a:pPr lvl="1"/>
            <a:r>
              <a:rPr lang="en-US" sz="2000" dirty="0"/>
              <a:t>Guidance (GUIDE)</a:t>
            </a:r>
          </a:p>
          <a:p>
            <a:pPr lvl="1"/>
            <a:r>
              <a:rPr lang="en-US" sz="2000" b="1" dirty="0"/>
              <a:t>Control Laws (Claws)</a:t>
            </a:r>
          </a:p>
          <a:p>
            <a:pPr lvl="1"/>
            <a:r>
              <a:rPr lang="en-US" sz="2000" b="1" dirty="0"/>
              <a:t>Input Signal Analysis and Selection (ISAS)</a:t>
            </a:r>
          </a:p>
          <a:p>
            <a:pPr lvl="1"/>
            <a:r>
              <a:rPr lang="en-US" sz="2000" b="1" dirty="0"/>
              <a:t>Output Signal Analysis and Selection (OSAS)</a:t>
            </a:r>
          </a:p>
          <a:p>
            <a:pPr lvl="1"/>
            <a:r>
              <a:rPr lang="en-US" sz="2000" dirty="0"/>
              <a:t>Cross Channel Data Link (CCDL)</a:t>
            </a:r>
          </a:p>
        </p:txBody>
      </p:sp>
      <p:sp>
        <p:nvSpPr>
          <p:cNvPr id="5" name="Title 1"/>
          <p:cNvSpPr txBox="1">
            <a:spLocks/>
          </p:cNvSpPr>
          <p:nvPr/>
        </p:nvSpPr>
        <p:spPr>
          <a:xfrm>
            <a:off x="605928" y="288926"/>
            <a:ext cx="7772400" cy="579437"/>
          </a:xfrm>
          <a:prstGeom prst="rect">
            <a:avLst/>
          </a:prstGeom>
        </p:spPr>
        <p:txBody>
          <a:bodyPr/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400" b="1" dirty="0">
                <a:solidFill>
                  <a:schemeClr val="bg1">
                    <a:lumMod val="50000"/>
                  </a:schemeClr>
                </a:solidFill>
              </a:rPr>
              <a:t>QFCS Architecture</a:t>
            </a:r>
          </a:p>
        </p:txBody>
      </p: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9799" y="1162537"/>
            <a:ext cx="2828925" cy="278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30891566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7"/>
          <p:cNvSpPr>
            <a:spLocks noChangeArrowheads="1"/>
          </p:cNvSpPr>
          <p:nvPr/>
        </p:nvSpPr>
        <p:spPr bwMode="auto">
          <a:xfrm>
            <a:off x="531813" y="1447800"/>
            <a:ext cx="8080375" cy="47625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9pPr>
          </a:lstStyle>
          <a:p>
            <a:pPr defTabSz="457200">
              <a:defRPr/>
            </a:pPr>
            <a:endParaRPr lang="en-US">
              <a:solidFill>
                <a:prstClr val="black"/>
              </a:solidFill>
              <a:cs typeface="+mn-cs"/>
            </a:endParaRPr>
          </a:p>
        </p:txBody>
      </p:sp>
      <p:sp>
        <p:nvSpPr>
          <p:cNvPr id="6" name="Rectangle 48"/>
          <p:cNvSpPr>
            <a:spLocks noChangeArrowheads="1"/>
          </p:cNvSpPr>
          <p:nvPr/>
        </p:nvSpPr>
        <p:spPr bwMode="auto">
          <a:xfrm>
            <a:off x="762000" y="1676400"/>
            <a:ext cx="1138225" cy="4114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9pPr>
          </a:lstStyle>
          <a:p>
            <a:pPr defTabSz="457200">
              <a:defRPr/>
            </a:pPr>
            <a:endParaRPr lang="en-US">
              <a:solidFill>
                <a:prstClr val="black"/>
              </a:solidFill>
              <a:cs typeface="+mn-cs"/>
            </a:endParaRPr>
          </a:p>
        </p:txBody>
      </p:sp>
      <p:sp>
        <p:nvSpPr>
          <p:cNvPr id="7" name="Text Box 16"/>
          <p:cNvSpPr txBox="1">
            <a:spLocks noChangeArrowheads="1"/>
          </p:cNvSpPr>
          <p:nvPr/>
        </p:nvSpPr>
        <p:spPr bwMode="auto">
          <a:xfrm>
            <a:off x="7202761" y="1722438"/>
            <a:ext cx="1167307" cy="104644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9pPr>
          </a:lstStyle>
          <a:p>
            <a:pPr defTabSz="457200">
              <a:defRPr/>
            </a:pPr>
            <a:r>
              <a:rPr lang="en-US" sz="1400" b="1" dirty="0">
                <a:solidFill>
                  <a:prstClr val="black"/>
                </a:solidFill>
                <a:cs typeface="+mn-cs"/>
              </a:rPr>
              <a:t>Output:</a:t>
            </a:r>
          </a:p>
          <a:p>
            <a:pPr defTabSz="457200">
              <a:defRPr/>
            </a:pPr>
            <a:r>
              <a:rPr lang="en-US" dirty="0" smtClean="0">
                <a:solidFill>
                  <a:prstClr val="black"/>
                </a:solidFill>
                <a:cs typeface="+mn-cs"/>
              </a:rPr>
              <a:t>Throttle </a:t>
            </a:r>
            <a:r>
              <a:rPr lang="en-US" dirty="0" err="1">
                <a:solidFill>
                  <a:prstClr val="black"/>
                </a:solidFill>
                <a:cs typeface="+mn-cs"/>
              </a:rPr>
              <a:t>c</a:t>
            </a:r>
            <a:r>
              <a:rPr lang="en-US" dirty="0" err="1" smtClean="0">
                <a:solidFill>
                  <a:prstClr val="black"/>
                </a:solidFill>
                <a:cs typeface="+mn-cs"/>
              </a:rPr>
              <a:t>mds</a:t>
            </a:r>
            <a:endParaRPr lang="en-US" dirty="0" smtClean="0">
              <a:solidFill>
                <a:prstClr val="black"/>
              </a:solidFill>
              <a:cs typeface="+mn-cs"/>
            </a:endParaRPr>
          </a:p>
          <a:p>
            <a:pPr defTabSz="457200">
              <a:defRPr/>
            </a:pPr>
            <a:r>
              <a:rPr lang="en-US" dirty="0" smtClean="0">
                <a:solidFill>
                  <a:prstClr val="black"/>
                </a:solidFill>
                <a:cs typeface="+mn-cs"/>
              </a:rPr>
              <a:t>Surface </a:t>
            </a:r>
            <a:r>
              <a:rPr lang="en-US" dirty="0" err="1" smtClean="0">
                <a:solidFill>
                  <a:prstClr val="black"/>
                </a:solidFill>
                <a:cs typeface="+mn-cs"/>
              </a:rPr>
              <a:t>cmds</a:t>
            </a:r>
            <a:endParaRPr lang="en-US" dirty="0">
              <a:solidFill>
                <a:prstClr val="black"/>
              </a:solidFill>
              <a:cs typeface="+mn-cs"/>
            </a:endParaRPr>
          </a:p>
          <a:p>
            <a:pPr defTabSz="457200">
              <a:defRPr/>
            </a:pPr>
            <a:r>
              <a:rPr lang="en-US" dirty="0" smtClean="0">
                <a:solidFill>
                  <a:prstClr val="black"/>
                </a:solidFill>
                <a:cs typeface="+mn-cs"/>
              </a:rPr>
              <a:t>Display </a:t>
            </a:r>
            <a:r>
              <a:rPr lang="en-US" dirty="0">
                <a:solidFill>
                  <a:prstClr val="black"/>
                </a:solidFill>
                <a:cs typeface="+mn-cs"/>
              </a:rPr>
              <a:t>d</a:t>
            </a:r>
            <a:r>
              <a:rPr lang="en-US" dirty="0" smtClean="0">
                <a:solidFill>
                  <a:prstClr val="black"/>
                </a:solidFill>
                <a:cs typeface="+mn-cs"/>
              </a:rPr>
              <a:t>ata</a:t>
            </a:r>
            <a:endParaRPr lang="en-US" dirty="0">
              <a:solidFill>
                <a:prstClr val="black"/>
              </a:solidFill>
              <a:cs typeface="+mn-cs"/>
            </a:endParaRPr>
          </a:p>
          <a:p>
            <a:pPr defTabSz="457200">
              <a:defRPr/>
            </a:pPr>
            <a:r>
              <a:rPr lang="en-US" dirty="0">
                <a:solidFill>
                  <a:prstClr val="black"/>
                </a:solidFill>
                <a:cs typeface="+mn-cs"/>
              </a:rPr>
              <a:t>System </a:t>
            </a:r>
            <a:r>
              <a:rPr lang="en-US" dirty="0" err="1" smtClean="0">
                <a:solidFill>
                  <a:prstClr val="black"/>
                </a:solidFill>
                <a:cs typeface="+mn-cs"/>
              </a:rPr>
              <a:t>cmds</a:t>
            </a:r>
            <a:endParaRPr lang="en-US" dirty="0">
              <a:solidFill>
                <a:prstClr val="black"/>
              </a:solidFill>
              <a:cs typeface="+mn-cs"/>
            </a:endParaRPr>
          </a:p>
        </p:txBody>
      </p:sp>
      <p:sp>
        <p:nvSpPr>
          <p:cNvPr id="8" name="Rectangle 50"/>
          <p:cNvSpPr>
            <a:spLocks noChangeArrowheads="1"/>
          </p:cNvSpPr>
          <p:nvPr/>
        </p:nvSpPr>
        <p:spPr bwMode="auto">
          <a:xfrm>
            <a:off x="7193236" y="1676400"/>
            <a:ext cx="1176832" cy="4114799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9pPr>
          </a:lstStyle>
          <a:p>
            <a:pPr defTabSz="457200">
              <a:defRPr/>
            </a:pPr>
            <a:endParaRPr lang="en-US">
              <a:solidFill>
                <a:prstClr val="black"/>
              </a:solidFill>
              <a:cs typeface="+mn-cs"/>
            </a:endParaRPr>
          </a:p>
        </p:txBody>
      </p:sp>
      <p:sp>
        <p:nvSpPr>
          <p:cNvPr id="9" name="Text Box 5"/>
          <p:cNvSpPr txBox="1">
            <a:spLocks noChangeArrowheads="1"/>
          </p:cNvSpPr>
          <p:nvPr/>
        </p:nvSpPr>
        <p:spPr bwMode="auto">
          <a:xfrm>
            <a:off x="698488" y="1690689"/>
            <a:ext cx="1200150" cy="196977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9pPr>
          </a:lstStyle>
          <a:p>
            <a:pPr algn="r" defTabSz="457200">
              <a:defRPr/>
            </a:pPr>
            <a:r>
              <a:rPr lang="en-US" sz="1400" b="1" dirty="0">
                <a:solidFill>
                  <a:prstClr val="black"/>
                </a:solidFill>
                <a:latin typeface="Arial"/>
                <a:cs typeface="Arial"/>
              </a:rPr>
              <a:t>Input:</a:t>
            </a:r>
          </a:p>
          <a:p>
            <a:pPr algn="r" defTabSz="457200">
              <a:defRPr/>
            </a:pPr>
            <a:r>
              <a:rPr lang="en-US" dirty="0">
                <a:solidFill>
                  <a:prstClr val="black"/>
                </a:solidFill>
                <a:latin typeface="Arial"/>
                <a:cs typeface="Arial"/>
              </a:rPr>
              <a:t>INS/GPS</a:t>
            </a:r>
          </a:p>
          <a:p>
            <a:pPr algn="r" defTabSz="457200">
              <a:defRPr/>
            </a:pPr>
            <a:r>
              <a:rPr lang="en-US" dirty="0" smtClean="0">
                <a:solidFill>
                  <a:prstClr val="black"/>
                </a:solidFill>
                <a:latin typeface="Arial"/>
                <a:cs typeface="Arial"/>
              </a:rPr>
              <a:t>Air-data</a:t>
            </a:r>
            <a:endParaRPr lang="en-US" dirty="0">
              <a:solidFill>
                <a:prstClr val="black"/>
              </a:solidFill>
              <a:latin typeface="Arial"/>
              <a:cs typeface="Arial"/>
            </a:endParaRPr>
          </a:p>
          <a:p>
            <a:pPr algn="r" defTabSz="457200">
              <a:defRPr/>
            </a:pPr>
            <a:r>
              <a:rPr lang="en-US" dirty="0">
                <a:solidFill>
                  <a:prstClr val="black"/>
                </a:solidFill>
                <a:latin typeface="Arial"/>
                <a:cs typeface="Arial"/>
              </a:rPr>
              <a:t>AOA, AOS</a:t>
            </a:r>
          </a:p>
          <a:p>
            <a:pPr algn="r" defTabSz="457200">
              <a:defRPr/>
            </a:pPr>
            <a:r>
              <a:rPr lang="en-US" dirty="0">
                <a:solidFill>
                  <a:prstClr val="black"/>
                </a:solidFill>
                <a:latin typeface="Arial"/>
                <a:cs typeface="Arial"/>
              </a:rPr>
              <a:t>Control </a:t>
            </a:r>
            <a:r>
              <a:rPr lang="en-US" dirty="0" smtClean="0">
                <a:solidFill>
                  <a:prstClr val="black"/>
                </a:solidFill>
                <a:latin typeface="Arial"/>
                <a:cs typeface="Arial"/>
              </a:rPr>
              <a:t>inputs</a:t>
            </a:r>
            <a:endParaRPr lang="en-US" dirty="0">
              <a:solidFill>
                <a:prstClr val="black"/>
              </a:solidFill>
              <a:latin typeface="Arial"/>
              <a:cs typeface="Arial"/>
            </a:endParaRPr>
          </a:p>
          <a:p>
            <a:pPr algn="r" defTabSz="457200">
              <a:defRPr/>
            </a:pPr>
            <a:r>
              <a:rPr lang="en-US" dirty="0">
                <a:solidFill>
                  <a:prstClr val="black"/>
                </a:solidFill>
                <a:latin typeface="Arial"/>
                <a:cs typeface="Arial"/>
              </a:rPr>
              <a:t>Switch </a:t>
            </a:r>
            <a:r>
              <a:rPr lang="en-US" dirty="0" smtClean="0">
                <a:solidFill>
                  <a:prstClr val="black"/>
                </a:solidFill>
                <a:latin typeface="Arial"/>
                <a:cs typeface="Arial"/>
              </a:rPr>
              <a:t>inputs</a:t>
            </a:r>
            <a:endParaRPr lang="en-US" dirty="0">
              <a:solidFill>
                <a:prstClr val="black"/>
              </a:solidFill>
              <a:latin typeface="Arial"/>
              <a:cs typeface="Arial"/>
            </a:endParaRPr>
          </a:p>
          <a:p>
            <a:pPr algn="r" defTabSz="457200">
              <a:defRPr/>
            </a:pPr>
            <a:r>
              <a:rPr lang="en-US" dirty="0">
                <a:solidFill>
                  <a:prstClr val="black"/>
                </a:solidFill>
                <a:latin typeface="Arial"/>
                <a:cs typeface="Arial"/>
              </a:rPr>
              <a:t>Actuator </a:t>
            </a:r>
            <a:r>
              <a:rPr lang="en-US" dirty="0" smtClean="0">
                <a:solidFill>
                  <a:prstClr val="black"/>
                </a:solidFill>
                <a:latin typeface="Arial"/>
                <a:cs typeface="Arial"/>
              </a:rPr>
              <a:t>data</a:t>
            </a:r>
            <a:endParaRPr lang="en-US" dirty="0">
              <a:solidFill>
                <a:prstClr val="black"/>
              </a:solidFill>
              <a:latin typeface="Arial"/>
              <a:cs typeface="Arial"/>
            </a:endParaRPr>
          </a:p>
          <a:p>
            <a:pPr algn="r" defTabSz="457200">
              <a:defRPr/>
            </a:pPr>
            <a:r>
              <a:rPr lang="en-US" dirty="0">
                <a:solidFill>
                  <a:prstClr val="black"/>
                </a:solidFill>
                <a:latin typeface="Arial"/>
                <a:cs typeface="Arial"/>
              </a:rPr>
              <a:t>Engine </a:t>
            </a:r>
            <a:r>
              <a:rPr lang="en-US" dirty="0" smtClean="0">
                <a:solidFill>
                  <a:prstClr val="black"/>
                </a:solidFill>
                <a:latin typeface="Arial"/>
                <a:cs typeface="Arial"/>
              </a:rPr>
              <a:t>data</a:t>
            </a:r>
            <a:endParaRPr lang="en-US" dirty="0">
              <a:solidFill>
                <a:prstClr val="black"/>
              </a:solidFill>
              <a:latin typeface="Arial"/>
              <a:cs typeface="Arial"/>
            </a:endParaRPr>
          </a:p>
          <a:p>
            <a:pPr algn="r" defTabSz="457200">
              <a:defRPr/>
            </a:pPr>
            <a:r>
              <a:rPr lang="en-US" dirty="0">
                <a:solidFill>
                  <a:prstClr val="black"/>
                </a:solidFill>
                <a:latin typeface="Arial"/>
                <a:cs typeface="Arial"/>
              </a:rPr>
              <a:t>Gear </a:t>
            </a:r>
            <a:r>
              <a:rPr lang="en-US" dirty="0" smtClean="0">
                <a:solidFill>
                  <a:prstClr val="black"/>
                </a:solidFill>
                <a:latin typeface="Arial"/>
                <a:cs typeface="Arial"/>
              </a:rPr>
              <a:t>data</a:t>
            </a:r>
            <a:endParaRPr lang="en-US" dirty="0">
              <a:solidFill>
                <a:prstClr val="black"/>
              </a:solidFill>
              <a:latin typeface="Arial"/>
              <a:cs typeface="Arial"/>
            </a:endParaRPr>
          </a:p>
          <a:p>
            <a:pPr algn="r" defTabSz="457200">
              <a:defRPr/>
            </a:pPr>
            <a:endParaRPr 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0" name="Line 17"/>
          <p:cNvSpPr>
            <a:spLocks noChangeShapeType="1"/>
          </p:cNvSpPr>
          <p:nvPr/>
        </p:nvSpPr>
        <p:spPr bwMode="auto">
          <a:xfrm flipV="1">
            <a:off x="1900225" y="2514600"/>
            <a:ext cx="974725" cy="0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9pPr>
          </a:lstStyle>
          <a:p>
            <a:pPr defTabSz="457200">
              <a:defRPr/>
            </a:pPr>
            <a:endParaRPr 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1" name="Line 17"/>
          <p:cNvSpPr>
            <a:spLocks noChangeShapeType="1"/>
          </p:cNvSpPr>
          <p:nvPr/>
        </p:nvSpPr>
        <p:spPr bwMode="auto">
          <a:xfrm flipV="1">
            <a:off x="1900225" y="5638800"/>
            <a:ext cx="3181083" cy="0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9pPr>
          </a:lstStyle>
          <a:p>
            <a:pPr defTabSz="457200">
              <a:defRPr/>
            </a:pPr>
            <a:endParaRPr 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grpSp>
        <p:nvGrpSpPr>
          <p:cNvPr id="12" name="Group 1"/>
          <p:cNvGrpSpPr/>
          <p:nvPr/>
        </p:nvGrpSpPr>
        <p:grpSpPr>
          <a:xfrm>
            <a:off x="2874950" y="1752600"/>
            <a:ext cx="1149350" cy="827857"/>
            <a:chOff x="4062413" y="2362200"/>
            <a:chExt cx="1149350" cy="1874838"/>
          </a:xfrm>
        </p:grpSpPr>
        <p:sp>
          <p:nvSpPr>
            <p:cNvPr id="13" name="Text Box 4"/>
            <p:cNvSpPr txBox="1">
              <a:spLocks noChangeArrowheads="1"/>
            </p:cNvSpPr>
            <p:nvPr/>
          </p:nvSpPr>
          <p:spPr bwMode="auto">
            <a:xfrm>
              <a:off x="4062413" y="2433637"/>
              <a:ext cx="1149350" cy="33855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200" kern="12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200" kern="12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200" kern="12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200" kern="12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200" kern="12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5pPr>
              <a:lvl6pPr marL="2286000" algn="l" defTabSz="457200" rtl="0" eaLnBrk="1" latinLnBrk="0" hangingPunct="1">
                <a:defRPr sz="1200" kern="12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6pPr>
              <a:lvl7pPr marL="2743200" algn="l" defTabSz="457200" rtl="0" eaLnBrk="1" latinLnBrk="0" hangingPunct="1">
                <a:defRPr sz="1200" kern="12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7pPr>
              <a:lvl8pPr marL="3200400" algn="l" defTabSz="457200" rtl="0" eaLnBrk="1" latinLnBrk="0" hangingPunct="1">
                <a:defRPr sz="1200" kern="12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8pPr>
              <a:lvl9pPr marL="3657600" algn="l" defTabSz="457200" rtl="0" eaLnBrk="1" latinLnBrk="0" hangingPunct="1">
                <a:defRPr sz="1200" kern="12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9pPr>
            </a:lstStyle>
            <a:p>
              <a:pPr algn="ctr" defTabSz="457200">
                <a:defRPr/>
              </a:pPr>
              <a:r>
                <a:rPr lang="en-US" sz="1600" b="1" dirty="0" smtClean="0">
                  <a:solidFill>
                    <a:prstClr val="black"/>
                  </a:solidFill>
                  <a:cs typeface="+mn-cs"/>
                </a:rPr>
                <a:t>FCC 1</a:t>
              </a:r>
              <a:endParaRPr lang="en-US" dirty="0">
                <a:solidFill>
                  <a:prstClr val="black"/>
                </a:solidFill>
                <a:cs typeface="+mn-cs"/>
              </a:endParaRPr>
            </a:p>
          </p:txBody>
        </p:sp>
        <p:sp>
          <p:nvSpPr>
            <p:cNvPr id="14" name="Rectangle 41"/>
            <p:cNvSpPr>
              <a:spLocks noChangeArrowheads="1"/>
            </p:cNvSpPr>
            <p:nvPr/>
          </p:nvSpPr>
          <p:spPr bwMode="auto">
            <a:xfrm>
              <a:off x="4062413" y="2362200"/>
              <a:ext cx="1143000" cy="1874838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200" kern="12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200" kern="12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200" kern="12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200" kern="12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200" kern="12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5pPr>
              <a:lvl6pPr marL="2286000" algn="l" defTabSz="457200" rtl="0" eaLnBrk="1" latinLnBrk="0" hangingPunct="1">
                <a:defRPr sz="1200" kern="12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6pPr>
              <a:lvl7pPr marL="2743200" algn="l" defTabSz="457200" rtl="0" eaLnBrk="1" latinLnBrk="0" hangingPunct="1">
                <a:defRPr sz="1200" kern="12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7pPr>
              <a:lvl8pPr marL="3200400" algn="l" defTabSz="457200" rtl="0" eaLnBrk="1" latinLnBrk="0" hangingPunct="1">
                <a:defRPr sz="1200" kern="12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8pPr>
              <a:lvl9pPr marL="3657600" algn="l" defTabSz="457200" rtl="0" eaLnBrk="1" latinLnBrk="0" hangingPunct="1">
                <a:defRPr sz="1200" kern="12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9pPr>
            </a:lstStyle>
            <a:p>
              <a:pPr defTabSz="457200">
                <a:defRPr/>
              </a:pPr>
              <a:endParaRPr lang="en-US">
                <a:solidFill>
                  <a:prstClr val="black"/>
                </a:solidFill>
                <a:cs typeface="+mn-cs"/>
              </a:endParaRPr>
            </a:p>
          </p:txBody>
        </p:sp>
      </p:grpSp>
      <p:sp>
        <p:nvSpPr>
          <p:cNvPr id="15" name="Rectangle 43"/>
          <p:cNvSpPr>
            <a:spLocks noChangeArrowheads="1"/>
          </p:cNvSpPr>
          <p:nvPr/>
        </p:nvSpPr>
        <p:spPr bwMode="auto">
          <a:xfrm>
            <a:off x="3637331" y="2809057"/>
            <a:ext cx="1143000" cy="82785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9pPr>
          </a:lstStyle>
          <a:p>
            <a:pPr defTabSz="457200">
              <a:defRPr/>
            </a:pPr>
            <a:endParaRPr lang="en-US">
              <a:solidFill>
                <a:prstClr val="black"/>
              </a:solidFill>
              <a:cs typeface="+mn-cs"/>
            </a:endParaRPr>
          </a:p>
        </p:txBody>
      </p:sp>
      <p:sp>
        <p:nvSpPr>
          <p:cNvPr id="16" name="Rectangle 44"/>
          <p:cNvSpPr>
            <a:spLocks noChangeArrowheads="1"/>
          </p:cNvSpPr>
          <p:nvPr/>
        </p:nvSpPr>
        <p:spPr bwMode="auto">
          <a:xfrm>
            <a:off x="4322750" y="3856039"/>
            <a:ext cx="1143000" cy="82785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9pPr>
          </a:lstStyle>
          <a:p>
            <a:pPr defTabSz="457200">
              <a:defRPr/>
            </a:pPr>
            <a:endParaRPr lang="en-US">
              <a:solidFill>
                <a:prstClr val="black"/>
              </a:solidFill>
              <a:cs typeface="+mn-cs"/>
            </a:endParaRPr>
          </a:p>
        </p:txBody>
      </p:sp>
      <p:sp>
        <p:nvSpPr>
          <p:cNvPr id="17" name="Rectangle 45"/>
          <p:cNvSpPr>
            <a:spLocks noChangeArrowheads="1"/>
          </p:cNvSpPr>
          <p:nvPr/>
        </p:nvSpPr>
        <p:spPr bwMode="auto">
          <a:xfrm>
            <a:off x="5084750" y="4866458"/>
            <a:ext cx="1143000" cy="82785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9pPr>
          </a:lstStyle>
          <a:p>
            <a:pPr defTabSz="457200">
              <a:defRPr/>
            </a:pPr>
            <a:endParaRPr lang="en-US">
              <a:solidFill>
                <a:prstClr val="black"/>
              </a:solidFill>
              <a:cs typeface="+mn-cs"/>
            </a:endParaRPr>
          </a:p>
        </p:txBody>
      </p:sp>
      <p:sp>
        <p:nvSpPr>
          <p:cNvPr id="18" name="Line 17"/>
          <p:cNvSpPr>
            <a:spLocks noChangeShapeType="1"/>
          </p:cNvSpPr>
          <p:nvPr/>
        </p:nvSpPr>
        <p:spPr bwMode="auto">
          <a:xfrm flipV="1">
            <a:off x="3027350" y="2895600"/>
            <a:ext cx="609982" cy="0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9pPr>
          </a:lstStyle>
          <a:p>
            <a:pPr defTabSz="457200">
              <a:defRPr/>
            </a:pPr>
            <a:endParaRPr 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Line 17"/>
          <p:cNvSpPr>
            <a:spLocks noChangeShapeType="1"/>
          </p:cNvSpPr>
          <p:nvPr/>
        </p:nvSpPr>
        <p:spPr bwMode="auto">
          <a:xfrm flipV="1">
            <a:off x="3817925" y="4191000"/>
            <a:ext cx="504825" cy="0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9pPr>
          </a:lstStyle>
          <a:p>
            <a:pPr defTabSz="457200">
              <a:defRPr/>
            </a:pPr>
            <a:endParaRPr 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0" name="Freeform 62"/>
          <p:cNvSpPr>
            <a:spLocks/>
          </p:cNvSpPr>
          <p:nvPr/>
        </p:nvSpPr>
        <p:spPr bwMode="auto">
          <a:xfrm flipH="1">
            <a:off x="3027349" y="2580457"/>
            <a:ext cx="2057400" cy="2829741"/>
          </a:xfrm>
          <a:custGeom>
            <a:avLst/>
            <a:gdLst>
              <a:gd name="T0" fmla="*/ 288 w 288"/>
              <a:gd name="T1" fmla="*/ 0 h 720"/>
              <a:gd name="T2" fmla="*/ 288 w 288"/>
              <a:gd name="T3" fmla="*/ 720 h 720"/>
              <a:gd name="T4" fmla="*/ 0 w 288"/>
              <a:gd name="T5" fmla="*/ 720 h 72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88" h="720">
                <a:moveTo>
                  <a:pt x="288" y="0"/>
                </a:moveTo>
                <a:lnTo>
                  <a:pt x="288" y="720"/>
                </a:lnTo>
                <a:lnTo>
                  <a:pt x="0" y="720"/>
                </a:lnTo>
              </a:path>
            </a:pathLst>
          </a:custGeom>
          <a:noFill/>
          <a:ln w="57150" cap="flat" cmpd="sng">
            <a:solidFill>
              <a:schemeClr val="tx1"/>
            </a:solidFill>
            <a:prstDash val="solid"/>
            <a:miter lim="800000"/>
            <a:headEnd type="non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9pPr>
          </a:lstStyle>
          <a:p>
            <a:pPr defTabSz="457200">
              <a:defRPr/>
            </a:pPr>
            <a:endParaRPr lang="en-US">
              <a:solidFill>
                <a:prstClr val="black"/>
              </a:solidFill>
              <a:cs typeface="+mn-cs"/>
            </a:endParaRPr>
          </a:p>
        </p:txBody>
      </p:sp>
      <p:sp>
        <p:nvSpPr>
          <p:cNvPr id="21" name="Freeform 67"/>
          <p:cNvSpPr>
            <a:spLocks/>
          </p:cNvSpPr>
          <p:nvPr/>
        </p:nvSpPr>
        <p:spPr bwMode="auto">
          <a:xfrm flipH="1">
            <a:off x="3789347" y="3636913"/>
            <a:ext cx="1295401" cy="1554807"/>
          </a:xfrm>
          <a:custGeom>
            <a:avLst/>
            <a:gdLst>
              <a:gd name="T0" fmla="*/ 288 w 288"/>
              <a:gd name="T1" fmla="*/ 0 h 720"/>
              <a:gd name="T2" fmla="*/ 288 w 288"/>
              <a:gd name="T3" fmla="*/ 720 h 720"/>
              <a:gd name="T4" fmla="*/ 0 w 288"/>
              <a:gd name="T5" fmla="*/ 720 h 72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88" h="720">
                <a:moveTo>
                  <a:pt x="288" y="0"/>
                </a:moveTo>
                <a:lnTo>
                  <a:pt x="288" y="720"/>
                </a:lnTo>
                <a:lnTo>
                  <a:pt x="0" y="720"/>
                </a:lnTo>
              </a:path>
            </a:pathLst>
          </a:custGeom>
          <a:noFill/>
          <a:ln w="57150" cap="flat" cmpd="sng">
            <a:solidFill>
              <a:schemeClr val="tx1"/>
            </a:solidFill>
            <a:prstDash val="solid"/>
            <a:miter lim="800000"/>
            <a:headEnd type="non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9pPr>
          </a:lstStyle>
          <a:p>
            <a:pPr defTabSz="457200">
              <a:defRPr/>
            </a:pPr>
            <a:endParaRPr lang="en-US">
              <a:solidFill>
                <a:prstClr val="black"/>
              </a:solidFill>
              <a:cs typeface="+mn-cs"/>
            </a:endParaRPr>
          </a:p>
        </p:txBody>
      </p:sp>
      <p:sp>
        <p:nvSpPr>
          <p:cNvPr id="22" name="Freeform 68"/>
          <p:cNvSpPr>
            <a:spLocks/>
          </p:cNvSpPr>
          <p:nvPr/>
        </p:nvSpPr>
        <p:spPr bwMode="auto">
          <a:xfrm flipH="1">
            <a:off x="4475150" y="4683895"/>
            <a:ext cx="606158" cy="292477"/>
          </a:xfrm>
          <a:custGeom>
            <a:avLst/>
            <a:gdLst>
              <a:gd name="T0" fmla="*/ 288 w 288"/>
              <a:gd name="T1" fmla="*/ 0 h 720"/>
              <a:gd name="T2" fmla="*/ 288 w 288"/>
              <a:gd name="T3" fmla="*/ 720 h 720"/>
              <a:gd name="T4" fmla="*/ 0 w 288"/>
              <a:gd name="T5" fmla="*/ 720 h 72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88" h="720">
                <a:moveTo>
                  <a:pt x="288" y="0"/>
                </a:moveTo>
                <a:lnTo>
                  <a:pt x="288" y="720"/>
                </a:lnTo>
                <a:lnTo>
                  <a:pt x="0" y="720"/>
                </a:lnTo>
              </a:path>
            </a:pathLst>
          </a:custGeom>
          <a:noFill/>
          <a:ln w="57150" cap="flat" cmpd="sng">
            <a:solidFill>
              <a:schemeClr val="tx1"/>
            </a:solidFill>
            <a:prstDash val="solid"/>
            <a:miter lim="800000"/>
            <a:headEnd type="non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9pPr>
          </a:lstStyle>
          <a:p>
            <a:pPr defTabSz="457200">
              <a:defRPr/>
            </a:pPr>
            <a:endParaRPr lang="en-US">
              <a:solidFill>
                <a:prstClr val="black"/>
              </a:solidFill>
              <a:cs typeface="+mn-cs"/>
            </a:endParaRPr>
          </a:p>
        </p:txBody>
      </p:sp>
      <p:sp>
        <p:nvSpPr>
          <p:cNvPr id="23" name="Line 17"/>
          <p:cNvSpPr>
            <a:spLocks noChangeShapeType="1"/>
          </p:cNvSpPr>
          <p:nvPr/>
        </p:nvSpPr>
        <p:spPr bwMode="auto">
          <a:xfrm rot="10800000" flipH="1" flipV="1">
            <a:off x="6222975" y="4953000"/>
            <a:ext cx="974725" cy="0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9pPr>
          </a:lstStyle>
          <a:p>
            <a:pPr defTabSz="457200">
              <a:defRPr/>
            </a:pPr>
            <a:endParaRPr 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4" name="Line 17"/>
          <p:cNvSpPr>
            <a:spLocks noChangeShapeType="1"/>
          </p:cNvSpPr>
          <p:nvPr/>
        </p:nvSpPr>
        <p:spPr bwMode="auto">
          <a:xfrm rot="10800000" flipH="1" flipV="1">
            <a:off x="4016617" y="1828800"/>
            <a:ext cx="3181083" cy="0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9pPr>
          </a:lstStyle>
          <a:p>
            <a:pPr defTabSz="457200">
              <a:defRPr/>
            </a:pPr>
            <a:endParaRPr 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5" name="Line 17"/>
          <p:cNvSpPr>
            <a:spLocks noChangeShapeType="1"/>
          </p:cNvSpPr>
          <p:nvPr/>
        </p:nvSpPr>
        <p:spPr bwMode="auto">
          <a:xfrm rot="10800000" flipV="1">
            <a:off x="5460593" y="4572000"/>
            <a:ext cx="609982" cy="0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9pPr>
          </a:lstStyle>
          <a:p>
            <a:pPr defTabSz="457200">
              <a:defRPr/>
            </a:pPr>
            <a:endParaRPr 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6" name="Line 17"/>
          <p:cNvSpPr>
            <a:spLocks noChangeShapeType="1"/>
          </p:cNvSpPr>
          <p:nvPr/>
        </p:nvSpPr>
        <p:spPr bwMode="auto">
          <a:xfrm rot="10800000" flipV="1">
            <a:off x="4775175" y="3276600"/>
            <a:ext cx="504825" cy="0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9pPr>
          </a:lstStyle>
          <a:p>
            <a:pPr defTabSz="457200">
              <a:defRPr/>
            </a:pPr>
            <a:endParaRPr 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7" name="Freeform 86"/>
          <p:cNvSpPr>
            <a:spLocks/>
          </p:cNvSpPr>
          <p:nvPr/>
        </p:nvSpPr>
        <p:spPr bwMode="auto">
          <a:xfrm rot="10800000" flipH="1">
            <a:off x="4013176" y="2057402"/>
            <a:ext cx="2057400" cy="2809056"/>
          </a:xfrm>
          <a:custGeom>
            <a:avLst/>
            <a:gdLst>
              <a:gd name="T0" fmla="*/ 288 w 288"/>
              <a:gd name="T1" fmla="*/ 0 h 720"/>
              <a:gd name="T2" fmla="*/ 288 w 288"/>
              <a:gd name="T3" fmla="*/ 720 h 720"/>
              <a:gd name="T4" fmla="*/ 0 w 288"/>
              <a:gd name="T5" fmla="*/ 720 h 72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88" h="720">
                <a:moveTo>
                  <a:pt x="288" y="0"/>
                </a:moveTo>
                <a:lnTo>
                  <a:pt x="288" y="720"/>
                </a:lnTo>
                <a:lnTo>
                  <a:pt x="0" y="720"/>
                </a:lnTo>
              </a:path>
            </a:pathLst>
          </a:custGeom>
          <a:noFill/>
          <a:ln w="57150" cap="flat" cmpd="sng">
            <a:solidFill>
              <a:schemeClr val="tx1"/>
            </a:solidFill>
            <a:prstDash val="solid"/>
            <a:miter lim="800000"/>
            <a:headEnd type="non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9pPr>
          </a:lstStyle>
          <a:p>
            <a:pPr defTabSz="457200">
              <a:defRPr/>
            </a:pPr>
            <a:endParaRPr lang="en-US">
              <a:solidFill>
                <a:prstClr val="black"/>
              </a:solidFill>
              <a:cs typeface="+mn-cs"/>
            </a:endParaRPr>
          </a:p>
        </p:txBody>
      </p:sp>
      <p:sp>
        <p:nvSpPr>
          <p:cNvPr id="28" name="Freeform 87"/>
          <p:cNvSpPr>
            <a:spLocks/>
          </p:cNvSpPr>
          <p:nvPr/>
        </p:nvSpPr>
        <p:spPr bwMode="auto">
          <a:xfrm rot="10800000" flipH="1">
            <a:off x="4013177" y="2275879"/>
            <a:ext cx="1295401" cy="1590502"/>
          </a:xfrm>
          <a:custGeom>
            <a:avLst/>
            <a:gdLst>
              <a:gd name="T0" fmla="*/ 288 w 288"/>
              <a:gd name="T1" fmla="*/ 0 h 720"/>
              <a:gd name="T2" fmla="*/ 288 w 288"/>
              <a:gd name="T3" fmla="*/ 720 h 720"/>
              <a:gd name="T4" fmla="*/ 0 w 288"/>
              <a:gd name="T5" fmla="*/ 720 h 72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88" h="720">
                <a:moveTo>
                  <a:pt x="288" y="0"/>
                </a:moveTo>
                <a:lnTo>
                  <a:pt x="288" y="720"/>
                </a:lnTo>
                <a:lnTo>
                  <a:pt x="0" y="720"/>
                </a:lnTo>
              </a:path>
            </a:pathLst>
          </a:custGeom>
          <a:noFill/>
          <a:ln w="57150" cap="flat" cmpd="sng">
            <a:solidFill>
              <a:schemeClr val="tx1"/>
            </a:solidFill>
            <a:prstDash val="solid"/>
            <a:miter lim="800000"/>
            <a:headEnd type="non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9pPr>
          </a:lstStyle>
          <a:p>
            <a:pPr defTabSz="457200">
              <a:defRPr/>
            </a:pPr>
            <a:endParaRPr lang="en-US">
              <a:solidFill>
                <a:prstClr val="black"/>
              </a:solidFill>
              <a:cs typeface="+mn-cs"/>
            </a:endParaRPr>
          </a:p>
        </p:txBody>
      </p:sp>
      <p:sp>
        <p:nvSpPr>
          <p:cNvPr id="29" name="Freeform 88"/>
          <p:cNvSpPr>
            <a:spLocks/>
          </p:cNvSpPr>
          <p:nvPr/>
        </p:nvSpPr>
        <p:spPr bwMode="auto">
          <a:xfrm rot="10800000" flipH="1">
            <a:off x="4016617" y="2491227"/>
            <a:ext cx="606158" cy="317829"/>
          </a:xfrm>
          <a:custGeom>
            <a:avLst/>
            <a:gdLst>
              <a:gd name="T0" fmla="*/ 288 w 288"/>
              <a:gd name="T1" fmla="*/ 0 h 720"/>
              <a:gd name="T2" fmla="*/ 288 w 288"/>
              <a:gd name="T3" fmla="*/ 720 h 720"/>
              <a:gd name="T4" fmla="*/ 0 w 288"/>
              <a:gd name="T5" fmla="*/ 720 h 72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88" h="720">
                <a:moveTo>
                  <a:pt x="288" y="0"/>
                </a:moveTo>
                <a:lnTo>
                  <a:pt x="288" y="720"/>
                </a:lnTo>
                <a:lnTo>
                  <a:pt x="0" y="720"/>
                </a:lnTo>
              </a:path>
            </a:pathLst>
          </a:custGeom>
          <a:noFill/>
          <a:ln w="57150" cap="flat" cmpd="sng">
            <a:solidFill>
              <a:schemeClr val="tx1"/>
            </a:solidFill>
            <a:prstDash val="solid"/>
            <a:miter lim="800000"/>
            <a:headEnd type="non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9pPr>
          </a:lstStyle>
          <a:p>
            <a:pPr defTabSz="457200">
              <a:defRPr/>
            </a:pPr>
            <a:endParaRPr lang="en-US">
              <a:solidFill>
                <a:prstClr val="black"/>
              </a:solidFill>
              <a:cs typeface="+mn-cs"/>
            </a:endParaRPr>
          </a:p>
        </p:txBody>
      </p:sp>
      <p:sp>
        <p:nvSpPr>
          <p:cNvPr id="30" name="Text Box 4"/>
          <p:cNvSpPr txBox="1">
            <a:spLocks noChangeArrowheads="1"/>
          </p:cNvSpPr>
          <p:nvPr/>
        </p:nvSpPr>
        <p:spPr bwMode="auto">
          <a:xfrm>
            <a:off x="3625825" y="2811898"/>
            <a:ext cx="1149350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9pPr>
          </a:lstStyle>
          <a:p>
            <a:pPr algn="ctr" defTabSz="457200">
              <a:defRPr/>
            </a:pPr>
            <a:r>
              <a:rPr lang="en-US" sz="1600" b="1" dirty="0" smtClean="0">
                <a:solidFill>
                  <a:prstClr val="black"/>
                </a:solidFill>
                <a:cs typeface="+mn-cs"/>
              </a:rPr>
              <a:t>FCC 2</a:t>
            </a:r>
            <a:endParaRPr lang="en-US" dirty="0">
              <a:solidFill>
                <a:prstClr val="black"/>
              </a:solidFill>
              <a:cs typeface="+mn-cs"/>
            </a:endParaRPr>
          </a:p>
        </p:txBody>
      </p:sp>
      <p:sp>
        <p:nvSpPr>
          <p:cNvPr id="31" name="Text Box 4"/>
          <p:cNvSpPr txBox="1">
            <a:spLocks noChangeArrowheads="1"/>
          </p:cNvSpPr>
          <p:nvPr/>
        </p:nvSpPr>
        <p:spPr bwMode="auto">
          <a:xfrm>
            <a:off x="4322750" y="3829370"/>
            <a:ext cx="1149350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9pPr>
          </a:lstStyle>
          <a:p>
            <a:pPr algn="ctr" defTabSz="457200">
              <a:defRPr/>
            </a:pPr>
            <a:r>
              <a:rPr lang="en-US" sz="1600" b="1" dirty="0" smtClean="0">
                <a:solidFill>
                  <a:prstClr val="black"/>
                </a:solidFill>
                <a:cs typeface="+mn-cs"/>
              </a:rPr>
              <a:t>FCC 3</a:t>
            </a:r>
            <a:endParaRPr lang="en-US" dirty="0">
              <a:solidFill>
                <a:prstClr val="black"/>
              </a:solidFill>
              <a:cs typeface="+mn-cs"/>
            </a:endParaRPr>
          </a:p>
        </p:txBody>
      </p:sp>
      <p:sp>
        <p:nvSpPr>
          <p:cNvPr id="32" name="Text Box 4"/>
          <p:cNvSpPr txBox="1">
            <a:spLocks noChangeArrowheads="1"/>
          </p:cNvSpPr>
          <p:nvPr/>
        </p:nvSpPr>
        <p:spPr bwMode="auto">
          <a:xfrm>
            <a:off x="5084750" y="4878253"/>
            <a:ext cx="1149350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9pPr>
          </a:lstStyle>
          <a:p>
            <a:pPr algn="ctr" defTabSz="457200">
              <a:defRPr/>
            </a:pPr>
            <a:r>
              <a:rPr lang="en-US" sz="1600" b="1" dirty="0" smtClean="0">
                <a:solidFill>
                  <a:prstClr val="black"/>
                </a:solidFill>
                <a:cs typeface="+mn-cs"/>
              </a:rPr>
              <a:t>FCC 4</a:t>
            </a:r>
            <a:endParaRPr lang="en-US" dirty="0">
              <a:solidFill>
                <a:prstClr val="black"/>
              </a:solidFill>
              <a:cs typeface="+mn-cs"/>
            </a:endParaRPr>
          </a:p>
        </p:txBody>
      </p:sp>
      <p:sp>
        <p:nvSpPr>
          <p:cNvPr id="33" name="Rectangle 17"/>
          <p:cNvSpPr/>
          <p:nvPr/>
        </p:nvSpPr>
        <p:spPr>
          <a:xfrm>
            <a:off x="2971800" y="3476625"/>
            <a:ext cx="112535" cy="12283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 defTabSz="457200"/>
            <a:endParaRPr lang="en-US">
              <a:solidFill>
                <a:prstClr val="black"/>
              </a:solidFill>
            </a:endParaRPr>
          </a:p>
        </p:txBody>
      </p:sp>
      <p:sp>
        <p:nvSpPr>
          <p:cNvPr id="34" name="Rectangle 98"/>
          <p:cNvSpPr/>
          <p:nvPr/>
        </p:nvSpPr>
        <p:spPr>
          <a:xfrm>
            <a:off x="5252310" y="3443782"/>
            <a:ext cx="112535" cy="12283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 defTabSz="457200"/>
            <a:endParaRPr lang="en-US">
              <a:solidFill>
                <a:prstClr val="black"/>
              </a:solidFill>
            </a:endParaRPr>
          </a:p>
        </p:txBody>
      </p:sp>
      <p:sp>
        <p:nvSpPr>
          <p:cNvPr id="35" name="Rectangle 95"/>
          <p:cNvSpPr/>
          <p:nvPr/>
        </p:nvSpPr>
        <p:spPr>
          <a:xfrm>
            <a:off x="5252310" y="2799276"/>
            <a:ext cx="112535" cy="12283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 defTabSz="457200"/>
            <a:endParaRPr lang="en-US">
              <a:solidFill>
                <a:prstClr val="black"/>
              </a:solidFill>
            </a:endParaRPr>
          </a:p>
        </p:txBody>
      </p:sp>
      <p:sp>
        <p:nvSpPr>
          <p:cNvPr id="36" name="Rectangle 100"/>
          <p:cNvSpPr/>
          <p:nvPr/>
        </p:nvSpPr>
        <p:spPr>
          <a:xfrm>
            <a:off x="6014307" y="2799277"/>
            <a:ext cx="112535" cy="12283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 defTabSz="457200"/>
            <a:endParaRPr lang="en-US">
              <a:solidFill>
                <a:prstClr val="black"/>
              </a:solidFill>
            </a:endParaRPr>
          </a:p>
        </p:txBody>
      </p:sp>
      <p:sp>
        <p:nvSpPr>
          <p:cNvPr id="37" name="Rectangle 94"/>
          <p:cNvSpPr/>
          <p:nvPr/>
        </p:nvSpPr>
        <p:spPr>
          <a:xfrm>
            <a:off x="3733079" y="3904489"/>
            <a:ext cx="112535" cy="12283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 defTabSz="457200"/>
            <a:endParaRPr lang="en-US">
              <a:solidFill>
                <a:prstClr val="black"/>
              </a:solidFill>
            </a:endParaRPr>
          </a:p>
        </p:txBody>
      </p:sp>
      <p:sp>
        <p:nvSpPr>
          <p:cNvPr id="38" name="Rectangle 96"/>
          <p:cNvSpPr/>
          <p:nvPr/>
        </p:nvSpPr>
        <p:spPr>
          <a:xfrm>
            <a:off x="2971800" y="4545485"/>
            <a:ext cx="112535" cy="12283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 defTabSz="457200"/>
            <a:endParaRPr lang="en-US">
              <a:solidFill>
                <a:prstClr val="black"/>
              </a:solidFill>
            </a:endParaRPr>
          </a:p>
        </p:txBody>
      </p:sp>
      <p:sp>
        <p:nvSpPr>
          <p:cNvPr id="39" name="Rectangle 97"/>
          <p:cNvSpPr/>
          <p:nvPr/>
        </p:nvSpPr>
        <p:spPr>
          <a:xfrm>
            <a:off x="3729727" y="4545485"/>
            <a:ext cx="112535" cy="12283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 defTabSz="457200"/>
            <a:endParaRPr lang="en-US">
              <a:solidFill>
                <a:prstClr val="black"/>
              </a:solidFill>
            </a:endParaRPr>
          </a:p>
        </p:txBody>
      </p:sp>
      <p:sp>
        <p:nvSpPr>
          <p:cNvPr id="40" name="Rectangle 99"/>
          <p:cNvSpPr/>
          <p:nvPr/>
        </p:nvSpPr>
        <p:spPr>
          <a:xfrm>
            <a:off x="6014307" y="3868411"/>
            <a:ext cx="112535" cy="12283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 defTabSz="457200"/>
            <a:endParaRPr lang="en-US">
              <a:solidFill>
                <a:prstClr val="black"/>
              </a:solidFill>
            </a:endParaRPr>
          </a:p>
        </p:txBody>
      </p:sp>
      <p:sp>
        <p:nvSpPr>
          <p:cNvPr id="41" name="Line 17"/>
          <p:cNvSpPr>
            <a:spLocks noChangeShapeType="1"/>
          </p:cNvSpPr>
          <p:nvPr/>
        </p:nvSpPr>
        <p:spPr bwMode="auto">
          <a:xfrm flipV="1">
            <a:off x="1900225" y="3540104"/>
            <a:ext cx="1737107" cy="0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9pPr>
          </a:lstStyle>
          <a:p>
            <a:pPr defTabSz="457200">
              <a:defRPr/>
            </a:pPr>
            <a:endParaRPr 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2" name="Line 17"/>
          <p:cNvSpPr>
            <a:spLocks noChangeShapeType="1"/>
          </p:cNvSpPr>
          <p:nvPr/>
        </p:nvSpPr>
        <p:spPr bwMode="auto">
          <a:xfrm flipV="1">
            <a:off x="3027349" y="3962400"/>
            <a:ext cx="1295401" cy="0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9pPr>
          </a:lstStyle>
          <a:p>
            <a:pPr defTabSz="457200">
              <a:defRPr/>
            </a:pPr>
            <a:endParaRPr 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3" name="Line 17"/>
          <p:cNvSpPr>
            <a:spLocks noChangeShapeType="1"/>
          </p:cNvSpPr>
          <p:nvPr/>
        </p:nvSpPr>
        <p:spPr bwMode="auto">
          <a:xfrm flipV="1">
            <a:off x="1912925" y="4606904"/>
            <a:ext cx="2409825" cy="0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9pPr>
          </a:lstStyle>
          <a:p>
            <a:pPr defTabSz="457200">
              <a:defRPr/>
            </a:pPr>
            <a:endParaRPr 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4" name="Line 17"/>
          <p:cNvSpPr>
            <a:spLocks noChangeShapeType="1"/>
          </p:cNvSpPr>
          <p:nvPr/>
        </p:nvSpPr>
        <p:spPr bwMode="auto">
          <a:xfrm rot="10800000" flipH="1" flipV="1">
            <a:off x="5460593" y="3927496"/>
            <a:ext cx="1737107" cy="0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9pPr>
          </a:lstStyle>
          <a:p>
            <a:pPr defTabSz="457200">
              <a:defRPr/>
            </a:pPr>
            <a:endParaRPr 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5" name="Line 17"/>
          <p:cNvSpPr>
            <a:spLocks noChangeShapeType="1"/>
          </p:cNvSpPr>
          <p:nvPr/>
        </p:nvSpPr>
        <p:spPr bwMode="auto">
          <a:xfrm rot="10800000" flipV="1">
            <a:off x="4775175" y="3505200"/>
            <a:ext cx="1295401" cy="0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9pPr>
          </a:lstStyle>
          <a:p>
            <a:pPr defTabSz="457200">
              <a:defRPr/>
            </a:pPr>
            <a:endParaRPr 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6" name="Line 17"/>
          <p:cNvSpPr>
            <a:spLocks noChangeShapeType="1"/>
          </p:cNvSpPr>
          <p:nvPr/>
        </p:nvSpPr>
        <p:spPr bwMode="auto">
          <a:xfrm rot="10800000" flipH="1" flipV="1">
            <a:off x="4775175" y="2860696"/>
            <a:ext cx="2409825" cy="0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9pPr>
          </a:lstStyle>
          <a:p>
            <a:pPr defTabSz="457200">
              <a:defRPr/>
            </a:pPr>
            <a:endParaRPr 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8" name="Title 1"/>
          <p:cNvSpPr txBox="1">
            <a:spLocks/>
          </p:cNvSpPr>
          <p:nvPr/>
        </p:nvSpPr>
        <p:spPr>
          <a:xfrm>
            <a:off x="605928" y="288926"/>
            <a:ext cx="7772400" cy="579437"/>
          </a:xfrm>
          <a:prstGeom prst="rect">
            <a:avLst/>
          </a:prstGeom>
        </p:spPr>
        <p:txBody>
          <a:bodyPr/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400" b="1" dirty="0">
                <a:solidFill>
                  <a:schemeClr val="bg1">
                    <a:lumMod val="50000"/>
                  </a:schemeClr>
                </a:solidFill>
              </a:rPr>
              <a:t>QFCS Architecture</a:t>
            </a:r>
          </a:p>
        </p:txBody>
      </p:sp>
    </p:spTree>
    <p:extLst>
      <p:ext uri="{BB962C8B-B14F-4D97-AF65-F5344CB8AC3E}">
        <p14:creationId xmlns:p14="http://schemas.microsoft.com/office/powerpoint/2010/main" val="267427087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/>
          <p:cNvSpPr/>
          <p:nvPr/>
        </p:nvSpPr>
        <p:spPr>
          <a:xfrm>
            <a:off x="152400" y="961225"/>
            <a:ext cx="6934201" cy="5486400"/>
          </a:xfrm>
          <a:prstGeom prst="roundRect">
            <a:avLst>
              <a:gd name="adj" fmla="val 7122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 smtClean="0">
                <a:solidFill>
                  <a:schemeClr val="tx1"/>
                </a:solidFill>
              </a:rPr>
              <a:t>FCS</a:t>
            </a:r>
            <a:endParaRPr lang="en-US" dirty="0">
              <a:solidFill>
                <a:schemeClr val="tx1"/>
              </a:solidFill>
            </a:endParaRPr>
          </a:p>
        </p:txBody>
      </p:sp>
      <p:grpSp>
        <p:nvGrpSpPr>
          <p:cNvPr id="5" name="Group 4"/>
          <p:cNvGrpSpPr/>
          <p:nvPr/>
        </p:nvGrpSpPr>
        <p:grpSpPr>
          <a:xfrm>
            <a:off x="1219200" y="1761388"/>
            <a:ext cx="3444702" cy="1907435"/>
            <a:chOff x="2362200" y="4191000"/>
            <a:chExt cx="2895600" cy="1281113"/>
          </a:xfrm>
        </p:grpSpPr>
        <p:sp>
          <p:nvSpPr>
            <p:cNvPr id="6" name="Rounded Rectangle 5"/>
            <p:cNvSpPr/>
            <p:nvPr/>
          </p:nvSpPr>
          <p:spPr>
            <a:xfrm>
              <a:off x="2362200" y="4191000"/>
              <a:ext cx="2895600" cy="1281113"/>
            </a:xfrm>
            <a:prstGeom prst="roundRect">
              <a:avLst>
                <a:gd name="adj" fmla="val 7122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dirty="0" smtClean="0">
                  <a:solidFill>
                    <a:schemeClr val="tx1"/>
                  </a:solidFill>
                </a:rPr>
                <a:t>FCC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2524125" y="4606527"/>
              <a:ext cx="752475" cy="450057"/>
            </a:xfrm>
            <a:prstGeom prst="roundRect">
              <a:avLst>
                <a:gd name="adj" fmla="val 19820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t"/>
            <a:lstStyle/>
            <a:p>
              <a:pPr algn="ctr"/>
              <a:r>
                <a:rPr lang="en-US" dirty="0" smtClean="0">
                  <a:solidFill>
                    <a:schemeClr val="tx1"/>
                  </a:solidFill>
                </a:rPr>
                <a:t>CLAW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3400425" y="4606527"/>
              <a:ext cx="752475" cy="450057"/>
            </a:xfrm>
            <a:prstGeom prst="roundRect">
              <a:avLst>
                <a:gd name="adj" fmla="val 19820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t"/>
            <a:lstStyle/>
            <a:p>
              <a:pPr algn="ctr"/>
              <a:r>
                <a:rPr lang="en-US" dirty="0" smtClean="0">
                  <a:solidFill>
                    <a:schemeClr val="tx1"/>
                  </a:solidFill>
                </a:rPr>
                <a:t>ISAS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4305300" y="4612479"/>
              <a:ext cx="752475" cy="450057"/>
            </a:xfrm>
            <a:prstGeom prst="roundRect">
              <a:avLst>
                <a:gd name="adj" fmla="val 19820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t"/>
            <a:lstStyle/>
            <a:p>
              <a:pPr algn="ctr"/>
              <a:r>
                <a:rPr lang="en-US" dirty="0" smtClean="0">
                  <a:solidFill>
                    <a:schemeClr val="tx1"/>
                  </a:solidFill>
                </a:rPr>
                <a:t>OSAS</a:t>
              </a:r>
              <a:endParaRPr 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1615794" y="2566826"/>
            <a:ext cx="3444702" cy="1907435"/>
            <a:chOff x="2362200" y="4191000"/>
            <a:chExt cx="2895600" cy="1281113"/>
          </a:xfrm>
        </p:grpSpPr>
        <p:sp>
          <p:nvSpPr>
            <p:cNvPr id="11" name="Rounded Rectangle 10"/>
            <p:cNvSpPr/>
            <p:nvPr/>
          </p:nvSpPr>
          <p:spPr>
            <a:xfrm>
              <a:off x="2362200" y="4191000"/>
              <a:ext cx="2895600" cy="1281113"/>
            </a:xfrm>
            <a:prstGeom prst="roundRect">
              <a:avLst>
                <a:gd name="adj" fmla="val 7122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dirty="0" smtClean="0">
                  <a:solidFill>
                    <a:schemeClr val="tx1"/>
                  </a:solidFill>
                </a:rPr>
                <a:t>FCC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2524125" y="4606527"/>
              <a:ext cx="752475" cy="450057"/>
            </a:xfrm>
            <a:prstGeom prst="roundRect">
              <a:avLst>
                <a:gd name="adj" fmla="val 19820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t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CLAW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3400425" y="4606527"/>
              <a:ext cx="752475" cy="450057"/>
            </a:xfrm>
            <a:prstGeom prst="roundRect">
              <a:avLst>
                <a:gd name="adj" fmla="val 19820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t"/>
            <a:lstStyle/>
            <a:p>
              <a:pPr algn="ctr"/>
              <a:r>
                <a:rPr lang="en-US" dirty="0" smtClean="0">
                  <a:solidFill>
                    <a:schemeClr val="tx1"/>
                  </a:solidFill>
                </a:rPr>
                <a:t>ISAS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4305300" y="4612479"/>
              <a:ext cx="752475" cy="450057"/>
            </a:xfrm>
            <a:prstGeom prst="roundRect">
              <a:avLst>
                <a:gd name="adj" fmla="val 19820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t"/>
            <a:lstStyle/>
            <a:p>
              <a:pPr algn="ctr"/>
              <a:r>
                <a:rPr lang="en-US" dirty="0" smtClean="0">
                  <a:solidFill>
                    <a:schemeClr val="tx1"/>
                  </a:solidFill>
                </a:rPr>
                <a:t>OSAS</a:t>
              </a:r>
              <a:endParaRPr 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2093859" y="3413452"/>
            <a:ext cx="3444702" cy="1907435"/>
            <a:chOff x="2362200" y="4191000"/>
            <a:chExt cx="2895600" cy="1281113"/>
          </a:xfrm>
        </p:grpSpPr>
        <p:sp>
          <p:nvSpPr>
            <p:cNvPr id="16" name="Rounded Rectangle 15"/>
            <p:cNvSpPr/>
            <p:nvPr/>
          </p:nvSpPr>
          <p:spPr>
            <a:xfrm>
              <a:off x="2362200" y="4191000"/>
              <a:ext cx="2895600" cy="1281113"/>
            </a:xfrm>
            <a:prstGeom prst="roundRect">
              <a:avLst>
                <a:gd name="adj" fmla="val 7122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dirty="0" smtClean="0">
                  <a:solidFill>
                    <a:schemeClr val="tx1"/>
                  </a:solidFill>
                </a:rPr>
                <a:t>FCC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2524125" y="4606527"/>
              <a:ext cx="752475" cy="450057"/>
            </a:xfrm>
            <a:prstGeom prst="roundRect">
              <a:avLst>
                <a:gd name="adj" fmla="val 19820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t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CLAW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3400425" y="4606527"/>
              <a:ext cx="752475" cy="450057"/>
            </a:xfrm>
            <a:prstGeom prst="roundRect">
              <a:avLst>
                <a:gd name="adj" fmla="val 19820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t"/>
            <a:lstStyle/>
            <a:p>
              <a:pPr algn="ctr"/>
              <a:r>
                <a:rPr lang="en-US" dirty="0" smtClean="0">
                  <a:solidFill>
                    <a:schemeClr val="tx1"/>
                  </a:solidFill>
                </a:rPr>
                <a:t>ISAS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4305300" y="4612479"/>
              <a:ext cx="752475" cy="450057"/>
            </a:xfrm>
            <a:prstGeom prst="roundRect">
              <a:avLst>
                <a:gd name="adj" fmla="val 19820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t"/>
            <a:lstStyle/>
            <a:p>
              <a:pPr algn="ctr"/>
              <a:r>
                <a:rPr lang="en-US" dirty="0" smtClean="0">
                  <a:solidFill>
                    <a:schemeClr val="tx1"/>
                  </a:solidFill>
                </a:rPr>
                <a:t>OSAS</a:t>
              </a:r>
              <a:endParaRPr 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0" name="Group 19"/>
          <p:cNvGrpSpPr/>
          <p:nvPr/>
        </p:nvGrpSpPr>
        <p:grpSpPr>
          <a:xfrm>
            <a:off x="2564084" y="4288155"/>
            <a:ext cx="3444702" cy="1907435"/>
            <a:chOff x="2362200" y="4191000"/>
            <a:chExt cx="2895600" cy="1281113"/>
          </a:xfrm>
        </p:grpSpPr>
        <p:sp>
          <p:nvSpPr>
            <p:cNvPr id="21" name="Rounded Rectangle 20"/>
            <p:cNvSpPr/>
            <p:nvPr/>
          </p:nvSpPr>
          <p:spPr>
            <a:xfrm>
              <a:off x="2362200" y="4191000"/>
              <a:ext cx="2895600" cy="1281113"/>
            </a:xfrm>
            <a:prstGeom prst="roundRect">
              <a:avLst>
                <a:gd name="adj" fmla="val 7122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dirty="0" smtClean="0">
                  <a:solidFill>
                    <a:schemeClr val="tx1"/>
                  </a:solidFill>
                </a:rPr>
                <a:t>FCC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2524125" y="4725591"/>
              <a:ext cx="752475" cy="450057"/>
            </a:xfrm>
            <a:prstGeom prst="roundRect">
              <a:avLst>
                <a:gd name="adj" fmla="val 19820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t"/>
            <a:lstStyle/>
            <a:p>
              <a:pPr algn="ctr"/>
              <a:r>
                <a:rPr lang="en-US" dirty="0" smtClean="0">
                  <a:solidFill>
                    <a:schemeClr val="tx1"/>
                  </a:solidFill>
                </a:rPr>
                <a:t>CLAW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3400425" y="4725591"/>
              <a:ext cx="752475" cy="450057"/>
            </a:xfrm>
            <a:prstGeom prst="roundRect">
              <a:avLst>
                <a:gd name="adj" fmla="val 19820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t"/>
            <a:lstStyle/>
            <a:p>
              <a:pPr algn="ctr"/>
              <a:r>
                <a:rPr lang="en-US" dirty="0" smtClean="0">
                  <a:solidFill>
                    <a:schemeClr val="tx1"/>
                  </a:solidFill>
                </a:rPr>
                <a:t>ISAS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4305300" y="4731543"/>
              <a:ext cx="752475" cy="450057"/>
            </a:xfrm>
            <a:prstGeom prst="roundRect">
              <a:avLst>
                <a:gd name="adj" fmla="val 19820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t"/>
            <a:lstStyle/>
            <a:p>
              <a:pPr algn="ctr"/>
              <a:r>
                <a:rPr lang="en-US" dirty="0" smtClean="0">
                  <a:solidFill>
                    <a:schemeClr val="tx1"/>
                  </a:solidFill>
                </a:rPr>
                <a:t>OSAS</a:t>
              </a:r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25" name="TextBox 24"/>
          <p:cNvSpPr txBox="1"/>
          <p:nvPr/>
        </p:nvSpPr>
        <p:spPr>
          <a:xfrm>
            <a:off x="7314336" y="1860524"/>
            <a:ext cx="694081" cy="3782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EGI</a:t>
            </a:r>
            <a:endParaRPr lang="en-US" dirty="0"/>
          </a:p>
        </p:txBody>
      </p:sp>
      <p:sp>
        <p:nvSpPr>
          <p:cNvPr id="26" name="TextBox 25"/>
          <p:cNvSpPr txBox="1"/>
          <p:nvPr/>
        </p:nvSpPr>
        <p:spPr>
          <a:xfrm>
            <a:off x="7315200" y="2409025"/>
            <a:ext cx="801097" cy="3782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AOA</a:t>
            </a:r>
            <a:endParaRPr lang="en-US" dirty="0"/>
          </a:p>
        </p:txBody>
      </p:sp>
      <p:sp>
        <p:nvSpPr>
          <p:cNvPr id="27" name="TextBox 26"/>
          <p:cNvSpPr txBox="1"/>
          <p:nvPr/>
        </p:nvSpPr>
        <p:spPr>
          <a:xfrm>
            <a:off x="7315200" y="3018625"/>
            <a:ext cx="785811" cy="3782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ADS</a:t>
            </a:r>
            <a:endParaRPr lang="en-US" dirty="0"/>
          </a:p>
        </p:txBody>
      </p:sp>
      <p:sp>
        <p:nvSpPr>
          <p:cNvPr id="28" name="Isosceles Triangle 30"/>
          <p:cNvSpPr/>
          <p:nvPr/>
        </p:nvSpPr>
        <p:spPr>
          <a:xfrm rot="16200000">
            <a:off x="6780940" y="1933087"/>
            <a:ext cx="338791" cy="272529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Isosceles Triangle 31"/>
          <p:cNvSpPr/>
          <p:nvPr/>
        </p:nvSpPr>
        <p:spPr>
          <a:xfrm rot="16200000">
            <a:off x="6780940" y="2534388"/>
            <a:ext cx="338791" cy="272529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Isosceles Triangle 32"/>
          <p:cNvSpPr/>
          <p:nvPr/>
        </p:nvSpPr>
        <p:spPr>
          <a:xfrm rot="16200000">
            <a:off x="6780940" y="3101655"/>
            <a:ext cx="338791" cy="272529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Isosceles Triangle 33"/>
          <p:cNvSpPr/>
          <p:nvPr/>
        </p:nvSpPr>
        <p:spPr>
          <a:xfrm rot="5400000" flipH="1">
            <a:off x="7053467" y="3634889"/>
            <a:ext cx="338791" cy="272525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Isosceles Triangle 34"/>
          <p:cNvSpPr/>
          <p:nvPr/>
        </p:nvSpPr>
        <p:spPr>
          <a:xfrm rot="16200000">
            <a:off x="6780940" y="4202153"/>
            <a:ext cx="338791" cy="272529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Isosceles Triangle 35"/>
          <p:cNvSpPr/>
          <p:nvPr/>
        </p:nvSpPr>
        <p:spPr>
          <a:xfrm rot="16200000">
            <a:off x="6780940" y="4769420"/>
            <a:ext cx="338791" cy="272529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1"/>
          <p:cNvSpPr txBox="1"/>
          <p:nvPr/>
        </p:nvSpPr>
        <p:spPr>
          <a:xfrm>
            <a:off x="1058901" y="1114680"/>
            <a:ext cx="2275415" cy="504069"/>
          </a:xfrm>
          <a:prstGeom prst="rect">
            <a:avLst/>
          </a:prstGeom>
          <a:solidFill>
            <a:srgbClr val="ABB41D"/>
          </a:solidFill>
          <a:ln>
            <a:solidFill>
              <a:srgbClr val="ABB41D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b="1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AGREE contract</a:t>
            </a:r>
            <a:endParaRPr lang="en-US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5" name="TextBox 40"/>
          <p:cNvSpPr txBox="1"/>
          <p:nvPr/>
        </p:nvSpPr>
        <p:spPr>
          <a:xfrm>
            <a:off x="3349476" y="4495650"/>
            <a:ext cx="2275415" cy="504069"/>
          </a:xfrm>
          <a:prstGeom prst="rect">
            <a:avLst/>
          </a:prstGeom>
          <a:solidFill>
            <a:srgbClr val="ABB41D"/>
          </a:solidFill>
          <a:ln>
            <a:solidFill>
              <a:srgbClr val="ABB41D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b="1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AGREE contract</a:t>
            </a:r>
            <a:endParaRPr lang="en-US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6" name="TextBox 41"/>
          <p:cNvSpPr txBox="1"/>
          <p:nvPr/>
        </p:nvSpPr>
        <p:spPr>
          <a:xfrm>
            <a:off x="2987946" y="6248356"/>
            <a:ext cx="2422254" cy="504069"/>
          </a:xfrm>
          <a:prstGeom prst="rect">
            <a:avLst/>
          </a:prstGeom>
          <a:solidFill>
            <a:srgbClr val="ABB41D"/>
          </a:solidFill>
          <a:ln>
            <a:solidFill>
              <a:srgbClr val="ABB41D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b="1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AGREE contracts</a:t>
            </a:r>
            <a:endParaRPr lang="en-US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37" name="Straight Arrow Connector 42"/>
          <p:cNvCxnSpPr/>
          <p:nvPr/>
        </p:nvCxnSpPr>
        <p:spPr>
          <a:xfrm flipV="1">
            <a:off x="3360576" y="5722484"/>
            <a:ext cx="0" cy="525873"/>
          </a:xfrm>
          <a:prstGeom prst="straightConnector1">
            <a:avLst/>
          </a:prstGeom>
          <a:ln w="28575">
            <a:solidFill>
              <a:srgbClr val="ABB41D"/>
            </a:solidFill>
            <a:miter lim="800000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44"/>
          <p:cNvCxnSpPr>
            <a:stCxn id="36" idx="0"/>
          </p:cNvCxnSpPr>
          <p:nvPr/>
        </p:nvCxnSpPr>
        <p:spPr>
          <a:xfrm flipV="1">
            <a:off x="4199073" y="5731348"/>
            <a:ext cx="11346" cy="517008"/>
          </a:xfrm>
          <a:prstGeom prst="straightConnector1">
            <a:avLst/>
          </a:prstGeom>
          <a:ln w="28575">
            <a:solidFill>
              <a:srgbClr val="ABB41D"/>
            </a:solidFill>
            <a:miter lim="800000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45"/>
          <p:cNvCxnSpPr/>
          <p:nvPr/>
        </p:nvCxnSpPr>
        <p:spPr>
          <a:xfrm flipV="1">
            <a:off x="5026270" y="5731346"/>
            <a:ext cx="0" cy="517011"/>
          </a:xfrm>
          <a:prstGeom prst="straightConnector1">
            <a:avLst/>
          </a:prstGeom>
          <a:ln w="28575">
            <a:solidFill>
              <a:srgbClr val="ABB41D"/>
            </a:solidFill>
            <a:miter lim="800000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29"/>
          <p:cNvSpPr txBox="1"/>
          <p:nvPr/>
        </p:nvSpPr>
        <p:spPr>
          <a:xfrm>
            <a:off x="7315200" y="4618825"/>
            <a:ext cx="2100590" cy="3782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Actuator Sense</a:t>
            </a:r>
            <a:endParaRPr lang="en-US" dirty="0"/>
          </a:p>
        </p:txBody>
      </p:sp>
      <p:sp>
        <p:nvSpPr>
          <p:cNvPr id="77" name="TextBox 28"/>
          <p:cNvSpPr txBox="1"/>
          <p:nvPr/>
        </p:nvSpPr>
        <p:spPr>
          <a:xfrm>
            <a:off x="7314336" y="4112728"/>
            <a:ext cx="2146453" cy="3782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Actuator Return</a:t>
            </a:r>
            <a:endParaRPr lang="en-US" dirty="0"/>
          </a:p>
        </p:txBody>
      </p:sp>
      <p:sp>
        <p:nvSpPr>
          <p:cNvPr id="78" name="TextBox 27"/>
          <p:cNvSpPr txBox="1"/>
          <p:nvPr/>
        </p:nvSpPr>
        <p:spPr>
          <a:xfrm>
            <a:off x="7344816" y="3554802"/>
            <a:ext cx="2589809" cy="3782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Actuator Comm.</a:t>
            </a:r>
            <a:endParaRPr lang="en-US" dirty="0"/>
          </a:p>
        </p:txBody>
      </p:sp>
      <p:sp>
        <p:nvSpPr>
          <p:cNvPr id="81" name="Title 1"/>
          <p:cNvSpPr txBox="1">
            <a:spLocks/>
          </p:cNvSpPr>
          <p:nvPr/>
        </p:nvSpPr>
        <p:spPr>
          <a:xfrm>
            <a:off x="605928" y="288926"/>
            <a:ext cx="7772400" cy="579437"/>
          </a:xfrm>
          <a:prstGeom prst="rect">
            <a:avLst/>
          </a:prstGeom>
        </p:spPr>
        <p:txBody>
          <a:bodyPr/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400" b="1" dirty="0">
                <a:solidFill>
                  <a:schemeClr val="bg1">
                    <a:lumMod val="50000"/>
                  </a:schemeClr>
                </a:solidFill>
              </a:rPr>
              <a:t>QFCS Architecture</a:t>
            </a:r>
          </a:p>
        </p:txBody>
      </p:sp>
    </p:spTree>
    <p:extLst>
      <p:ext uri="{BB962C8B-B14F-4D97-AF65-F5344CB8AC3E}">
        <p14:creationId xmlns:p14="http://schemas.microsoft.com/office/powerpoint/2010/main" val="3652383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0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3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6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 animBg="1"/>
      <p:bldP spid="35" grpId="0" animBg="1"/>
      <p:bldP spid="36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/>
            <a:r>
              <a:rPr lang="de-DE" sz="3600" b="1" dirty="0" err="1">
                <a:solidFill>
                  <a:schemeClr val="bg1">
                    <a:lumMod val="50000"/>
                  </a:schemeClr>
                </a:solidFill>
              </a:rPr>
              <a:t>Byzantine</a:t>
            </a:r>
            <a:r>
              <a:rPr lang="de-DE" sz="3600" b="1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de-DE" sz="3600" b="1" dirty="0" err="1" smtClean="0">
                <a:solidFill>
                  <a:schemeClr val="bg1">
                    <a:lumMod val="50000"/>
                  </a:schemeClr>
                </a:solidFill>
              </a:rPr>
              <a:t>Faults</a:t>
            </a:r>
            <a:r>
              <a:rPr lang="de-DE" sz="3600" b="1" dirty="0" smtClean="0">
                <a:solidFill>
                  <a:schemeClr val="bg1">
                    <a:lumMod val="50000"/>
                  </a:schemeClr>
                </a:solidFill>
              </a:rPr>
              <a:t> Simulation: </a:t>
            </a:r>
            <a:br>
              <a:rPr lang="de-DE" sz="3600" b="1" dirty="0" smtClean="0">
                <a:solidFill>
                  <a:schemeClr val="bg1">
                    <a:lumMod val="50000"/>
                  </a:schemeClr>
                </a:solidFill>
              </a:rPr>
            </a:br>
            <a:r>
              <a:rPr lang="de-DE" sz="3600" b="1" dirty="0" smtClean="0">
                <a:solidFill>
                  <a:schemeClr val="bg1">
                    <a:lumMod val="50000"/>
                  </a:schemeClr>
                </a:solidFill>
              </a:rPr>
              <a:t>Flight </a:t>
            </a:r>
            <a:r>
              <a:rPr lang="de-DE" sz="3600" b="1" dirty="0">
                <a:solidFill>
                  <a:schemeClr val="bg1">
                    <a:lumMod val="50000"/>
                  </a:schemeClr>
                </a:solidFill>
              </a:rPr>
              <a:t>Control Computer </a:t>
            </a:r>
            <a:r>
              <a:rPr lang="de-DE" sz="3600" dirty="0"/>
              <a:t/>
            </a:r>
            <a:br>
              <a:rPr lang="de-DE" sz="3600" dirty="0"/>
            </a:br>
            <a:endParaRPr lang="de-DE" sz="3600" b="1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 smtClean="0"/>
              <a:t>Created</a:t>
            </a:r>
            <a:r>
              <a:rPr lang="de-DE" dirty="0" smtClean="0"/>
              <a:t> multiple </a:t>
            </a:r>
            <a:r>
              <a:rPr lang="de-DE" dirty="0" err="1" smtClean="0"/>
              <a:t>connections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observers</a:t>
            </a:r>
            <a:endParaRPr lang="de-DE" dirty="0" smtClean="0"/>
          </a:p>
          <a:p>
            <a:r>
              <a:rPr lang="de-DE" dirty="0" err="1" smtClean="0"/>
              <a:t>Introduced</a:t>
            </a:r>
            <a:r>
              <a:rPr lang="de-DE" dirty="0" smtClean="0"/>
              <a:t> </a:t>
            </a:r>
            <a:r>
              <a:rPr lang="de-DE" dirty="0" err="1" smtClean="0"/>
              <a:t>disagreement</a:t>
            </a:r>
            <a:r>
              <a:rPr lang="de-DE" dirty="0" smtClean="0"/>
              <a:t> </a:t>
            </a:r>
            <a:r>
              <a:rPr lang="de-DE" dirty="0" err="1" smtClean="0"/>
              <a:t>through</a:t>
            </a:r>
            <a:r>
              <a:rPr lang="de-DE" dirty="0" smtClean="0"/>
              <a:t> fault </a:t>
            </a:r>
            <a:r>
              <a:rPr lang="de-DE" dirty="0" err="1" smtClean="0"/>
              <a:t>injection</a:t>
            </a:r>
            <a:endParaRPr lang="de-DE" dirty="0" smtClean="0"/>
          </a:p>
        </p:txBody>
      </p:sp>
    </p:spTree>
    <p:extLst>
      <p:ext uri="{BB962C8B-B14F-4D97-AF65-F5344CB8AC3E}">
        <p14:creationId xmlns:p14="http://schemas.microsoft.com/office/powerpoint/2010/main" val="39971824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/>
            <a:r>
              <a:rPr lang="de-DE" sz="3600" b="1" dirty="0" smtClean="0">
                <a:solidFill>
                  <a:schemeClr val="bg1">
                    <a:lumMod val="50000"/>
                  </a:schemeClr>
                </a:solidFill>
              </a:rPr>
              <a:t>Cut Set Generation</a:t>
            </a:r>
            <a:r>
              <a:rPr lang="de-DE" sz="3600" dirty="0"/>
              <a:t/>
            </a:r>
            <a:br>
              <a:rPr lang="de-DE" sz="3600" dirty="0"/>
            </a:br>
            <a:endParaRPr lang="de-DE" sz="3600" b="1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smtClean="0"/>
              <a:t>Standards (APR4761, AIR6110, </a:t>
            </a:r>
            <a:r>
              <a:rPr lang="de-DE" dirty="0" err="1" smtClean="0"/>
              <a:t>etc</a:t>
            </a:r>
            <a:r>
              <a:rPr lang="de-DE" dirty="0" smtClean="0"/>
              <a:t>) </a:t>
            </a:r>
            <a:r>
              <a:rPr lang="de-DE" dirty="0" err="1" smtClean="0"/>
              <a:t>describe</a:t>
            </a:r>
            <a:r>
              <a:rPr lang="de-DE" dirty="0" smtClean="0"/>
              <a:t> </a:t>
            </a:r>
            <a:r>
              <a:rPr lang="de-DE" dirty="0" err="1" smtClean="0"/>
              <a:t>techniques</a:t>
            </a:r>
            <a:r>
              <a:rPr lang="de-DE" dirty="0" smtClean="0"/>
              <a:t> </a:t>
            </a:r>
            <a:r>
              <a:rPr lang="de-DE" dirty="0" err="1" smtClean="0"/>
              <a:t>involving</a:t>
            </a:r>
            <a:r>
              <a:rPr lang="de-DE" dirty="0" smtClean="0"/>
              <a:t> </a:t>
            </a:r>
            <a:r>
              <a:rPr lang="de-DE" dirty="0" err="1" smtClean="0"/>
              <a:t>cut</a:t>
            </a:r>
            <a:r>
              <a:rPr lang="de-DE" dirty="0" smtClean="0"/>
              <a:t> </a:t>
            </a:r>
            <a:r>
              <a:rPr lang="de-DE" dirty="0" err="1" smtClean="0"/>
              <a:t>sets</a:t>
            </a:r>
            <a:endParaRPr lang="de-DE" dirty="0"/>
          </a:p>
          <a:p>
            <a:r>
              <a:rPr lang="de-DE" dirty="0" err="1" smtClean="0"/>
              <a:t>Required</a:t>
            </a:r>
            <a:r>
              <a:rPr lang="de-DE" dirty="0" smtClean="0"/>
              <a:t> </a:t>
            </a:r>
            <a:r>
              <a:rPr lang="de-DE" dirty="0" err="1" smtClean="0"/>
              <a:t>for</a:t>
            </a:r>
            <a:r>
              <a:rPr lang="de-DE" dirty="0" smtClean="0"/>
              <a:t> FTA </a:t>
            </a:r>
            <a:r>
              <a:rPr lang="de-DE" dirty="0" err="1" smtClean="0"/>
              <a:t>and</a:t>
            </a:r>
            <a:r>
              <a:rPr lang="de-DE" dirty="0" smtClean="0"/>
              <a:t> FMEA</a:t>
            </a:r>
          </a:p>
          <a:p>
            <a:r>
              <a:rPr lang="de-DE" dirty="0" err="1" smtClean="0"/>
              <a:t>Currently</a:t>
            </a:r>
            <a:r>
              <a:rPr lang="de-DE" dirty="0" smtClean="0"/>
              <a:t>, </a:t>
            </a:r>
            <a:r>
              <a:rPr lang="de-DE" dirty="0" err="1" smtClean="0"/>
              <a:t>these</a:t>
            </a:r>
            <a:r>
              <a:rPr lang="de-DE" dirty="0" smtClean="0"/>
              <a:t> </a:t>
            </a:r>
            <a:r>
              <a:rPr lang="de-DE" dirty="0" err="1" smtClean="0"/>
              <a:t>are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needs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Safety</a:t>
            </a:r>
            <a:r>
              <a:rPr lang="de-DE" dirty="0" smtClean="0"/>
              <a:t> Engineers in a </a:t>
            </a:r>
            <a:r>
              <a:rPr lang="de-DE" dirty="0" err="1" smtClean="0"/>
              <a:t>Safety</a:t>
            </a:r>
            <a:r>
              <a:rPr lang="de-DE" dirty="0" smtClean="0"/>
              <a:t> Analysis </a:t>
            </a:r>
            <a:r>
              <a:rPr lang="de-DE" dirty="0" err="1" smtClean="0"/>
              <a:t>tool</a:t>
            </a:r>
            <a:endParaRPr lang="de-DE" dirty="0" smtClean="0"/>
          </a:p>
        </p:txBody>
      </p:sp>
    </p:spTree>
    <p:extLst>
      <p:ext uri="{BB962C8B-B14F-4D97-AF65-F5344CB8AC3E}">
        <p14:creationId xmlns:p14="http://schemas.microsoft.com/office/powerpoint/2010/main" val="3151450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/>
            <a:r>
              <a:rPr lang="de-DE" sz="3600" b="1" dirty="0" err="1" smtClean="0">
                <a:solidFill>
                  <a:schemeClr val="bg1">
                    <a:lumMod val="50000"/>
                  </a:schemeClr>
                </a:solidFill>
              </a:rPr>
              <a:t>Inductive</a:t>
            </a:r>
            <a:r>
              <a:rPr lang="de-DE" sz="3600" b="1" dirty="0" smtClean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de-DE" sz="3600" b="1" dirty="0" err="1" smtClean="0">
                <a:solidFill>
                  <a:schemeClr val="bg1">
                    <a:lumMod val="50000"/>
                  </a:schemeClr>
                </a:solidFill>
              </a:rPr>
              <a:t>Validity</a:t>
            </a:r>
            <a:r>
              <a:rPr lang="de-DE" sz="3600" b="1" dirty="0" smtClean="0">
                <a:solidFill>
                  <a:schemeClr val="bg1">
                    <a:lumMod val="50000"/>
                  </a:schemeClr>
                </a:solidFill>
              </a:rPr>
              <a:t> Cores</a:t>
            </a:r>
            <a:r>
              <a:rPr lang="de-DE" sz="3600" dirty="0"/>
              <a:t/>
            </a:r>
            <a:br>
              <a:rPr lang="de-DE" sz="3600" dirty="0"/>
            </a:br>
            <a:endParaRPr lang="de-DE" sz="3600" b="1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8" name="Rechteck 17"/>
          <p:cNvSpPr/>
          <p:nvPr/>
        </p:nvSpPr>
        <p:spPr>
          <a:xfrm>
            <a:off x="3198948" y="1763558"/>
            <a:ext cx="2402314" cy="58578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 smtClean="0"/>
              <a:t>Safety</a:t>
            </a:r>
            <a:r>
              <a:rPr lang="de-DE" dirty="0" smtClean="0"/>
              <a:t> Property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426737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/>
            <a:r>
              <a:rPr lang="de-DE" sz="3600" b="1" dirty="0" err="1" smtClean="0">
                <a:solidFill>
                  <a:schemeClr val="bg1">
                    <a:lumMod val="50000"/>
                  </a:schemeClr>
                </a:solidFill>
              </a:rPr>
              <a:t>Inductive</a:t>
            </a:r>
            <a:r>
              <a:rPr lang="de-DE" sz="3600" b="1" dirty="0" smtClean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de-DE" sz="3600" b="1" dirty="0" err="1" smtClean="0">
                <a:solidFill>
                  <a:schemeClr val="bg1">
                    <a:lumMod val="50000"/>
                  </a:schemeClr>
                </a:solidFill>
              </a:rPr>
              <a:t>Validity</a:t>
            </a:r>
            <a:r>
              <a:rPr lang="de-DE" sz="3600" b="1" dirty="0" smtClean="0">
                <a:solidFill>
                  <a:schemeClr val="bg1">
                    <a:lumMod val="50000"/>
                  </a:schemeClr>
                </a:solidFill>
              </a:rPr>
              <a:t> Cores</a:t>
            </a:r>
            <a:r>
              <a:rPr lang="de-DE" sz="3600" dirty="0"/>
              <a:t/>
            </a:r>
            <a:br>
              <a:rPr lang="de-DE" sz="3600" dirty="0"/>
            </a:br>
            <a:endParaRPr lang="de-DE" sz="3600" b="1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8" name="Rechteck 17"/>
          <p:cNvSpPr/>
          <p:nvPr/>
        </p:nvSpPr>
        <p:spPr>
          <a:xfrm>
            <a:off x="3198948" y="1763558"/>
            <a:ext cx="2402314" cy="58578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 smtClean="0"/>
              <a:t>Safety</a:t>
            </a:r>
            <a:r>
              <a:rPr lang="de-DE" dirty="0" smtClean="0"/>
              <a:t> Property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Ellipse 19"/>
              <p:cNvSpPr/>
              <p:nvPr/>
            </p:nvSpPr>
            <p:spPr>
              <a:xfrm>
                <a:off x="1975879" y="2765298"/>
                <a:ext cx="647815" cy="585788"/>
              </a:xfrm>
              <a:prstGeom prst="ellipse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/>
                        </a:rPr>
                        <m:t>𝑎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0" name="Ellipse 1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5879" y="2765298"/>
                <a:ext cx="647815" cy="585788"/>
              </a:xfrm>
              <a:prstGeom prst="ellipse">
                <a:avLst/>
              </a:prstGeom>
              <a:blipFill rotWithShape="1">
                <a:blip r:embed="rId2"/>
                <a:stretch>
                  <a:fillRect/>
                </a:stretch>
              </a:blip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Ellipse 20"/>
              <p:cNvSpPr/>
              <p:nvPr/>
            </p:nvSpPr>
            <p:spPr>
              <a:xfrm>
                <a:off x="2864342" y="2765298"/>
                <a:ext cx="647815" cy="585788"/>
              </a:xfrm>
              <a:prstGeom prst="ellipse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/>
                        </a:rPr>
                        <m:t>𝑏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1" name="Ellipse 2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64342" y="2765298"/>
                <a:ext cx="647815" cy="585788"/>
              </a:xfrm>
              <a:prstGeom prst="ellipse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Ellipse 22"/>
              <p:cNvSpPr/>
              <p:nvPr/>
            </p:nvSpPr>
            <p:spPr>
              <a:xfrm>
                <a:off x="3738275" y="2788824"/>
                <a:ext cx="647815" cy="585788"/>
              </a:xfrm>
              <a:prstGeom prst="ellipse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/>
                        </a:rPr>
                        <m:t>𝑐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3" name="Ellipse 2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8275" y="2788824"/>
                <a:ext cx="647815" cy="585788"/>
              </a:xfrm>
              <a:prstGeom prst="ellipse">
                <a:avLst/>
              </a:prstGeom>
              <a:blipFill rotWithShape="1">
                <a:blip r:embed="rId4"/>
                <a:stretch>
                  <a:fillRect/>
                </a:stretch>
              </a:blip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Ellipse 23"/>
              <p:cNvSpPr/>
              <p:nvPr/>
            </p:nvSpPr>
            <p:spPr>
              <a:xfrm>
                <a:off x="4651446" y="2743579"/>
                <a:ext cx="647815" cy="585788"/>
              </a:xfrm>
              <a:prstGeom prst="ellipse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/>
                        </a:rPr>
                        <m:t>𝑑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4" name="Ellipse 2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1446" y="2743579"/>
                <a:ext cx="647815" cy="585788"/>
              </a:xfrm>
              <a:prstGeom prst="ellipse">
                <a:avLst/>
              </a:prstGeom>
              <a:blipFill rotWithShape="1">
                <a:blip r:embed="rId5"/>
                <a:stretch>
                  <a:fillRect/>
                </a:stretch>
              </a:blip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Ellipse 25"/>
              <p:cNvSpPr/>
              <p:nvPr/>
            </p:nvSpPr>
            <p:spPr>
              <a:xfrm>
                <a:off x="5528526" y="2743579"/>
                <a:ext cx="647815" cy="585788"/>
              </a:xfrm>
              <a:prstGeom prst="ellipse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/>
                        </a:rPr>
                        <m:t>𝑒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6" name="Ellipse 2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28526" y="2743579"/>
                <a:ext cx="647815" cy="585788"/>
              </a:xfrm>
              <a:prstGeom prst="ellipse">
                <a:avLst/>
              </a:prstGeom>
              <a:blipFill rotWithShape="1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Ellipse 26"/>
              <p:cNvSpPr/>
              <p:nvPr/>
            </p:nvSpPr>
            <p:spPr>
              <a:xfrm>
                <a:off x="6430600" y="2741772"/>
                <a:ext cx="647815" cy="585788"/>
              </a:xfrm>
              <a:prstGeom prst="ellipse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/>
                        </a:rPr>
                        <m:t>𝑓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7" name="Ellipse 2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0600" y="2741772"/>
                <a:ext cx="647815" cy="585788"/>
              </a:xfrm>
              <a:prstGeom prst="ellipse">
                <a:avLst/>
              </a:prstGeom>
              <a:blipFill rotWithShape="1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feld 18"/>
              <p:cNvSpPr txBox="1"/>
              <p:nvPr/>
            </p:nvSpPr>
            <p:spPr>
              <a:xfrm>
                <a:off x="2358427" y="3859576"/>
                <a:ext cx="434458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2400" dirty="0" smtClean="0"/>
                  <a:t>Model Elements :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/>
                      </a:rPr>
                      <m:t>{</m:t>
                    </m:r>
                    <m:r>
                      <a:rPr lang="de-DE" sz="2400" b="0" i="1" smtClean="0">
                        <a:latin typeface="Cambria Math"/>
                      </a:rPr>
                      <m:t>𝑎</m:t>
                    </m:r>
                    <m:r>
                      <a:rPr lang="de-DE" sz="2400" b="0" i="1" smtClean="0">
                        <a:latin typeface="Cambria Math"/>
                      </a:rPr>
                      <m:t>, </m:t>
                    </m:r>
                    <m:r>
                      <a:rPr lang="de-DE" sz="2400" b="0" i="1" smtClean="0">
                        <a:latin typeface="Cambria Math"/>
                      </a:rPr>
                      <m:t>𝑏</m:t>
                    </m:r>
                    <m:r>
                      <a:rPr lang="de-DE" sz="2400" b="0" i="1" smtClean="0">
                        <a:latin typeface="Cambria Math"/>
                      </a:rPr>
                      <m:t>, </m:t>
                    </m:r>
                    <m:r>
                      <a:rPr lang="de-DE" sz="2400" b="0" i="1" smtClean="0">
                        <a:latin typeface="Cambria Math"/>
                      </a:rPr>
                      <m:t>𝑐</m:t>
                    </m:r>
                    <m:r>
                      <a:rPr lang="de-DE" sz="2400" b="0" i="1" smtClean="0">
                        <a:latin typeface="Cambria Math"/>
                      </a:rPr>
                      <m:t>, </m:t>
                    </m:r>
                    <m:r>
                      <a:rPr lang="de-DE" sz="2400" b="0" i="1" smtClean="0">
                        <a:latin typeface="Cambria Math"/>
                      </a:rPr>
                      <m:t>𝑑</m:t>
                    </m:r>
                    <m:r>
                      <a:rPr lang="de-DE" sz="2400" b="0" i="1" smtClean="0">
                        <a:latin typeface="Cambria Math"/>
                      </a:rPr>
                      <m:t>, </m:t>
                    </m:r>
                    <m:r>
                      <a:rPr lang="de-DE" sz="2400" b="0" i="1" smtClean="0">
                        <a:latin typeface="Cambria Math"/>
                      </a:rPr>
                      <m:t>𝑒</m:t>
                    </m:r>
                    <m:r>
                      <a:rPr lang="de-DE" sz="2400" b="0" i="1" smtClean="0">
                        <a:latin typeface="Cambria Math"/>
                      </a:rPr>
                      <m:t>, </m:t>
                    </m:r>
                    <m:r>
                      <a:rPr lang="de-DE" sz="2400" b="0" i="1" smtClean="0">
                        <a:latin typeface="Cambria Math"/>
                      </a:rPr>
                      <m:t>𝑓</m:t>
                    </m:r>
                    <m:r>
                      <a:rPr lang="de-DE" sz="2400" b="0" i="1" smtClean="0">
                        <a:latin typeface="Cambria Math"/>
                      </a:rPr>
                      <m:t>}</m:t>
                    </m:r>
                  </m:oMath>
                </a14:m>
                <a:r>
                  <a:rPr lang="de-DE" sz="2400" dirty="0" smtClean="0"/>
                  <a:t> </a:t>
                </a:r>
                <a:endParaRPr lang="de-DE" sz="2400" b="1" dirty="0"/>
              </a:p>
            </p:txBody>
          </p:sp>
        </mc:Choice>
        <mc:Fallback xmlns="">
          <p:sp>
            <p:nvSpPr>
              <p:cNvPr id="19" name="Textfeld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58427" y="3859576"/>
                <a:ext cx="4344587" cy="461665"/>
              </a:xfrm>
              <a:prstGeom prst="rect">
                <a:avLst/>
              </a:prstGeom>
              <a:blipFill rotWithShape="1">
                <a:blip r:embed="rId8"/>
                <a:stretch>
                  <a:fillRect l="-2244" t="-10526" b="-2894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937480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/>
            <a:r>
              <a:rPr lang="de-DE" sz="3600" b="1" dirty="0" err="1" smtClean="0">
                <a:solidFill>
                  <a:schemeClr val="bg1">
                    <a:lumMod val="50000"/>
                  </a:schemeClr>
                </a:solidFill>
              </a:rPr>
              <a:t>Inductive</a:t>
            </a:r>
            <a:r>
              <a:rPr lang="de-DE" sz="3600" b="1" dirty="0" smtClean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de-DE" sz="3600" b="1" dirty="0" err="1" smtClean="0">
                <a:solidFill>
                  <a:schemeClr val="bg1">
                    <a:lumMod val="50000"/>
                  </a:schemeClr>
                </a:solidFill>
              </a:rPr>
              <a:t>Validity</a:t>
            </a:r>
            <a:r>
              <a:rPr lang="de-DE" sz="3600" b="1" dirty="0" smtClean="0">
                <a:solidFill>
                  <a:schemeClr val="bg1">
                    <a:lumMod val="50000"/>
                  </a:schemeClr>
                </a:solidFill>
              </a:rPr>
              <a:t> Cores</a:t>
            </a:r>
            <a:r>
              <a:rPr lang="de-DE" sz="3600" dirty="0"/>
              <a:t/>
            </a:r>
            <a:br>
              <a:rPr lang="de-DE" sz="3600" dirty="0"/>
            </a:br>
            <a:endParaRPr lang="de-DE" sz="3600" b="1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8" name="Rechteck 17"/>
          <p:cNvSpPr/>
          <p:nvPr/>
        </p:nvSpPr>
        <p:spPr>
          <a:xfrm>
            <a:off x="3198948" y="1763558"/>
            <a:ext cx="2402314" cy="58578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 smtClean="0"/>
              <a:t>Safety</a:t>
            </a:r>
            <a:r>
              <a:rPr lang="de-DE" dirty="0" smtClean="0"/>
              <a:t> Property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Ellipse 19"/>
              <p:cNvSpPr/>
              <p:nvPr/>
            </p:nvSpPr>
            <p:spPr>
              <a:xfrm>
                <a:off x="1975879" y="2765298"/>
                <a:ext cx="647815" cy="585788"/>
              </a:xfrm>
              <a:prstGeom prst="ellipse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/>
                        </a:rPr>
                        <m:t>𝑎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0" name="Ellipse 1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5879" y="2765298"/>
                <a:ext cx="647815" cy="585788"/>
              </a:xfrm>
              <a:prstGeom prst="ellipse">
                <a:avLst/>
              </a:prstGeom>
              <a:blipFill rotWithShape="1">
                <a:blip r:embed="rId2"/>
                <a:stretch>
                  <a:fillRect/>
                </a:stretch>
              </a:blip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Ellipse 20"/>
              <p:cNvSpPr/>
              <p:nvPr/>
            </p:nvSpPr>
            <p:spPr>
              <a:xfrm>
                <a:off x="2864342" y="2765298"/>
                <a:ext cx="647815" cy="585788"/>
              </a:xfrm>
              <a:prstGeom prst="ellipse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/>
                        </a:rPr>
                        <m:t>𝑏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1" name="Ellipse 2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64342" y="2765298"/>
                <a:ext cx="647815" cy="585788"/>
              </a:xfrm>
              <a:prstGeom prst="ellipse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Ellipse 22"/>
              <p:cNvSpPr/>
              <p:nvPr/>
            </p:nvSpPr>
            <p:spPr>
              <a:xfrm>
                <a:off x="3738275" y="2788824"/>
                <a:ext cx="647815" cy="585788"/>
              </a:xfrm>
              <a:prstGeom prst="ellipse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/>
                        </a:rPr>
                        <m:t>𝑐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3" name="Ellipse 2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8275" y="2788824"/>
                <a:ext cx="647815" cy="585788"/>
              </a:xfrm>
              <a:prstGeom prst="ellipse">
                <a:avLst/>
              </a:prstGeom>
              <a:blipFill rotWithShape="1">
                <a:blip r:embed="rId4"/>
                <a:stretch>
                  <a:fillRect/>
                </a:stretch>
              </a:blip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Ellipse 23"/>
              <p:cNvSpPr/>
              <p:nvPr/>
            </p:nvSpPr>
            <p:spPr>
              <a:xfrm>
                <a:off x="4651446" y="2743579"/>
                <a:ext cx="647815" cy="585788"/>
              </a:xfrm>
              <a:prstGeom prst="ellipse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/>
                        </a:rPr>
                        <m:t>𝑑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4" name="Ellipse 2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1446" y="2743579"/>
                <a:ext cx="647815" cy="585788"/>
              </a:xfrm>
              <a:prstGeom prst="ellipse">
                <a:avLst/>
              </a:prstGeom>
              <a:blipFill rotWithShape="1">
                <a:blip r:embed="rId5"/>
                <a:stretch>
                  <a:fillRect/>
                </a:stretch>
              </a:blip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Ellipse 25"/>
              <p:cNvSpPr/>
              <p:nvPr/>
            </p:nvSpPr>
            <p:spPr>
              <a:xfrm>
                <a:off x="5528526" y="2743579"/>
                <a:ext cx="647815" cy="585788"/>
              </a:xfrm>
              <a:prstGeom prst="ellipse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/>
                        </a:rPr>
                        <m:t>𝑒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6" name="Ellipse 2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28526" y="2743579"/>
                <a:ext cx="647815" cy="585788"/>
              </a:xfrm>
              <a:prstGeom prst="ellipse">
                <a:avLst/>
              </a:prstGeom>
              <a:blipFill rotWithShape="1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Ellipse 26"/>
              <p:cNvSpPr/>
              <p:nvPr/>
            </p:nvSpPr>
            <p:spPr>
              <a:xfrm>
                <a:off x="6430600" y="2741772"/>
                <a:ext cx="647815" cy="585788"/>
              </a:xfrm>
              <a:prstGeom prst="ellipse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/>
                        </a:rPr>
                        <m:t>𝑓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7" name="Ellipse 2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0600" y="2741772"/>
                <a:ext cx="647815" cy="585788"/>
              </a:xfrm>
              <a:prstGeom prst="ellipse">
                <a:avLst/>
              </a:prstGeom>
              <a:blipFill rotWithShape="1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Gerade Verbindung mit Pfeil 28"/>
          <p:cNvCxnSpPr>
            <a:stCxn id="20" idx="0"/>
            <a:endCxn id="18" idx="2"/>
          </p:cNvCxnSpPr>
          <p:nvPr/>
        </p:nvCxnSpPr>
        <p:spPr>
          <a:xfrm flipV="1">
            <a:off x="2299787" y="2349346"/>
            <a:ext cx="2100318" cy="41595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/>
          <p:cNvCxnSpPr>
            <a:stCxn id="21" idx="0"/>
            <a:endCxn id="18" idx="2"/>
          </p:cNvCxnSpPr>
          <p:nvPr/>
        </p:nvCxnSpPr>
        <p:spPr>
          <a:xfrm flipV="1">
            <a:off x="3188250" y="2349346"/>
            <a:ext cx="1211855" cy="41595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 Verbindung mit Pfeil 30"/>
          <p:cNvCxnSpPr>
            <a:stCxn id="23" idx="0"/>
            <a:endCxn id="18" idx="2"/>
          </p:cNvCxnSpPr>
          <p:nvPr/>
        </p:nvCxnSpPr>
        <p:spPr>
          <a:xfrm flipV="1">
            <a:off x="4062183" y="2349346"/>
            <a:ext cx="337922" cy="439478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 Verbindung mit Pfeil 31"/>
          <p:cNvCxnSpPr>
            <a:stCxn id="24" idx="0"/>
            <a:endCxn id="18" idx="2"/>
          </p:cNvCxnSpPr>
          <p:nvPr/>
        </p:nvCxnSpPr>
        <p:spPr>
          <a:xfrm flipH="1" flipV="1">
            <a:off x="4400105" y="2349346"/>
            <a:ext cx="575249" cy="394233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Gerade Verbindung mit Pfeil 32"/>
          <p:cNvCxnSpPr>
            <a:stCxn id="26" idx="0"/>
            <a:endCxn id="18" idx="2"/>
          </p:cNvCxnSpPr>
          <p:nvPr/>
        </p:nvCxnSpPr>
        <p:spPr>
          <a:xfrm flipH="1" flipV="1">
            <a:off x="4400105" y="2349346"/>
            <a:ext cx="1452329" cy="394233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Gerade Verbindung mit Pfeil 33"/>
          <p:cNvCxnSpPr>
            <a:stCxn id="27" idx="0"/>
            <a:endCxn id="18" idx="2"/>
          </p:cNvCxnSpPr>
          <p:nvPr/>
        </p:nvCxnSpPr>
        <p:spPr>
          <a:xfrm flipH="1" flipV="1">
            <a:off x="4400105" y="2349346"/>
            <a:ext cx="2354403" cy="392426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feld 18"/>
              <p:cNvSpPr txBox="1"/>
              <p:nvPr/>
            </p:nvSpPr>
            <p:spPr>
              <a:xfrm>
                <a:off x="2358427" y="3859576"/>
                <a:ext cx="434458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2400" dirty="0" smtClean="0"/>
                  <a:t>Model Elements :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/>
                      </a:rPr>
                      <m:t>{</m:t>
                    </m:r>
                    <m:r>
                      <a:rPr lang="de-DE" sz="2400" b="0" i="1" smtClean="0">
                        <a:latin typeface="Cambria Math"/>
                      </a:rPr>
                      <m:t>𝑎</m:t>
                    </m:r>
                    <m:r>
                      <a:rPr lang="de-DE" sz="2400" b="0" i="1" smtClean="0">
                        <a:latin typeface="Cambria Math"/>
                      </a:rPr>
                      <m:t>, </m:t>
                    </m:r>
                    <m:r>
                      <a:rPr lang="de-DE" sz="2400" b="0" i="1" smtClean="0">
                        <a:latin typeface="Cambria Math"/>
                      </a:rPr>
                      <m:t>𝑏</m:t>
                    </m:r>
                    <m:r>
                      <a:rPr lang="de-DE" sz="2400" b="0" i="1" smtClean="0">
                        <a:latin typeface="Cambria Math"/>
                      </a:rPr>
                      <m:t>, </m:t>
                    </m:r>
                    <m:r>
                      <a:rPr lang="de-DE" sz="2400" b="0" i="1" smtClean="0">
                        <a:latin typeface="Cambria Math"/>
                      </a:rPr>
                      <m:t>𝑐</m:t>
                    </m:r>
                    <m:r>
                      <a:rPr lang="de-DE" sz="2400" b="0" i="1" smtClean="0">
                        <a:latin typeface="Cambria Math"/>
                      </a:rPr>
                      <m:t>, </m:t>
                    </m:r>
                    <m:r>
                      <a:rPr lang="de-DE" sz="2400" b="0" i="1" smtClean="0">
                        <a:latin typeface="Cambria Math"/>
                      </a:rPr>
                      <m:t>𝑑</m:t>
                    </m:r>
                    <m:r>
                      <a:rPr lang="de-DE" sz="2400" b="0" i="1" smtClean="0">
                        <a:latin typeface="Cambria Math"/>
                      </a:rPr>
                      <m:t>, </m:t>
                    </m:r>
                    <m:r>
                      <a:rPr lang="de-DE" sz="2400" b="0" i="1" smtClean="0">
                        <a:latin typeface="Cambria Math"/>
                      </a:rPr>
                      <m:t>𝑒</m:t>
                    </m:r>
                    <m:r>
                      <a:rPr lang="de-DE" sz="2400" b="0" i="1" smtClean="0">
                        <a:latin typeface="Cambria Math"/>
                      </a:rPr>
                      <m:t>, </m:t>
                    </m:r>
                    <m:r>
                      <a:rPr lang="de-DE" sz="2400" b="0" i="1" smtClean="0">
                        <a:latin typeface="Cambria Math"/>
                      </a:rPr>
                      <m:t>𝑓</m:t>
                    </m:r>
                    <m:r>
                      <a:rPr lang="de-DE" sz="2400" b="0" i="1" smtClean="0">
                        <a:latin typeface="Cambria Math"/>
                      </a:rPr>
                      <m:t>}</m:t>
                    </m:r>
                  </m:oMath>
                </a14:m>
                <a:r>
                  <a:rPr lang="de-DE" sz="2400" dirty="0" smtClean="0"/>
                  <a:t> </a:t>
                </a:r>
                <a:endParaRPr lang="de-DE" sz="2400" b="1" dirty="0"/>
              </a:p>
            </p:txBody>
          </p:sp>
        </mc:Choice>
        <mc:Fallback xmlns="">
          <p:sp>
            <p:nvSpPr>
              <p:cNvPr id="19" name="Textfeld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58427" y="3859576"/>
                <a:ext cx="4344587" cy="461665"/>
              </a:xfrm>
              <a:prstGeom prst="rect">
                <a:avLst/>
              </a:prstGeom>
              <a:blipFill rotWithShape="1">
                <a:blip r:embed="rId8"/>
                <a:stretch>
                  <a:fillRect l="-2244" t="-10526" b="-2894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623611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/>
            <a:r>
              <a:rPr lang="de-DE" sz="3600" b="1" dirty="0" err="1" smtClean="0">
                <a:solidFill>
                  <a:schemeClr val="bg1">
                    <a:lumMod val="50000"/>
                  </a:schemeClr>
                </a:solidFill>
              </a:rPr>
              <a:t>Inductive</a:t>
            </a:r>
            <a:r>
              <a:rPr lang="de-DE" sz="3600" b="1" dirty="0" smtClean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de-DE" sz="3600" b="1" dirty="0" err="1" smtClean="0">
                <a:solidFill>
                  <a:schemeClr val="bg1">
                    <a:lumMod val="50000"/>
                  </a:schemeClr>
                </a:solidFill>
              </a:rPr>
              <a:t>Validity</a:t>
            </a:r>
            <a:r>
              <a:rPr lang="de-DE" sz="3600" b="1" dirty="0" smtClean="0">
                <a:solidFill>
                  <a:schemeClr val="bg1">
                    <a:lumMod val="50000"/>
                  </a:schemeClr>
                </a:solidFill>
              </a:rPr>
              <a:t> Cores</a:t>
            </a:r>
            <a:r>
              <a:rPr lang="de-DE" sz="3600" dirty="0"/>
              <a:t/>
            </a:r>
            <a:br>
              <a:rPr lang="de-DE" sz="3600" dirty="0"/>
            </a:br>
            <a:endParaRPr lang="de-DE" sz="3600" b="1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4" name="Textfeld 13"/>
          <p:cNvSpPr txBox="1"/>
          <p:nvPr/>
        </p:nvSpPr>
        <p:spPr>
          <a:xfrm>
            <a:off x="1975879" y="3809796"/>
            <a:ext cx="442428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 dirty="0"/>
              <a:t>IVC : A </a:t>
            </a:r>
            <a:r>
              <a:rPr lang="de-DE" sz="2400" b="1" dirty="0" err="1"/>
              <a:t>minimum</a:t>
            </a:r>
            <a:r>
              <a:rPr lang="de-DE" sz="2400" b="1" dirty="0"/>
              <a:t> </a:t>
            </a:r>
            <a:r>
              <a:rPr lang="de-DE" sz="2400" b="1" dirty="0" err="1"/>
              <a:t>set</a:t>
            </a:r>
            <a:r>
              <a:rPr lang="de-DE" sz="2400" b="1" dirty="0"/>
              <a:t> </a:t>
            </a:r>
            <a:r>
              <a:rPr lang="de-DE" sz="2400" b="1" dirty="0" err="1"/>
              <a:t>of</a:t>
            </a:r>
            <a:r>
              <a:rPr lang="de-DE" sz="2400" b="1" dirty="0"/>
              <a:t> </a:t>
            </a:r>
            <a:r>
              <a:rPr lang="de-DE" sz="2400" b="1" dirty="0" err="1"/>
              <a:t>elements</a:t>
            </a:r>
            <a:r>
              <a:rPr lang="de-DE" sz="2400" b="1" dirty="0"/>
              <a:t> </a:t>
            </a:r>
          </a:p>
          <a:p>
            <a:r>
              <a:rPr lang="de-DE" sz="2400" b="1" dirty="0"/>
              <a:t>         </a:t>
            </a:r>
            <a:r>
              <a:rPr lang="de-DE" sz="2400" b="1" dirty="0" err="1"/>
              <a:t>needed</a:t>
            </a:r>
            <a:r>
              <a:rPr lang="de-DE" sz="2400" b="1" dirty="0"/>
              <a:t> </a:t>
            </a:r>
            <a:r>
              <a:rPr lang="de-DE" sz="2400" b="1" dirty="0" err="1"/>
              <a:t>to</a:t>
            </a:r>
            <a:r>
              <a:rPr lang="de-DE" sz="2400" b="1" dirty="0"/>
              <a:t> </a:t>
            </a:r>
            <a:r>
              <a:rPr lang="de-DE" sz="2400" b="1" dirty="0" err="1"/>
              <a:t>prove</a:t>
            </a:r>
            <a:r>
              <a:rPr lang="de-DE" sz="2400" b="1" dirty="0"/>
              <a:t> </a:t>
            </a:r>
            <a:r>
              <a:rPr lang="de-DE" sz="2400" b="1" dirty="0" err="1"/>
              <a:t>the</a:t>
            </a:r>
            <a:r>
              <a:rPr lang="de-DE" sz="2400" b="1" dirty="0"/>
              <a:t> </a:t>
            </a:r>
          </a:p>
          <a:p>
            <a:r>
              <a:rPr lang="de-DE" sz="2400" b="1" dirty="0"/>
              <a:t>         </a:t>
            </a:r>
            <a:r>
              <a:rPr lang="de-DE" sz="2400" b="1" dirty="0" err="1"/>
              <a:t>Safety</a:t>
            </a:r>
            <a:r>
              <a:rPr lang="de-DE" sz="2400" b="1" dirty="0"/>
              <a:t> </a:t>
            </a:r>
            <a:r>
              <a:rPr lang="de-DE" sz="2400" b="1" dirty="0" smtClean="0"/>
              <a:t>Property</a:t>
            </a:r>
            <a:endParaRPr lang="de-DE" sz="2400" b="1" dirty="0"/>
          </a:p>
        </p:txBody>
      </p:sp>
      <p:sp>
        <p:nvSpPr>
          <p:cNvPr id="18" name="Rechteck 17"/>
          <p:cNvSpPr/>
          <p:nvPr/>
        </p:nvSpPr>
        <p:spPr>
          <a:xfrm>
            <a:off x="3198948" y="1763558"/>
            <a:ext cx="2402314" cy="58578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 smtClean="0"/>
              <a:t>Safety</a:t>
            </a:r>
            <a:r>
              <a:rPr lang="de-DE" dirty="0" smtClean="0"/>
              <a:t> Property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Ellipse 19"/>
              <p:cNvSpPr/>
              <p:nvPr/>
            </p:nvSpPr>
            <p:spPr>
              <a:xfrm>
                <a:off x="1975879" y="2765298"/>
                <a:ext cx="647815" cy="585788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/>
                        </a:rPr>
                        <m:t>𝑎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0" name="Ellipse 1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5879" y="2765298"/>
                <a:ext cx="647815" cy="585788"/>
              </a:xfrm>
              <a:prstGeom prst="ellipse">
                <a:avLst/>
              </a:prstGeom>
              <a:blipFill rotWithShape="1">
                <a:blip r:embed="rId2"/>
                <a:stretch>
                  <a:fillRect/>
                </a:stretch>
              </a:blipFill>
              <a:ln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Ellipse 20"/>
              <p:cNvSpPr/>
              <p:nvPr/>
            </p:nvSpPr>
            <p:spPr>
              <a:xfrm>
                <a:off x="2864342" y="2765298"/>
                <a:ext cx="647815" cy="585788"/>
              </a:xfrm>
              <a:prstGeom prst="ellipse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/>
                        </a:rPr>
                        <m:t>𝑏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1" name="Ellipse 2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64342" y="2765298"/>
                <a:ext cx="647815" cy="585788"/>
              </a:xfrm>
              <a:prstGeom prst="ellipse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Ellipse 22"/>
              <p:cNvSpPr/>
              <p:nvPr/>
            </p:nvSpPr>
            <p:spPr>
              <a:xfrm>
                <a:off x="3738275" y="2788824"/>
                <a:ext cx="647815" cy="585788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/>
                        </a:rPr>
                        <m:t>𝑐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3" name="Ellipse 2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8275" y="2788824"/>
                <a:ext cx="647815" cy="585788"/>
              </a:xfrm>
              <a:prstGeom prst="ellipse">
                <a:avLst/>
              </a:prstGeom>
              <a:blipFill rotWithShape="1">
                <a:blip r:embed="rId4"/>
                <a:stretch>
                  <a:fillRect/>
                </a:stretch>
              </a:blipFill>
              <a:ln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Ellipse 23"/>
              <p:cNvSpPr/>
              <p:nvPr/>
            </p:nvSpPr>
            <p:spPr>
              <a:xfrm>
                <a:off x="4659037" y="2743579"/>
                <a:ext cx="647815" cy="585788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/>
                        </a:rPr>
                        <m:t>𝑑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4" name="Ellipse 2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037" y="2743579"/>
                <a:ext cx="647815" cy="585788"/>
              </a:xfrm>
              <a:prstGeom prst="ellipse">
                <a:avLst/>
              </a:prstGeom>
              <a:blipFill rotWithShape="1">
                <a:blip r:embed="rId5"/>
                <a:stretch>
                  <a:fillRect/>
                </a:stretch>
              </a:blipFill>
              <a:ln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Ellipse 25"/>
              <p:cNvSpPr/>
              <p:nvPr/>
            </p:nvSpPr>
            <p:spPr>
              <a:xfrm>
                <a:off x="5528526" y="2743579"/>
                <a:ext cx="647815" cy="585788"/>
              </a:xfrm>
              <a:prstGeom prst="ellipse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/>
                        </a:rPr>
                        <m:t>𝑒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6" name="Ellipse 2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28526" y="2743579"/>
                <a:ext cx="647815" cy="585788"/>
              </a:xfrm>
              <a:prstGeom prst="ellipse">
                <a:avLst/>
              </a:prstGeom>
              <a:blipFill rotWithShape="1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Ellipse 26"/>
              <p:cNvSpPr/>
              <p:nvPr/>
            </p:nvSpPr>
            <p:spPr>
              <a:xfrm>
                <a:off x="6430600" y="2741772"/>
                <a:ext cx="647815" cy="585788"/>
              </a:xfrm>
              <a:prstGeom prst="ellipse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/>
                        </a:rPr>
                        <m:t>𝑓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7" name="Ellipse 2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0600" y="2741772"/>
                <a:ext cx="647815" cy="585788"/>
              </a:xfrm>
              <a:prstGeom prst="ellipse">
                <a:avLst/>
              </a:prstGeom>
              <a:blipFill rotWithShape="1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Gerade Verbindung mit Pfeil 28"/>
          <p:cNvCxnSpPr>
            <a:stCxn id="20" idx="0"/>
            <a:endCxn id="18" idx="2"/>
          </p:cNvCxnSpPr>
          <p:nvPr/>
        </p:nvCxnSpPr>
        <p:spPr>
          <a:xfrm flipV="1">
            <a:off x="2299787" y="2349346"/>
            <a:ext cx="2100318" cy="41595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/>
          <p:cNvCxnSpPr>
            <a:stCxn id="21" idx="0"/>
            <a:endCxn id="18" idx="2"/>
          </p:cNvCxnSpPr>
          <p:nvPr/>
        </p:nvCxnSpPr>
        <p:spPr>
          <a:xfrm flipV="1">
            <a:off x="3188250" y="2349346"/>
            <a:ext cx="1211855" cy="41595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 Verbindung mit Pfeil 30"/>
          <p:cNvCxnSpPr>
            <a:stCxn id="23" idx="0"/>
            <a:endCxn id="18" idx="2"/>
          </p:cNvCxnSpPr>
          <p:nvPr/>
        </p:nvCxnSpPr>
        <p:spPr>
          <a:xfrm flipV="1">
            <a:off x="4062183" y="2349346"/>
            <a:ext cx="337922" cy="439478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 Verbindung mit Pfeil 31"/>
          <p:cNvCxnSpPr>
            <a:stCxn id="24" idx="0"/>
            <a:endCxn id="18" idx="2"/>
          </p:cNvCxnSpPr>
          <p:nvPr/>
        </p:nvCxnSpPr>
        <p:spPr>
          <a:xfrm flipH="1" flipV="1">
            <a:off x="4400105" y="2349346"/>
            <a:ext cx="582840" cy="394233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Gerade Verbindung mit Pfeil 32"/>
          <p:cNvCxnSpPr>
            <a:stCxn id="26" idx="0"/>
            <a:endCxn id="18" idx="2"/>
          </p:cNvCxnSpPr>
          <p:nvPr/>
        </p:nvCxnSpPr>
        <p:spPr>
          <a:xfrm flipH="1" flipV="1">
            <a:off x="4400105" y="2349346"/>
            <a:ext cx="1452329" cy="394233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Gerade Verbindung mit Pfeil 33"/>
          <p:cNvCxnSpPr>
            <a:stCxn id="27" idx="0"/>
            <a:endCxn id="18" idx="2"/>
          </p:cNvCxnSpPr>
          <p:nvPr/>
        </p:nvCxnSpPr>
        <p:spPr>
          <a:xfrm flipH="1" flipV="1">
            <a:off x="4400105" y="2349346"/>
            <a:ext cx="2354403" cy="392426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feld 21"/>
              <p:cNvSpPr txBox="1"/>
              <p:nvPr/>
            </p:nvSpPr>
            <p:spPr>
              <a:xfrm>
                <a:off x="2623694" y="5131324"/>
                <a:ext cx="97757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/>
                        </a:rPr>
                        <m:t>{</m:t>
                      </m:r>
                      <m:r>
                        <a:rPr lang="de-DE" b="0" i="1" smtClean="0">
                          <a:latin typeface="Cambria Math"/>
                        </a:rPr>
                        <m:t>𝑎</m:t>
                      </m:r>
                      <m:r>
                        <a:rPr lang="de-DE" b="0" i="1" smtClean="0">
                          <a:latin typeface="Cambria Math"/>
                        </a:rPr>
                        <m:t>, </m:t>
                      </m:r>
                      <m:r>
                        <a:rPr lang="de-DE" b="0" i="1" smtClean="0">
                          <a:latin typeface="Cambria Math"/>
                        </a:rPr>
                        <m:t>𝑐</m:t>
                      </m:r>
                      <m:r>
                        <a:rPr lang="de-DE" b="0" i="1" smtClean="0">
                          <a:latin typeface="Cambria Math"/>
                        </a:rPr>
                        <m:t>, </m:t>
                      </m:r>
                      <m:r>
                        <a:rPr lang="de-DE" b="0" i="1" smtClean="0">
                          <a:latin typeface="Cambria Math"/>
                        </a:rPr>
                        <m:t>𝑑</m:t>
                      </m:r>
                      <m:r>
                        <a:rPr lang="de-DE" b="0" i="1" dirty="0" smtClean="0">
                          <a:latin typeface="Cambria Math"/>
                        </a:rPr>
                        <m:t>}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2" name="Textfeld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3694" y="5131324"/>
                <a:ext cx="977575" cy="369332"/>
              </a:xfrm>
              <a:prstGeom prst="rect">
                <a:avLst/>
              </a:prstGeom>
              <a:blipFill rotWithShape="1">
                <a:blip r:embed="rId8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783089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/>
            <a:r>
              <a:rPr lang="de-DE" sz="3600" b="1" dirty="0" err="1" smtClean="0">
                <a:solidFill>
                  <a:schemeClr val="bg1">
                    <a:lumMod val="50000"/>
                  </a:schemeClr>
                </a:solidFill>
              </a:rPr>
              <a:t>Inductive</a:t>
            </a:r>
            <a:r>
              <a:rPr lang="de-DE" sz="3600" b="1" dirty="0" smtClean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de-DE" sz="3600" b="1" dirty="0" err="1" smtClean="0">
                <a:solidFill>
                  <a:schemeClr val="bg1">
                    <a:lumMod val="50000"/>
                  </a:schemeClr>
                </a:solidFill>
              </a:rPr>
              <a:t>Validity</a:t>
            </a:r>
            <a:r>
              <a:rPr lang="de-DE" sz="3600" b="1" dirty="0" smtClean="0">
                <a:solidFill>
                  <a:schemeClr val="bg1">
                    <a:lumMod val="50000"/>
                  </a:schemeClr>
                </a:solidFill>
              </a:rPr>
              <a:t> Cores</a:t>
            </a:r>
            <a:r>
              <a:rPr lang="de-DE" sz="3600" dirty="0"/>
              <a:t/>
            </a:r>
            <a:br>
              <a:rPr lang="de-DE" sz="3600" dirty="0"/>
            </a:br>
            <a:endParaRPr lang="de-DE" sz="3600" b="1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4" name="Textfeld 13"/>
          <p:cNvSpPr txBox="1"/>
          <p:nvPr/>
        </p:nvSpPr>
        <p:spPr>
          <a:xfrm>
            <a:off x="1975879" y="3848100"/>
            <a:ext cx="503984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 dirty="0"/>
              <a:t>All IVCs : All minimal </a:t>
            </a:r>
            <a:r>
              <a:rPr lang="de-DE" sz="2400" b="1" dirty="0" err="1"/>
              <a:t>sets</a:t>
            </a:r>
            <a:r>
              <a:rPr lang="de-DE" sz="2400" b="1" dirty="0"/>
              <a:t> </a:t>
            </a:r>
            <a:r>
              <a:rPr lang="de-DE" sz="2400" b="1" dirty="0" err="1"/>
              <a:t>of</a:t>
            </a:r>
            <a:r>
              <a:rPr lang="de-DE" sz="2400" b="1" dirty="0"/>
              <a:t> </a:t>
            </a:r>
            <a:r>
              <a:rPr lang="de-DE" sz="2400" b="1" dirty="0" err="1"/>
              <a:t>elements</a:t>
            </a:r>
            <a:r>
              <a:rPr lang="de-DE" sz="2400" b="1" dirty="0"/>
              <a:t> </a:t>
            </a:r>
          </a:p>
          <a:p>
            <a:r>
              <a:rPr lang="de-DE" sz="2400" b="1" dirty="0"/>
              <a:t>        </a:t>
            </a:r>
            <a:r>
              <a:rPr lang="de-DE" sz="2400" b="1" dirty="0" err="1"/>
              <a:t>needed</a:t>
            </a:r>
            <a:r>
              <a:rPr lang="de-DE" sz="2400" b="1" dirty="0"/>
              <a:t> </a:t>
            </a:r>
            <a:r>
              <a:rPr lang="de-DE" sz="2400" b="1" dirty="0" err="1"/>
              <a:t>to</a:t>
            </a:r>
            <a:r>
              <a:rPr lang="de-DE" sz="2400" b="1" dirty="0"/>
              <a:t> </a:t>
            </a:r>
            <a:r>
              <a:rPr lang="de-DE" sz="2400" b="1" dirty="0" err="1"/>
              <a:t>prove</a:t>
            </a:r>
            <a:r>
              <a:rPr lang="de-DE" sz="2400" b="1" dirty="0"/>
              <a:t> </a:t>
            </a:r>
            <a:r>
              <a:rPr lang="de-DE" sz="2400" b="1" dirty="0" err="1"/>
              <a:t>the</a:t>
            </a:r>
            <a:r>
              <a:rPr lang="de-DE" sz="2400" b="1" dirty="0"/>
              <a:t> </a:t>
            </a:r>
          </a:p>
          <a:p>
            <a:r>
              <a:rPr lang="de-DE" sz="2400" b="1" dirty="0"/>
              <a:t>        </a:t>
            </a:r>
            <a:r>
              <a:rPr lang="de-DE" sz="2400" b="1" dirty="0" err="1"/>
              <a:t>Safety</a:t>
            </a:r>
            <a:r>
              <a:rPr lang="de-DE" sz="2400" b="1" dirty="0"/>
              <a:t> </a:t>
            </a:r>
            <a:r>
              <a:rPr lang="de-DE" sz="2400" b="1" dirty="0" smtClean="0"/>
              <a:t>Property</a:t>
            </a:r>
            <a:endParaRPr lang="de-DE" sz="2400" b="1" dirty="0"/>
          </a:p>
        </p:txBody>
      </p:sp>
      <p:sp>
        <p:nvSpPr>
          <p:cNvPr id="18" name="Rechteck 17"/>
          <p:cNvSpPr/>
          <p:nvPr/>
        </p:nvSpPr>
        <p:spPr>
          <a:xfrm>
            <a:off x="3198948" y="1763558"/>
            <a:ext cx="2402314" cy="58578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 smtClean="0"/>
              <a:t>Safety</a:t>
            </a:r>
            <a:r>
              <a:rPr lang="de-DE" dirty="0" smtClean="0"/>
              <a:t> Property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Ellipse 19"/>
              <p:cNvSpPr/>
              <p:nvPr/>
            </p:nvSpPr>
            <p:spPr>
              <a:xfrm>
                <a:off x="1975879" y="2765298"/>
                <a:ext cx="647815" cy="585788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/>
                        </a:rPr>
                        <m:t>𝑎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0" name="Ellipse 1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5879" y="2765298"/>
                <a:ext cx="647815" cy="585788"/>
              </a:xfrm>
              <a:prstGeom prst="ellipse">
                <a:avLst/>
              </a:prstGeom>
              <a:blipFill rotWithShape="1">
                <a:blip r:embed="rId2"/>
                <a:stretch>
                  <a:fillRect/>
                </a:stretch>
              </a:blipFill>
              <a:ln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Ellipse 20"/>
              <p:cNvSpPr/>
              <p:nvPr/>
            </p:nvSpPr>
            <p:spPr>
              <a:xfrm>
                <a:off x="2864342" y="2765298"/>
                <a:ext cx="647815" cy="585788"/>
              </a:xfrm>
              <a:prstGeom prst="ellipse">
                <a:avLst/>
              </a:prstGeom>
              <a:solidFill>
                <a:srgbClr val="00B050"/>
              </a:solidFill>
              <a:ln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/>
                        </a:rPr>
                        <m:t>𝑏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1" name="Ellipse 2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64342" y="2765298"/>
                <a:ext cx="647815" cy="585788"/>
              </a:xfrm>
              <a:prstGeom prst="ellipse">
                <a:avLst/>
              </a:prstGeom>
              <a:blipFill rotWithShape="1">
                <a:blip r:embed="rId3"/>
                <a:stretch>
                  <a:fillRect/>
                </a:stretch>
              </a:blipFill>
              <a:ln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Ellipse 22"/>
              <p:cNvSpPr/>
              <p:nvPr/>
            </p:nvSpPr>
            <p:spPr>
              <a:xfrm>
                <a:off x="3738275" y="2788824"/>
                <a:ext cx="647815" cy="585788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/>
                        </a:rPr>
                        <m:t>𝑐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3" name="Ellipse 2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8275" y="2788824"/>
                <a:ext cx="647815" cy="585788"/>
              </a:xfrm>
              <a:prstGeom prst="ellipse">
                <a:avLst/>
              </a:prstGeom>
              <a:blipFill rotWithShape="1">
                <a:blip r:embed="rId4"/>
                <a:stretch>
                  <a:fillRect/>
                </a:stretch>
              </a:blipFill>
              <a:ln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Ellipse 23"/>
              <p:cNvSpPr/>
              <p:nvPr/>
            </p:nvSpPr>
            <p:spPr>
              <a:xfrm>
                <a:off x="4659037" y="2743579"/>
                <a:ext cx="647815" cy="585788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/>
                        </a:rPr>
                        <m:t>𝑑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4" name="Ellipse 2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037" y="2743579"/>
                <a:ext cx="647815" cy="585788"/>
              </a:xfrm>
              <a:prstGeom prst="ellipse">
                <a:avLst/>
              </a:prstGeom>
              <a:blipFill rotWithShape="1">
                <a:blip r:embed="rId5"/>
                <a:stretch>
                  <a:fillRect/>
                </a:stretch>
              </a:blipFill>
              <a:ln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Ellipse 25"/>
              <p:cNvSpPr/>
              <p:nvPr/>
            </p:nvSpPr>
            <p:spPr>
              <a:xfrm>
                <a:off x="5528526" y="2743579"/>
                <a:ext cx="647815" cy="585788"/>
              </a:xfrm>
              <a:prstGeom prst="ellipse">
                <a:avLst/>
              </a:prstGeom>
              <a:solidFill>
                <a:srgbClr val="00B050"/>
              </a:solidFill>
              <a:ln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/>
                        </a:rPr>
                        <m:t>𝑒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6" name="Ellipse 2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28526" y="2743579"/>
                <a:ext cx="647815" cy="585788"/>
              </a:xfrm>
              <a:prstGeom prst="ellipse">
                <a:avLst/>
              </a:prstGeom>
              <a:blipFill rotWithShape="1">
                <a:blip r:embed="rId6"/>
                <a:stretch>
                  <a:fillRect/>
                </a:stretch>
              </a:blipFill>
              <a:ln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Ellipse 26"/>
              <p:cNvSpPr/>
              <p:nvPr/>
            </p:nvSpPr>
            <p:spPr>
              <a:xfrm>
                <a:off x="6430600" y="2741772"/>
                <a:ext cx="647815" cy="585788"/>
              </a:xfrm>
              <a:prstGeom prst="ellipse">
                <a:avLst/>
              </a:prstGeom>
              <a:solidFill>
                <a:srgbClr val="00B050"/>
              </a:solidFill>
              <a:ln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/>
                        </a:rPr>
                        <m:t>𝑓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7" name="Ellipse 2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0600" y="2741772"/>
                <a:ext cx="647815" cy="585788"/>
              </a:xfrm>
              <a:prstGeom prst="ellipse">
                <a:avLst/>
              </a:prstGeom>
              <a:blipFill rotWithShape="1">
                <a:blip r:embed="rId7"/>
                <a:stretch>
                  <a:fillRect/>
                </a:stretch>
              </a:blipFill>
              <a:ln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Gerade Verbindung mit Pfeil 28"/>
          <p:cNvCxnSpPr>
            <a:stCxn id="20" idx="0"/>
            <a:endCxn id="18" idx="2"/>
          </p:cNvCxnSpPr>
          <p:nvPr/>
        </p:nvCxnSpPr>
        <p:spPr>
          <a:xfrm flipV="1">
            <a:off x="2299787" y="2349346"/>
            <a:ext cx="2100318" cy="41595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/>
          <p:cNvCxnSpPr>
            <a:stCxn id="21" idx="0"/>
            <a:endCxn id="18" idx="2"/>
          </p:cNvCxnSpPr>
          <p:nvPr/>
        </p:nvCxnSpPr>
        <p:spPr>
          <a:xfrm flipV="1">
            <a:off x="3188250" y="2349346"/>
            <a:ext cx="1211855" cy="41595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 Verbindung mit Pfeil 30"/>
          <p:cNvCxnSpPr>
            <a:stCxn id="23" idx="0"/>
            <a:endCxn id="18" idx="2"/>
          </p:cNvCxnSpPr>
          <p:nvPr/>
        </p:nvCxnSpPr>
        <p:spPr>
          <a:xfrm flipV="1">
            <a:off x="4062183" y="2349346"/>
            <a:ext cx="337922" cy="439478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 Verbindung mit Pfeil 31"/>
          <p:cNvCxnSpPr>
            <a:stCxn id="24" idx="0"/>
            <a:endCxn id="18" idx="2"/>
          </p:cNvCxnSpPr>
          <p:nvPr/>
        </p:nvCxnSpPr>
        <p:spPr>
          <a:xfrm flipH="1" flipV="1">
            <a:off x="4400105" y="2349346"/>
            <a:ext cx="582840" cy="394233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Gerade Verbindung mit Pfeil 32"/>
          <p:cNvCxnSpPr>
            <a:stCxn id="26" idx="0"/>
            <a:endCxn id="18" idx="2"/>
          </p:cNvCxnSpPr>
          <p:nvPr/>
        </p:nvCxnSpPr>
        <p:spPr>
          <a:xfrm flipH="1" flipV="1">
            <a:off x="4400105" y="2349346"/>
            <a:ext cx="1452329" cy="394233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Gerade Verbindung mit Pfeil 33"/>
          <p:cNvCxnSpPr>
            <a:stCxn id="27" idx="0"/>
            <a:endCxn id="18" idx="2"/>
          </p:cNvCxnSpPr>
          <p:nvPr/>
        </p:nvCxnSpPr>
        <p:spPr>
          <a:xfrm flipH="1" flipV="1">
            <a:off x="4400105" y="2349346"/>
            <a:ext cx="2354403" cy="392426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feld 2"/>
              <p:cNvSpPr txBox="1"/>
              <p:nvPr/>
            </p:nvSpPr>
            <p:spPr>
              <a:xfrm>
                <a:off x="2570766" y="5233012"/>
                <a:ext cx="188494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de-DE" b="0" i="1" smtClean="0">
                        <a:latin typeface="Cambria Math"/>
                      </a:rPr>
                      <m:t>{</m:t>
                    </m:r>
                    <m:d>
                      <m:dPr>
                        <m:begChr m:val="{"/>
                        <m:endChr m:val="}"/>
                        <m:ctrlPr>
                          <a:rPr lang="de-DE" b="0" i="1" smtClean="0">
                            <a:latin typeface="Cambria Math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/>
                          </a:rPr>
                          <m:t>𝑎</m:t>
                        </m:r>
                        <m:r>
                          <a:rPr lang="de-DE" b="0" i="1" smtClean="0">
                            <a:latin typeface="Cambria Math"/>
                          </a:rPr>
                          <m:t>, </m:t>
                        </m:r>
                        <m:r>
                          <a:rPr lang="de-DE" b="0" i="1" smtClean="0">
                            <a:latin typeface="Cambria Math"/>
                          </a:rPr>
                          <m:t>𝑐</m:t>
                        </m:r>
                        <m:r>
                          <a:rPr lang="de-DE" b="0" i="1" smtClean="0">
                            <a:latin typeface="Cambria Math"/>
                          </a:rPr>
                          <m:t>, </m:t>
                        </m:r>
                        <m:r>
                          <a:rPr lang="de-DE" b="0" i="1" smtClean="0">
                            <a:latin typeface="Cambria Math"/>
                          </a:rPr>
                          <m:t>𝑑</m:t>
                        </m:r>
                      </m:e>
                    </m:d>
                    <m:r>
                      <a:rPr lang="de-DE" b="0" i="1" smtClean="0">
                        <a:latin typeface="Cambria Math"/>
                      </a:rPr>
                      <m:t>, </m:t>
                    </m:r>
                  </m:oMath>
                </a14:m>
                <a:r>
                  <a:rPr lang="de-DE" dirty="0" smtClean="0"/>
                  <a:t>{</a:t>
                </a:r>
                <a14:m>
                  <m:oMath xmlns:m="http://schemas.openxmlformats.org/officeDocument/2006/math">
                    <m:r>
                      <a:rPr lang="de-DE" b="0" i="1" dirty="0" smtClean="0">
                        <a:latin typeface="Cambria Math"/>
                      </a:rPr>
                      <m:t>𝑏</m:t>
                    </m:r>
                    <m:r>
                      <a:rPr lang="de-DE" b="0" i="1" dirty="0" smtClean="0">
                        <a:latin typeface="Cambria Math"/>
                      </a:rPr>
                      <m:t>, </m:t>
                    </m:r>
                    <m:r>
                      <a:rPr lang="de-DE" b="0" i="1" dirty="0" smtClean="0">
                        <a:latin typeface="Cambria Math"/>
                      </a:rPr>
                      <m:t>𝑒</m:t>
                    </m:r>
                    <m:r>
                      <a:rPr lang="de-DE" b="0" i="1" dirty="0" smtClean="0">
                        <a:latin typeface="Cambria Math"/>
                      </a:rPr>
                      <m:t>, </m:t>
                    </m:r>
                    <m:r>
                      <a:rPr lang="de-DE" b="0" i="1" dirty="0" smtClean="0">
                        <a:latin typeface="Cambria Math"/>
                      </a:rPr>
                      <m:t>𝑓</m:t>
                    </m:r>
                  </m:oMath>
                </a14:m>
                <a:r>
                  <a:rPr lang="de-DE" dirty="0" smtClean="0"/>
                  <a:t>}}</a:t>
                </a:r>
                <a:endParaRPr lang="de-DE" dirty="0"/>
              </a:p>
            </p:txBody>
          </p:sp>
        </mc:Choice>
        <mc:Fallback xmlns="">
          <p:sp>
            <p:nvSpPr>
              <p:cNvPr id="3" name="Textfeld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70766" y="5233012"/>
                <a:ext cx="1884940" cy="369332"/>
              </a:xfrm>
              <a:prstGeom prst="rect">
                <a:avLst/>
              </a:prstGeom>
              <a:blipFill rotWithShape="1">
                <a:blip r:embed="rId8"/>
                <a:stretch>
                  <a:fillRect l="-1294" t="-8197" r="-1942" b="-2459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052492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/>
            <a:r>
              <a:rPr lang="de-DE" sz="3600" b="1" dirty="0" err="1">
                <a:solidFill>
                  <a:schemeClr val="bg1">
                    <a:lumMod val="50000"/>
                  </a:schemeClr>
                </a:solidFill>
              </a:rPr>
              <a:t>Inductive</a:t>
            </a:r>
            <a:r>
              <a:rPr lang="de-DE" sz="3600" b="1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de-DE" sz="3600" b="1" dirty="0" err="1">
                <a:solidFill>
                  <a:schemeClr val="bg1">
                    <a:lumMod val="50000"/>
                  </a:schemeClr>
                </a:solidFill>
              </a:rPr>
              <a:t>Validity</a:t>
            </a:r>
            <a:r>
              <a:rPr lang="de-DE" sz="3600" b="1" dirty="0">
                <a:solidFill>
                  <a:schemeClr val="bg1">
                    <a:lumMod val="50000"/>
                  </a:schemeClr>
                </a:solidFill>
              </a:rPr>
              <a:t> Cores </a:t>
            </a:r>
            <a:r>
              <a:rPr lang="de-DE" sz="3600" b="1" dirty="0" err="1">
                <a:solidFill>
                  <a:schemeClr val="bg1">
                    <a:lumMod val="50000"/>
                  </a:schemeClr>
                </a:solidFill>
              </a:rPr>
              <a:t>with</a:t>
            </a:r>
            <a:r>
              <a:rPr lang="de-DE" sz="3600" b="1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de-DE" sz="3600" b="1" dirty="0" err="1">
                <a:solidFill>
                  <a:schemeClr val="bg1">
                    <a:lumMod val="50000"/>
                  </a:schemeClr>
                </a:solidFill>
              </a:rPr>
              <a:t>Faults</a:t>
            </a:r>
            <a:r>
              <a:rPr lang="de-DE" sz="3600" dirty="0"/>
              <a:t/>
            </a:r>
            <a:br>
              <a:rPr lang="de-DE" sz="3600" dirty="0"/>
            </a:br>
            <a:endParaRPr lang="de-DE" sz="3600" b="1" dirty="0">
              <a:solidFill>
                <a:schemeClr val="bg1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/>
              <p:cNvSpPr txBox="1"/>
              <p:nvPr/>
            </p:nvSpPr>
            <p:spPr>
              <a:xfrm>
                <a:off x="1346538" y="3846723"/>
                <a:ext cx="668997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2400" dirty="0" smtClean="0"/>
                  <a:t>Model Elements :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/>
                      </a:rPr>
                      <m:t>{</m:t>
                    </m:r>
                    <m:r>
                      <a:rPr lang="de-DE" sz="2400" b="0" i="1" smtClean="0">
                        <a:latin typeface="Cambria Math"/>
                      </a:rPr>
                      <m:t>𝐹𝑎𝑢𝑙𝑡𝑠</m:t>
                    </m:r>
                    <m:r>
                      <a:rPr lang="de-DE" sz="2400" b="0" i="1" smtClean="0">
                        <a:latin typeface="Cambria Math"/>
                      </a:rPr>
                      <m:t>=</m:t>
                    </m:r>
                    <m:r>
                      <a:rPr lang="de-DE" sz="2400" b="0" i="1" smtClean="0">
                        <a:latin typeface="Cambria Math"/>
                      </a:rPr>
                      <m:t>𝐹𝐴𝐿𝑆𝐸</m:t>
                    </m:r>
                    <m:r>
                      <a:rPr lang="de-DE" sz="2400" b="0" i="1" smtClean="0">
                        <a:latin typeface="Cambria Math"/>
                      </a:rPr>
                      <m:t>, </m:t>
                    </m:r>
                    <m:r>
                      <a:rPr lang="de-DE" sz="2400" b="0" i="1" smtClean="0">
                        <a:latin typeface="Cambria Math"/>
                      </a:rPr>
                      <m:t>𝐺𝑢𝑎𝑟𝑎𝑛𝑡𝑒𝑒𝑠</m:t>
                    </m:r>
                    <m:r>
                      <a:rPr lang="de-DE" sz="2400" b="0" i="1" smtClean="0">
                        <a:latin typeface="Cambria Math"/>
                      </a:rPr>
                      <m:t>}</m:t>
                    </m:r>
                  </m:oMath>
                </a14:m>
                <a:r>
                  <a:rPr lang="de-DE" sz="2400" dirty="0" smtClean="0"/>
                  <a:t> </a:t>
                </a:r>
                <a:endParaRPr lang="de-DE" sz="2400" b="1" dirty="0"/>
              </a:p>
            </p:txBody>
          </p:sp>
        </mc:Choice>
        <mc:Fallback xmlns="">
          <p:sp>
            <p:nvSpPr>
              <p:cNvPr id="14" name="Textfeld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46538" y="3846723"/>
                <a:ext cx="6689973" cy="461665"/>
              </a:xfrm>
              <a:prstGeom prst="rect">
                <a:avLst/>
              </a:prstGeom>
              <a:blipFill rotWithShape="1">
                <a:blip r:embed="rId2"/>
                <a:stretch>
                  <a:fillRect l="-1459" t="-10526" b="-2894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echteck 17"/>
          <p:cNvSpPr/>
          <p:nvPr/>
        </p:nvSpPr>
        <p:spPr>
          <a:xfrm>
            <a:off x="3198948" y="1763558"/>
            <a:ext cx="2402314" cy="58578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 smtClean="0"/>
              <a:t>Safety</a:t>
            </a:r>
            <a:r>
              <a:rPr lang="de-DE" dirty="0" smtClean="0"/>
              <a:t> Property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Ellipse 19"/>
              <p:cNvSpPr/>
              <p:nvPr/>
            </p:nvSpPr>
            <p:spPr>
              <a:xfrm>
                <a:off x="1975879" y="2765298"/>
                <a:ext cx="647815" cy="585788"/>
              </a:xfrm>
              <a:prstGeom prst="ellipse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/>
                            </a:rPr>
                            <m:t>!</m:t>
                          </m:r>
                          <m:r>
                            <a:rPr lang="de-DE" b="0" i="1" smtClean="0">
                              <a:latin typeface="Cambria Math"/>
                            </a:rPr>
                            <m:t>𝑓</m:t>
                          </m:r>
                        </m:e>
                        <m:sub>
                          <m:r>
                            <a:rPr lang="de-DE" b="0" i="1" smtClean="0">
                              <a:latin typeface="Cambria Math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0" name="Ellipse 1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5879" y="2765298"/>
                <a:ext cx="647815" cy="585788"/>
              </a:xfrm>
              <a:prstGeom prst="ellipse">
                <a:avLst/>
              </a:prstGeom>
              <a:blipFill rotWithShape="1">
                <a:blip r:embed="rId3"/>
                <a:stretch>
                  <a:fillRect/>
                </a:stretch>
              </a:blip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Ellipse 20"/>
              <p:cNvSpPr/>
              <p:nvPr/>
            </p:nvSpPr>
            <p:spPr>
              <a:xfrm>
                <a:off x="2864342" y="2765298"/>
                <a:ext cx="647815" cy="585788"/>
              </a:xfrm>
              <a:prstGeom prst="ellipse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/>
                            </a:rPr>
                            <m:t>!</m:t>
                          </m:r>
                          <m:r>
                            <a:rPr lang="de-DE" i="1">
                              <a:latin typeface="Cambria Math"/>
                            </a:rPr>
                            <m:t>𝑓</m:t>
                          </m:r>
                        </m:e>
                        <m:sub>
                          <m:r>
                            <a:rPr lang="de-DE" b="0" i="1" smtClean="0">
                              <a:latin typeface="Cambria Math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1" name="Ellipse 2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64342" y="2765298"/>
                <a:ext cx="647815" cy="585788"/>
              </a:xfrm>
              <a:prstGeom prst="ellipse">
                <a:avLst/>
              </a:prstGeom>
              <a:blipFill rotWithShape="1">
                <a:blip r:embed="rId4"/>
                <a:stretch>
                  <a:fillRect/>
                </a:stretch>
              </a:blip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Ellipse 22"/>
              <p:cNvSpPr/>
              <p:nvPr/>
            </p:nvSpPr>
            <p:spPr>
              <a:xfrm>
                <a:off x="3738275" y="2788824"/>
                <a:ext cx="647815" cy="585788"/>
              </a:xfrm>
              <a:prstGeom prst="ellipse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/>
                            </a:rPr>
                            <m:t>!</m:t>
                          </m:r>
                          <m:r>
                            <a:rPr lang="de-DE" i="1">
                              <a:latin typeface="Cambria Math"/>
                            </a:rPr>
                            <m:t>𝑓</m:t>
                          </m:r>
                        </m:e>
                        <m:sub>
                          <m:r>
                            <a:rPr lang="de-DE" b="0" i="1" smtClean="0">
                              <a:latin typeface="Cambria Math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3" name="Ellipse 2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8275" y="2788824"/>
                <a:ext cx="647815" cy="585788"/>
              </a:xfrm>
              <a:prstGeom prst="ellipse">
                <a:avLst/>
              </a:prstGeom>
              <a:blipFill rotWithShape="1">
                <a:blip r:embed="rId5"/>
                <a:stretch>
                  <a:fillRect/>
                </a:stretch>
              </a:blip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Ellipse 23"/>
              <p:cNvSpPr/>
              <p:nvPr/>
            </p:nvSpPr>
            <p:spPr>
              <a:xfrm>
                <a:off x="4659037" y="2743579"/>
                <a:ext cx="647815" cy="585788"/>
              </a:xfrm>
              <a:prstGeom prst="ellipse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/>
                            </a:rPr>
                            <m:t>𝑔</m:t>
                          </m:r>
                        </m:e>
                        <m:sub>
                          <m:r>
                            <a:rPr lang="de-DE" b="0" i="1" smtClean="0">
                              <a:latin typeface="Cambria Math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4" name="Ellipse 2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037" y="2743579"/>
                <a:ext cx="647815" cy="585788"/>
              </a:xfrm>
              <a:prstGeom prst="ellipse">
                <a:avLst/>
              </a:prstGeom>
              <a:blipFill rotWithShape="1">
                <a:blip r:embed="rId6"/>
                <a:stretch>
                  <a:fillRect/>
                </a:stretch>
              </a:blip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Ellipse 25"/>
              <p:cNvSpPr/>
              <p:nvPr/>
            </p:nvSpPr>
            <p:spPr>
              <a:xfrm>
                <a:off x="5528526" y="2743579"/>
                <a:ext cx="647815" cy="585788"/>
              </a:xfrm>
              <a:prstGeom prst="ellipse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/>
                            </a:rPr>
                            <m:t>𝑔</m:t>
                          </m:r>
                        </m:e>
                        <m:sub>
                          <m:r>
                            <a:rPr lang="de-DE" b="0" i="1" smtClean="0">
                              <a:latin typeface="Cambria Math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6" name="Ellipse 2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28526" y="2743579"/>
                <a:ext cx="647815" cy="585788"/>
              </a:xfrm>
              <a:prstGeom prst="ellipse">
                <a:avLst/>
              </a:prstGeom>
              <a:blipFill rotWithShape="1">
                <a:blip r:embed="rId7"/>
                <a:stretch>
                  <a:fillRect/>
                </a:stretch>
              </a:blip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Ellipse 26"/>
              <p:cNvSpPr/>
              <p:nvPr/>
            </p:nvSpPr>
            <p:spPr>
              <a:xfrm>
                <a:off x="6430600" y="2741772"/>
                <a:ext cx="647815" cy="585788"/>
              </a:xfrm>
              <a:prstGeom prst="ellipse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/>
                            </a:rPr>
                            <m:t>𝑔</m:t>
                          </m:r>
                        </m:e>
                        <m:sub>
                          <m:r>
                            <a:rPr lang="de-DE" b="0" i="1" smtClean="0">
                              <a:latin typeface="Cambria Math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7" name="Ellipse 2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0600" y="2741772"/>
                <a:ext cx="647815" cy="585788"/>
              </a:xfrm>
              <a:prstGeom prst="ellipse">
                <a:avLst/>
              </a:prstGeom>
              <a:blipFill rotWithShape="1">
                <a:blip r:embed="rId8"/>
                <a:stretch>
                  <a:fillRect/>
                </a:stretch>
              </a:blip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Gerade Verbindung mit Pfeil 28"/>
          <p:cNvCxnSpPr>
            <a:stCxn id="20" idx="0"/>
            <a:endCxn id="18" idx="2"/>
          </p:cNvCxnSpPr>
          <p:nvPr/>
        </p:nvCxnSpPr>
        <p:spPr>
          <a:xfrm flipV="1">
            <a:off x="2299787" y="2349346"/>
            <a:ext cx="2100318" cy="41595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/>
          <p:cNvCxnSpPr>
            <a:stCxn id="21" idx="0"/>
            <a:endCxn id="18" idx="2"/>
          </p:cNvCxnSpPr>
          <p:nvPr/>
        </p:nvCxnSpPr>
        <p:spPr>
          <a:xfrm flipV="1">
            <a:off x="3188250" y="2349346"/>
            <a:ext cx="1211855" cy="41595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 Verbindung mit Pfeil 30"/>
          <p:cNvCxnSpPr>
            <a:stCxn id="23" idx="0"/>
            <a:endCxn id="18" idx="2"/>
          </p:cNvCxnSpPr>
          <p:nvPr/>
        </p:nvCxnSpPr>
        <p:spPr>
          <a:xfrm flipV="1">
            <a:off x="4062183" y="2349346"/>
            <a:ext cx="337922" cy="439478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 Verbindung mit Pfeil 31"/>
          <p:cNvCxnSpPr>
            <a:stCxn id="24" idx="0"/>
            <a:endCxn id="18" idx="2"/>
          </p:cNvCxnSpPr>
          <p:nvPr/>
        </p:nvCxnSpPr>
        <p:spPr>
          <a:xfrm flipH="1" flipV="1">
            <a:off x="4400105" y="2349346"/>
            <a:ext cx="582840" cy="394233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Gerade Verbindung mit Pfeil 32"/>
          <p:cNvCxnSpPr>
            <a:stCxn id="26" idx="0"/>
            <a:endCxn id="18" idx="2"/>
          </p:cNvCxnSpPr>
          <p:nvPr/>
        </p:nvCxnSpPr>
        <p:spPr>
          <a:xfrm flipH="1" flipV="1">
            <a:off x="4400105" y="2349346"/>
            <a:ext cx="1452329" cy="394233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Gerade Verbindung mit Pfeil 33"/>
          <p:cNvCxnSpPr>
            <a:stCxn id="27" idx="0"/>
            <a:endCxn id="18" idx="2"/>
          </p:cNvCxnSpPr>
          <p:nvPr/>
        </p:nvCxnSpPr>
        <p:spPr>
          <a:xfrm flipH="1" flipV="1">
            <a:off x="4400105" y="2349346"/>
            <a:ext cx="2354403" cy="392426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393646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/>
            <a:r>
              <a:rPr lang="de-DE" sz="3600" b="1" dirty="0" err="1">
                <a:solidFill>
                  <a:schemeClr val="bg1">
                    <a:lumMod val="50000"/>
                  </a:schemeClr>
                </a:solidFill>
              </a:rPr>
              <a:t>Inductive</a:t>
            </a:r>
            <a:r>
              <a:rPr lang="de-DE" sz="3600" b="1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de-DE" sz="3600" b="1" dirty="0" err="1">
                <a:solidFill>
                  <a:schemeClr val="bg1">
                    <a:lumMod val="50000"/>
                  </a:schemeClr>
                </a:solidFill>
              </a:rPr>
              <a:t>Validity</a:t>
            </a:r>
            <a:r>
              <a:rPr lang="de-DE" sz="3600" b="1" dirty="0">
                <a:solidFill>
                  <a:schemeClr val="bg1">
                    <a:lumMod val="50000"/>
                  </a:schemeClr>
                </a:solidFill>
              </a:rPr>
              <a:t> Cores </a:t>
            </a:r>
            <a:r>
              <a:rPr lang="de-DE" sz="3600" b="1" dirty="0" err="1">
                <a:solidFill>
                  <a:schemeClr val="bg1">
                    <a:lumMod val="50000"/>
                  </a:schemeClr>
                </a:solidFill>
              </a:rPr>
              <a:t>with</a:t>
            </a:r>
            <a:r>
              <a:rPr lang="de-DE" sz="3600" b="1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de-DE" sz="3600" b="1" dirty="0" err="1">
                <a:solidFill>
                  <a:schemeClr val="bg1">
                    <a:lumMod val="50000"/>
                  </a:schemeClr>
                </a:solidFill>
              </a:rPr>
              <a:t>Faults</a:t>
            </a:r>
            <a:r>
              <a:rPr lang="de-DE" sz="3600" dirty="0"/>
              <a:t/>
            </a:r>
            <a:br>
              <a:rPr lang="de-DE" sz="3600" dirty="0"/>
            </a:br>
            <a:endParaRPr lang="de-DE" sz="3600" b="1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4" name="Textfeld 13"/>
          <p:cNvSpPr txBox="1"/>
          <p:nvPr/>
        </p:nvSpPr>
        <p:spPr>
          <a:xfrm>
            <a:off x="1975879" y="3848100"/>
            <a:ext cx="503984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 dirty="0"/>
              <a:t>All IVCs : All minimal </a:t>
            </a:r>
            <a:r>
              <a:rPr lang="de-DE" sz="2400" b="1" dirty="0" err="1"/>
              <a:t>sets</a:t>
            </a:r>
            <a:r>
              <a:rPr lang="de-DE" sz="2400" b="1" dirty="0"/>
              <a:t> </a:t>
            </a:r>
            <a:r>
              <a:rPr lang="de-DE" sz="2400" b="1" dirty="0" err="1"/>
              <a:t>of</a:t>
            </a:r>
            <a:r>
              <a:rPr lang="de-DE" sz="2400" b="1" dirty="0"/>
              <a:t> </a:t>
            </a:r>
            <a:r>
              <a:rPr lang="de-DE" sz="2400" b="1" dirty="0" err="1"/>
              <a:t>elements</a:t>
            </a:r>
            <a:r>
              <a:rPr lang="de-DE" sz="2400" b="1" dirty="0"/>
              <a:t> </a:t>
            </a:r>
          </a:p>
          <a:p>
            <a:r>
              <a:rPr lang="de-DE" sz="2400" b="1" dirty="0"/>
              <a:t>        </a:t>
            </a:r>
            <a:r>
              <a:rPr lang="de-DE" sz="2400" b="1" dirty="0" err="1"/>
              <a:t>needed</a:t>
            </a:r>
            <a:r>
              <a:rPr lang="de-DE" sz="2400" b="1" dirty="0"/>
              <a:t> </a:t>
            </a:r>
            <a:r>
              <a:rPr lang="de-DE" sz="2400" b="1" dirty="0" err="1"/>
              <a:t>to</a:t>
            </a:r>
            <a:r>
              <a:rPr lang="de-DE" sz="2400" b="1" dirty="0"/>
              <a:t> </a:t>
            </a:r>
            <a:r>
              <a:rPr lang="de-DE" sz="2400" b="1" dirty="0" err="1"/>
              <a:t>prove</a:t>
            </a:r>
            <a:r>
              <a:rPr lang="de-DE" sz="2400" b="1" dirty="0"/>
              <a:t> </a:t>
            </a:r>
            <a:r>
              <a:rPr lang="de-DE" sz="2400" b="1" dirty="0" err="1"/>
              <a:t>the</a:t>
            </a:r>
            <a:r>
              <a:rPr lang="de-DE" sz="2400" b="1" dirty="0"/>
              <a:t> </a:t>
            </a:r>
          </a:p>
          <a:p>
            <a:r>
              <a:rPr lang="de-DE" sz="2400" b="1" dirty="0"/>
              <a:t>        </a:t>
            </a:r>
            <a:r>
              <a:rPr lang="de-DE" sz="2400" b="1" dirty="0" err="1"/>
              <a:t>Safety</a:t>
            </a:r>
            <a:r>
              <a:rPr lang="de-DE" sz="2400" b="1" dirty="0"/>
              <a:t> </a:t>
            </a:r>
            <a:r>
              <a:rPr lang="de-DE" sz="2400" b="1" dirty="0" smtClean="0"/>
              <a:t>Property</a:t>
            </a:r>
            <a:endParaRPr lang="de-DE" sz="2400" b="1" dirty="0"/>
          </a:p>
        </p:txBody>
      </p:sp>
      <p:sp>
        <p:nvSpPr>
          <p:cNvPr id="18" name="Rechteck 17"/>
          <p:cNvSpPr/>
          <p:nvPr/>
        </p:nvSpPr>
        <p:spPr>
          <a:xfrm>
            <a:off x="3198948" y="1763558"/>
            <a:ext cx="2402314" cy="58578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 smtClean="0"/>
              <a:t>Safety</a:t>
            </a:r>
            <a:r>
              <a:rPr lang="de-DE" dirty="0" smtClean="0"/>
              <a:t> Property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Ellipse 19"/>
              <p:cNvSpPr/>
              <p:nvPr/>
            </p:nvSpPr>
            <p:spPr>
              <a:xfrm>
                <a:off x="1975879" y="2765298"/>
                <a:ext cx="647815" cy="585788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/>
                            </a:rPr>
                            <m:t>!</m:t>
                          </m:r>
                          <m:r>
                            <a:rPr lang="de-DE" b="0" i="1" smtClean="0">
                              <a:latin typeface="Cambria Math"/>
                            </a:rPr>
                            <m:t>𝑓</m:t>
                          </m:r>
                        </m:e>
                        <m:sub>
                          <m:r>
                            <a:rPr lang="de-DE" b="0" i="1" smtClean="0">
                              <a:latin typeface="Cambria Math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0" name="Ellipse 1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5879" y="2765298"/>
                <a:ext cx="647815" cy="585788"/>
              </a:xfrm>
              <a:prstGeom prst="ellipse">
                <a:avLst/>
              </a:prstGeom>
              <a:blipFill rotWithShape="1">
                <a:blip r:embed="rId2"/>
                <a:stretch>
                  <a:fillRect/>
                </a:stretch>
              </a:blipFill>
              <a:ln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Ellipse 20"/>
              <p:cNvSpPr/>
              <p:nvPr/>
            </p:nvSpPr>
            <p:spPr>
              <a:xfrm>
                <a:off x="2864342" y="2765298"/>
                <a:ext cx="647815" cy="585788"/>
              </a:xfrm>
              <a:prstGeom prst="ellipse">
                <a:avLst/>
              </a:prstGeom>
              <a:solidFill>
                <a:srgbClr val="00B050"/>
              </a:solidFill>
              <a:ln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/>
                            </a:rPr>
                            <m:t>!</m:t>
                          </m:r>
                          <m:r>
                            <a:rPr lang="de-DE" i="1">
                              <a:latin typeface="Cambria Math"/>
                            </a:rPr>
                            <m:t>𝑓</m:t>
                          </m:r>
                        </m:e>
                        <m:sub>
                          <m:r>
                            <a:rPr lang="de-DE" b="0" i="1" smtClean="0">
                              <a:latin typeface="Cambria Math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1" name="Ellipse 2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64342" y="2765298"/>
                <a:ext cx="647815" cy="585788"/>
              </a:xfrm>
              <a:prstGeom prst="ellipse">
                <a:avLst/>
              </a:prstGeom>
              <a:blipFill rotWithShape="1">
                <a:blip r:embed="rId3"/>
                <a:stretch>
                  <a:fillRect/>
                </a:stretch>
              </a:blipFill>
              <a:ln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Ellipse 22"/>
              <p:cNvSpPr/>
              <p:nvPr/>
            </p:nvSpPr>
            <p:spPr>
              <a:xfrm>
                <a:off x="3738275" y="2788824"/>
                <a:ext cx="647815" cy="585788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/>
                            </a:rPr>
                            <m:t>!</m:t>
                          </m:r>
                          <m:r>
                            <a:rPr lang="de-DE" i="1">
                              <a:latin typeface="Cambria Math"/>
                            </a:rPr>
                            <m:t>𝑓</m:t>
                          </m:r>
                        </m:e>
                        <m:sub>
                          <m:r>
                            <a:rPr lang="de-DE" b="0" i="1" smtClean="0">
                              <a:latin typeface="Cambria Math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3" name="Ellipse 2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8275" y="2788824"/>
                <a:ext cx="647815" cy="585788"/>
              </a:xfrm>
              <a:prstGeom prst="ellipse">
                <a:avLst/>
              </a:prstGeom>
              <a:blipFill rotWithShape="1">
                <a:blip r:embed="rId4"/>
                <a:stretch>
                  <a:fillRect/>
                </a:stretch>
              </a:blipFill>
              <a:ln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Ellipse 23"/>
              <p:cNvSpPr/>
              <p:nvPr/>
            </p:nvSpPr>
            <p:spPr>
              <a:xfrm>
                <a:off x="4659037" y="2743579"/>
                <a:ext cx="647815" cy="585788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/>
                            </a:rPr>
                            <m:t>𝑔</m:t>
                          </m:r>
                        </m:e>
                        <m:sub>
                          <m:r>
                            <a:rPr lang="de-DE" b="0" i="1" smtClean="0">
                              <a:latin typeface="Cambria Math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4" name="Ellipse 2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037" y="2743579"/>
                <a:ext cx="647815" cy="585788"/>
              </a:xfrm>
              <a:prstGeom prst="ellipse">
                <a:avLst/>
              </a:prstGeom>
              <a:blipFill rotWithShape="1">
                <a:blip r:embed="rId5"/>
                <a:stretch>
                  <a:fillRect/>
                </a:stretch>
              </a:blipFill>
              <a:ln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Ellipse 25"/>
              <p:cNvSpPr/>
              <p:nvPr/>
            </p:nvSpPr>
            <p:spPr>
              <a:xfrm>
                <a:off x="5528526" y="2743579"/>
                <a:ext cx="647815" cy="585788"/>
              </a:xfrm>
              <a:prstGeom prst="ellipse">
                <a:avLst/>
              </a:prstGeom>
              <a:solidFill>
                <a:srgbClr val="00B050"/>
              </a:solidFill>
              <a:ln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/>
                            </a:rPr>
                            <m:t>𝑔</m:t>
                          </m:r>
                        </m:e>
                        <m:sub>
                          <m:r>
                            <a:rPr lang="de-DE" b="0" i="1" smtClean="0">
                              <a:latin typeface="Cambria Math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6" name="Ellipse 2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28526" y="2743579"/>
                <a:ext cx="647815" cy="585788"/>
              </a:xfrm>
              <a:prstGeom prst="ellipse">
                <a:avLst/>
              </a:prstGeom>
              <a:blipFill rotWithShape="1">
                <a:blip r:embed="rId6"/>
                <a:stretch>
                  <a:fillRect/>
                </a:stretch>
              </a:blipFill>
              <a:ln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Ellipse 26"/>
              <p:cNvSpPr/>
              <p:nvPr/>
            </p:nvSpPr>
            <p:spPr>
              <a:xfrm>
                <a:off x="6430600" y="2741772"/>
                <a:ext cx="647815" cy="585788"/>
              </a:xfrm>
              <a:prstGeom prst="ellipse">
                <a:avLst/>
              </a:prstGeom>
              <a:solidFill>
                <a:srgbClr val="00B050"/>
              </a:solidFill>
              <a:ln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/>
                            </a:rPr>
                            <m:t>𝑔</m:t>
                          </m:r>
                        </m:e>
                        <m:sub>
                          <m:r>
                            <a:rPr lang="de-DE" b="0" i="1" smtClean="0">
                              <a:latin typeface="Cambria Math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7" name="Ellipse 2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0600" y="2741772"/>
                <a:ext cx="647815" cy="585788"/>
              </a:xfrm>
              <a:prstGeom prst="ellipse">
                <a:avLst/>
              </a:prstGeom>
              <a:blipFill rotWithShape="1">
                <a:blip r:embed="rId7"/>
                <a:stretch>
                  <a:fillRect/>
                </a:stretch>
              </a:blipFill>
              <a:ln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Gerade Verbindung mit Pfeil 28"/>
          <p:cNvCxnSpPr>
            <a:stCxn id="20" idx="0"/>
            <a:endCxn id="18" idx="2"/>
          </p:cNvCxnSpPr>
          <p:nvPr/>
        </p:nvCxnSpPr>
        <p:spPr>
          <a:xfrm flipV="1">
            <a:off x="2299787" y="2349346"/>
            <a:ext cx="2100318" cy="41595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/>
          <p:cNvCxnSpPr>
            <a:stCxn id="21" idx="0"/>
            <a:endCxn id="18" idx="2"/>
          </p:cNvCxnSpPr>
          <p:nvPr/>
        </p:nvCxnSpPr>
        <p:spPr>
          <a:xfrm flipV="1">
            <a:off x="3188250" y="2349346"/>
            <a:ext cx="1211855" cy="41595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 Verbindung mit Pfeil 30"/>
          <p:cNvCxnSpPr>
            <a:stCxn id="23" idx="0"/>
            <a:endCxn id="18" idx="2"/>
          </p:cNvCxnSpPr>
          <p:nvPr/>
        </p:nvCxnSpPr>
        <p:spPr>
          <a:xfrm flipV="1">
            <a:off x="4062183" y="2349346"/>
            <a:ext cx="337922" cy="439478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 Verbindung mit Pfeil 31"/>
          <p:cNvCxnSpPr>
            <a:stCxn id="24" idx="0"/>
            <a:endCxn id="18" idx="2"/>
          </p:cNvCxnSpPr>
          <p:nvPr/>
        </p:nvCxnSpPr>
        <p:spPr>
          <a:xfrm flipH="1" flipV="1">
            <a:off x="4400105" y="2349346"/>
            <a:ext cx="582840" cy="394233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Gerade Verbindung mit Pfeil 32"/>
          <p:cNvCxnSpPr>
            <a:stCxn id="26" idx="0"/>
            <a:endCxn id="18" idx="2"/>
          </p:cNvCxnSpPr>
          <p:nvPr/>
        </p:nvCxnSpPr>
        <p:spPr>
          <a:xfrm flipH="1" flipV="1">
            <a:off x="4400105" y="2349346"/>
            <a:ext cx="1452329" cy="394233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Gerade Verbindung mit Pfeil 33"/>
          <p:cNvCxnSpPr>
            <a:stCxn id="27" idx="0"/>
            <a:endCxn id="18" idx="2"/>
          </p:cNvCxnSpPr>
          <p:nvPr/>
        </p:nvCxnSpPr>
        <p:spPr>
          <a:xfrm flipH="1" flipV="1">
            <a:off x="4400105" y="2349346"/>
            <a:ext cx="2354403" cy="392426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feld 2"/>
              <p:cNvSpPr txBox="1"/>
              <p:nvPr/>
            </p:nvSpPr>
            <p:spPr>
              <a:xfrm>
                <a:off x="2570766" y="5233012"/>
                <a:ext cx="284712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de-DE" b="0" i="1" smtClean="0">
                        <a:latin typeface="Cambria Math"/>
                      </a:rPr>
                      <m:t>{{!</m:t>
                    </m:r>
                    <m:sSub>
                      <m:sSubPr>
                        <m:ctrlPr>
                          <a:rPr lang="de-DE" b="0" i="1" smtClean="0">
                            <a:latin typeface="Cambria Math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/>
                          </a:rPr>
                          <m:t>𝑓</m:t>
                        </m:r>
                      </m:e>
                      <m:sub>
                        <m:r>
                          <a:rPr lang="de-DE" b="0" i="1" smtClean="0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lang="de-DE" dirty="0" smtClean="0"/>
                  <a:t>, !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dirty="0" smtClean="0">
                            <a:latin typeface="Cambria Math"/>
                          </a:rPr>
                        </m:ctrlPr>
                      </m:sSubPr>
                      <m:e>
                        <m:r>
                          <a:rPr lang="de-DE" b="0" i="1" dirty="0" smtClean="0">
                            <a:latin typeface="Cambria Math"/>
                          </a:rPr>
                          <m:t>𝑓</m:t>
                        </m:r>
                      </m:e>
                      <m:sub>
                        <m:r>
                          <a:rPr lang="de-DE" b="0" i="1" dirty="0" smtClean="0">
                            <a:latin typeface="Cambria Math"/>
                          </a:rPr>
                          <m:t>3</m:t>
                        </m:r>
                      </m:sub>
                    </m:sSub>
                  </m:oMath>
                </a14:m>
                <a:r>
                  <a:rPr lang="de-DE" dirty="0" smtClean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dirty="0" smtClean="0">
                            <a:latin typeface="Cambria Math"/>
                          </a:rPr>
                        </m:ctrlPr>
                      </m:sSubPr>
                      <m:e>
                        <m:r>
                          <a:rPr lang="de-DE" b="0" i="1" dirty="0" smtClean="0">
                            <a:latin typeface="Cambria Math"/>
                          </a:rPr>
                          <m:t>𝑔</m:t>
                        </m:r>
                      </m:e>
                      <m:sub>
                        <m:r>
                          <a:rPr lang="de-DE" b="0" i="1" dirty="0" smtClean="0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de-DE" b="0" i="1" dirty="0" smtClean="0">
                        <a:latin typeface="Cambria Math"/>
                      </a:rPr>
                      <m:t>}</m:t>
                    </m:r>
                  </m:oMath>
                </a14:m>
                <a:r>
                  <a:rPr lang="de-DE" dirty="0" smtClean="0"/>
                  <a:t>, {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/>
                      </a:rPr>
                      <m:t>!</m:t>
                    </m:r>
                    <m:sSub>
                      <m:sSubPr>
                        <m:ctrlPr>
                          <a:rPr lang="de-DE" i="1">
                            <a:latin typeface="Cambria Math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/>
                          </a:rPr>
                          <m:t>𝑓</m:t>
                        </m:r>
                      </m:e>
                      <m:sub>
                        <m:r>
                          <a:rPr lang="de-DE" b="0" i="1" smtClean="0"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lang="de-DE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dirty="0">
                            <a:latin typeface="Cambria Math"/>
                          </a:rPr>
                        </m:ctrlPr>
                      </m:sSubPr>
                      <m:e>
                        <m:r>
                          <a:rPr lang="de-DE" b="0" i="1" dirty="0" smtClean="0">
                            <a:latin typeface="Cambria Math"/>
                          </a:rPr>
                          <m:t>𝑔</m:t>
                        </m:r>
                      </m:e>
                      <m:sub>
                        <m:r>
                          <a:rPr lang="de-DE" b="0" i="1" dirty="0" smtClean="0"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lang="de-DE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dirty="0">
                            <a:latin typeface="Cambria Math"/>
                          </a:rPr>
                        </m:ctrlPr>
                      </m:sSubPr>
                      <m:e>
                        <m:r>
                          <a:rPr lang="de-DE" i="1" dirty="0">
                            <a:latin typeface="Cambria Math"/>
                          </a:rPr>
                          <m:t>𝑔</m:t>
                        </m:r>
                      </m:e>
                      <m:sub>
                        <m:r>
                          <a:rPr lang="de-DE" b="0" i="1" dirty="0" smtClean="0">
                            <a:latin typeface="Cambria Math"/>
                          </a:rPr>
                          <m:t>3</m:t>
                        </m:r>
                      </m:sub>
                    </m:sSub>
                    <m:r>
                      <a:rPr lang="de-DE" i="1" dirty="0">
                        <a:latin typeface="Cambria Math"/>
                      </a:rPr>
                      <m:t>}</m:t>
                    </m:r>
                    <m:r>
                      <a:rPr lang="de-DE" b="0" i="0" dirty="0" smtClean="0">
                        <a:latin typeface="Cambria Math"/>
                      </a:rPr>
                      <m:t>}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Textfeld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70766" y="5233012"/>
                <a:ext cx="2847126" cy="369332"/>
              </a:xfrm>
              <a:prstGeom prst="rect">
                <a:avLst/>
              </a:prstGeom>
              <a:blipFill rotWithShape="1">
                <a:blip r:embed="rId8"/>
                <a:stretch>
                  <a:fillRect l="-857" t="-8197" b="-2459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159883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/>
          <p:cNvSpPr/>
          <p:nvPr/>
        </p:nvSpPr>
        <p:spPr>
          <a:xfrm>
            <a:off x="152400" y="961225"/>
            <a:ext cx="8749229" cy="5486400"/>
          </a:xfrm>
          <a:prstGeom prst="roundRect">
            <a:avLst>
              <a:gd name="adj" fmla="val 7122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1219199" y="1770247"/>
            <a:ext cx="3444701" cy="1907435"/>
          </a:xfrm>
          <a:prstGeom prst="roundRect">
            <a:avLst>
              <a:gd name="adj" fmla="val 7122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 smtClean="0">
                <a:solidFill>
                  <a:schemeClr val="tx1"/>
                </a:solidFill>
              </a:rPr>
              <a:t>Layer 2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1615794" y="2566826"/>
            <a:ext cx="3444702" cy="1907435"/>
          </a:xfrm>
          <a:prstGeom prst="roundRect">
            <a:avLst>
              <a:gd name="adj" fmla="val 7122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 smtClean="0">
                <a:solidFill>
                  <a:schemeClr val="tx1"/>
                </a:solidFill>
              </a:rPr>
              <a:t>Layer 3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2093859" y="3413452"/>
            <a:ext cx="3444702" cy="1907435"/>
          </a:xfrm>
          <a:prstGeom prst="roundRect">
            <a:avLst>
              <a:gd name="adj" fmla="val 7122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 smtClean="0">
                <a:solidFill>
                  <a:schemeClr val="tx1"/>
                </a:solidFill>
              </a:rPr>
              <a:t>Layer 4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2564084" y="4288155"/>
            <a:ext cx="3444702" cy="1907435"/>
          </a:xfrm>
          <a:prstGeom prst="roundRect">
            <a:avLst>
              <a:gd name="adj" fmla="val 7122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 smtClean="0">
                <a:solidFill>
                  <a:schemeClr val="tx1"/>
                </a:solidFill>
              </a:rPr>
              <a:t>Leaf Level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4" name="TextBox 1"/>
          <p:cNvSpPr txBox="1"/>
          <p:nvPr/>
        </p:nvSpPr>
        <p:spPr>
          <a:xfrm>
            <a:off x="1058901" y="1114680"/>
            <a:ext cx="3270447" cy="338554"/>
          </a:xfrm>
          <a:prstGeom prst="rect">
            <a:avLst/>
          </a:prstGeom>
          <a:solidFill>
            <a:srgbClr val="ABB41D"/>
          </a:solidFill>
          <a:ln>
            <a:solidFill>
              <a:srgbClr val="ABB41D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b="1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Top Level Safety </a:t>
            </a:r>
            <a:r>
              <a:rPr lang="en-US" sz="1600" b="1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Pröperty</a:t>
            </a:r>
            <a:endParaRPr lang="en-US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5" name="TextBox 40"/>
          <p:cNvSpPr txBox="1"/>
          <p:nvPr/>
        </p:nvSpPr>
        <p:spPr>
          <a:xfrm>
            <a:off x="3318086" y="4816818"/>
            <a:ext cx="2282997" cy="584775"/>
          </a:xfrm>
          <a:prstGeom prst="rect">
            <a:avLst/>
          </a:prstGeom>
          <a:solidFill>
            <a:srgbClr val="ABB41D"/>
          </a:solidFill>
          <a:ln>
            <a:solidFill>
              <a:srgbClr val="ABB41D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Leaf Level </a:t>
            </a:r>
          </a:p>
          <a:p>
            <a:r>
              <a:rPr lang="en-US" sz="1600" b="1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Contracts</a:t>
            </a:r>
            <a:endParaRPr lang="en-US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6" name="TextBox 41"/>
          <p:cNvSpPr txBox="1"/>
          <p:nvPr/>
        </p:nvSpPr>
        <p:spPr>
          <a:xfrm>
            <a:off x="3318087" y="5676829"/>
            <a:ext cx="2282997" cy="338554"/>
          </a:xfrm>
          <a:prstGeom prst="rect">
            <a:avLst/>
          </a:prstGeom>
          <a:solidFill>
            <a:srgbClr val="ABB41D"/>
          </a:solidFill>
          <a:ln>
            <a:solidFill>
              <a:srgbClr val="ABB41D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b="1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Leaf level faults</a:t>
            </a:r>
            <a:endParaRPr lang="en-US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1" name="Title 1"/>
          <p:cNvSpPr txBox="1">
            <a:spLocks/>
          </p:cNvSpPr>
          <p:nvPr/>
        </p:nvSpPr>
        <p:spPr>
          <a:xfrm>
            <a:off x="605928" y="288926"/>
            <a:ext cx="7772400" cy="579437"/>
          </a:xfrm>
          <a:prstGeom prst="rect">
            <a:avLst/>
          </a:prstGeom>
        </p:spPr>
        <p:txBody>
          <a:bodyPr/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400" b="1" dirty="0" smtClean="0">
                <a:solidFill>
                  <a:schemeClr val="bg1">
                    <a:lumMod val="50000"/>
                  </a:schemeClr>
                </a:solidFill>
              </a:rPr>
              <a:t>Compositionality</a:t>
            </a:r>
            <a:endParaRPr lang="en-US" sz="2400" b="1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00565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 animBg="1"/>
      <p:bldP spid="35" grpId="0" animBg="1"/>
      <p:bldP spid="36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/>
          <p:cNvSpPr/>
          <p:nvPr/>
        </p:nvSpPr>
        <p:spPr>
          <a:xfrm>
            <a:off x="152400" y="961225"/>
            <a:ext cx="8749229" cy="5486400"/>
          </a:xfrm>
          <a:prstGeom prst="roundRect">
            <a:avLst>
              <a:gd name="adj" fmla="val 7122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1219199" y="1770247"/>
            <a:ext cx="3444701" cy="1907435"/>
          </a:xfrm>
          <a:prstGeom prst="roundRect">
            <a:avLst>
              <a:gd name="adj" fmla="val 7122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 smtClean="0">
                <a:solidFill>
                  <a:schemeClr val="tx1"/>
                </a:solidFill>
              </a:rPr>
              <a:t>Layer 2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1615794" y="2566826"/>
            <a:ext cx="3444702" cy="1907435"/>
          </a:xfrm>
          <a:prstGeom prst="roundRect">
            <a:avLst>
              <a:gd name="adj" fmla="val 7122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 smtClean="0">
                <a:solidFill>
                  <a:schemeClr val="tx1"/>
                </a:solidFill>
              </a:rPr>
              <a:t>Layer 3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2093859" y="3413452"/>
            <a:ext cx="3444702" cy="1907435"/>
          </a:xfrm>
          <a:prstGeom prst="roundRect">
            <a:avLst>
              <a:gd name="adj" fmla="val 7122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 smtClean="0">
                <a:solidFill>
                  <a:schemeClr val="tx1"/>
                </a:solidFill>
              </a:rPr>
              <a:t>Layer 4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2564084" y="4288155"/>
            <a:ext cx="3444702" cy="1907435"/>
          </a:xfrm>
          <a:prstGeom prst="roundRect">
            <a:avLst>
              <a:gd name="adj" fmla="val 7122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 smtClean="0">
                <a:solidFill>
                  <a:schemeClr val="tx1"/>
                </a:solidFill>
              </a:rPr>
              <a:t>Leaf Level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4" name="TextBox 1"/>
          <p:cNvSpPr txBox="1"/>
          <p:nvPr/>
        </p:nvSpPr>
        <p:spPr>
          <a:xfrm>
            <a:off x="1058901" y="1114680"/>
            <a:ext cx="3270447" cy="338554"/>
          </a:xfrm>
          <a:prstGeom prst="rect">
            <a:avLst/>
          </a:prstGeom>
          <a:solidFill>
            <a:srgbClr val="ABB41D"/>
          </a:solidFill>
          <a:ln>
            <a:solidFill>
              <a:srgbClr val="ABB41D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b="1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Top Level Safety </a:t>
            </a:r>
            <a:r>
              <a:rPr lang="en-US" sz="1600" b="1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Pröperty</a:t>
            </a:r>
            <a:endParaRPr lang="en-US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5" name="TextBox 40"/>
          <p:cNvSpPr txBox="1"/>
          <p:nvPr/>
        </p:nvSpPr>
        <p:spPr>
          <a:xfrm>
            <a:off x="3318086" y="4816818"/>
            <a:ext cx="2282997" cy="584775"/>
          </a:xfrm>
          <a:prstGeom prst="rect">
            <a:avLst/>
          </a:prstGeom>
          <a:solidFill>
            <a:srgbClr val="ABB41D"/>
          </a:solidFill>
          <a:ln>
            <a:solidFill>
              <a:srgbClr val="ABB41D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Leaf Level </a:t>
            </a:r>
          </a:p>
          <a:p>
            <a:r>
              <a:rPr lang="en-US" sz="1600" b="1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Contracts</a:t>
            </a:r>
            <a:endParaRPr lang="en-US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6" name="TextBox 41"/>
          <p:cNvSpPr txBox="1"/>
          <p:nvPr/>
        </p:nvSpPr>
        <p:spPr>
          <a:xfrm>
            <a:off x="3318087" y="5676829"/>
            <a:ext cx="2282997" cy="338554"/>
          </a:xfrm>
          <a:prstGeom prst="rect">
            <a:avLst/>
          </a:prstGeom>
          <a:solidFill>
            <a:srgbClr val="ABB41D"/>
          </a:solidFill>
          <a:ln>
            <a:solidFill>
              <a:srgbClr val="ABB41D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b="1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Leaf level faults</a:t>
            </a:r>
            <a:endParaRPr lang="en-US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1" name="Title 1"/>
          <p:cNvSpPr txBox="1">
            <a:spLocks/>
          </p:cNvSpPr>
          <p:nvPr/>
        </p:nvSpPr>
        <p:spPr>
          <a:xfrm>
            <a:off x="605928" y="288926"/>
            <a:ext cx="7772400" cy="579437"/>
          </a:xfrm>
          <a:prstGeom prst="rect">
            <a:avLst/>
          </a:prstGeom>
        </p:spPr>
        <p:txBody>
          <a:bodyPr/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400" b="1" dirty="0" smtClean="0">
                <a:solidFill>
                  <a:schemeClr val="bg1">
                    <a:lumMod val="50000"/>
                  </a:schemeClr>
                </a:solidFill>
              </a:rPr>
              <a:t>Compositionality</a:t>
            </a:r>
            <a:endParaRPr lang="en-US" sz="2400" b="1" dirty="0">
              <a:solidFill>
                <a:schemeClr val="bg1">
                  <a:lumMod val="50000"/>
                </a:schemeClr>
              </a:solidFill>
            </a:endParaRPr>
          </a:p>
        </p:txBody>
      </p:sp>
      <p:cxnSp>
        <p:nvCxnSpPr>
          <p:cNvPr id="3" name="Gekrümmte Verbindung 2"/>
          <p:cNvCxnSpPr>
            <a:stCxn id="21" idx="3"/>
          </p:cNvCxnSpPr>
          <p:nvPr/>
        </p:nvCxnSpPr>
        <p:spPr>
          <a:xfrm flipH="1" flipV="1">
            <a:off x="5538562" y="3822854"/>
            <a:ext cx="470224" cy="1419019"/>
          </a:xfrm>
          <a:prstGeom prst="curvedConnector4">
            <a:avLst>
              <a:gd name="adj1" fmla="val -48615"/>
              <a:gd name="adj2" fmla="val 99909"/>
            </a:avLst>
          </a:prstGeom>
          <a:ln>
            <a:solidFill>
              <a:srgbClr val="FF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40"/>
          <p:cNvSpPr txBox="1"/>
          <p:nvPr/>
        </p:nvSpPr>
        <p:spPr>
          <a:xfrm>
            <a:off x="3026186" y="3647389"/>
            <a:ext cx="2282997" cy="584775"/>
          </a:xfrm>
          <a:prstGeom prst="rect">
            <a:avLst/>
          </a:prstGeom>
          <a:solidFill>
            <a:srgbClr val="ABB41D"/>
          </a:solidFill>
          <a:ln>
            <a:solidFill>
              <a:srgbClr val="ABB41D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Layer 4 </a:t>
            </a:r>
          </a:p>
          <a:p>
            <a:r>
              <a:rPr lang="en-US" sz="1600" b="1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Contracts</a:t>
            </a:r>
            <a:endParaRPr lang="en-US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4" name="Textfeld 23"/>
          <p:cNvSpPr txBox="1"/>
          <p:nvPr/>
        </p:nvSpPr>
        <p:spPr>
          <a:xfrm>
            <a:off x="6452095" y="3800821"/>
            <a:ext cx="188833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smtClean="0"/>
              <a:t>The </a:t>
            </a:r>
            <a:r>
              <a:rPr lang="de-DE" i="1" u="sng" dirty="0" err="1" smtClean="0"/>
              <a:t>inactive</a:t>
            </a:r>
            <a:r>
              <a:rPr lang="de-DE" dirty="0" smtClean="0"/>
              <a:t> </a:t>
            </a:r>
            <a:r>
              <a:rPr lang="de-DE" dirty="0" err="1" smtClean="0"/>
              <a:t>faults</a:t>
            </a:r>
            <a:endParaRPr lang="de-DE" dirty="0" smtClean="0"/>
          </a:p>
          <a:p>
            <a:r>
              <a:rPr lang="de-DE" dirty="0" err="1" smtClean="0"/>
              <a:t>from</a:t>
            </a:r>
            <a:r>
              <a:rPr lang="de-DE" dirty="0" smtClean="0"/>
              <a:t> </a:t>
            </a:r>
            <a:r>
              <a:rPr lang="de-DE" dirty="0" err="1" smtClean="0"/>
              <a:t>Leaf</a:t>
            </a:r>
            <a:r>
              <a:rPr lang="de-DE" dirty="0" smtClean="0"/>
              <a:t> Level</a:t>
            </a:r>
          </a:p>
          <a:p>
            <a:r>
              <a:rPr lang="de-DE" dirty="0" err="1" smtClean="0"/>
              <a:t>needed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prove</a:t>
            </a:r>
            <a:endParaRPr lang="de-DE" dirty="0" smtClean="0"/>
          </a:p>
          <a:p>
            <a:r>
              <a:rPr lang="de-DE" dirty="0" smtClean="0"/>
              <a:t>Layer 4 </a:t>
            </a:r>
          </a:p>
          <a:p>
            <a:r>
              <a:rPr lang="de-DE" dirty="0" err="1" smtClean="0"/>
              <a:t>contracts</a:t>
            </a:r>
            <a:r>
              <a:rPr lang="de-DE" dirty="0" smtClean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851541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 animBg="1"/>
      <p:bldP spid="35" grpId="0" animBg="1"/>
      <p:bldP spid="36" grpId="0" animBg="1"/>
      <p:bldP spid="26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/>
          <p:cNvSpPr/>
          <p:nvPr/>
        </p:nvSpPr>
        <p:spPr>
          <a:xfrm>
            <a:off x="152400" y="961225"/>
            <a:ext cx="8749229" cy="5486400"/>
          </a:xfrm>
          <a:prstGeom prst="roundRect">
            <a:avLst>
              <a:gd name="adj" fmla="val 7122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1219199" y="1770247"/>
            <a:ext cx="3444701" cy="1907435"/>
          </a:xfrm>
          <a:prstGeom prst="roundRect">
            <a:avLst>
              <a:gd name="adj" fmla="val 7122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 smtClean="0">
                <a:solidFill>
                  <a:schemeClr val="tx1"/>
                </a:solidFill>
              </a:rPr>
              <a:t>Layer 2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1615794" y="2566826"/>
            <a:ext cx="3444702" cy="1907435"/>
          </a:xfrm>
          <a:prstGeom prst="roundRect">
            <a:avLst>
              <a:gd name="adj" fmla="val 7122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 smtClean="0">
                <a:solidFill>
                  <a:schemeClr val="tx1"/>
                </a:solidFill>
              </a:rPr>
              <a:t>Layer 3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2093859" y="3413452"/>
            <a:ext cx="3444702" cy="1907435"/>
          </a:xfrm>
          <a:prstGeom prst="roundRect">
            <a:avLst>
              <a:gd name="adj" fmla="val 7122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 smtClean="0">
                <a:solidFill>
                  <a:schemeClr val="tx1"/>
                </a:solidFill>
              </a:rPr>
              <a:t>Layer 4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4" name="TextBox 1"/>
          <p:cNvSpPr txBox="1"/>
          <p:nvPr/>
        </p:nvSpPr>
        <p:spPr>
          <a:xfrm>
            <a:off x="1058901" y="1114680"/>
            <a:ext cx="3270447" cy="338554"/>
          </a:xfrm>
          <a:prstGeom prst="rect">
            <a:avLst/>
          </a:prstGeom>
          <a:solidFill>
            <a:srgbClr val="ABB41D"/>
          </a:solidFill>
          <a:ln>
            <a:solidFill>
              <a:srgbClr val="ABB41D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b="1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Top Level Safety </a:t>
            </a:r>
            <a:r>
              <a:rPr lang="en-US" sz="1600" b="1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Pröperty</a:t>
            </a:r>
            <a:endParaRPr lang="en-US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6" name="TextBox 41"/>
          <p:cNvSpPr txBox="1"/>
          <p:nvPr/>
        </p:nvSpPr>
        <p:spPr>
          <a:xfrm>
            <a:off x="3012611" y="4674294"/>
            <a:ext cx="1912703" cy="338554"/>
          </a:xfrm>
          <a:prstGeom prst="rect">
            <a:avLst/>
          </a:prstGeom>
          <a:solidFill>
            <a:srgbClr val="ABB41D"/>
          </a:solidFill>
          <a:ln>
            <a:solidFill>
              <a:srgbClr val="ABB41D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b="1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Layer 4 faults</a:t>
            </a:r>
            <a:endParaRPr lang="en-US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1" name="Title 1"/>
          <p:cNvSpPr txBox="1">
            <a:spLocks/>
          </p:cNvSpPr>
          <p:nvPr/>
        </p:nvSpPr>
        <p:spPr>
          <a:xfrm>
            <a:off x="605928" y="288926"/>
            <a:ext cx="7772400" cy="579437"/>
          </a:xfrm>
          <a:prstGeom prst="rect">
            <a:avLst/>
          </a:prstGeom>
        </p:spPr>
        <p:txBody>
          <a:bodyPr/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400" b="1" dirty="0" smtClean="0">
                <a:solidFill>
                  <a:schemeClr val="bg1">
                    <a:lumMod val="50000"/>
                  </a:schemeClr>
                </a:solidFill>
              </a:rPr>
              <a:t>Compositionality</a:t>
            </a:r>
            <a:endParaRPr lang="en-US" sz="2400" b="1" dirty="0">
              <a:solidFill>
                <a:schemeClr val="bg1">
                  <a:lumMod val="50000"/>
                </a:schemeClr>
              </a:solidFill>
            </a:endParaRPr>
          </a:p>
        </p:txBody>
      </p:sp>
      <p:cxnSp>
        <p:nvCxnSpPr>
          <p:cNvPr id="3" name="Gekrümmte Verbindung 2"/>
          <p:cNvCxnSpPr/>
          <p:nvPr/>
        </p:nvCxnSpPr>
        <p:spPr>
          <a:xfrm flipH="1" flipV="1">
            <a:off x="5074071" y="3055242"/>
            <a:ext cx="470224" cy="1419019"/>
          </a:xfrm>
          <a:prstGeom prst="curvedConnector4">
            <a:avLst>
              <a:gd name="adj1" fmla="val -48615"/>
              <a:gd name="adj2" fmla="val 99909"/>
            </a:avLst>
          </a:prstGeom>
          <a:ln>
            <a:solidFill>
              <a:srgbClr val="FF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40"/>
          <p:cNvSpPr txBox="1"/>
          <p:nvPr/>
        </p:nvSpPr>
        <p:spPr>
          <a:xfrm>
            <a:off x="3026186" y="3647389"/>
            <a:ext cx="2282997" cy="584775"/>
          </a:xfrm>
          <a:prstGeom prst="rect">
            <a:avLst/>
          </a:prstGeom>
          <a:solidFill>
            <a:srgbClr val="ABB41D"/>
          </a:solidFill>
          <a:ln>
            <a:solidFill>
              <a:srgbClr val="ABB41D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Layer 4 </a:t>
            </a:r>
          </a:p>
          <a:p>
            <a:r>
              <a:rPr lang="en-US" sz="1600" b="1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Contracts</a:t>
            </a:r>
            <a:endParaRPr lang="en-US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4" name="Textfeld 23"/>
          <p:cNvSpPr txBox="1"/>
          <p:nvPr/>
        </p:nvSpPr>
        <p:spPr>
          <a:xfrm>
            <a:off x="6099554" y="3026087"/>
            <a:ext cx="2015616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smtClean="0"/>
              <a:t>The </a:t>
            </a:r>
            <a:r>
              <a:rPr lang="de-DE" i="1" u="sng" dirty="0" err="1" smtClean="0"/>
              <a:t>inactive</a:t>
            </a:r>
            <a:r>
              <a:rPr lang="de-DE" dirty="0" smtClean="0"/>
              <a:t> </a:t>
            </a:r>
            <a:r>
              <a:rPr lang="de-DE" dirty="0" err="1" smtClean="0"/>
              <a:t>faults</a:t>
            </a:r>
            <a:endParaRPr lang="de-DE" dirty="0" smtClean="0"/>
          </a:p>
          <a:p>
            <a:r>
              <a:rPr lang="de-DE" dirty="0" err="1" smtClean="0"/>
              <a:t>and</a:t>
            </a:r>
            <a:r>
              <a:rPr lang="de-DE" dirty="0" smtClean="0"/>
              <a:t> </a:t>
            </a:r>
            <a:r>
              <a:rPr lang="de-DE" dirty="0" err="1" smtClean="0"/>
              <a:t>contracts</a:t>
            </a:r>
            <a:r>
              <a:rPr lang="de-DE" dirty="0" smtClean="0"/>
              <a:t> </a:t>
            </a:r>
            <a:r>
              <a:rPr lang="de-DE" dirty="0" err="1" smtClean="0"/>
              <a:t>from</a:t>
            </a:r>
            <a:r>
              <a:rPr lang="de-DE" dirty="0" smtClean="0"/>
              <a:t> </a:t>
            </a:r>
          </a:p>
          <a:p>
            <a:r>
              <a:rPr lang="de-DE" dirty="0" smtClean="0"/>
              <a:t>Layer 4 </a:t>
            </a:r>
            <a:r>
              <a:rPr lang="de-DE" dirty="0" err="1" smtClean="0"/>
              <a:t>needed</a:t>
            </a:r>
            <a:endParaRPr lang="de-DE" dirty="0" smtClean="0"/>
          </a:p>
          <a:p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prove</a:t>
            </a:r>
            <a:r>
              <a:rPr lang="de-DE" dirty="0" smtClean="0"/>
              <a:t> </a:t>
            </a:r>
            <a:r>
              <a:rPr lang="de-DE" dirty="0" err="1" smtClean="0"/>
              <a:t>contracts</a:t>
            </a:r>
            <a:endParaRPr lang="de-DE" dirty="0" smtClean="0"/>
          </a:p>
          <a:p>
            <a:r>
              <a:rPr lang="de-DE" dirty="0" err="1" smtClean="0"/>
              <a:t>of</a:t>
            </a:r>
            <a:r>
              <a:rPr lang="de-DE" dirty="0" smtClean="0"/>
              <a:t> Layer 3.</a:t>
            </a:r>
          </a:p>
        </p:txBody>
      </p:sp>
      <p:sp>
        <p:nvSpPr>
          <p:cNvPr id="14" name="TextBox 40"/>
          <p:cNvSpPr txBox="1"/>
          <p:nvPr/>
        </p:nvSpPr>
        <p:spPr>
          <a:xfrm>
            <a:off x="2517574" y="2762854"/>
            <a:ext cx="2282997" cy="584775"/>
          </a:xfrm>
          <a:prstGeom prst="rect">
            <a:avLst/>
          </a:prstGeom>
          <a:solidFill>
            <a:srgbClr val="ABB41D"/>
          </a:solidFill>
          <a:ln>
            <a:solidFill>
              <a:srgbClr val="ABB41D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Layer 3 </a:t>
            </a:r>
          </a:p>
          <a:p>
            <a:r>
              <a:rPr lang="en-US" sz="1600" b="1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Contracts</a:t>
            </a:r>
            <a:endParaRPr lang="en-US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76957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 animBg="1"/>
      <p:bldP spid="36" grpId="0" animBg="1"/>
      <p:bldP spid="26" grpId="0" animBg="1"/>
      <p:bldP spid="1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/>
          <p:cNvSpPr/>
          <p:nvPr/>
        </p:nvSpPr>
        <p:spPr>
          <a:xfrm>
            <a:off x="152400" y="961225"/>
            <a:ext cx="8749229" cy="5486400"/>
          </a:xfrm>
          <a:prstGeom prst="roundRect">
            <a:avLst>
              <a:gd name="adj" fmla="val 7122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1219199" y="1770247"/>
            <a:ext cx="3444701" cy="1907435"/>
          </a:xfrm>
          <a:prstGeom prst="roundRect">
            <a:avLst>
              <a:gd name="adj" fmla="val 7122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 smtClean="0">
                <a:solidFill>
                  <a:schemeClr val="tx1"/>
                </a:solidFill>
              </a:rPr>
              <a:t>Layer 2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1615794" y="2566826"/>
            <a:ext cx="3444702" cy="1907435"/>
          </a:xfrm>
          <a:prstGeom prst="roundRect">
            <a:avLst>
              <a:gd name="adj" fmla="val 7122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 smtClean="0">
                <a:solidFill>
                  <a:schemeClr val="tx1"/>
                </a:solidFill>
              </a:rPr>
              <a:t>Layer 3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4" name="TextBox 1"/>
          <p:cNvSpPr txBox="1"/>
          <p:nvPr/>
        </p:nvSpPr>
        <p:spPr>
          <a:xfrm>
            <a:off x="1058901" y="1114680"/>
            <a:ext cx="3270447" cy="338554"/>
          </a:xfrm>
          <a:prstGeom prst="rect">
            <a:avLst/>
          </a:prstGeom>
          <a:solidFill>
            <a:srgbClr val="ABB41D"/>
          </a:solidFill>
          <a:ln>
            <a:solidFill>
              <a:srgbClr val="ABB41D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b="1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Top Level Safety </a:t>
            </a:r>
            <a:r>
              <a:rPr lang="en-US" sz="1600" b="1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Pröperty</a:t>
            </a:r>
            <a:endParaRPr lang="en-US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6" name="TextBox 41"/>
          <p:cNvSpPr txBox="1"/>
          <p:nvPr/>
        </p:nvSpPr>
        <p:spPr>
          <a:xfrm>
            <a:off x="2517574" y="3764751"/>
            <a:ext cx="2282997" cy="338554"/>
          </a:xfrm>
          <a:prstGeom prst="rect">
            <a:avLst/>
          </a:prstGeom>
          <a:solidFill>
            <a:srgbClr val="ABB41D"/>
          </a:solidFill>
          <a:ln>
            <a:solidFill>
              <a:srgbClr val="ABB41D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Layer 3 faults</a:t>
            </a:r>
            <a:endParaRPr lang="en-US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1" name="Title 1"/>
          <p:cNvSpPr txBox="1">
            <a:spLocks/>
          </p:cNvSpPr>
          <p:nvPr/>
        </p:nvSpPr>
        <p:spPr>
          <a:xfrm>
            <a:off x="605928" y="288926"/>
            <a:ext cx="7772400" cy="579437"/>
          </a:xfrm>
          <a:prstGeom prst="rect">
            <a:avLst/>
          </a:prstGeom>
        </p:spPr>
        <p:txBody>
          <a:bodyPr/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400" b="1" dirty="0" smtClean="0">
                <a:solidFill>
                  <a:schemeClr val="bg1">
                    <a:lumMod val="50000"/>
                  </a:schemeClr>
                </a:solidFill>
              </a:rPr>
              <a:t>Compositionality</a:t>
            </a:r>
            <a:endParaRPr lang="en-US" sz="2400" b="1" dirty="0">
              <a:solidFill>
                <a:schemeClr val="bg1">
                  <a:lumMod val="50000"/>
                </a:schemeClr>
              </a:solidFill>
            </a:endParaRPr>
          </a:p>
        </p:txBody>
      </p:sp>
      <p:cxnSp>
        <p:nvCxnSpPr>
          <p:cNvPr id="3" name="Gekrümmte Verbindung 2"/>
          <p:cNvCxnSpPr>
            <a:stCxn id="11" idx="3"/>
          </p:cNvCxnSpPr>
          <p:nvPr/>
        </p:nvCxnSpPr>
        <p:spPr>
          <a:xfrm flipH="1" flipV="1">
            <a:off x="4663900" y="2014455"/>
            <a:ext cx="396596" cy="1506089"/>
          </a:xfrm>
          <a:prstGeom prst="curvedConnector4">
            <a:avLst>
              <a:gd name="adj1" fmla="val -57641"/>
              <a:gd name="adj2" fmla="val 99218"/>
            </a:avLst>
          </a:prstGeom>
          <a:ln>
            <a:solidFill>
              <a:srgbClr val="FF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40"/>
          <p:cNvSpPr txBox="1"/>
          <p:nvPr/>
        </p:nvSpPr>
        <p:spPr>
          <a:xfrm>
            <a:off x="2244017" y="1884690"/>
            <a:ext cx="2282997" cy="584775"/>
          </a:xfrm>
          <a:prstGeom prst="rect">
            <a:avLst/>
          </a:prstGeom>
          <a:solidFill>
            <a:srgbClr val="ABB41D"/>
          </a:solidFill>
          <a:ln>
            <a:solidFill>
              <a:srgbClr val="ABB41D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Layer 2 </a:t>
            </a:r>
          </a:p>
          <a:p>
            <a:r>
              <a:rPr lang="en-US" sz="1600" b="1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Contracts</a:t>
            </a:r>
            <a:endParaRPr lang="en-US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4" name="Textfeld 23"/>
          <p:cNvSpPr txBox="1"/>
          <p:nvPr/>
        </p:nvSpPr>
        <p:spPr>
          <a:xfrm>
            <a:off x="5526677" y="1884690"/>
            <a:ext cx="2015616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smtClean="0"/>
              <a:t>The </a:t>
            </a:r>
            <a:r>
              <a:rPr lang="de-DE" i="1" u="sng" dirty="0" err="1" smtClean="0"/>
              <a:t>inactive</a:t>
            </a:r>
            <a:r>
              <a:rPr lang="de-DE" dirty="0" smtClean="0"/>
              <a:t> </a:t>
            </a:r>
            <a:r>
              <a:rPr lang="de-DE" dirty="0" err="1" smtClean="0"/>
              <a:t>faults</a:t>
            </a:r>
            <a:endParaRPr lang="de-DE" dirty="0" smtClean="0"/>
          </a:p>
          <a:p>
            <a:r>
              <a:rPr lang="de-DE" dirty="0" err="1" smtClean="0"/>
              <a:t>and</a:t>
            </a:r>
            <a:r>
              <a:rPr lang="de-DE" dirty="0" smtClean="0"/>
              <a:t> </a:t>
            </a:r>
            <a:r>
              <a:rPr lang="de-DE" dirty="0" err="1" smtClean="0"/>
              <a:t>contracts</a:t>
            </a:r>
            <a:r>
              <a:rPr lang="de-DE" dirty="0" smtClean="0"/>
              <a:t> </a:t>
            </a:r>
            <a:r>
              <a:rPr lang="de-DE" dirty="0" err="1" smtClean="0"/>
              <a:t>from</a:t>
            </a:r>
            <a:r>
              <a:rPr lang="de-DE" dirty="0" smtClean="0"/>
              <a:t> </a:t>
            </a:r>
          </a:p>
          <a:p>
            <a:r>
              <a:rPr lang="de-DE" dirty="0" smtClean="0"/>
              <a:t>Layer 3 </a:t>
            </a:r>
            <a:r>
              <a:rPr lang="de-DE" dirty="0" err="1" smtClean="0"/>
              <a:t>needed</a:t>
            </a:r>
            <a:endParaRPr lang="de-DE" dirty="0" smtClean="0"/>
          </a:p>
          <a:p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prove</a:t>
            </a:r>
            <a:r>
              <a:rPr lang="de-DE" dirty="0" smtClean="0"/>
              <a:t> </a:t>
            </a:r>
            <a:r>
              <a:rPr lang="de-DE" dirty="0" err="1" smtClean="0"/>
              <a:t>contracts</a:t>
            </a:r>
            <a:endParaRPr lang="de-DE" dirty="0" smtClean="0"/>
          </a:p>
          <a:p>
            <a:r>
              <a:rPr lang="de-DE" dirty="0" err="1" smtClean="0"/>
              <a:t>of</a:t>
            </a:r>
            <a:r>
              <a:rPr lang="de-DE" dirty="0" smtClean="0"/>
              <a:t> Layer 2 .</a:t>
            </a:r>
          </a:p>
        </p:txBody>
      </p:sp>
      <p:sp>
        <p:nvSpPr>
          <p:cNvPr id="14" name="TextBox 40"/>
          <p:cNvSpPr txBox="1"/>
          <p:nvPr/>
        </p:nvSpPr>
        <p:spPr>
          <a:xfrm>
            <a:off x="2517574" y="2762854"/>
            <a:ext cx="2282997" cy="584775"/>
          </a:xfrm>
          <a:prstGeom prst="rect">
            <a:avLst/>
          </a:prstGeom>
          <a:solidFill>
            <a:srgbClr val="ABB41D"/>
          </a:solidFill>
          <a:ln>
            <a:solidFill>
              <a:srgbClr val="ABB41D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Layer 3 </a:t>
            </a:r>
          </a:p>
          <a:p>
            <a:r>
              <a:rPr lang="en-US" sz="1600" b="1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Contracts</a:t>
            </a:r>
            <a:endParaRPr lang="en-US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87519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 animBg="1"/>
      <p:bldP spid="36" grpId="0" animBg="1"/>
      <p:bldP spid="26" grpId="0" animBg="1"/>
      <p:bldP spid="1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889</Words>
  <Application>Microsoft Office PowerPoint</Application>
  <PresentationFormat>Bildschirmpräsentation (4:3)</PresentationFormat>
  <Paragraphs>281</Paragraphs>
  <Slides>37</Slides>
  <Notes>1</Notes>
  <HiddenSlides>0</HiddenSlides>
  <MMClips>0</MMClips>
  <ScaleCrop>false</ScaleCrop>
  <HeadingPairs>
    <vt:vector size="4" baseType="variant">
      <vt:variant>
        <vt:lpstr>Design</vt:lpstr>
      </vt:variant>
      <vt:variant>
        <vt:i4>1</vt:i4>
      </vt:variant>
      <vt:variant>
        <vt:lpstr>Folientitel</vt:lpstr>
      </vt:variant>
      <vt:variant>
        <vt:i4>37</vt:i4>
      </vt:variant>
    </vt:vector>
  </HeadingPairs>
  <TitlesOfParts>
    <vt:vector size="38" baseType="lpstr">
      <vt:lpstr>Office Theme</vt:lpstr>
      <vt:lpstr>Architectural Modeling and Analysis for Safety Engineering (AMASE)</vt:lpstr>
      <vt:lpstr>Year Two Overview</vt:lpstr>
      <vt:lpstr>Year Two Overview</vt:lpstr>
      <vt:lpstr>Year Two Overview</vt:lpstr>
      <vt:lpstr>Wheel Brake System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Safety Annex </vt:lpstr>
      <vt:lpstr>WBS : No inadvertent braking</vt:lpstr>
      <vt:lpstr>A Fault on the Pedal Sensor Component</vt:lpstr>
      <vt:lpstr>Behavioral Fault Propagation</vt:lpstr>
      <vt:lpstr>Active Sensor Fault</vt:lpstr>
      <vt:lpstr>Maximum Fault vs. Probabilistic </vt:lpstr>
      <vt:lpstr>Maximum Fault vs. Probabilistic </vt:lpstr>
      <vt:lpstr>Maximum Fault vs. Probabilistic </vt:lpstr>
      <vt:lpstr>Maximum Fault vs. Probabilistic 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Byzantine Faults Simulation:  Flight Control Computer  </vt:lpstr>
      <vt:lpstr>Cut Set Generation </vt:lpstr>
      <vt:lpstr>Inductive Validity Cores </vt:lpstr>
      <vt:lpstr>Inductive Validity Cores </vt:lpstr>
      <vt:lpstr>Inductive Validity Cores </vt:lpstr>
      <vt:lpstr>Inductive Validity Cores </vt:lpstr>
      <vt:lpstr>Inductive Validity Cores </vt:lpstr>
      <vt:lpstr>Inductive Validity Cores with Faults </vt:lpstr>
      <vt:lpstr>Inductive Validity Cores with Faults 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Architecture Modeling and Analysis for Safety Engineering</dc:title>
  <dc:creator>Danielle Stewart</dc:creator>
  <cp:lastModifiedBy>Danielle Kristen Stewart</cp:lastModifiedBy>
  <cp:revision>190</cp:revision>
  <dcterms:created xsi:type="dcterms:W3CDTF">2017-09-14T09:39:38Z</dcterms:created>
  <dcterms:modified xsi:type="dcterms:W3CDTF">2018-09-06T13:23:36Z</dcterms:modified>
</cp:coreProperties>
</file>