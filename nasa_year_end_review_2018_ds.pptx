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34" r:id="rId2"/>
    <p:sldId id="423" r:id="rId3"/>
    <p:sldId id="424" r:id="rId4"/>
    <p:sldId id="425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420" r:id="rId19"/>
    <p:sldId id="421" r:id="rId20"/>
    <p:sldId id="422" r:id="rId21"/>
    <p:sldId id="404" r:id="rId22"/>
    <p:sldId id="375" r:id="rId23"/>
    <p:sldId id="430" r:id="rId24"/>
    <p:sldId id="434" r:id="rId25"/>
    <p:sldId id="429" r:id="rId26"/>
    <p:sldId id="426" r:id="rId27"/>
    <p:sldId id="432" r:id="rId28"/>
    <p:sldId id="433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768" autoAdjust="0"/>
  </p:normalViewPr>
  <p:slideViewPr>
    <p:cSldViewPr snapToGrid="0" snapToObjects="1">
      <p:cViewPr>
        <p:scale>
          <a:sx n="86" d="100"/>
          <a:sy n="86" d="100"/>
        </p:scale>
        <p:origin x="-594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0651A-009A-2449-BC63-7A557E80C367}" type="datetimeFigureOut">
              <a:rPr lang="en-US" smtClean="0"/>
              <a:pPr/>
              <a:t>9/7/2018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8DC30-6F07-E44C-A860-65C7176AC23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725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3D448-A9D5-784B-AD7F-7D93197B9014}" type="datetimeFigureOut">
              <a:rPr lang="en-US" smtClean="0"/>
              <a:pPr/>
              <a:t>9/7/2018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F4145-9A54-8B4E-B462-B59B3AACC30B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056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60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0600" indent="-277153" defTabSz="91460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08615" indent="-221723" defTabSz="91460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52061" indent="-221723" defTabSz="91460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995507" indent="-221723" defTabSz="91460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38953" indent="-221723" defTabSz="91460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882399" indent="-221723" defTabSz="91460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25846" indent="-221723" defTabSz="91460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769291" indent="-221723" defTabSz="91460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951DB-2D6E-497D-83D0-D1AFA43BF5B7}" type="slidenum">
              <a:rPr lang="en-US"/>
              <a:pPr eaLnBrk="1" hangingPunct="1"/>
              <a:t>1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7412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1856"/>
            <a:ext cx="54870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76BD0-54EC-5A4F-9A86-96D8F8A44B06}" type="datetime1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4F935-B9BA-8A44-9CF0-3E62648D4F31}" type="datetime1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9D40-AF9B-8543-A31E-92833821DB04}" type="datetime1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4A950-8A82-894F-86EA-3DBB82416994}" type="datetime1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36FA-1F08-6E4A-A3E1-81759D2FA0BD}" type="datetime1">
              <a:rPr lang="en-US" smtClean="0"/>
              <a:t>9/7/2018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299D-D3C6-584C-AB03-4CAE0BF71587}" type="datetime1">
              <a:rPr lang="en-US" smtClean="0"/>
              <a:t>9/7/2018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9B315-8124-FB48-BFA4-A3087563EECF}" type="datetime1">
              <a:rPr lang="en-US" smtClean="0"/>
              <a:t>9/7/2018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80EF-44E1-B64F-B9AF-5F0B8532B64E}" type="datetime1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EAF0-7D55-F142-A2FB-C0F029B42E99}" type="datetime1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1E2CD-57C1-1748-A7EB-F9D196069DA9}" type="datetime1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FB99-0E25-9B49-B48E-BFA21B37F281}" type="datetime1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04695-789B-5147-975B-E0272964B50F}" type="datetime1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AMASE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127A-2DBF-924B-94E1-163D8C9D5B47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484312"/>
            <a:ext cx="7848600" cy="993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Architectural Modeling and Analysis for Safety Engineering (AMASE)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267200"/>
            <a:ext cx="3962400" cy="1066800"/>
          </a:xfrm>
        </p:spPr>
        <p:txBody>
          <a:bodyPr/>
          <a:lstStyle/>
          <a:p>
            <a:pPr algn="l"/>
            <a:r>
              <a:rPr lang="en-US" sz="1600" dirty="0" smtClean="0"/>
              <a:t>Year-end Review: Progress</a:t>
            </a:r>
          </a:p>
          <a:p>
            <a:pPr algn="l"/>
            <a:r>
              <a:rPr lang="en-US" sz="1600" dirty="0" smtClean="0"/>
              <a:t>Danielle Stewart</a:t>
            </a:r>
          </a:p>
          <a:p>
            <a:pPr algn="l"/>
            <a:r>
              <a:rPr lang="en-US" sz="1600" dirty="0"/>
              <a:t>4</a:t>
            </a:r>
            <a:r>
              <a:rPr lang="en-US" sz="1600" dirty="0" smtClean="0"/>
              <a:t> Oct 2018</a:t>
            </a:r>
            <a:endParaRPr lang="en-US" sz="16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762000" y="3203575"/>
            <a:ext cx="7620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1800" b="1" dirty="0"/>
              <a:t>Research Opportunities in Aeronautics </a:t>
            </a:r>
            <a:r>
              <a:rPr lang="en-US" sz="1800" b="1" dirty="0" smtClean="0"/>
              <a:t>(</a:t>
            </a:r>
            <a:r>
              <a:rPr lang="en-US" sz="1800" b="1" dirty="0"/>
              <a:t>NRA ROA-2015</a:t>
            </a:r>
            <a:r>
              <a:rPr lang="en-US" sz="1800" b="1" dirty="0" smtClean="0"/>
              <a:t>)</a:t>
            </a:r>
          </a:p>
          <a:p>
            <a:pPr marL="0" lvl="1" indent="0">
              <a:buNone/>
            </a:pPr>
            <a:r>
              <a:rPr lang="en-US" dirty="0"/>
              <a:t>Model-based safety analysis of highly complex safety critical systems</a:t>
            </a:r>
          </a:p>
          <a:p>
            <a:endParaRPr lang="en-US" sz="1800" b="1" dirty="0"/>
          </a:p>
        </p:txBody>
      </p:sp>
      <p:pic>
        <p:nvPicPr>
          <p:cNvPr id="5" name="Picture 4" descr="uofm_rockwell_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4921250"/>
            <a:ext cx="4660900" cy="12573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8914"/>
          </a:xfrm>
        </p:spPr>
        <p:txBody>
          <a:bodyPr>
            <a:normAutofit/>
          </a:bodyPr>
          <a:lstStyle/>
          <a:p>
            <a:pPr algn="l"/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Year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Two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Overview</a:t>
            </a: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465494" y="1595182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Byzantine</a:t>
            </a:r>
            <a:r>
              <a:rPr lang="de-DE" dirty="0" smtClean="0"/>
              <a:t> </a:t>
            </a:r>
            <a:r>
              <a:rPr lang="de-DE" dirty="0" err="1" smtClean="0"/>
              <a:t>Faults</a:t>
            </a: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Hardware </a:t>
            </a:r>
            <a:r>
              <a:rPr lang="de-DE" dirty="0" err="1" smtClean="0"/>
              <a:t>Faults</a:t>
            </a: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Probabilistic</a:t>
            </a:r>
            <a:r>
              <a:rPr lang="de-DE" dirty="0" smtClean="0"/>
              <a:t> </a:t>
            </a:r>
            <a:r>
              <a:rPr lang="de-DE" dirty="0" err="1" smtClean="0"/>
              <a:t>Threshold</a:t>
            </a:r>
            <a:r>
              <a:rPr lang="de-DE" dirty="0" smtClean="0"/>
              <a:t> Analysis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smtClean="0"/>
              <a:t>Fault </a:t>
            </a:r>
            <a:r>
              <a:rPr lang="de-DE" dirty="0" err="1" smtClean="0"/>
              <a:t>Tree</a:t>
            </a:r>
            <a:r>
              <a:rPr lang="de-DE" dirty="0" smtClean="0"/>
              <a:t> Generation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23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8914"/>
          </a:xfrm>
        </p:spPr>
        <p:txBody>
          <a:bodyPr>
            <a:normAutofit/>
          </a:bodyPr>
          <a:lstStyle/>
          <a:p>
            <a:pPr algn="l"/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Year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Two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Overview</a:t>
            </a: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5494" y="1595182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Byzantine</a:t>
            </a:r>
            <a:r>
              <a:rPr lang="de-DE" dirty="0" smtClean="0"/>
              <a:t> </a:t>
            </a:r>
            <a:r>
              <a:rPr lang="de-DE" dirty="0" err="1" smtClean="0"/>
              <a:t>Faults</a:t>
            </a: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Hardware </a:t>
            </a:r>
            <a:r>
              <a:rPr lang="de-DE" dirty="0" err="1" smtClean="0"/>
              <a:t>Faults</a:t>
            </a: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Probabilistic</a:t>
            </a:r>
            <a:r>
              <a:rPr lang="de-DE" dirty="0" smtClean="0"/>
              <a:t> </a:t>
            </a:r>
            <a:r>
              <a:rPr lang="de-DE" dirty="0" err="1" smtClean="0"/>
              <a:t>Threshold</a:t>
            </a:r>
            <a:r>
              <a:rPr lang="de-DE" dirty="0" smtClean="0"/>
              <a:t> Analysis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smtClean="0"/>
              <a:t>Fault </a:t>
            </a:r>
            <a:r>
              <a:rPr lang="de-DE" dirty="0" err="1" smtClean="0"/>
              <a:t>Tree</a:t>
            </a:r>
            <a:r>
              <a:rPr lang="de-DE" dirty="0" smtClean="0"/>
              <a:t> Generation</a:t>
            </a:r>
            <a:endParaRPr lang="de-DE" dirty="0"/>
          </a:p>
        </p:txBody>
      </p:sp>
      <p:sp>
        <p:nvSpPr>
          <p:cNvPr id="6" name="Geschweifte Klammer rechts 5"/>
          <p:cNvSpPr/>
          <p:nvPr/>
        </p:nvSpPr>
        <p:spPr>
          <a:xfrm>
            <a:off x="3977089" y="1650029"/>
            <a:ext cx="352540" cy="52114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9" name="Group 1"/>
          <p:cNvGrpSpPr/>
          <p:nvPr/>
        </p:nvGrpSpPr>
        <p:grpSpPr>
          <a:xfrm>
            <a:off x="5359708" y="1153975"/>
            <a:ext cx="3276637" cy="2265576"/>
            <a:chOff x="2145684" y="1306945"/>
            <a:chExt cx="4611948" cy="3188855"/>
          </a:xfrm>
        </p:grpSpPr>
        <p:grpSp>
          <p:nvGrpSpPr>
            <p:cNvPr id="10" name="Group 34"/>
            <p:cNvGrpSpPr/>
            <p:nvPr/>
          </p:nvGrpSpPr>
          <p:grpSpPr>
            <a:xfrm flipH="1">
              <a:off x="3200400" y="3152217"/>
              <a:ext cx="2590800" cy="855847"/>
              <a:chOff x="3333844" y="3295554"/>
              <a:chExt cx="2590800" cy="855847"/>
            </a:xfrm>
          </p:grpSpPr>
          <p:cxnSp>
            <p:nvCxnSpPr>
              <p:cNvPr id="33" name="Straight Arrow Connector 35"/>
              <p:cNvCxnSpPr/>
              <p:nvPr/>
            </p:nvCxnSpPr>
            <p:spPr>
              <a:xfrm flipH="1" flipV="1">
                <a:off x="3755871" y="3299408"/>
                <a:ext cx="2168773" cy="762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miter lim="800000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6"/>
              <p:cNvCxnSpPr/>
              <p:nvPr/>
            </p:nvCxnSpPr>
            <p:spPr>
              <a:xfrm flipH="1" flipV="1">
                <a:off x="3581400" y="3299408"/>
                <a:ext cx="1438324" cy="76200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miter lim="800000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7"/>
              <p:cNvCxnSpPr/>
              <p:nvPr/>
            </p:nvCxnSpPr>
            <p:spPr>
              <a:xfrm flipH="1" flipV="1">
                <a:off x="3457616" y="3299408"/>
                <a:ext cx="682370" cy="76200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miter lim="800000"/>
                <a:tailEnd type="none"/>
              </a:ln>
              <a:effectLst>
                <a:outerShdw blurRad="40000" dist="20000" dir="5400000" rotWithShape="0">
                  <a:srgbClr val="3366FF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8"/>
              <p:cNvCxnSpPr/>
              <p:nvPr/>
            </p:nvCxnSpPr>
            <p:spPr>
              <a:xfrm flipV="1">
                <a:off x="3333844" y="3295554"/>
                <a:ext cx="0" cy="85584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miter lim="800000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39"/>
            <p:cNvCxnSpPr/>
            <p:nvPr/>
          </p:nvCxnSpPr>
          <p:spPr>
            <a:xfrm flipH="1" flipV="1">
              <a:off x="3603471" y="3147008"/>
              <a:ext cx="2168773" cy="762000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40"/>
            <p:cNvCxnSpPr/>
            <p:nvPr/>
          </p:nvCxnSpPr>
          <p:spPr>
            <a:xfrm flipH="1" flipV="1">
              <a:off x="3429000" y="3147008"/>
              <a:ext cx="1438324" cy="762002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41"/>
            <p:cNvCxnSpPr/>
            <p:nvPr/>
          </p:nvCxnSpPr>
          <p:spPr>
            <a:xfrm flipH="1" flipV="1">
              <a:off x="3305216" y="3147008"/>
              <a:ext cx="682370" cy="762001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>
              <a:outerShdw blurRad="40000" dist="20000" dir="5400000" rotWithShape="0">
                <a:srgbClr val="3366FF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42"/>
            <p:cNvCxnSpPr/>
            <p:nvPr/>
          </p:nvCxnSpPr>
          <p:spPr>
            <a:xfrm flipV="1">
              <a:off x="3181444" y="3143154"/>
              <a:ext cx="0" cy="855847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43"/>
            <p:cNvSpPr/>
            <p:nvPr/>
          </p:nvSpPr>
          <p:spPr>
            <a:xfrm>
              <a:off x="3276600" y="1306945"/>
              <a:ext cx="1130916" cy="392263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FCC</a:t>
              </a:r>
              <a:endParaRPr lang="en-US" sz="700" dirty="0">
                <a:latin typeface="Arial"/>
                <a:cs typeface="Arial"/>
              </a:endParaRPr>
            </a:p>
          </p:txBody>
        </p:sp>
        <p:sp>
          <p:nvSpPr>
            <p:cNvPr id="16" name="Freeform 44"/>
            <p:cNvSpPr/>
            <p:nvPr/>
          </p:nvSpPr>
          <p:spPr>
            <a:xfrm>
              <a:off x="4495800" y="1306945"/>
              <a:ext cx="1130916" cy="392263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FCC</a:t>
              </a:r>
              <a:endParaRPr lang="en-US" sz="700" dirty="0">
                <a:latin typeface="Arial"/>
                <a:cs typeface="Arial"/>
              </a:endParaRPr>
            </a:p>
          </p:txBody>
        </p:sp>
        <p:sp>
          <p:nvSpPr>
            <p:cNvPr id="17" name="Freeform 45"/>
            <p:cNvSpPr/>
            <p:nvPr/>
          </p:nvSpPr>
          <p:spPr>
            <a:xfrm>
              <a:off x="2145684" y="1828800"/>
              <a:ext cx="1130916" cy="392263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FCC</a:t>
              </a:r>
              <a:endParaRPr lang="en-US" sz="700" dirty="0">
                <a:latin typeface="Arial"/>
                <a:cs typeface="Arial"/>
              </a:endParaRPr>
            </a:p>
          </p:txBody>
        </p:sp>
        <p:sp>
          <p:nvSpPr>
            <p:cNvPr id="18" name="Freeform 46"/>
            <p:cNvSpPr/>
            <p:nvPr/>
          </p:nvSpPr>
          <p:spPr>
            <a:xfrm>
              <a:off x="5626716" y="1837961"/>
              <a:ext cx="1130916" cy="392263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FCC</a:t>
              </a:r>
              <a:endParaRPr lang="en-US" sz="700" dirty="0">
                <a:latin typeface="Arial"/>
                <a:cs typeface="Arial"/>
              </a:endParaRPr>
            </a:p>
          </p:txBody>
        </p:sp>
        <p:sp>
          <p:nvSpPr>
            <p:cNvPr id="19" name="Freeform 47"/>
            <p:cNvSpPr/>
            <p:nvPr/>
          </p:nvSpPr>
          <p:spPr>
            <a:xfrm>
              <a:off x="2934678" y="3847300"/>
              <a:ext cx="597516" cy="648500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DaC</a:t>
              </a:r>
            </a:p>
          </p:txBody>
        </p:sp>
        <p:sp>
          <p:nvSpPr>
            <p:cNvPr id="20" name="Freeform 48"/>
            <p:cNvSpPr/>
            <p:nvPr/>
          </p:nvSpPr>
          <p:spPr>
            <a:xfrm>
              <a:off x="3745884" y="3845499"/>
              <a:ext cx="597516" cy="648500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DaC</a:t>
              </a:r>
            </a:p>
          </p:txBody>
        </p:sp>
        <p:sp>
          <p:nvSpPr>
            <p:cNvPr id="21" name="Freeform 49"/>
            <p:cNvSpPr/>
            <p:nvPr/>
          </p:nvSpPr>
          <p:spPr>
            <a:xfrm>
              <a:off x="4572000" y="3847300"/>
              <a:ext cx="597516" cy="648500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DaC</a:t>
              </a:r>
            </a:p>
          </p:txBody>
        </p:sp>
        <p:sp>
          <p:nvSpPr>
            <p:cNvPr id="22" name="Freeform 50"/>
            <p:cNvSpPr/>
            <p:nvPr/>
          </p:nvSpPr>
          <p:spPr>
            <a:xfrm>
              <a:off x="5410200" y="3845499"/>
              <a:ext cx="597516" cy="648500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DaC</a:t>
              </a:r>
            </a:p>
          </p:txBody>
        </p:sp>
        <p:cxnSp>
          <p:nvCxnSpPr>
            <p:cNvPr id="23" name="Straight Arrow Connector 51"/>
            <p:cNvCxnSpPr/>
            <p:nvPr/>
          </p:nvCxnSpPr>
          <p:spPr>
            <a:xfrm>
              <a:off x="3276600" y="1981200"/>
              <a:ext cx="1784658" cy="762000"/>
            </a:xfrm>
            <a:prstGeom prst="straightConnector1">
              <a:avLst/>
            </a:prstGeom>
            <a:ln>
              <a:solidFill>
                <a:srgbClr val="FF0000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52"/>
            <p:cNvCxnSpPr/>
            <p:nvPr/>
          </p:nvCxnSpPr>
          <p:spPr>
            <a:xfrm>
              <a:off x="3603471" y="1699208"/>
              <a:ext cx="1578129" cy="887917"/>
            </a:xfrm>
            <a:prstGeom prst="straightConnector1">
              <a:avLst/>
            </a:prstGeom>
            <a:ln>
              <a:solidFill>
                <a:srgbClr val="FF0000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53"/>
            <p:cNvCxnSpPr/>
            <p:nvPr/>
          </p:nvCxnSpPr>
          <p:spPr>
            <a:xfrm>
              <a:off x="5257800" y="1699208"/>
              <a:ext cx="152400" cy="887917"/>
            </a:xfrm>
            <a:prstGeom prst="straightConnector1">
              <a:avLst/>
            </a:prstGeom>
            <a:ln>
              <a:solidFill>
                <a:srgbClr val="FF0000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54"/>
            <p:cNvCxnSpPr/>
            <p:nvPr/>
          </p:nvCxnSpPr>
          <p:spPr>
            <a:xfrm flipH="1">
              <a:off x="5626716" y="2221063"/>
              <a:ext cx="240684" cy="366062"/>
            </a:xfrm>
            <a:prstGeom prst="straightConnector1">
              <a:avLst/>
            </a:prstGeom>
            <a:ln>
              <a:solidFill>
                <a:srgbClr val="FF0000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55"/>
            <p:cNvCxnSpPr/>
            <p:nvPr/>
          </p:nvCxnSpPr>
          <p:spPr>
            <a:xfrm flipH="1">
              <a:off x="3835186" y="1977346"/>
              <a:ext cx="1784658" cy="762000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56"/>
            <p:cNvCxnSpPr/>
            <p:nvPr/>
          </p:nvCxnSpPr>
          <p:spPr>
            <a:xfrm flipH="1">
              <a:off x="3714844" y="1695354"/>
              <a:ext cx="1578129" cy="887917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57"/>
            <p:cNvCxnSpPr/>
            <p:nvPr/>
          </p:nvCxnSpPr>
          <p:spPr>
            <a:xfrm flipH="1">
              <a:off x="3486244" y="1695354"/>
              <a:ext cx="152400" cy="887917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>
              <a:outerShdw blurRad="40000" dist="20000" dir="5400000" rotWithShape="0">
                <a:srgbClr val="3366FF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58"/>
            <p:cNvCxnSpPr/>
            <p:nvPr/>
          </p:nvCxnSpPr>
          <p:spPr>
            <a:xfrm>
              <a:off x="3029044" y="2217209"/>
              <a:ext cx="240684" cy="366062"/>
            </a:xfrm>
            <a:prstGeom prst="straightConnector1">
              <a:avLst/>
            </a:prstGeom>
            <a:ln>
              <a:solidFill>
                <a:srgbClr val="0000FF"/>
              </a:solidFill>
              <a:miter lim="800000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59"/>
            <p:cNvSpPr/>
            <p:nvPr/>
          </p:nvSpPr>
          <p:spPr>
            <a:xfrm>
              <a:off x="5061258" y="2438400"/>
              <a:ext cx="1130916" cy="800900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AFDX </a:t>
              </a:r>
              <a:r>
                <a:rPr lang="en-US" sz="1000" dirty="0" smtClean="0">
                  <a:latin typeface="Arial"/>
                  <a:cs typeface="Arial"/>
                </a:rPr>
                <a:t>or</a:t>
              </a:r>
            </a:p>
            <a:p>
              <a:pPr algn="ctr">
                <a:defRPr/>
              </a:pPr>
              <a:r>
                <a:rPr lang="en-US" sz="1000" b="1" dirty="0" smtClean="0">
                  <a:latin typeface="Arial"/>
                  <a:cs typeface="Arial"/>
                </a:rPr>
                <a:t>TTE</a:t>
              </a:r>
            </a:p>
            <a:p>
              <a:pPr algn="ctr">
                <a:defRPr/>
              </a:pPr>
              <a:r>
                <a:rPr lang="en-US" sz="1000" b="1" dirty="0" smtClean="0">
                  <a:latin typeface="Arial"/>
                  <a:cs typeface="Arial"/>
                </a:rPr>
                <a:t>Switch</a:t>
              </a:r>
              <a:endParaRPr lang="en-US" sz="1100" b="1" dirty="0" smtClean="0">
                <a:latin typeface="Arial"/>
                <a:cs typeface="Arial"/>
              </a:endParaRPr>
            </a:p>
          </p:txBody>
        </p:sp>
        <p:sp>
          <p:nvSpPr>
            <p:cNvPr id="32" name="Freeform 60"/>
            <p:cNvSpPr/>
            <p:nvPr/>
          </p:nvSpPr>
          <p:spPr>
            <a:xfrm>
              <a:off x="2755284" y="2438400"/>
              <a:ext cx="1130916" cy="800900"/>
            </a:xfrm>
            <a:custGeom>
              <a:avLst/>
              <a:gdLst>
                <a:gd name="connsiteX0" fmla="*/ 0 w 839799"/>
                <a:gd name="connsiteY0" fmla="*/ 647038 h 647038"/>
                <a:gd name="connsiteX1" fmla="*/ 839799 w 839799"/>
                <a:gd name="connsiteY1" fmla="*/ 647038 h 647038"/>
                <a:gd name="connsiteX2" fmla="*/ 839799 w 839799"/>
                <a:gd name="connsiteY2" fmla="*/ 0 h 647038"/>
                <a:gd name="connsiteX3" fmla="*/ 0 w 839799"/>
                <a:gd name="connsiteY3" fmla="*/ 0 h 647038"/>
                <a:gd name="connsiteX4" fmla="*/ 0 w 839799"/>
                <a:gd name="connsiteY4" fmla="*/ 647038 h 64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799" h="647038">
                  <a:moveTo>
                    <a:pt x="0" y="647038"/>
                  </a:moveTo>
                  <a:lnTo>
                    <a:pt x="839799" y="647038"/>
                  </a:lnTo>
                  <a:lnTo>
                    <a:pt x="839799" y="0"/>
                  </a:lnTo>
                  <a:lnTo>
                    <a:pt x="0" y="0"/>
                  </a:lnTo>
                  <a:lnTo>
                    <a:pt x="0" y="6470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100" b="1" dirty="0" smtClean="0">
                  <a:latin typeface="Arial"/>
                  <a:cs typeface="Arial"/>
                </a:rPr>
                <a:t>AFDX </a:t>
              </a:r>
              <a:r>
                <a:rPr lang="en-US" sz="1000" dirty="0" smtClean="0">
                  <a:latin typeface="Arial"/>
                  <a:cs typeface="Arial"/>
                </a:rPr>
                <a:t>or</a:t>
              </a:r>
            </a:p>
            <a:p>
              <a:pPr algn="ctr">
                <a:defRPr/>
              </a:pPr>
              <a:r>
                <a:rPr lang="en-US" sz="1000" b="1" dirty="0" smtClean="0">
                  <a:latin typeface="Arial"/>
                  <a:cs typeface="Arial"/>
                </a:rPr>
                <a:t>TTE</a:t>
              </a:r>
            </a:p>
            <a:p>
              <a:pPr algn="ctr">
                <a:defRPr/>
              </a:pPr>
              <a:r>
                <a:rPr lang="en-US" sz="1000" b="1" dirty="0" smtClean="0">
                  <a:latin typeface="Arial"/>
                  <a:cs typeface="Arial"/>
                </a:rPr>
                <a:t>Switch</a:t>
              </a:r>
              <a:endParaRPr lang="en-US" sz="1100" b="1" dirty="0" smtClean="0">
                <a:latin typeface="Arial"/>
                <a:cs typeface="Arial"/>
              </a:endParaRPr>
            </a:p>
          </p:txBody>
        </p:sp>
      </p:grpSp>
      <p:sp>
        <p:nvSpPr>
          <p:cNvPr id="37" name="Rectangle 2"/>
          <p:cNvSpPr/>
          <p:nvPr/>
        </p:nvSpPr>
        <p:spPr>
          <a:xfrm>
            <a:off x="5076053" y="501265"/>
            <a:ext cx="3657600" cy="533400"/>
          </a:xfrm>
          <a:prstGeom prst="rect">
            <a:avLst/>
          </a:prstGeom>
          <a:solidFill>
            <a:srgbClr val="869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/>
              <a:t>Example system: Quad-redundant flight control system provided by NASA</a:t>
            </a:r>
            <a:endParaRPr lang="en-US" sz="1200" b="1" dirty="0"/>
          </a:p>
        </p:txBody>
      </p:sp>
      <p:sp>
        <p:nvSpPr>
          <p:cNvPr id="38" name="Circular Arrow 9216"/>
          <p:cNvSpPr/>
          <p:nvPr/>
        </p:nvSpPr>
        <p:spPr>
          <a:xfrm rot="15419931" flipH="1">
            <a:off x="5428997" y="436174"/>
            <a:ext cx="1116616" cy="1116616"/>
          </a:xfrm>
          <a:prstGeom prst="circularArrow">
            <a:avLst>
              <a:gd name="adj1" fmla="val 10171"/>
              <a:gd name="adj2" fmla="val 1142319"/>
              <a:gd name="adj3" fmla="val 18623744"/>
              <a:gd name="adj4" fmla="val 15645266"/>
              <a:gd name="adj5" fmla="val 13600"/>
            </a:avLst>
          </a:prstGeom>
          <a:solidFill>
            <a:srgbClr val="869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0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8914"/>
          </a:xfrm>
        </p:spPr>
        <p:txBody>
          <a:bodyPr>
            <a:normAutofit/>
          </a:bodyPr>
          <a:lstStyle/>
          <a:p>
            <a:pPr algn="l"/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Year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Two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Overview</a:t>
            </a: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5494" y="1595182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Byzantine</a:t>
            </a:r>
            <a:r>
              <a:rPr lang="de-DE" dirty="0" smtClean="0"/>
              <a:t> </a:t>
            </a:r>
            <a:r>
              <a:rPr lang="de-DE" dirty="0" err="1" smtClean="0"/>
              <a:t>Faults</a:t>
            </a: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Hardware </a:t>
            </a:r>
            <a:r>
              <a:rPr lang="de-DE" dirty="0" err="1" smtClean="0"/>
              <a:t>Faults</a:t>
            </a:r>
            <a:endParaRPr lang="de-DE" dirty="0" smtClean="0"/>
          </a:p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Probabilistic</a:t>
            </a:r>
            <a:r>
              <a:rPr lang="de-DE" dirty="0" smtClean="0"/>
              <a:t> </a:t>
            </a:r>
            <a:r>
              <a:rPr lang="de-DE" dirty="0" err="1" smtClean="0"/>
              <a:t>Threshold</a:t>
            </a:r>
            <a:r>
              <a:rPr lang="de-DE" dirty="0" smtClean="0"/>
              <a:t> Analysis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smtClean="0"/>
              <a:t>Fault </a:t>
            </a:r>
            <a:r>
              <a:rPr lang="de-DE" dirty="0" err="1" smtClean="0"/>
              <a:t>Tree</a:t>
            </a:r>
            <a:r>
              <a:rPr lang="de-DE" dirty="0" smtClean="0"/>
              <a:t> Generation</a:t>
            </a:r>
            <a:endParaRPr lang="de-DE" dirty="0"/>
          </a:p>
        </p:txBody>
      </p:sp>
      <p:sp>
        <p:nvSpPr>
          <p:cNvPr id="39" name="Geschweifte Klammer rechts 38"/>
          <p:cNvSpPr/>
          <p:nvPr/>
        </p:nvSpPr>
        <p:spPr>
          <a:xfrm>
            <a:off x="6376930" y="4032173"/>
            <a:ext cx="352540" cy="166354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0" name="Content Placeholder 3" descr="wbs_sae.ppm"/>
          <p:cNvPicPr>
            <a:picLocks noChangeAspect="1"/>
          </p:cNvPicPr>
          <p:nvPr/>
        </p:nvPicPr>
        <p:blipFill>
          <a:blip r:embed="rId2"/>
          <a:srcRect l="-25397" r="-25397"/>
          <a:stretch>
            <a:fillRect/>
          </a:stretch>
        </p:blipFill>
        <p:spPr>
          <a:xfrm>
            <a:off x="4277143" y="472990"/>
            <a:ext cx="5154244" cy="2887154"/>
          </a:xfrm>
          <a:prstGeom prst="rect">
            <a:avLst/>
          </a:prstGeom>
        </p:spPr>
      </p:pic>
      <p:sp>
        <p:nvSpPr>
          <p:cNvPr id="41" name="Rectangle 2"/>
          <p:cNvSpPr/>
          <p:nvPr/>
        </p:nvSpPr>
        <p:spPr>
          <a:xfrm>
            <a:off x="5181600" y="3344996"/>
            <a:ext cx="3657600" cy="533400"/>
          </a:xfrm>
          <a:prstGeom prst="rect">
            <a:avLst/>
          </a:prstGeom>
          <a:solidFill>
            <a:srgbClr val="869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/>
              <a:t>Example system: Wheel Brake System from AIR6110</a:t>
            </a:r>
            <a:endParaRPr lang="en-US" sz="1200" b="1" dirty="0"/>
          </a:p>
        </p:txBody>
      </p:sp>
      <p:sp>
        <p:nvSpPr>
          <p:cNvPr id="42" name="Circular Arrow 9216"/>
          <p:cNvSpPr/>
          <p:nvPr/>
        </p:nvSpPr>
        <p:spPr>
          <a:xfrm rot="5089515" flipH="1">
            <a:off x="7740607" y="2878493"/>
            <a:ext cx="1116616" cy="1116616"/>
          </a:xfrm>
          <a:prstGeom prst="circularArrow">
            <a:avLst>
              <a:gd name="adj1" fmla="val 10171"/>
              <a:gd name="adj2" fmla="val 1142319"/>
              <a:gd name="adj3" fmla="val 18623744"/>
              <a:gd name="adj4" fmla="val 15645266"/>
              <a:gd name="adj5" fmla="val 13600"/>
            </a:avLst>
          </a:prstGeom>
          <a:solidFill>
            <a:srgbClr val="869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66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86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Wheel Brake System</a:t>
            </a:r>
            <a:endParaRPr lang="en-US" dirty="0"/>
          </a:p>
        </p:txBody>
      </p:sp>
      <p:pic>
        <p:nvPicPr>
          <p:cNvPr id="4" name="Content Placeholder 3" descr="wbs_sae.ppm"/>
          <p:cNvPicPr>
            <a:picLocks noGrp="1" noChangeAspect="1"/>
          </p:cNvPicPr>
          <p:nvPr>
            <p:ph idx="1"/>
          </p:nvPr>
        </p:nvPicPr>
        <p:blipFill>
          <a:blip r:embed="rId2"/>
          <a:srcRect l="-25397" r="-25397"/>
          <a:stretch>
            <a:fillRect/>
          </a:stretch>
        </p:blipFill>
        <p:spPr>
          <a:xfrm>
            <a:off x="1" y="1127344"/>
            <a:ext cx="9317322" cy="5219106"/>
          </a:xfrm>
        </p:spPr>
      </p:pic>
    </p:spTree>
    <p:extLst>
      <p:ext uri="{BB962C8B-B14F-4D97-AF65-F5344CB8AC3E}">
        <p14:creationId xmlns:p14="http://schemas.microsoft.com/office/powerpoint/2010/main" val="245745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C:\Users\stew_da\Downloads\Unbenannt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35154" y="-1437700"/>
            <a:ext cx="5816909" cy="9000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8966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29798" y="616744"/>
            <a:ext cx="7772400" cy="5032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WBS Architecture Details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9156" name="Picture 4" descr="C:\Users\stew_da\Desktop\Universität\arch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37" y="2324022"/>
            <a:ext cx="8272122" cy="184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7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29798" y="616744"/>
            <a:ext cx="7772400" cy="5032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WBS AGREE Contract Details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2226" name="Picture 2" descr="C:\Users\stew_da\Desktop\Universität\agre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37" y="2420709"/>
            <a:ext cx="8022261" cy="110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395" name="Picture 3" descr="C:\Users\stew_da\Desktop\Universität\Images for NASA Presentation\agree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37" y="4730750"/>
            <a:ext cx="8104287" cy="77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519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349500"/>
            <a:ext cx="8229600" cy="3776663"/>
          </a:xfrm>
        </p:spPr>
        <p:txBody>
          <a:bodyPr/>
          <a:lstStyle/>
          <a:p>
            <a:r>
              <a:rPr lang="en-US" dirty="0" smtClean="0"/>
              <a:t>Wrap nominal component in fault</a:t>
            </a:r>
          </a:p>
          <a:p>
            <a:r>
              <a:rPr lang="en-US" dirty="0" smtClean="0"/>
              <a:t>Watch behavior of system through AGREE contracts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3"/>
          <p:cNvSpPr txBox="1">
            <a:spLocks/>
          </p:cNvSpPr>
          <p:nvPr/>
        </p:nvSpPr>
        <p:spPr>
          <a:xfrm>
            <a:off x="629798" y="352540"/>
            <a:ext cx="8359966" cy="767441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Example of Behavioral Fault Propagation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58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316" y="21192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734875" y="214168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895600" y="1752600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A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371525" y="176068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B</a:t>
            </a:r>
            <a:endParaRPr lang="en-US" dirty="0"/>
          </a:p>
        </p:txBody>
      </p:sp>
      <p:cxnSp>
        <p:nvCxnSpPr>
          <p:cNvPr id="8" name="Straight Arrow Connector 7"/>
          <p:cNvCxnSpPr>
            <a:stCxn id="2" idx="3"/>
          </p:cNvCxnSpPr>
          <p:nvPr/>
        </p:nvCxnSpPr>
        <p:spPr>
          <a:xfrm>
            <a:off x="4149716" y="2576499"/>
            <a:ext cx="2590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49715" y="224084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57848" y="224084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240207" y="442768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739766" y="445007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00491" y="4060989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405691" y="406907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B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2" idx="3"/>
          </p:cNvCxnSpPr>
          <p:nvPr/>
        </p:nvCxnSpPr>
        <p:spPr>
          <a:xfrm>
            <a:off x="4154607" y="4884888"/>
            <a:ext cx="2590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54606" y="454923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62739" y="454923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72735" y="2425511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Nominal Behavior: 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85229" y="4733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Fault Behavior: 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5034192" y="4461366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Fault</a:t>
            </a:r>
            <a:endParaRPr lang="en-US" sz="1400" dirty="0"/>
          </a:p>
        </p:txBody>
      </p:sp>
      <p:sp>
        <p:nvSpPr>
          <p:cNvPr id="20" name="Title 3"/>
          <p:cNvSpPr txBox="1">
            <a:spLocks/>
          </p:cNvSpPr>
          <p:nvPr/>
        </p:nvSpPr>
        <p:spPr>
          <a:xfrm>
            <a:off x="629798" y="352540"/>
            <a:ext cx="8359966" cy="767441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Example of Behavioral Fault Propagation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74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Safety Annex</a:t>
            </a:r>
            <a:r>
              <a:rPr lang="en-US" sz="3600" b="1" dirty="0" smtClean="0"/>
              <a:t>	</a:t>
            </a:r>
            <a:endParaRPr lang="en-US" sz="3600" b="1" dirty="0"/>
          </a:p>
        </p:txBody>
      </p:sp>
      <p:sp>
        <p:nvSpPr>
          <p:cNvPr id="7" name="Rectangle 5"/>
          <p:cNvSpPr/>
          <p:nvPr/>
        </p:nvSpPr>
        <p:spPr>
          <a:xfrm>
            <a:off x="457199" y="1583324"/>
            <a:ext cx="8143876" cy="44323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154" name="Picture 2" descr="C:\Users\stew_da\Downloads\fault_sens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72" y="1924050"/>
            <a:ext cx="7784130" cy="360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 9"/>
          <p:cNvSpPr/>
          <p:nvPr/>
        </p:nvSpPr>
        <p:spPr>
          <a:xfrm>
            <a:off x="828675" y="3945524"/>
            <a:ext cx="7505700" cy="14001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68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WBS : No inadvertent braking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1"/>
            <a:ext cx="7924800" cy="1600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Normal Operating Mode: </a:t>
            </a:r>
          </a:p>
          <a:p>
            <a:r>
              <a:rPr lang="en-US" dirty="0" smtClean="0"/>
              <a:t>Mechanical pedal pressed (brakes commanded)</a:t>
            </a:r>
          </a:p>
          <a:p>
            <a:r>
              <a:rPr lang="en-US" dirty="0" smtClean="0"/>
              <a:t>Sensor on pedal converts to electrical signal</a:t>
            </a:r>
          </a:p>
          <a:p>
            <a:r>
              <a:rPr lang="en-US" dirty="0" smtClean="0"/>
              <a:t>Signal sent to BSCU to command brakes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30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A Fault on the Pedal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ensor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omponent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68" y="2590800"/>
            <a:ext cx="8815263" cy="1600200"/>
          </a:xfrm>
        </p:spPr>
      </p:pic>
    </p:spTree>
    <p:extLst>
      <p:ext uri="{BB962C8B-B14F-4D97-AF65-F5344CB8AC3E}">
        <p14:creationId xmlns:p14="http://schemas.microsoft.com/office/powerpoint/2010/main" val="246026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Behavioral Fault Propagation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23" name="Picture 3" descr="C:\Users\stew_da\Desktop\DLR_presentations\current_work\images\SA_approac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057400"/>
            <a:ext cx="8458201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/>
          <p:cNvSpPr/>
          <p:nvPr/>
        </p:nvSpPr>
        <p:spPr>
          <a:xfrm>
            <a:off x="304799" y="5715000"/>
            <a:ext cx="1905001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43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Active Sensor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ault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Mechanical pedal is not pressed</a:t>
            </a:r>
          </a:p>
          <a:p>
            <a:r>
              <a:rPr lang="en-US" dirty="0" smtClean="0"/>
              <a:t>Inverted Boolean failure on sensor activated</a:t>
            </a:r>
          </a:p>
          <a:p>
            <a:r>
              <a:rPr lang="en-US" dirty="0" smtClean="0"/>
              <a:t>Electrical signal is true and braking is commanded through BSCU</a:t>
            </a:r>
          </a:p>
          <a:p>
            <a:r>
              <a:rPr lang="en-US" dirty="0" smtClean="0"/>
              <a:t>Top level lemma fails (Unintentional braking occurs)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5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Maximum Fault vs. Probabilistic 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4274" name="Picture 2" descr="C:\Users\stew_da\Desktop\Universität\topLev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43053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035586" y="430002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5" name="Picture 3" descr="C:\Users\stew_da\Desktop\Universität\agreecod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30" y="4856047"/>
            <a:ext cx="110490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1089714" y="497927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6" name="Picture 4" descr="C:\Users\stew_da\Desktop\Universität\sacod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30" y="5264199"/>
            <a:ext cx="2152650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7" name="Picture 5" descr="C:\Users\stew_da\Desktop\Universität\endins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77" y="6483350"/>
            <a:ext cx="9525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bgerundetes Rechteck 9"/>
          <p:cNvSpPr/>
          <p:nvPr/>
        </p:nvSpPr>
        <p:spPr>
          <a:xfrm>
            <a:off x="176270" y="1222872"/>
            <a:ext cx="5277079" cy="3446482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49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Maximum Fault vs. Probabilistic 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4274" name="Picture 2" descr="C:\Users\stew_da\Desktop\Universität\topLev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43053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035586" y="430002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5" name="Picture 3" descr="C:\Users\stew_da\Desktop\Universität\agreecod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30" y="4856047"/>
            <a:ext cx="110490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1089714" y="497927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6" name="Picture 4" descr="C:\Users\stew_da\Desktop\Universität\sacod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30" y="5264199"/>
            <a:ext cx="2152650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7" name="Picture 5" descr="C:\Users\stew_da\Desktop\Universität\endins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77" y="6483350"/>
            <a:ext cx="9525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bgerundetes Rechteck 9"/>
          <p:cNvSpPr/>
          <p:nvPr/>
        </p:nvSpPr>
        <p:spPr>
          <a:xfrm>
            <a:off x="297457" y="4637137"/>
            <a:ext cx="3084721" cy="904348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367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Maximum Fault vs. Probabilistic 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4274" name="Picture 2" descr="C:\Users\stew_da\Desktop\Universität\topLev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43053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035586" y="430002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5" name="Picture 3" descr="C:\Users\stew_da\Desktop\Universität\agreecod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30" y="4856047"/>
            <a:ext cx="110490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1089714" y="497927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7" name="Picture 5" descr="C:\Users\stew_da\Desktop\Universität\endins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77" y="6483350"/>
            <a:ext cx="9525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298" name="Picture 2" descr="C:\Users\stew_da\Desktop\Universität\sacode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62" y="5316824"/>
            <a:ext cx="17145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bgerundetes Rechteck 12"/>
          <p:cNvSpPr/>
          <p:nvPr/>
        </p:nvSpPr>
        <p:spPr>
          <a:xfrm>
            <a:off x="297457" y="5541485"/>
            <a:ext cx="3084721" cy="904348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54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Maximum Fault vs. Probabilistic 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4274" name="Picture 2" descr="C:\Users\stew_da\Desktop\Universität\topLev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43053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035586" y="430002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5" name="Picture 3" descr="C:\Users\stew_da\Desktop\Universität\agreecod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30" y="4856047"/>
            <a:ext cx="110490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1089714" y="497927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. . .</a:t>
            </a:r>
            <a:endParaRPr lang="de-DE" dirty="0"/>
          </a:p>
        </p:txBody>
      </p:sp>
      <p:pic>
        <p:nvPicPr>
          <p:cNvPr id="54276" name="Picture 4" descr="C:\Users\stew_da\Desktop\Universität\sacod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79" y="5341318"/>
            <a:ext cx="2152650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7" name="Picture 5" descr="C:\Users\stew_da\Desktop\Universität\endins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77" y="6483350"/>
            <a:ext cx="9525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bgerundetes Rechteck 9"/>
          <p:cNvSpPr/>
          <p:nvPr/>
        </p:nvSpPr>
        <p:spPr>
          <a:xfrm>
            <a:off x="297457" y="5541485"/>
            <a:ext cx="3084721" cy="904348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35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29798" y="616744"/>
            <a:ext cx="7772400" cy="5032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</a:rPr>
              <a:t>WBS Fault Model Details</a:t>
            </a:r>
            <a:endParaRPr 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2" descr="C:\Users\stew_da\Desktop\Universität\fm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36" y="2454161"/>
            <a:ext cx="8022261" cy="76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418" name="Picture 2" descr="C:\Users\stew_da\Desktop\Universität\Images for NASA Presentation\fault_analysis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35" y="4548273"/>
            <a:ext cx="8111139" cy="77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258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Cut Set Generation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Standards (APR4761, AIR6110, </a:t>
            </a:r>
            <a:r>
              <a:rPr lang="de-DE" dirty="0" err="1" smtClean="0"/>
              <a:t>etc</a:t>
            </a:r>
            <a:r>
              <a:rPr lang="de-DE" dirty="0" smtClean="0"/>
              <a:t>) </a:t>
            </a:r>
            <a:r>
              <a:rPr lang="de-DE" dirty="0" err="1" smtClean="0"/>
              <a:t>describe</a:t>
            </a:r>
            <a:r>
              <a:rPr lang="de-DE" dirty="0" smtClean="0"/>
              <a:t> </a:t>
            </a:r>
            <a:r>
              <a:rPr lang="de-DE" dirty="0" err="1" smtClean="0"/>
              <a:t>techniques</a:t>
            </a:r>
            <a:r>
              <a:rPr lang="de-DE" dirty="0" smtClean="0"/>
              <a:t> </a:t>
            </a:r>
            <a:r>
              <a:rPr lang="de-DE" dirty="0" err="1" smtClean="0"/>
              <a:t>involving</a:t>
            </a:r>
            <a:r>
              <a:rPr lang="de-DE" dirty="0" smtClean="0"/>
              <a:t> </a:t>
            </a:r>
            <a:r>
              <a:rPr lang="de-DE" dirty="0" err="1" smtClean="0"/>
              <a:t>cut</a:t>
            </a:r>
            <a:r>
              <a:rPr lang="de-DE" dirty="0" smtClean="0"/>
              <a:t> </a:t>
            </a:r>
            <a:r>
              <a:rPr lang="de-DE" dirty="0" err="1" smtClean="0"/>
              <a:t>sets</a:t>
            </a:r>
            <a:endParaRPr lang="de-DE" dirty="0"/>
          </a:p>
          <a:p>
            <a:r>
              <a:rPr lang="de-DE" dirty="0" err="1" smtClean="0"/>
              <a:t>Required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FTA </a:t>
            </a:r>
            <a:r>
              <a:rPr lang="de-DE" dirty="0" err="1" smtClean="0"/>
              <a:t>and</a:t>
            </a:r>
            <a:r>
              <a:rPr lang="de-DE" dirty="0" smtClean="0"/>
              <a:t> FMEA</a:t>
            </a:r>
          </a:p>
          <a:p>
            <a:r>
              <a:rPr lang="de-DE" dirty="0" err="1" smtClean="0"/>
              <a:t>Currently</a:t>
            </a:r>
            <a:r>
              <a:rPr lang="de-DE" dirty="0" smtClean="0"/>
              <a:t>, </a:t>
            </a:r>
            <a:r>
              <a:rPr lang="de-DE" dirty="0" err="1" smtClean="0"/>
              <a:t>these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needs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Engineers in a </a:t>
            </a:r>
            <a:r>
              <a:rPr lang="de-DE" dirty="0" err="1" smtClean="0"/>
              <a:t>Safety</a:t>
            </a:r>
            <a:r>
              <a:rPr lang="de-DE" dirty="0" smtClean="0"/>
              <a:t> Analysis </a:t>
            </a:r>
            <a:r>
              <a:rPr lang="de-DE" dirty="0" err="1" smtClean="0"/>
              <a:t>tool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15145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Cores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267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Cores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/>
              <p:cNvSpPr/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Ellips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lipse 20"/>
              <p:cNvSpPr/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Ellips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lipse 22"/>
              <p:cNvSpPr/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Ellips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llipse 23"/>
              <p:cNvSpPr/>
              <p:nvPr/>
            </p:nvSpPr>
            <p:spPr>
              <a:xfrm>
                <a:off x="4651446" y="2743579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Ellips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446" y="2743579"/>
                <a:ext cx="647815" cy="585788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llipse 25"/>
              <p:cNvSpPr/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Ellips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lipse 26"/>
              <p:cNvSpPr/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Ellips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/>
              <p:cNvSpPr txBox="1"/>
              <p:nvPr/>
            </p:nvSpPr>
            <p:spPr>
              <a:xfrm>
                <a:off x="2358427" y="3859576"/>
                <a:ext cx="43445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/>
                  <a:t>Model Elements 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/>
                      </a:rPr>
                      <m:t>{</m:t>
                    </m:r>
                    <m:r>
                      <a:rPr lang="de-DE" sz="2400" b="0" i="1" smtClean="0">
                        <a:latin typeface="Cambria Math"/>
                      </a:rPr>
                      <m:t>𝑎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𝑏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𝑐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𝑑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𝑒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𝑓</m:t>
                    </m:r>
                    <m:r>
                      <a:rPr lang="de-DE" sz="24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de-DE" sz="2400" dirty="0" smtClean="0"/>
                  <a:t> </a:t>
                </a:r>
                <a:endParaRPr lang="de-DE" sz="2400" b="1" dirty="0"/>
              </a:p>
            </p:txBody>
          </p:sp>
        </mc:Choice>
        <mc:Fallback xmlns="">
          <p:sp>
            <p:nvSpPr>
              <p:cNvPr id="19" name="Textfeld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427" y="3859576"/>
                <a:ext cx="4344587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244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74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Cores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/>
              <p:cNvSpPr/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Ellips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lipse 20"/>
              <p:cNvSpPr/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Ellips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lipse 22"/>
              <p:cNvSpPr/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Ellips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llipse 23"/>
              <p:cNvSpPr/>
              <p:nvPr/>
            </p:nvSpPr>
            <p:spPr>
              <a:xfrm>
                <a:off x="4651446" y="2743579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Ellips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446" y="2743579"/>
                <a:ext cx="647815" cy="585788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llipse 25"/>
              <p:cNvSpPr/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Ellips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lipse 26"/>
              <p:cNvSpPr/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Ellips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/>
          <p:cNvCxnSpPr>
            <a:stCxn id="20" idx="0"/>
            <a:endCxn id="18" idx="2"/>
          </p:cNvCxnSpPr>
          <p:nvPr/>
        </p:nvCxnSpPr>
        <p:spPr>
          <a:xfrm flipV="1">
            <a:off x="2299787" y="2349346"/>
            <a:ext cx="2100318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21" idx="0"/>
            <a:endCxn id="18" idx="2"/>
          </p:cNvCxnSpPr>
          <p:nvPr/>
        </p:nvCxnSpPr>
        <p:spPr>
          <a:xfrm flipV="1">
            <a:off x="3188250" y="2349346"/>
            <a:ext cx="1211855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23" idx="0"/>
            <a:endCxn id="18" idx="2"/>
          </p:cNvCxnSpPr>
          <p:nvPr/>
        </p:nvCxnSpPr>
        <p:spPr>
          <a:xfrm flipV="1">
            <a:off x="4062183" y="2349346"/>
            <a:ext cx="337922" cy="439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24" idx="0"/>
            <a:endCxn id="18" idx="2"/>
          </p:cNvCxnSpPr>
          <p:nvPr/>
        </p:nvCxnSpPr>
        <p:spPr>
          <a:xfrm flipH="1" flipV="1">
            <a:off x="4400105" y="2349346"/>
            <a:ext cx="575249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26" idx="0"/>
            <a:endCxn id="18" idx="2"/>
          </p:cNvCxnSpPr>
          <p:nvPr/>
        </p:nvCxnSpPr>
        <p:spPr>
          <a:xfrm flipH="1" flipV="1">
            <a:off x="4400105" y="2349346"/>
            <a:ext cx="1452329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0"/>
            <a:endCxn id="18" idx="2"/>
          </p:cNvCxnSpPr>
          <p:nvPr/>
        </p:nvCxnSpPr>
        <p:spPr>
          <a:xfrm flipH="1" flipV="1">
            <a:off x="4400105" y="2349346"/>
            <a:ext cx="2354403" cy="392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/>
              <p:cNvSpPr txBox="1"/>
              <p:nvPr/>
            </p:nvSpPr>
            <p:spPr>
              <a:xfrm>
                <a:off x="2358427" y="3859576"/>
                <a:ext cx="43445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/>
                  <a:t>Model Elements 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/>
                      </a:rPr>
                      <m:t>{</m:t>
                    </m:r>
                    <m:r>
                      <a:rPr lang="de-DE" sz="2400" b="0" i="1" smtClean="0">
                        <a:latin typeface="Cambria Math"/>
                      </a:rPr>
                      <m:t>𝑎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𝑏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𝑐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𝑑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𝑒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𝑓</m:t>
                    </m:r>
                    <m:r>
                      <a:rPr lang="de-DE" sz="24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de-DE" sz="2400" dirty="0" smtClean="0"/>
                  <a:t> </a:t>
                </a:r>
                <a:endParaRPr lang="de-DE" sz="2400" b="1" dirty="0"/>
              </a:p>
            </p:txBody>
          </p:sp>
        </mc:Choice>
        <mc:Fallback xmlns="">
          <p:sp>
            <p:nvSpPr>
              <p:cNvPr id="19" name="Textfeld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427" y="3859576"/>
                <a:ext cx="4344587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244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36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Cores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975879" y="3809796"/>
            <a:ext cx="44242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IVC : A </a:t>
            </a:r>
            <a:r>
              <a:rPr lang="de-DE" sz="2400" b="1" dirty="0" err="1"/>
              <a:t>minimum</a:t>
            </a:r>
            <a:r>
              <a:rPr lang="de-DE" sz="2400" b="1" dirty="0"/>
              <a:t> </a:t>
            </a:r>
            <a:r>
              <a:rPr lang="de-DE" sz="2400" b="1" dirty="0" err="1"/>
              <a:t>set</a:t>
            </a:r>
            <a:r>
              <a:rPr lang="de-DE" sz="2400" b="1" dirty="0"/>
              <a:t>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elements</a:t>
            </a:r>
            <a:r>
              <a:rPr lang="de-DE" sz="2400" b="1" dirty="0"/>
              <a:t> </a:t>
            </a:r>
          </a:p>
          <a:p>
            <a:r>
              <a:rPr lang="de-DE" sz="2400" b="1" dirty="0"/>
              <a:t>         </a:t>
            </a:r>
            <a:r>
              <a:rPr lang="de-DE" sz="2400" b="1" dirty="0" err="1"/>
              <a:t>needed</a:t>
            </a:r>
            <a:r>
              <a:rPr lang="de-DE" sz="2400" b="1" dirty="0"/>
              <a:t> </a:t>
            </a:r>
            <a:r>
              <a:rPr lang="de-DE" sz="2400" b="1" dirty="0" err="1"/>
              <a:t>to</a:t>
            </a:r>
            <a:r>
              <a:rPr lang="de-DE" sz="2400" b="1" dirty="0"/>
              <a:t> </a:t>
            </a:r>
            <a:r>
              <a:rPr lang="de-DE" sz="2400" b="1" dirty="0" err="1"/>
              <a:t>prove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</a:p>
          <a:p>
            <a:r>
              <a:rPr lang="de-DE" sz="2400" b="1" dirty="0"/>
              <a:t>         </a:t>
            </a:r>
            <a:r>
              <a:rPr lang="de-DE" sz="2400" b="1" dirty="0" err="1"/>
              <a:t>Safety</a:t>
            </a:r>
            <a:r>
              <a:rPr lang="de-DE" sz="2400" b="1" dirty="0"/>
              <a:t> </a:t>
            </a:r>
            <a:r>
              <a:rPr lang="de-DE" sz="2400" b="1" dirty="0" smtClean="0"/>
              <a:t>Property</a:t>
            </a:r>
            <a:endParaRPr lang="de-DE" sz="2400" b="1" dirty="0"/>
          </a:p>
        </p:txBody>
      </p:sp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/>
              <p:cNvSpPr/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Ellips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lipse 20"/>
              <p:cNvSpPr/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Ellips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lipse 22"/>
              <p:cNvSpPr/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Ellips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llipse 23"/>
              <p:cNvSpPr/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Ellips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llipse 25"/>
              <p:cNvSpPr/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Ellips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lipse 26"/>
              <p:cNvSpPr/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Ellips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/>
          <p:cNvCxnSpPr>
            <a:stCxn id="20" idx="0"/>
            <a:endCxn id="18" idx="2"/>
          </p:cNvCxnSpPr>
          <p:nvPr/>
        </p:nvCxnSpPr>
        <p:spPr>
          <a:xfrm flipV="1">
            <a:off x="2299787" y="2349346"/>
            <a:ext cx="2100318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21" idx="0"/>
            <a:endCxn id="18" idx="2"/>
          </p:cNvCxnSpPr>
          <p:nvPr/>
        </p:nvCxnSpPr>
        <p:spPr>
          <a:xfrm flipV="1">
            <a:off x="3188250" y="2349346"/>
            <a:ext cx="1211855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23" idx="0"/>
            <a:endCxn id="18" idx="2"/>
          </p:cNvCxnSpPr>
          <p:nvPr/>
        </p:nvCxnSpPr>
        <p:spPr>
          <a:xfrm flipV="1">
            <a:off x="4062183" y="2349346"/>
            <a:ext cx="337922" cy="439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24" idx="0"/>
            <a:endCxn id="18" idx="2"/>
          </p:cNvCxnSpPr>
          <p:nvPr/>
        </p:nvCxnSpPr>
        <p:spPr>
          <a:xfrm flipH="1" flipV="1">
            <a:off x="4400105" y="2349346"/>
            <a:ext cx="582840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26" idx="0"/>
            <a:endCxn id="18" idx="2"/>
          </p:cNvCxnSpPr>
          <p:nvPr/>
        </p:nvCxnSpPr>
        <p:spPr>
          <a:xfrm flipH="1" flipV="1">
            <a:off x="4400105" y="2349346"/>
            <a:ext cx="1452329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0"/>
            <a:endCxn id="18" idx="2"/>
          </p:cNvCxnSpPr>
          <p:nvPr/>
        </p:nvCxnSpPr>
        <p:spPr>
          <a:xfrm flipH="1" flipV="1">
            <a:off x="4400105" y="2349346"/>
            <a:ext cx="2354403" cy="392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/>
              <p:cNvSpPr txBox="1"/>
              <p:nvPr/>
            </p:nvSpPr>
            <p:spPr>
              <a:xfrm>
                <a:off x="2623694" y="5131324"/>
                <a:ext cx="977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{</m:t>
                      </m:r>
                      <m:r>
                        <a:rPr lang="de-DE" b="0" i="1" smtClean="0">
                          <a:latin typeface="Cambria Math"/>
                        </a:rPr>
                        <m:t>𝑎</m:t>
                      </m:r>
                      <m:r>
                        <a:rPr lang="de-DE" b="0" i="1" smtClean="0">
                          <a:latin typeface="Cambria Math"/>
                        </a:rPr>
                        <m:t>, </m:t>
                      </m:r>
                      <m:r>
                        <a:rPr lang="de-DE" b="0" i="1" smtClean="0">
                          <a:latin typeface="Cambria Math"/>
                        </a:rPr>
                        <m:t>𝑐</m:t>
                      </m:r>
                      <m:r>
                        <a:rPr lang="de-DE" b="0" i="1" smtClean="0">
                          <a:latin typeface="Cambria Math"/>
                        </a:rPr>
                        <m:t>, </m:t>
                      </m:r>
                      <m:r>
                        <a:rPr lang="de-DE" b="0" i="1" smtClean="0">
                          <a:latin typeface="Cambria Math"/>
                        </a:rPr>
                        <m:t>𝑑</m:t>
                      </m:r>
                      <m:r>
                        <a:rPr lang="de-DE" b="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94" y="5131324"/>
                <a:ext cx="977575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830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Cores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975879" y="3848100"/>
            <a:ext cx="50398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All IVCs : All minimal </a:t>
            </a:r>
            <a:r>
              <a:rPr lang="de-DE" sz="2400" b="1" dirty="0" err="1"/>
              <a:t>sets</a:t>
            </a:r>
            <a:r>
              <a:rPr lang="de-DE" sz="2400" b="1" dirty="0"/>
              <a:t>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elements</a:t>
            </a:r>
            <a:r>
              <a:rPr lang="de-DE" sz="2400" b="1" dirty="0"/>
              <a:t> </a:t>
            </a:r>
          </a:p>
          <a:p>
            <a:r>
              <a:rPr lang="de-DE" sz="2400" b="1" dirty="0"/>
              <a:t>        </a:t>
            </a:r>
            <a:r>
              <a:rPr lang="de-DE" sz="2400" b="1" dirty="0" err="1"/>
              <a:t>needed</a:t>
            </a:r>
            <a:r>
              <a:rPr lang="de-DE" sz="2400" b="1" dirty="0"/>
              <a:t> </a:t>
            </a:r>
            <a:r>
              <a:rPr lang="de-DE" sz="2400" b="1" dirty="0" err="1"/>
              <a:t>to</a:t>
            </a:r>
            <a:r>
              <a:rPr lang="de-DE" sz="2400" b="1" dirty="0"/>
              <a:t> </a:t>
            </a:r>
            <a:r>
              <a:rPr lang="de-DE" sz="2400" b="1" dirty="0" err="1"/>
              <a:t>prove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</a:p>
          <a:p>
            <a:r>
              <a:rPr lang="de-DE" sz="2400" b="1" dirty="0"/>
              <a:t>        </a:t>
            </a:r>
            <a:r>
              <a:rPr lang="de-DE" sz="2400" b="1" dirty="0" err="1"/>
              <a:t>Safety</a:t>
            </a:r>
            <a:r>
              <a:rPr lang="de-DE" sz="2400" b="1" dirty="0"/>
              <a:t> </a:t>
            </a:r>
            <a:r>
              <a:rPr lang="de-DE" sz="2400" b="1" dirty="0" smtClean="0"/>
              <a:t>Property</a:t>
            </a:r>
            <a:endParaRPr lang="de-DE" sz="2400" b="1" dirty="0"/>
          </a:p>
        </p:txBody>
      </p:sp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/>
              <p:cNvSpPr/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Ellips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lipse 20"/>
              <p:cNvSpPr/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Ellips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lipse 22"/>
              <p:cNvSpPr/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Ellips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llipse 23"/>
              <p:cNvSpPr/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Ellips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llipse 25"/>
              <p:cNvSpPr/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Ellips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lipse 26"/>
              <p:cNvSpPr/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Ellips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/>
          <p:cNvCxnSpPr>
            <a:stCxn id="20" idx="0"/>
            <a:endCxn id="18" idx="2"/>
          </p:cNvCxnSpPr>
          <p:nvPr/>
        </p:nvCxnSpPr>
        <p:spPr>
          <a:xfrm flipV="1">
            <a:off x="2299787" y="2349346"/>
            <a:ext cx="2100318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21" idx="0"/>
            <a:endCxn id="18" idx="2"/>
          </p:cNvCxnSpPr>
          <p:nvPr/>
        </p:nvCxnSpPr>
        <p:spPr>
          <a:xfrm flipV="1">
            <a:off x="3188250" y="2349346"/>
            <a:ext cx="1211855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23" idx="0"/>
            <a:endCxn id="18" idx="2"/>
          </p:cNvCxnSpPr>
          <p:nvPr/>
        </p:nvCxnSpPr>
        <p:spPr>
          <a:xfrm flipV="1">
            <a:off x="4062183" y="2349346"/>
            <a:ext cx="337922" cy="439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24" idx="0"/>
            <a:endCxn id="18" idx="2"/>
          </p:cNvCxnSpPr>
          <p:nvPr/>
        </p:nvCxnSpPr>
        <p:spPr>
          <a:xfrm flipH="1" flipV="1">
            <a:off x="4400105" y="2349346"/>
            <a:ext cx="582840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26" idx="0"/>
            <a:endCxn id="18" idx="2"/>
          </p:cNvCxnSpPr>
          <p:nvPr/>
        </p:nvCxnSpPr>
        <p:spPr>
          <a:xfrm flipH="1" flipV="1">
            <a:off x="4400105" y="2349346"/>
            <a:ext cx="1452329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0"/>
            <a:endCxn id="18" idx="2"/>
          </p:cNvCxnSpPr>
          <p:nvPr/>
        </p:nvCxnSpPr>
        <p:spPr>
          <a:xfrm flipH="1" flipV="1">
            <a:off x="4400105" y="2349346"/>
            <a:ext cx="2354403" cy="392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/>
              <p:cNvSpPr txBox="1"/>
              <p:nvPr/>
            </p:nvSpPr>
            <p:spPr>
              <a:xfrm>
                <a:off x="2570766" y="5233012"/>
                <a:ext cx="18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{</m:t>
                    </m:r>
                    <m:d>
                      <m:dPr>
                        <m:begChr m:val="{"/>
                        <m:endChr m:val="}"/>
                        <m:ctrlPr>
                          <a:rPr lang="de-DE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/>
                          </a:rPr>
                          <m:t>𝑎</m:t>
                        </m:r>
                        <m:r>
                          <a:rPr lang="de-DE" b="0" i="1" smtClean="0">
                            <a:latin typeface="Cambria Math"/>
                          </a:rPr>
                          <m:t>, </m:t>
                        </m:r>
                        <m:r>
                          <a:rPr lang="de-DE" b="0" i="1" smtClean="0">
                            <a:latin typeface="Cambria Math"/>
                          </a:rPr>
                          <m:t>𝑐</m:t>
                        </m:r>
                        <m:r>
                          <a:rPr lang="de-DE" b="0" i="1" smtClean="0">
                            <a:latin typeface="Cambria Math"/>
                          </a:rPr>
                          <m:t>, </m:t>
                        </m:r>
                        <m:r>
                          <a:rPr lang="de-DE" b="0" i="1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de-DE" b="0" i="1" smtClean="0">
                        <a:latin typeface="Cambria Math"/>
                      </a:rPr>
                      <m:t>, </m:t>
                    </m:r>
                  </m:oMath>
                </a14:m>
                <a:r>
                  <a:rPr lang="de-DE" dirty="0" smtClean="0"/>
                  <a:t>{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/>
                      </a:rPr>
                      <m:t>𝑏</m:t>
                    </m:r>
                    <m:r>
                      <a:rPr lang="de-DE" b="0" i="1" dirty="0" smtClean="0">
                        <a:latin typeface="Cambria Math"/>
                      </a:rPr>
                      <m:t>, </m:t>
                    </m:r>
                    <m:r>
                      <a:rPr lang="de-DE" b="0" i="1" dirty="0" smtClean="0">
                        <a:latin typeface="Cambria Math"/>
                      </a:rPr>
                      <m:t>𝑒</m:t>
                    </m:r>
                    <m:r>
                      <a:rPr lang="de-DE" b="0" i="1" dirty="0" smtClean="0">
                        <a:latin typeface="Cambria Math"/>
                      </a:rPr>
                      <m:t>, </m:t>
                    </m:r>
                    <m:r>
                      <a:rPr lang="de-DE" b="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de-DE" dirty="0" smtClean="0"/>
                  <a:t>}}</a:t>
                </a:r>
                <a:endParaRPr lang="de-DE" dirty="0"/>
              </a:p>
            </p:txBody>
          </p:sp>
        </mc:Choice>
        <mc:Fallback xmlns="">
          <p:sp>
            <p:nvSpPr>
              <p:cNvPr id="3" name="Textfeld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766" y="5233012"/>
                <a:ext cx="1884940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294" t="-8197" r="-1942" b="-245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24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Cores </a:t>
            </a:r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Faults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/>
              <p:cNvSpPr txBox="1"/>
              <p:nvPr/>
            </p:nvSpPr>
            <p:spPr>
              <a:xfrm>
                <a:off x="1346538" y="3846723"/>
                <a:ext cx="66899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/>
                  <a:t>Model Elements 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/>
                      </a:rPr>
                      <m:t>{</m:t>
                    </m:r>
                    <m:r>
                      <a:rPr lang="de-DE" sz="2400" b="0" i="1" smtClean="0">
                        <a:latin typeface="Cambria Math"/>
                      </a:rPr>
                      <m:t>𝐹𝑎𝑢𝑙𝑡𝑠</m:t>
                    </m:r>
                    <m:r>
                      <a:rPr lang="de-DE" sz="2400" b="0" i="1" smtClean="0">
                        <a:latin typeface="Cambria Math"/>
                      </a:rPr>
                      <m:t>=</m:t>
                    </m:r>
                    <m:r>
                      <a:rPr lang="de-DE" sz="2400" b="0" i="1" smtClean="0">
                        <a:latin typeface="Cambria Math"/>
                      </a:rPr>
                      <m:t>𝐹𝐴𝐿𝑆𝐸</m:t>
                    </m:r>
                    <m:r>
                      <a:rPr lang="de-DE" sz="2400" b="0" i="1" smtClean="0">
                        <a:latin typeface="Cambria Math"/>
                      </a:rPr>
                      <m:t>, </m:t>
                    </m:r>
                    <m:r>
                      <a:rPr lang="de-DE" sz="2400" b="0" i="1" smtClean="0">
                        <a:latin typeface="Cambria Math"/>
                      </a:rPr>
                      <m:t>𝐺𝑢𝑎𝑟𝑎𝑛𝑡𝑒𝑒𝑠</m:t>
                    </m:r>
                    <m:r>
                      <a:rPr lang="de-DE" sz="24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de-DE" sz="2400" dirty="0" smtClean="0"/>
                  <a:t> </a:t>
                </a:r>
                <a:endParaRPr lang="de-DE" sz="2400" b="1" dirty="0"/>
              </a:p>
            </p:txBody>
          </p:sp>
        </mc:Choice>
        <mc:Fallback xmlns="">
          <p:sp>
            <p:nvSpPr>
              <p:cNvPr id="14" name="Textfeld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38" y="3846723"/>
                <a:ext cx="668997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459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/>
              <p:cNvSpPr/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!</m:t>
                          </m:r>
                          <m:r>
                            <a:rPr lang="de-DE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Ellips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lipse 20"/>
              <p:cNvSpPr/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!</m:t>
                          </m:r>
                          <m:r>
                            <a:rPr lang="de-DE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Ellips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lipse 22"/>
              <p:cNvSpPr/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!</m:t>
                          </m:r>
                          <m:r>
                            <a:rPr lang="de-DE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Ellips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llipse 23"/>
              <p:cNvSpPr/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Ellips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llipse 25"/>
              <p:cNvSpPr/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Ellips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lipse 26"/>
              <p:cNvSpPr/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Ellips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/>
          <p:cNvCxnSpPr>
            <a:stCxn id="20" idx="0"/>
            <a:endCxn id="18" idx="2"/>
          </p:cNvCxnSpPr>
          <p:nvPr/>
        </p:nvCxnSpPr>
        <p:spPr>
          <a:xfrm flipV="1">
            <a:off x="2299787" y="2349346"/>
            <a:ext cx="2100318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21" idx="0"/>
            <a:endCxn id="18" idx="2"/>
          </p:cNvCxnSpPr>
          <p:nvPr/>
        </p:nvCxnSpPr>
        <p:spPr>
          <a:xfrm flipV="1">
            <a:off x="3188250" y="2349346"/>
            <a:ext cx="1211855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23" idx="0"/>
            <a:endCxn id="18" idx="2"/>
          </p:cNvCxnSpPr>
          <p:nvPr/>
        </p:nvCxnSpPr>
        <p:spPr>
          <a:xfrm flipV="1">
            <a:off x="4062183" y="2349346"/>
            <a:ext cx="337922" cy="439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24" idx="0"/>
            <a:endCxn id="18" idx="2"/>
          </p:cNvCxnSpPr>
          <p:nvPr/>
        </p:nvCxnSpPr>
        <p:spPr>
          <a:xfrm flipH="1" flipV="1">
            <a:off x="4400105" y="2349346"/>
            <a:ext cx="582840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26" idx="0"/>
            <a:endCxn id="18" idx="2"/>
          </p:cNvCxnSpPr>
          <p:nvPr/>
        </p:nvCxnSpPr>
        <p:spPr>
          <a:xfrm flipH="1" flipV="1">
            <a:off x="4400105" y="2349346"/>
            <a:ext cx="1452329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0"/>
            <a:endCxn id="18" idx="2"/>
          </p:cNvCxnSpPr>
          <p:nvPr/>
        </p:nvCxnSpPr>
        <p:spPr>
          <a:xfrm flipH="1" flipV="1">
            <a:off x="4400105" y="2349346"/>
            <a:ext cx="2354403" cy="392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36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Inductive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Validity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Cores </a:t>
            </a:r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Faults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975879" y="3848100"/>
            <a:ext cx="50398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All IVCs : All minimal </a:t>
            </a:r>
            <a:r>
              <a:rPr lang="de-DE" sz="2400" b="1" dirty="0" err="1"/>
              <a:t>sets</a:t>
            </a:r>
            <a:r>
              <a:rPr lang="de-DE" sz="2400" b="1" dirty="0"/>
              <a:t>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elements</a:t>
            </a:r>
            <a:r>
              <a:rPr lang="de-DE" sz="2400" b="1" dirty="0"/>
              <a:t> </a:t>
            </a:r>
          </a:p>
          <a:p>
            <a:r>
              <a:rPr lang="de-DE" sz="2400" b="1" dirty="0"/>
              <a:t>        </a:t>
            </a:r>
            <a:r>
              <a:rPr lang="de-DE" sz="2400" b="1" dirty="0" err="1"/>
              <a:t>needed</a:t>
            </a:r>
            <a:r>
              <a:rPr lang="de-DE" sz="2400" b="1" dirty="0"/>
              <a:t> </a:t>
            </a:r>
            <a:r>
              <a:rPr lang="de-DE" sz="2400" b="1" dirty="0" err="1"/>
              <a:t>to</a:t>
            </a:r>
            <a:r>
              <a:rPr lang="de-DE" sz="2400" b="1" dirty="0"/>
              <a:t> </a:t>
            </a:r>
            <a:r>
              <a:rPr lang="de-DE" sz="2400" b="1" dirty="0" err="1"/>
              <a:t>prove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</a:p>
          <a:p>
            <a:r>
              <a:rPr lang="de-DE" sz="2400" b="1" dirty="0"/>
              <a:t>        </a:t>
            </a:r>
            <a:r>
              <a:rPr lang="de-DE" sz="2400" b="1" dirty="0" err="1"/>
              <a:t>Safety</a:t>
            </a:r>
            <a:r>
              <a:rPr lang="de-DE" sz="2400" b="1" dirty="0"/>
              <a:t> </a:t>
            </a:r>
            <a:r>
              <a:rPr lang="de-DE" sz="2400" b="1" dirty="0" smtClean="0"/>
              <a:t>Property</a:t>
            </a:r>
            <a:endParaRPr lang="de-DE" sz="2400" b="1" dirty="0"/>
          </a:p>
        </p:txBody>
      </p:sp>
      <p:sp>
        <p:nvSpPr>
          <p:cNvPr id="18" name="Rechteck 17"/>
          <p:cNvSpPr/>
          <p:nvPr/>
        </p:nvSpPr>
        <p:spPr>
          <a:xfrm>
            <a:off x="3198948" y="1763558"/>
            <a:ext cx="2402314" cy="585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Safety</a:t>
            </a:r>
            <a:r>
              <a:rPr lang="de-DE" dirty="0" smtClean="0"/>
              <a:t> Property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/>
              <p:cNvSpPr/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!</m:t>
                          </m:r>
                          <m:r>
                            <a:rPr lang="de-DE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Ellips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79" y="2765298"/>
                <a:ext cx="647815" cy="585788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lipse 20"/>
              <p:cNvSpPr/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!</m:t>
                          </m:r>
                          <m:r>
                            <a:rPr lang="de-DE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Ellips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42" y="2765298"/>
                <a:ext cx="647815" cy="585788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lipse 22"/>
              <p:cNvSpPr/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!</m:t>
                          </m:r>
                          <m:r>
                            <a:rPr lang="de-DE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Ellips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75" y="2788824"/>
                <a:ext cx="647815" cy="585788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llipse 23"/>
              <p:cNvSpPr/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Ellips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37" y="2743579"/>
                <a:ext cx="647815" cy="585788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llipse 25"/>
              <p:cNvSpPr/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Ellips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26" y="2743579"/>
                <a:ext cx="647815" cy="585788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lipse 26"/>
              <p:cNvSpPr/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Ellips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0" y="2741772"/>
                <a:ext cx="647815" cy="585788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/>
          <p:cNvCxnSpPr>
            <a:stCxn id="20" idx="0"/>
            <a:endCxn id="18" idx="2"/>
          </p:cNvCxnSpPr>
          <p:nvPr/>
        </p:nvCxnSpPr>
        <p:spPr>
          <a:xfrm flipV="1">
            <a:off x="2299787" y="2349346"/>
            <a:ext cx="2100318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21" idx="0"/>
            <a:endCxn id="18" idx="2"/>
          </p:cNvCxnSpPr>
          <p:nvPr/>
        </p:nvCxnSpPr>
        <p:spPr>
          <a:xfrm flipV="1">
            <a:off x="3188250" y="2349346"/>
            <a:ext cx="1211855" cy="4159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23" idx="0"/>
            <a:endCxn id="18" idx="2"/>
          </p:cNvCxnSpPr>
          <p:nvPr/>
        </p:nvCxnSpPr>
        <p:spPr>
          <a:xfrm flipV="1">
            <a:off x="4062183" y="2349346"/>
            <a:ext cx="337922" cy="439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24" idx="0"/>
            <a:endCxn id="18" idx="2"/>
          </p:cNvCxnSpPr>
          <p:nvPr/>
        </p:nvCxnSpPr>
        <p:spPr>
          <a:xfrm flipH="1" flipV="1">
            <a:off x="4400105" y="2349346"/>
            <a:ext cx="582840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26" idx="0"/>
            <a:endCxn id="18" idx="2"/>
          </p:cNvCxnSpPr>
          <p:nvPr/>
        </p:nvCxnSpPr>
        <p:spPr>
          <a:xfrm flipH="1" flipV="1">
            <a:off x="4400105" y="2349346"/>
            <a:ext cx="1452329" cy="394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0"/>
            <a:endCxn id="18" idx="2"/>
          </p:cNvCxnSpPr>
          <p:nvPr/>
        </p:nvCxnSpPr>
        <p:spPr>
          <a:xfrm flipH="1" flipV="1">
            <a:off x="4400105" y="2349346"/>
            <a:ext cx="2354403" cy="392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/>
              <p:cNvSpPr txBox="1"/>
              <p:nvPr/>
            </p:nvSpPr>
            <p:spPr>
              <a:xfrm>
                <a:off x="2570766" y="5233012"/>
                <a:ext cx="28471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{{!</m:t>
                    </m:r>
                    <m:sSub>
                      <m:sSubPr>
                        <m:ctrlPr>
                          <a:rPr lang="de-DE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de-DE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 smtClean="0"/>
                  <a:t>, !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de-DE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de-DE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de-DE" b="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de-DE" dirty="0" smtClean="0"/>
                  <a:t>, {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/>
                      </a:rPr>
                      <m:t>!</m:t>
                    </m:r>
                    <m:sSub>
                      <m:sSubPr>
                        <m:ctrlPr>
                          <a:rPr lang="de-DE" i="1">
                            <a:latin typeface="Cambria Math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de-DE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de-DE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de-DE" i="1" dirty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de-DE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de-DE" i="1" dirty="0">
                        <a:latin typeface="Cambria Math"/>
                      </a:rPr>
                      <m:t>}</m:t>
                    </m:r>
                    <m:r>
                      <a:rPr lang="de-DE" b="0" i="0" dirty="0" smtClean="0">
                        <a:latin typeface="Cambria Math"/>
                      </a:rPr>
                      <m:t>}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766" y="5233012"/>
                <a:ext cx="2847126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857" t="-8197" b="-245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98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2400" y="961225"/>
            <a:ext cx="8749229" cy="5486400"/>
          </a:xfrm>
          <a:prstGeom prst="roundRect">
            <a:avLst>
              <a:gd name="adj" fmla="val 71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9199" y="1770247"/>
            <a:ext cx="3444701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15794" y="2566826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093859" y="3413452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564084" y="4288155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Leaf Level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1"/>
          <p:cNvSpPr txBox="1"/>
          <p:nvPr/>
        </p:nvSpPr>
        <p:spPr>
          <a:xfrm>
            <a:off x="1058901" y="1114680"/>
            <a:ext cx="327044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 Level Safety 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Pröperty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Box 40"/>
          <p:cNvSpPr txBox="1"/>
          <p:nvPr/>
        </p:nvSpPr>
        <p:spPr>
          <a:xfrm>
            <a:off x="3318086" y="4816818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Leaf Level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41"/>
          <p:cNvSpPr txBox="1"/>
          <p:nvPr/>
        </p:nvSpPr>
        <p:spPr>
          <a:xfrm>
            <a:off x="3318087" y="5676829"/>
            <a:ext cx="228299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Leaf level faults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Compositionality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56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2400" y="961225"/>
            <a:ext cx="8749229" cy="5486400"/>
          </a:xfrm>
          <a:prstGeom prst="roundRect">
            <a:avLst>
              <a:gd name="adj" fmla="val 71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9199" y="1770247"/>
            <a:ext cx="3444701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15794" y="2566826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093859" y="3413452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564084" y="4288155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Leaf Level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1"/>
          <p:cNvSpPr txBox="1"/>
          <p:nvPr/>
        </p:nvSpPr>
        <p:spPr>
          <a:xfrm>
            <a:off x="1058901" y="1114680"/>
            <a:ext cx="327044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 Level Safety 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Pröperty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Box 40"/>
          <p:cNvSpPr txBox="1"/>
          <p:nvPr/>
        </p:nvSpPr>
        <p:spPr>
          <a:xfrm>
            <a:off x="3318086" y="4816818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Leaf Level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41"/>
          <p:cNvSpPr txBox="1"/>
          <p:nvPr/>
        </p:nvSpPr>
        <p:spPr>
          <a:xfrm>
            <a:off x="3318087" y="5676829"/>
            <a:ext cx="228299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Leaf level faults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Compositionality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Gekrümmte Verbindung 2"/>
          <p:cNvCxnSpPr>
            <a:stCxn id="21" idx="3"/>
          </p:cNvCxnSpPr>
          <p:nvPr/>
        </p:nvCxnSpPr>
        <p:spPr>
          <a:xfrm flipH="1" flipV="1">
            <a:off x="5538562" y="3822854"/>
            <a:ext cx="470224" cy="1419019"/>
          </a:xfrm>
          <a:prstGeom prst="curvedConnector4">
            <a:avLst>
              <a:gd name="adj1" fmla="val -48615"/>
              <a:gd name="adj2" fmla="val 99909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/>
          <p:nvPr/>
        </p:nvSpPr>
        <p:spPr>
          <a:xfrm>
            <a:off x="3026186" y="3647389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4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6452095" y="3800821"/>
            <a:ext cx="1888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The </a:t>
            </a:r>
            <a:r>
              <a:rPr lang="de-DE" i="1" u="sng" dirty="0" err="1" smtClean="0"/>
              <a:t>inactive</a:t>
            </a:r>
            <a:r>
              <a:rPr lang="de-DE" dirty="0" smtClean="0"/>
              <a:t> </a:t>
            </a:r>
            <a:r>
              <a:rPr lang="de-DE" dirty="0" err="1" smtClean="0"/>
              <a:t>faults</a:t>
            </a:r>
            <a:endParaRPr lang="de-DE" dirty="0" smtClean="0"/>
          </a:p>
          <a:p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Leaf</a:t>
            </a:r>
            <a:r>
              <a:rPr lang="de-DE" dirty="0" smtClean="0"/>
              <a:t> Level</a:t>
            </a:r>
          </a:p>
          <a:p>
            <a:r>
              <a:rPr lang="de-DE" dirty="0" err="1" smtClean="0"/>
              <a:t>needed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prove</a:t>
            </a:r>
            <a:endParaRPr lang="de-DE" dirty="0" smtClean="0"/>
          </a:p>
          <a:p>
            <a:r>
              <a:rPr lang="de-DE" dirty="0" smtClean="0"/>
              <a:t>Layer 4 </a:t>
            </a:r>
          </a:p>
          <a:p>
            <a:r>
              <a:rPr lang="de-DE" dirty="0" err="1" smtClean="0"/>
              <a:t>contracts</a:t>
            </a:r>
            <a:r>
              <a:rPr lang="de-DE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515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2400" y="961225"/>
            <a:ext cx="8749229" cy="5486400"/>
          </a:xfrm>
          <a:prstGeom prst="roundRect">
            <a:avLst>
              <a:gd name="adj" fmla="val 71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9199" y="1770247"/>
            <a:ext cx="3444701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15794" y="2566826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093859" y="3413452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1"/>
          <p:cNvSpPr txBox="1"/>
          <p:nvPr/>
        </p:nvSpPr>
        <p:spPr>
          <a:xfrm>
            <a:off x="1058901" y="1114680"/>
            <a:ext cx="327044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 Level Safety 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Pröperty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41"/>
          <p:cNvSpPr txBox="1"/>
          <p:nvPr/>
        </p:nvSpPr>
        <p:spPr>
          <a:xfrm>
            <a:off x="3012611" y="4674294"/>
            <a:ext cx="1912703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4 faults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Compositionality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Gekrümmte Verbindung 2"/>
          <p:cNvCxnSpPr/>
          <p:nvPr/>
        </p:nvCxnSpPr>
        <p:spPr>
          <a:xfrm flipH="1" flipV="1">
            <a:off x="5074071" y="3055242"/>
            <a:ext cx="470224" cy="1419019"/>
          </a:xfrm>
          <a:prstGeom prst="curvedConnector4">
            <a:avLst>
              <a:gd name="adj1" fmla="val -48615"/>
              <a:gd name="adj2" fmla="val 99909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/>
          <p:nvPr/>
        </p:nvSpPr>
        <p:spPr>
          <a:xfrm>
            <a:off x="3026186" y="3647389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4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6099554" y="3026087"/>
            <a:ext cx="2015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The </a:t>
            </a:r>
            <a:r>
              <a:rPr lang="de-DE" i="1" u="sng" dirty="0" err="1" smtClean="0"/>
              <a:t>inactive</a:t>
            </a:r>
            <a:r>
              <a:rPr lang="de-DE" dirty="0" smtClean="0"/>
              <a:t> </a:t>
            </a:r>
            <a:r>
              <a:rPr lang="de-DE" dirty="0" err="1" smtClean="0"/>
              <a:t>faults</a:t>
            </a:r>
            <a:endParaRPr lang="de-DE" dirty="0" smtClean="0"/>
          </a:p>
          <a:p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contracts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</a:p>
          <a:p>
            <a:r>
              <a:rPr lang="de-DE" dirty="0" smtClean="0"/>
              <a:t>Layer 4 </a:t>
            </a:r>
            <a:r>
              <a:rPr lang="de-DE" dirty="0" err="1" smtClean="0"/>
              <a:t>needed</a:t>
            </a:r>
            <a:endParaRPr lang="de-DE" dirty="0" smtClean="0"/>
          </a:p>
          <a:p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prove</a:t>
            </a:r>
            <a:r>
              <a:rPr lang="de-DE" dirty="0" smtClean="0"/>
              <a:t> </a:t>
            </a:r>
            <a:r>
              <a:rPr lang="de-DE" dirty="0" err="1" smtClean="0"/>
              <a:t>contracts</a:t>
            </a:r>
            <a:endParaRPr lang="de-DE" dirty="0" smtClean="0"/>
          </a:p>
          <a:p>
            <a:r>
              <a:rPr lang="de-DE" dirty="0" err="1" smtClean="0"/>
              <a:t>of</a:t>
            </a:r>
            <a:r>
              <a:rPr lang="de-DE" dirty="0" smtClean="0"/>
              <a:t> Layer 3.</a:t>
            </a:r>
          </a:p>
        </p:txBody>
      </p:sp>
      <p:sp>
        <p:nvSpPr>
          <p:cNvPr id="14" name="TextBox 40"/>
          <p:cNvSpPr txBox="1"/>
          <p:nvPr/>
        </p:nvSpPr>
        <p:spPr>
          <a:xfrm>
            <a:off x="2517574" y="2762854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3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9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26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2400" y="961225"/>
            <a:ext cx="8749229" cy="5486400"/>
          </a:xfrm>
          <a:prstGeom prst="roundRect">
            <a:avLst>
              <a:gd name="adj" fmla="val 71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9199" y="1770247"/>
            <a:ext cx="3444701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15794" y="2566826"/>
            <a:ext cx="3444702" cy="1907435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Layer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1"/>
          <p:cNvSpPr txBox="1"/>
          <p:nvPr/>
        </p:nvSpPr>
        <p:spPr>
          <a:xfrm>
            <a:off x="1058901" y="1114680"/>
            <a:ext cx="327044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 Level Safety 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Pröperty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41"/>
          <p:cNvSpPr txBox="1"/>
          <p:nvPr/>
        </p:nvSpPr>
        <p:spPr>
          <a:xfrm>
            <a:off x="2517574" y="3764751"/>
            <a:ext cx="2282997" cy="338554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3 faults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Compositionality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Gekrümmte Verbindung 2"/>
          <p:cNvCxnSpPr>
            <a:stCxn id="11" idx="3"/>
          </p:cNvCxnSpPr>
          <p:nvPr/>
        </p:nvCxnSpPr>
        <p:spPr>
          <a:xfrm flipH="1" flipV="1">
            <a:off x="4663900" y="2014455"/>
            <a:ext cx="396596" cy="1506089"/>
          </a:xfrm>
          <a:prstGeom prst="curvedConnector4">
            <a:avLst>
              <a:gd name="adj1" fmla="val -57641"/>
              <a:gd name="adj2" fmla="val 99218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/>
          <p:nvPr/>
        </p:nvSpPr>
        <p:spPr>
          <a:xfrm>
            <a:off x="2244017" y="1884690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2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5526677" y="1884690"/>
            <a:ext cx="2015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The </a:t>
            </a:r>
            <a:r>
              <a:rPr lang="de-DE" i="1" u="sng" dirty="0" err="1" smtClean="0"/>
              <a:t>inactive</a:t>
            </a:r>
            <a:r>
              <a:rPr lang="de-DE" dirty="0" smtClean="0"/>
              <a:t> </a:t>
            </a:r>
            <a:r>
              <a:rPr lang="de-DE" dirty="0" err="1" smtClean="0"/>
              <a:t>faults</a:t>
            </a:r>
            <a:endParaRPr lang="de-DE" dirty="0" smtClean="0"/>
          </a:p>
          <a:p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contracts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</a:p>
          <a:p>
            <a:r>
              <a:rPr lang="de-DE" dirty="0" smtClean="0"/>
              <a:t>Layer 3 </a:t>
            </a:r>
            <a:r>
              <a:rPr lang="de-DE" dirty="0" err="1" smtClean="0"/>
              <a:t>needed</a:t>
            </a:r>
            <a:endParaRPr lang="de-DE" dirty="0" smtClean="0"/>
          </a:p>
          <a:p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prove</a:t>
            </a:r>
            <a:r>
              <a:rPr lang="de-DE" dirty="0" smtClean="0"/>
              <a:t> </a:t>
            </a:r>
            <a:r>
              <a:rPr lang="de-DE" dirty="0" err="1" smtClean="0"/>
              <a:t>contracts</a:t>
            </a:r>
            <a:endParaRPr lang="de-DE" dirty="0" smtClean="0"/>
          </a:p>
          <a:p>
            <a:r>
              <a:rPr lang="de-DE" dirty="0" err="1" smtClean="0"/>
              <a:t>of</a:t>
            </a:r>
            <a:r>
              <a:rPr lang="de-DE" dirty="0" smtClean="0"/>
              <a:t> Layer 2 .</a:t>
            </a:r>
          </a:p>
        </p:txBody>
      </p:sp>
      <p:sp>
        <p:nvSpPr>
          <p:cNvPr id="14" name="TextBox 40"/>
          <p:cNvSpPr txBox="1"/>
          <p:nvPr/>
        </p:nvSpPr>
        <p:spPr>
          <a:xfrm>
            <a:off x="2517574" y="2762854"/>
            <a:ext cx="2282997" cy="584775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Layer 3 </a:t>
            </a:r>
          </a:p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5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26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53528" y="1645319"/>
            <a:ext cx="8233272" cy="471103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Built for NASA’s Transport Class Model (TCM) aircraft simulation</a:t>
            </a:r>
          </a:p>
          <a:p>
            <a:r>
              <a:rPr lang="en-US" sz="2000" dirty="0" smtClean="0"/>
              <a:t>Developed in AADL/AGREE  and includes:</a:t>
            </a:r>
          </a:p>
          <a:p>
            <a:pPr lvl="1"/>
            <a:r>
              <a:rPr lang="en-US" sz="2000" dirty="0" smtClean="0"/>
              <a:t>Control Laws</a:t>
            </a:r>
          </a:p>
          <a:p>
            <a:pPr lvl="1"/>
            <a:r>
              <a:rPr lang="en-US" sz="2000" dirty="0" smtClean="0"/>
              <a:t>Sensors</a:t>
            </a:r>
          </a:p>
          <a:p>
            <a:pPr lvl="1"/>
            <a:r>
              <a:rPr lang="en-US" sz="2000" dirty="0" smtClean="0"/>
              <a:t>Actuators</a:t>
            </a:r>
          </a:p>
          <a:p>
            <a:pPr lvl="1"/>
            <a:r>
              <a:rPr lang="en-US" sz="2000" dirty="0" smtClean="0"/>
              <a:t>Dynamics</a:t>
            </a:r>
          </a:p>
          <a:p>
            <a:r>
              <a:rPr lang="en-US" sz="2000" dirty="0" smtClean="0"/>
              <a:t>Includes a hierarchy of English language requirements</a:t>
            </a:r>
          </a:p>
          <a:p>
            <a:r>
              <a:rPr lang="en-US" sz="2000" dirty="0" smtClean="0"/>
              <a:t>Initial AADL model developed as part of CVFCS project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Quad-redundant Flight Control System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03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53528" y="1255923"/>
            <a:ext cx="6013373" cy="510042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flight control system consists of four flight control computers (FCC).</a:t>
            </a:r>
          </a:p>
          <a:p>
            <a:r>
              <a:rPr lang="en-US" sz="2000" dirty="0"/>
              <a:t>Each FCC includes:</a:t>
            </a:r>
          </a:p>
          <a:p>
            <a:pPr lvl="1"/>
            <a:r>
              <a:rPr lang="en-US" sz="2000" dirty="0"/>
              <a:t>Navigation (NAV)</a:t>
            </a:r>
          </a:p>
          <a:p>
            <a:pPr lvl="1"/>
            <a:r>
              <a:rPr lang="en-US" sz="2000" dirty="0"/>
              <a:t>Guidance (GUIDE)</a:t>
            </a:r>
          </a:p>
          <a:p>
            <a:pPr lvl="1"/>
            <a:r>
              <a:rPr lang="en-US" sz="2000" b="1" dirty="0"/>
              <a:t>Control Laws (Claws)</a:t>
            </a:r>
          </a:p>
          <a:p>
            <a:pPr lvl="1"/>
            <a:r>
              <a:rPr lang="en-US" sz="2000" b="1" dirty="0"/>
              <a:t>Input Signal Analysis and Selection (ISAS)</a:t>
            </a:r>
          </a:p>
          <a:p>
            <a:pPr lvl="1"/>
            <a:r>
              <a:rPr lang="en-US" sz="2000" b="1" dirty="0"/>
              <a:t>Output Signal Analysis and Selection (OSAS)</a:t>
            </a:r>
          </a:p>
          <a:p>
            <a:pPr lvl="1"/>
            <a:r>
              <a:rPr lang="en-US" sz="2000" dirty="0"/>
              <a:t>Cross Channel Data Link (CCDL)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QFCS Architecture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799" y="1162537"/>
            <a:ext cx="2828925" cy="278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9741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7"/>
          <p:cNvSpPr>
            <a:spLocks noChangeArrowheads="1"/>
          </p:cNvSpPr>
          <p:nvPr/>
        </p:nvSpPr>
        <p:spPr bwMode="auto">
          <a:xfrm>
            <a:off x="531813" y="1447800"/>
            <a:ext cx="8080375" cy="4762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762000" y="1676400"/>
            <a:ext cx="1138225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7202761" y="1722438"/>
            <a:ext cx="1167307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r>
              <a:rPr lang="en-US" sz="1400" b="1" dirty="0">
                <a:solidFill>
                  <a:prstClr val="black"/>
                </a:solidFill>
                <a:cs typeface="+mn-cs"/>
              </a:rPr>
              <a:t>Output:</a:t>
            </a:r>
          </a:p>
          <a:p>
            <a:pPr defTabSz="457200">
              <a:defRPr/>
            </a:pPr>
            <a:r>
              <a:rPr lang="en-US" dirty="0" smtClean="0">
                <a:solidFill>
                  <a:prstClr val="black"/>
                </a:solidFill>
                <a:cs typeface="+mn-cs"/>
              </a:rPr>
              <a:t>Throttle </a:t>
            </a:r>
            <a:r>
              <a:rPr lang="en-US" dirty="0" err="1">
                <a:solidFill>
                  <a:prstClr val="black"/>
                </a:solidFill>
                <a:cs typeface="+mn-cs"/>
              </a:rPr>
              <a:t>c</a:t>
            </a:r>
            <a:r>
              <a:rPr lang="en-US" dirty="0" err="1" smtClean="0">
                <a:solidFill>
                  <a:prstClr val="black"/>
                </a:solidFill>
                <a:cs typeface="+mn-cs"/>
              </a:rPr>
              <a:t>mds</a:t>
            </a:r>
            <a:endParaRPr lang="en-US" dirty="0" smtClean="0">
              <a:solidFill>
                <a:prstClr val="black"/>
              </a:solidFill>
              <a:cs typeface="+mn-cs"/>
            </a:endParaRPr>
          </a:p>
          <a:p>
            <a:pPr defTabSz="457200">
              <a:defRPr/>
            </a:pPr>
            <a:r>
              <a:rPr lang="en-US" dirty="0" smtClean="0">
                <a:solidFill>
                  <a:prstClr val="black"/>
                </a:solidFill>
                <a:cs typeface="+mn-cs"/>
              </a:rPr>
              <a:t>Surface </a:t>
            </a:r>
            <a:r>
              <a:rPr lang="en-US" dirty="0" err="1" smtClean="0">
                <a:solidFill>
                  <a:prstClr val="black"/>
                </a:solidFill>
                <a:cs typeface="+mn-cs"/>
              </a:rPr>
              <a:t>cmds</a:t>
            </a:r>
            <a:endParaRPr lang="en-US" dirty="0">
              <a:solidFill>
                <a:prstClr val="black"/>
              </a:solidFill>
              <a:cs typeface="+mn-cs"/>
            </a:endParaRPr>
          </a:p>
          <a:p>
            <a:pPr defTabSz="457200">
              <a:defRPr/>
            </a:pPr>
            <a:r>
              <a:rPr lang="en-US" dirty="0" smtClean="0">
                <a:solidFill>
                  <a:prstClr val="black"/>
                </a:solidFill>
                <a:cs typeface="+mn-cs"/>
              </a:rPr>
              <a:t>Display </a:t>
            </a:r>
            <a:r>
              <a:rPr lang="en-US" dirty="0">
                <a:solidFill>
                  <a:prstClr val="black"/>
                </a:solidFill>
                <a:cs typeface="+mn-cs"/>
              </a:rPr>
              <a:t>d</a:t>
            </a:r>
            <a:r>
              <a:rPr lang="en-US" dirty="0" smtClean="0">
                <a:solidFill>
                  <a:prstClr val="black"/>
                </a:solidFill>
                <a:cs typeface="+mn-cs"/>
              </a:rPr>
              <a:t>ata</a:t>
            </a:r>
            <a:endParaRPr lang="en-US" dirty="0">
              <a:solidFill>
                <a:prstClr val="black"/>
              </a:solidFill>
              <a:cs typeface="+mn-cs"/>
            </a:endParaRPr>
          </a:p>
          <a:p>
            <a:pPr defTabSz="457200">
              <a:defRPr/>
            </a:pPr>
            <a:r>
              <a:rPr lang="en-US" dirty="0">
                <a:solidFill>
                  <a:prstClr val="black"/>
                </a:solidFill>
                <a:cs typeface="+mn-cs"/>
              </a:rPr>
              <a:t>System </a:t>
            </a:r>
            <a:r>
              <a:rPr lang="en-US" dirty="0" err="1" smtClean="0">
                <a:solidFill>
                  <a:prstClr val="black"/>
                </a:solidFill>
                <a:cs typeface="+mn-cs"/>
              </a:rPr>
              <a:t>cmds</a:t>
            </a:r>
            <a:endParaRPr lang="en-US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7193236" y="1676400"/>
            <a:ext cx="1176832" cy="4114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98488" y="1690689"/>
            <a:ext cx="1200150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r" defTabSz="457200">
              <a:defRPr/>
            </a:pPr>
            <a:r>
              <a:rPr lang="en-US" sz="1400" b="1" dirty="0">
                <a:solidFill>
                  <a:prstClr val="black"/>
                </a:solidFill>
                <a:latin typeface="Arial"/>
                <a:cs typeface="Arial"/>
              </a:rPr>
              <a:t>Input:</a:t>
            </a: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INS/GPS</a:t>
            </a:r>
          </a:p>
          <a:p>
            <a:pPr algn="r" defTabSz="457200">
              <a:defRPr/>
            </a:pP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Air-data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AOA, AOS</a:t>
            </a: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Control </a:t>
            </a: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inputs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Switch </a:t>
            </a: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inputs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Actuator </a:t>
            </a: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data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Engine </a:t>
            </a: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data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algn="r" defTabSz="457200">
              <a:defRPr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Gear </a:t>
            </a: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data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algn="r"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Line 17"/>
          <p:cNvSpPr>
            <a:spLocks noChangeShapeType="1"/>
          </p:cNvSpPr>
          <p:nvPr/>
        </p:nvSpPr>
        <p:spPr bwMode="auto">
          <a:xfrm flipV="1">
            <a:off x="1900225" y="2514600"/>
            <a:ext cx="974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V="1">
            <a:off x="1900225" y="5638800"/>
            <a:ext cx="318108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2" name="Group 1"/>
          <p:cNvGrpSpPr/>
          <p:nvPr/>
        </p:nvGrpSpPr>
        <p:grpSpPr>
          <a:xfrm>
            <a:off x="2874950" y="1752600"/>
            <a:ext cx="1149350" cy="827857"/>
            <a:chOff x="4062413" y="2362200"/>
            <a:chExt cx="1149350" cy="1874838"/>
          </a:xfrm>
        </p:grpSpPr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4062413" y="2433637"/>
              <a:ext cx="1149350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ctr" defTabSz="457200">
                <a:defRPr/>
              </a:pPr>
              <a:r>
                <a:rPr lang="en-US" sz="1600" b="1" dirty="0" smtClean="0">
                  <a:solidFill>
                    <a:prstClr val="black"/>
                  </a:solidFill>
                  <a:cs typeface="+mn-cs"/>
                </a:rPr>
                <a:t>FCC 1</a:t>
              </a:r>
              <a:endParaRPr lang="en-US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4" name="Rectangle 41"/>
            <p:cNvSpPr>
              <a:spLocks noChangeArrowheads="1"/>
            </p:cNvSpPr>
            <p:nvPr/>
          </p:nvSpPr>
          <p:spPr bwMode="auto">
            <a:xfrm>
              <a:off x="4062413" y="2362200"/>
              <a:ext cx="1143000" cy="18748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sz="1200"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defTabSz="457200">
                <a:defRPr/>
              </a:pPr>
              <a:endParaRPr lang="en-US">
                <a:solidFill>
                  <a:prstClr val="black"/>
                </a:solidFill>
                <a:cs typeface="+mn-cs"/>
              </a:endParaRPr>
            </a:p>
          </p:txBody>
        </p:sp>
      </p:grpSp>
      <p:sp>
        <p:nvSpPr>
          <p:cNvPr id="15" name="Rectangle 43"/>
          <p:cNvSpPr>
            <a:spLocks noChangeArrowheads="1"/>
          </p:cNvSpPr>
          <p:nvPr/>
        </p:nvSpPr>
        <p:spPr bwMode="auto">
          <a:xfrm>
            <a:off x="3637331" y="2809057"/>
            <a:ext cx="1143000" cy="8278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16" name="Rectangle 44"/>
          <p:cNvSpPr>
            <a:spLocks noChangeArrowheads="1"/>
          </p:cNvSpPr>
          <p:nvPr/>
        </p:nvSpPr>
        <p:spPr bwMode="auto">
          <a:xfrm>
            <a:off x="4322750" y="3856039"/>
            <a:ext cx="1143000" cy="8278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17" name="Rectangle 45"/>
          <p:cNvSpPr>
            <a:spLocks noChangeArrowheads="1"/>
          </p:cNvSpPr>
          <p:nvPr/>
        </p:nvSpPr>
        <p:spPr bwMode="auto">
          <a:xfrm>
            <a:off x="5084750" y="4866458"/>
            <a:ext cx="1143000" cy="8278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3027350" y="2895600"/>
            <a:ext cx="60998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V="1">
            <a:off x="3817925" y="4191000"/>
            <a:ext cx="5048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Freeform 62"/>
          <p:cNvSpPr>
            <a:spLocks/>
          </p:cNvSpPr>
          <p:nvPr/>
        </p:nvSpPr>
        <p:spPr bwMode="auto">
          <a:xfrm flipH="1">
            <a:off x="3027349" y="2580457"/>
            <a:ext cx="2057400" cy="2829741"/>
          </a:xfrm>
          <a:custGeom>
            <a:avLst/>
            <a:gdLst>
              <a:gd name="T0" fmla="*/ 288 w 288"/>
              <a:gd name="T1" fmla="*/ 0 h 720"/>
              <a:gd name="T2" fmla="*/ 288 w 288"/>
              <a:gd name="T3" fmla="*/ 720 h 720"/>
              <a:gd name="T4" fmla="*/ 0 w 288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720">
                <a:moveTo>
                  <a:pt x="288" y="0"/>
                </a:moveTo>
                <a:lnTo>
                  <a:pt x="288" y="720"/>
                </a:lnTo>
                <a:lnTo>
                  <a:pt x="0" y="720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21" name="Freeform 67"/>
          <p:cNvSpPr>
            <a:spLocks/>
          </p:cNvSpPr>
          <p:nvPr/>
        </p:nvSpPr>
        <p:spPr bwMode="auto">
          <a:xfrm flipH="1">
            <a:off x="3789347" y="3636913"/>
            <a:ext cx="1295401" cy="1554807"/>
          </a:xfrm>
          <a:custGeom>
            <a:avLst/>
            <a:gdLst>
              <a:gd name="T0" fmla="*/ 288 w 288"/>
              <a:gd name="T1" fmla="*/ 0 h 720"/>
              <a:gd name="T2" fmla="*/ 288 w 288"/>
              <a:gd name="T3" fmla="*/ 720 h 720"/>
              <a:gd name="T4" fmla="*/ 0 w 288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720">
                <a:moveTo>
                  <a:pt x="288" y="0"/>
                </a:moveTo>
                <a:lnTo>
                  <a:pt x="288" y="720"/>
                </a:lnTo>
                <a:lnTo>
                  <a:pt x="0" y="720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22" name="Freeform 68"/>
          <p:cNvSpPr>
            <a:spLocks/>
          </p:cNvSpPr>
          <p:nvPr/>
        </p:nvSpPr>
        <p:spPr bwMode="auto">
          <a:xfrm flipH="1">
            <a:off x="4475150" y="4683895"/>
            <a:ext cx="606158" cy="292477"/>
          </a:xfrm>
          <a:custGeom>
            <a:avLst/>
            <a:gdLst>
              <a:gd name="T0" fmla="*/ 288 w 288"/>
              <a:gd name="T1" fmla="*/ 0 h 720"/>
              <a:gd name="T2" fmla="*/ 288 w 288"/>
              <a:gd name="T3" fmla="*/ 720 h 720"/>
              <a:gd name="T4" fmla="*/ 0 w 288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720">
                <a:moveTo>
                  <a:pt x="288" y="0"/>
                </a:moveTo>
                <a:lnTo>
                  <a:pt x="288" y="720"/>
                </a:lnTo>
                <a:lnTo>
                  <a:pt x="0" y="720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 rot="10800000" flipH="1" flipV="1">
            <a:off x="6222975" y="4953000"/>
            <a:ext cx="974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 rot="10800000" flipH="1" flipV="1">
            <a:off x="4016617" y="1828800"/>
            <a:ext cx="318108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Line 17"/>
          <p:cNvSpPr>
            <a:spLocks noChangeShapeType="1"/>
          </p:cNvSpPr>
          <p:nvPr/>
        </p:nvSpPr>
        <p:spPr bwMode="auto">
          <a:xfrm rot="10800000" flipV="1">
            <a:off x="5460593" y="4572000"/>
            <a:ext cx="60998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 rot="10800000" flipV="1">
            <a:off x="4775175" y="3276600"/>
            <a:ext cx="5048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Freeform 86"/>
          <p:cNvSpPr>
            <a:spLocks/>
          </p:cNvSpPr>
          <p:nvPr/>
        </p:nvSpPr>
        <p:spPr bwMode="auto">
          <a:xfrm rot="10800000" flipH="1">
            <a:off x="4013176" y="2057402"/>
            <a:ext cx="2057400" cy="2809056"/>
          </a:xfrm>
          <a:custGeom>
            <a:avLst/>
            <a:gdLst>
              <a:gd name="T0" fmla="*/ 288 w 288"/>
              <a:gd name="T1" fmla="*/ 0 h 720"/>
              <a:gd name="T2" fmla="*/ 288 w 288"/>
              <a:gd name="T3" fmla="*/ 720 h 720"/>
              <a:gd name="T4" fmla="*/ 0 w 288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720">
                <a:moveTo>
                  <a:pt x="288" y="0"/>
                </a:moveTo>
                <a:lnTo>
                  <a:pt x="288" y="720"/>
                </a:lnTo>
                <a:lnTo>
                  <a:pt x="0" y="720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28" name="Freeform 87"/>
          <p:cNvSpPr>
            <a:spLocks/>
          </p:cNvSpPr>
          <p:nvPr/>
        </p:nvSpPr>
        <p:spPr bwMode="auto">
          <a:xfrm rot="10800000" flipH="1">
            <a:off x="4013177" y="2275879"/>
            <a:ext cx="1295401" cy="1590502"/>
          </a:xfrm>
          <a:custGeom>
            <a:avLst/>
            <a:gdLst>
              <a:gd name="T0" fmla="*/ 288 w 288"/>
              <a:gd name="T1" fmla="*/ 0 h 720"/>
              <a:gd name="T2" fmla="*/ 288 w 288"/>
              <a:gd name="T3" fmla="*/ 720 h 720"/>
              <a:gd name="T4" fmla="*/ 0 w 288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720">
                <a:moveTo>
                  <a:pt x="288" y="0"/>
                </a:moveTo>
                <a:lnTo>
                  <a:pt x="288" y="720"/>
                </a:lnTo>
                <a:lnTo>
                  <a:pt x="0" y="720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29" name="Freeform 88"/>
          <p:cNvSpPr>
            <a:spLocks/>
          </p:cNvSpPr>
          <p:nvPr/>
        </p:nvSpPr>
        <p:spPr bwMode="auto">
          <a:xfrm rot="10800000" flipH="1">
            <a:off x="4016617" y="2491227"/>
            <a:ext cx="606158" cy="317829"/>
          </a:xfrm>
          <a:custGeom>
            <a:avLst/>
            <a:gdLst>
              <a:gd name="T0" fmla="*/ 288 w 288"/>
              <a:gd name="T1" fmla="*/ 0 h 720"/>
              <a:gd name="T2" fmla="*/ 288 w 288"/>
              <a:gd name="T3" fmla="*/ 720 h 720"/>
              <a:gd name="T4" fmla="*/ 0 w 288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720">
                <a:moveTo>
                  <a:pt x="288" y="0"/>
                </a:moveTo>
                <a:lnTo>
                  <a:pt x="288" y="720"/>
                </a:lnTo>
                <a:lnTo>
                  <a:pt x="0" y="720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3625825" y="2811898"/>
            <a:ext cx="11493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 defTabSz="457200">
              <a:defRPr/>
            </a:pPr>
            <a:r>
              <a:rPr lang="en-US" sz="1600" b="1" dirty="0" smtClean="0">
                <a:solidFill>
                  <a:prstClr val="black"/>
                </a:solidFill>
                <a:cs typeface="+mn-cs"/>
              </a:rPr>
              <a:t>FCC 2</a:t>
            </a:r>
            <a:endParaRPr lang="en-US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322750" y="3829370"/>
            <a:ext cx="11493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 defTabSz="457200">
              <a:defRPr/>
            </a:pPr>
            <a:r>
              <a:rPr lang="en-US" sz="1600" b="1" dirty="0" smtClean="0">
                <a:solidFill>
                  <a:prstClr val="black"/>
                </a:solidFill>
                <a:cs typeface="+mn-cs"/>
              </a:rPr>
              <a:t>FCC 3</a:t>
            </a:r>
            <a:endParaRPr lang="en-US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5084750" y="4878253"/>
            <a:ext cx="11493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 defTabSz="457200">
              <a:defRPr/>
            </a:pPr>
            <a:r>
              <a:rPr lang="en-US" sz="1600" b="1" dirty="0" smtClean="0">
                <a:solidFill>
                  <a:prstClr val="black"/>
                </a:solidFill>
                <a:cs typeface="+mn-cs"/>
              </a:rPr>
              <a:t>FCC 4</a:t>
            </a:r>
            <a:endParaRPr lang="en-US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33" name="Rectangle 17"/>
          <p:cNvSpPr/>
          <p:nvPr/>
        </p:nvSpPr>
        <p:spPr>
          <a:xfrm>
            <a:off x="2971800" y="3476625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34" name="Rectangle 98"/>
          <p:cNvSpPr/>
          <p:nvPr/>
        </p:nvSpPr>
        <p:spPr>
          <a:xfrm>
            <a:off x="5252310" y="3443782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35" name="Rectangle 95"/>
          <p:cNvSpPr/>
          <p:nvPr/>
        </p:nvSpPr>
        <p:spPr>
          <a:xfrm>
            <a:off x="5252310" y="2799276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36" name="Rectangle 100"/>
          <p:cNvSpPr/>
          <p:nvPr/>
        </p:nvSpPr>
        <p:spPr>
          <a:xfrm>
            <a:off x="6014307" y="2799277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37" name="Rectangle 94"/>
          <p:cNvSpPr/>
          <p:nvPr/>
        </p:nvSpPr>
        <p:spPr>
          <a:xfrm>
            <a:off x="3733079" y="3904489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38" name="Rectangle 96"/>
          <p:cNvSpPr/>
          <p:nvPr/>
        </p:nvSpPr>
        <p:spPr>
          <a:xfrm>
            <a:off x="2971800" y="4545485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39" name="Rectangle 97"/>
          <p:cNvSpPr/>
          <p:nvPr/>
        </p:nvSpPr>
        <p:spPr>
          <a:xfrm>
            <a:off x="3729727" y="4545485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" name="Rectangle 99"/>
          <p:cNvSpPr/>
          <p:nvPr/>
        </p:nvSpPr>
        <p:spPr>
          <a:xfrm>
            <a:off x="6014307" y="3868411"/>
            <a:ext cx="112535" cy="12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" name="Line 17"/>
          <p:cNvSpPr>
            <a:spLocks noChangeShapeType="1"/>
          </p:cNvSpPr>
          <p:nvPr/>
        </p:nvSpPr>
        <p:spPr bwMode="auto">
          <a:xfrm flipV="1">
            <a:off x="1900225" y="3540104"/>
            <a:ext cx="173710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2" name="Line 17"/>
          <p:cNvSpPr>
            <a:spLocks noChangeShapeType="1"/>
          </p:cNvSpPr>
          <p:nvPr/>
        </p:nvSpPr>
        <p:spPr bwMode="auto">
          <a:xfrm flipV="1">
            <a:off x="3027349" y="3962400"/>
            <a:ext cx="1295401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3" name="Line 17"/>
          <p:cNvSpPr>
            <a:spLocks noChangeShapeType="1"/>
          </p:cNvSpPr>
          <p:nvPr/>
        </p:nvSpPr>
        <p:spPr bwMode="auto">
          <a:xfrm flipV="1">
            <a:off x="1912925" y="4606904"/>
            <a:ext cx="24098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 rot="10800000" flipH="1" flipV="1">
            <a:off x="5460593" y="3927496"/>
            <a:ext cx="173710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 rot="10800000" flipV="1">
            <a:off x="4775175" y="3505200"/>
            <a:ext cx="1295401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 rot="10800000" flipH="1" flipV="1">
            <a:off x="4775175" y="2860696"/>
            <a:ext cx="24098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>
              <a:defRPr/>
            </a:pP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QFCS Architecture</a:t>
            </a:r>
          </a:p>
        </p:txBody>
      </p:sp>
    </p:spTree>
    <p:extLst>
      <p:ext uri="{BB962C8B-B14F-4D97-AF65-F5344CB8AC3E}">
        <p14:creationId xmlns:p14="http://schemas.microsoft.com/office/powerpoint/2010/main" val="997676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2400" y="961225"/>
            <a:ext cx="6934201" cy="5486400"/>
          </a:xfrm>
          <a:prstGeom prst="roundRect">
            <a:avLst>
              <a:gd name="adj" fmla="val 71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FCS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219200" y="1761388"/>
            <a:ext cx="3444702" cy="1907435"/>
            <a:chOff x="2362200" y="4191000"/>
            <a:chExt cx="2895600" cy="1281113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4191000"/>
              <a:ext cx="2895600" cy="1281113"/>
            </a:xfrm>
            <a:prstGeom prst="roundRect">
              <a:avLst>
                <a:gd name="adj" fmla="val 712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FCC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24125" y="4606527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CLAW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400425" y="4606527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305300" y="4612479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615794" y="2566826"/>
            <a:ext cx="3444702" cy="1907435"/>
            <a:chOff x="2362200" y="4191000"/>
            <a:chExt cx="2895600" cy="1281113"/>
          </a:xfrm>
        </p:grpSpPr>
        <p:sp>
          <p:nvSpPr>
            <p:cNvPr id="11" name="Rounded Rectangle 10"/>
            <p:cNvSpPr/>
            <p:nvPr/>
          </p:nvSpPr>
          <p:spPr>
            <a:xfrm>
              <a:off x="2362200" y="4191000"/>
              <a:ext cx="2895600" cy="1281113"/>
            </a:xfrm>
            <a:prstGeom prst="roundRect">
              <a:avLst>
                <a:gd name="adj" fmla="val 712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FCC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524125" y="4606527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CLAW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400425" y="4606527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05300" y="4612479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093859" y="3413452"/>
            <a:ext cx="3444702" cy="1907435"/>
            <a:chOff x="2362200" y="4191000"/>
            <a:chExt cx="2895600" cy="1281113"/>
          </a:xfrm>
        </p:grpSpPr>
        <p:sp>
          <p:nvSpPr>
            <p:cNvPr id="16" name="Rounded Rectangle 15"/>
            <p:cNvSpPr/>
            <p:nvPr/>
          </p:nvSpPr>
          <p:spPr>
            <a:xfrm>
              <a:off x="2362200" y="4191000"/>
              <a:ext cx="2895600" cy="1281113"/>
            </a:xfrm>
            <a:prstGeom prst="roundRect">
              <a:avLst>
                <a:gd name="adj" fmla="val 712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FCC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524125" y="4606527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CLAW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00425" y="4606527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305300" y="4612479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564084" y="4288155"/>
            <a:ext cx="3444702" cy="1907435"/>
            <a:chOff x="2362200" y="4191000"/>
            <a:chExt cx="2895600" cy="1281113"/>
          </a:xfrm>
        </p:grpSpPr>
        <p:sp>
          <p:nvSpPr>
            <p:cNvPr id="21" name="Rounded Rectangle 20"/>
            <p:cNvSpPr/>
            <p:nvPr/>
          </p:nvSpPr>
          <p:spPr>
            <a:xfrm>
              <a:off x="2362200" y="4191000"/>
              <a:ext cx="2895600" cy="1281113"/>
            </a:xfrm>
            <a:prstGeom prst="roundRect">
              <a:avLst>
                <a:gd name="adj" fmla="val 712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FCC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524125" y="4725591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CLAW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400425" y="4725591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305300" y="4731543"/>
              <a:ext cx="752475" cy="450057"/>
            </a:xfrm>
            <a:prstGeom prst="roundRect">
              <a:avLst>
                <a:gd name="adj" fmla="val 1982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OSAS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314336" y="1860524"/>
            <a:ext cx="694081" cy="37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EGI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315200" y="2409025"/>
            <a:ext cx="801097" cy="37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AOA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315200" y="3018625"/>
            <a:ext cx="785811" cy="37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ADS</a:t>
            </a:r>
            <a:endParaRPr lang="en-US" dirty="0"/>
          </a:p>
        </p:txBody>
      </p:sp>
      <p:sp>
        <p:nvSpPr>
          <p:cNvPr id="28" name="Isosceles Triangle 30"/>
          <p:cNvSpPr/>
          <p:nvPr/>
        </p:nvSpPr>
        <p:spPr>
          <a:xfrm rot="16200000">
            <a:off x="6780940" y="1933087"/>
            <a:ext cx="338791" cy="27252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31"/>
          <p:cNvSpPr/>
          <p:nvPr/>
        </p:nvSpPr>
        <p:spPr>
          <a:xfrm rot="16200000">
            <a:off x="6780940" y="2534388"/>
            <a:ext cx="338791" cy="27252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32"/>
          <p:cNvSpPr/>
          <p:nvPr/>
        </p:nvSpPr>
        <p:spPr>
          <a:xfrm rot="16200000">
            <a:off x="6780940" y="3101655"/>
            <a:ext cx="338791" cy="27252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3"/>
          <p:cNvSpPr/>
          <p:nvPr/>
        </p:nvSpPr>
        <p:spPr>
          <a:xfrm rot="5400000" flipH="1">
            <a:off x="7053467" y="3634889"/>
            <a:ext cx="338791" cy="27252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4"/>
          <p:cNvSpPr/>
          <p:nvPr/>
        </p:nvSpPr>
        <p:spPr>
          <a:xfrm rot="16200000">
            <a:off x="6780940" y="4202153"/>
            <a:ext cx="338791" cy="27252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5"/>
          <p:cNvSpPr/>
          <p:nvPr/>
        </p:nvSpPr>
        <p:spPr>
          <a:xfrm rot="16200000">
            <a:off x="6780940" y="4769420"/>
            <a:ext cx="338791" cy="27252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1"/>
          <p:cNvSpPr txBox="1"/>
          <p:nvPr/>
        </p:nvSpPr>
        <p:spPr>
          <a:xfrm>
            <a:off x="1058901" y="1114680"/>
            <a:ext cx="2275415" cy="504069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AGREE contract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Box 40"/>
          <p:cNvSpPr txBox="1"/>
          <p:nvPr/>
        </p:nvSpPr>
        <p:spPr>
          <a:xfrm>
            <a:off x="3349476" y="4495650"/>
            <a:ext cx="2275415" cy="504069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AGREE contract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41"/>
          <p:cNvSpPr txBox="1"/>
          <p:nvPr/>
        </p:nvSpPr>
        <p:spPr>
          <a:xfrm>
            <a:off x="2987946" y="6248356"/>
            <a:ext cx="2422254" cy="504069"/>
          </a:xfrm>
          <a:prstGeom prst="rect">
            <a:avLst/>
          </a:prstGeom>
          <a:solidFill>
            <a:srgbClr val="ABB41D"/>
          </a:solidFill>
          <a:ln>
            <a:solidFill>
              <a:srgbClr val="ABB41D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AGREE contracts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7" name="Straight Arrow Connector 42"/>
          <p:cNvCxnSpPr/>
          <p:nvPr/>
        </p:nvCxnSpPr>
        <p:spPr>
          <a:xfrm flipV="1">
            <a:off x="3360576" y="5722484"/>
            <a:ext cx="0" cy="525873"/>
          </a:xfrm>
          <a:prstGeom prst="straightConnector1">
            <a:avLst/>
          </a:prstGeom>
          <a:ln w="28575">
            <a:solidFill>
              <a:srgbClr val="ABB41D"/>
            </a:solidFill>
            <a:miter lim="800000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44"/>
          <p:cNvCxnSpPr>
            <a:stCxn id="36" idx="0"/>
          </p:cNvCxnSpPr>
          <p:nvPr/>
        </p:nvCxnSpPr>
        <p:spPr>
          <a:xfrm flipV="1">
            <a:off x="4199073" y="5731348"/>
            <a:ext cx="11346" cy="517008"/>
          </a:xfrm>
          <a:prstGeom prst="straightConnector1">
            <a:avLst/>
          </a:prstGeom>
          <a:ln w="28575">
            <a:solidFill>
              <a:srgbClr val="ABB41D"/>
            </a:solidFill>
            <a:miter lim="800000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45"/>
          <p:cNvCxnSpPr/>
          <p:nvPr/>
        </p:nvCxnSpPr>
        <p:spPr>
          <a:xfrm flipV="1">
            <a:off x="5026270" y="5731346"/>
            <a:ext cx="0" cy="517011"/>
          </a:xfrm>
          <a:prstGeom prst="straightConnector1">
            <a:avLst/>
          </a:prstGeom>
          <a:ln w="28575">
            <a:solidFill>
              <a:srgbClr val="ABB41D"/>
            </a:solidFill>
            <a:miter lim="800000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29"/>
          <p:cNvSpPr txBox="1"/>
          <p:nvPr/>
        </p:nvSpPr>
        <p:spPr>
          <a:xfrm>
            <a:off x="7315200" y="4618825"/>
            <a:ext cx="2100590" cy="37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Actuator Sense</a:t>
            </a:r>
            <a:endParaRPr lang="en-US" dirty="0"/>
          </a:p>
        </p:txBody>
      </p:sp>
      <p:sp>
        <p:nvSpPr>
          <p:cNvPr id="77" name="TextBox 28"/>
          <p:cNvSpPr txBox="1"/>
          <p:nvPr/>
        </p:nvSpPr>
        <p:spPr>
          <a:xfrm>
            <a:off x="7314336" y="4112728"/>
            <a:ext cx="2146453" cy="37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Actuator Return</a:t>
            </a:r>
            <a:endParaRPr lang="en-US" dirty="0"/>
          </a:p>
        </p:txBody>
      </p:sp>
      <p:sp>
        <p:nvSpPr>
          <p:cNvPr id="78" name="TextBox 27"/>
          <p:cNvSpPr txBox="1"/>
          <p:nvPr/>
        </p:nvSpPr>
        <p:spPr>
          <a:xfrm>
            <a:off x="7344816" y="3554802"/>
            <a:ext cx="2589809" cy="37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Actuator Comm.</a:t>
            </a:r>
            <a:endParaRPr lang="en-US" dirty="0"/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605928" y="288926"/>
            <a:ext cx="7772400" cy="5794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QFCS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4167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e-DE" sz="3600" b="1" dirty="0" err="1">
                <a:solidFill>
                  <a:schemeClr val="bg1">
                    <a:lumMod val="50000"/>
                  </a:schemeClr>
                </a:solidFill>
              </a:rPr>
              <a:t>Byzantine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3600" b="1" dirty="0" err="1" smtClean="0">
                <a:solidFill>
                  <a:schemeClr val="bg1">
                    <a:lumMod val="50000"/>
                  </a:schemeClr>
                </a:solidFill>
              </a:rPr>
              <a:t>Faults</a:t>
            </a: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 Simulation: </a:t>
            </a:r>
            <a:b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de-DE" sz="3600" b="1" dirty="0" smtClean="0">
                <a:solidFill>
                  <a:schemeClr val="bg1">
                    <a:lumMod val="50000"/>
                  </a:schemeClr>
                </a:solidFill>
              </a:rPr>
              <a:t>Flight </a:t>
            </a:r>
            <a:r>
              <a:rPr lang="de-DE" sz="3600" b="1" dirty="0">
                <a:solidFill>
                  <a:schemeClr val="bg1">
                    <a:lumMod val="50000"/>
                  </a:schemeClr>
                </a:solidFill>
              </a:rPr>
              <a:t>Control Computer </a:t>
            </a:r>
            <a:r>
              <a:rPr lang="de-DE" sz="3600" dirty="0"/>
              <a:t/>
            </a:r>
            <a:br>
              <a:rPr lang="de-DE" sz="3600" dirty="0"/>
            </a:br>
            <a:endParaRPr lang="de-DE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Created</a:t>
            </a:r>
            <a:r>
              <a:rPr lang="de-DE" dirty="0" smtClean="0"/>
              <a:t> multiple </a:t>
            </a:r>
            <a:r>
              <a:rPr lang="de-DE" dirty="0" err="1" smtClean="0"/>
              <a:t>connections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observers</a:t>
            </a:r>
            <a:endParaRPr lang="de-DE" dirty="0" smtClean="0"/>
          </a:p>
          <a:p>
            <a:r>
              <a:rPr lang="de-DE" dirty="0" err="1" smtClean="0"/>
              <a:t>Introduced</a:t>
            </a:r>
            <a:r>
              <a:rPr lang="de-DE" dirty="0" smtClean="0"/>
              <a:t> </a:t>
            </a:r>
            <a:r>
              <a:rPr lang="de-DE" dirty="0" err="1" smtClean="0"/>
              <a:t>disagreement</a:t>
            </a:r>
            <a:r>
              <a:rPr lang="de-DE" dirty="0" smtClean="0"/>
              <a:t> </a:t>
            </a:r>
            <a:r>
              <a:rPr lang="de-DE" dirty="0" err="1" smtClean="0"/>
              <a:t>through</a:t>
            </a:r>
            <a:r>
              <a:rPr lang="de-DE" dirty="0" smtClean="0"/>
              <a:t> fault </a:t>
            </a:r>
            <a:r>
              <a:rPr lang="de-DE" dirty="0" err="1" smtClean="0"/>
              <a:t>injection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04707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</Words>
  <Application>Microsoft Office PowerPoint</Application>
  <PresentationFormat>Bildschirmpräsentation (4:3)</PresentationFormat>
  <Paragraphs>281</Paragraphs>
  <Slides>37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38" baseType="lpstr">
      <vt:lpstr>Office Theme</vt:lpstr>
      <vt:lpstr>Architectural Modeling and Analysis for Safety Engineering (AMASE)</vt:lpstr>
      <vt:lpstr>Year Two Overview</vt:lpstr>
      <vt:lpstr>Year Two Overview</vt:lpstr>
      <vt:lpstr>Year Two Overview</vt:lpstr>
      <vt:lpstr>Wheel Brake System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Safety Annex </vt:lpstr>
      <vt:lpstr>WBS : No inadvertent braking</vt:lpstr>
      <vt:lpstr>A Fault on the Pedal Sensor Component</vt:lpstr>
      <vt:lpstr>Behavioral Fault Propagation</vt:lpstr>
      <vt:lpstr>Active Sensor Fault</vt:lpstr>
      <vt:lpstr>Maximum Fault vs. Probabilistic </vt:lpstr>
      <vt:lpstr>Maximum Fault vs. Probabilistic </vt:lpstr>
      <vt:lpstr>Maximum Fault vs. Probabilistic </vt:lpstr>
      <vt:lpstr>Maximum Fault vs. Probabilistic </vt:lpstr>
      <vt:lpstr>PowerPoint-Präsentation</vt:lpstr>
      <vt:lpstr>Cut Set Generation </vt:lpstr>
      <vt:lpstr>Inductive Validity Cores </vt:lpstr>
      <vt:lpstr>Inductive Validity Cores </vt:lpstr>
      <vt:lpstr>Inductive Validity Cores </vt:lpstr>
      <vt:lpstr>Inductive Validity Cores </vt:lpstr>
      <vt:lpstr>Inductive Validity Cores </vt:lpstr>
      <vt:lpstr>Inductive Validity Cores with Faults </vt:lpstr>
      <vt:lpstr>Inductive Validity Cores with Faults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Byzantine Faults Simulation:  Flight Control Computer 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Modeling and Analysis for Safety Engineering</dc:title>
  <dc:creator>Danielle Stewart</dc:creator>
  <cp:lastModifiedBy>Danielle Kristen Stewart</cp:lastModifiedBy>
  <cp:revision>191</cp:revision>
  <dcterms:created xsi:type="dcterms:W3CDTF">2017-09-14T09:39:38Z</dcterms:created>
  <dcterms:modified xsi:type="dcterms:W3CDTF">2018-09-07T09:36:37Z</dcterms:modified>
</cp:coreProperties>
</file>