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7" r:id="rId1"/>
  </p:sldMasterIdLst>
  <p:notesMasterIdLst>
    <p:notesMasterId r:id="rId32"/>
  </p:notesMasterIdLst>
  <p:sldIdLst>
    <p:sldId id="256" r:id="rId2"/>
    <p:sldId id="315" r:id="rId3"/>
    <p:sldId id="316" r:id="rId4"/>
    <p:sldId id="314" r:id="rId5"/>
    <p:sldId id="317" r:id="rId6"/>
    <p:sldId id="297" r:id="rId7"/>
    <p:sldId id="300" r:id="rId8"/>
    <p:sldId id="266" r:id="rId9"/>
    <p:sldId id="304" r:id="rId10"/>
    <p:sldId id="303" r:id="rId11"/>
    <p:sldId id="306" r:id="rId12"/>
    <p:sldId id="321" r:id="rId13"/>
    <p:sldId id="319" r:id="rId14"/>
    <p:sldId id="277" r:id="rId15"/>
    <p:sldId id="299" r:id="rId16"/>
    <p:sldId id="276" r:id="rId17"/>
    <p:sldId id="278" r:id="rId18"/>
    <p:sldId id="279" r:id="rId19"/>
    <p:sldId id="280" r:id="rId20"/>
    <p:sldId id="264" r:id="rId21"/>
    <p:sldId id="313" r:id="rId22"/>
    <p:sldId id="289" r:id="rId23"/>
    <p:sldId id="283" r:id="rId24"/>
    <p:sldId id="312" r:id="rId25"/>
    <p:sldId id="288" r:id="rId26"/>
    <p:sldId id="271" r:id="rId27"/>
    <p:sldId id="301" r:id="rId28"/>
    <p:sldId id="269" r:id="rId29"/>
    <p:sldId id="270" r:id="rId30"/>
    <p:sldId id="30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199" autoAdjust="0"/>
    <p:restoredTop sz="94660"/>
  </p:normalViewPr>
  <p:slideViewPr>
    <p:cSldViewPr snapToGrid="0">
      <p:cViewPr varScale="1">
        <p:scale>
          <a:sx n="55" d="100"/>
          <a:sy n="55" d="100"/>
        </p:scale>
        <p:origin x="56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4BA46-65E4-4926-BBF5-BD1A87F21426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06AB7-3EC5-4025-8D6F-3DA60828F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D56E-041D-4885-8BAE-2A6C32A2323C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89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7C8E-FB8B-4424-B616-B67A93C9159B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6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0DE8-4527-43B1-871B-845AA691F219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06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7BAFE-EA69-42C3-BBC9-8AD3A396DF2B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66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7CAD-FC13-47E9-AF14-F125FB9D131B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05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93045-D23D-42A9-815C-C7273D41DC38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8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DA2F-B925-4320-B39A-DBAB5933A0A7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73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AE5968-348F-4C7E-ACD4-1B37579FFBC5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67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FEFD-DAFD-455D-9EA5-4BE782C24721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78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D78D4-4868-47A9-AC9D-716350C335EE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86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31902-BFC7-4CD8-B9C2-C11B306CFFF7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37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3D68D8-ECC3-4A25-B2A4-B93FAF0FACC5}" type="datetime1">
              <a:rPr lang="en-US" smtClean="0"/>
              <a:t>4/14/2020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9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PNG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201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34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30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12" Type="http://schemas.openxmlformats.org/officeDocument/2006/relationships/image" Target="../media/image42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410.png"/><Relationship Id="rId5" Type="http://schemas.openxmlformats.org/officeDocument/2006/relationships/image" Target="../media/image350.png"/><Relationship Id="rId15" Type="http://schemas.openxmlformats.org/officeDocument/2006/relationships/image" Target="../media/image450.png"/><Relationship Id="rId10" Type="http://schemas.openxmlformats.org/officeDocument/2006/relationships/image" Target="../media/image400.png"/><Relationship Id="rId4" Type="http://schemas.openxmlformats.org/officeDocument/2006/relationships/image" Target="../media/image340.png"/><Relationship Id="rId9" Type="http://schemas.openxmlformats.org/officeDocument/2006/relationships/image" Target="../media/image390.png"/><Relationship Id="rId14" Type="http://schemas.openxmlformats.org/officeDocument/2006/relationships/image" Target="../media/image4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Inductive Validity Cores to Generate Minimal Cut Sets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University </a:t>
            </a:r>
            <a:r>
              <a:rPr lang="en-US" dirty="0" smtClean="0"/>
              <a:t>of Minnesota</a:t>
            </a:r>
          </a:p>
          <a:p>
            <a:r>
              <a:rPr lang="en-US" dirty="0" smtClean="0"/>
              <a:t>Danielle Stewart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609" y="4833384"/>
            <a:ext cx="1634855" cy="129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207" y="2002364"/>
            <a:ext cx="7633251" cy="4192417"/>
          </a:xfrm>
          <a:prstGeom prst="rect">
            <a:avLst/>
          </a:prstGeom>
        </p:spPr>
      </p:pic>
      <p:sp>
        <p:nvSpPr>
          <p:cNvPr id="69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Critical System Development</a:t>
            </a:r>
            <a:endParaRPr lang="en-US" dirty="0"/>
          </a:p>
        </p:txBody>
      </p:sp>
      <p:sp>
        <p:nvSpPr>
          <p:cNvPr id="71" name="Rounded Rectangle 70"/>
          <p:cNvSpPr/>
          <p:nvPr/>
        </p:nvSpPr>
        <p:spPr>
          <a:xfrm>
            <a:off x="195819" y="2002364"/>
            <a:ext cx="1802921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 Development</a:t>
            </a:r>
            <a:endParaRPr lang="en-US" dirty="0"/>
          </a:p>
        </p:txBody>
      </p:sp>
      <p:sp>
        <p:nvSpPr>
          <p:cNvPr id="75" name="Rounded Rectangle 74"/>
          <p:cNvSpPr/>
          <p:nvPr/>
        </p:nvSpPr>
        <p:spPr>
          <a:xfrm>
            <a:off x="8704053" y="5788325"/>
            <a:ext cx="1852417" cy="40645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Safety Analysis</a:t>
            </a:r>
            <a:endParaRPr lang="en-US" dirty="0"/>
          </a:p>
        </p:txBody>
      </p:sp>
      <p:cxnSp>
        <p:nvCxnSpPr>
          <p:cNvPr id="77" name="Elbow Connector 76"/>
          <p:cNvCxnSpPr/>
          <p:nvPr/>
        </p:nvCxnSpPr>
        <p:spPr>
          <a:xfrm rot="16200000" flipV="1">
            <a:off x="9324944" y="4605416"/>
            <a:ext cx="1522313" cy="813820"/>
          </a:xfrm>
          <a:prstGeom prst="bentConnector3">
            <a:avLst>
              <a:gd name="adj1" fmla="val 10005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129159" y="2537064"/>
            <a:ext cx="2502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998839" y="2989006"/>
            <a:ext cx="6508955" cy="25664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Elbow Connector 92"/>
          <p:cNvCxnSpPr/>
          <p:nvPr/>
        </p:nvCxnSpPr>
        <p:spPr>
          <a:xfrm rot="16200000" flipH="1">
            <a:off x="1890422" y="2059475"/>
            <a:ext cx="3080913" cy="456610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80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5" grpId="0" animBg="1"/>
      <p:bldP spid="9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Artifacts of the Safety Assessment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Fault Trees: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The relationship between active faults and the hazard they cause.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Usually reflects signal flows within the system.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Minimal cut sets: 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The </a:t>
            </a:r>
            <a:r>
              <a:rPr lang="en-US" dirty="0" smtClean="0"/>
              <a:t>minimal sets of faults that lead to a given hazard.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The faults in the AND nodes of the fault tree.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24" y="1971190"/>
            <a:ext cx="4010025" cy="34385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80239" y="2226355"/>
            <a:ext cx="683394" cy="20339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Top Level Event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0630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Minimal Cut </a:t>
            </a:r>
            <a:r>
              <a:rPr lang="en-US" dirty="0" smtClean="0"/>
              <a:t>Sets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1258" y="1945239"/>
            <a:ext cx="6732617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u="sng" dirty="0"/>
          </a:p>
          <a:p>
            <a:pPr marL="201168" lvl="1" indent="0">
              <a:buNone/>
            </a:pPr>
            <a:r>
              <a:rPr lang="de-DE" sz="2800" dirty="0" smtClean="0"/>
              <a:t>Minimal sets </a:t>
            </a:r>
            <a:r>
              <a:rPr lang="de-DE" sz="2800" dirty="0"/>
              <a:t>of faults that </a:t>
            </a:r>
            <a:r>
              <a:rPr lang="de-DE" sz="2800" dirty="0" smtClean="0"/>
              <a:t>violate safety property</a:t>
            </a:r>
          </a:p>
          <a:p>
            <a:pPr lvl="1"/>
            <a:r>
              <a:rPr lang="de-DE" sz="2000" dirty="0" smtClean="0"/>
              <a:t>Commonly used as safety analysis artifact</a:t>
            </a:r>
          </a:p>
          <a:p>
            <a:pPr lvl="1"/>
            <a:r>
              <a:rPr lang="de-DE" sz="2000" dirty="0" smtClean="0"/>
              <a:t>Gives information on critical faults in a system</a:t>
            </a:r>
            <a:endParaRPr lang="de-DE" sz="2000" dirty="0" smtClean="0"/>
          </a:p>
          <a:p>
            <a:pPr lvl="1"/>
            <a:r>
              <a:rPr lang="de-DE" sz="2000" dirty="0" smtClean="0"/>
              <a:t>Often performed manually</a:t>
            </a:r>
          </a:p>
          <a:p>
            <a:pPr lvl="1"/>
            <a:r>
              <a:rPr lang="de-DE" sz="2000" dirty="0" smtClean="0"/>
              <a:t>Automatic generation hindered by scalability issues</a:t>
            </a:r>
            <a:endParaRPr lang="de-DE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173149"/>
            <a:ext cx="4010025" cy="34385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90517" y="4684108"/>
            <a:ext cx="5374257" cy="14923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The main idea: </a:t>
            </a:r>
          </a:p>
          <a:p>
            <a:pPr algn="ctr"/>
            <a:r>
              <a:rPr lang="en-US" dirty="0" smtClean="0"/>
              <a:t>Automatic generation of minimal cut sets via proof information provided by model checker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14068" y="2303253"/>
            <a:ext cx="2165016" cy="109555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14068" y="2514924"/>
                <a:ext cx="21650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MinCutSet</a:t>
                </a:r>
                <a:r>
                  <a:rPr lang="en-US" dirty="0" smtClean="0"/>
                  <a:t> 1: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0" dirty="0" err="1" smtClean="0"/>
                  <a:t>MinCutSet</a:t>
                </a:r>
                <a:r>
                  <a:rPr lang="en-US" b="0" dirty="0" smtClean="0"/>
                  <a:t>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68" y="2514924"/>
                <a:ext cx="2165016" cy="646331"/>
              </a:xfrm>
              <a:prstGeom prst="rect">
                <a:avLst/>
              </a:prstGeom>
              <a:blipFill>
                <a:blip r:embed="rId4"/>
                <a:stretch>
                  <a:fillRect l="-2535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828136" y="3743864"/>
            <a:ext cx="2286000" cy="22860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226279" y="3743864"/>
            <a:ext cx="2286000" cy="22860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772439" y="2457590"/>
            <a:ext cx="683394" cy="20339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Top Level Event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0181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MinCutSet</a:t>
            </a:r>
            <a:r>
              <a:rPr lang="en-US" dirty="0" smtClean="0"/>
              <a:t> Generation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9736"/>
            <a:ext cx="5034013" cy="402336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endParaRPr lang="en-US" u="sng" dirty="0"/>
          </a:p>
          <a:p>
            <a:pPr marL="201168" lvl="1" indent="0">
              <a:buNone/>
            </a:pPr>
            <a:r>
              <a:rPr lang="de-DE" sz="2800" dirty="0" smtClean="0"/>
              <a:t>Often generated manually</a:t>
            </a:r>
          </a:p>
          <a:p>
            <a:pPr marL="201168" lvl="1" indent="0">
              <a:buNone/>
            </a:pPr>
            <a:endParaRPr lang="de-DE" sz="2800" dirty="0" smtClean="0"/>
          </a:p>
          <a:p>
            <a:pPr marL="201168" lvl="1" indent="0">
              <a:buNone/>
            </a:pPr>
            <a:r>
              <a:rPr lang="de-DE" sz="2800" dirty="0" smtClean="0"/>
              <a:t>Scalability issues with cyber-physical systems</a:t>
            </a:r>
            <a:endParaRPr lang="de-DE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359544" y="1829736"/>
            <a:ext cx="5034013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 </a:t>
            </a:r>
            <a:endParaRPr lang="en-US" u="sng" dirty="0" smtClean="0"/>
          </a:p>
          <a:p>
            <a:pPr marL="201168" lvl="1" indent="0">
              <a:buFont typeface="Calibri" pitchFamily="34" charset="0"/>
              <a:buNone/>
            </a:pPr>
            <a:r>
              <a:rPr lang="de-DE" sz="2800" dirty="0" smtClean="0"/>
              <a:t>Can we automate the process?</a:t>
            </a:r>
          </a:p>
          <a:p>
            <a:pPr marL="201168" lvl="1" indent="0">
              <a:buFont typeface="Calibri" pitchFamily="34" charset="0"/>
              <a:buNone/>
            </a:pPr>
            <a:endParaRPr lang="de-DE" sz="2800" dirty="0"/>
          </a:p>
          <a:p>
            <a:pPr marL="201168" lvl="1" indent="0">
              <a:buFont typeface="Calibri" pitchFamily="34" charset="0"/>
              <a:buNone/>
            </a:pPr>
            <a:r>
              <a:rPr lang="de-DE" sz="2800" dirty="0" smtClean="0"/>
              <a:t>Can we provide a more scalable approach? 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784783" y="2367815"/>
            <a:ext cx="57476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784783" y="3299861"/>
            <a:ext cx="650159" cy="16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74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Based Safety 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1618467" y="1737949"/>
            <a:ext cx="4800600" cy="4681538"/>
            <a:chOff x="362" y="1035"/>
            <a:chExt cx="3024" cy="2949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362" y="1035"/>
              <a:ext cx="3024" cy="2232"/>
              <a:chOff x="3102" y="981"/>
              <a:chExt cx="2476" cy="1752"/>
            </a:xfrm>
          </p:grpSpPr>
          <p:graphicFrame>
            <p:nvGraphicFramePr>
              <p:cNvPr id="9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1858103"/>
                  </p:ext>
                </p:extLst>
              </p:nvPr>
            </p:nvGraphicFramePr>
            <p:xfrm>
              <a:off x="3102" y="981"/>
              <a:ext cx="2476" cy="17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47" name="VISIO" r:id="rId4" imgW="3937000" imgH="2781300" progId="">
                      <p:embed/>
                    </p:oleObj>
                  </mc:Choice>
                  <mc:Fallback>
                    <p:oleObj name="VISIO" r:id="rId4" imgW="3937000" imgH="2781300" progId="">
                      <p:embed/>
                      <p:pic>
                        <p:nvPicPr>
                          <p:cNvPr id="23450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2" y="981"/>
                            <a:ext cx="2476" cy="17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7" descr="c2sdocs"/>
              <p:cNvGraphicFramePr>
                <a:graphicFrameLocks noChangeAspect="1"/>
              </p:cNvGraphicFramePr>
              <p:nvPr/>
            </p:nvGraphicFramePr>
            <p:xfrm>
              <a:off x="3967" y="1392"/>
              <a:ext cx="737" cy="7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48" name="VISIO" r:id="rId6" imgW="2336800" imgH="2108200" progId="">
                      <p:embed/>
                    </p:oleObj>
                  </mc:Choice>
                  <mc:Fallback>
                    <p:oleObj name="VISIO" r:id="rId6" imgW="2336800" imgH="2108200" progId="">
                      <p:embed/>
                      <p:pic>
                        <p:nvPicPr>
                          <p:cNvPr id="234503" name="Object 7" descr="c2sdocs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11728" t="8691" r="11728" b="4346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" y="1392"/>
                            <a:ext cx="737" cy="75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924" y="3344"/>
              <a:ext cx="1901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7526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We Base the Entire 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Development Cycle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Around the Model</a:t>
              </a:r>
            </a:p>
          </p:txBody>
        </p:sp>
      </p:grp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6606395" y="2218904"/>
            <a:ext cx="4313239" cy="3157538"/>
            <a:chOff x="3504" y="1376"/>
            <a:chExt cx="2717" cy="1989"/>
          </a:xfrm>
        </p:grpSpPr>
        <p:graphicFrame>
          <p:nvGraphicFramePr>
            <p:cNvPr id="1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5976309"/>
                </p:ext>
              </p:extLst>
            </p:nvPr>
          </p:nvGraphicFramePr>
          <p:xfrm>
            <a:off x="4203" y="1979"/>
            <a:ext cx="1789" cy="1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9" name="Visio" r:id="rId8" imgW="7073900" imgH="5549900" progId="">
                    <p:embed/>
                  </p:oleObj>
                </mc:Choice>
                <mc:Fallback>
                  <p:oleObj name="Visio" r:id="rId8" imgW="7073900" imgH="5549900" progId="">
                    <p:embed/>
                    <p:pic>
                      <p:nvPicPr>
                        <p:cNvPr id="23450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3" y="1979"/>
                          <a:ext cx="1789" cy="1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 rot="1303765">
              <a:off x="3504" y="2160"/>
              <a:ext cx="432" cy="288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tx2"/>
            </a:solidFill>
            <a:ln w="17526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959" y="1376"/>
              <a:ext cx="2262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7526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Why Not the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Safety Analysis?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190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808383" y="1431235"/>
            <a:ext cx="10681252" cy="5433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utoShape 4"/>
          <p:cNvSpPr>
            <a:spLocks noChangeArrowheads="1"/>
          </p:cNvSpPr>
          <p:nvPr/>
        </p:nvSpPr>
        <p:spPr bwMode="auto">
          <a:xfrm>
            <a:off x="453520" y="1070538"/>
            <a:ext cx="5246611" cy="9262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</a:t>
            </a:r>
            <a:r>
              <a:rPr lang="en-US" sz="2400" dirty="0"/>
              <a:t> </a:t>
            </a:r>
            <a:r>
              <a:rPr lang="en-US" sz="2400" dirty="0" smtClean="0"/>
              <a:t>Functional </a:t>
            </a:r>
          </a:p>
          <a:p>
            <a:pPr algn="ctr"/>
            <a:r>
              <a:rPr lang="en-US" sz="2400" dirty="0" smtClean="0"/>
              <a:t>Hazard Assessment (FHA)</a:t>
            </a:r>
            <a:endParaRPr lang="en-US" sz="2400" dirty="0"/>
          </a:p>
        </p:txBody>
      </p:sp>
      <p:cxnSp>
        <p:nvCxnSpPr>
          <p:cNvPr id="44" name="AutoShape 12"/>
          <p:cNvCxnSpPr>
            <a:cxnSpLocks noChangeShapeType="1"/>
            <a:stCxn id="47" idx="2"/>
            <a:endCxn id="46" idx="0"/>
          </p:cNvCxnSpPr>
          <p:nvPr/>
        </p:nvCxnSpPr>
        <p:spPr bwMode="auto">
          <a:xfrm flipH="1">
            <a:off x="3072619" y="4637240"/>
            <a:ext cx="7241" cy="52198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AutoShape 25"/>
          <p:cNvCxnSpPr>
            <a:cxnSpLocks noChangeShapeType="1"/>
            <a:stCxn id="43" idx="2"/>
            <a:endCxn id="47" idx="0"/>
          </p:cNvCxnSpPr>
          <p:nvPr/>
        </p:nvCxnSpPr>
        <p:spPr bwMode="auto">
          <a:xfrm>
            <a:off x="3076826" y="1996806"/>
            <a:ext cx="3034" cy="41699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AutoShape 4"/>
          <p:cNvSpPr>
            <a:spLocks noChangeArrowheads="1"/>
          </p:cNvSpPr>
          <p:nvPr/>
        </p:nvSpPr>
        <p:spPr bwMode="auto">
          <a:xfrm>
            <a:off x="465217" y="5159226"/>
            <a:ext cx="5214804" cy="9262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 Safety </a:t>
            </a:r>
          </a:p>
          <a:p>
            <a:pPr algn="ctr"/>
            <a:r>
              <a:rPr lang="en-US" sz="2400" dirty="0" smtClean="0"/>
              <a:t>Assessment (SSA)</a:t>
            </a:r>
            <a:endParaRPr lang="en-US" sz="2400" dirty="0"/>
          </a:p>
        </p:txBody>
      </p:sp>
      <p:sp>
        <p:nvSpPr>
          <p:cNvPr id="47" name="AutoShape 2"/>
          <p:cNvSpPr>
            <a:spLocks noChangeArrowheads="1"/>
          </p:cNvSpPr>
          <p:nvPr/>
        </p:nvSpPr>
        <p:spPr bwMode="auto">
          <a:xfrm>
            <a:off x="467171" y="2413803"/>
            <a:ext cx="5225377" cy="22234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2400"/>
          </a:p>
          <a:p>
            <a:pPr algn="ctr"/>
            <a:endParaRPr lang="en-US" sz="2400"/>
          </a:p>
          <a:p>
            <a:pPr algn="ctr"/>
            <a:endParaRPr lang="en-US" sz="2400"/>
          </a:p>
          <a:p>
            <a:pPr algn="ctr"/>
            <a:endParaRPr lang="en-US" sz="2400"/>
          </a:p>
          <a:p>
            <a:pPr algn="ctr"/>
            <a:endParaRPr lang="en-US" sz="24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auto">
          <a:xfrm>
            <a:off x="3131013" y="3215718"/>
            <a:ext cx="2194913" cy="106044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Fault Tree </a:t>
            </a:r>
          </a:p>
          <a:p>
            <a:pPr algn="ctr"/>
            <a:r>
              <a:rPr lang="en-US" sz="2400" dirty="0" smtClean="0"/>
              <a:t>Analysis (FTA)</a:t>
            </a:r>
            <a:endParaRPr lang="en-US" sz="2400" dirty="0"/>
          </a:p>
        </p:txBody>
      </p:sp>
      <p:sp>
        <p:nvSpPr>
          <p:cNvPr id="49" name="Text Box 10"/>
          <p:cNvSpPr txBox="1">
            <a:spLocks noChangeArrowheads="1"/>
          </p:cNvSpPr>
          <p:nvPr/>
        </p:nvSpPr>
        <p:spPr bwMode="auto">
          <a:xfrm>
            <a:off x="1042726" y="2417839"/>
            <a:ext cx="370764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dirty="0">
                <a:latin typeface="+mn-lt"/>
              </a:rPr>
              <a:t>Preliminary System </a:t>
            </a:r>
            <a:r>
              <a:rPr lang="en-US" sz="2400" dirty="0" smtClean="0">
                <a:latin typeface="+mn-lt"/>
              </a:rPr>
              <a:t>Safety </a:t>
            </a:r>
            <a:r>
              <a:rPr lang="en-US" sz="2400" dirty="0">
                <a:latin typeface="+mn-lt"/>
              </a:rPr>
              <a:t>Assessment </a:t>
            </a:r>
            <a:r>
              <a:rPr lang="en-US" sz="2400" dirty="0" smtClean="0">
                <a:latin typeface="+mn-lt"/>
              </a:rPr>
              <a:t>(</a:t>
            </a:r>
            <a:r>
              <a:rPr lang="en-US" sz="2400" dirty="0">
                <a:latin typeface="+mn-lt"/>
              </a:rPr>
              <a:t>PSSA)</a:t>
            </a: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auto">
          <a:xfrm>
            <a:off x="668235" y="3215718"/>
            <a:ext cx="2225702" cy="107497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Common Cause </a:t>
            </a:r>
          </a:p>
          <a:p>
            <a:pPr algn="ctr"/>
            <a:r>
              <a:rPr lang="en-US" sz="2400" dirty="0" smtClean="0"/>
              <a:t>Analyses (CCA)</a:t>
            </a:r>
            <a:endParaRPr lang="en-US" sz="2400" dirty="0"/>
          </a:p>
        </p:txBody>
      </p:sp>
      <p:sp>
        <p:nvSpPr>
          <p:cNvPr id="51" name="AutoShape 4"/>
          <p:cNvSpPr>
            <a:spLocks noChangeArrowheads="1"/>
          </p:cNvSpPr>
          <p:nvPr/>
        </p:nvSpPr>
        <p:spPr bwMode="auto">
          <a:xfrm>
            <a:off x="8138207" y="895377"/>
            <a:ext cx="3508441" cy="73215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Development of </a:t>
            </a:r>
          </a:p>
          <a:p>
            <a:pPr algn="ctr"/>
            <a:r>
              <a:rPr lang="en-US" sz="2400" dirty="0" smtClean="0"/>
              <a:t>System Architecture</a:t>
            </a:r>
            <a:endParaRPr lang="en-US" sz="2400" dirty="0"/>
          </a:p>
        </p:txBody>
      </p:sp>
      <p:sp>
        <p:nvSpPr>
          <p:cNvPr id="52" name="Line 28"/>
          <p:cNvSpPr>
            <a:spLocks noChangeShapeType="1"/>
          </p:cNvSpPr>
          <p:nvPr/>
        </p:nvSpPr>
        <p:spPr bwMode="auto">
          <a:xfrm flipV="1">
            <a:off x="6973212" y="617051"/>
            <a:ext cx="35094" cy="6132972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1021612" y="246141"/>
            <a:ext cx="37076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dirty="0" smtClean="0">
                <a:solidFill>
                  <a:srgbClr val="FF0000"/>
                </a:solidFill>
                <a:latin typeface="+mn-lt"/>
              </a:rPr>
              <a:t>Safety Assessment Process</a:t>
            </a:r>
            <a:endParaRPr lang="en-US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7816359" y="185216"/>
            <a:ext cx="41681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dirty="0" smtClean="0">
                <a:solidFill>
                  <a:srgbClr val="0000FF"/>
                </a:solidFill>
                <a:latin typeface="+mn-lt"/>
              </a:rPr>
              <a:t>System Development Process</a:t>
            </a:r>
            <a:endParaRPr lang="en-US" sz="24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55" name="AutoShape 4"/>
          <p:cNvSpPr>
            <a:spLocks noChangeArrowheads="1"/>
          </p:cNvSpPr>
          <p:nvPr/>
        </p:nvSpPr>
        <p:spPr bwMode="auto">
          <a:xfrm>
            <a:off x="8138206" y="1978006"/>
            <a:ext cx="3508441" cy="118026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Allocation of System </a:t>
            </a:r>
          </a:p>
          <a:p>
            <a:pPr algn="ctr"/>
            <a:r>
              <a:rPr lang="en-US" sz="2400" dirty="0" smtClean="0"/>
              <a:t>Requirements to </a:t>
            </a:r>
          </a:p>
          <a:p>
            <a:pPr algn="ctr"/>
            <a:r>
              <a:rPr lang="en-US" sz="2400" dirty="0" smtClean="0"/>
              <a:t>Hardware and Software</a:t>
            </a:r>
            <a:endParaRPr lang="en-US" sz="2400" dirty="0"/>
          </a:p>
        </p:txBody>
      </p:sp>
      <p:sp>
        <p:nvSpPr>
          <p:cNvPr id="56" name="AutoShape 4"/>
          <p:cNvSpPr>
            <a:spLocks noChangeArrowheads="1"/>
          </p:cNvSpPr>
          <p:nvPr/>
        </p:nvSpPr>
        <p:spPr bwMode="auto">
          <a:xfrm>
            <a:off x="8138205" y="3583325"/>
            <a:ext cx="3508441" cy="61930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 Implementation</a:t>
            </a:r>
            <a:endParaRPr lang="en-US" sz="2400" dirty="0"/>
          </a:p>
        </p:txBody>
      </p:sp>
      <p:sp>
        <p:nvSpPr>
          <p:cNvPr id="57" name="AutoShape 4"/>
          <p:cNvSpPr>
            <a:spLocks noChangeArrowheads="1"/>
          </p:cNvSpPr>
          <p:nvPr/>
        </p:nvSpPr>
        <p:spPr bwMode="auto">
          <a:xfrm>
            <a:off x="8138204" y="4673728"/>
            <a:ext cx="3508441" cy="97359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/>
              <a:t>System Integration &amp; </a:t>
            </a:r>
          </a:p>
          <a:p>
            <a:pPr algn="ctr"/>
            <a:r>
              <a:rPr lang="en-US" sz="2400" dirty="0" smtClean="0"/>
              <a:t>Verification</a:t>
            </a:r>
            <a:endParaRPr lang="en-US" sz="2400" dirty="0"/>
          </a:p>
        </p:txBody>
      </p:sp>
      <p:cxnSp>
        <p:nvCxnSpPr>
          <p:cNvPr id="58" name="AutoShape 25"/>
          <p:cNvCxnSpPr>
            <a:cxnSpLocks noChangeShapeType="1"/>
            <a:endCxn id="55" idx="0"/>
          </p:cNvCxnSpPr>
          <p:nvPr/>
        </p:nvCxnSpPr>
        <p:spPr bwMode="auto">
          <a:xfrm>
            <a:off x="9892423" y="1627528"/>
            <a:ext cx="4" cy="35047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25"/>
          <p:cNvCxnSpPr>
            <a:cxnSpLocks noChangeShapeType="1"/>
            <a:endCxn id="56" idx="0"/>
          </p:cNvCxnSpPr>
          <p:nvPr/>
        </p:nvCxnSpPr>
        <p:spPr bwMode="auto">
          <a:xfrm>
            <a:off x="9892423" y="3191856"/>
            <a:ext cx="3" cy="391469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25"/>
          <p:cNvCxnSpPr>
            <a:cxnSpLocks noChangeShapeType="1"/>
            <a:stCxn id="56" idx="2"/>
          </p:cNvCxnSpPr>
          <p:nvPr/>
        </p:nvCxnSpPr>
        <p:spPr bwMode="auto">
          <a:xfrm flipH="1">
            <a:off x="9892416" y="4202628"/>
            <a:ext cx="10" cy="48545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25"/>
          <p:cNvCxnSpPr>
            <a:cxnSpLocks noChangeShapeType="1"/>
          </p:cNvCxnSpPr>
          <p:nvPr/>
        </p:nvCxnSpPr>
        <p:spPr bwMode="auto">
          <a:xfrm flipV="1">
            <a:off x="10278292" y="1627528"/>
            <a:ext cx="0" cy="35048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AutoShape 4"/>
          <p:cNvSpPr>
            <a:spLocks noChangeArrowheads="1"/>
          </p:cNvSpPr>
          <p:nvPr/>
        </p:nvSpPr>
        <p:spPr bwMode="auto">
          <a:xfrm>
            <a:off x="6192946" y="895174"/>
            <a:ext cx="1711793" cy="5315579"/>
          </a:xfrm>
          <a:prstGeom prst="roundRect">
            <a:avLst>
              <a:gd name="adj" fmla="val 16667"/>
            </a:avLst>
          </a:prstGeom>
          <a:solidFill>
            <a:srgbClr val="FFC000">
              <a:alpha val="43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2400" dirty="0" smtClean="0"/>
              <a:t>Shared </a:t>
            </a:r>
          </a:p>
          <a:p>
            <a:pPr algn="ctr"/>
            <a:r>
              <a:rPr lang="en-US" sz="2400" dirty="0" smtClean="0"/>
              <a:t>Model</a:t>
            </a:r>
            <a:endParaRPr lang="en-US" sz="2400" dirty="0"/>
          </a:p>
        </p:txBody>
      </p:sp>
      <p:cxnSp>
        <p:nvCxnSpPr>
          <p:cNvPr id="63" name="AutoShape 21"/>
          <p:cNvCxnSpPr>
            <a:cxnSpLocks noChangeShapeType="1"/>
            <a:stCxn id="51" idx="1"/>
          </p:cNvCxnSpPr>
          <p:nvPr/>
        </p:nvCxnSpPr>
        <p:spPr bwMode="auto">
          <a:xfrm flipH="1">
            <a:off x="7672787" y="1261453"/>
            <a:ext cx="465420" cy="8156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21"/>
          <p:cNvCxnSpPr>
            <a:cxnSpLocks noChangeShapeType="1"/>
            <a:stCxn id="55" idx="1"/>
          </p:cNvCxnSpPr>
          <p:nvPr/>
        </p:nvCxnSpPr>
        <p:spPr bwMode="auto">
          <a:xfrm flipH="1" flipV="1">
            <a:off x="7672787" y="2568138"/>
            <a:ext cx="465419" cy="1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21"/>
          <p:cNvCxnSpPr>
            <a:cxnSpLocks noChangeShapeType="1"/>
            <a:stCxn id="56" idx="1"/>
          </p:cNvCxnSpPr>
          <p:nvPr/>
        </p:nvCxnSpPr>
        <p:spPr bwMode="auto">
          <a:xfrm flipH="1" flipV="1">
            <a:off x="7598353" y="3883953"/>
            <a:ext cx="539852" cy="9024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21"/>
          <p:cNvCxnSpPr>
            <a:cxnSpLocks noChangeShapeType="1"/>
            <a:stCxn id="57" idx="1"/>
          </p:cNvCxnSpPr>
          <p:nvPr/>
        </p:nvCxnSpPr>
        <p:spPr bwMode="auto">
          <a:xfrm flipH="1">
            <a:off x="7598353" y="5160523"/>
            <a:ext cx="539851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33"/>
          <p:cNvCxnSpPr>
            <a:cxnSpLocks noChangeShapeType="1"/>
            <a:stCxn id="43" idx="3"/>
          </p:cNvCxnSpPr>
          <p:nvPr/>
        </p:nvCxnSpPr>
        <p:spPr bwMode="auto">
          <a:xfrm>
            <a:off x="5700131" y="1533672"/>
            <a:ext cx="728604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33"/>
          <p:cNvCxnSpPr>
            <a:cxnSpLocks noChangeShapeType="1"/>
            <a:stCxn id="47" idx="3"/>
          </p:cNvCxnSpPr>
          <p:nvPr/>
        </p:nvCxnSpPr>
        <p:spPr bwMode="auto">
          <a:xfrm flipV="1">
            <a:off x="5692548" y="3525521"/>
            <a:ext cx="795805" cy="1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 type="arrow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33"/>
          <p:cNvCxnSpPr>
            <a:cxnSpLocks noChangeShapeType="1"/>
            <a:stCxn id="46" idx="3"/>
          </p:cNvCxnSpPr>
          <p:nvPr/>
        </p:nvCxnSpPr>
        <p:spPr bwMode="auto">
          <a:xfrm>
            <a:off x="5680021" y="5622360"/>
            <a:ext cx="76323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 type="arrow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8612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AADL</a:t>
            </a:r>
            <a:r>
              <a:rPr lang="en-US" dirty="0"/>
              <a:t> </a:t>
            </a:r>
            <a:r>
              <a:rPr lang="en-US" dirty="0" smtClean="0"/>
              <a:t>and AGREE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097280" y="2225712"/>
            <a:ext cx="4485373" cy="4023360"/>
          </a:xfrm>
        </p:spPr>
        <p:txBody>
          <a:bodyPr/>
          <a:lstStyle/>
          <a:p>
            <a:r>
              <a:rPr lang="en-US" b="1" dirty="0"/>
              <a:t>AADL = SAE AS5506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Target: Embedded, real-time, distributed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Describes both hardware and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Extensible syntax (annex)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source tools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126480" y="2225712"/>
            <a:ext cx="4485373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AGREE: Assume Guarantee Reasoning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Behavioral model defining requirements for each system component.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Each </a:t>
            </a:r>
            <a:r>
              <a:rPr lang="en-US" dirty="0"/>
              <a:t>component has a contract consisting of assumptions and guarantees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for compositional or monolithic    </a:t>
            </a:r>
            <a:r>
              <a:rPr lang="en-US" dirty="0" smtClean="0"/>
              <a:t>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Uses </a:t>
            </a:r>
            <a:r>
              <a:rPr lang="en-US" dirty="0" err="1" smtClean="0"/>
              <a:t>JKind</a:t>
            </a:r>
            <a:r>
              <a:rPr lang="en-US" dirty="0" smtClean="0"/>
              <a:t> model checker over AADL/AGREE model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00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Safety Annex for AADL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4294967295"/>
          </p:nvPr>
        </p:nvSpPr>
        <p:spPr>
          <a:xfrm>
            <a:off x="1097280" y="2116385"/>
            <a:ext cx="9702992" cy="2214076"/>
          </a:xfrm>
          <a:prstGeom prst="rect">
            <a:avLst/>
          </a:prstGeo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Define faults for components in a system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Use model checker to verify behavior of system in the presence of faults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See effects of active faults in the behavior of components </a:t>
            </a:r>
            <a:r>
              <a:rPr lang="en-US" i="1" dirty="0" smtClean="0"/>
              <a:t>through verification of AGREE contracts.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3532472" y="5104433"/>
            <a:ext cx="1466704" cy="9144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Guarantees on output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7584334" y="5126822"/>
            <a:ext cx="1453787" cy="9144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Assumptions on input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532472" y="4735101"/>
            <a:ext cx="158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A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584334" y="4746391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B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30" idx="3"/>
          </p:cNvCxnSpPr>
          <p:nvPr/>
        </p:nvCxnSpPr>
        <p:spPr>
          <a:xfrm>
            <a:off x="4999176" y="5561633"/>
            <a:ext cx="2590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99175" y="522597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207308" y="522597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5459202" y="5333033"/>
            <a:ext cx="550915" cy="4572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F</a:t>
            </a:r>
            <a:endParaRPr lang="en-US" sz="20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734659" y="4620126"/>
            <a:ext cx="0" cy="4955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52444" y="3699183"/>
            <a:ext cx="3282215" cy="83739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 fault is active, it could violate guarantees of A and assumptions of B.</a:t>
            </a:r>
            <a:endParaRPr lang="en-US" dirty="0"/>
          </a:p>
        </p:txBody>
      </p:sp>
      <p:sp>
        <p:nvSpPr>
          <p:cNvPr id="50" name="Rounded Rectangle 49"/>
          <p:cNvSpPr/>
          <p:nvPr/>
        </p:nvSpPr>
        <p:spPr>
          <a:xfrm>
            <a:off x="5755906" y="3699183"/>
            <a:ext cx="3282215" cy="83739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 fault is inactive, the output of A remains unchanged.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9215538" y="3378467"/>
            <a:ext cx="2762452" cy="2326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 the violated guarantee is used in the proof of the system safety property, it is seen in the fault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8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0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Scalability:</a:t>
            </a:r>
            <a:br>
              <a:rPr lang="en-US" dirty="0" smtClean="0"/>
            </a:br>
            <a:r>
              <a:rPr lang="en-US" dirty="0" smtClean="0"/>
              <a:t>Monolithic vs. Compositional Verification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159151" y="112673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ea typeface="Cambria Math" panose="02040503050406030204" pitchFamily="18" charset="0"/>
              </a:rPr>
              <a:t>S</a:t>
            </a:r>
            <a:endParaRPr lang="en-US" dirty="0">
              <a:solidFill>
                <a:schemeClr val="bg1"/>
              </a:solidFill>
              <a:latin typeface="+mn-lt"/>
              <a:ea typeface="Cambria Math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Monolithic: Use all contracts of the system to prove the top level property.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Compositional: Perform the analysis one layer at a time, from the top down.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51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Layers of a System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1156227" y="1849348"/>
            <a:ext cx="2590800" cy="4382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159151" y="112673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ea typeface="Cambria Math" panose="02040503050406030204" pitchFamily="18" charset="0"/>
              </a:rPr>
              <a:t>S</a:t>
            </a:r>
            <a:endParaRPr lang="en-US" dirty="0">
              <a:solidFill>
                <a:schemeClr val="bg1"/>
              </a:solidFill>
              <a:latin typeface="+mn-lt"/>
              <a:ea typeface="Cambria Math" panose="020405030504060302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411646" y="2268716"/>
            <a:ext cx="1962720" cy="16764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1411646" y="4402316"/>
            <a:ext cx="1962720" cy="16764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2459966" y="2878316"/>
            <a:ext cx="685800" cy="609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1564091" y="2878316"/>
            <a:ext cx="685800" cy="609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2494289" y="5088116"/>
            <a:ext cx="685800" cy="609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1598414" y="5088116"/>
            <a:ext cx="685800" cy="609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7533821" y="2342593"/>
                <a:ext cx="1500027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System S</a:t>
                </a:r>
              </a:p>
              <a:p>
                <a:pPr algn="ctr"/>
                <a:r>
                  <a:rPr lang="en-US" dirty="0" smtClean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821" y="2342593"/>
                <a:ext cx="1500027" cy="8954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5959012" y="3670202"/>
                <a:ext cx="1574809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A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012" y="3670202"/>
                <a:ext cx="1574809" cy="895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5393816" y="4765555"/>
                <a:ext cx="1090261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816" y="4765555"/>
                <a:ext cx="1090261" cy="7264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7012124" y="4765555"/>
                <a:ext cx="957942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124" y="4765555"/>
                <a:ext cx="957942" cy="726416"/>
              </a:xfrm>
              <a:prstGeom prst="rect">
                <a:avLst/>
              </a:prstGeom>
              <a:blipFill>
                <a:blip r:embed="rId6"/>
                <a:stretch>
                  <a:fillRect l="-2500" r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8641301" y="4765555"/>
                <a:ext cx="929763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301" y="4765555"/>
                <a:ext cx="929763" cy="726416"/>
              </a:xfrm>
              <a:prstGeom prst="rect">
                <a:avLst/>
              </a:prstGeom>
              <a:blipFill>
                <a:blip r:embed="rId7"/>
                <a:stretch>
                  <a:fillRect l="-3871" r="-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10099111" y="4765555"/>
                <a:ext cx="920266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111" y="4765555"/>
                <a:ext cx="920266" cy="726416"/>
              </a:xfrm>
              <a:prstGeom prst="rect">
                <a:avLst/>
              </a:prstGeom>
              <a:blipFill>
                <a:blip r:embed="rId8"/>
                <a:stretch>
                  <a:fillRect l="-3247" r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9033848" y="3670202"/>
                <a:ext cx="1538260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B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848" y="3670202"/>
                <a:ext cx="1538260" cy="895404"/>
              </a:xfrm>
              <a:prstGeom prst="rect">
                <a:avLst/>
              </a:prstGeom>
              <a:blipFill>
                <a:blip r:embed="rId9"/>
                <a:stretch>
                  <a:fillRect l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6" idx="2"/>
            <a:endCxn id="26" idx="0"/>
          </p:cNvCxnSpPr>
          <p:nvPr/>
        </p:nvCxnSpPr>
        <p:spPr>
          <a:xfrm rot="5400000">
            <a:off x="7299024" y="2685390"/>
            <a:ext cx="432205" cy="153741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2"/>
            <a:endCxn id="35" idx="0"/>
          </p:cNvCxnSpPr>
          <p:nvPr/>
        </p:nvCxnSpPr>
        <p:spPr>
          <a:xfrm rot="16200000" flipH="1">
            <a:off x="8827304" y="2694527"/>
            <a:ext cx="432205" cy="151914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26" idx="2"/>
            <a:endCxn id="30" idx="0"/>
          </p:cNvCxnSpPr>
          <p:nvPr/>
        </p:nvCxnSpPr>
        <p:spPr>
          <a:xfrm rot="5400000">
            <a:off x="6242708" y="4261845"/>
            <a:ext cx="199949" cy="80747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26" idx="2"/>
            <a:endCxn id="31" idx="0"/>
          </p:cNvCxnSpPr>
          <p:nvPr/>
        </p:nvCxnSpPr>
        <p:spPr>
          <a:xfrm rot="16200000" flipH="1">
            <a:off x="7018782" y="4293241"/>
            <a:ext cx="199949" cy="74467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35" idx="2"/>
            <a:endCxn id="33" idx="0"/>
          </p:cNvCxnSpPr>
          <p:nvPr/>
        </p:nvCxnSpPr>
        <p:spPr>
          <a:xfrm rot="5400000">
            <a:off x="9354607" y="4317183"/>
            <a:ext cx="199949" cy="69679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35" idx="2"/>
            <a:endCxn id="34" idx="0"/>
          </p:cNvCxnSpPr>
          <p:nvPr/>
        </p:nvCxnSpPr>
        <p:spPr>
          <a:xfrm rot="16200000" flipH="1">
            <a:off x="10081137" y="4287447"/>
            <a:ext cx="199949" cy="75626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4260735" y="3487916"/>
            <a:ext cx="986319" cy="24992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6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Compositional Verification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159151" y="112673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ea typeface="Cambria Math" panose="02040503050406030204" pitchFamily="18" charset="0"/>
              </a:rPr>
              <a:t>S</a:t>
            </a:r>
            <a:endParaRPr lang="en-US" dirty="0">
              <a:solidFill>
                <a:schemeClr val="bg1"/>
              </a:solidFill>
              <a:latin typeface="+mn-lt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085111" y="2342593"/>
                <a:ext cx="1500027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System S</a:t>
                </a:r>
              </a:p>
              <a:p>
                <a:pPr algn="ctr"/>
                <a:r>
                  <a:rPr lang="en-US" dirty="0" smtClean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111" y="2342593"/>
                <a:ext cx="1500027" cy="8954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1510302" y="3670202"/>
                <a:ext cx="1574809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A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302" y="3670202"/>
                <a:ext cx="1574809" cy="895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945106" y="4765555"/>
                <a:ext cx="1090261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06" y="4765555"/>
                <a:ext cx="1090261" cy="7264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2563414" y="4765555"/>
                <a:ext cx="957942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414" y="4765555"/>
                <a:ext cx="957942" cy="726416"/>
              </a:xfrm>
              <a:prstGeom prst="rect">
                <a:avLst/>
              </a:prstGeom>
              <a:blipFill>
                <a:blip r:embed="rId6"/>
                <a:stretch>
                  <a:fillRect l="-3125" r="-1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4192591" y="4765555"/>
                <a:ext cx="929763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591" y="4765555"/>
                <a:ext cx="929763" cy="726416"/>
              </a:xfrm>
              <a:prstGeom prst="rect">
                <a:avLst/>
              </a:prstGeom>
              <a:blipFill>
                <a:blip r:embed="rId7"/>
                <a:stretch>
                  <a:fillRect l="-3871" r="-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5650401" y="4765555"/>
                <a:ext cx="920266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01" y="4765555"/>
                <a:ext cx="920266" cy="726416"/>
              </a:xfrm>
              <a:prstGeom prst="rect">
                <a:avLst/>
              </a:prstGeom>
              <a:blipFill>
                <a:blip r:embed="rId8"/>
                <a:stretch>
                  <a:fillRect l="-3247" r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4585138" y="3670202"/>
                <a:ext cx="1538260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B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138" y="3670202"/>
                <a:ext cx="1538260" cy="895404"/>
              </a:xfrm>
              <a:prstGeom prst="rect">
                <a:avLst/>
              </a:prstGeom>
              <a:blipFill>
                <a:blip r:embed="rId9"/>
                <a:stretch>
                  <a:fillRect l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6" idx="2"/>
            <a:endCxn id="26" idx="0"/>
          </p:cNvCxnSpPr>
          <p:nvPr/>
        </p:nvCxnSpPr>
        <p:spPr>
          <a:xfrm rot="5400000">
            <a:off x="2850314" y="2685390"/>
            <a:ext cx="432205" cy="153741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2"/>
            <a:endCxn id="35" idx="0"/>
          </p:cNvCxnSpPr>
          <p:nvPr/>
        </p:nvCxnSpPr>
        <p:spPr>
          <a:xfrm rot="16200000" flipH="1">
            <a:off x="4378594" y="2694527"/>
            <a:ext cx="432205" cy="151914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26" idx="2"/>
            <a:endCxn id="30" idx="0"/>
          </p:cNvCxnSpPr>
          <p:nvPr/>
        </p:nvCxnSpPr>
        <p:spPr>
          <a:xfrm rot="5400000">
            <a:off x="1793998" y="4261845"/>
            <a:ext cx="199949" cy="80747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26" idx="2"/>
            <a:endCxn id="31" idx="0"/>
          </p:cNvCxnSpPr>
          <p:nvPr/>
        </p:nvCxnSpPr>
        <p:spPr>
          <a:xfrm rot="16200000" flipH="1">
            <a:off x="2570072" y="4293241"/>
            <a:ext cx="199949" cy="74467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35" idx="2"/>
            <a:endCxn id="33" idx="0"/>
          </p:cNvCxnSpPr>
          <p:nvPr/>
        </p:nvCxnSpPr>
        <p:spPr>
          <a:xfrm rot="5400000">
            <a:off x="4905897" y="4317183"/>
            <a:ext cx="199949" cy="69679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35" idx="2"/>
            <a:endCxn id="34" idx="0"/>
          </p:cNvCxnSpPr>
          <p:nvPr/>
        </p:nvCxnSpPr>
        <p:spPr>
          <a:xfrm rot="16200000" flipH="1">
            <a:off x="5632427" y="4287447"/>
            <a:ext cx="199949" cy="75626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004164" y="2346662"/>
                <a:ext cx="45439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b="0" dirty="0" smtClean="0"/>
                  <a:t>First layer of analysis</a:t>
                </a:r>
                <a:r>
                  <a:rPr lang="en-US" sz="2400" b="0" dirty="0" smtClean="0"/>
                  <a:t>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∧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64" y="2346662"/>
                <a:ext cx="4543988" cy="461665"/>
              </a:xfrm>
              <a:prstGeom prst="rect">
                <a:avLst/>
              </a:prstGeom>
              <a:blipFill>
                <a:blip r:embed="rId10"/>
                <a:stretch>
                  <a:fillRect l="-147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8333946" y="4679980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∧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𝐹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946" y="4679980"/>
                <a:ext cx="4267200" cy="461665"/>
              </a:xfrm>
              <a:prstGeom prst="rect">
                <a:avLst/>
              </a:prstGeom>
              <a:blipFill>
                <a:blip r:embed="rId11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907712" y="4218315"/>
                <a:ext cx="56934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dirty="0" smtClean="0"/>
                  <a:t> Second layer of analysis: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∧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712" y="4218315"/>
                <a:ext cx="5693434" cy="461665"/>
              </a:xfrm>
              <a:prstGeom prst="rect">
                <a:avLst/>
              </a:prstGeom>
              <a:blipFill>
                <a:blip r:embed="rId12"/>
                <a:stretch>
                  <a:fillRect l="-107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973" y="2314603"/>
            <a:ext cx="509161" cy="52578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368" y="4159943"/>
            <a:ext cx="509161" cy="52578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05" y="4661492"/>
            <a:ext cx="509161" cy="52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4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26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27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</a:t>
            </a:r>
            <a:r>
              <a:rPr lang="en-US" dirty="0" smtClean="0"/>
              <a:t>MinCutSets </a:t>
            </a:r>
            <a:r>
              <a:rPr lang="en-US" dirty="0"/>
              <a:t>and Compositional Verification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159151" y="112673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ea typeface="Cambria Math" panose="02040503050406030204" pitchFamily="18" charset="0"/>
              </a:rPr>
              <a:t>S</a:t>
            </a:r>
            <a:endParaRPr lang="en-US" dirty="0">
              <a:solidFill>
                <a:schemeClr val="bg1"/>
              </a:solidFill>
              <a:latin typeface="+mn-lt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085111" y="2342593"/>
                <a:ext cx="1500027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System S</a:t>
                </a:r>
              </a:p>
              <a:p>
                <a:pPr algn="ctr"/>
                <a:r>
                  <a:rPr lang="en-US" dirty="0" smtClean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111" y="2342593"/>
                <a:ext cx="1500027" cy="8954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1510302" y="3670202"/>
                <a:ext cx="1574809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A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302" y="3670202"/>
                <a:ext cx="1574809" cy="895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945106" y="4765555"/>
                <a:ext cx="1090261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06" y="4765555"/>
                <a:ext cx="1090261" cy="7264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2563414" y="4765555"/>
                <a:ext cx="957942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414" y="4765555"/>
                <a:ext cx="957942" cy="726416"/>
              </a:xfrm>
              <a:prstGeom prst="rect">
                <a:avLst/>
              </a:prstGeom>
              <a:blipFill>
                <a:blip r:embed="rId6"/>
                <a:stretch>
                  <a:fillRect l="-3125" r="-1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4192591" y="4765555"/>
                <a:ext cx="929763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591" y="4765555"/>
                <a:ext cx="929763" cy="726416"/>
              </a:xfrm>
              <a:prstGeom prst="rect">
                <a:avLst/>
              </a:prstGeom>
              <a:blipFill>
                <a:blip r:embed="rId7"/>
                <a:stretch>
                  <a:fillRect l="-3871" r="-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5650401" y="4765555"/>
                <a:ext cx="920266" cy="7264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01" y="4765555"/>
                <a:ext cx="920266" cy="726416"/>
              </a:xfrm>
              <a:prstGeom prst="rect">
                <a:avLst/>
              </a:prstGeom>
              <a:blipFill>
                <a:blip r:embed="rId8"/>
                <a:stretch>
                  <a:fillRect l="-3247" r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4585138" y="3670202"/>
                <a:ext cx="1538260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B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138" y="3670202"/>
                <a:ext cx="1538260" cy="895404"/>
              </a:xfrm>
              <a:prstGeom prst="rect">
                <a:avLst/>
              </a:prstGeom>
              <a:blipFill>
                <a:blip r:embed="rId9"/>
                <a:stretch>
                  <a:fillRect l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>
            <a:stCxn id="6" idx="2"/>
            <a:endCxn id="26" idx="0"/>
          </p:cNvCxnSpPr>
          <p:nvPr/>
        </p:nvCxnSpPr>
        <p:spPr>
          <a:xfrm rot="5400000">
            <a:off x="2850314" y="2685390"/>
            <a:ext cx="432205" cy="153741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2"/>
            <a:endCxn id="35" idx="0"/>
          </p:cNvCxnSpPr>
          <p:nvPr/>
        </p:nvCxnSpPr>
        <p:spPr>
          <a:xfrm rot="16200000" flipH="1">
            <a:off x="4378594" y="2694527"/>
            <a:ext cx="432205" cy="151914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26" idx="2"/>
            <a:endCxn id="30" idx="0"/>
          </p:cNvCxnSpPr>
          <p:nvPr/>
        </p:nvCxnSpPr>
        <p:spPr>
          <a:xfrm rot="5400000">
            <a:off x="1793998" y="4261845"/>
            <a:ext cx="199949" cy="80747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26" idx="2"/>
            <a:endCxn id="31" idx="0"/>
          </p:cNvCxnSpPr>
          <p:nvPr/>
        </p:nvCxnSpPr>
        <p:spPr>
          <a:xfrm rot="16200000" flipH="1">
            <a:off x="2570072" y="4293241"/>
            <a:ext cx="199949" cy="74467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35" idx="2"/>
            <a:endCxn id="33" idx="0"/>
          </p:cNvCxnSpPr>
          <p:nvPr/>
        </p:nvCxnSpPr>
        <p:spPr>
          <a:xfrm rot="5400000">
            <a:off x="4905897" y="4317183"/>
            <a:ext cx="199949" cy="69679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35" idx="2"/>
            <a:endCxn id="34" idx="0"/>
          </p:cNvCxnSpPr>
          <p:nvPr/>
        </p:nvCxnSpPr>
        <p:spPr>
          <a:xfrm rot="16200000" flipH="1">
            <a:off x="5632427" y="4287447"/>
            <a:ext cx="199949" cy="75626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004164" y="2346662"/>
                <a:ext cx="45439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b="0" dirty="0" smtClean="0"/>
                  <a:t>First layer of analysis</a:t>
                </a:r>
                <a:r>
                  <a:rPr lang="en-US" sz="2400" b="0" dirty="0" smtClean="0"/>
                  <a:t>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∧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64" y="2346662"/>
                <a:ext cx="4543988" cy="461665"/>
              </a:xfrm>
              <a:prstGeom prst="rect">
                <a:avLst/>
              </a:prstGeom>
              <a:blipFill>
                <a:blip r:embed="rId10"/>
                <a:stretch>
                  <a:fillRect l="-147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8333946" y="4679980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∧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𝐹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946" y="4679980"/>
                <a:ext cx="4267200" cy="461665"/>
              </a:xfrm>
              <a:prstGeom prst="rect">
                <a:avLst/>
              </a:prstGeom>
              <a:blipFill>
                <a:blip r:embed="rId11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907712" y="4218315"/>
                <a:ext cx="56934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dirty="0" smtClean="0"/>
                  <a:t> Second layer of analysis: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∧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712" y="4218315"/>
                <a:ext cx="5693434" cy="461665"/>
              </a:xfrm>
              <a:prstGeom prst="rect">
                <a:avLst/>
              </a:prstGeom>
              <a:blipFill>
                <a:blip r:embed="rId12"/>
                <a:stretch>
                  <a:fillRect l="-107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444" y="4154199"/>
            <a:ext cx="509161" cy="525781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820173" y="5282367"/>
            <a:ext cx="477533" cy="42269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864638" y="5280624"/>
            <a:ext cx="477533" cy="42269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389266" y="5280624"/>
            <a:ext cx="477533" cy="42269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444" y="4723463"/>
            <a:ext cx="389416" cy="476449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368" y="2309198"/>
            <a:ext cx="509161" cy="525781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314521" y="3986101"/>
            <a:ext cx="671760" cy="67948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3" idx="6"/>
          </p:cNvCxnSpPr>
          <p:nvPr/>
        </p:nvCxnSpPr>
        <p:spPr>
          <a:xfrm flipV="1">
            <a:off x="5986281" y="2834979"/>
            <a:ext cx="4348344" cy="14908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/>
              <p:cNvSpPr/>
              <p:nvPr/>
            </p:nvSpPr>
            <p:spPr>
              <a:xfrm>
                <a:off x="6907712" y="3095625"/>
                <a:ext cx="1807663" cy="105857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 smtClean="0"/>
                  <a:t> required to prove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712" y="3095625"/>
                <a:ext cx="1807663" cy="1058574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3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 err="1" smtClean="0"/>
              <a:t>JKind</a:t>
            </a:r>
            <a:r>
              <a:rPr lang="en-US" dirty="0" smtClean="0"/>
              <a:t> Analysis and Constraint Systems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4"/>
              <p:cNvSpPr txBox="1"/>
              <p:nvPr/>
            </p:nvSpPr>
            <p:spPr>
              <a:xfrm>
                <a:off x="2139727" y="2402647"/>
                <a:ext cx="7973505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𝐶𝑜𝑛𝑠𝑡𝑟𝑎𝑖𝑛𝑡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𝑆𝑦𝑠𝑡𝑒𝑚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𝑂𝑟𝑑𝑒𝑟𝑒𝑑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𝑐𝑜𝑛𝑠𝑡𝑟𝑎𝑖𝑛𝑡𝑠</m:t>
                      </m:r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𝑜𝑣𝑒𝑟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𝑣𝑎𝑟𝑖𝑎𝑏𝑙𝑒𝑠</m:t>
                      </m:r>
                    </m:oMath>
                  </m:oMathPara>
                </a14:m>
                <a:endParaRPr lang="de-DE" sz="2800" dirty="0"/>
              </a:p>
              <a:p>
                <a:endParaRPr lang="de-DE" sz="28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800" b="0" i="1" smtClean="0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{¬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28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de-DE" sz="2800" dirty="0" smtClean="0"/>
                  <a:t> : Satisfiable</a:t>
                </a:r>
              </a:p>
              <a:p>
                <a:pPr algn="ctr"/>
                <a:endParaRPr lang="de-DE" sz="28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 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2800" i="1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de-DE" sz="2800" dirty="0" smtClean="0"/>
                  <a:t>: Unsatisfiable</a:t>
                </a:r>
                <a:endParaRPr lang="de-DE" sz="2800" dirty="0"/>
              </a:p>
              <a:p>
                <a:endParaRPr lang="de-DE" sz="2800" dirty="0"/>
              </a:p>
            </p:txBody>
          </p:sp>
        </mc:Choice>
        <mc:Fallback xmlns=""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727" y="2402647"/>
                <a:ext cx="7973505" cy="3108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30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Minimal </a:t>
            </a:r>
            <a:r>
              <a:rPr lang="en-US" dirty="0" err="1" smtClean="0"/>
              <a:t>Unsatisfiable</a:t>
            </a:r>
            <a:r>
              <a:rPr lang="en-US" dirty="0" smtClean="0"/>
              <a:t> </a:t>
            </a:r>
            <a:r>
              <a:rPr lang="en-US" dirty="0" smtClean="0"/>
              <a:t>Subsets (MUSs)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4"/>
              <p:cNvSpPr txBox="1"/>
              <p:nvPr/>
            </p:nvSpPr>
            <p:spPr>
              <a:xfrm>
                <a:off x="2139727" y="1889760"/>
                <a:ext cx="797350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𝐶𝑜𝑛𝑠𝑡𝑟𝑎𝑖𝑛𝑡</m:t>
                      </m:r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𝑆𝑦𝑠𝑡𝑒𝑚</m:t>
                      </m:r>
                      <m:r>
                        <a:rPr lang="en-US" sz="2800" b="0" i="1" u="sng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800" b="0" i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sz="2800" b="0" i="1" smtClean="0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727" y="1889760"/>
                <a:ext cx="7973505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4"/>
              <p:cNvSpPr txBox="1"/>
              <p:nvPr/>
            </p:nvSpPr>
            <p:spPr>
              <a:xfrm>
                <a:off x="1870737" y="3356754"/>
                <a:ext cx="345616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𝐢𝐬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𝐔𝐧𝐬𝐚𝐭𝐢𝐬𝐟𝐢𝐚𝐛𝐥𝐞</m:t>
                      </m:r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i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𝑐𝑎𝑛𝑛𝑜𝑡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𝑓𝑖𝑛𝑑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𝑎𝑠𝑠𝑖𝑔𝑛𝑚𝑒𝑛𝑡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𝑠𝑎𝑡𝑖𝑠𝑓𝑖𝑒𝑠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𝑏𝑜𝑡h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3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737" y="3356754"/>
                <a:ext cx="3456167" cy="923330"/>
              </a:xfrm>
              <a:prstGeom prst="rect">
                <a:avLst/>
              </a:prstGeom>
              <a:blipFill>
                <a:blip r:embed="rId4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4"/>
              <p:cNvSpPr txBox="1"/>
              <p:nvPr/>
            </p:nvSpPr>
            <p:spPr>
              <a:xfrm>
                <a:off x="6097407" y="3356754"/>
                <a:ext cx="474560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𝐖𝐡𝐚𝐭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𝐚𝐫𝐞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𝐭𝐡𝐞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𝐦𝐢𝐧𝐢𝐦𝐚𝐥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𝐫𝐞𝐚𝐬𝐨𝐧𝐬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𝐮𝐧𝐬𝐚𝐭𝐢𝐬𝐟𝐢𝐚𝐛𝐢𝐥𝐢𝐭𝐲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 smtClean="0"/>
              </a:p>
              <a:p>
                <a:endParaRPr lang="de-D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407" y="3356754"/>
                <a:ext cx="4745603" cy="1754326"/>
              </a:xfrm>
              <a:prstGeom prst="rect">
                <a:avLst/>
              </a:prstGeom>
              <a:blipFill>
                <a:blip r:embed="rId5"/>
                <a:stretch>
                  <a:fillRect b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84480" y="5254774"/>
                <a:ext cx="778879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0" smtClean="0">
                          <a:latin typeface="Cambria Math"/>
                        </a:rPr>
                        <m:t>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𝐢𝐧𝐢𝐦𝐚𝐥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𝐔𝐧𝐬𝐚𝐭𝐢𝐬𝐟𝐢𝐚𝐛𝐥𝐞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𝐒𝐮𝐛𝐬𝐞𝐭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𝑈𝑁</m:t>
                      </m:r>
                      <m:r>
                        <a:rPr lang="de-DE" i="1">
                          <a:latin typeface="Cambria Math"/>
                        </a:rPr>
                        <m:t>𝑆𝐴𝑇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i="1">
                          <a:latin typeface="Cambria Math"/>
                        </a:rPr>
                        <m:t>𝑛𝑑</m:t>
                      </m:r>
                      <m:r>
                        <a:rPr lang="de-DE" i="1">
                          <a:latin typeface="Cambria Math"/>
                        </a:rPr>
                        <m:t> ∀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\</m:t>
                      </m:r>
                      <m:r>
                        <m:rPr>
                          <m:lit/>
                        </m:rPr>
                        <a:rPr lang="de-DE" i="1">
                          <a:latin typeface="Cambria Math"/>
                          <a:ea typeface="Cambria Math"/>
                        </a:rPr>
                        <m:t>{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}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𝑆𝐴𝑇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480" y="5254774"/>
                <a:ext cx="7788799" cy="646331"/>
              </a:xfrm>
              <a:prstGeom prst="rect">
                <a:avLst/>
              </a:prstGeom>
              <a:blipFill>
                <a:blip r:embed="rId6"/>
                <a:stretch>
                  <a:fillRect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2469931" y="5187280"/>
            <a:ext cx="7703348" cy="71382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4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  <p:bldP spid="9" grpId="0"/>
      <p:bldP spid="10" grpId="0" animBg="1"/>
      <p:bldP spid="13" grpId="0"/>
      <p:bldP spid="15" grpId="0"/>
      <p:bldP spid="16" grpId="0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Minimal Inductive </a:t>
            </a:r>
            <a:r>
              <a:rPr lang="en-US" dirty="0" smtClean="0"/>
              <a:t>Validity </a:t>
            </a:r>
            <a:r>
              <a:rPr lang="en-US" dirty="0" smtClean="0"/>
              <a:t>Cores (MIVCs)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/>
              <a:t> </a:t>
            </a:r>
            <a:r>
              <a:rPr lang="de-DE" dirty="0"/>
              <a:t>Given </a:t>
            </a:r>
            <a:r>
              <a:rPr lang="de-DE" dirty="0" smtClean="0"/>
              <a:t>a </a:t>
            </a:r>
            <a:r>
              <a:rPr lang="de-DE" dirty="0"/>
              <a:t>constraint system, </a:t>
            </a:r>
            <a:r>
              <a:rPr lang="de-DE" dirty="0" smtClean="0"/>
              <a:t>JKind‘s MIVC </a:t>
            </a:r>
            <a:r>
              <a:rPr lang="de-DE" dirty="0"/>
              <a:t>algorithm returns the minimal set of elements necessary to find proof of property </a:t>
            </a:r>
            <a:r>
              <a:rPr lang="de-DE" dirty="0" smtClean="0"/>
              <a:t>P.</a:t>
            </a:r>
            <a:endParaRPr lang="de-DE" dirty="0"/>
          </a:p>
        </p:txBody>
      </p:sp>
      <p:pic>
        <p:nvPicPr>
          <p:cNvPr id="7" name="Picture 4" descr="C:\Users\stew_da\Downloads\clipboard-guy-9725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897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975" y="2979336"/>
            <a:ext cx="1825031" cy="306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4"/>
              <p:cNvSpPr txBox="1"/>
              <p:nvPr/>
            </p:nvSpPr>
            <p:spPr>
              <a:xfrm>
                <a:off x="4760844" y="2925867"/>
                <a:ext cx="60198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800" b="0" i="0" smtClean="0">
                          <a:latin typeface="Cambria Math"/>
                        </a:rPr>
                        <m:t>Minimal</m:t>
                      </m:r>
                      <m:r>
                        <a:rPr lang="de-DE" sz="28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800" b="0" i="0" smtClean="0">
                          <a:latin typeface="Cambria Math"/>
                        </a:rPr>
                        <m:t>Unsatisfiable</m:t>
                      </m:r>
                      <m:r>
                        <a:rPr lang="de-DE" sz="28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800" b="0" i="0" smtClean="0">
                          <a:latin typeface="Cambria Math"/>
                        </a:rPr>
                        <m:t>Subsets</m:t>
                      </m:r>
                    </m:oMath>
                  </m:oMathPara>
                </a14:m>
                <a:endParaRPr lang="de-DE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Minimal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/>
                            </a:rPr>
                            <m:t>Inductive</m:t>
                          </m:r>
                          <m:r>
                            <a:rPr lang="de-DE" sz="28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/>
                            </a:rPr>
                            <m:t>Validity</m:t>
                          </m:r>
                          <m:r>
                            <a:rPr lang="de-DE" sz="28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/>
                            </a:rPr>
                            <m:t>Cores</m:t>
                          </m:r>
                        </m:e>
                      </m:d>
                    </m:oMath>
                  </m:oMathPara>
                </a14:m>
                <a:endParaRPr lang="de-DE" sz="2800" b="0" dirty="0" smtClean="0"/>
              </a:p>
              <a:p>
                <a:endParaRPr lang="de-D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𝐴𝑙𝑙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𝑐𝑜𝑢𝑛𝑡𝑒𝑟𝑒𝑥𝑎𝑚𝑝𝑙𝑒𝑠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𝑓𝑜𝑟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𝑡h𝑒</m:t>
                      </m:r>
                    </m:oMath>
                  </m:oMathPara>
                </a14:m>
                <a:endParaRPr lang="de-DE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𝑢𝑛𝑠𝑎𝑡𝑖𝑠𝑓𝑖𝑎𝑏𝑙𝑒</m:t>
                      </m:r>
                      <m:r>
                        <a:rPr lang="de-DE" b="0" i="1" smtClean="0">
                          <a:latin typeface="Cambria Math"/>
                        </a:rPr>
                        <m:t> </m:t>
                      </m:r>
                      <m:r>
                        <a:rPr lang="de-DE" b="0" i="1" smtClean="0">
                          <a:latin typeface="Cambria Math"/>
                        </a:rPr>
                        <m:t>𝑐𝑜𝑛𝑠𝑡𝑟𝑎𝑖𝑛𝑡</m:t>
                      </m:r>
                    </m:oMath>
                  </m:oMathPara>
                </a14:m>
                <a:endParaRPr lang="de-DE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𝑠𝑦𝑠𝑡𝑒𝑚</m:t>
                      </m:r>
                      <m:r>
                        <a:rPr lang="de-DE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de-DE" b="0" dirty="0" smtClean="0"/>
              </a:p>
            </p:txBody>
          </p:sp>
        </mc:Choice>
        <mc:Fallback xmlns=""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44" y="2925867"/>
                <a:ext cx="6019800" cy="2062103"/>
              </a:xfrm>
              <a:prstGeom prst="rect">
                <a:avLst/>
              </a:prstGeom>
              <a:blipFill>
                <a:blip r:embed="rId5"/>
                <a:stretch>
                  <a:fillRect b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4532244" y="2753348"/>
            <a:ext cx="6477000" cy="2712031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7"/>
          <p:cNvSpPr txBox="1"/>
          <p:nvPr/>
        </p:nvSpPr>
        <p:spPr>
          <a:xfrm>
            <a:off x="1990498" y="599181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Model </a:t>
            </a:r>
            <a:r>
              <a:rPr lang="de-DE" dirty="0" err="1" smtClean="0"/>
              <a:t>Checker</a:t>
            </a:r>
            <a:endParaRPr lang="de-DE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826565" y="4224130"/>
            <a:ext cx="7056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68847" y="5658151"/>
            <a:ext cx="5603794" cy="5650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feld 9"/>
          <p:cNvSpPr txBox="1"/>
          <p:nvPr/>
        </p:nvSpPr>
        <p:spPr>
          <a:xfrm>
            <a:off x="5059323" y="5709865"/>
            <a:ext cx="5598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 smtClean="0"/>
              <a:t>Ghassabani</a:t>
            </a:r>
            <a:r>
              <a:rPr lang="en-US" sz="1200" dirty="0"/>
              <a:t>, E., Whalen, </a:t>
            </a:r>
            <a:r>
              <a:rPr lang="en-US" sz="1200" dirty="0" smtClean="0"/>
              <a:t>M.W., </a:t>
            </a:r>
            <a:r>
              <a:rPr lang="en-US" sz="1200" dirty="0"/>
              <a:t>and </a:t>
            </a:r>
            <a:r>
              <a:rPr lang="en-US" sz="1200" dirty="0" smtClean="0"/>
              <a:t>Gacek, A. “Efficient generation of all minimal inductive validity cores” </a:t>
            </a:r>
            <a:r>
              <a:rPr lang="en-US" sz="1200" i="1" dirty="0" smtClean="0"/>
              <a:t>FMCAD</a:t>
            </a:r>
            <a:r>
              <a:rPr lang="en-US" sz="1200" dirty="0" smtClean="0"/>
              <a:t>, </a:t>
            </a:r>
            <a:r>
              <a:rPr lang="en-US" sz="1200" dirty="0"/>
              <a:t>(</a:t>
            </a:r>
            <a:r>
              <a:rPr lang="en-US" sz="1200" dirty="0" smtClean="0"/>
              <a:t>2017)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3406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Minimal Inductive Validity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249680" y="2097639"/>
                <a:ext cx="10058400" cy="4023360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lnSpcReduction="1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sz="2400" dirty="0" smtClean="0"/>
                  <a:t>A requirement of the MIVC algorithm is that the safety property </a:t>
                </a:r>
                <a:r>
                  <a:rPr lang="en-US" sz="2400" i="1" dirty="0" smtClean="0"/>
                  <a:t>P</a:t>
                </a:r>
                <a:r>
                  <a:rPr lang="en-US" sz="2400" dirty="0" smtClean="0"/>
                  <a:t> proves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given constraints,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 smtClean="0"/>
                  <a:t>.</a:t>
                </a:r>
              </a:p>
              <a:p>
                <a:pPr lvl="1"/>
                <a:r>
                  <a:rPr lang="en-US" sz="2400" dirty="0" smtClean="0"/>
                  <a:t>The constraint system for the MIVC algorithm is: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lvl="1"/>
                <a:r>
                  <a:rPr lang="en-US" sz="2400" dirty="0" smtClean="0"/>
                  <a:t>Given the assumption above, this constraint system is UNSAT</a:t>
                </a:r>
              </a:p>
              <a:p>
                <a:pPr marL="201168" lvl="1" indent="0">
                  <a:buNone/>
                </a:pPr>
                <a:endParaRPr lang="en-US" sz="2400" dirty="0"/>
              </a:p>
              <a:p>
                <a:pPr marL="201168" lvl="1" indent="0" algn="ctr">
                  <a:buNone/>
                </a:pPr>
                <a:r>
                  <a:rPr lang="en-US" sz="3200" dirty="0" smtClean="0"/>
                  <a:t>MIVC algorithm finds the minimal UNSAT cores for the unsatisfiable constraint system</a:t>
                </a:r>
                <a:r>
                  <a:rPr lang="en-US" sz="3200" dirty="0" smtClean="0"/>
                  <a:t>.</a:t>
                </a:r>
              </a:p>
              <a:p>
                <a:pPr marL="201168" lvl="1" indent="0" algn="ctr">
                  <a:buNone/>
                </a:pPr>
                <a:endParaRPr lang="en-US" sz="3200" dirty="0" smtClean="0"/>
              </a:p>
              <a:p>
                <a:pPr marL="201168" lvl="1" indent="0" algn="ctr">
                  <a:buNone/>
                </a:pPr>
                <a:r>
                  <a:rPr lang="en-US" sz="3200" dirty="0" smtClean="0"/>
                  <a:t>These are the minimal model elements needed to prove the property P. </a:t>
                </a:r>
                <a:endParaRPr lang="en-US" sz="3200" dirty="0"/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2097639"/>
                <a:ext cx="10058400" cy="4023360"/>
              </a:xfrm>
              <a:prstGeom prst="rect">
                <a:avLst/>
              </a:prstGeom>
              <a:blipFill>
                <a:blip r:embed="rId3"/>
                <a:stretch>
                  <a:fillRect t="-3030" r="-364" b="-3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17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Minimal Correction </a:t>
            </a:r>
            <a:r>
              <a:rPr lang="en-US" dirty="0" smtClean="0"/>
              <a:t>Sets (MCSs)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4"/>
              <p:cNvSpPr txBox="1"/>
              <p:nvPr/>
            </p:nvSpPr>
            <p:spPr>
              <a:xfrm>
                <a:off x="3035739" y="1937783"/>
                <a:ext cx="60198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𝐶𝑜𝑛𝑠𝑡𝑟𝑎𝑖𝑛𝑡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𝑆𝑦𝑠𝑡𝑒𝑚</m:t>
                      </m:r>
                    </m:oMath>
                  </m:oMathPara>
                </a14:m>
                <a:endParaRPr lang="de-DE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sz="2800" b="0" i="1" smtClean="0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39" y="1937783"/>
                <a:ext cx="6019800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4"/>
              <p:cNvSpPr txBox="1"/>
              <p:nvPr/>
            </p:nvSpPr>
            <p:spPr>
              <a:xfrm>
                <a:off x="1965628" y="3161662"/>
                <a:ext cx="345616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𝐢𝐬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𝐔𝐧𝐬𝐚𝐭𝐢𝐬𝐟𝐢𝐚𝐛𝐥𝐞</m:t>
                      </m:r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i="1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𝑐𝑎𝑛𝑛𝑜𝑡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𝑓𝑖𝑛𝑑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𝑎𝑠𝑠𝑖𝑔𝑛𝑚𝑒𝑛𝑡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𝑠𝑎𝑡𝑖𝑠𝑓𝑖𝑒𝑠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𝑏𝑜𝑡h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3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28" y="3161662"/>
                <a:ext cx="3456167" cy="923330"/>
              </a:xfrm>
              <a:prstGeom prst="rect">
                <a:avLst/>
              </a:prstGeom>
              <a:blipFill>
                <a:blip r:embed="rId4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4"/>
              <p:cNvSpPr txBox="1"/>
              <p:nvPr/>
            </p:nvSpPr>
            <p:spPr>
              <a:xfrm>
                <a:off x="6045639" y="3161662"/>
                <a:ext cx="474560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𝐖𝐡𝐚𝐭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𝐚𝐫𝐞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𝐭𝐡𝐞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𝐦𝐢𝐧𝐢𝐦𝐚𝐥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𝐜𝐨𝐫𝐫𝐞𝐜𝐭𝐢𝐨𝐧𝐬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𝐭𝐡𝐚𝐭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0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𝐜𝐚𝐧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𝐛𝐞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𝐦𝐚𝐝𝐞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𝐭𝐨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𝐦𝐚𝐤𝐞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𝐬𝐲𝐬𝐭𝐞𝐦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𝐒𝐀𝐓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u="sng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 smtClean="0"/>
              </a:p>
              <a:p>
                <a:endParaRPr lang="de-D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3:{¬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>
          <p:sp>
            <p:nvSpPr>
              <p:cNvPr id="15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639" y="3161662"/>
                <a:ext cx="4745603" cy="2308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84480" y="5254774"/>
                <a:ext cx="704821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0" smtClean="0">
                          <a:latin typeface="Cambria Math"/>
                        </a:rPr>
                        <m:t>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𝐢𝐧𝐢𝐦𝐚𝐥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𝐂𝐨𝐫𝐫𝐞𝐜𝐭𝐢𝐨𝐧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𝐒𝐞𝐭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a:rPr lang="de-DE" i="1">
                          <a:latin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</a:rPr>
                        <m:t>𝑆𝐴𝑇</m:t>
                      </m:r>
                      <m:r>
                        <a:rPr lang="de-DE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i="1">
                          <a:latin typeface="Cambria Math"/>
                        </a:rPr>
                        <m:t>𝑛𝑑</m:t>
                      </m:r>
                      <m:r>
                        <a:rPr lang="de-DE" i="1">
                          <a:latin typeface="Cambria Math"/>
                        </a:rPr>
                        <m:t>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𝑀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𝑖𝑠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𝑈𝑁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𝑆𝐴𝑇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480" y="5254774"/>
                <a:ext cx="7048212" cy="646331"/>
              </a:xfrm>
              <a:prstGeom prst="rect">
                <a:avLst/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2469931" y="5187280"/>
            <a:ext cx="7703348" cy="71382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0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  <p:bldP spid="9" grpId="0"/>
      <p:bldP spid="10" grpId="0" animBg="1"/>
      <p:bldP spid="13" grpId="0"/>
      <p:bldP spid="15" grpId="0"/>
      <p:bldP spid="16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/>
              <a:t>Duality of MUS and MCS: </a:t>
            </a:r>
            <a:br>
              <a:rPr lang="en-US" dirty="0" smtClean="0"/>
            </a:br>
            <a:r>
              <a:rPr lang="en-US" dirty="0" smtClean="0"/>
              <a:t>Minimal Hitting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/>
          <a:lstStyle/>
          <a:p>
            <a:r>
              <a:rPr lang="en-US" dirty="0" smtClean="0"/>
              <a:t> </a:t>
            </a:r>
            <a:endParaRPr lang="de-DE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49680" y="209763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endParaRPr lang="de-DE" dirty="0"/>
          </a:p>
        </p:txBody>
      </p:sp>
      <p:sp>
        <p:nvSpPr>
          <p:cNvPr id="10" name="Abgerundetes Rechteck 5"/>
          <p:cNvSpPr/>
          <p:nvPr/>
        </p:nvSpPr>
        <p:spPr>
          <a:xfrm>
            <a:off x="1341783" y="1889760"/>
            <a:ext cx="9667461" cy="4078839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4"/>
              <p:cNvSpPr txBox="1"/>
              <p:nvPr/>
            </p:nvSpPr>
            <p:spPr>
              <a:xfrm>
                <a:off x="3051228" y="2115588"/>
                <a:ext cx="26421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𝑀𝑈𝑆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228" y="2115588"/>
                <a:ext cx="2642145" cy="646331"/>
              </a:xfrm>
              <a:prstGeom prst="rect">
                <a:avLst/>
              </a:prstGeom>
              <a:blipFill>
                <a:blip r:embed="rId3"/>
                <a:stretch>
                  <a:fillRect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4"/>
              <p:cNvSpPr txBox="1"/>
              <p:nvPr/>
            </p:nvSpPr>
            <p:spPr>
              <a:xfrm>
                <a:off x="7060497" y="2017036"/>
                <a:ext cx="2328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2: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𝑀𝐶𝑆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3:{¬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18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497" y="2017036"/>
                <a:ext cx="2328904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4"/>
              <p:cNvSpPr txBox="1"/>
              <p:nvPr/>
            </p:nvSpPr>
            <p:spPr>
              <a:xfrm>
                <a:off x="3802711" y="3217365"/>
                <a:ext cx="474560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𝐌𝐢𝐧𝐢𝐦𝐚𝐥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𝐇𝐢𝐭𝐭𝐢𝐧𝐠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𝐒𝐞𝐭𝐬</m:t>
                      </m:r>
                      <m:r>
                        <a:rPr lang="en-US" b="1" i="0" u="sng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b="1" u="sng" dirty="0" smtClean="0"/>
              </a:p>
              <a:p>
                <a:r>
                  <a:rPr lang="de-DE" b="1" dirty="0" smtClean="0"/>
                  <a:t>A hitting set of a collection of sets A is a set H such that every set in A is </a:t>
                </a:r>
                <a:r>
                  <a:rPr lang="de-DE" b="1" i="1" dirty="0" smtClean="0"/>
                  <a:t>hit</a:t>
                </a:r>
                <a:r>
                  <a:rPr lang="de-DE" b="1" dirty="0" smtClean="0"/>
                  <a:t> by H. </a:t>
                </a:r>
                <a:endParaRPr lang="de-DE" b="1" dirty="0"/>
              </a:p>
            </p:txBody>
          </p:sp>
        </mc:Choice>
        <mc:Fallback>
          <p:sp>
            <p:nvSpPr>
              <p:cNvPr id="19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711" y="3217365"/>
                <a:ext cx="4745603" cy="923330"/>
              </a:xfrm>
              <a:prstGeom prst="rect">
                <a:avLst/>
              </a:prstGeom>
              <a:blipFill>
                <a:blip r:embed="rId5"/>
                <a:stretch>
                  <a:fillRect l="-115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4"/>
              <p:cNvSpPr txBox="1"/>
              <p:nvPr/>
            </p:nvSpPr>
            <p:spPr>
              <a:xfrm>
                <a:off x="3590677" y="4611756"/>
                <a:ext cx="52849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𝑀𝑈𝑆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𝑀𝑈𝑆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b="0" dirty="0" smtClean="0"/>
                  <a:t>, {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}};  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677" y="4611756"/>
                <a:ext cx="528496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bgerundetes Rechteck 5"/>
          <p:cNvSpPr/>
          <p:nvPr/>
        </p:nvSpPr>
        <p:spPr>
          <a:xfrm>
            <a:off x="2643808" y="4502180"/>
            <a:ext cx="6927575" cy="1202881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83676" y="5156448"/>
                <a:ext cx="1148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1={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676" y="5156448"/>
                <a:ext cx="1148904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69041" y="5156448"/>
                <a:ext cx="1711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041" y="5156448"/>
                <a:ext cx="1711815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744275" y="5150858"/>
                <a:ext cx="21342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={¬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275" y="5150858"/>
                <a:ext cx="2134239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9331234" y="1245395"/>
            <a:ext cx="2634368" cy="3033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One can find all MCSs by finding the Minimal Hitting Sets of all MUSs. 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773410" y="4981088"/>
            <a:ext cx="6919499" cy="864979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779567" y="1718579"/>
            <a:ext cx="1483490" cy="1726541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3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  <p:bldP spid="10" grpId="0" animBg="1"/>
      <p:bldP spid="14" grpId="0"/>
      <p:bldP spid="18" grpId="0"/>
      <p:bldP spid="19" grpId="0"/>
      <p:bldP spid="20" grpId="0"/>
      <p:bldP spid="22" grpId="0" animBg="1"/>
      <p:bldP spid="11" grpId="0"/>
      <p:bldP spid="23" grpId="0"/>
      <p:bldP spid="24" grpId="0"/>
      <p:bldP spid="7" grpId="0" animBg="1"/>
      <p:bldP spid="8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MCSs have to do with safety?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945239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 If the constraints found in an MCS are removed from the constraint system, it becomes SAT</a:t>
                </a:r>
                <a:r>
                  <a:rPr lang="en-US" dirty="0" smtClean="0"/>
                  <a:t>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dirty="0"/>
                  <a:t> </a:t>
                </a:r>
                <a:r>
                  <a:rPr lang="en-US" dirty="0" smtClean="0"/>
                  <a:t>Add all faults to the system and constrain them to false.</a:t>
                </a:r>
                <a:endParaRPr lang="en-US" dirty="0" smtClean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i="1" dirty="0" smtClean="0"/>
              </a:p>
              <a:p>
                <a:pPr marL="0" indent="0" algn="ctr">
                  <a:buNone/>
                </a:pPr>
                <a:r>
                  <a:rPr lang="en-US" i="1" dirty="0" smtClean="0"/>
                  <a:t>MUSs</a:t>
                </a:r>
                <a:r>
                  <a:rPr lang="en-US" dirty="0" smtClean="0"/>
                  <a:t> </a:t>
                </a:r>
                <a:r>
                  <a:rPr lang="en-US" dirty="0" smtClean="0"/>
                  <a:t>and </a:t>
                </a:r>
                <a:r>
                  <a:rPr lang="en-US" i="1" dirty="0" smtClean="0"/>
                  <a:t>MCSs</a:t>
                </a:r>
                <a:r>
                  <a:rPr lang="en-US" dirty="0" smtClean="0"/>
                  <a:t> will now contain fault information: </a:t>
                </a:r>
                <a:endParaRPr lang="en-US" dirty="0" smtClean="0"/>
              </a:p>
              <a:p>
                <a:pPr marL="0" indent="0" algn="ctr">
                  <a:buNone/>
                </a:pPr>
                <a:endParaRPr lang="en-US" i="1" dirty="0" smtClean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i="1" dirty="0" smtClean="0"/>
                  <a:t> MCS</a:t>
                </a:r>
                <a:r>
                  <a:rPr lang="en-US" dirty="0" smtClean="0"/>
                  <a:t> now contains faults and if these </a:t>
                </a:r>
                <a:r>
                  <a:rPr lang="en-US" i="1" dirty="0" smtClean="0"/>
                  <a:t>fault</a:t>
                </a:r>
                <a:r>
                  <a:rPr lang="en-US" dirty="0" smtClean="0"/>
                  <a:t> constraints are removed from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, the system is SAT </a:t>
                </a:r>
                <a:r>
                  <a:rPr lang="en-US" i="1" dirty="0" smtClean="0"/>
                  <a:t>with respect to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/>
                        <a:ea typeface="Cambria Math"/>
                      </a:rPr>
                      <m:t>¬</m:t>
                    </m:r>
                    <m:r>
                      <a:rPr lang="de-DE" i="1">
                        <a:latin typeface="Cambria Math"/>
                        <a:ea typeface="Cambria Math"/>
                      </a:rPr>
                      <m:t>𝑃</m:t>
                    </m:r>
                  </m:oMath>
                </a14:m>
                <a:r>
                  <a:rPr lang="en-US" dirty="0" smtClean="0"/>
                  <a:t> which is the Top Level Event.</a:t>
                </a:r>
                <a:endParaRPr lang="en-US" i="1" dirty="0" smtClean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i="1" dirty="0"/>
              </a:p>
              <a:p>
                <a:pPr marL="201168" lvl="1" indent="0">
                  <a:buNone/>
                </a:pPr>
                <a:endParaRPr lang="en-US" i="1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945239"/>
                <a:ext cx="10058400" cy="4023360"/>
              </a:xfrm>
              <a:blipFill>
                <a:blip r:embed="rId2"/>
                <a:stretch>
                  <a:fillRect l="-1455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2397319" y="3310588"/>
                <a:ext cx="6934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de-DE" i="1">
                          <a:latin typeface="Cambria Math"/>
                        </a:rPr>
                        <m:t>={¬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…,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de-DE" dirty="0"/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,…,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𝑃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319" y="3310588"/>
                <a:ext cx="69342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bgerundetes Rechteck 7"/>
          <p:cNvSpPr/>
          <p:nvPr/>
        </p:nvSpPr>
        <p:spPr>
          <a:xfrm>
            <a:off x="3921319" y="3211478"/>
            <a:ext cx="3886200" cy="6096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15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857" y="1856929"/>
            <a:ext cx="10058400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endParaRPr lang="en-US" i="1" dirty="0"/>
          </a:p>
          <a:p>
            <a:pPr marL="201168" lvl="1" indent="0">
              <a:buNone/>
            </a:pPr>
            <a:endParaRPr lang="en-US" i="1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6"/>
              <p:cNvSpPr txBox="1"/>
              <p:nvPr/>
            </p:nvSpPr>
            <p:spPr>
              <a:xfrm>
                <a:off x="6992936" y="2482090"/>
                <a:ext cx="35635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de-DE" i="1">
                          <a:latin typeface="Cambria Math"/>
                        </a:rPr>
                        <m:t>={¬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dirty="0"/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𝑃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936" y="2482090"/>
                <a:ext cx="356353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bgerundetes Rechteck 7"/>
          <p:cNvSpPr/>
          <p:nvPr/>
        </p:nvSpPr>
        <p:spPr>
          <a:xfrm>
            <a:off x="6882748" y="2432649"/>
            <a:ext cx="3886200" cy="535508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2180917" y="2322209"/>
                <a:ext cx="1500027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System S</a:t>
                </a:r>
              </a:p>
              <a:p>
                <a:pPr algn="ctr"/>
                <a:r>
                  <a:rPr lang="en-US" dirty="0" smtClean="0"/>
                  <a:t>Prop: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917" y="2322209"/>
                <a:ext cx="1500027" cy="895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606108" y="3649818"/>
                <a:ext cx="1574809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A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08" y="3649818"/>
                <a:ext cx="1574809" cy="8954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3680944" y="3649818"/>
                <a:ext cx="1538260" cy="8954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Component B</a:t>
                </a:r>
                <a:endParaRPr lang="en-US" dirty="0"/>
              </a:p>
              <a:p>
                <a:pPr algn="ctr"/>
                <a:r>
                  <a:rPr lang="en-US" dirty="0"/>
                  <a:t>Prop: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944" y="3649818"/>
                <a:ext cx="1538260" cy="895404"/>
              </a:xfrm>
              <a:prstGeom prst="rect">
                <a:avLst/>
              </a:prstGeom>
              <a:blipFill>
                <a:blip r:embed="rId6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lbow Connector 14"/>
          <p:cNvCxnSpPr>
            <a:stCxn id="8" idx="2"/>
            <a:endCxn id="9" idx="0"/>
          </p:cNvCxnSpPr>
          <p:nvPr/>
        </p:nvCxnSpPr>
        <p:spPr>
          <a:xfrm rot="5400000">
            <a:off x="1946120" y="2665006"/>
            <a:ext cx="432205" cy="153741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8" idx="2"/>
            <a:endCxn id="14" idx="0"/>
          </p:cNvCxnSpPr>
          <p:nvPr/>
        </p:nvCxnSpPr>
        <p:spPr>
          <a:xfrm rot="16200000" flipH="1">
            <a:off x="3474400" y="2674143"/>
            <a:ext cx="432205" cy="151914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9" idx="2"/>
          </p:cNvCxnSpPr>
          <p:nvPr/>
        </p:nvCxnSpPr>
        <p:spPr>
          <a:xfrm rot="5400000">
            <a:off x="889804" y="4241461"/>
            <a:ext cx="199949" cy="80747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9" idx="2"/>
          </p:cNvCxnSpPr>
          <p:nvPr/>
        </p:nvCxnSpPr>
        <p:spPr>
          <a:xfrm rot="16200000" flipH="1">
            <a:off x="1665878" y="4272857"/>
            <a:ext cx="199949" cy="74467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5557" y="4745171"/>
            <a:ext cx="621102" cy="63272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1870366" y="4751883"/>
            <a:ext cx="621102" cy="63272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146672" y="4783467"/>
            <a:ext cx="621102" cy="63272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400951" y="4830703"/>
                <a:ext cx="439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51" y="4830703"/>
                <a:ext cx="439736" cy="461665"/>
              </a:xfrm>
              <a:prstGeom prst="rect">
                <a:avLst/>
              </a:prstGeom>
              <a:blipFill>
                <a:blip r:embed="rId7"/>
                <a:stretch>
                  <a:fillRect l="-1250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1942354" y="4811467"/>
                <a:ext cx="439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354" y="4811467"/>
                <a:ext cx="439736" cy="461665"/>
              </a:xfrm>
              <a:prstGeom prst="rect">
                <a:avLst/>
              </a:prstGeom>
              <a:blipFill>
                <a:blip r:embed="rId8"/>
                <a:stretch>
                  <a:fillRect l="-1250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230206" y="4779666"/>
                <a:ext cx="439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206" y="4779666"/>
                <a:ext cx="439736" cy="461665"/>
              </a:xfrm>
              <a:prstGeom prst="rect">
                <a:avLst/>
              </a:prstGeom>
              <a:blipFill>
                <a:blip r:embed="rId9"/>
                <a:stretch>
                  <a:fillRect l="-1250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bgerundetes Rechteck 7"/>
          <p:cNvSpPr/>
          <p:nvPr/>
        </p:nvSpPr>
        <p:spPr>
          <a:xfrm>
            <a:off x="6882748" y="3384752"/>
            <a:ext cx="3886200" cy="535508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feld 6"/>
              <p:cNvSpPr txBox="1"/>
              <p:nvPr/>
            </p:nvSpPr>
            <p:spPr>
              <a:xfrm>
                <a:off x="7044081" y="3432235"/>
                <a:ext cx="35635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i="1">
                          <a:latin typeface="Cambria Math"/>
                        </a:rPr>
                        <m:t>={¬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3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081" y="3432235"/>
                <a:ext cx="3563534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6925253" y="4246941"/>
            <a:ext cx="4136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Remove constraints from C found in MCS: </a:t>
            </a:r>
            <a:endParaRPr lang="en-US" dirty="0"/>
          </a:p>
        </p:txBody>
      </p:sp>
      <p:sp>
        <p:nvSpPr>
          <p:cNvPr id="35" name="Abgerundetes Rechteck 7"/>
          <p:cNvSpPr/>
          <p:nvPr/>
        </p:nvSpPr>
        <p:spPr>
          <a:xfrm>
            <a:off x="6882748" y="4820473"/>
            <a:ext cx="3886200" cy="535508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feld 6"/>
              <p:cNvSpPr txBox="1"/>
              <p:nvPr/>
            </p:nvSpPr>
            <p:spPr>
              <a:xfrm>
                <a:off x="7044081" y="4867956"/>
                <a:ext cx="35635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MCS</m:t>
                      </m:r>
                      <m:r>
                        <a:rPr lang="de-DE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dirty="0"/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𝑃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081" y="4867956"/>
                <a:ext cx="3563534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056613" y="5748553"/>
                <a:ext cx="55440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Faults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de-DE" sz="24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/>
                  <a:t> occur</a:t>
                </a:r>
                <a:r>
                  <a:rPr lang="en-US" sz="2400" dirty="0"/>
                  <a:t>;</a:t>
                </a:r>
                <a:r>
                  <a:rPr lang="en-US" sz="2400" dirty="0" smtClean="0"/>
                  <a:t> violates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𝑐</m:t>
                        </m:r>
                      </m:e>
                      <m:sub>
                        <m:r>
                          <a:rPr lang="de-DE" sz="24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; satisfies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/>
                        <a:ea typeface="Cambria Math"/>
                      </a:rPr>
                      <m:t>¬</m:t>
                    </m:r>
                    <m:r>
                      <a:rPr lang="de-DE" sz="2400" i="1">
                        <a:latin typeface="Cambria Math"/>
                        <a:ea typeface="Cambria Math"/>
                      </a:rPr>
                      <m:t>𝑃</m:t>
                    </m:r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613" y="5748553"/>
                <a:ext cx="5544082" cy="461665"/>
              </a:xfrm>
              <a:prstGeom prst="rect">
                <a:avLst/>
              </a:prstGeom>
              <a:blipFill>
                <a:blip r:embed="rId12"/>
                <a:stretch>
                  <a:fillRect l="-164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bgerundetes Rechteck 7"/>
          <p:cNvSpPr/>
          <p:nvPr/>
        </p:nvSpPr>
        <p:spPr>
          <a:xfrm>
            <a:off x="3021218" y="5713883"/>
            <a:ext cx="5953677" cy="535508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Down Arrow 38"/>
          <p:cNvSpPr/>
          <p:nvPr/>
        </p:nvSpPr>
        <p:spPr>
          <a:xfrm>
            <a:off x="8790317" y="3002827"/>
            <a:ext cx="45719" cy="292464"/>
          </a:xfrm>
          <a:prstGeom prst="down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own Arrow 39"/>
          <p:cNvSpPr/>
          <p:nvPr/>
        </p:nvSpPr>
        <p:spPr>
          <a:xfrm>
            <a:off x="8790334" y="3904074"/>
            <a:ext cx="45719" cy="292464"/>
          </a:xfrm>
          <a:prstGeom prst="down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8790317" y="4560423"/>
            <a:ext cx="45719" cy="233068"/>
          </a:xfrm>
          <a:prstGeom prst="down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>
            <a:stCxn id="14" idx="2"/>
            <a:endCxn id="30" idx="0"/>
          </p:cNvCxnSpPr>
          <p:nvPr/>
        </p:nvCxnSpPr>
        <p:spPr>
          <a:xfrm>
            <a:off x="4450074" y="4545222"/>
            <a:ext cx="0" cy="234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63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4" grpId="0" animBg="1"/>
      <p:bldP spid="24" grpId="0" animBg="1"/>
      <p:bldP spid="25" grpId="0" animBg="1"/>
      <p:bldP spid="26" grpId="0" animBg="1"/>
      <p:bldP spid="28" grpId="0"/>
      <p:bldP spid="29" grpId="0"/>
      <p:bldP spid="30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MCS to MinCutSet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u="sng" dirty="0" smtClean="0"/>
              <a:t>Case 1: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 smtClean="0"/>
              <a:t>MCS only contains fault literals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 →</a:t>
            </a:r>
            <a:r>
              <a:rPr lang="en-US" sz="2200" dirty="0"/>
              <a:t> </a:t>
            </a:r>
            <a:r>
              <a:rPr lang="en-US" sz="2200" dirty="0" smtClean="0"/>
              <a:t>Remove constraints on faults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0" indent="0">
              <a:buNone/>
            </a:pPr>
            <a:r>
              <a:rPr lang="en-US" sz="2600" b="1" u="sng" dirty="0"/>
              <a:t>Case </a:t>
            </a:r>
            <a:r>
              <a:rPr lang="en-US" sz="2600" b="1" u="sng" dirty="0" smtClean="0"/>
              <a:t>2: </a:t>
            </a:r>
            <a:endParaRPr lang="en-US" sz="2600" b="1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 smtClean="0"/>
              <a:t>MCS contains faults and contracts</a:t>
            </a:r>
            <a:endParaRPr lang="en-US" sz="2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 → </a:t>
            </a:r>
            <a:r>
              <a:rPr lang="en-US" sz="2200" dirty="0" smtClean="0"/>
              <a:t>Replace contracts with faults that cause </a:t>
            </a:r>
          </a:p>
          <a:p>
            <a:pPr marL="201168" lvl="1" indent="0">
              <a:buNone/>
            </a:pPr>
            <a:r>
              <a:rPr lang="en-US" sz="2200" dirty="0"/>
              <a:t> </a:t>
            </a:r>
            <a:r>
              <a:rPr lang="en-US" sz="2200" dirty="0" smtClean="0"/>
              <a:t>        their violation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→ </a:t>
            </a:r>
            <a:r>
              <a:rPr lang="en-US" sz="2200" dirty="0"/>
              <a:t>Remove constraints on faults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i="1" dirty="0"/>
          </a:p>
          <a:p>
            <a:pPr marL="201168" lvl="1" indent="0">
              <a:buNone/>
            </a:pPr>
            <a:endParaRPr lang="en-US" i="1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6"/>
              <p:cNvSpPr txBox="1"/>
              <p:nvPr/>
            </p:nvSpPr>
            <p:spPr>
              <a:xfrm>
                <a:off x="5629854" y="1922833"/>
                <a:ext cx="6934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/>
                            </a:rPr>
                            <m:t>¬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de-DE" i="1">
                              <a:latin typeface="Cambria Math"/>
                            </a:rPr>
                            <m:t>¬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¬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>
                  <a:ea typeface="Cambria Math"/>
                </a:endParaRPr>
              </a:p>
              <a:p>
                <a:pPr algn="ctr"/>
                <a:endParaRPr lang="en-US" dirty="0">
                  <a:ea typeface="Cambria Math"/>
                </a:endParaRPr>
              </a:p>
              <a:p>
                <a:pPr algn="ctr"/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e-DE" i="1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de-DE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854" y="1922833"/>
                <a:ext cx="6934200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bgerundetes Rechteck 7"/>
          <p:cNvSpPr/>
          <p:nvPr/>
        </p:nvSpPr>
        <p:spPr>
          <a:xfrm>
            <a:off x="7205869" y="1840924"/>
            <a:ext cx="3782171" cy="141988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6"/>
              <p:cNvSpPr txBox="1"/>
              <p:nvPr/>
            </p:nvSpPr>
            <p:spPr>
              <a:xfrm>
                <a:off x="7261573" y="4038048"/>
                <a:ext cx="36707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i="1">
                          <a:latin typeface="Cambria Math"/>
                        </a:rPr>
                        <m:t>={¬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¬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dirty="0"/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8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573" y="4038048"/>
                <a:ext cx="367076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bgerundetes Rechteck 7"/>
          <p:cNvSpPr/>
          <p:nvPr/>
        </p:nvSpPr>
        <p:spPr>
          <a:xfrm>
            <a:off x="7205869" y="3903683"/>
            <a:ext cx="3886200" cy="2238695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Down Arrow 9"/>
          <p:cNvSpPr/>
          <p:nvPr/>
        </p:nvSpPr>
        <p:spPr>
          <a:xfrm>
            <a:off x="8965096" y="2391154"/>
            <a:ext cx="268356" cy="32150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6"/>
              <p:cNvSpPr txBox="1"/>
              <p:nvPr/>
            </p:nvSpPr>
            <p:spPr>
              <a:xfrm>
                <a:off x="7039224" y="4554727"/>
                <a:ext cx="412407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de-DE" b="0" i="1" smtClean="0">
                          <a:latin typeface="Cambria Math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𝑢𝑡𝑆𝑒𝑡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)</m:t>
                      </m:r>
                      <m:r>
                        <a:rPr lang="de-DE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4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 smtClean="0"/>
              </a:p>
              <a:p>
                <a:endParaRPr lang="de-DE" dirty="0" smtClean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de-DE" i="1">
                          <a:latin typeface="Cambria Math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𝑢𝑡𝑆𝑒𝑡</m:t>
                      </m:r>
                      <m:r>
                        <a:rPr lang="de-DE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de-DE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4</m:t>
                          </m:r>
                        </m:sub>
                      </m:sSub>
                      <m:r>
                        <a:rPr lang="de-DE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:endParaRPr lang="de-DE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11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224" y="4554727"/>
                <a:ext cx="4124077" cy="17543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8965096" y="5037398"/>
            <a:ext cx="268356" cy="32150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6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 animBg="1"/>
      <p:bldP spid="8" grpId="0"/>
      <p:bldP spid="9" grpId="0" animBg="1"/>
      <p:bldP spid="10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Main Idea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083365" y="2902226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751913" y="2902225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917639" y="2902225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115733" y="3021497"/>
                <a:ext cx="220393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/>
                  <a:t>Constraint System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33" y="3021497"/>
                <a:ext cx="2203937" cy="1200329"/>
              </a:xfrm>
              <a:prstGeom prst="rect">
                <a:avLst/>
              </a:prstGeom>
              <a:blipFill>
                <a:blip r:embed="rId2"/>
                <a:stretch>
                  <a:fillRect t="-3046" b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511122" y="4015667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2" y="4015667"/>
                <a:ext cx="506896" cy="50689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215775" y="5255313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75" y="5255313"/>
                <a:ext cx="506896" cy="50689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885410" y="5387099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10" y="5387099"/>
                <a:ext cx="506896" cy="506896"/>
              </a:xfrm>
              <a:prstGeom prst="ellipse">
                <a:avLst/>
              </a:prstGeom>
              <a:blipFill>
                <a:blip r:embed="rId5"/>
                <a:stretch>
                  <a:fillRect l="-2273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rved Up Arrow 15"/>
          <p:cNvSpPr/>
          <p:nvPr/>
        </p:nvSpPr>
        <p:spPr>
          <a:xfrm rot="19199099">
            <a:off x="1573844" y="5209891"/>
            <a:ext cx="1255345" cy="440231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Down Arrow 16"/>
          <p:cNvSpPr/>
          <p:nvPr/>
        </p:nvSpPr>
        <p:spPr>
          <a:xfrm rot="18526840">
            <a:off x="-238882" y="3339542"/>
            <a:ext cx="1383700" cy="493331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/>
              <p:cNvSpPr/>
              <p:nvPr/>
            </p:nvSpPr>
            <p:spPr>
              <a:xfrm>
                <a:off x="511122" y="4670259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2" y="4670259"/>
                <a:ext cx="506896" cy="50689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1182329" y="4880203"/>
                <a:ext cx="506896" cy="50689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329" y="4880203"/>
                <a:ext cx="506896" cy="50689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022986" y="2081975"/>
            <a:ext cx="2514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Add constrained faults</a:t>
            </a:r>
          </a:p>
          <a:p>
            <a:r>
              <a:rPr lang="en-US" dirty="0" smtClean="0"/>
              <a:t>to constraint system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987245" y="2081975"/>
            <a:ext cx="2169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Get all </a:t>
            </a:r>
            <a:r>
              <a:rPr lang="en-US" i="1" dirty="0" smtClean="0"/>
              <a:t>MUSs</a:t>
            </a:r>
            <a:r>
              <a:rPr lang="en-US" dirty="0" smtClean="0"/>
              <a:t> from </a:t>
            </a:r>
          </a:p>
          <a:p>
            <a:r>
              <a:rPr lang="en-US" dirty="0" smtClean="0"/>
              <a:t>All-MIVC algorithm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846413" y="5063933"/>
            <a:ext cx="214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Get all </a:t>
            </a:r>
            <a:r>
              <a:rPr lang="en-US" i="1" dirty="0" smtClean="0"/>
              <a:t>MCSs</a:t>
            </a:r>
            <a:r>
              <a:rPr lang="en-US" dirty="0" smtClean="0"/>
              <a:t> from </a:t>
            </a:r>
          </a:p>
          <a:p>
            <a:r>
              <a:rPr lang="en-US" dirty="0" smtClean="0"/>
              <a:t>Hitting Set Algorithm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9586187" y="2902225"/>
            <a:ext cx="2236305" cy="188843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586187" y="5048609"/>
            <a:ext cx="1974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Transform </a:t>
            </a:r>
            <a:r>
              <a:rPr lang="en-US" i="1" dirty="0" smtClean="0"/>
              <a:t>MCSs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Into </a:t>
            </a:r>
            <a:r>
              <a:rPr lang="en-US" i="1" dirty="0" smtClean="0"/>
              <a:t>MinCutSets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594" y="3129834"/>
            <a:ext cx="2018393" cy="1433215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7056783" y="3129834"/>
            <a:ext cx="1679713" cy="585489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409002" y="3252329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MUSs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H="1">
            <a:off x="7156174" y="3629580"/>
            <a:ext cx="146597" cy="359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6" idx="4"/>
          </p:cNvCxnSpPr>
          <p:nvPr/>
        </p:nvCxnSpPr>
        <p:spPr>
          <a:xfrm flipH="1">
            <a:off x="7896639" y="3715323"/>
            <a:ext cx="1" cy="300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5"/>
          </p:cNvCxnSpPr>
          <p:nvPr/>
        </p:nvCxnSpPr>
        <p:spPr>
          <a:xfrm>
            <a:off x="8490508" y="3629580"/>
            <a:ext cx="176414" cy="2653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107417" y="3715323"/>
            <a:ext cx="120944" cy="693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409003" y="3715323"/>
            <a:ext cx="166340" cy="553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686018" y="3931689"/>
                <a:ext cx="7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018" y="3931689"/>
                <a:ext cx="7863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036512" y="4249256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512" y="4249256"/>
                <a:ext cx="79162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477414" y="3975983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414" y="3975983"/>
                <a:ext cx="79162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05838" y="4373299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838" y="4373299"/>
                <a:ext cx="79162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302823" y="3845737"/>
                <a:ext cx="791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823" y="3845737"/>
                <a:ext cx="79162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9586187" y="3053246"/>
                <a:ext cx="7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87" y="3053246"/>
                <a:ext cx="78630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>
            <a:off x="10263162" y="3416338"/>
            <a:ext cx="366118" cy="2783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769396" y="3547311"/>
                <a:ext cx="70378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𝐶𝑢𝑡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𝐶𝑢𝑡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𝐶𝑢𝑡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i="1" dirty="0" smtClean="0"/>
              </a:p>
              <a:p>
                <a:pPr algn="ctr"/>
                <a:r>
                  <a:rPr lang="en-US" i="1" dirty="0" smtClean="0"/>
                  <a:t>…</a:t>
                </a:r>
                <a:endParaRPr lang="en-US" i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396" y="3547311"/>
                <a:ext cx="703782" cy="1200329"/>
              </a:xfrm>
              <a:prstGeom prst="rect">
                <a:avLst/>
              </a:prstGeom>
              <a:blipFill>
                <a:blip r:embed="rId15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/>
          <p:cNvSpPr/>
          <p:nvPr/>
        </p:nvSpPr>
        <p:spPr>
          <a:xfrm>
            <a:off x="10713464" y="3375076"/>
            <a:ext cx="824948" cy="13743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6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2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endParaRPr lang="en-US" sz="22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 </a:t>
            </a:r>
            <a:r>
              <a:rPr lang="en-US" sz="2200" dirty="0" smtClean="0"/>
              <a:t>Ongoing conversations with safety analysts to provide tools they need (and will use)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 </a:t>
            </a:r>
            <a:r>
              <a:rPr lang="en-US" sz="2200" dirty="0" smtClean="0"/>
              <a:t>Further integration of formal methods into both the system development and safety assessment processes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 </a:t>
            </a:r>
            <a:r>
              <a:rPr lang="en-US" sz="2200" dirty="0" smtClean="0"/>
              <a:t>Encouragement in industry to adopt a model based approach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 </a:t>
            </a:r>
            <a:r>
              <a:rPr lang="en-US" sz="2200" dirty="0" smtClean="0"/>
              <a:t>Look into further ways the proof information can be used to shed light on other aspects of system/safety (i.e., assurance cases, critical component detection, etc.)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i="1" dirty="0"/>
          </a:p>
          <a:p>
            <a:pPr marL="201168" lvl="1" indent="0">
              <a:buNone/>
            </a:pPr>
            <a:endParaRPr lang="en-US" i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80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938" y="2437310"/>
            <a:ext cx="5715002" cy="31868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56382" y="-29888"/>
            <a:ext cx="37226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 smtClean="0"/>
              <a:t>Questions</a:t>
            </a:r>
            <a:endParaRPr lang="en-US" sz="6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56" y="1800005"/>
            <a:ext cx="3625343" cy="20418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27" y="3841865"/>
            <a:ext cx="4334003" cy="2507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80607" y="2461078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 smtClean="0"/>
              <a:t>?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11534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6664"/>
            <a:ext cx="10058400" cy="1450757"/>
          </a:xfrm>
        </p:spPr>
        <p:txBody>
          <a:bodyPr/>
          <a:lstStyle/>
          <a:p>
            <a:r>
              <a:rPr lang="en-US" dirty="0" smtClean="0"/>
              <a:t>Verification in the Face of </a:t>
            </a:r>
            <a:r>
              <a:rPr lang="en-US" dirty="0"/>
              <a:t>C</a:t>
            </a:r>
            <a:r>
              <a:rPr lang="en-US" dirty="0" smtClean="0"/>
              <a:t>omponent </a:t>
            </a:r>
            <a:r>
              <a:rPr lang="en-US" dirty="0"/>
              <a:t>F</a:t>
            </a:r>
            <a:r>
              <a:rPr lang="en-US" dirty="0" smtClean="0"/>
              <a:t>ailures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4538207" cy="4023360"/>
          </a:xfrm>
        </p:spPr>
        <p:txBody>
          <a:bodyPr/>
          <a:lstStyle/>
          <a:p>
            <a:r>
              <a:rPr lang="en-US" u="sng" dirty="0" smtClean="0"/>
              <a:t>Maximum no. of faults analysis threshold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Are contracts violated in the presence of </a:t>
            </a:r>
            <a:r>
              <a:rPr lang="en-US" i="1" dirty="0" smtClean="0"/>
              <a:t>n</a:t>
            </a:r>
            <a:r>
              <a:rPr lang="en-US" dirty="0" smtClean="0"/>
              <a:t> active faults?</a:t>
            </a:r>
            <a:endParaRPr lang="en-US" dirty="0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6245418" y="1945239"/>
            <a:ext cx="476713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/>
              <a:t>Probabilistic analysis threshold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Are contracts violated with a probability greater than </a:t>
            </a:r>
            <a:r>
              <a:rPr lang="en-US" i="1" dirty="0" smtClean="0"/>
              <a:t>x</a:t>
            </a:r>
            <a:r>
              <a:rPr lang="en-US" dirty="0" smtClean="0"/>
              <a:t>?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201168" lvl="1" indent="0">
              <a:buFont typeface="Calibri" pitchFamily="34" charset="0"/>
              <a:buNone/>
            </a:pPr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705" y="3721537"/>
            <a:ext cx="3991274" cy="9100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99" y="3721537"/>
            <a:ext cx="3488709" cy="91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72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6664"/>
            <a:ext cx="10058400" cy="1450757"/>
          </a:xfrm>
        </p:spPr>
        <p:txBody>
          <a:bodyPr/>
          <a:lstStyle/>
          <a:p>
            <a:r>
              <a:rPr lang="en-US" dirty="0" smtClean="0"/>
              <a:t>Flexible Fault Modeling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4538207" cy="4023360"/>
          </a:xfrm>
        </p:spPr>
        <p:txBody>
          <a:bodyPr/>
          <a:lstStyle/>
          <a:p>
            <a:r>
              <a:rPr lang="en-US" u="sng" dirty="0" smtClean="0"/>
              <a:t>Behavioral Propagation</a:t>
            </a:r>
            <a:endParaRPr lang="en-US" u="sng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The effects of an active fault propagate through the system naturally</a:t>
            </a:r>
            <a:endParaRPr lang="en-US" dirty="0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6245418" y="1945239"/>
            <a:ext cx="476713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 smtClean="0"/>
              <a:t>Explicit Propagation (dependencies)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Analyst explicitly states dependencies and propagations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201168" lvl="1" indent="0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30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JKind</a:t>
            </a:r>
            <a:r>
              <a:rPr lang="en-US" dirty="0" smtClean="0"/>
              <a:t> Model Checker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4294967295"/>
          </p:nvPr>
        </p:nvSpPr>
        <p:spPr>
          <a:xfrm>
            <a:off x="1097280" y="1983425"/>
            <a:ext cx="10058400" cy="227029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Structured as parallel engines that coordinate to prove properties and perform other verification tasks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8725146" y="2813444"/>
            <a:ext cx="2712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System and Behavioral Model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lus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815797" y="3678744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3538330" y="3369365"/>
            <a:ext cx="2023656" cy="8050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18748" y="3568003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Lucida Console" panose="020B0609040504020204" pitchFamily="49" charset="0"/>
              </a:rPr>
              <a:t>AGREE Parser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590256" y="3657599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>
            <a:off x="8262829" y="3652629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39089" y="3411654"/>
            <a:ext cx="1912864" cy="76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1281" y="3369365"/>
            <a:ext cx="2176670" cy="2773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55982" y="3478325"/>
            <a:ext cx="21371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AADL type and </a:t>
            </a:r>
          </a:p>
          <a:p>
            <a:r>
              <a:rPr lang="en-US" dirty="0">
                <a:latin typeface="Lucida Console" panose="020B0609040504020204" pitchFamily="49" charset="0"/>
              </a:rPr>
              <a:t>Implementation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endParaRPr lang="en-US" dirty="0">
              <a:latin typeface="Lucida Console" panose="020B0609040504020204" pitchFamily="49" charset="0"/>
            </a:endParaRP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annex agree{**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contracts</a:t>
            </a:r>
          </a:p>
          <a:p>
            <a:r>
              <a:rPr lang="en-US" dirty="0">
                <a:latin typeface="Lucida Console" panose="020B0609040504020204" pitchFamily="49" charset="0"/>
              </a:rPr>
              <a:t>**};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78281" y="3568003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Lucida Console" panose="020B0609040504020204" pitchFamily="49" charset="0"/>
              </a:rPr>
              <a:t>AGREE Program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708" y="2784589"/>
            <a:ext cx="1951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AADL System Model 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aadl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65030" y="2784589"/>
            <a:ext cx="1920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(.java)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4" name="Right Arrow 53"/>
          <p:cNvSpPr/>
          <p:nvPr/>
        </p:nvSpPr>
        <p:spPr>
          <a:xfrm rot="5400000">
            <a:off x="9753296" y="4403686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094305" y="3478325"/>
            <a:ext cx="1940560" cy="692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012725" y="3529579"/>
            <a:ext cx="2137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Lucida Console" panose="020B0609040504020204" pitchFamily="49" charset="0"/>
              </a:rPr>
              <a:t>JKind</a:t>
            </a:r>
            <a:r>
              <a:rPr lang="en-US" dirty="0">
                <a:latin typeface="Lucida Console" panose="020B0609040504020204" pitchFamily="49" charset="0"/>
              </a:rPr>
              <a:t> Program </a:t>
            </a:r>
          </a:p>
          <a:p>
            <a:pPr algn="ctr"/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Lustre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55" name="Rounded Rectangle 54"/>
          <p:cNvSpPr/>
          <p:nvPr/>
        </p:nvSpPr>
        <p:spPr>
          <a:xfrm>
            <a:off x="9412357" y="4954219"/>
            <a:ext cx="1441173" cy="6500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640300" y="5072494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latin typeface="Lucida Console" panose="020B0609040504020204" pitchFamily="49" charset="0"/>
              </a:rPr>
              <a:t>JKind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6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6664"/>
            <a:ext cx="10058400" cy="1450757"/>
          </a:xfrm>
        </p:spPr>
        <p:txBody>
          <a:bodyPr/>
          <a:lstStyle/>
          <a:p>
            <a:r>
              <a:rPr lang="en-US" dirty="0" smtClean="0"/>
              <a:t>Implementation of the Safety </a:t>
            </a:r>
            <a:r>
              <a:rPr lang="en-US" dirty="0"/>
              <a:t>Annex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557" y="5705061"/>
            <a:ext cx="666784" cy="5270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316063" y="2007042"/>
            <a:ext cx="2712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System and Behavioral Model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lus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483695" y="2833918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3206228" y="2524539"/>
            <a:ext cx="2023656" cy="8050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86646" y="2723177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Lucida Console" panose="020B0609040504020204" pitchFamily="49" charset="0"/>
              </a:rPr>
              <a:t>AGREE Parser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258154" y="2812773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>
            <a:off x="7930727" y="2807803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06987" y="2566828"/>
            <a:ext cx="1912864" cy="76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79179" y="2524539"/>
            <a:ext cx="2204516" cy="3011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23880" y="2633499"/>
            <a:ext cx="227658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AADL type and </a:t>
            </a:r>
          </a:p>
          <a:p>
            <a:r>
              <a:rPr lang="en-US" dirty="0">
                <a:latin typeface="Lucida Console" panose="020B0609040504020204" pitchFamily="49" charset="0"/>
              </a:rPr>
              <a:t>Implementation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annex agree{**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contracts</a:t>
            </a:r>
          </a:p>
          <a:p>
            <a:r>
              <a:rPr lang="en-US" dirty="0">
                <a:latin typeface="Lucida Console" panose="020B0609040504020204" pitchFamily="49" charset="0"/>
              </a:rPr>
              <a:t>**};</a:t>
            </a:r>
          </a:p>
          <a:p>
            <a:endParaRPr lang="en-US" dirty="0" smtClean="0"/>
          </a:p>
          <a:p>
            <a:r>
              <a:rPr lang="en-US" dirty="0">
                <a:latin typeface="Lucida Console" panose="020B0609040504020204" pitchFamily="49" charset="0"/>
              </a:rPr>
              <a:t>annex </a:t>
            </a:r>
            <a:r>
              <a:rPr lang="en-US" dirty="0" smtClean="0">
                <a:latin typeface="Lucida Console" panose="020B0609040504020204" pitchFamily="49" charset="0"/>
              </a:rPr>
              <a:t>safety{**</a:t>
            </a:r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 smtClean="0">
                <a:latin typeface="Lucida Console" panose="020B0609040504020204" pitchFamily="49" charset="0"/>
              </a:rPr>
              <a:t>faults</a:t>
            </a:r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**};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46179" y="2723177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Lucida Console" panose="020B0609040504020204" pitchFamily="49" charset="0"/>
              </a:rPr>
              <a:t>AGREE Program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606" y="1939763"/>
            <a:ext cx="1951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AADL System Model 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</a:t>
            </a:r>
            <a:r>
              <a:rPr lang="en-US" sz="1600" b="1" dirty="0" err="1" smtClean="0">
                <a:solidFill>
                  <a:schemeClr val="accent1"/>
                </a:solidFill>
              </a:rPr>
              <a:t>aadl</a:t>
            </a:r>
            <a:r>
              <a:rPr lang="en-US" sz="1600" b="1" dirty="0" smtClean="0">
                <a:solidFill>
                  <a:schemeClr val="accent1"/>
                </a:solidFill>
              </a:rPr>
              <a:t>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32928" y="1939763"/>
            <a:ext cx="1920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(.java)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4" name="Right Arrow 53"/>
          <p:cNvSpPr/>
          <p:nvPr/>
        </p:nvSpPr>
        <p:spPr>
          <a:xfrm rot="5400000">
            <a:off x="10920682" y="3597284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685222" y="2671923"/>
            <a:ext cx="1940560" cy="692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603642" y="2723177"/>
            <a:ext cx="2137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Lucida Console" panose="020B0609040504020204" pitchFamily="49" charset="0"/>
              </a:rPr>
              <a:t>JKind</a:t>
            </a:r>
            <a:r>
              <a:rPr lang="en-US" dirty="0">
                <a:latin typeface="Lucida Console" panose="020B0609040504020204" pitchFamily="49" charset="0"/>
              </a:rPr>
              <a:t> Program </a:t>
            </a:r>
          </a:p>
          <a:p>
            <a:pPr algn="ctr"/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Lustre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55" name="Rounded Rectangle 54"/>
          <p:cNvSpPr/>
          <p:nvPr/>
        </p:nvSpPr>
        <p:spPr>
          <a:xfrm>
            <a:off x="10579743" y="4147817"/>
            <a:ext cx="1441173" cy="6500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807686" y="4266092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latin typeface="Lucida Console" panose="020B0609040504020204" pitchFamily="49" charset="0"/>
              </a:rPr>
              <a:t>JKind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8597585" y="2633499"/>
            <a:ext cx="725777" cy="6064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9346113" y="2809069"/>
            <a:ext cx="339109" cy="2273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240209" y="3275358"/>
            <a:ext cx="1326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AGREE Plugin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2483695" y="5040406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3206228" y="4731027"/>
            <a:ext cx="2023656" cy="8050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86646" y="4929665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Lucida Console" panose="020B0609040504020204" pitchFamily="49" charset="0"/>
              </a:rPr>
              <a:t>Safety Parser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248215" y="5019261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006987" y="4773316"/>
            <a:ext cx="1912864" cy="76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096477" y="4939287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Lucida Console" panose="020B0609040504020204" pitchFamily="49" charset="0"/>
              </a:rPr>
              <a:t>Fault Model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95744" y="5601524"/>
            <a:ext cx="1920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(.java)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7943195" y="5020527"/>
            <a:ext cx="655982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620336" y="4848694"/>
            <a:ext cx="725777" cy="6064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316548" y="5555358"/>
            <a:ext cx="1287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1"/>
                </a:solidFill>
              </a:rPr>
              <a:t>Safety Plugin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8586709" y="3646507"/>
            <a:ext cx="10876" cy="9889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9272385" y="3678806"/>
            <a:ext cx="0" cy="967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62775" y="3820384"/>
            <a:ext cx="1147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Extension </a:t>
            </a:r>
          </a:p>
          <a:p>
            <a:r>
              <a:rPr lang="en-US" dirty="0" smtClean="0"/>
              <a:t>Point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9229974" y="3747015"/>
            <a:ext cx="17363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AGREE AST with </a:t>
            </a:r>
          </a:p>
          <a:p>
            <a:r>
              <a:rPr lang="en-US" dirty="0" smtClean="0"/>
              <a:t>fault</a:t>
            </a:r>
          </a:p>
          <a:p>
            <a:r>
              <a:rPr lang="en-US" dirty="0" smtClean="0"/>
              <a:t>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443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6" grpId="0" animBg="1"/>
      <p:bldP spid="37" grpId="0" animBg="1"/>
      <p:bldP spid="38" grpId="0"/>
      <p:bldP spid="39" grpId="0" animBg="1"/>
      <p:bldP spid="49" grpId="0" animBg="1"/>
      <p:bldP spid="7" grpId="0" animBg="1"/>
      <p:bldP spid="8" grpId="0" animBg="1"/>
      <p:bldP spid="9" grpId="0"/>
      <p:bldP spid="10" grpId="0"/>
      <p:bldP spid="52" grpId="0"/>
      <p:bldP spid="53" grpId="0"/>
      <p:bldP spid="54" grpId="0" animBg="1"/>
      <p:bldP spid="11" grpId="0" animBg="1"/>
      <p:bldP spid="12" grpId="0"/>
      <p:bldP spid="55" grpId="0" animBg="1"/>
      <p:bldP spid="56" grpId="0"/>
      <p:bldP spid="3" grpId="0" animBg="1"/>
      <p:bldP spid="24" grpId="0" animBg="1"/>
      <p:bldP spid="25" grpId="0"/>
      <p:bldP spid="26" grpId="0" animBg="1"/>
      <p:bldP spid="27" grpId="0" animBg="1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/>
      <p:bldP spid="18" grpId="0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2" name="Content Placeholder 2"/>
          <p:cNvSpPr>
            <a:spLocks noGrp="1"/>
          </p:cNvSpPr>
          <p:nvPr>
            <p:ph idx="1"/>
          </p:nvPr>
        </p:nvSpPr>
        <p:spPr>
          <a:xfrm>
            <a:off x="1097280" y="1945239"/>
            <a:ext cx="10058400" cy="402336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endParaRPr lang="en-US" sz="22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 </a:t>
            </a:r>
            <a:r>
              <a:rPr lang="en-US" sz="2200" dirty="0" smtClean="0"/>
              <a:t>Automatically insert defined faults into AGREE program as IVC elements for consideration. Set these equal to false.</a:t>
            </a:r>
          </a:p>
          <a:p>
            <a:pPr marL="201168" lvl="1" indent="0">
              <a:buNone/>
            </a:pPr>
            <a:r>
              <a:rPr lang="en-US" sz="2200" dirty="0" smtClean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Run analysis </a:t>
            </a:r>
            <a:r>
              <a:rPr lang="en-US" sz="2200" dirty="0"/>
              <a:t>on the model and request All-MIVCs from </a:t>
            </a:r>
            <a:r>
              <a:rPr lang="en-US" sz="2200" dirty="0" err="1"/>
              <a:t>JKind</a:t>
            </a:r>
            <a:r>
              <a:rPr lang="en-US" sz="2200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800" dirty="0"/>
              <a:t>The analysis results are a tree reflecting at each layer the MIVCs pertaining to properties.</a:t>
            </a:r>
            <a:endParaRPr lang="en-US" dirty="0"/>
          </a:p>
          <a:p>
            <a:pPr marL="201168" lvl="1" indent="0">
              <a:buNone/>
            </a:pPr>
            <a:endParaRPr lang="en-US" sz="22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Use Minimal Hitting Set Algorithm to find all Minimal Correction Sets per property.</a:t>
            </a:r>
            <a:endParaRPr lang="en-US" sz="2200" dirty="0"/>
          </a:p>
          <a:p>
            <a:pPr marL="201168" lvl="1" indent="0">
              <a:buNone/>
            </a:pPr>
            <a:endParaRPr lang="en-US" sz="22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/>
              <a:t>Transform the MCSs into MinCutSets.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i="1" dirty="0"/>
          </a:p>
          <a:p>
            <a:pPr marL="201168" lvl="1" indent="0">
              <a:buNone/>
            </a:pPr>
            <a:endParaRPr lang="en-US" i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4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17582</TotalTime>
  <Words>1559</Words>
  <Application>Microsoft Office PowerPoint</Application>
  <PresentationFormat>Widescreen</PresentationFormat>
  <Paragraphs>415</Paragraphs>
  <Slides>30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Courier New</vt:lpstr>
      <vt:lpstr>Lucida Console</vt:lpstr>
      <vt:lpstr>Lucida Sans Typewriter</vt:lpstr>
      <vt:lpstr>Retrospect</vt:lpstr>
      <vt:lpstr>VISIO</vt:lpstr>
      <vt:lpstr>Visio</vt:lpstr>
      <vt:lpstr>Using Inductive Validity Cores to Generate Minimal Cut Sets</vt:lpstr>
      <vt:lpstr>Critical System Development</vt:lpstr>
      <vt:lpstr>Common Artifacts of the Safety Assessment Process</vt:lpstr>
      <vt:lpstr>Minimal Cut Sets </vt:lpstr>
      <vt:lpstr>MinCutSet Generation Issues</vt:lpstr>
      <vt:lpstr>Model Based Safety Analysis</vt:lpstr>
      <vt:lpstr>PowerPoint Presentation</vt:lpstr>
      <vt:lpstr>AADL and AGREE</vt:lpstr>
      <vt:lpstr>The Safety Annex for AADL</vt:lpstr>
      <vt:lpstr>Scalability: Monolithic vs. Compositional Verification</vt:lpstr>
      <vt:lpstr>Hierarchical Layers of a System</vt:lpstr>
      <vt:lpstr>Compositional Verification</vt:lpstr>
      <vt:lpstr>Problem with MinCutSets and Compositional Verification</vt:lpstr>
      <vt:lpstr>JKind Analysis and Constraint Systems </vt:lpstr>
      <vt:lpstr>Minimal Unsatisfiable Subsets (MUSs)</vt:lpstr>
      <vt:lpstr>Minimal Inductive Validity Cores (MIVCs)</vt:lpstr>
      <vt:lpstr>Minimal Inductive Validity Cores</vt:lpstr>
      <vt:lpstr>Minimal Correction Sets (MCSs)</vt:lpstr>
      <vt:lpstr>Duality of MUS and MCS:  Minimal Hitting Sets</vt:lpstr>
      <vt:lpstr>What do MCSs have to do with safety?</vt:lpstr>
      <vt:lpstr>Example</vt:lpstr>
      <vt:lpstr>MCS to MinCutSet</vt:lpstr>
      <vt:lpstr>The Main Idea</vt:lpstr>
      <vt:lpstr>Future Work</vt:lpstr>
      <vt:lpstr>PowerPoint Presentation</vt:lpstr>
      <vt:lpstr>Verification in the Face of Component Failures</vt:lpstr>
      <vt:lpstr>Flexible Fault Modeling</vt:lpstr>
      <vt:lpstr>JKind Model Checker</vt:lpstr>
      <vt:lpstr>Implementation of the Safety Annex </vt:lpstr>
      <vt:lpstr>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Danielle Stewart</dc:creator>
  <cp:lastModifiedBy>Danielle Stewart</cp:lastModifiedBy>
  <cp:revision>192</cp:revision>
  <dcterms:created xsi:type="dcterms:W3CDTF">2019-11-27T15:12:56Z</dcterms:created>
  <dcterms:modified xsi:type="dcterms:W3CDTF">2020-04-22T15:28:37Z</dcterms:modified>
</cp:coreProperties>
</file>