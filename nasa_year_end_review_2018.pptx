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703" r:id="rId2"/>
  </p:sldMasterIdLst>
  <p:notesMasterIdLst>
    <p:notesMasterId r:id="rId94"/>
  </p:notesMasterIdLst>
  <p:handoutMasterIdLst>
    <p:handoutMasterId r:id="rId95"/>
  </p:handoutMasterIdLst>
  <p:sldIdLst>
    <p:sldId id="257" r:id="rId3"/>
    <p:sldId id="484" r:id="rId4"/>
    <p:sldId id="489" r:id="rId5"/>
    <p:sldId id="492" r:id="rId6"/>
    <p:sldId id="487" r:id="rId7"/>
    <p:sldId id="616" r:id="rId8"/>
    <p:sldId id="617" r:id="rId9"/>
    <p:sldId id="619" r:id="rId10"/>
    <p:sldId id="620" r:id="rId11"/>
    <p:sldId id="613" r:id="rId12"/>
    <p:sldId id="618" r:id="rId13"/>
    <p:sldId id="540" r:id="rId14"/>
    <p:sldId id="702" r:id="rId15"/>
    <p:sldId id="539" r:id="rId16"/>
    <p:sldId id="612" r:id="rId17"/>
    <p:sldId id="615" r:id="rId18"/>
    <p:sldId id="703" r:id="rId19"/>
    <p:sldId id="599" r:id="rId20"/>
    <p:sldId id="597" r:id="rId21"/>
    <p:sldId id="626" r:id="rId22"/>
    <p:sldId id="681" r:id="rId23"/>
    <p:sldId id="694" r:id="rId24"/>
    <p:sldId id="695" r:id="rId25"/>
    <p:sldId id="696" r:id="rId26"/>
    <p:sldId id="666" r:id="rId27"/>
    <p:sldId id="683" r:id="rId28"/>
    <p:sldId id="684" r:id="rId29"/>
    <p:sldId id="685" r:id="rId30"/>
    <p:sldId id="686" r:id="rId31"/>
    <p:sldId id="687" r:id="rId32"/>
    <p:sldId id="688" r:id="rId33"/>
    <p:sldId id="689" r:id="rId34"/>
    <p:sldId id="690" r:id="rId35"/>
    <p:sldId id="691" r:id="rId36"/>
    <p:sldId id="692" r:id="rId37"/>
    <p:sldId id="693" r:id="rId38"/>
    <p:sldId id="650" r:id="rId39"/>
    <p:sldId id="651" r:id="rId40"/>
    <p:sldId id="652" r:id="rId41"/>
    <p:sldId id="653" r:id="rId42"/>
    <p:sldId id="698" r:id="rId43"/>
    <p:sldId id="654" r:id="rId44"/>
    <p:sldId id="655" r:id="rId45"/>
    <p:sldId id="656" r:id="rId46"/>
    <p:sldId id="657" r:id="rId47"/>
    <p:sldId id="658" r:id="rId48"/>
    <p:sldId id="659" r:id="rId49"/>
    <p:sldId id="661" r:id="rId50"/>
    <p:sldId id="662" r:id="rId51"/>
    <p:sldId id="663" r:id="rId52"/>
    <p:sldId id="664" r:id="rId53"/>
    <p:sldId id="665" r:id="rId54"/>
    <p:sldId id="682" r:id="rId55"/>
    <p:sldId id="649" r:id="rId56"/>
    <p:sldId id="641" r:id="rId57"/>
    <p:sldId id="642" r:id="rId58"/>
    <p:sldId id="643" r:id="rId59"/>
    <p:sldId id="644" r:id="rId60"/>
    <p:sldId id="645" r:id="rId61"/>
    <p:sldId id="646" r:id="rId62"/>
    <p:sldId id="647" r:id="rId63"/>
    <p:sldId id="648" r:id="rId64"/>
    <p:sldId id="699" r:id="rId65"/>
    <p:sldId id="700" r:id="rId66"/>
    <p:sldId id="704" r:id="rId67"/>
    <p:sldId id="705" r:id="rId68"/>
    <p:sldId id="706" r:id="rId69"/>
    <p:sldId id="707" r:id="rId70"/>
    <p:sldId id="708" r:id="rId71"/>
    <p:sldId id="701" r:id="rId72"/>
    <p:sldId id="677" r:id="rId73"/>
    <p:sldId id="764" r:id="rId74"/>
    <p:sldId id="768" r:id="rId75"/>
    <p:sldId id="767" r:id="rId76"/>
    <p:sldId id="721" r:id="rId77"/>
    <p:sldId id="725" r:id="rId78"/>
    <p:sldId id="757" r:id="rId79"/>
    <p:sldId id="755" r:id="rId80"/>
    <p:sldId id="759" r:id="rId81"/>
    <p:sldId id="753" r:id="rId82"/>
    <p:sldId id="625" r:id="rId83"/>
    <p:sldId id="760" r:id="rId84"/>
    <p:sldId id="712" r:id="rId85"/>
    <p:sldId id="713" r:id="rId86"/>
    <p:sldId id="714" r:id="rId87"/>
    <p:sldId id="710" r:id="rId88"/>
    <p:sldId id="728" r:id="rId89"/>
    <p:sldId id="731" r:id="rId90"/>
    <p:sldId id="761" r:id="rId91"/>
    <p:sldId id="711" r:id="rId92"/>
    <p:sldId id="490" r:id="rId93"/>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dcofer" initials="dc"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8693B8"/>
    <a:srgbClr val="990000"/>
    <a:srgbClr val="3333CC"/>
    <a:srgbClr val="FF9900"/>
    <a:srgbClr val="A3A3FF"/>
    <a:srgbClr val="9999FF"/>
    <a:srgbClr val="9393FF"/>
    <a:srgbClr val="BDBDFF"/>
    <a:srgbClr val="C3D7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455" autoAdjust="0"/>
    <p:restoredTop sz="95089" autoAdjust="0"/>
  </p:normalViewPr>
  <p:slideViewPr>
    <p:cSldViewPr>
      <p:cViewPr>
        <p:scale>
          <a:sx n="92" d="100"/>
          <a:sy n="92" d="100"/>
        </p:scale>
        <p:origin x="-156" y="-108"/>
      </p:cViewPr>
      <p:guideLst>
        <p:guide orient="horz" pos="2160"/>
        <p:guide pos="2880"/>
      </p:guideLst>
    </p:cSldViewPr>
  </p:slideViewPr>
  <p:outlineViewPr>
    <p:cViewPr>
      <p:scale>
        <a:sx n="33" d="100"/>
        <a:sy n="33" d="100"/>
      </p:scale>
      <p:origin x="0" y="37974"/>
    </p:cViewPr>
  </p:outlineViewPr>
  <p:notesTextViewPr>
    <p:cViewPr>
      <p:scale>
        <a:sx n="1" d="1"/>
        <a:sy n="1" d="1"/>
      </p:scale>
      <p:origin x="0" y="0"/>
    </p:cViewPr>
  </p:notesTextViewPr>
  <p:sorterViewPr>
    <p:cViewPr>
      <p:scale>
        <a:sx n="100" d="100"/>
        <a:sy n="100" d="100"/>
      </p:scale>
      <p:origin x="0" y="17790"/>
    </p:cViewPr>
  </p:sorterViewPr>
  <p:notesViewPr>
    <p:cSldViewPr>
      <p:cViewPr varScale="1">
        <p:scale>
          <a:sx n="72" d="100"/>
          <a:sy n="72" d="100"/>
        </p:scale>
        <p:origin x="-2148" y="-10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slide" Target="slides/slide87.xml"/><Relationship Id="rId97"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handoutMaster" Target="handoutMasters/handout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notesMaster" Target="notesMasters/notesMaster1.xml"/><Relationship Id="rId9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9.emf"/><Relationship Id="rId1" Type="http://schemas.openxmlformats.org/officeDocument/2006/relationships/image" Target="../media/image28.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bwMode="auto">
          <a:xfrm>
            <a:off x="0" y="0"/>
            <a:ext cx="3009832" cy="452257"/>
          </a:xfrm>
          <a:prstGeom prst="rect">
            <a:avLst/>
          </a:prstGeom>
          <a:noFill/>
          <a:ln w="9525">
            <a:noFill/>
            <a:miter lim="800000"/>
            <a:headEnd/>
            <a:tailEnd/>
          </a:ln>
          <a:effectLst/>
        </p:spPr>
        <p:txBody>
          <a:bodyPr vert="horz" wrap="square" lIns="90379" tIns="45190" rIns="90379" bIns="45190" numCol="1" anchor="t" anchorCtr="0" compatLnSpc="1">
            <a:prstTxWarp prst="textNoShape">
              <a:avLst/>
            </a:prstTxWarp>
          </a:bodyPr>
          <a:lstStyle>
            <a:lvl1pPr>
              <a:defRPr sz="1200" smtClean="0">
                <a:latin typeface="Arial" charset="0"/>
                <a:cs typeface="Arial" charset="0"/>
              </a:defRPr>
            </a:lvl1pPr>
          </a:lstStyle>
          <a:p>
            <a:pPr>
              <a:defRPr/>
            </a:pPr>
            <a:endParaRPr lang="en-US"/>
          </a:p>
        </p:txBody>
      </p:sp>
      <p:sp>
        <p:nvSpPr>
          <p:cNvPr id="112643" name="Rectangle 3"/>
          <p:cNvSpPr>
            <a:spLocks noGrp="1" noChangeArrowheads="1"/>
          </p:cNvSpPr>
          <p:nvPr>
            <p:ph type="dt" sz="quarter" idx="1"/>
          </p:nvPr>
        </p:nvSpPr>
        <p:spPr bwMode="auto">
          <a:xfrm>
            <a:off x="3988027" y="0"/>
            <a:ext cx="3009832" cy="452257"/>
          </a:xfrm>
          <a:prstGeom prst="rect">
            <a:avLst/>
          </a:prstGeom>
          <a:noFill/>
          <a:ln w="9525">
            <a:noFill/>
            <a:miter lim="800000"/>
            <a:headEnd/>
            <a:tailEnd/>
          </a:ln>
          <a:effectLst/>
        </p:spPr>
        <p:txBody>
          <a:bodyPr vert="horz" wrap="square" lIns="90379" tIns="45190" rIns="90379" bIns="45190" numCol="1" anchor="t" anchorCtr="0" compatLnSpc="1">
            <a:prstTxWarp prst="textNoShape">
              <a:avLst/>
            </a:prstTxWarp>
          </a:bodyPr>
          <a:lstStyle>
            <a:lvl1pPr algn="r">
              <a:defRPr sz="1200" smtClean="0">
                <a:latin typeface="Arial" charset="0"/>
                <a:cs typeface="Arial" charset="0"/>
              </a:defRPr>
            </a:lvl1pPr>
          </a:lstStyle>
          <a:p>
            <a:pPr>
              <a:defRPr/>
            </a:pPr>
            <a:endParaRPr lang="en-US"/>
          </a:p>
        </p:txBody>
      </p:sp>
      <p:sp>
        <p:nvSpPr>
          <p:cNvPr id="112644" name="Rectangle 4"/>
          <p:cNvSpPr>
            <a:spLocks noGrp="1" noChangeArrowheads="1"/>
          </p:cNvSpPr>
          <p:nvPr>
            <p:ph type="ftr" sz="quarter" idx="2"/>
          </p:nvPr>
        </p:nvSpPr>
        <p:spPr bwMode="auto">
          <a:xfrm>
            <a:off x="0" y="8819017"/>
            <a:ext cx="3009832" cy="452257"/>
          </a:xfrm>
          <a:prstGeom prst="rect">
            <a:avLst/>
          </a:prstGeom>
          <a:noFill/>
          <a:ln w="9525">
            <a:noFill/>
            <a:miter lim="800000"/>
            <a:headEnd/>
            <a:tailEnd/>
          </a:ln>
          <a:effectLst/>
        </p:spPr>
        <p:txBody>
          <a:bodyPr vert="horz" wrap="square" lIns="90379" tIns="45190" rIns="90379" bIns="45190" numCol="1" anchor="b" anchorCtr="0" compatLnSpc="1">
            <a:prstTxWarp prst="textNoShape">
              <a:avLst/>
            </a:prstTxWarp>
          </a:bodyPr>
          <a:lstStyle>
            <a:lvl1pPr>
              <a:defRPr sz="1200" smtClean="0">
                <a:latin typeface="Arial" charset="0"/>
                <a:cs typeface="Arial" charset="0"/>
              </a:defRPr>
            </a:lvl1pPr>
          </a:lstStyle>
          <a:p>
            <a:pPr>
              <a:defRPr/>
            </a:pPr>
            <a:endParaRPr lang="en-US"/>
          </a:p>
        </p:txBody>
      </p:sp>
      <p:sp>
        <p:nvSpPr>
          <p:cNvPr id="112645" name="Rectangle 5"/>
          <p:cNvSpPr>
            <a:spLocks noGrp="1" noChangeArrowheads="1"/>
          </p:cNvSpPr>
          <p:nvPr>
            <p:ph type="sldNum" sz="quarter" idx="3"/>
          </p:nvPr>
        </p:nvSpPr>
        <p:spPr bwMode="auto">
          <a:xfrm>
            <a:off x="3988027" y="8819017"/>
            <a:ext cx="3009832" cy="452257"/>
          </a:xfrm>
          <a:prstGeom prst="rect">
            <a:avLst/>
          </a:prstGeom>
          <a:noFill/>
          <a:ln w="9525">
            <a:noFill/>
            <a:miter lim="800000"/>
            <a:headEnd/>
            <a:tailEnd/>
          </a:ln>
          <a:effectLst/>
        </p:spPr>
        <p:txBody>
          <a:bodyPr vert="horz" wrap="square" lIns="90379" tIns="45190" rIns="90379" bIns="45190" numCol="1" anchor="b" anchorCtr="0" compatLnSpc="1">
            <a:prstTxWarp prst="textNoShape">
              <a:avLst/>
            </a:prstTxWarp>
          </a:bodyPr>
          <a:lstStyle>
            <a:lvl1pPr algn="r">
              <a:defRPr sz="1200" smtClean="0">
                <a:latin typeface="Arial" charset="0"/>
                <a:cs typeface="Arial" charset="0"/>
              </a:defRPr>
            </a:lvl1pPr>
          </a:lstStyle>
          <a:p>
            <a:pPr>
              <a:defRPr/>
            </a:pPr>
            <a:fld id="{F4DD4B8B-0B08-4E22-96F0-6475601545F2}" type="slidenum">
              <a:rPr lang="en-US"/>
              <a:pPr>
                <a:defRPr/>
              </a:pPr>
              <a:t>‹Nr.›</a:t>
            </a:fld>
            <a:endParaRPr lang="en-US"/>
          </a:p>
        </p:txBody>
      </p:sp>
    </p:spTree>
    <p:extLst>
      <p:ext uri="{BB962C8B-B14F-4D97-AF65-F5344CB8AC3E}">
        <p14:creationId xmlns:p14="http://schemas.microsoft.com/office/powerpoint/2010/main" val="27395404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3038049" cy="46482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2036">
              <a:defRPr sz="1200" smtClean="0">
                <a:latin typeface="Arial" charset="0"/>
                <a:cs typeface="Arial" charset="0"/>
              </a:defRPr>
            </a:lvl1pPr>
          </a:lstStyle>
          <a:p>
            <a:pPr>
              <a:defRPr/>
            </a:pPr>
            <a:endParaRPr lang="en-US"/>
          </a:p>
        </p:txBody>
      </p:sp>
      <p:sp>
        <p:nvSpPr>
          <p:cNvPr id="5123" name="Rectangle 3"/>
          <p:cNvSpPr>
            <a:spLocks noGrp="1" noChangeArrowheads="1"/>
          </p:cNvSpPr>
          <p:nvPr>
            <p:ph type="dt" idx="1"/>
          </p:nvPr>
        </p:nvSpPr>
        <p:spPr bwMode="auto">
          <a:xfrm>
            <a:off x="3970784" y="0"/>
            <a:ext cx="3038049" cy="46482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2036">
              <a:defRPr sz="1200" smtClean="0">
                <a:latin typeface="Arial" charset="0"/>
                <a:cs typeface="Arial" charset="0"/>
              </a:defRPr>
            </a:lvl1pPr>
          </a:lstStyle>
          <a:p>
            <a:pPr>
              <a:defRPr/>
            </a:pPr>
            <a:endParaRPr lang="en-US"/>
          </a:p>
        </p:txBody>
      </p:sp>
      <p:sp>
        <p:nvSpPr>
          <p:cNvPr id="22532"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0727" y="4415790"/>
            <a:ext cx="5608947" cy="418338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126" name="Rectangle 6"/>
          <p:cNvSpPr>
            <a:spLocks noGrp="1" noChangeArrowheads="1"/>
          </p:cNvSpPr>
          <p:nvPr>
            <p:ph type="ftr" sz="quarter" idx="4"/>
          </p:nvPr>
        </p:nvSpPr>
        <p:spPr bwMode="auto">
          <a:xfrm>
            <a:off x="1" y="8830010"/>
            <a:ext cx="3038049" cy="46482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2036">
              <a:defRPr sz="1200" smtClean="0">
                <a:latin typeface="Arial" charset="0"/>
                <a:cs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970784" y="8830010"/>
            <a:ext cx="3038049" cy="46482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2036">
              <a:defRPr sz="1200" smtClean="0">
                <a:latin typeface="Arial" charset="0"/>
                <a:cs typeface="Arial" charset="0"/>
              </a:defRPr>
            </a:lvl1pPr>
          </a:lstStyle>
          <a:p>
            <a:pPr>
              <a:defRPr/>
            </a:pPr>
            <a:fld id="{62D8EB32-0A30-4BE1-8F61-0C745B92912B}" type="slidenum">
              <a:rPr lang="en-US"/>
              <a:pPr>
                <a:defRPr/>
              </a:pPr>
              <a:t>‹Nr.›</a:t>
            </a:fld>
            <a:endParaRPr lang="en-US"/>
          </a:p>
        </p:txBody>
      </p:sp>
    </p:spTree>
    <p:extLst>
      <p:ext uri="{BB962C8B-B14F-4D97-AF65-F5344CB8AC3E}">
        <p14:creationId xmlns:p14="http://schemas.microsoft.com/office/powerpoint/2010/main" val="2565531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036" eaLnBrk="0" hangingPunct="0">
              <a:defRPr>
                <a:solidFill>
                  <a:schemeClr val="tx1"/>
                </a:solidFill>
                <a:latin typeface="Arial" pitchFamily="34" charset="0"/>
                <a:cs typeface="Arial" pitchFamily="34" charset="0"/>
              </a:defRPr>
            </a:lvl1pPr>
            <a:lvl2pPr marL="734332" indent="-282435" defTabSz="932036" eaLnBrk="0" hangingPunct="0">
              <a:defRPr>
                <a:solidFill>
                  <a:schemeClr val="tx1"/>
                </a:solidFill>
                <a:latin typeface="Arial" pitchFamily="34" charset="0"/>
                <a:cs typeface="Arial" pitchFamily="34" charset="0"/>
              </a:defRPr>
            </a:lvl2pPr>
            <a:lvl3pPr marL="1129741" indent="-225948" defTabSz="932036" eaLnBrk="0" hangingPunct="0">
              <a:defRPr>
                <a:solidFill>
                  <a:schemeClr val="tx1"/>
                </a:solidFill>
                <a:latin typeface="Arial" pitchFamily="34" charset="0"/>
                <a:cs typeface="Arial" pitchFamily="34" charset="0"/>
              </a:defRPr>
            </a:lvl3pPr>
            <a:lvl4pPr marL="1581638" indent="-225948" defTabSz="932036" eaLnBrk="0" hangingPunct="0">
              <a:defRPr>
                <a:solidFill>
                  <a:schemeClr val="tx1"/>
                </a:solidFill>
                <a:latin typeface="Arial" pitchFamily="34" charset="0"/>
                <a:cs typeface="Arial" pitchFamily="34" charset="0"/>
              </a:defRPr>
            </a:lvl4pPr>
            <a:lvl5pPr marL="2033534" indent="-225948" defTabSz="932036" eaLnBrk="0" hangingPunct="0">
              <a:defRPr>
                <a:solidFill>
                  <a:schemeClr val="tx1"/>
                </a:solidFill>
                <a:latin typeface="Arial" pitchFamily="34" charset="0"/>
                <a:cs typeface="Arial" pitchFamily="34" charset="0"/>
              </a:defRPr>
            </a:lvl5pPr>
            <a:lvl6pPr marL="2485431" indent="-225948" defTabSz="932036" eaLnBrk="0" fontAlgn="base" hangingPunct="0">
              <a:spcBef>
                <a:spcPct val="0"/>
              </a:spcBef>
              <a:spcAft>
                <a:spcPct val="0"/>
              </a:spcAft>
              <a:defRPr>
                <a:solidFill>
                  <a:schemeClr val="tx1"/>
                </a:solidFill>
                <a:latin typeface="Arial" pitchFamily="34" charset="0"/>
                <a:cs typeface="Arial" pitchFamily="34" charset="0"/>
              </a:defRPr>
            </a:lvl6pPr>
            <a:lvl7pPr marL="2937327" indent="-225948" defTabSz="932036" eaLnBrk="0" fontAlgn="base" hangingPunct="0">
              <a:spcBef>
                <a:spcPct val="0"/>
              </a:spcBef>
              <a:spcAft>
                <a:spcPct val="0"/>
              </a:spcAft>
              <a:defRPr>
                <a:solidFill>
                  <a:schemeClr val="tx1"/>
                </a:solidFill>
                <a:latin typeface="Arial" pitchFamily="34" charset="0"/>
                <a:cs typeface="Arial" pitchFamily="34" charset="0"/>
              </a:defRPr>
            </a:lvl7pPr>
            <a:lvl8pPr marL="3389224" indent="-225948" defTabSz="932036" eaLnBrk="0" fontAlgn="base" hangingPunct="0">
              <a:spcBef>
                <a:spcPct val="0"/>
              </a:spcBef>
              <a:spcAft>
                <a:spcPct val="0"/>
              </a:spcAft>
              <a:defRPr>
                <a:solidFill>
                  <a:schemeClr val="tx1"/>
                </a:solidFill>
                <a:latin typeface="Arial" pitchFamily="34" charset="0"/>
                <a:cs typeface="Arial" pitchFamily="34" charset="0"/>
              </a:defRPr>
            </a:lvl8pPr>
            <a:lvl9pPr marL="3841120" indent="-225948" defTabSz="932036"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F07951DB-2D6E-497D-83D0-D1AFA43BF5B7}" type="slidenum">
              <a:rPr lang="en-US"/>
              <a:pPr eaLnBrk="1" hangingPunct="1"/>
              <a:t>1</a:t>
            </a:fld>
            <a:endParaRPr lang="en-US" dirty="0"/>
          </a:p>
        </p:txBody>
      </p:sp>
      <p:sp>
        <p:nvSpPr>
          <p:cNvPr id="23555" name="Rectangle 2"/>
          <p:cNvSpPr>
            <a:spLocks noGrp="1" noRot="1" noChangeAspect="1" noChangeArrowheads="1" noTextEdit="1"/>
          </p:cNvSpPr>
          <p:nvPr>
            <p:ph type="sldImg"/>
          </p:nvPr>
        </p:nvSpPr>
        <p:spPr>
          <a:xfrm>
            <a:off x="1184275" y="698500"/>
            <a:ext cx="4643438" cy="3484563"/>
          </a:xfrm>
          <a:ln/>
        </p:spPr>
      </p:sp>
      <p:sp>
        <p:nvSpPr>
          <p:cNvPr id="23556" name="Rectangle 3"/>
          <p:cNvSpPr>
            <a:spLocks noGrp="1" noChangeArrowheads="1"/>
          </p:cNvSpPr>
          <p:nvPr>
            <p:ph type="body" idx="1"/>
          </p:nvPr>
        </p:nvSpPr>
        <p:spPr>
          <a:xfrm>
            <a:off x="700727" y="4414220"/>
            <a:ext cx="5608947"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latin typeface="Arial" pitchFamily="34" charset="0"/>
              <a:cs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2D8EB32-0A30-4BE1-8F61-0C745B92912B}" type="slidenum">
              <a:rPr lang="en-US" smtClean="0"/>
              <a:pPr>
                <a:defRPr/>
              </a:pPr>
              <a:t>2</a:t>
            </a:fld>
            <a:endParaRPr lang="en-US" dirty="0"/>
          </a:p>
        </p:txBody>
      </p:sp>
    </p:spTree>
    <p:extLst>
      <p:ext uri="{BB962C8B-B14F-4D97-AF65-F5344CB8AC3E}">
        <p14:creationId xmlns:p14="http://schemas.microsoft.com/office/powerpoint/2010/main" val="2560338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788" eaLnBrk="0" hangingPunct="0">
              <a:defRPr>
                <a:solidFill>
                  <a:schemeClr val="tx1"/>
                </a:solidFill>
                <a:latin typeface="Arial" charset="0"/>
                <a:cs typeface="Arial" charset="0"/>
              </a:defRPr>
            </a:lvl1pPr>
            <a:lvl2pPr marL="734135" indent="-282360" defTabSz="931788" eaLnBrk="0" hangingPunct="0">
              <a:defRPr>
                <a:solidFill>
                  <a:schemeClr val="tx1"/>
                </a:solidFill>
                <a:latin typeface="Arial" charset="0"/>
                <a:cs typeface="Arial" charset="0"/>
              </a:defRPr>
            </a:lvl2pPr>
            <a:lvl3pPr marL="1129440" indent="-225888" defTabSz="931788" eaLnBrk="0" hangingPunct="0">
              <a:defRPr>
                <a:solidFill>
                  <a:schemeClr val="tx1"/>
                </a:solidFill>
                <a:latin typeface="Arial" charset="0"/>
                <a:cs typeface="Arial" charset="0"/>
              </a:defRPr>
            </a:lvl3pPr>
            <a:lvl4pPr marL="1581217" indent="-225888" defTabSz="931788" eaLnBrk="0" hangingPunct="0">
              <a:defRPr>
                <a:solidFill>
                  <a:schemeClr val="tx1"/>
                </a:solidFill>
                <a:latin typeface="Arial" charset="0"/>
                <a:cs typeface="Arial" charset="0"/>
              </a:defRPr>
            </a:lvl4pPr>
            <a:lvl5pPr marL="2032994" indent="-225888" defTabSz="931788" eaLnBrk="0" hangingPunct="0">
              <a:defRPr>
                <a:solidFill>
                  <a:schemeClr val="tx1"/>
                </a:solidFill>
                <a:latin typeface="Arial" charset="0"/>
                <a:cs typeface="Arial" charset="0"/>
              </a:defRPr>
            </a:lvl5pPr>
            <a:lvl6pPr marL="2484770" indent="-225888" defTabSz="931788" eaLnBrk="0" fontAlgn="base" hangingPunct="0">
              <a:spcBef>
                <a:spcPct val="0"/>
              </a:spcBef>
              <a:spcAft>
                <a:spcPct val="0"/>
              </a:spcAft>
              <a:defRPr>
                <a:solidFill>
                  <a:schemeClr val="tx1"/>
                </a:solidFill>
                <a:latin typeface="Arial" charset="0"/>
                <a:cs typeface="Arial" charset="0"/>
              </a:defRPr>
            </a:lvl6pPr>
            <a:lvl7pPr marL="2936546" indent="-225888" defTabSz="931788" eaLnBrk="0" fontAlgn="base" hangingPunct="0">
              <a:spcBef>
                <a:spcPct val="0"/>
              </a:spcBef>
              <a:spcAft>
                <a:spcPct val="0"/>
              </a:spcAft>
              <a:defRPr>
                <a:solidFill>
                  <a:schemeClr val="tx1"/>
                </a:solidFill>
                <a:latin typeface="Arial" charset="0"/>
                <a:cs typeface="Arial" charset="0"/>
              </a:defRPr>
            </a:lvl7pPr>
            <a:lvl8pPr marL="3388321" indent="-225888" defTabSz="931788" eaLnBrk="0" fontAlgn="base" hangingPunct="0">
              <a:spcBef>
                <a:spcPct val="0"/>
              </a:spcBef>
              <a:spcAft>
                <a:spcPct val="0"/>
              </a:spcAft>
              <a:defRPr>
                <a:solidFill>
                  <a:schemeClr val="tx1"/>
                </a:solidFill>
                <a:latin typeface="Arial" charset="0"/>
                <a:cs typeface="Arial" charset="0"/>
              </a:defRPr>
            </a:lvl8pPr>
            <a:lvl9pPr marL="3840098" indent="-225888" defTabSz="931788" eaLnBrk="0" fontAlgn="base" hangingPunct="0">
              <a:spcBef>
                <a:spcPct val="0"/>
              </a:spcBef>
              <a:spcAft>
                <a:spcPct val="0"/>
              </a:spcAft>
              <a:defRPr>
                <a:solidFill>
                  <a:schemeClr val="tx1"/>
                </a:solidFill>
                <a:latin typeface="Arial" charset="0"/>
                <a:cs typeface="Arial" charset="0"/>
              </a:defRPr>
            </a:lvl9pPr>
          </a:lstStyle>
          <a:p>
            <a:pPr eaLnBrk="1" hangingPunct="1"/>
            <a:fld id="{1BDCF408-4013-4231-AB49-0CE8B1D17457}" type="slidenum">
              <a:rPr lang="en-US" smtClean="0"/>
              <a:pPr eaLnBrk="1" hangingPunct="1"/>
              <a:t>13</a:t>
            </a:fld>
            <a:endParaRPr lang="en-US" dirty="0" smtClean="0"/>
          </a:p>
        </p:txBody>
      </p:sp>
      <p:sp>
        <p:nvSpPr>
          <p:cNvPr id="45059" name="Rectangle 7"/>
          <p:cNvSpPr txBox="1">
            <a:spLocks noGrp="1" noChangeArrowheads="1"/>
          </p:cNvSpPr>
          <p:nvPr/>
        </p:nvSpPr>
        <p:spPr bwMode="auto">
          <a:xfrm>
            <a:off x="3970787" y="8830010"/>
            <a:ext cx="3038050" cy="464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3" tIns="46037" rIns="92073" bIns="46037" anchor="b"/>
          <a:lstStyle>
            <a:lvl1pPr defTabSz="931863" eaLnBrk="0" hangingPunct="0">
              <a:defRPr>
                <a:solidFill>
                  <a:schemeClr val="tx1"/>
                </a:solidFill>
                <a:latin typeface="Arial" charset="0"/>
                <a:cs typeface="Arial" charset="0"/>
              </a:defRPr>
            </a:lvl1pPr>
            <a:lvl2pPr marL="742950" indent="-285750" defTabSz="931863" eaLnBrk="0" hangingPunct="0">
              <a:defRPr>
                <a:solidFill>
                  <a:schemeClr val="tx1"/>
                </a:solidFill>
                <a:latin typeface="Arial" charset="0"/>
                <a:cs typeface="Arial" charset="0"/>
              </a:defRPr>
            </a:lvl2pPr>
            <a:lvl3pPr marL="1143000" indent="-228600" defTabSz="931863" eaLnBrk="0" hangingPunct="0">
              <a:defRPr>
                <a:solidFill>
                  <a:schemeClr val="tx1"/>
                </a:solidFill>
                <a:latin typeface="Arial" charset="0"/>
                <a:cs typeface="Arial" charset="0"/>
              </a:defRPr>
            </a:lvl3pPr>
            <a:lvl4pPr marL="1600200" indent="-228600" defTabSz="931863" eaLnBrk="0" hangingPunct="0">
              <a:defRPr>
                <a:solidFill>
                  <a:schemeClr val="tx1"/>
                </a:solidFill>
                <a:latin typeface="Arial" charset="0"/>
                <a:cs typeface="Arial" charset="0"/>
              </a:defRPr>
            </a:lvl4pPr>
            <a:lvl5pPr marL="2057400" indent="-228600" defTabSz="931863" eaLnBrk="0" hangingPunct="0">
              <a:defRPr>
                <a:solidFill>
                  <a:schemeClr val="tx1"/>
                </a:solidFill>
                <a:latin typeface="Arial" charset="0"/>
                <a:cs typeface="Arial" charset="0"/>
              </a:defRPr>
            </a:lvl5pPr>
            <a:lvl6pPr marL="2514600" indent="-228600" defTabSz="931863" eaLnBrk="0" fontAlgn="base" hangingPunct="0">
              <a:spcBef>
                <a:spcPct val="0"/>
              </a:spcBef>
              <a:spcAft>
                <a:spcPct val="0"/>
              </a:spcAft>
              <a:defRPr>
                <a:solidFill>
                  <a:schemeClr val="tx1"/>
                </a:solidFill>
                <a:latin typeface="Arial" charset="0"/>
                <a:cs typeface="Arial" charset="0"/>
              </a:defRPr>
            </a:lvl6pPr>
            <a:lvl7pPr marL="2971800" indent="-228600" defTabSz="931863" eaLnBrk="0" fontAlgn="base" hangingPunct="0">
              <a:spcBef>
                <a:spcPct val="0"/>
              </a:spcBef>
              <a:spcAft>
                <a:spcPct val="0"/>
              </a:spcAft>
              <a:defRPr>
                <a:solidFill>
                  <a:schemeClr val="tx1"/>
                </a:solidFill>
                <a:latin typeface="Arial" charset="0"/>
                <a:cs typeface="Arial" charset="0"/>
              </a:defRPr>
            </a:lvl7pPr>
            <a:lvl8pPr marL="3429000" indent="-228600" defTabSz="931863" eaLnBrk="0" fontAlgn="base" hangingPunct="0">
              <a:spcBef>
                <a:spcPct val="0"/>
              </a:spcBef>
              <a:spcAft>
                <a:spcPct val="0"/>
              </a:spcAft>
              <a:defRPr>
                <a:solidFill>
                  <a:schemeClr val="tx1"/>
                </a:solidFill>
                <a:latin typeface="Arial" charset="0"/>
                <a:cs typeface="Arial" charset="0"/>
              </a:defRPr>
            </a:lvl8pPr>
            <a:lvl9pPr marL="3886200" indent="-228600" defTabSz="931863" eaLnBrk="0" fontAlgn="base" hangingPunct="0">
              <a:spcBef>
                <a:spcPct val="0"/>
              </a:spcBef>
              <a:spcAft>
                <a:spcPct val="0"/>
              </a:spcAft>
              <a:defRPr>
                <a:solidFill>
                  <a:schemeClr val="tx1"/>
                </a:solidFill>
                <a:latin typeface="Arial" charset="0"/>
                <a:cs typeface="Arial" charset="0"/>
              </a:defRPr>
            </a:lvl9pPr>
          </a:lstStyle>
          <a:p>
            <a:pPr algn="r" eaLnBrk="1" hangingPunct="1"/>
            <a:fld id="{E5E0AFC0-051C-4F24-A4D4-488049651CB4}" type="slidenum">
              <a:rPr lang="en-US" sz="1200"/>
              <a:pPr algn="r" eaLnBrk="1" hangingPunct="1"/>
              <a:t>13</a:t>
            </a:fld>
            <a:endParaRPr lang="en-US" sz="1200" dirty="0"/>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xfrm>
            <a:off x="686620" y="4266611"/>
            <a:ext cx="6090207" cy="479581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3" tIns="46037" rIns="92073" bIns="46037"/>
          <a:lstStyle/>
          <a:p>
            <a:pPr eaLnBrk="1" hangingPunct="1">
              <a:lnSpc>
                <a:spcPct val="80000"/>
              </a:lnSpc>
            </a:pPr>
            <a:endParaRPr lang="en-US" sz="10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788" eaLnBrk="0" hangingPunct="0">
              <a:defRPr>
                <a:solidFill>
                  <a:schemeClr val="tx1"/>
                </a:solidFill>
                <a:latin typeface="Arial" charset="0"/>
                <a:cs typeface="Arial" charset="0"/>
              </a:defRPr>
            </a:lvl1pPr>
            <a:lvl2pPr marL="734135" indent="-282360" defTabSz="931788" eaLnBrk="0" hangingPunct="0">
              <a:defRPr>
                <a:solidFill>
                  <a:schemeClr val="tx1"/>
                </a:solidFill>
                <a:latin typeface="Arial" charset="0"/>
                <a:cs typeface="Arial" charset="0"/>
              </a:defRPr>
            </a:lvl2pPr>
            <a:lvl3pPr marL="1129440" indent="-225888" defTabSz="931788" eaLnBrk="0" hangingPunct="0">
              <a:defRPr>
                <a:solidFill>
                  <a:schemeClr val="tx1"/>
                </a:solidFill>
                <a:latin typeface="Arial" charset="0"/>
                <a:cs typeface="Arial" charset="0"/>
              </a:defRPr>
            </a:lvl3pPr>
            <a:lvl4pPr marL="1581217" indent="-225888" defTabSz="931788" eaLnBrk="0" hangingPunct="0">
              <a:defRPr>
                <a:solidFill>
                  <a:schemeClr val="tx1"/>
                </a:solidFill>
                <a:latin typeface="Arial" charset="0"/>
                <a:cs typeface="Arial" charset="0"/>
              </a:defRPr>
            </a:lvl4pPr>
            <a:lvl5pPr marL="2032994" indent="-225888" defTabSz="931788" eaLnBrk="0" hangingPunct="0">
              <a:defRPr>
                <a:solidFill>
                  <a:schemeClr val="tx1"/>
                </a:solidFill>
                <a:latin typeface="Arial" charset="0"/>
                <a:cs typeface="Arial" charset="0"/>
              </a:defRPr>
            </a:lvl5pPr>
            <a:lvl6pPr marL="2484770" indent="-225888" defTabSz="931788" eaLnBrk="0" fontAlgn="base" hangingPunct="0">
              <a:spcBef>
                <a:spcPct val="0"/>
              </a:spcBef>
              <a:spcAft>
                <a:spcPct val="0"/>
              </a:spcAft>
              <a:defRPr>
                <a:solidFill>
                  <a:schemeClr val="tx1"/>
                </a:solidFill>
                <a:latin typeface="Arial" charset="0"/>
                <a:cs typeface="Arial" charset="0"/>
              </a:defRPr>
            </a:lvl6pPr>
            <a:lvl7pPr marL="2936546" indent="-225888" defTabSz="931788" eaLnBrk="0" fontAlgn="base" hangingPunct="0">
              <a:spcBef>
                <a:spcPct val="0"/>
              </a:spcBef>
              <a:spcAft>
                <a:spcPct val="0"/>
              </a:spcAft>
              <a:defRPr>
                <a:solidFill>
                  <a:schemeClr val="tx1"/>
                </a:solidFill>
                <a:latin typeface="Arial" charset="0"/>
                <a:cs typeface="Arial" charset="0"/>
              </a:defRPr>
            </a:lvl7pPr>
            <a:lvl8pPr marL="3388321" indent="-225888" defTabSz="931788" eaLnBrk="0" fontAlgn="base" hangingPunct="0">
              <a:spcBef>
                <a:spcPct val="0"/>
              </a:spcBef>
              <a:spcAft>
                <a:spcPct val="0"/>
              </a:spcAft>
              <a:defRPr>
                <a:solidFill>
                  <a:schemeClr val="tx1"/>
                </a:solidFill>
                <a:latin typeface="Arial" charset="0"/>
                <a:cs typeface="Arial" charset="0"/>
              </a:defRPr>
            </a:lvl8pPr>
            <a:lvl9pPr marL="3840098" indent="-225888" defTabSz="931788" eaLnBrk="0" fontAlgn="base" hangingPunct="0">
              <a:spcBef>
                <a:spcPct val="0"/>
              </a:spcBef>
              <a:spcAft>
                <a:spcPct val="0"/>
              </a:spcAft>
              <a:defRPr>
                <a:solidFill>
                  <a:schemeClr val="tx1"/>
                </a:solidFill>
                <a:latin typeface="Arial" charset="0"/>
                <a:cs typeface="Arial" charset="0"/>
              </a:defRPr>
            </a:lvl9pPr>
          </a:lstStyle>
          <a:p>
            <a:pPr eaLnBrk="1" hangingPunct="1"/>
            <a:fld id="{1BDCF408-4013-4231-AB49-0CE8B1D17457}" type="slidenum">
              <a:rPr lang="en-US" smtClean="0"/>
              <a:pPr eaLnBrk="1" hangingPunct="1"/>
              <a:t>19</a:t>
            </a:fld>
            <a:endParaRPr lang="en-US" dirty="0" smtClean="0"/>
          </a:p>
        </p:txBody>
      </p:sp>
      <p:sp>
        <p:nvSpPr>
          <p:cNvPr id="45059" name="Rectangle 7"/>
          <p:cNvSpPr txBox="1">
            <a:spLocks noGrp="1" noChangeArrowheads="1"/>
          </p:cNvSpPr>
          <p:nvPr/>
        </p:nvSpPr>
        <p:spPr bwMode="auto">
          <a:xfrm>
            <a:off x="3970787" y="8830010"/>
            <a:ext cx="3038050" cy="464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3" tIns="46037" rIns="92073" bIns="46037" anchor="b"/>
          <a:lstStyle>
            <a:lvl1pPr defTabSz="931863" eaLnBrk="0" hangingPunct="0">
              <a:defRPr>
                <a:solidFill>
                  <a:schemeClr val="tx1"/>
                </a:solidFill>
                <a:latin typeface="Arial" charset="0"/>
                <a:cs typeface="Arial" charset="0"/>
              </a:defRPr>
            </a:lvl1pPr>
            <a:lvl2pPr marL="742950" indent="-285750" defTabSz="931863" eaLnBrk="0" hangingPunct="0">
              <a:defRPr>
                <a:solidFill>
                  <a:schemeClr val="tx1"/>
                </a:solidFill>
                <a:latin typeface="Arial" charset="0"/>
                <a:cs typeface="Arial" charset="0"/>
              </a:defRPr>
            </a:lvl2pPr>
            <a:lvl3pPr marL="1143000" indent="-228600" defTabSz="931863" eaLnBrk="0" hangingPunct="0">
              <a:defRPr>
                <a:solidFill>
                  <a:schemeClr val="tx1"/>
                </a:solidFill>
                <a:latin typeface="Arial" charset="0"/>
                <a:cs typeface="Arial" charset="0"/>
              </a:defRPr>
            </a:lvl3pPr>
            <a:lvl4pPr marL="1600200" indent="-228600" defTabSz="931863" eaLnBrk="0" hangingPunct="0">
              <a:defRPr>
                <a:solidFill>
                  <a:schemeClr val="tx1"/>
                </a:solidFill>
                <a:latin typeface="Arial" charset="0"/>
                <a:cs typeface="Arial" charset="0"/>
              </a:defRPr>
            </a:lvl4pPr>
            <a:lvl5pPr marL="2057400" indent="-228600" defTabSz="931863" eaLnBrk="0" hangingPunct="0">
              <a:defRPr>
                <a:solidFill>
                  <a:schemeClr val="tx1"/>
                </a:solidFill>
                <a:latin typeface="Arial" charset="0"/>
                <a:cs typeface="Arial" charset="0"/>
              </a:defRPr>
            </a:lvl5pPr>
            <a:lvl6pPr marL="2514600" indent="-228600" defTabSz="931863" eaLnBrk="0" fontAlgn="base" hangingPunct="0">
              <a:spcBef>
                <a:spcPct val="0"/>
              </a:spcBef>
              <a:spcAft>
                <a:spcPct val="0"/>
              </a:spcAft>
              <a:defRPr>
                <a:solidFill>
                  <a:schemeClr val="tx1"/>
                </a:solidFill>
                <a:latin typeface="Arial" charset="0"/>
                <a:cs typeface="Arial" charset="0"/>
              </a:defRPr>
            </a:lvl6pPr>
            <a:lvl7pPr marL="2971800" indent="-228600" defTabSz="931863" eaLnBrk="0" fontAlgn="base" hangingPunct="0">
              <a:spcBef>
                <a:spcPct val="0"/>
              </a:spcBef>
              <a:spcAft>
                <a:spcPct val="0"/>
              </a:spcAft>
              <a:defRPr>
                <a:solidFill>
                  <a:schemeClr val="tx1"/>
                </a:solidFill>
                <a:latin typeface="Arial" charset="0"/>
                <a:cs typeface="Arial" charset="0"/>
              </a:defRPr>
            </a:lvl7pPr>
            <a:lvl8pPr marL="3429000" indent="-228600" defTabSz="931863" eaLnBrk="0" fontAlgn="base" hangingPunct="0">
              <a:spcBef>
                <a:spcPct val="0"/>
              </a:spcBef>
              <a:spcAft>
                <a:spcPct val="0"/>
              </a:spcAft>
              <a:defRPr>
                <a:solidFill>
                  <a:schemeClr val="tx1"/>
                </a:solidFill>
                <a:latin typeface="Arial" charset="0"/>
                <a:cs typeface="Arial" charset="0"/>
              </a:defRPr>
            </a:lvl8pPr>
            <a:lvl9pPr marL="3886200" indent="-228600" defTabSz="931863" eaLnBrk="0" fontAlgn="base" hangingPunct="0">
              <a:spcBef>
                <a:spcPct val="0"/>
              </a:spcBef>
              <a:spcAft>
                <a:spcPct val="0"/>
              </a:spcAft>
              <a:defRPr>
                <a:solidFill>
                  <a:schemeClr val="tx1"/>
                </a:solidFill>
                <a:latin typeface="Arial" charset="0"/>
                <a:cs typeface="Arial" charset="0"/>
              </a:defRPr>
            </a:lvl9pPr>
          </a:lstStyle>
          <a:p>
            <a:pPr algn="r" eaLnBrk="1" hangingPunct="1"/>
            <a:fld id="{E5E0AFC0-051C-4F24-A4D4-488049651CB4}" type="slidenum">
              <a:rPr lang="en-US" sz="1200"/>
              <a:pPr algn="r" eaLnBrk="1" hangingPunct="1"/>
              <a:t>19</a:t>
            </a:fld>
            <a:endParaRPr lang="en-US" sz="1200" dirty="0"/>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xfrm>
            <a:off x="686620" y="4266611"/>
            <a:ext cx="6090207" cy="479581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3" tIns="46037" rIns="92073" bIns="46037"/>
          <a:lstStyle/>
          <a:p>
            <a:pPr eaLnBrk="1" hangingPunct="1">
              <a:lnSpc>
                <a:spcPct val="80000"/>
              </a:lnSpc>
            </a:pPr>
            <a:endParaRPr lang="en-US" sz="10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20</a:t>
            </a:fld>
            <a:endParaRPr lang="en-US" dirty="0"/>
          </a:p>
        </p:txBody>
      </p:sp>
    </p:spTree>
    <p:extLst>
      <p:ext uri="{BB962C8B-B14F-4D97-AF65-F5344CB8AC3E}">
        <p14:creationId xmlns:p14="http://schemas.microsoft.com/office/powerpoint/2010/main" val="2897882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21</a:t>
            </a:fld>
            <a:endParaRPr lang="en-US" dirty="0"/>
          </a:p>
        </p:txBody>
      </p:sp>
    </p:spTree>
    <p:extLst>
      <p:ext uri="{BB962C8B-B14F-4D97-AF65-F5344CB8AC3E}">
        <p14:creationId xmlns:p14="http://schemas.microsoft.com/office/powerpoint/2010/main" val="2897882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4E4300-A61B-44AF-911E-DAE508F0D26A}" type="slidenum">
              <a:rPr lang="en-US" altLang="en-US"/>
              <a:pPr/>
              <a:t>22</a:t>
            </a:fld>
            <a:endParaRPr lang="en-US" altLang="en-US" dirty="0"/>
          </a:p>
        </p:txBody>
      </p:sp>
      <p:sp>
        <p:nvSpPr>
          <p:cNvPr id="120834"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p:txBody>
          <a:bodyPr/>
          <a:lstStyle/>
          <a:p>
            <a:r>
              <a:rPr lang="en-US" altLang="en-US" dirty="0"/>
              <a:t>Safety engineers do most of the analysis activities like fault tree creation manually, based on a lot of informal requirements and design documents. These analyses seem to be quite subjective and highly dependent on the skill and experience of the safety engineers. Thus, it is not surprising that different safety engineers will quite often produce fault trees, which may differ in substantial ways. It is only through a rigorous review process that a concensus will be built on the correct fault tree, which captures the right fault behavior. We think that the review process implicitly consolidates existing information from various documents and then completes it with unspecified details architectural and fault behaviors. It would be great if all these activities would be based off a comprehensive system architecture.</a:t>
            </a:r>
          </a:p>
          <a:p>
            <a:r>
              <a:rPr lang="en-US" altLang="en-US" dirty="0"/>
              <a:t>We also observe that due to the complexity of the systems involved, it is possible that the fault trees may not capture involved fault scenarios that may occur due to complex interactions between components.</a:t>
            </a:r>
          </a:p>
        </p:txBody>
      </p:sp>
    </p:spTree>
    <p:extLst>
      <p:ext uri="{BB962C8B-B14F-4D97-AF65-F5344CB8AC3E}">
        <p14:creationId xmlns:p14="http://schemas.microsoft.com/office/powerpoint/2010/main" val="4266934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6BBC98-642B-44AD-AB42-CC1AD7162FD5}" type="slidenum">
              <a:rPr lang="en-US" altLang="en-US"/>
              <a:pPr/>
              <a:t>23</a:t>
            </a:fld>
            <a:endParaRPr lang="en-US" altLang="en-US" dirty="0"/>
          </a:p>
        </p:txBody>
      </p:sp>
      <p:sp>
        <p:nvSpPr>
          <p:cNvPr id="240642" name="Rectangle 2"/>
          <p:cNvSpPr>
            <a:spLocks noGrp="1" noRot="1" noChangeAspect="1" noChangeArrowheads="1" noTextEdit="1"/>
          </p:cNvSpPr>
          <p:nvPr>
            <p:ph type="sldImg"/>
          </p:nvPr>
        </p:nvSpPr>
        <p:spPr>
          <a:ln/>
        </p:spPr>
      </p:sp>
      <p:sp>
        <p:nvSpPr>
          <p:cNvPr id="240643"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903451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A9241D-9E0E-4214-8660-AA7652DDB682}" type="slidenum">
              <a:rPr lang="en-US" altLang="en-US"/>
              <a:pPr/>
              <a:t>24</a:t>
            </a:fld>
            <a:endParaRPr lang="en-US" altLang="en-US" dirty="0"/>
          </a:p>
        </p:txBody>
      </p:sp>
      <p:sp>
        <p:nvSpPr>
          <p:cNvPr id="211970" name="Rectangle 2"/>
          <p:cNvSpPr>
            <a:spLocks noGrp="1" noRot="1" noChangeAspect="1" noChangeArrowheads="1" noTextEdit="1"/>
          </p:cNvSpPr>
          <p:nvPr>
            <p:ph type="sldImg"/>
          </p:nvPr>
        </p:nvSpPr>
        <p:spPr>
          <a:ln/>
        </p:spPr>
      </p:sp>
      <p:sp>
        <p:nvSpPr>
          <p:cNvPr id="211971" name="Rectangle 3"/>
          <p:cNvSpPr>
            <a:spLocks noGrp="1" noChangeArrowheads="1"/>
          </p:cNvSpPr>
          <p:nvPr>
            <p:ph type="body" idx="1"/>
          </p:nvPr>
        </p:nvSpPr>
        <p:spPr/>
        <p:txBody>
          <a:bodyPr/>
          <a:lstStyle/>
          <a:p>
            <a:r>
              <a:rPr lang="en-US" altLang="en-US" dirty="0"/>
              <a:t>Steve’s slide </a:t>
            </a:r>
          </a:p>
        </p:txBody>
      </p:sp>
    </p:spTree>
    <p:extLst>
      <p:ext uri="{BB962C8B-B14F-4D97-AF65-F5344CB8AC3E}">
        <p14:creationId xmlns:p14="http://schemas.microsoft.com/office/powerpoint/2010/main" val="871714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25</a:t>
            </a:fld>
            <a:endParaRPr lang="en-US" dirty="0"/>
          </a:p>
        </p:txBody>
      </p:sp>
    </p:spTree>
    <p:extLst>
      <p:ext uri="{BB962C8B-B14F-4D97-AF65-F5344CB8AC3E}">
        <p14:creationId xmlns:p14="http://schemas.microsoft.com/office/powerpoint/2010/main" val="2897882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3C9815-E08C-418E-BC2D-06EAB45843E5}" type="slidenum">
              <a:rPr lang="en-US" altLang="en-US"/>
              <a:pPr/>
              <a:t>26</a:t>
            </a:fld>
            <a:endParaRPr lang="en-US" altLang="en-US" dirty="0"/>
          </a:p>
        </p:txBody>
      </p:sp>
      <p:sp>
        <p:nvSpPr>
          <p:cNvPr id="238594" name="Rectangle 2"/>
          <p:cNvSpPr>
            <a:spLocks noGrp="1" noRot="1" noChangeAspect="1" noChangeArrowheads="1" noTextEdit="1"/>
          </p:cNvSpPr>
          <p:nvPr>
            <p:ph type="sldImg"/>
          </p:nvPr>
        </p:nvSpPr>
        <p:spPr>
          <a:ln/>
        </p:spPr>
      </p:sp>
      <p:sp>
        <p:nvSpPr>
          <p:cNvPr id="238595"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371495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smtClean="0"/>
              <a:t>A </a:t>
            </a:r>
            <a:r>
              <a:rPr lang="de-DE" dirty="0" err="1" smtClean="0"/>
              <a:t>brief</a:t>
            </a:r>
            <a:r>
              <a:rPr lang="de-DE" dirty="0" smtClean="0"/>
              <a:t> </a:t>
            </a:r>
            <a:r>
              <a:rPr lang="de-DE" dirty="0" err="1" smtClean="0"/>
              <a:t>description</a:t>
            </a:r>
            <a:r>
              <a:rPr lang="de-DE" dirty="0" smtClean="0"/>
              <a:t> </a:t>
            </a:r>
            <a:r>
              <a:rPr lang="de-DE" dirty="0" err="1" smtClean="0"/>
              <a:t>of</a:t>
            </a:r>
            <a:r>
              <a:rPr lang="de-DE" dirty="0" smtClean="0"/>
              <a:t> a </a:t>
            </a:r>
            <a:r>
              <a:rPr lang="de-DE" dirty="0" err="1" smtClean="0"/>
              <a:t>simplified</a:t>
            </a:r>
            <a:r>
              <a:rPr lang="de-DE" dirty="0" smtClean="0"/>
              <a:t> </a:t>
            </a:r>
            <a:r>
              <a:rPr lang="de-DE" dirty="0" err="1" smtClean="0"/>
              <a:t>wheel</a:t>
            </a:r>
            <a:r>
              <a:rPr lang="de-DE" dirty="0" smtClean="0"/>
              <a:t> </a:t>
            </a:r>
            <a:r>
              <a:rPr lang="de-DE" dirty="0" err="1" smtClean="0"/>
              <a:t>brake</a:t>
            </a:r>
            <a:r>
              <a:rPr lang="de-DE" dirty="0" smtClean="0"/>
              <a:t> </a:t>
            </a:r>
            <a:r>
              <a:rPr lang="de-DE" dirty="0" err="1" smtClean="0"/>
              <a:t>system</a:t>
            </a:r>
            <a:r>
              <a:rPr lang="de-DE" dirty="0" smtClean="0"/>
              <a:t> </a:t>
            </a:r>
            <a:r>
              <a:rPr lang="de-DE" dirty="0" err="1" smtClean="0"/>
              <a:t>originally</a:t>
            </a:r>
            <a:r>
              <a:rPr lang="de-DE" dirty="0" smtClean="0"/>
              <a:t> </a:t>
            </a:r>
            <a:r>
              <a:rPr lang="de-DE" dirty="0" err="1" smtClean="0"/>
              <a:t>described</a:t>
            </a:r>
            <a:r>
              <a:rPr lang="de-DE" dirty="0" smtClean="0"/>
              <a:t> in AIR6110.</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27</a:t>
            </a:fld>
            <a:endParaRPr lang="en-US"/>
          </a:p>
        </p:txBody>
      </p:sp>
    </p:spTree>
    <p:extLst>
      <p:ext uri="{BB962C8B-B14F-4D97-AF65-F5344CB8AC3E}">
        <p14:creationId xmlns:p14="http://schemas.microsoft.com/office/powerpoint/2010/main" val="25019596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smtClean="0"/>
              <a:t>SAE </a:t>
            </a:r>
            <a:r>
              <a:rPr lang="de-DE" dirty="0" err="1" smtClean="0"/>
              <a:t>standard</a:t>
            </a:r>
            <a:r>
              <a:rPr lang="de-DE" dirty="0" smtClean="0"/>
              <a:t> </a:t>
            </a:r>
            <a:r>
              <a:rPr lang="de-DE" dirty="0" err="1" smtClean="0"/>
              <a:t>modeling</a:t>
            </a:r>
            <a:r>
              <a:rPr lang="de-DE" baseline="0" dirty="0" smtClean="0"/>
              <a:t> </a:t>
            </a:r>
            <a:r>
              <a:rPr lang="de-DE" baseline="0" dirty="0" err="1" smtClean="0"/>
              <a:t>language</a:t>
            </a:r>
            <a:r>
              <a:rPr lang="de-DE" baseline="0" dirty="0" smtClean="0"/>
              <a:t> </a:t>
            </a:r>
            <a:r>
              <a:rPr lang="de-DE" baseline="0" dirty="0" err="1" smtClean="0"/>
              <a:t>we</a:t>
            </a:r>
            <a:r>
              <a:rPr lang="de-DE" baseline="0" dirty="0" smtClean="0"/>
              <a:t> </a:t>
            </a:r>
            <a:r>
              <a:rPr lang="de-DE" baseline="0" dirty="0" err="1" smtClean="0"/>
              <a:t>focus</a:t>
            </a:r>
            <a:r>
              <a:rPr lang="de-DE" baseline="0" dirty="0" smtClean="0"/>
              <a:t> on </a:t>
            </a:r>
            <a:r>
              <a:rPr lang="de-DE" baseline="0" dirty="0" err="1" smtClean="0"/>
              <a:t>is</a:t>
            </a:r>
            <a:r>
              <a:rPr lang="de-DE" baseline="0" dirty="0" smtClean="0"/>
              <a:t> AADL.</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28</a:t>
            </a:fld>
            <a:endParaRPr lang="en-US"/>
          </a:p>
        </p:txBody>
      </p:sp>
    </p:spTree>
    <p:extLst>
      <p:ext uri="{BB962C8B-B14F-4D97-AF65-F5344CB8AC3E}">
        <p14:creationId xmlns:p14="http://schemas.microsoft.com/office/powerpoint/2010/main" val="228478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smtClean="0"/>
              <a:t>The </a:t>
            </a:r>
            <a:r>
              <a:rPr lang="de-DE" dirty="0" err="1" smtClean="0"/>
              <a:t>simplified</a:t>
            </a:r>
            <a:r>
              <a:rPr lang="de-DE" baseline="0" dirty="0" smtClean="0"/>
              <a:t> WBS </a:t>
            </a:r>
            <a:r>
              <a:rPr lang="de-DE" baseline="0" dirty="0" err="1" smtClean="0"/>
              <a:t>model</a:t>
            </a:r>
            <a:r>
              <a:rPr lang="de-DE" baseline="0" dirty="0" smtClean="0"/>
              <a:t> in AADL.</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29</a:t>
            </a:fld>
            <a:endParaRPr lang="en-US"/>
          </a:p>
        </p:txBody>
      </p:sp>
    </p:spTree>
    <p:extLst>
      <p:ext uri="{BB962C8B-B14F-4D97-AF65-F5344CB8AC3E}">
        <p14:creationId xmlns:p14="http://schemas.microsoft.com/office/powerpoint/2010/main" val="1642789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START AGREE HERE</a:t>
            </a:r>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31</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934" eaLnBrk="0" hangingPunct="0">
              <a:defRPr>
                <a:solidFill>
                  <a:schemeClr val="tx1"/>
                </a:solidFill>
                <a:latin typeface="Arial" charset="0"/>
                <a:cs typeface="Arial" charset="0"/>
              </a:defRPr>
            </a:lvl1pPr>
            <a:lvl2pPr marL="734251" indent="-282404" defTabSz="931934" eaLnBrk="0" hangingPunct="0">
              <a:defRPr>
                <a:solidFill>
                  <a:schemeClr val="tx1"/>
                </a:solidFill>
                <a:latin typeface="Arial" charset="0"/>
                <a:cs typeface="Arial" charset="0"/>
              </a:defRPr>
            </a:lvl2pPr>
            <a:lvl3pPr marL="1129617" indent="-225924" defTabSz="931934" eaLnBrk="0" hangingPunct="0">
              <a:defRPr>
                <a:solidFill>
                  <a:schemeClr val="tx1"/>
                </a:solidFill>
                <a:latin typeface="Arial" charset="0"/>
                <a:cs typeface="Arial" charset="0"/>
              </a:defRPr>
            </a:lvl3pPr>
            <a:lvl4pPr marL="1581463" indent="-225924" defTabSz="931934" eaLnBrk="0" hangingPunct="0">
              <a:defRPr>
                <a:solidFill>
                  <a:schemeClr val="tx1"/>
                </a:solidFill>
                <a:latin typeface="Arial" charset="0"/>
                <a:cs typeface="Arial" charset="0"/>
              </a:defRPr>
            </a:lvl4pPr>
            <a:lvl5pPr marL="2033310" indent="-225924" defTabSz="931934" eaLnBrk="0" hangingPunct="0">
              <a:defRPr>
                <a:solidFill>
                  <a:schemeClr val="tx1"/>
                </a:solidFill>
                <a:latin typeface="Arial" charset="0"/>
                <a:cs typeface="Arial" charset="0"/>
              </a:defRPr>
            </a:lvl5pPr>
            <a:lvl6pPr marL="2485156" indent="-225924" defTabSz="931934" eaLnBrk="0" fontAlgn="base" hangingPunct="0">
              <a:spcBef>
                <a:spcPct val="0"/>
              </a:spcBef>
              <a:spcAft>
                <a:spcPct val="0"/>
              </a:spcAft>
              <a:defRPr>
                <a:solidFill>
                  <a:schemeClr val="tx1"/>
                </a:solidFill>
                <a:latin typeface="Arial" charset="0"/>
                <a:cs typeface="Arial" charset="0"/>
              </a:defRPr>
            </a:lvl6pPr>
            <a:lvl7pPr marL="2937003" indent="-225924" defTabSz="931934" eaLnBrk="0" fontAlgn="base" hangingPunct="0">
              <a:spcBef>
                <a:spcPct val="0"/>
              </a:spcBef>
              <a:spcAft>
                <a:spcPct val="0"/>
              </a:spcAft>
              <a:defRPr>
                <a:solidFill>
                  <a:schemeClr val="tx1"/>
                </a:solidFill>
                <a:latin typeface="Arial" charset="0"/>
                <a:cs typeface="Arial" charset="0"/>
              </a:defRPr>
            </a:lvl7pPr>
            <a:lvl8pPr marL="3388850" indent="-225924" defTabSz="931934" eaLnBrk="0" fontAlgn="base" hangingPunct="0">
              <a:spcBef>
                <a:spcPct val="0"/>
              </a:spcBef>
              <a:spcAft>
                <a:spcPct val="0"/>
              </a:spcAft>
              <a:defRPr>
                <a:solidFill>
                  <a:schemeClr val="tx1"/>
                </a:solidFill>
                <a:latin typeface="Arial" charset="0"/>
                <a:cs typeface="Arial" charset="0"/>
              </a:defRPr>
            </a:lvl8pPr>
            <a:lvl9pPr marL="3840696" indent="-225924" defTabSz="931934" eaLnBrk="0" fontAlgn="base" hangingPunct="0">
              <a:spcBef>
                <a:spcPct val="0"/>
              </a:spcBef>
              <a:spcAft>
                <a:spcPct val="0"/>
              </a:spcAft>
              <a:defRPr>
                <a:solidFill>
                  <a:schemeClr val="tx1"/>
                </a:solidFill>
                <a:latin typeface="Arial" charset="0"/>
                <a:cs typeface="Arial" charset="0"/>
              </a:defRPr>
            </a:lvl9pPr>
          </a:lstStyle>
          <a:p>
            <a:pPr eaLnBrk="1" hangingPunct="1"/>
            <a:fld id="{D70A86CA-E5FC-49E1-BC01-A570CB9D5C15}" type="slidenum">
              <a:rPr lang="en-US" altLang="en-US"/>
              <a:pPr eaLnBrk="1" hangingPunct="1"/>
              <a:t>33</a:t>
            </a:fld>
            <a:endParaRPr lang="en-US" altLang="en-US" dirty="0"/>
          </a:p>
        </p:txBody>
      </p:sp>
      <p:sp>
        <p:nvSpPr>
          <p:cNvPr id="36867" name="Rectangle 2"/>
          <p:cNvSpPr>
            <a:spLocks noGrp="1" noRot="1" noChangeAspect="1" noChangeArrowheads="1" noTextEdit="1"/>
          </p:cNvSpPr>
          <p:nvPr>
            <p:ph type="sldImg"/>
          </p:nvPr>
        </p:nvSpPr>
        <p:spPr>
          <a:xfrm>
            <a:off x="1182688" y="698500"/>
            <a:ext cx="4646612" cy="3484563"/>
          </a:xfrm>
          <a:ln/>
        </p:spPr>
      </p:sp>
      <p:sp>
        <p:nvSpPr>
          <p:cNvPr id="36868" name="Rectangle 3"/>
          <p:cNvSpPr>
            <a:spLocks noGrp="1" noChangeArrowheads="1"/>
          </p:cNvSpPr>
          <p:nvPr>
            <p:ph type="body" idx="1"/>
          </p:nvPr>
        </p:nvSpPr>
        <p:spPr>
          <a:xfrm>
            <a:off x="700729" y="4414220"/>
            <a:ext cx="5608947"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934" eaLnBrk="0" hangingPunct="0">
              <a:defRPr>
                <a:solidFill>
                  <a:schemeClr val="tx1"/>
                </a:solidFill>
                <a:latin typeface="Arial" charset="0"/>
                <a:cs typeface="Arial" charset="0"/>
              </a:defRPr>
            </a:lvl1pPr>
            <a:lvl2pPr marL="734251" indent="-282404" defTabSz="931934" eaLnBrk="0" hangingPunct="0">
              <a:defRPr>
                <a:solidFill>
                  <a:schemeClr val="tx1"/>
                </a:solidFill>
                <a:latin typeface="Arial" charset="0"/>
                <a:cs typeface="Arial" charset="0"/>
              </a:defRPr>
            </a:lvl2pPr>
            <a:lvl3pPr marL="1129617" indent="-225924" defTabSz="931934" eaLnBrk="0" hangingPunct="0">
              <a:defRPr>
                <a:solidFill>
                  <a:schemeClr val="tx1"/>
                </a:solidFill>
                <a:latin typeface="Arial" charset="0"/>
                <a:cs typeface="Arial" charset="0"/>
              </a:defRPr>
            </a:lvl3pPr>
            <a:lvl4pPr marL="1581463" indent="-225924" defTabSz="931934" eaLnBrk="0" hangingPunct="0">
              <a:defRPr>
                <a:solidFill>
                  <a:schemeClr val="tx1"/>
                </a:solidFill>
                <a:latin typeface="Arial" charset="0"/>
                <a:cs typeface="Arial" charset="0"/>
              </a:defRPr>
            </a:lvl4pPr>
            <a:lvl5pPr marL="2033310" indent="-225924" defTabSz="931934" eaLnBrk="0" hangingPunct="0">
              <a:defRPr>
                <a:solidFill>
                  <a:schemeClr val="tx1"/>
                </a:solidFill>
                <a:latin typeface="Arial" charset="0"/>
                <a:cs typeface="Arial" charset="0"/>
              </a:defRPr>
            </a:lvl5pPr>
            <a:lvl6pPr marL="2485156" indent="-225924" defTabSz="931934" eaLnBrk="0" fontAlgn="base" hangingPunct="0">
              <a:spcBef>
                <a:spcPct val="0"/>
              </a:spcBef>
              <a:spcAft>
                <a:spcPct val="0"/>
              </a:spcAft>
              <a:defRPr>
                <a:solidFill>
                  <a:schemeClr val="tx1"/>
                </a:solidFill>
                <a:latin typeface="Arial" charset="0"/>
                <a:cs typeface="Arial" charset="0"/>
              </a:defRPr>
            </a:lvl6pPr>
            <a:lvl7pPr marL="2937003" indent="-225924" defTabSz="931934" eaLnBrk="0" fontAlgn="base" hangingPunct="0">
              <a:spcBef>
                <a:spcPct val="0"/>
              </a:spcBef>
              <a:spcAft>
                <a:spcPct val="0"/>
              </a:spcAft>
              <a:defRPr>
                <a:solidFill>
                  <a:schemeClr val="tx1"/>
                </a:solidFill>
                <a:latin typeface="Arial" charset="0"/>
                <a:cs typeface="Arial" charset="0"/>
              </a:defRPr>
            </a:lvl7pPr>
            <a:lvl8pPr marL="3388850" indent="-225924" defTabSz="931934" eaLnBrk="0" fontAlgn="base" hangingPunct="0">
              <a:spcBef>
                <a:spcPct val="0"/>
              </a:spcBef>
              <a:spcAft>
                <a:spcPct val="0"/>
              </a:spcAft>
              <a:defRPr>
                <a:solidFill>
                  <a:schemeClr val="tx1"/>
                </a:solidFill>
                <a:latin typeface="Arial" charset="0"/>
                <a:cs typeface="Arial" charset="0"/>
              </a:defRPr>
            </a:lvl8pPr>
            <a:lvl9pPr marL="3840696" indent="-225924" defTabSz="931934" eaLnBrk="0" fontAlgn="base" hangingPunct="0">
              <a:spcBef>
                <a:spcPct val="0"/>
              </a:spcBef>
              <a:spcAft>
                <a:spcPct val="0"/>
              </a:spcAft>
              <a:defRPr>
                <a:solidFill>
                  <a:schemeClr val="tx1"/>
                </a:solidFill>
                <a:latin typeface="Arial" charset="0"/>
                <a:cs typeface="Arial" charset="0"/>
              </a:defRPr>
            </a:lvl9pPr>
          </a:lstStyle>
          <a:p>
            <a:pPr eaLnBrk="1" hangingPunct="1"/>
            <a:fld id="{D70A86CA-E5FC-49E1-BC01-A570CB9D5C15}" type="slidenum">
              <a:rPr lang="en-US" altLang="en-US"/>
              <a:pPr eaLnBrk="1" hangingPunct="1"/>
              <a:t>34</a:t>
            </a:fld>
            <a:endParaRPr lang="en-US" altLang="en-US" dirty="0"/>
          </a:p>
        </p:txBody>
      </p:sp>
      <p:sp>
        <p:nvSpPr>
          <p:cNvPr id="36867" name="Rectangle 2"/>
          <p:cNvSpPr>
            <a:spLocks noGrp="1" noRot="1" noChangeAspect="1" noChangeArrowheads="1" noTextEdit="1"/>
          </p:cNvSpPr>
          <p:nvPr>
            <p:ph type="sldImg"/>
          </p:nvPr>
        </p:nvSpPr>
        <p:spPr>
          <a:xfrm>
            <a:off x="1182688" y="698500"/>
            <a:ext cx="4646612" cy="3484563"/>
          </a:xfrm>
          <a:ln/>
        </p:spPr>
      </p:sp>
      <p:sp>
        <p:nvSpPr>
          <p:cNvPr id="36868" name="Rectangle 3"/>
          <p:cNvSpPr>
            <a:spLocks noGrp="1" noChangeArrowheads="1"/>
          </p:cNvSpPr>
          <p:nvPr>
            <p:ph type="body" idx="1"/>
          </p:nvPr>
        </p:nvSpPr>
        <p:spPr>
          <a:xfrm>
            <a:off x="700729" y="4414220"/>
            <a:ext cx="5608947"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934" eaLnBrk="0" hangingPunct="0">
              <a:defRPr>
                <a:solidFill>
                  <a:schemeClr val="tx1"/>
                </a:solidFill>
                <a:latin typeface="Arial" charset="0"/>
                <a:cs typeface="Arial" charset="0"/>
              </a:defRPr>
            </a:lvl1pPr>
            <a:lvl2pPr marL="734251" indent="-282404" defTabSz="931934" eaLnBrk="0" hangingPunct="0">
              <a:defRPr>
                <a:solidFill>
                  <a:schemeClr val="tx1"/>
                </a:solidFill>
                <a:latin typeface="Arial" charset="0"/>
                <a:cs typeface="Arial" charset="0"/>
              </a:defRPr>
            </a:lvl2pPr>
            <a:lvl3pPr marL="1129617" indent="-225924" defTabSz="931934" eaLnBrk="0" hangingPunct="0">
              <a:defRPr>
                <a:solidFill>
                  <a:schemeClr val="tx1"/>
                </a:solidFill>
                <a:latin typeface="Arial" charset="0"/>
                <a:cs typeface="Arial" charset="0"/>
              </a:defRPr>
            </a:lvl3pPr>
            <a:lvl4pPr marL="1581463" indent="-225924" defTabSz="931934" eaLnBrk="0" hangingPunct="0">
              <a:defRPr>
                <a:solidFill>
                  <a:schemeClr val="tx1"/>
                </a:solidFill>
                <a:latin typeface="Arial" charset="0"/>
                <a:cs typeface="Arial" charset="0"/>
              </a:defRPr>
            </a:lvl4pPr>
            <a:lvl5pPr marL="2033310" indent="-225924" defTabSz="931934" eaLnBrk="0" hangingPunct="0">
              <a:defRPr>
                <a:solidFill>
                  <a:schemeClr val="tx1"/>
                </a:solidFill>
                <a:latin typeface="Arial" charset="0"/>
                <a:cs typeface="Arial" charset="0"/>
              </a:defRPr>
            </a:lvl5pPr>
            <a:lvl6pPr marL="2485156" indent="-225924" defTabSz="931934" eaLnBrk="0" fontAlgn="base" hangingPunct="0">
              <a:spcBef>
                <a:spcPct val="0"/>
              </a:spcBef>
              <a:spcAft>
                <a:spcPct val="0"/>
              </a:spcAft>
              <a:defRPr>
                <a:solidFill>
                  <a:schemeClr val="tx1"/>
                </a:solidFill>
                <a:latin typeface="Arial" charset="0"/>
                <a:cs typeface="Arial" charset="0"/>
              </a:defRPr>
            </a:lvl6pPr>
            <a:lvl7pPr marL="2937003" indent="-225924" defTabSz="931934" eaLnBrk="0" fontAlgn="base" hangingPunct="0">
              <a:spcBef>
                <a:spcPct val="0"/>
              </a:spcBef>
              <a:spcAft>
                <a:spcPct val="0"/>
              </a:spcAft>
              <a:defRPr>
                <a:solidFill>
                  <a:schemeClr val="tx1"/>
                </a:solidFill>
                <a:latin typeface="Arial" charset="0"/>
                <a:cs typeface="Arial" charset="0"/>
              </a:defRPr>
            </a:lvl7pPr>
            <a:lvl8pPr marL="3388850" indent="-225924" defTabSz="931934" eaLnBrk="0" fontAlgn="base" hangingPunct="0">
              <a:spcBef>
                <a:spcPct val="0"/>
              </a:spcBef>
              <a:spcAft>
                <a:spcPct val="0"/>
              </a:spcAft>
              <a:defRPr>
                <a:solidFill>
                  <a:schemeClr val="tx1"/>
                </a:solidFill>
                <a:latin typeface="Arial" charset="0"/>
                <a:cs typeface="Arial" charset="0"/>
              </a:defRPr>
            </a:lvl8pPr>
            <a:lvl9pPr marL="3840696" indent="-225924" defTabSz="931934" eaLnBrk="0" fontAlgn="base" hangingPunct="0">
              <a:spcBef>
                <a:spcPct val="0"/>
              </a:spcBef>
              <a:spcAft>
                <a:spcPct val="0"/>
              </a:spcAft>
              <a:defRPr>
                <a:solidFill>
                  <a:schemeClr val="tx1"/>
                </a:solidFill>
                <a:latin typeface="Arial" charset="0"/>
                <a:cs typeface="Arial" charset="0"/>
              </a:defRPr>
            </a:lvl9pPr>
          </a:lstStyle>
          <a:p>
            <a:pPr eaLnBrk="1" hangingPunct="1"/>
            <a:fld id="{D70A86CA-E5FC-49E1-BC01-A570CB9D5C15}" type="slidenum">
              <a:rPr lang="en-US" altLang="en-US"/>
              <a:pPr eaLnBrk="1" hangingPunct="1"/>
              <a:t>35</a:t>
            </a:fld>
            <a:endParaRPr lang="en-US" altLang="en-US" dirty="0"/>
          </a:p>
        </p:txBody>
      </p:sp>
      <p:sp>
        <p:nvSpPr>
          <p:cNvPr id="36867" name="Rectangle 2"/>
          <p:cNvSpPr>
            <a:spLocks noGrp="1" noRot="1" noChangeAspect="1" noChangeArrowheads="1" noTextEdit="1"/>
          </p:cNvSpPr>
          <p:nvPr>
            <p:ph type="sldImg"/>
          </p:nvPr>
        </p:nvSpPr>
        <p:spPr>
          <a:xfrm>
            <a:off x="1182688" y="698500"/>
            <a:ext cx="4646612" cy="3484563"/>
          </a:xfrm>
          <a:ln/>
        </p:spPr>
      </p:sp>
      <p:sp>
        <p:nvSpPr>
          <p:cNvPr id="36868" name="Rectangle 3"/>
          <p:cNvSpPr>
            <a:spLocks noGrp="1" noChangeArrowheads="1"/>
          </p:cNvSpPr>
          <p:nvPr>
            <p:ph type="body" idx="1"/>
          </p:nvPr>
        </p:nvSpPr>
        <p:spPr>
          <a:xfrm>
            <a:off x="700729" y="4414220"/>
            <a:ext cx="5608947"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An example of a simple component in AADL with</a:t>
            </a:r>
            <a:r>
              <a:rPr lang="en-US" baseline="0" dirty="0" smtClean="0"/>
              <a:t> AGREE contracts.</a:t>
            </a:r>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36</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smtClean="0"/>
              <a:t>The large WBS </a:t>
            </a:r>
            <a:r>
              <a:rPr lang="de-DE" dirty="0" err="1" smtClean="0"/>
              <a:t>example</a:t>
            </a:r>
            <a:r>
              <a:rPr lang="de-DE" dirty="0" smtClean="0"/>
              <a:t>. </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38</a:t>
            </a:fld>
            <a:endParaRPr lang="en-US"/>
          </a:p>
        </p:txBody>
      </p:sp>
    </p:spTree>
    <p:extLst>
      <p:ext uri="{BB962C8B-B14F-4D97-AF65-F5344CB8AC3E}">
        <p14:creationId xmlns:p14="http://schemas.microsoft.com/office/powerpoint/2010/main" val="24852838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41</a:t>
            </a:fld>
            <a:endParaRPr lang="en-US" dirty="0"/>
          </a:p>
        </p:txBody>
      </p:sp>
    </p:spTree>
    <p:extLst>
      <p:ext uri="{BB962C8B-B14F-4D97-AF65-F5344CB8AC3E}">
        <p14:creationId xmlns:p14="http://schemas.microsoft.com/office/powerpoint/2010/main" val="28978823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smtClean="0"/>
              <a:t>An </a:t>
            </a:r>
            <a:r>
              <a:rPr lang="de-DE" dirty="0" err="1" smtClean="0"/>
              <a:t>example</a:t>
            </a:r>
            <a:r>
              <a:rPr lang="de-DE" dirty="0" smtClean="0"/>
              <a:t> </a:t>
            </a:r>
            <a:r>
              <a:rPr lang="de-DE" dirty="0" err="1" smtClean="0"/>
              <a:t>of</a:t>
            </a:r>
            <a:r>
              <a:rPr lang="de-DE" dirty="0" smtClean="0"/>
              <a:t> </a:t>
            </a:r>
            <a:r>
              <a:rPr lang="de-DE" dirty="0" err="1" smtClean="0"/>
              <a:t>the</a:t>
            </a:r>
            <a:r>
              <a:rPr lang="de-DE" dirty="0" smtClean="0"/>
              <a:t> simple AADL/AGREE </a:t>
            </a:r>
            <a:r>
              <a:rPr lang="de-DE" dirty="0" err="1" smtClean="0"/>
              <a:t>system</a:t>
            </a:r>
            <a:r>
              <a:rPr lang="de-DE" dirty="0" smtClean="0"/>
              <a:t> </a:t>
            </a:r>
            <a:r>
              <a:rPr lang="de-DE" dirty="0" err="1" smtClean="0"/>
              <a:t>component</a:t>
            </a:r>
            <a:r>
              <a:rPr lang="de-DE" dirty="0" smtClean="0"/>
              <a:t> </a:t>
            </a:r>
            <a:r>
              <a:rPr lang="de-DE" dirty="0" err="1" smtClean="0"/>
              <a:t>with</a:t>
            </a:r>
            <a:r>
              <a:rPr lang="de-DE" dirty="0" smtClean="0"/>
              <a:t> </a:t>
            </a:r>
            <a:r>
              <a:rPr lang="de-DE" dirty="0" err="1" smtClean="0"/>
              <a:t>the</a:t>
            </a:r>
            <a:r>
              <a:rPr lang="de-DE" dirty="0" smtClean="0"/>
              <a:t> </a:t>
            </a:r>
            <a:r>
              <a:rPr lang="de-DE" dirty="0" err="1" smtClean="0"/>
              <a:t>Safety</a:t>
            </a:r>
            <a:r>
              <a:rPr lang="de-DE" dirty="0" smtClean="0"/>
              <a:t> Annex </a:t>
            </a:r>
            <a:r>
              <a:rPr lang="de-DE" dirty="0" err="1" smtClean="0"/>
              <a:t>added</a:t>
            </a:r>
            <a:r>
              <a:rPr lang="de-DE" dirty="0" smtClean="0"/>
              <a:t> in.</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44</a:t>
            </a:fld>
            <a:endParaRPr lang="en-US"/>
          </a:p>
        </p:txBody>
      </p:sp>
    </p:spTree>
    <p:extLst>
      <p:ext uri="{BB962C8B-B14F-4D97-AF65-F5344CB8AC3E}">
        <p14:creationId xmlns:p14="http://schemas.microsoft.com/office/powerpoint/2010/main" val="25260982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smtClean="0"/>
              <a:t>A </a:t>
            </a:r>
            <a:r>
              <a:rPr lang="de-DE" dirty="0" err="1" smtClean="0"/>
              <a:t>running</a:t>
            </a:r>
            <a:r>
              <a:rPr lang="de-DE" dirty="0" smtClean="0"/>
              <a:t> </a:t>
            </a:r>
            <a:r>
              <a:rPr lang="de-DE" dirty="0" err="1" smtClean="0"/>
              <a:t>example</a:t>
            </a:r>
            <a:r>
              <a:rPr lang="de-DE" dirty="0" smtClean="0"/>
              <a:t> </a:t>
            </a:r>
            <a:r>
              <a:rPr lang="de-DE" dirty="0" err="1" smtClean="0"/>
              <a:t>of</a:t>
            </a:r>
            <a:r>
              <a:rPr lang="de-DE" dirty="0" smtClean="0"/>
              <a:t> </a:t>
            </a:r>
            <a:r>
              <a:rPr lang="de-DE" dirty="0" err="1" smtClean="0"/>
              <a:t>the</a:t>
            </a:r>
            <a:r>
              <a:rPr lang="de-DE" dirty="0" smtClean="0"/>
              <a:t> Sensor </a:t>
            </a:r>
            <a:r>
              <a:rPr lang="de-DE" dirty="0" err="1" smtClean="0"/>
              <a:t>component</a:t>
            </a:r>
            <a:r>
              <a:rPr lang="de-DE" dirty="0" smtClean="0"/>
              <a:t> </a:t>
            </a:r>
            <a:r>
              <a:rPr lang="de-DE" dirty="0" err="1" smtClean="0"/>
              <a:t>to</a:t>
            </a:r>
            <a:r>
              <a:rPr lang="de-DE" dirty="0" smtClean="0"/>
              <a:t> </a:t>
            </a:r>
            <a:r>
              <a:rPr lang="de-DE" dirty="0" err="1" smtClean="0"/>
              <a:t>illustrate</a:t>
            </a:r>
            <a:r>
              <a:rPr lang="de-DE" dirty="0" smtClean="0"/>
              <a:t> </a:t>
            </a:r>
            <a:r>
              <a:rPr lang="de-DE" dirty="0" err="1" smtClean="0"/>
              <a:t>how</a:t>
            </a:r>
            <a:r>
              <a:rPr lang="de-DE" dirty="0" smtClean="0"/>
              <a:t> </a:t>
            </a:r>
            <a:r>
              <a:rPr lang="de-DE" dirty="0" err="1" smtClean="0"/>
              <a:t>the</a:t>
            </a:r>
            <a:r>
              <a:rPr lang="de-DE" dirty="0" smtClean="0"/>
              <a:t> </a:t>
            </a:r>
            <a:r>
              <a:rPr lang="de-DE" dirty="0" err="1" smtClean="0"/>
              <a:t>Safety</a:t>
            </a:r>
            <a:r>
              <a:rPr lang="de-DE" dirty="0" smtClean="0"/>
              <a:t> Annex </a:t>
            </a:r>
            <a:r>
              <a:rPr lang="de-DE" dirty="0" err="1" smtClean="0"/>
              <a:t>can</a:t>
            </a:r>
            <a:r>
              <a:rPr lang="de-DE" dirty="0" smtClean="0"/>
              <a:t> </a:t>
            </a:r>
            <a:r>
              <a:rPr lang="de-DE" dirty="0" err="1" smtClean="0"/>
              <a:t>provide</a:t>
            </a:r>
            <a:r>
              <a:rPr lang="de-DE" dirty="0" smtClean="0"/>
              <a:t> </a:t>
            </a:r>
            <a:r>
              <a:rPr lang="de-DE" dirty="0" err="1" smtClean="0"/>
              <a:t>insight</a:t>
            </a:r>
            <a:r>
              <a:rPr lang="de-DE" dirty="0" smtClean="0"/>
              <a:t> </a:t>
            </a:r>
            <a:r>
              <a:rPr lang="de-DE" dirty="0" err="1" smtClean="0"/>
              <a:t>into</a:t>
            </a:r>
            <a:r>
              <a:rPr lang="de-DE" dirty="0" smtClean="0"/>
              <a:t> </a:t>
            </a:r>
            <a:r>
              <a:rPr lang="de-DE" dirty="0" err="1" smtClean="0"/>
              <a:t>behavioral</a:t>
            </a:r>
            <a:r>
              <a:rPr lang="de-DE" dirty="0" smtClean="0"/>
              <a:t> fault </a:t>
            </a:r>
            <a:r>
              <a:rPr lang="de-DE" dirty="0" err="1" smtClean="0"/>
              <a:t>propagation</a:t>
            </a:r>
            <a:r>
              <a:rPr lang="de-DE" dirty="0" smtClean="0"/>
              <a:t>.</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45</a:t>
            </a:fld>
            <a:endParaRPr lang="en-US"/>
          </a:p>
        </p:txBody>
      </p:sp>
    </p:spTree>
    <p:extLst>
      <p:ext uri="{BB962C8B-B14F-4D97-AF65-F5344CB8AC3E}">
        <p14:creationId xmlns:p14="http://schemas.microsoft.com/office/powerpoint/2010/main" val="14722501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smtClean="0"/>
              <a:t>A behavioral</a:t>
            </a:r>
            <a:r>
              <a:rPr lang="de-DE" baseline="0" dirty="0" smtClean="0"/>
              <a:t> flow diagram showing fault propagation.</a:t>
            </a:r>
          </a:p>
          <a:p>
            <a:endParaRPr lang="de-DE" baseline="0" dirty="0" smtClean="0"/>
          </a:p>
          <a:p>
            <a:r>
              <a:rPr lang="de-DE" baseline="0" dirty="0" smtClean="0"/>
              <a:t>Active Sensor Fault:</a:t>
            </a:r>
          </a:p>
          <a:p>
            <a:r>
              <a:rPr lang="en-US" dirty="0" smtClean="0"/>
              <a:t>Mechanical pedal is not pressed</a:t>
            </a:r>
          </a:p>
          <a:p>
            <a:r>
              <a:rPr lang="en-US" dirty="0" smtClean="0"/>
              <a:t>Inverted Boolean failure on sensor activated</a:t>
            </a:r>
          </a:p>
          <a:p>
            <a:r>
              <a:rPr lang="en-US" dirty="0" smtClean="0"/>
              <a:t>Electrical signal is true and braking is commanded through BSCU</a:t>
            </a:r>
          </a:p>
          <a:p>
            <a:r>
              <a:rPr lang="en-US" dirty="0" smtClean="0"/>
              <a:t>Top level lemma fails (Unintentional braking occurs)</a:t>
            </a:r>
          </a:p>
          <a:p>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47</a:t>
            </a:fld>
            <a:endParaRPr lang="en-US"/>
          </a:p>
        </p:txBody>
      </p:sp>
    </p:spTree>
    <p:extLst>
      <p:ext uri="{BB962C8B-B14F-4D97-AF65-F5344CB8AC3E}">
        <p14:creationId xmlns:p14="http://schemas.microsoft.com/office/powerpoint/2010/main" val="9334096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smtClean="0"/>
              <a:t>Top </a:t>
            </a:r>
            <a:r>
              <a:rPr lang="de-DE" dirty="0" err="1" smtClean="0"/>
              <a:t>level</a:t>
            </a:r>
            <a:r>
              <a:rPr lang="de-DE" dirty="0" smtClean="0"/>
              <a:t> </a:t>
            </a:r>
            <a:r>
              <a:rPr lang="de-DE" dirty="0" err="1" smtClean="0"/>
              <a:t>system</a:t>
            </a:r>
            <a:r>
              <a:rPr lang="de-DE" dirty="0" smtClean="0"/>
              <a:t> </a:t>
            </a:r>
            <a:r>
              <a:rPr lang="de-DE" dirty="0" err="1" smtClean="0"/>
              <a:t>component</a:t>
            </a:r>
            <a:r>
              <a:rPr lang="de-DE" dirty="0" smtClean="0"/>
              <a:t> </a:t>
            </a:r>
            <a:r>
              <a:rPr lang="de-DE" dirty="0" err="1" smtClean="0"/>
              <a:t>with</a:t>
            </a:r>
            <a:r>
              <a:rPr lang="de-DE" dirty="0" smtClean="0"/>
              <a:t> AGREE</a:t>
            </a:r>
            <a:r>
              <a:rPr lang="de-DE" baseline="0" dirty="0" smtClean="0"/>
              <a:t> </a:t>
            </a:r>
            <a:r>
              <a:rPr lang="de-DE" baseline="0" dirty="0" err="1" smtClean="0"/>
              <a:t>contracts</a:t>
            </a:r>
            <a:r>
              <a:rPr lang="de-DE" baseline="0" dirty="0" smtClean="0"/>
              <a:t> </a:t>
            </a:r>
            <a:r>
              <a:rPr lang="de-DE" baseline="0" dirty="0" err="1" smtClean="0"/>
              <a:t>and</a:t>
            </a:r>
            <a:r>
              <a:rPr lang="de-DE" baseline="0" dirty="0" smtClean="0"/>
              <a:t> </a:t>
            </a:r>
            <a:r>
              <a:rPr lang="de-DE" baseline="0" dirty="0" err="1" smtClean="0"/>
              <a:t>the</a:t>
            </a:r>
            <a:r>
              <a:rPr lang="de-DE" baseline="0" dirty="0" smtClean="0"/>
              <a:t> </a:t>
            </a:r>
            <a:r>
              <a:rPr lang="de-DE" baseline="0" dirty="0" err="1" smtClean="0"/>
              <a:t>Safety</a:t>
            </a:r>
            <a:r>
              <a:rPr lang="de-DE" baseline="0" dirty="0" smtClean="0"/>
              <a:t> Annex </a:t>
            </a:r>
            <a:r>
              <a:rPr lang="de-DE" baseline="0" dirty="0" err="1" smtClean="0"/>
              <a:t>analysis</a:t>
            </a:r>
            <a:r>
              <a:rPr lang="de-DE" baseline="0" dirty="0" smtClean="0"/>
              <a:t> </a:t>
            </a:r>
            <a:r>
              <a:rPr lang="de-DE" baseline="0" dirty="0" err="1" smtClean="0"/>
              <a:t>statements</a:t>
            </a:r>
            <a:r>
              <a:rPr lang="de-DE" baseline="0" dirty="0" smtClean="0"/>
              <a:t>.</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48</a:t>
            </a:fld>
            <a:endParaRPr lang="en-US"/>
          </a:p>
        </p:txBody>
      </p:sp>
    </p:spTree>
    <p:extLst>
      <p:ext uri="{BB962C8B-B14F-4D97-AF65-F5344CB8AC3E}">
        <p14:creationId xmlns:p14="http://schemas.microsoft.com/office/powerpoint/2010/main" val="7537952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de-DE" dirty="0" smtClean="0"/>
              <a:t>Top </a:t>
            </a:r>
            <a:r>
              <a:rPr lang="de-DE" dirty="0" err="1" smtClean="0"/>
              <a:t>level</a:t>
            </a:r>
            <a:r>
              <a:rPr lang="de-DE" dirty="0" smtClean="0"/>
              <a:t> </a:t>
            </a:r>
            <a:r>
              <a:rPr lang="de-DE" dirty="0" err="1" smtClean="0"/>
              <a:t>system</a:t>
            </a:r>
            <a:r>
              <a:rPr lang="de-DE" dirty="0" smtClean="0"/>
              <a:t> </a:t>
            </a:r>
            <a:r>
              <a:rPr lang="de-DE" dirty="0" err="1" smtClean="0"/>
              <a:t>component</a:t>
            </a:r>
            <a:r>
              <a:rPr lang="de-DE" dirty="0" smtClean="0"/>
              <a:t> </a:t>
            </a:r>
            <a:r>
              <a:rPr lang="de-DE" dirty="0" err="1" smtClean="0"/>
              <a:t>with</a:t>
            </a:r>
            <a:r>
              <a:rPr lang="de-DE" dirty="0" smtClean="0"/>
              <a:t> AGREE</a:t>
            </a:r>
            <a:r>
              <a:rPr lang="de-DE" baseline="0" dirty="0" smtClean="0"/>
              <a:t> </a:t>
            </a:r>
            <a:r>
              <a:rPr lang="de-DE" baseline="0" dirty="0" err="1" smtClean="0"/>
              <a:t>contracts</a:t>
            </a:r>
            <a:r>
              <a:rPr lang="de-DE" baseline="0" dirty="0" smtClean="0"/>
              <a:t> </a:t>
            </a:r>
            <a:r>
              <a:rPr lang="de-DE" baseline="0" dirty="0" err="1" smtClean="0"/>
              <a:t>and</a:t>
            </a:r>
            <a:r>
              <a:rPr lang="de-DE" baseline="0" dirty="0" smtClean="0"/>
              <a:t> </a:t>
            </a:r>
            <a:r>
              <a:rPr lang="de-DE" baseline="0" dirty="0" err="1" smtClean="0"/>
              <a:t>the</a:t>
            </a:r>
            <a:r>
              <a:rPr lang="de-DE" baseline="0" dirty="0" smtClean="0"/>
              <a:t> </a:t>
            </a:r>
            <a:r>
              <a:rPr lang="de-DE" baseline="0" dirty="0" err="1" smtClean="0"/>
              <a:t>Safety</a:t>
            </a:r>
            <a:r>
              <a:rPr lang="de-DE" baseline="0" dirty="0" smtClean="0"/>
              <a:t> Annex </a:t>
            </a:r>
            <a:r>
              <a:rPr lang="de-DE" baseline="0" dirty="0" err="1" smtClean="0"/>
              <a:t>analysis</a:t>
            </a:r>
            <a:r>
              <a:rPr lang="de-DE" baseline="0" dirty="0" smtClean="0"/>
              <a:t> </a:t>
            </a:r>
            <a:r>
              <a:rPr lang="de-DE" baseline="0" dirty="0" err="1" smtClean="0"/>
              <a:t>statements</a:t>
            </a:r>
            <a:r>
              <a:rPr lang="de-DE" baseline="0" dirty="0" smtClean="0"/>
              <a:t>.</a:t>
            </a:r>
            <a:endParaRPr lang="de-DE" dirty="0" smtClean="0"/>
          </a:p>
          <a:p>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49</a:t>
            </a:fld>
            <a:endParaRPr lang="en-US"/>
          </a:p>
        </p:txBody>
      </p:sp>
    </p:spTree>
    <p:extLst>
      <p:ext uri="{BB962C8B-B14F-4D97-AF65-F5344CB8AC3E}">
        <p14:creationId xmlns:p14="http://schemas.microsoft.com/office/powerpoint/2010/main" val="27652853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de-DE" dirty="0" smtClean="0"/>
              <a:t>Top </a:t>
            </a:r>
            <a:r>
              <a:rPr lang="de-DE" dirty="0" err="1" smtClean="0"/>
              <a:t>level</a:t>
            </a:r>
            <a:r>
              <a:rPr lang="de-DE" dirty="0" smtClean="0"/>
              <a:t> </a:t>
            </a:r>
            <a:r>
              <a:rPr lang="de-DE" dirty="0" err="1" smtClean="0"/>
              <a:t>system</a:t>
            </a:r>
            <a:r>
              <a:rPr lang="de-DE" dirty="0" smtClean="0"/>
              <a:t> </a:t>
            </a:r>
            <a:r>
              <a:rPr lang="de-DE" dirty="0" err="1" smtClean="0"/>
              <a:t>component</a:t>
            </a:r>
            <a:r>
              <a:rPr lang="de-DE" dirty="0" smtClean="0"/>
              <a:t> </a:t>
            </a:r>
            <a:r>
              <a:rPr lang="de-DE" dirty="0" err="1" smtClean="0"/>
              <a:t>with</a:t>
            </a:r>
            <a:r>
              <a:rPr lang="de-DE" dirty="0" smtClean="0"/>
              <a:t> AGREE</a:t>
            </a:r>
            <a:r>
              <a:rPr lang="de-DE" baseline="0" dirty="0" smtClean="0"/>
              <a:t> </a:t>
            </a:r>
            <a:r>
              <a:rPr lang="de-DE" baseline="0" dirty="0" err="1" smtClean="0"/>
              <a:t>contracts</a:t>
            </a:r>
            <a:r>
              <a:rPr lang="de-DE" baseline="0" dirty="0" smtClean="0"/>
              <a:t> </a:t>
            </a:r>
            <a:r>
              <a:rPr lang="de-DE" baseline="0" dirty="0" err="1" smtClean="0"/>
              <a:t>and</a:t>
            </a:r>
            <a:r>
              <a:rPr lang="de-DE" baseline="0" dirty="0" smtClean="0"/>
              <a:t> </a:t>
            </a:r>
            <a:r>
              <a:rPr lang="de-DE" baseline="0" dirty="0" err="1" smtClean="0"/>
              <a:t>the</a:t>
            </a:r>
            <a:r>
              <a:rPr lang="de-DE" baseline="0" dirty="0" smtClean="0"/>
              <a:t> </a:t>
            </a:r>
            <a:r>
              <a:rPr lang="de-DE" baseline="0" dirty="0" err="1" smtClean="0"/>
              <a:t>Safety</a:t>
            </a:r>
            <a:r>
              <a:rPr lang="de-DE" baseline="0" dirty="0" smtClean="0"/>
              <a:t> Annex </a:t>
            </a:r>
            <a:r>
              <a:rPr lang="de-DE" baseline="0" dirty="0" err="1" smtClean="0"/>
              <a:t>analysis</a:t>
            </a:r>
            <a:r>
              <a:rPr lang="de-DE" baseline="0" dirty="0" smtClean="0"/>
              <a:t> </a:t>
            </a:r>
            <a:r>
              <a:rPr lang="de-DE" baseline="0" dirty="0" err="1" smtClean="0"/>
              <a:t>statements</a:t>
            </a:r>
            <a:r>
              <a:rPr lang="de-DE" baseline="0" dirty="0" smtClean="0"/>
              <a:t>.</a:t>
            </a:r>
            <a:endParaRPr lang="de-DE" dirty="0" smtClean="0"/>
          </a:p>
          <a:p>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50</a:t>
            </a:fld>
            <a:endParaRPr lang="en-US"/>
          </a:p>
        </p:txBody>
      </p:sp>
    </p:spTree>
    <p:extLst>
      <p:ext uri="{BB962C8B-B14F-4D97-AF65-F5344CB8AC3E}">
        <p14:creationId xmlns:p14="http://schemas.microsoft.com/office/powerpoint/2010/main" val="32979172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de-DE" dirty="0" smtClean="0"/>
              <a:t>Top </a:t>
            </a:r>
            <a:r>
              <a:rPr lang="de-DE" dirty="0" err="1" smtClean="0"/>
              <a:t>level</a:t>
            </a:r>
            <a:r>
              <a:rPr lang="de-DE" dirty="0" smtClean="0"/>
              <a:t> </a:t>
            </a:r>
            <a:r>
              <a:rPr lang="de-DE" dirty="0" err="1" smtClean="0"/>
              <a:t>system</a:t>
            </a:r>
            <a:r>
              <a:rPr lang="de-DE" dirty="0" smtClean="0"/>
              <a:t> </a:t>
            </a:r>
            <a:r>
              <a:rPr lang="de-DE" dirty="0" err="1" smtClean="0"/>
              <a:t>component</a:t>
            </a:r>
            <a:r>
              <a:rPr lang="de-DE" dirty="0" smtClean="0"/>
              <a:t> </a:t>
            </a:r>
            <a:r>
              <a:rPr lang="de-DE" dirty="0" err="1" smtClean="0"/>
              <a:t>with</a:t>
            </a:r>
            <a:r>
              <a:rPr lang="de-DE" dirty="0" smtClean="0"/>
              <a:t> AGREE</a:t>
            </a:r>
            <a:r>
              <a:rPr lang="de-DE" baseline="0" dirty="0" smtClean="0"/>
              <a:t> </a:t>
            </a:r>
            <a:r>
              <a:rPr lang="de-DE" baseline="0" dirty="0" err="1" smtClean="0"/>
              <a:t>contracts</a:t>
            </a:r>
            <a:r>
              <a:rPr lang="de-DE" baseline="0" dirty="0" smtClean="0"/>
              <a:t> </a:t>
            </a:r>
            <a:r>
              <a:rPr lang="de-DE" baseline="0" dirty="0" err="1" smtClean="0"/>
              <a:t>and</a:t>
            </a:r>
            <a:r>
              <a:rPr lang="de-DE" baseline="0" dirty="0" smtClean="0"/>
              <a:t> </a:t>
            </a:r>
            <a:r>
              <a:rPr lang="de-DE" baseline="0" dirty="0" err="1" smtClean="0"/>
              <a:t>the</a:t>
            </a:r>
            <a:r>
              <a:rPr lang="de-DE" baseline="0" dirty="0" smtClean="0"/>
              <a:t> </a:t>
            </a:r>
            <a:r>
              <a:rPr lang="de-DE" baseline="0" dirty="0" err="1" smtClean="0"/>
              <a:t>Safety</a:t>
            </a:r>
            <a:r>
              <a:rPr lang="de-DE" baseline="0" dirty="0" smtClean="0"/>
              <a:t> Annex </a:t>
            </a:r>
            <a:r>
              <a:rPr lang="de-DE" baseline="0" dirty="0" err="1" smtClean="0"/>
              <a:t>analysis</a:t>
            </a:r>
            <a:r>
              <a:rPr lang="de-DE" baseline="0" dirty="0" smtClean="0"/>
              <a:t> </a:t>
            </a:r>
            <a:r>
              <a:rPr lang="de-DE" baseline="0" dirty="0" err="1" smtClean="0"/>
              <a:t>statements</a:t>
            </a:r>
            <a:r>
              <a:rPr lang="de-DE" baseline="0" dirty="0" smtClean="0"/>
              <a:t>.</a:t>
            </a:r>
            <a:endParaRPr lang="de-DE" dirty="0" smtClean="0"/>
          </a:p>
          <a:p>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51</a:t>
            </a:fld>
            <a:endParaRPr lang="en-US"/>
          </a:p>
        </p:txBody>
      </p:sp>
    </p:spTree>
    <p:extLst>
      <p:ext uri="{BB962C8B-B14F-4D97-AF65-F5344CB8AC3E}">
        <p14:creationId xmlns:p14="http://schemas.microsoft.com/office/powerpoint/2010/main" val="40887305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2D8EB32-0A30-4BE1-8F61-0C745B92912B}" type="slidenum">
              <a:rPr lang="en-US" smtClean="0"/>
              <a:pPr>
                <a:defRPr/>
              </a:pPr>
              <a:t>52</a:t>
            </a:fld>
            <a:endParaRPr lang="en-US"/>
          </a:p>
        </p:txBody>
      </p:sp>
    </p:spTree>
    <p:extLst>
      <p:ext uri="{BB962C8B-B14F-4D97-AF65-F5344CB8AC3E}">
        <p14:creationId xmlns:p14="http://schemas.microsoft.com/office/powerpoint/2010/main" val="36197036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53</a:t>
            </a:fld>
            <a:endParaRPr lang="en-US" dirty="0"/>
          </a:p>
        </p:txBody>
      </p:sp>
    </p:spTree>
    <p:extLst>
      <p:ext uri="{BB962C8B-B14F-4D97-AF65-F5344CB8AC3E}">
        <p14:creationId xmlns:p14="http://schemas.microsoft.com/office/powerpoint/2010/main" val="28978823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54</a:t>
            </a:fld>
            <a:endParaRPr lang="en-US" dirty="0"/>
          </a:p>
        </p:txBody>
      </p:sp>
    </p:spTree>
    <p:extLst>
      <p:ext uri="{BB962C8B-B14F-4D97-AF65-F5344CB8AC3E}">
        <p14:creationId xmlns:p14="http://schemas.microsoft.com/office/powerpoint/2010/main" val="28978823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smtClean="0"/>
              <a:t>Goal</a:t>
            </a:r>
            <a:r>
              <a:rPr lang="de-DE" baseline="0" dirty="0" smtClean="0"/>
              <a:t> </a:t>
            </a:r>
            <a:r>
              <a:rPr lang="de-DE" baseline="0" dirty="0" err="1" smtClean="0"/>
              <a:t>is</a:t>
            </a:r>
            <a:r>
              <a:rPr lang="de-DE" baseline="0" dirty="0" smtClean="0"/>
              <a:t> </a:t>
            </a:r>
            <a:r>
              <a:rPr lang="de-DE" baseline="0" dirty="0" err="1" smtClean="0"/>
              <a:t>to</a:t>
            </a:r>
            <a:r>
              <a:rPr lang="de-DE" baseline="0" dirty="0" smtClean="0"/>
              <a:t> </a:t>
            </a:r>
            <a:r>
              <a:rPr lang="de-DE" baseline="0" dirty="0" err="1" smtClean="0"/>
              <a:t>prove</a:t>
            </a:r>
            <a:r>
              <a:rPr lang="de-DE" baseline="0" dirty="0" smtClean="0"/>
              <a:t> </a:t>
            </a:r>
            <a:r>
              <a:rPr lang="de-DE" baseline="0" dirty="0" err="1" smtClean="0"/>
              <a:t>the</a:t>
            </a:r>
            <a:r>
              <a:rPr lang="de-DE" baseline="0" dirty="0" smtClean="0"/>
              <a:t> t</a:t>
            </a:r>
            <a:r>
              <a:rPr lang="de-DE" dirty="0" smtClean="0"/>
              <a:t>op </a:t>
            </a:r>
            <a:r>
              <a:rPr lang="de-DE" dirty="0" err="1" smtClean="0"/>
              <a:t>level</a:t>
            </a:r>
            <a:r>
              <a:rPr lang="de-DE" dirty="0" smtClean="0"/>
              <a:t> </a:t>
            </a:r>
            <a:r>
              <a:rPr lang="de-DE" dirty="0" err="1" smtClean="0"/>
              <a:t>safety</a:t>
            </a:r>
            <a:r>
              <a:rPr lang="de-DE" dirty="0" smtClean="0"/>
              <a:t> </a:t>
            </a:r>
            <a:r>
              <a:rPr lang="de-DE" dirty="0" err="1" smtClean="0"/>
              <a:t>property</a:t>
            </a:r>
            <a:r>
              <a:rPr lang="de-DE" baseline="0" dirty="0" smtClean="0"/>
              <a:t> </a:t>
            </a:r>
            <a:r>
              <a:rPr lang="de-DE" baseline="0" dirty="0" err="1" smtClean="0"/>
              <a:t>of</a:t>
            </a:r>
            <a:r>
              <a:rPr lang="de-DE" baseline="0" dirty="0" smtClean="0"/>
              <a:t> </a:t>
            </a:r>
            <a:r>
              <a:rPr lang="de-DE" baseline="0" dirty="0" err="1" smtClean="0"/>
              <a:t>system</a:t>
            </a:r>
            <a:r>
              <a:rPr lang="de-DE" baseline="0" dirty="0" smtClean="0"/>
              <a:t>.</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56</a:t>
            </a:fld>
            <a:endParaRPr lang="en-US" dirty="0"/>
          </a:p>
        </p:txBody>
      </p:sp>
    </p:spTree>
    <p:extLst>
      <p:ext uri="{BB962C8B-B14F-4D97-AF65-F5344CB8AC3E}">
        <p14:creationId xmlns:p14="http://schemas.microsoft.com/office/powerpoint/2010/main" val="31550395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smtClean="0"/>
              <a:t>We</a:t>
            </a:r>
            <a:r>
              <a:rPr lang="de-DE" dirty="0" smtClean="0"/>
              <a:t> </a:t>
            </a:r>
            <a:r>
              <a:rPr lang="de-DE" dirty="0" err="1" smtClean="0"/>
              <a:t>feed</a:t>
            </a:r>
            <a:r>
              <a:rPr lang="de-DE" dirty="0" smtClean="0"/>
              <a:t> in </a:t>
            </a:r>
            <a:r>
              <a:rPr lang="de-DE" dirty="0" err="1" smtClean="0"/>
              <a:t>the</a:t>
            </a:r>
            <a:r>
              <a:rPr lang="de-DE" dirty="0" smtClean="0"/>
              <a:t> </a:t>
            </a:r>
            <a:r>
              <a:rPr lang="de-DE" dirty="0" err="1" smtClean="0"/>
              <a:t>model</a:t>
            </a:r>
            <a:r>
              <a:rPr lang="de-DE" dirty="0" smtClean="0"/>
              <a:t> </a:t>
            </a:r>
            <a:r>
              <a:rPr lang="de-DE" dirty="0" err="1" smtClean="0"/>
              <a:t>elements</a:t>
            </a:r>
            <a:r>
              <a:rPr lang="de-DE" dirty="0" smtClean="0"/>
              <a:t> </a:t>
            </a:r>
            <a:r>
              <a:rPr lang="de-DE" dirty="0" err="1" smtClean="0"/>
              <a:t>to</a:t>
            </a:r>
            <a:r>
              <a:rPr lang="de-DE" dirty="0" smtClean="0"/>
              <a:t> </a:t>
            </a:r>
            <a:r>
              <a:rPr lang="de-DE" dirty="0" err="1" smtClean="0"/>
              <a:t>the</a:t>
            </a:r>
            <a:r>
              <a:rPr lang="de-DE" dirty="0" smtClean="0"/>
              <a:t> </a:t>
            </a:r>
            <a:r>
              <a:rPr lang="de-DE" dirty="0" err="1" smtClean="0"/>
              <a:t>model</a:t>
            </a:r>
            <a:r>
              <a:rPr lang="de-DE" dirty="0" smtClean="0"/>
              <a:t> </a:t>
            </a:r>
            <a:r>
              <a:rPr lang="de-DE" dirty="0" err="1" smtClean="0"/>
              <a:t>checker</a:t>
            </a:r>
            <a:r>
              <a:rPr lang="de-DE" dirty="0" smtClean="0"/>
              <a:t> </a:t>
            </a:r>
            <a:r>
              <a:rPr lang="de-DE" dirty="0" err="1" smtClean="0"/>
              <a:t>as</a:t>
            </a:r>
            <a:r>
              <a:rPr lang="de-DE" dirty="0" smtClean="0"/>
              <a:t> </a:t>
            </a:r>
            <a:r>
              <a:rPr lang="de-DE" dirty="0" err="1" smtClean="0"/>
              <a:t>well</a:t>
            </a:r>
            <a:r>
              <a:rPr lang="de-DE" dirty="0" smtClean="0"/>
              <a:t> </a:t>
            </a:r>
            <a:r>
              <a:rPr lang="de-DE" dirty="0" err="1" smtClean="0"/>
              <a:t>as</a:t>
            </a:r>
            <a:r>
              <a:rPr lang="de-DE" dirty="0" smtClean="0"/>
              <a:t> </a:t>
            </a:r>
            <a:r>
              <a:rPr lang="de-DE" dirty="0" err="1" smtClean="0"/>
              <a:t>the</a:t>
            </a:r>
            <a:r>
              <a:rPr lang="de-DE" dirty="0" smtClean="0"/>
              <a:t> </a:t>
            </a:r>
            <a:r>
              <a:rPr lang="de-DE" dirty="0" err="1" smtClean="0"/>
              <a:t>safety</a:t>
            </a:r>
            <a:r>
              <a:rPr lang="de-DE" dirty="0" smtClean="0"/>
              <a:t> </a:t>
            </a:r>
            <a:r>
              <a:rPr lang="de-DE" dirty="0" err="1" smtClean="0"/>
              <a:t>property</a:t>
            </a:r>
            <a:r>
              <a:rPr lang="de-DE" dirty="0" smtClean="0"/>
              <a:t>.</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57</a:t>
            </a:fld>
            <a:endParaRPr lang="en-US" dirty="0"/>
          </a:p>
        </p:txBody>
      </p:sp>
    </p:spTree>
    <p:extLst>
      <p:ext uri="{BB962C8B-B14F-4D97-AF65-F5344CB8AC3E}">
        <p14:creationId xmlns:p14="http://schemas.microsoft.com/office/powerpoint/2010/main" val="6943856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smtClean="0"/>
              <a:t>The </a:t>
            </a:r>
            <a:r>
              <a:rPr lang="de-DE" dirty="0" err="1" smtClean="0"/>
              <a:t>model</a:t>
            </a:r>
            <a:r>
              <a:rPr lang="de-DE" dirty="0" smtClean="0"/>
              <a:t> </a:t>
            </a:r>
            <a:r>
              <a:rPr lang="de-DE" dirty="0" err="1" smtClean="0"/>
              <a:t>checker</a:t>
            </a:r>
            <a:r>
              <a:rPr lang="de-DE" dirty="0" smtClean="0"/>
              <a:t> </a:t>
            </a:r>
            <a:r>
              <a:rPr lang="de-DE" dirty="0" err="1" smtClean="0"/>
              <a:t>can</a:t>
            </a:r>
            <a:r>
              <a:rPr lang="de-DE" dirty="0" smtClean="0"/>
              <a:t> </a:t>
            </a:r>
            <a:r>
              <a:rPr lang="de-DE" dirty="0" err="1" smtClean="0"/>
              <a:t>return</a:t>
            </a:r>
            <a:r>
              <a:rPr lang="de-DE" dirty="0" smtClean="0"/>
              <a:t> a minimal </a:t>
            </a:r>
            <a:r>
              <a:rPr lang="de-DE" dirty="0" err="1" smtClean="0"/>
              <a:t>set</a:t>
            </a:r>
            <a:r>
              <a:rPr lang="de-DE" dirty="0" smtClean="0"/>
              <a:t> </a:t>
            </a:r>
            <a:r>
              <a:rPr lang="de-DE" dirty="0" err="1" smtClean="0"/>
              <a:t>of</a:t>
            </a:r>
            <a:r>
              <a:rPr lang="de-DE" dirty="0" smtClean="0"/>
              <a:t> </a:t>
            </a:r>
            <a:r>
              <a:rPr lang="de-DE" dirty="0" err="1" smtClean="0"/>
              <a:t>elements</a:t>
            </a:r>
            <a:r>
              <a:rPr lang="de-DE" dirty="0" smtClean="0"/>
              <a:t> </a:t>
            </a:r>
            <a:r>
              <a:rPr lang="de-DE" dirty="0" err="1" smtClean="0"/>
              <a:t>required</a:t>
            </a:r>
            <a:r>
              <a:rPr lang="de-DE" dirty="0" smtClean="0"/>
              <a:t> in </a:t>
            </a:r>
            <a:r>
              <a:rPr lang="de-DE" dirty="0" err="1" smtClean="0"/>
              <a:t>order</a:t>
            </a:r>
            <a:r>
              <a:rPr lang="de-DE" dirty="0" smtClean="0"/>
              <a:t> </a:t>
            </a:r>
            <a:r>
              <a:rPr lang="de-DE" dirty="0" err="1" smtClean="0"/>
              <a:t>to</a:t>
            </a:r>
            <a:r>
              <a:rPr lang="de-DE" dirty="0" smtClean="0"/>
              <a:t> </a:t>
            </a:r>
            <a:r>
              <a:rPr lang="de-DE" dirty="0" err="1" smtClean="0"/>
              <a:t>perform</a:t>
            </a:r>
            <a:r>
              <a:rPr lang="de-DE" dirty="0" smtClean="0"/>
              <a:t> </a:t>
            </a:r>
            <a:r>
              <a:rPr lang="de-DE" dirty="0" err="1" smtClean="0"/>
              <a:t>the</a:t>
            </a:r>
            <a:r>
              <a:rPr lang="de-DE" dirty="0" smtClean="0"/>
              <a:t> </a:t>
            </a:r>
            <a:r>
              <a:rPr lang="de-DE" dirty="0" err="1" smtClean="0"/>
              <a:t>proof</a:t>
            </a:r>
            <a:r>
              <a:rPr lang="de-DE" dirty="0" smtClean="0"/>
              <a:t>.</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59</a:t>
            </a:fld>
            <a:endParaRPr lang="en-US" dirty="0"/>
          </a:p>
        </p:txBody>
      </p:sp>
    </p:spTree>
    <p:extLst>
      <p:ext uri="{BB962C8B-B14F-4D97-AF65-F5344CB8AC3E}">
        <p14:creationId xmlns:p14="http://schemas.microsoft.com/office/powerpoint/2010/main" val="37713862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smtClean="0"/>
              <a:t>Or</a:t>
            </a:r>
            <a:r>
              <a:rPr lang="de-DE" dirty="0" smtClean="0"/>
              <a:t> </a:t>
            </a:r>
            <a:r>
              <a:rPr lang="de-DE" dirty="0" err="1" smtClean="0"/>
              <a:t>we</a:t>
            </a:r>
            <a:r>
              <a:rPr lang="de-DE" dirty="0" smtClean="0"/>
              <a:t> </a:t>
            </a:r>
            <a:r>
              <a:rPr lang="de-DE" dirty="0" err="1" smtClean="0"/>
              <a:t>can</a:t>
            </a:r>
            <a:r>
              <a:rPr lang="de-DE" dirty="0" smtClean="0"/>
              <a:t> </a:t>
            </a:r>
            <a:r>
              <a:rPr lang="de-DE" dirty="0" err="1" smtClean="0"/>
              <a:t>request</a:t>
            </a:r>
            <a:r>
              <a:rPr lang="de-DE" dirty="0" smtClean="0"/>
              <a:t> all IVCs</a:t>
            </a:r>
            <a:r>
              <a:rPr lang="de-DE" baseline="0" dirty="0" smtClean="0"/>
              <a:t>. </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60</a:t>
            </a:fld>
            <a:endParaRPr lang="en-US" dirty="0"/>
          </a:p>
        </p:txBody>
      </p:sp>
    </p:spTree>
    <p:extLst>
      <p:ext uri="{BB962C8B-B14F-4D97-AF65-F5344CB8AC3E}">
        <p14:creationId xmlns:p14="http://schemas.microsoft.com/office/powerpoint/2010/main" val="34786918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smtClean="0"/>
              <a:t>Instead</a:t>
            </a:r>
            <a:r>
              <a:rPr lang="de-DE" baseline="0" dirty="0" smtClean="0"/>
              <a:t> </a:t>
            </a:r>
            <a:r>
              <a:rPr lang="de-DE" baseline="0" dirty="0" err="1" smtClean="0"/>
              <a:t>of</a:t>
            </a:r>
            <a:r>
              <a:rPr lang="de-DE" baseline="0" dirty="0" smtClean="0"/>
              <a:t> </a:t>
            </a:r>
            <a:r>
              <a:rPr lang="de-DE" baseline="0" dirty="0" err="1" smtClean="0"/>
              <a:t>feeding</a:t>
            </a:r>
            <a:r>
              <a:rPr lang="de-DE" baseline="0" dirty="0" smtClean="0"/>
              <a:t> in </a:t>
            </a:r>
            <a:r>
              <a:rPr lang="de-DE" baseline="0" dirty="0" err="1" smtClean="0"/>
              <a:t>only</a:t>
            </a:r>
            <a:r>
              <a:rPr lang="de-DE" baseline="0" dirty="0" smtClean="0"/>
              <a:t> </a:t>
            </a:r>
            <a:r>
              <a:rPr lang="de-DE" baseline="0" dirty="0" err="1" smtClean="0"/>
              <a:t>the</a:t>
            </a:r>
            <a:r>
              <a:rPr lang="de-DE" baseline="0" dirty="0" smtClean="0"/>
              <a:t> </a:t>
            </a:r>
            <a:r>
              <a:rPr lang="de-DE" baseline="0" dirty="0" err="1" smtClean="0"/>
              <a:t>model</a:t>
            </a:r>
            <a:r>
              <a:rPr lang="de-DE" baseline="0" dirty="0" smtClean="0"/>
              <a:t> </a:t>
            </a:r>
            <a:r>
              <a:rPr lang="de-DE" baseline="0" dirty="0" err="1" smtClean="0"/>
              <a:t>elements</a:t>
            </a:r>
            <a:r>
              <a:rPr lang="de-DE" baseline="0" dirty="0" smtClean="0"/>
              <a:t>, </a:t>
            </a:r>
            <a:r>
              <a:rPr lang="de-DE" baseline="0" dirty="0" err="1" smtClean="0"/>
              <a:t>we</a:t>
            </a:r>
            <a:r>
              <a:rPr lang="de-DE" baseline="0" dirty="0" smtClean="0"/>
              <a:t> </a:t>
            </a:r>
            <a:r>
              <a:rPr lang="de-DE" baseline="0" dirty="0" err="1" smtClean="0"/>
              <a:t>feed</a:t>
            </a:r>
            <a:r>
              <a:rPr lang="de-DE" baseline="0" dirty="0" smtClean="0"/>
              <a:t> in </a:t>
            </a:r>
            <a:r>
              <a:rPr lang="de-DE" baseline="0" dirty="0" err="1" smtClean="0"/>
              <a:t>the</a:t>
            </a:r>
            <a:r>
              <a:rPr lang="de-DE" baseline="0" dirty="0" smtClean="0"/>
              <a:t> </a:t>
            </a:r>
            <a:r>
              <a:rPr lang="de-DE" baseline="0" dirty="0" err="1" smtClean="0"/>
              <a:t>negation</a:t>
            </a:r>
            <a:r>
              <a:rPr lang="de-DE" baseline="0" dirty="0" smtClean="0"/>
              <a:t> </a:t>
            </a:r>
            <a:r>
              <a:rPr lang="de-DE" baseline="0" dirty="0" err="1" smtClean="0"/>
              <a:t>of</a:t>
            </a:r>
            <a:r>
              <a:rPr lang="de-DE" baseline="0" dirty="0" smtClean="0"/>
              <a:t> </a:t>
            </a:r>
            <a:r>
              <a:rPr lang="de-DE" baseline="0" dirty="0" err="1" smtClean="0"/>
              <a:t>faults</a:t>
            </a:r>
            <a:r>
              <a:rPr lang="de-DE" baseline="0" dirty="0" smtClean="0"/>
              <a:t> </a:t>
            </a:r>
            <a:r>
              <a:rPr lang="de-DE" baseline="0" dirty="0" err="1" smtClean="0"/>
              <a:t>as</a:t>
            </a:r>
            <a:r>
              <a:rPr lang="de-DE" baseline="0" dirty="0" smtClean="0"/>
              <a:t> </a:t>
            </a:r>
            <a:r>
              <a:rPr lang="de-DE" baseline="0" dirty="0" err="1" smtClean="0"/>
              <a:t>well</a:t>
            </a:r>
            <a:r>
              <a:rPr lang="de-DE" baseline="0" dirty="0" smtClean="0"/>
              <a:t>. </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61</a:t>
            </a:fld>
            <a:endParaRPr lang="en-US" dirty="0"/>
          </a:p>
        </p:txBody>
      </p:sp>
    </p:spTree>
    <p:extLst>
      <p:ext uri="{BB962C8B-B14F-4D97-AF65-F5344CB8AC3E}">
        <p14:creationId xmlns:p14="http://schemas.microsoft.com/office/powerpoint/2010/main" val="39167857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smtClean="0"/>
              <a:t>The IVCs </a:t>
            </a:r>
            <a:r>
              <a:rPr lang="de-DE" dirty="0" err="1" smtClean="0"/>
              <a:t>then</a:t>
            </a:r>
            <a:r>
              <a:rPr lang="de-DE" dirty="0" smtClean="0"/>
              <a:t> </a:t>
            </a:r>
            <a:r>
              <a:rPr lang="de-DE" dirty="0" err="1" smtClean="0"/>
              <a:t>include</a:t>
            </a:r>
            <a:r>
              <a:rPr lang="de-DE" dirty="0" smtClean="0"/>
              <a:t> </a:t>
            </a:r>
            <a:r>
              <a:rPr lang="de-DE" dirty="0" err="1" smtClean="0"/>
              <a:t>the</a:t>
            </a:r>
            <a:r>
              <a:rPr lang="de-DE" dirty="0" smtClean="0"/>
              <a:t> </a:t>
            </a:r>
            <a:r>
              <a:rPr lang="de-DE" dirty="0" err="1" smtClean="0"/>
              <a:t>faults</a:t>
            </a:r>
            <a:r>
              <a:rPr lang="de-DE" dirty="0" smtClean="0"/>
              <a:t> </a:t>
            </a:r>
            <a:r>
              <a:rPr lang="de-DE" dirty="0" err="1" smtClean="0"/>
              <a:t>that</a:t>
            </a:r>
            <a:r>
              <a:rPr lang="de-DE" dirty="0" smtClean="0"/>
              <a:t> must not </a:t>
            </a:r>
            <a:r>
              <a:rPr lang="de-DE" dirty="0" err="1" smtClean="0"/>
              <a:t>occur</a:t>
            </a:r>
            <a:r>
              <a:rPr lang="de-DE" dirty="0" smtClean="0"/>
              <a:t> in </a:t>
            </a:r>
            <a:r>
              <a:rPr lang="de-DE" dirty="0" err="1" smtClean="0"/>
              <a:t>order</a:t>
            </a:r>
            <a:r>
              <a:rPr lang="de-DE" dirty="0" smtClean="0"/>
              <a:t> </a:t>
            </a:r>
            <a:r>
              <a:rPr lang="de-DE" dirty="0" err="1" smtClean="0"/>
              <a:t>to</a:t>
            </a:r>
            <a:r>
              <a:rPr lang="de-DE" dirty="0" smtClean="0"/>
              <a:t> </a:t>
            </a:r>
            <a:r>
              <a:rPr lang="de-DE" dirty="0" err="1" smtClean="0"/>
              <a:t>prove</a:t>
            </a:r>
            <a:r>
              <a:rPr lang="de-DE" dirty="0" smtClean="0"/>
              <a:t> </a:t>
            </a:r>
            <a:r>
              <a:rPr lang="de-DE" dirty="0" err="1" smtClean="0"/>
              <a:t>the</a:t>
            </a:r>
            <a:r>
              <a:rPr lang="de-DE" baseline="0" dirty="0" smtClean="0"/>
              <a:t> </a:t>
            </a:r>
            <a:r>
              <a:rPr lang="de-DE" baseline="0" dirty="0" err="1" smtClean="0"/>
              <a:t>safety</a:t>
            </a:r>
            <a:r>
              <a:rPr lang="de-DE" baseline="0" dirty="0" smtClean="0"/>
              <a:t> </a:t>
            </a:r>
            <a:r>
              <a:rPr lang="de-DE" baseline="0" dirty="0" err="1" smtClean="0"/>
              <a:t>property</a:t>
            </a:r>
            <a:r>
              <a:rPr lang="de-DE" baseline="0" dirty="0" smtClean="0"/>
              <a:t>.</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62</a:t>
            </a:fld>
            <a:endParaRPr lang="en-US" dirty="0"/>
          </a:p>
        </p:txBody>
      </p:sp>
    </p:spTree>
    <p:extLst>
      <p:ext uri="{BB962C8B-B14F-4D97-AF65-F5344CB8AC3E}">
        <p14:creationId xmlns:p14="http://schemas.microsoft.com/office/powerpoint/2010/main" val="32623047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smtClean="0"/>
              <a:t>Here</a:t>
            </a:r>
            <a:r>
              <a:rPr lang="de-DE" dirty="0" smtClean="0"/>
              <a:t> </a:t>
            </a:r>
            <a:r>
              <a:rPr lang="de-DE" dirty="0" err="1" smtClean="0"/>
              <a:t>is</a:t>
            </a:r>
            <a:r>
              <a:rPr lang="de-DE" dirty="0" smtClean="0"/>
              <a:t> </a:t>
            </a:r>
            <a:r>
              <a:rPr lang="de-DE" dirty="0" err="1" smtClean="0"/>
              <a:t>the</a:t>
            </a:r>
            <a:r>
              <a:rPr lang="de-DE" dirty="0" smtClean="0"/>
              <a:t> </a:t>
            </a:r>
            <a:r>
              <a:rPr lang="de-DE" dirty="0" err="1" smtClean="0"/>
              <a:t>proof</a:t>
            </a:r>
            <a:r>
              <a:rPr lang="de-DE" dirty="0" smtClean="0"/>
              <a:t> </a:t>
            </a:r>
            <a:r>
              <a:rPr lang="de-DE" dirty="0" err="1" smtClean="0"/>
              <a:t>tree</a:t>
            </a:r>
            <a:r>
              <a:rPr lang="de-DE" dirty="0" smtClean="0"/>
              <a:t> </a:t>
            </a:r>
            <a:r>
              <a:rPr lang="de-DE" dirty="0" err="1" smtClean="0"/>
              <a:t>provided</a:t>
            </a:r>
            <a:r>
              <a:rPr lang="de-DE" baseline="0" dirty="0" smtClean="0"/>
              <a:t> after </a:t>
            </a:r>
            <a:r>
              <a:rPr lang="de-DE" baseline="0" dirty="0" err="1" smtClean="0"/>
              <a:t>performing</a:t>
            </a:r>
            <a:r>
              <a:rPr lang="de-DE" baseline="0" dirty="0" smtClean="0"/>
              <a:t> </a:t>
            </a:r>
            <a:r>
              <a:rPr lang="de-DE" baseline="0" dirty="0" err="1" smtClean="0"/>
              <a:t>the</a:t>
            </a:r>
            <a:r>
              <a:rPr lang="de-DE" baseline="0" dirty="0" smtClean="0"/>
              <a:t> IVC </a:t>
            </a:r>
            <a:r>
              <a:rPr lang="de-DE" baseline="0" dirty="0" err="1" smtClean="0"/>
              <a:t>analysis</a:t>
            </a:r>
            <a:r>
              <a:rPr lang="de-DE" baseline="0" dirty="0" smtClean="0"/>
              <a:t>.</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63</a:t>
            </a:fld>
            <a:endParaRPr lang="en-US" dirty="0"/>
          </a:p>
        </p:txBody>
      </p:sp>
    </p:spTree>
    <p:extLst>
      <p:ext uri="{BB962C8B-B14F-4D97-AF65-F5344CB8AC3E}">
        <p14:creationId xmlns:p14="http://schemas.microsoft.com/office/powerpoint/2010/main" val="5307005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smtClean="0"/>
              <a:t>This </a:t>
            </a:r>
            <a:r>
              <a:rPr lang="de-DE" dirty="0" err="1" smtClean="0"/>
              <a:t>is</a:t>
            </a:r>
            <a:r>
              <a:rPr lang="de-DE" dirty="0" smtClean="0"/>
              <a:t> </a:t>
            </a:r>
            <a:r>
              <a:rPr lang="de-DE" dirty="0" err="1" smtClean="0"/>
              <a:t>the</a:t>
            </a:r>
            <a:r>
              <a:rPr lang="de-DE" dirty="0" smtClean="0"/>
              <a:t> form </a:t>
            </a:r>
            <a:r>
              <a:rPr lang="de-DE" dirty="0" err="1" smtClean="0"/>
              <a:t>of</a:t>
            </a:r>
            <a:r>
              <a:rPr lang="de-DE" dirty="0" smtClean="0"/>
              <a:t> </a:t>
            </a:r>
            <a:r>
              <a:rPr lang="de-DE" dirty="0" err="1" smtClean="0"/>
              <a:t>the</a:t>
            </a:r>
            <a:r>
              <a:rPr lang="de-DE" dirty="0" smtClean="0"/>
              <a:t> </a:t>
            </a:r>
            <a:r>
              <a:rPr lang="de-DE" dirty="0" err="1" smtClean="0"/>
              <a:t>tree</a:t>
            </a:r>
            <a:r>
              <a:rPr lang="de-DE" dirty="0" smtClean="0"/>
              <a:t> </a:t>
            </a:r>
            <a:r>
              <a:rPr lang="de-DE" dirty="0" err="1" smtClean="0"/>
              <a:t>given</a:t>
            </a:r>
            <a:r>
              <a:rPr lang="de-DE" dirty="0" smtClean="0"/>
              <a:t> after</a:t>
            </a:r>
            <a:r>
              <a:rPr lang="de-DE" baseline="0" dirty="0" smtClean="0"/>
              <a:t> </a:t>
            </a:r>
            <a:r>
              <a:rPr lang="de-DE" baseline="0" dirty="0" err="1" smtClean="0"/>
              <a:t>negating</a:t>
            </a:r>
            <a:r>
              <a:rPr lang="de-DE" baseline="0" dirty="0" smtClean="0"/>
              <a:t> </a:t>
            </a:r>
            <a:r>
              <a:rPr lang="de-DE" baseline="0" dirty="0" err="1" smtClean="0"/>
              <a:t>the</a:t>
            </a:r>
            <a:r>
              <a:rPr lang="de-DE" baseline="0" dirty="0" smtClean="0"/>
              <a:t> </a:t>
            </a:r>
            <a:r>
              <a:rPr lang="de-DE" baseline="0" dirty="0" err="1" smtClean="0"/>
              <a:t>results</a:t>
            </a:r>
            <a:r>
              <a:rPr lang="de-DE" baseline="0" dirty="0" smtClean="0"/>
              <a:t> </a:t>
            </a:r>
            <a:r>
              <a:rPr lang="de-DE" baseline="0" dirty="0" err="1" smtClean="0"/>
              <a:t>from</a:t>
            </a:r>
            <a:r>
              <a:rPr lang="de-DE" baseline="0" dirty="0" smtClean="0"/>
              <a:t> </a:t>
            </a:r>
            <a:r>
              <a:rPr lang="de-DE" baseline="0" dirty="0" err="1" smtClean="0"/>
              <a:t>the</a:t>
            </a:r>
            <a:r>
              <a:rPr lang="de-DE" baseline="0" dirty="0" smtClean="0"/>
              <a:t> IVC </a:t>
            </a:r>
            <a:r>
              <a:rPr lang="de-DE" baseline="0" dirty="0" err="1" smtClean="0"/>
              <a:t>analysis</a:t>
            </a:r>
            <a:r>
              <a:rPr lang="de-DE" baseline="0" dirty="0" smtClean="0"/>
              <a:t>.</a:t>
            </a:r>
            <a:endParaRPr lang="de-DE" dirty="0"/>
          </a:p>
        </p:txBody>
      </p:sp>
      <p:sp>
        <p:nvSpPr>
          <p:cNvPr id="4" name="Foliennummernplatzhalter 3"/>
          <p:cNvSpPr>
            <a:spLocks noGrp="1"/>
          </p:cNvSpPr>
          <p:nvPr>
            <p:ph type="sldNum" sz="quarter" idx="10"/>
          </p:nvPr>
        </p:nvSpPr>
        <p:spPr/>
        <p:txBody>
          <a:bodyPr/>
          <a:lstStyle/>
          <a:p>
            <a:pPr>
              <a:defRPr/>
            </a:pPr>
            <a:fld id="{62D8EB32-0A30-4BE1-8F61-0C745B92912B}" type="slidenum">
              <a:rPr lang="en-US" smtClean="0"/>
              <a:pPr>
                <a:defRPr/>
              </a:pPr>
              <a:t>64</a:t>
            </a:fld>
            <a:endParaRPr lang="en-US" dirty="0"/>
          </a:p>
        </p:txBody>
      </p:sp>
    </p:spTree>
    <p:extLst>
      <p:ext uri="{BB962C8B-B14F-4D97-AF65-F5344CB8AC3E}">
        <p14:creationId xmlns:p14="http://schemas.microsoft.com/office/powerpoint/2010/main" val="10049873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Notes for Janet:</a:t>
            </a:r>
          </a:p>
          <a:p>
            <a:pPr>
              <a:buFont typeface="+mj-lt"/>
              <a:buAutoNum type="arabicPeriod"/>
            </a:pPr>
            <a:r>
              <a:rPr lang="en-US" dirty="0" smtClean="0"/>
              <a:t>Goal</a:t>
            </a:r>
          </a:p>
          <a:p>
            <a:pPr lvl="1"/>
            <a:r>
              <a:rPr lang="en-US" dirty="0" smtClean="0"/>
              <a:t>Conduct verification in the presence of faults</a:t>
            </a:r>
          </a:p>
          <a:p>
            <a:pPr>
              <a:buFont typeface="+mj-lt"/>
              <a:buAutoNum type="arabicPeriod"/>
            </a:pPr>
            <a:r>
              <a:rPr lang="en-US" dirty="0" smtClean="0"/>
              <a:t>Approach overview</a:t>
            </a:r>
          </a:p>
          <a:p>
            <a:pPr lvl="1"/>
            <a:r>
              <a:rPr lang="en-US" dirty="0" smtClean="0"/>
              <a:t>We provide a framework for users to explore/verify in the modeling domain more than before, e.g., </a:t>
            </a:r>
          </a:p>
          <a:p>
            <a:pPr lvl="2"/>
            <a:r>
              <a:rPr lang="en-US" dirty="0" smtClean="0"/>
              <a:t>User our model to turn on different fault classes, and see how that affect the safety property and probability </a:t>
            </a:r>
          </a:p>
          <a:p>
            <a:pPr lvl="2"/>
            <a:r>
              <a:rPr lang="en-US" dirty="0" smtClean="0"/>
              <a:t>Verify if the architecture is fault tolerant, and if the fault mitigation design is effective</a:t>
            </a:r>
          </a:p>
          <a:p>
            <a:pPr lvl="2"/>
            <a:endParaRPr lang="en-US" dirty="0" smtClean="0"/>
          </a:p>
          <a:p>
            <a:pPr>
              <a:buFont typeface="+mj-lt"/>
              <a:buAutoNum type="arabicPeriod"/>
            </a:pPr>
            <a:r>
              <a:rPr lang="en-US" dirty="0" smtClean="0"/>
              <a:t>Safety Annex Progress</a:t>
            </a:r>
          </a:p>
          <a:p>
            <a:pPr lvl="1"/>
            <a:r>
              <a:rPr lang="en-US" dirty="0" smtClean="0"/>
              <a:t>Probabilistic fault analysis</a:t>
            </a:r>
          </a:p>
          <a:p>
            <a:pPr lvl="2"/>
            <a:r>
              <a:rPr lang="en-US" dirty="0" smtClean="0"/>
              <a:t>Specify probabilities for faults</a:t>
            </a:r>
          </a:p>
          <a:p>
            <a:pPr lvl="2"/>
            <a:r>
              <a:rPr lang="en-US" dirty="0" smtClean="0"/>
              <a:t>Monolithic analysis: specify probability threshold (previously we supported max </a:t>
            </a:r>
            <a:r>
              <a:rPr lang="en-US" dirty="0" err="1" smtClean="0"/>
              <a:t>num</a:t>
            </a:r>
            <a:r>
              <a:rPr lang="en-US" dirty="0" smtClean="0"/>
              <a:t> of faults)</a:t>
            </a:r>
          </a:p>
          <a:p>
            <a:pPr lvl="2"/>
            <a:r>
              <a:rPr lang="en-US" dirty="0" smtClean="0"/>
              <a:t>Compositional analysis: turn MIVC results into failure propagation model to compute the top-level probability</a:t>
            </a:r>
          </a:p>
          <a:p>
            <a:pPr marL="1543050" lvl="3"/>
            <a:r>
              <a:rPr lang="en-US" dirty="0" smtClean="0"/>
              <a:t>Using MIVCs</a:t>
            </a:r>
          </a:p>
          <a:p>
            <a:pPr marL="1543050" lvl="3"/>
            <a:r>
              <a:rPr lang="en-US" dirty="0" smtClean="0"/>
              <a:t>Use the SOTERIA tool to calculate </a:t>
            </a:r>
            <a:r>
              <a:rPr lang="en-US" dirty="0" err="1" smtClean="0"/>
              <a:t>cutsets</a:t>
            </a:r>
            <a:r>
              <a:rPr lang="en-US" dirty="0" smtClean="0"/>
              <a:t> and top-level probabilities and output fault trees and fault propagation models</a:t>
            </a:r>
          </a:p>
          <a:p>
            <a:pPr lvl="1"/>
            <a:r>
              <a:rPr lang="en-US" dirty="0" smtClean="0"/>
              <a:t>Failure propagations</a:t>
            </a:r>
          </a:p>
          <a:p>
            <a:pPr lvl="2"/>
            <a:r>
              <a:rPr lang="en-US" dirty="0" smtClean="0"/>
              <a:t>Specify hardware faults and propagations</a:t>
            </a:r>
          </a:p>
          <a:p>
            <a:pPr marL="457200" lvl="1" indent="0">
              <a:buNone/>
            </a:pPr>
            <a:endParaRPr lang="en-US" dirty="0" smtClean="0"/>
          </a:p>
          <a:p>
            <a:pPr>
              <a:buFont typeface="+mj-lt"/>
              <a:buAutoNum type="arabicPeriod"/>
            </a:pPr>
            <a:r>
              <a:rPr lang="en-US" dirty="0" smtClean="0"/>
              <a:t>The extended WBS example</a:t>
            </a:r>
          </a:p>
          <a:p>
            <a:pPr marL="685800" lvl="2" indent="-285750"/>
            <a:r>
              <a:rPr lang="en-US" dirty="0" smtClean="0"/>
              <a:t>The functionally and structurally equivalent AADL version of the most complex WBS </a:t>
            </a:r>
            <a:r>
              <a:rPr lang="en-US" dirty="0" err="1" smtClean="0"/>
              <a:t>xSAP</a:t>
            </a:r>
            <a:r>
              <a:rPr lang="en-US" dirty="0" smtClean="0"/>
              <a:t> model (arch4wbs)</a:t>
            </a:r>
          </a:p>
          <a:p>
            <a:pPr lvl="1">
              <a:buFont typeface="+mj-lt"/>
              <a:buAutoNum type="arabicPeriod"/>
            </a:pPr>
            <a:endParaRPr lang="en-US" dirty="0" smtClean="0"/>
          </a:p>
          <a:p>
            <a:pPr>
              <a:buFont typeface="+mj-lt"/>
              <a:buAutoNum type="arabicPeriod"/>
            </a:pPr>
            <a:r>
              <a:rPr lang="en-US" dirty="0" smtClean="0"/>
              <a:t>Demo of exploration/verification in the modeling domain</a:t>
            </a:r>
          </a:p>
          <a:p>
            <a:pPr lvl="1"/>
            <a:r>
              <a:rPr lang="en-US" dirty="0" smtClean="0"/>
              <a:t>Max </a:t>
            </a:r>
            <a:r>
              <a:rPr lang="en-US" dirty="0" err="1" smtClean="0"/>
              <a:t>num</a:t>
            </a:r>
            <a:r>
              <a:rPr lang="en-US" dirty="0" smtClean="0"/>
              <a:t> of faults analysis</a:t>
            </a:r>
          </a:p>
          <a:p>
            <a:pPr lvl="2"/>
            <a:r>
              <a:rPr lang="en-US" dirty="0" smtClean="0"/>
              <a:t>No fault activated, property holds</a:t>
            </a:r>
          </a:p>
          <a:p>
            <a:pPr lvl="2"/>
            <a:r>
              <a:rPr lang="en-US" dirty="0" smtClean="0"/>
              <a:t>One fault activated, if property fails – single point of failure</a:t>
            </a:r>
          </a:p>
          <a:p>
            <a:pPr lvl="2"/>
            <a:r>
              <a:rPr lang="en-US" dirty="0" smtClean="0"/>
              <a:t>Prohibit the above fault from happening, see if property holds</a:t>
            </a:r>
          </a:p>
          <a:p>
            <a:pPr lvl="1"/>
            <a:r>
              <a:rPr lang="en-US" dirty="0" smtClean="0"/>
              <a:t>Probabilistic fault analysis</a:t>
            </a:r>
          </a:p>
          <a:p>
            <a:pPr lvl="2"/>
            <a:r>
              <a:rPr lang="en-US" dirty="0" smtClean="0"/>
              <a:t>All fail scenarios: 1 failure, 2 failures, 3 failures</a:t>
            </a:r>
          </a:p>
          <a:p>
            <a:pPr lvl="2"/>
            <a:r>
              <a:rPr lang="en-US" dirty="0" smtClean="0"/>
              <a:t>Adjust probability threshold to see different results (e.g., only 2 simultaneous faults instead of 3 are considered)</a:t>
            </a:r>
          </a:p>
          <a:p>
            <a:pPr lvl="2"/>
            <a:endParaRPr lang="en-US" dirty="0" smtClean="0"/>
          </a:p>
          <a:p>
            <a:r>
              <a:rPr lang="en-US" dirty="0" smtClean="0"/>
              <a:t>Use our approach to check if the architecture is resilient to single point of failure</a:t>
            </a:r>
          </a:p>
          <a:p>
            <a:endParaRPr lang="en-US" dirty="0" smtClean="0"/>
          </a:p>
          <a:p>
            <a:pPr marL="285750" lvl="2" indent="-285750">
              <a:buFont typeface="Arial" panose="020B0604020202020204" pitchFamily="34" charset="0"/>
              <a:buChar char="•"/>
            </a:pPr>
            <a:r>
              <a:rPr lang="en-US" dirty="0" smtClean="0">
                <a:solidFill>
                  <a:srgbClr val="FF0000"/>
                </a:solidFill>
              </a:rPr>
              <a:t>To clarify: </a:t>
            </a:r>
          </a:p>
          <a:p>
            <a:pPr marL="285750" lvl="2" indent="-285750">
              <a:buFont typeface="Arial" panose="020B0604020202020204" pitchFamily="34" charset="0"/>
              <a:buChar char="•"/>
            </a:pPr>
            <a:r>
              <a:rPr lang="en-US" dirty="0" smtClean="0">
                <a:solidFill>
                  <a:srgbClr val="FF0000"/>
                </a:solidFill>
              </a:rPr>
              <a:t>1. Two ways to turn faults on/off (based on max </a:t>
            </a:r>
            <a:r>
              <a:rPr lang="en-US" dirty="0" err="1" smtClean="0">
                <a:solidFill>
                  <a:srgbClr val="FF0000"/>
                </a:solidFill>
              </a:rPr>
              <a:t>num</a:t>
            </a:r>
            <a:r>
              <a:rPr lang="en-US" dirty="0" smtClean="0">
                <a:solidFill>
                  <a:srgbClr val="FF0000"/>
                </a:solidFill>
              </a:rPr>
              <a:t> of faults or probability threshold)</a:t>
            </a:r>
          </a:p>
          <a:p>
            <a:pPr marL="285750" lvl="2" indent="-285750">
              <a:buFont typeface="Arial" panose="020B0604020202020204" pitchFamily="34" charset="0"/>
              <a:buChar char="•"/>
            </a:pPr>
            <a:r>
              <a:rPr lang="en-US" dirty="0" smtClean="0">
                <a:solidFill>
                  <a:srgbClr val="FF0000"/>
                </a:solidFill>
              </a:rPr>
              <a:t>2. Our approach can do the following:</a:t>
            </a:r>
          </a:p>
          <a:p>
            <a:pPr marL="285750" lvl="2" indent="-285750">
              <a:buFont typeface="Arial" panose="020B0604020202020204" pitchFamily="34" charset="0"/>
              <a:buChar char="•"/>
            </a:pPr>
            <a:r>
              <a:rPr lang="en-US" dirty="0" smtClean="0">
                <a:solidFill>
                  <a:srgbClr val="FF0000"/>
                </a:solidFill>
              </a:rPr>
              <a:t>- verify if a safety property holds</a:t>
            </a:r>
          </a:p>
          <a:p>
            <a:pPr marL="285750" lvl="2" indent="-285750">
              <a:buFont typeface="Arial" panose="020B0604020202020204" pitchFamily="34" charset="0"/>
              <a:buChar char="•"/>
            </a:pPr>
            <a:r>
              <a:rPr lang="en-US" dirty="0" smtClean="0">
                <a:solidFill>
                  <a:srgbClr val="FF0000"/>
                </a:solidFill>
              </a:rPr>
              <a:t>- verify if the property holds given the threshold which faults can activate simultaneously</a:t>
            </a:r>
          </a:p>
          <a:p>
            <a:pPr marL="285750" lvl="2" indent="-285750">
              <a:buFont typeface="Arial" panose="020B0604020202020204" pitchFamily="34" charset="0"/>
              <a:buChar char="•"/>
            </a:pPr>
            <a:r>
              <a:rPr lang="en-US" dirty="0" smtClean="0">
                <a:solidFill>
                  <a:srgbClr val="FF0000"/>
                </a:solidFill>
              </a:rPr>
              <a:t>- compute probabilities</a:t>
            </a:r>
          </a:p>
          <a:p>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70</a:t>
            </a:fld>
            <a:endParaRPr lang="en-US" dirty="0"/>
          </a:p>
        </p:txBody>
      </p:sp>
    </p:spTree>
    <p:extLst>
      <p:ext uri="{BB962C8B-B14F-4D97-AF65-F5344CB8AC3E}">
        <p14:creationId xmlns:p14="http://schemas.microsoft.com/office/powerpoint/2010/main" val="28978823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71</a:t>
            </a:fld>
            <a:endParaRPr lang="en-US" dirty="0"/>
          </a:p>
        </p:txBody>
      </p:sp>
    </p:spTree>
    <p:extLst>
      <p:ext uri="{BB962C8B-B14F-4D97-AF65-F5344CB8AC3E}">
        <p14:creationId xmlns:p14="http://schemas.microsoft.com/office/powerpoint/2010/main" val="28978823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Definitions</a:t>
            </a:r>
            <a:r>
              <a:rPr lang="en-US" baseline="0" dirty="0" smtClean="0"/>
              <a:t> from ARP4761:</a:t>
            </a:r>
          </a:p>
          <a:p>
            <a:r>
              <a:rPr lang="en-US" baseline="0" dirty="0" smtClean="0"/>
              <a:t>Failure: A loss of function or a malfunction of a system or a part thereof. </a:t>
            </a:r>
          </a:p>
          <a:p>
            <a:r>
              <a:rPr lang="en-US" baseline="0" dirty="0" smtClean="0"/>
              <a:t>Fault: An undesired anomaly in an item or system.</a:t>
            </a:r>
          </a:p>
          <a:p>
            <a:r>
              <a:rPr lang="en-US" baseline="0" dirty="0" smtClean="0"/>
              <a:t>Error: (1) An occurrence arising as a result of an incorrect action or decision by personnel operating or maintaining a system. (2) A mistake in specification, design, or implementation.</a:t>
            </a:r>
            <a:endParaRPr lang="en-US" dirty="0"/>
          </a:p>
        </p:txBody>
      </p:sp>
      <p:sp>
        <p:nvSpPr>
          <p:cNvPr id="4" name="Slide Number Placeholder 3"/>
          <p:cNvSpPr>
            <a:spLocks noGrp="1"/>
          </p:cNvSpPr>
          <p:nvPr>
            <p:ph type="sldNum" sz="quarter" idx="10"/>
          </p:nvPr>
        </p:nvSpPr>
        <p:spPr/>
        <p:txBody>
          <a:bodyPr/>
          <a:lstStyle/>
          <a:p>
            <a:pPr>
              <a:defRPr/>
            </a:pPr>
            <a:fld id="{62D8EB32-0A30-4BE1-8F61-0C745B92912B}" type="slidenum">
              <a:rPr lang="en-US" smtClean="0"/>
              <a:pPr>
                <a:defRPr/>
              </a:pPr>
              <a:t>72</a:t>
            </a:fld>
            <a:endParaRPr lang="en-US" dirty="0"/>
          </a:p>
        </p:txBody>
      </p:sp>
    </p:spTree>
    <p:extLst>
      <p:ext uri="{BB962C8B-B14F-4D97-AF65-F5344CB8AC3E}">
        <p14:creationId xmlns:p14="http://schemas.microsoft.com/office/powerpoint/2010/main" val="6660025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Definitions</a:t>
            </a:r>
            <a:r>
              <a:rPr lang="en-US" baseline="0" dirty="0" smtClean="0"/>
              <a:t> from ARP4761:</a:t>
            </a:r>
          </a:p>
          <a:p>
            <a:r>
              <a:rPr lang="en-US" baseline="0" dirty="0" smtClean="0"/>
              <a:t>Failure: A loss of function or a malfunction of a system or a part thereof. </a:t>
            </a:r>
          </a:p>
          <a:p>
            <a:r>
              <a:rPr lang="en-US" baseline="0" dirty="0" smtClean="0"/>
              <a:t>Fault: An undesired anomaly in an item or system.</a:t>
            </a:r>
          </a:p>
          <a:p>
            <a:r>
              <a:rPr lang="en-US" baseline="0" dirty="0" smtClean="0"/>
              <a:t>Error: (1) An occurrence arising as a result of an incorrect action or decision by personnel operating or maintaining a system. (2) A mistake in specification, design, or implementation.</a:t>
            </a:r>
            <a:endParaRPr lang="en-US" dirty="0"/>
          </a:p>
        </p:txBody>
      </p:sp>
      <p:sp>
        <p:nvSpPr>
          <p:cNvPr id="4" name="Slide Number Placeholder 3"/>
          <p:cNvSpPr>
            <a:spLocks noGrp="1"/>
          </p:cNvSpPr>
          <p:nvPr>
            <p:ph type="sldNum" sz="quarter" idx="10"/>
          </p:nvPr>
        </p:nvSpPr>
        <p:spPr/>
        <p:txBody>
          <a:bodyPr/>
          <a:lstStyle/>
          <a:p>
            <a:pPr>
              <a:defRPr/>
            </a:pPr>
            <a:fld id="{62D8EB32-0A30-4BE1-8F61-0C745B92912B}" type="slidenum">
              <a:rPr lang="en-US" smtClean="0"/>
              <a:pPr>
                <a:defRPr/>
              </a:pPr>
              <a:t>73</a:t>
            </a:fld>
            <a:endParaRPr lang="en-US" dirty="0"/>
          </a:p>
        </p:txBody>
      </p:sp>
    </p:spTree>
    <p:extLst>
      <p:ext uri="{BB962C8B-B14F-4D97-AF65-F5344CB8AC3E}">
        <p14:creationId xmlns:p14="http://schemas.microsoft.com/office/powerpoint/2010/main" val="6660025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endParaRPr lang="de-DE" dirty="0"/>
          </a:p>
        </p:txBody>
      </p:sp>
      <p:sp>
        <p:nvSpPr>
          <p:cNvPr id="4" name="Slide Number Placeholder 3"/>
          <p:cNvSpPr>
            <a:spLocks noGrp="1"/>
          </p:cNvSpPr>
          <p:nvPr>
            <p:ph type="sldNum" sz="quarter" idx="10"/>
          </p:nvPr>
        </p:nvSpPr>
        <p:spPr/>
        <p:txBody>
          <a:bodyPr/>
          <a:lstStyle/>
          <a:p>
            <a:pPr>
              <a:defRPr/>
            </a:pPr>
            <a:fld id="{62D8EB32-0A30-4BE1-8F61-0C745B92912B}" type="slidenum">
              <a:rPr lang="en-US" smtClean="0"/>
              <a:pPr>
                <a:defRPr/>
              </a:pPr>
              <a:t>74</a:t>
            </a:fld>
            <a:endParaRPr lang="en-US" dirty="0"/>
          </a:p>
        </p:txBody>
      </p:sp>
    </p:spTree>
    <p:extLst>
      <p:ext uri="{BB962C8B-B14F-4D97-AF65-F5344CB8AC3E}">
        <p14:creationId xmlns:p14="http://schemas.microsoft.com/office/powerpoint/2010/main" val="6660025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75</a:t>
            </a:fld>
            <a:endParaRPr lang="en-US" dirty="0"/>
          </a:p>
        </p:txBody>
      </p:sp>
    </p:spTree>
    <p:extLst>
      <p:ext uri="{BB962C8B-B14F-4D97-AF65-F5344CB8AC3E}">
        <p14:creationId xmlns:p14="http://schemas.microsoft.com/office/powerpoint/2010/main" val="28978823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76</a:t>
            </a:fld>
            <a:endParaRPr lang="en-US" dirty="0"/>
          </a:p>
        </p:txBody>
      </p:sp>
    </p:spTree>
    <p:extLst>
      <p:ext uri="{BB962C8B-B14F-4D97-AF65-F5344CB8AC3E}">
        <p14:creationId xmlns:p14="http://schemas.microsoft.com/office/powerpoint/2010/main" val="28978823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Arial" charset="0"/>
                <a:ea typeface="+mn-ea"/>
                <a:cs typeface="Arial" charset="0"/>
              </a:rPr>
              <a:t>This figure presents our proposed use of this shared system design and safety analysis</a:t>
            </a:r>
          </a:p>
          <a:p>
            <a:r>
              <a:rPr lang="en-US" sz="1200" b="0" i="0" u="none" strike="noStrike" kern="1200" baseline="0" dirty="0" smtClean="0">
                <a:solidFill>
                  <a:schemeClr val="tx1"/>
                </a:solidFill>
                <a:latin typeface="Arial" charset="0"/>
                <a:ea typeface="+mn-ea"/>
                <a:cs typeface="Arial" charset="0"/>
              </a:rPr>
              <a:t>model in the context of the ARP4754A Safety Assessment Process Model (derived from</a:t>
            </a:r>
          </a:p>
          <a:p>
            <a:r>
              <a:rPr lang="en-US" sz="1200" b="0" i="0" u="none" strike="noStrike" kern="1200" baseline="0" dirty="0" smtClean="0">
                <a:solidFill>
                  <a:schemeClr val="tx1"/>
                </a:solidFill>
                <a:latin typeface="Arial" charset="0"/>
                <a:ea typeface="+mn-ea"/>
                <a:cs typeface="Arial" charset="0"/>
              </a:rPr>
              <a:t>Figure 7 of ARP4754A). The shared model is one of the system development artifacts</a:t>
            </a:r>
          </a:p>
          <a:p>
            <a:r>
              <a:rPr lang="en-US" sz="1200" b="0" i="0" u="none" strike="noStrike" kern="1200" baseline="0" dirty="0" smtClean="0">
                <a:solidFill>
                  <a:schemeClr val="tx1"/>
                </a:solidFill>
                <a:latin typeface="Arial" charset="0"/>
                <a:ea typeface="+mn-ea"/>
                <a:cs typeface="Arial" charset="0"/>
              </a:rPr>
              <a:t>from the “Development of System Architecture” and “Allocation of System Requirements</a:t>
            </a:r>
          </a:p>
          <a:p>
            <a:r>
              <a:rPr lang="en-US" sz="1200" b="0" i="0" u="none" strike="noStrike" kern="1200" baseline="0" dirty="0" smtClean="0">
                <a:solidFill>
                  <a:schemeClr val="tx1"/>
                </a:solidFill>
                <a:latin typeface="Arial" charset="0"/>
                <a:ea typeface="+mn-ea"/>
                <a:cs typeface="Arial" charset="0"/>
              </a:rPr>
              <a:t>to Item” activities in the System Development Process, which interacts with the</a:t>
            </a:r>
          </a:p>
          <a:p>
            <a:r>
              <a:rPr lang="en-US" sz="1200" b="0" i="0" u="none" strike="noStrike" kern="1200" baseline="0" dirty="0" smtClean="0">
                <a:solidFill>
                  <a:schemeClr val="tx1"/>
                </a:solidFill>
                <a:latin typeface="Arial" charset="0"/>
                <a:ea typeface="+mn-ea"/>
                <a:cs typeface="Arial" charset="0"/>
              </a:rPr>
              <a:t>PSSAs and SSAs activities in the Safety Assessment Process. The shared model can</a:t>
            </a:r>
          </a:p>
          <a:p>
            <a:r>
              <a:rPr lang="en-US" sz="1200" b="0" i="0" u="none" strike="noStrike" kern="1200" baseline="0" dirty="0" smtClean="0">
                <a:solidFill>
                  <a:schemeClr val="tx1"/>
                </a:solidFill>
                <a:latin typeface="Arial" charset="0"/>
                <a:ea typeface="+mn-ea"/>
                <a:cs typeface="Arial" charset="0"/>
              </a:rPr>
              <a:t>serve as an interface to capture the information from the system design and implementation</a:t>
            </a:r>
          </a:p>
          <a:p>
            <a:r>
              <a:rPr lang="en-US" sz="1200" b="0" i="0" u="none" strike="noStrike" kern="1200" baseline="0" dirty="0" smtClean="0">
                <a:solidFill>
                  <a:schemeClr val="tx1"/>
                </a:solidFill>
                <a:latin typeface="Arial" charset="0"/>
                <a:ea typeface="+mn-ea"/>
                <a:cs typeface="Arial" charset="0"/>
              </a:rPr>
              <a:t>that is relevant for the safety analysis.</a:t>
            </a:r>
            <a:endParaRPr lang="en-US" dirty="0"/>
          </a:p>
        </p:txBody>
      </p:sp>
      <p:sp>
        <p:nvSpPr>
          <p:cNvPr id="4" name="Slide Number Placeholder 3"/>
          <p:cNvSpPr>
            <a:spLocks noGrp="1"/>
          </p:cNvSpPr>
          <p:nvPr>
            <p:ph type="sldNum" sz="quarter" idx="10"/>
          </p:nvPr>
        </p:nvSpPr>
        <p:spPr/>
        <p:txBody>
          <a:bodyPr/>
          <a:lstStyle/>
          <a:p>
            <a:pPr>
              <a:defRPr/>
            </a:pPr>
            <a:fld id="{62D8EB32-0A30-4BE1-8F61-0C745B92912B}" type="slidenum">
              <a:rPr lang="en-US" smtClean="0"/>
              <a:pPr>
                <a:defRPr/>
              </a:pPr>
              <a:t>77</a:t>
            </a:fld>
            <a:endParaRPr lang="en-US"/>
          </a:p>
        </p:txBody>
      </p:sp>
    </p:spTree>
    <p:extLst>
      <p:ext uri="{BB962C8B-B14F-4D97-AF65-F5344CB8AC3E}">
        <p14:creationId xmlns:p14="http://schemas.microsoft.com/office/powerpoint/2010/main" val="21609522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3.1 The aircraft/system functional hazard assessment is performed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Perform the functional hazard assessment by identifying the failure condition, effects of failure condition, classification of each failure condition, and outlining considerations and assumptions for each failure condition. Re-evaluation should occur after implementation of systems and after integration of systems.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3.2 The preliminary aircraft safety assessment is performed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Perform the preliminary aircraft safety assessment by conducting a systematic examination of proposed architecture to determine how failures could cause Failure Conditions identified by the FHA, and create safety requirements and validate that the proposed architecture can reasonably meet safety requirements.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3.3 The preliminary system safety assessment is performed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Perform the preliminary system safety assessment by conducting a systematic examination of proposed architecture to determine how failures could cause Failure Conditions identified by the FHA, and create safety requirements and validate that the proposed architecture can reasonably meet safety requirements.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3.4 The common cause analyses are performed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Perform the particular risk assessment, common mode analysis, and zonal safety analysis per ARP4761, Appendix I, J, K.</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3.5 The aircraft safety assessment is performed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Use verification methods to verify implemented design meets safety requirements.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3.6 The system safety assessment is performed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Use verification methods to verify implemented design meets safety requirements.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3.7 Independence requirements in functions, systems and items are captured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Capture independence requirements</a:t>
            </a:r>
            <a:endParaRPr lang="en-US" b="0" dirty="0" smtClean="0">
              <a:effectLst/>
            </a:endParaRPr>
          </a:p>
          <a:p>
            <a:endParaRPr lang="en-US" dirty="0"/>
          </a:p>
        </p:txBody>
      </p:sp>
      <p:sp>
        <p:nvSpPr>
          <p:cNvPr id="4" name="Slide Number Placeholder 3"/>
          <p:cNvSpPr>
            <a:spLocks noGrp="1"/>
          </p:cNvSpPr>
          <p:nvPr>
            <p:ph type="sldNum" sz="quarter" idx="10"/>
          </p:nvPr>
        </p:nvSpPr>
        <p:spPr/>
        <p:txBody>
          <a:bodyPr/>
          <a:lstStyle/>
          <a:p>
            <a:pPr>
              <a:defRPr/>
            </a:pPr>
            <a:fld id="{62D8EB32-0A30-4BE1-8F61-0C745B92912B}" type="slidenum">
              <a:rPr lang="en-US" smtClean="0"/>
              <a:pPr>
                <a:defRPr/>
              </a:pPr>
              <a:t>78</a:t>
            </a:fld>
            <a:endParaRPr lang="en-US"/>
          </a:p>
        </p:txBody>
      </p:sp>
    </p:spTree>
    <p:extLst>
      <p:ext uri="{BB962C8B-B14F-4D97-AF65-F5344CB8AC3E}">
        <p14:creationId xmlns:p14="http://schemas.microsoft.com/office/powerpoint/2010/main" val="15433356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3.1 The aircraft/system functional hazard assessment is performed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Perform the functional hazard assessment by identifying the failure condition, effects of failure condition, classification of each failure condition, and outlining considerations and assumptions for each failure condition. Re-evaluation should occur after implementation of systems and after integration of systems.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3.2 The preliminary aircraft safety assessment is performed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Perform the preliminary aircraft safety assessment by conducting a systematic examination of proposed architecture to determine how failures could cause Failure Conditions identified by the FHA, and create safety requirements and validate that the proposed architecture can reasonably meet safety requirements.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3.3 The preliminary system safety assessment is performed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Perform the preliminary system safety assessment by conducting a systematic examination of proposed architecture to determine how failures could cause Failure Conditions identified by the FHA, and create safety requirements and validate that the proposed architecture can reasonably meet safety requirements.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3.4 The common cause analyses are performed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Perform the particular risk assessment, common mode analysis, and zonal safety analysis per ARP4761, Appendix I, J, K.</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3.5 The aircraft safety assessment is performed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Use verification methods to verify implemented design meets safety requirements.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3.6 The system safety assessment is performed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Use verification methods to verify implemented design meets safety requirements.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smtClean="0">
                <a:solidFill>
                  <a:schemeClr val="tx1"/>
                </a:solidFill>
                <a:effectLst/>
                <a:latin typeface="Arial" charset="0"/>
                <a:ea typeface="+mn-ea"/>
                <a:cs typeface="Arial" charset="0"/>
              </a:rPr>
              <a:t>3.7 Independence requirements in functions, systems and items are captured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smtClean="0">
                <a:solidFill>
                  <a:schemeClr val="tx1"/>
                </a:solidFill>
                <a:effectLst/>
                <a:latin typeface="Arial" charset="0"/>
                <a:ea typeface="+mn-ea"/>
                <a:cs typeface="Arial" charset="0"/>
              </a:rPr>
              <a:t>Capture independence requirements</a:t>
            </a:r>
            <a:endParaRPr lang="en-US" b="0" smtClean="0">
              <a:effectLst/>
            </a:endParaRPr>
          </a:p>
          <a:p>
            <a:endParaRPr lang="en-US" dirty="0"/>
          </a:p>
        </p:txBody>
      </p:sp>
      <p:sp>
        <p:nvSpPr>
          <p:cNvPr id="4" name="Slide Number Placeholder 3"/>
          <p:cNvSpPr>
            <a:spLocks noGrp="1"/>
          </p:cNvSpPr>
          <p:nvPr>
            <p:ph type="sldNum" sz="quarter" idx="10"/>
          </p:nvPr>
        </p:nvSpPr>
        <p:spPr/>
        <p:txBody>
          <a:bodyPr/>
          <a:lstStyle/>
          <a:p>
            <a:pPr>
              <a:defRPr/>
            </a:pPr>
            <a:fld id="{62D8EB32-0A30-4BE1-8F61-0C745B92912B}" type="slidenum">
              <a:rPr lang="en-US" smtClean="0"/>
              <a:pPr>
                <a:defRPr/>
              </a:pPr>
              <a:t>79</a:t>
            </a:fld>
            <a:endParaRPr lang="en-US"/>
          </a:p>
        </p:txBody>
      </p:sp>
    </p:spTree>
    <p:extLst>
      <p:ext uri="{BB962C8B-B14F-4D97-AF65-F5344CB8AC3E}">
        <p14:creationId xmlns:p14="http://schemas.microsoft.com/office/powerpoint/2010/main" val="15433356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en-US" dirty="0" smtClean="0"/>
              <a:t>The model and generated signal flow diagram tackles the most time consuming steps in the safety assessment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smtClean="0"/>
              <a:t>process which is to understand how the software is intended to work.</a:t>
            </a:r>
            <a:r>
              <a:rPr lang="en-US" baseline="0" dirty="0" smtClean="0"/>
              <a:t> </a:t>
            </a:r>
            <a:r>
              <a:rPr lang="en-US" dirty="0" smtClean="0"/>
              <a:t>Other steps are not as time consuming, e.g., two</a:t>
            </a:r>
            <a:r>
              <a:rPr lang="en-US" baseline="0" dirty="0" smtClean="0"/>
              <a:t> days to understand how the software in a Stall Warning System was intended to work, and a few hours to get the fault tree.</a:t>
            </a:r>
          </a:p>
          <a:p>
            <a:pPr marL="0" lvl="0" indent="0">
              <a:buNone/>
            </a:pPr>
            <a:r>
              <a:rPr lang="en-US" baseline="0" dirty="0" smtClean="0"/>
              <a:t>2. </a:t>
            </a:r>
            <a:r>
              <a:rPr lang="en-US" sz="1200" b="0" i="0" kern="1200" dirty="0" smtClean="0">
                <a:solidFill>
                  <a:schemeClr val="tx1"/>
                </a:solidFill>
                <a:effectLst/>
                <a:latin typeface="Arial" charset="0"/>
                <a:ea typeface="+mn-ea"/>
                <a:cs typeface="Arial" charset="0"/>
              </a:rPr>
              <a:t>There are not only one way to do fault tree. There are nuances to tell what's valid and what's not valid. We can have our approach to help standardize how fault tree looks to help with safety reviews. This way, safety engineers can tell what's valid and what's not valid based on the generated signal flow. This helps with the interaction cycle with safety review process as well.</a:t>
            </a:r>
            <a:endParaRPr lang="en-US" dirty="0" smtClean="0"/>
          </a:p>
          <a:p>
            <a:pPr marL="0" marR="0" lvl="2" indent="0" algn="l" defTabSz="914400" rtl="0" eaLnBrk="0" fontAlgn="base" latinLnBrk="0" hangingPunct="0">
              <a:lnSpc>
                <a:spcPct val="100000"/>
              </a:lnSpc>
              <a:spcBef>
                <a:spcPct val="30000"/>
              </a:spcBef>
              <a:spcAft>
                <a:spcPct val="0"/>
              </a:spcAft>
              <a:buClrTx/>
              <a:buSzTx/>
              <a:buFontTx/>
              <a:buNone/>
              <a:tabLst/>
              <a:defRPr/>
            </a:pPr>
            <a:r>
              <a:rPr lang="en-US" sz="1200" b="0" i="0" kern="1200" dirty="0" smtClean="0">
                <a:solidFill>
                  <a:schemeClr val="tx1"/>
                </a:solidFill>
                <a:effectLst/>
                <a:latin typeface="Arial" charset="0"/>
                <a:ea typeface="+mn-ea"/>
                <a:cs typeface="Arial" charset="0"/>
              </a:rPr>
              <a:t>3. It forces the intermix/communication early on between safety and system engineers that can help reduce problems later on.</a:t>
            </a:r>
          </a:p>
        </p:txBody>
      </p:sp>
      <p:sp>
        <p:nvSpPr>
          <p:cNvPr id="4" name="Slide Number Placeholder 3"/>
          <p:cNvSpPr>
            <a:spLocks noGrp="1"/>
          </p:cNvSpPr>
          <p:nvPr>
            <p:ph type="sldNum" sz="quarter" idx="10"/>
          </p:nvPr>
        </p:nvSpPr>
        <p:spPr/>
        <p:txBody>
          <a:bodyPr/>
          <a:lstStyle/>
          <a:p>
            <a:pPr>
              <a:defRPr/>
            </a:pPr>
            <a:fld id="{62D8EB32-0A30-4BE1-8F61-0C745B92912B}" type="slidenum">
              <a:rPr lang="en-US" smtClean="0"/>
              <a:pPr>
                <a:defRPr/>
              </a:pPr>
              <a:t>80</a:t>
            </a:fld>
            <a:endParaRPr lang="en-US"/>
          </a:p>
        </p:txBody>
      </p:sp>
    </p:spTree>
    <p:extLst>
      <p:ext uri="{BB962C8B-B14F-4D97-AF65-F5344CB8AC3E}">
        <p14:creationId xmlns:p14="http://schemas.microsoft.com/office/powerpoint/2010/main" val="15433356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81</a:t>
            </a:fld>
            <a:endParaRPr lang="en-US" dirty="0"/>
          </a:p>
        </p:txBody>
      </p:sp>
    </p:spTree>
    <p:extLst>
      <p:ext uri="{BB962C8B-B14F-4D97-AF65-F5344CB8AC3E}">
        <p14:creationId xmlns:p14="http://schemas.microsoft.com/office/powerpoint/2010/main" val="28978823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pPr>
              <a:defRPr/>
            </a:pPr>
            <a:fld id="{62D8EB32-0A30-4BE1-8F61-0C745B92912B}" type="slidenum">
              <a:rPr lang="en-US" smtClean="0"/>
              <a:pPr>
                <a:defRPr/>
              </a:pPr>
              <a:t>86</a:t>
            </a:fld>
            <a:endParaRPr lang="en-US"/>
          </a:p>
        </p:txBody>
      </p:sp>
    </p:spTree>
    <p:extLst>
      <p:ext uri="{BB962C8B-B14F-4D97-AF65-F5344CB8AC3E}">
        <p14:creationId xmlns:p14="http://schemas.microsoft.com/office/powerpoint/2010/main" val="30704404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2D8EB32-0A30-4BE1-8F61-0C745B92912B}" type="slidenum">
              <a:rPr lang="en-US" smtClean="0"/>
              <a:pPr>
                <a:defRPr/>
              </a:pPr>
              <a:t>87</a:t>
            </a:fld>
            <a:endParaRPr lang="en-US"/>
          </a:p>
        </p:txBody>
      </p:sp>
    </p:spTree>
    <p:extLst>
      <p:ext uri="{BB962C8B-B14F-4D97-AF65-F5344CB8AC3E}">
        <p14:creationId xmlns:p14="http://schemas.microsoft.com/office/powerpoint/2010/main" val="25603388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2D8EB32-0A30-4BE1-8F61-0C745B92912B}" type="slidenum">
              <a:rPr lang="en-US" smtClean="0"/>
              <a:pPr>
                <a:defRPr/>
              </a:pPr>
              <a:t>88</a:t>
            </a:fld>
            <a:endParaRPr lang="en-US"/>
          </a:p>
        </p:txBody>
      </p:sp>
    </p:spTree>
    <p:extLst>
      <p:ext uri="{BB962C8B-B14F-4D97-AF65-F5344CB8AC3E}">
        <p14:creationId xmlns:p14="http://schemas.microsoft.com/office/powerpoint/2010/main" val="25603388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2D8EB32-0A30-4BE1-8F61-0C745B92912B}" type="slidenum">
              <a:rPr lang="en-US" smtClean="0"/>
              <a:pPr>
                <a:defRPr/>
              </a:pPr>
              <a:t>89</a:t>
            </a:fld>
            <a:endParaRPr lang="en-US"/>
          </a:p>
        </p:txBody>
      </p:sp>
    </p:spTree>
    <p:extLst>
      <p:ext uri="{BB962C8B-B14F-4D97-AF65-F5344CB8AC3E}">
        <p14:creationId xmlns:p14="http://schemas.microsoft.com/office/powerpoint/2010/main" val="25603388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4"/>
          <p:cNvSpPr>
            <a:spLocks/>
          </p:cNvSpPr>
          <p:nvPr/>
        </p:nvSpPr>
        <p:spPr bwMode="auto">
          <a:xfrm>
            <a:off x="-31750" y="0"/>
            <a:ext cx="3781425" cy="6861175"/>
          </a:xfrm>
          <a:custGeom>
            <a:avLst/>
            <a:gdLst/>
            <a:ahLst/>
            <a:cxnLst>
              <a:cxn ang="0">
                <a:pos x="0" y="4320"/>
              </a:cxn>
              <a:cxn ang="0">
                <a:pos x="0" y="0"/>
              </a:cxn>
              <a:cxn ang="0">
                <a:pos x="2382" y="0"/>
              </a:cxn>
              <a:cxn ang="0">
                <a:pos x="446" y="4322"/>
              </a:cxn>
              <a:cxn ang="0">
                <a:pos x="0" y="4320"/>
              </a:cxn>
            </a:cxnLst>
            <a:rect l="0" t="0" r="r" b="b"/>
            <a:pathLst>
              <a:path w="2382" h="4322">
                <a:moveTo>
                  <a:pt x="0" y="4320"/>
                </a:moveTo>
                <a:lnTo>
                  <a:pt x="0" y="0"/>
                </a:lnTo>
                <a:lnTo>
                  <a:pt x="2382" y="0"/>
                </a:lnTo>
                <a:lnTo>
                  <a:pt x="446" y="4322"/>
                </a:lnTo>
                <a:lnTo>
                  <a:pt x="0" y="4320"/>
                </a:lnTo>
                <a:close/>
              </a:path>
            </a:pathLst>
          </a:custGeom>
          <a:solidFill>
            <a:srgbClr val="DDDDDD"/>
          </a:solidFill>
          <a:ln w="9525">
            <a:noFill/>
            <a:round/>
            <a:headEnd/>
            <a:tailEnd/>
          </a:ln>
          <a:effectLst/>
        </p:spPr>
        <p:txBody>
          <a:bodyPr wrap="none" anchor="ctr"/>
          <a:lstStyle/>
          <a:p>
            <a:pPr>
              <a:defRPr/>
            </a:pPr>
            <a:endParaRPr lang="en-US">
              <a:latin typeface="Arial" charset="0"/>
              <a:cs typeface="Arial" charset="0"/>
            </a:endParaRPr>
          </a:p>
        </p:txBody>
      </p:sp>
      <p:grpSp>
        <p:nvGrpSpPr>
          <p:cNvPr id="5" name="Group 30"/>
          <p:cNvGrpSpPr>
            <a:grpSpLocks/>
          </p:cNvGrpSpPr>
          <p:nvPr/>
        </p:nvGrpSpPr>
        <p:grpSpPr bwMode="auto">
          <a:xfrm>
            <a:off x="7172325" y="0"/>
            <a:ext cx="1562100" cy="209550"/>
            <a:chOff x="4518" y="0"/>
            <a:chExt cx="984" cy="132"/>
          </a:xfrm>
        </p:grpSpPr>
        <p:sp>
          <p:nvSpPr>
            <p:cNvPr id="6" name="Freeform 27"/>
            <p:cNvSpPr>
              <a:spLocks/>
            </p:cNvSpPr>
            <p:nvPr/>
          </p:nvSpPr>
          <p:spPr bwMode="auto">
            <a:xfrm>
              <a:off x="4518" y="0"/>
              <a:ext cx="284" cy="132"/>
            </a:xfrm>
            <a:custGeom>
              <a:avLst/>
              <a:gdLst/>
              <a:ahLst/>
              <a:cxnLst>
                <a:cxn ang="0">
                  <a:pos x="0" y="132"/>
                </a:cxn>
                <a:cxn ang="0">
                  <a:pos x="60" y="0"/>
                </a:cxn>
                <a:cxn ang="0">
                  <a:pos x="284" y="0"/>
                </a:cxn>
                <a:cxn ang="0">
                  <a:pos x="228" y="132"/>
                </a:cxn>
                <a:cxn ang="0">
                  <a:pos x="0" y="132"/>
                </a:cxn>
              </a:cxnLst>
              <a:rect l="0" t="0" r="r" b="b"/>
              <a:pathLst>
                <a:path w="284" h="132">
                  <a:moveTo>
                    <a:pt x="0" y="132"/>
                  </a:moveTo>
                  <a:lnTo>
                    <a:pt x="60" y="0"/>
                  </a:lnTo>
                  <a:lnTo>
                    <a:pt x="284" y="0"/>
                  </a:lnTo>
                  <a:lnTo>
                    <a:pt x="228" y="132"/>
                  </a:lnTo>
                  <a:lnTo>
                    <a:pt x="0" y="132"/>
                  </a:lnTo>
                  <a:close/>
                </a:path>
              </a:pathLst>
            </a:custGeom>
            <a:solidFill>
              <a:srgbClr val="DDDDDD"/>
            </a:solidFill>
            <a:ln w="9525">
              <a:noFill/>
              <a:round/>
              <a:headEnd/>
              <a:tailEnd/>
            </a:ln>
            <a:effectLst/>
          </p:spPr>
          <p:txBody>
            <a:bodyPr wrap="none" anchor="ctr"/>
            <a:lstStyle/>
            <a:p>
              <a:pPr>
                <a:defRPr/>
              </a:pPr>
              <a:endParaRPr lang="en-US">
                <a:latin typeface="Arial" charset="0"/>
                <a:cs typeface="Arial" charset="0"/>
              </a:endParaRPr>
            </a:p>
          </p:txBody>
        </p:sp>
        <p:sp>
          <p:nvSpPr>
            <p:cNvPr id="7" name="Freeform 28"/>
            <p:cNvSpPr>
              <a:spLocks/>
            </p:cNvSpPr>
            <p:nvPr/>
          </p:nvSpPr>
          <p:spPr bwMode="auto">
            <a:xfrm>
              <a:off x="4870" y="0"/>
              <a:ext cx="284" cy="132"/>
            </a:xfrm>
            <a:custGeom>
              <a:avLst/>
              <a:gdLst/>
              <a:ahLst/>
              <a:cxnLst>
                <a:cxn ang="0">
                  <a:pos x="0" y="132"/>
                </a:cxn>
                <a:cxn ang="0">
                  <a:pos x="60" y="0"/>
                </a:cxn>
                <a:cxn ang="0">
                  <a:pos x="284" y="0"/>
                </a:cxn>
                <a:cxn ang="0">
                  <a:pos x="228" y="132"/>
                </a:cxn>
                <a:cxn ang="0">
                  <a:pos x="0" y="132"/>
                </a:cxn>
              </a:cxnLst>
              <a:rect l="0" t="0" r="r" b="b"/>
              <a:pathLst>
                <a:path w="284" h="132">
                  <a:moveTo>
                    <a:pt x="0" y="132"/>
                  </a:moveTo>
                  <a:lnTo>
                    <a:pt x="60" y="0"/>
                  </a:lnTo>
                  <a:lnTo>
                    <a:pt x="284" y="0"/>
                  </a:lnTo>
                  <a:lnTo>
                    <a:pt x="228" y="132"/>
                  </a:lnTo>
                  <a:lnTo>
                    <a:pt x="0" y="132"/>
                  </a:lnTo>
                  <a:close/>
                </a:path>
              </a:pathLst>
            </a:custGeom>
            <a:solidFill>
              <a:srgbClr val="DDDDDD"/>
            </a:solidFill>
            <a:ln w="9525">
              <a:noFill/>
              <a:round/>
              <a:headEnd/>
              <a:tailEnd/>
            </a:ln>
            <a:effectLst/>
          </p:spPr>
          <p:txBody>
            <a:bodyPr wrap="none" anchor="ctr"/>
            <a:lstStyle/>
            <a:p>
              <a:pPr>
                <a:defRPr/>
              </a:pPr>
              <a:endParaRPr lang="en-US">
                <a:latin typeface="Arial" charset="0"/>
                <a:cs typeface="Arial" charset="0"/>
              </a:endParaRPr>
            </a:p>
          </p:txBody>
        </p:sp>
        <p:sp>
          <p:nvSpPr>
            <p:cNvPr id="8" name="Freeform 29"/>
            <p:cNvSpPr>
              <a:spLocks/>
            </p:cNvSpPr>
            <p:nvPr/>
          </p:nvSpPr>
          <p:spPr bwMode="auto">
            <a:xfrm>
              <a:off x="5218" y="0"/>
              <a:ext cx="284" cy="132"/>
            </a:xfrm>
            <a:custGeom>
              <a:avLst/>
              <a:gdLst/>
              <a:ahLst/>
              <a:cxnLst>
                <a:cxn ang="0">
                  <a:pos x="0" y="132"/>
                </a:cxn>
                <a:cxn ang="0">
                  <a:pos x="60" y="0"/>
                </a:cxn>
                <a:cxn ang="0">
                  <a:pos x="284" y="0"/>
                </a:cxn>
                <a:cxn ang="0">
                  <a:pos x="228" y="132"/>
                </a:cxn>
                <a:cxn ang="0">
                  <a:pos x="0" y="132"/>
                </a:cxn>
              </a:cxnLst>
              <a:rect l="0" t="0" r="r" b="b"/>
              <a:pathLst>
                <a:path w="284" h="132">
                  <a:moveTo>
                    <a:pt x="0" y="132"/>
                  </a:moveTo>
                  <a:lnTo>
                    <a:pt x="60" y="0"/>
                  </a:lnTo>
                  <a:lnTo>
                    <a:pt x="284" y="0"/>
                  </a:lnTo>
                  <a:lnTo>
                    <a:pt x="228" y="132"/>
                  </a:lnTo>
                  <a:lnTo>
                    <a:pt x="0" y="132"/>
                  </a:lnTo>
                  <a:close/>
                </a:path>
              </a:pathLst>
            </a:custGeom>
            <a:solidFill>
              <a:srgbClr val="DDDDDD"/>
            </a:solidFill>
            <a:ln w="9525">
              <a:noFill/>
              <a:round/>
              <a:headEnd/>
              <a:tailEnd/>
            </a:ln>
            <a:effectLst/>
          </p:spPr>
          <p:txBody>
            <a:bodyPr wrap="none" anchor="ctr"/>
            <a:lstStyle/>
            <a:p>
              <a:pPr>
                <a:defRPr/>
              </a:pPr>
              <a:endParaRPr lang="en-US">
                <a:latin typeface="Arial" charset="0"/>
                <a:cs typeface="Arial" charset="0"/>
              </a:endParaRPr>
            </a:p>
          </p:txBody>
        </p:sp>
      </p:grpSp>
      <p:pic>
        <p:nvPicPr>
          <p:cNvPr id="9" name="Picture 20" descr="RClogo_col_spot"/>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311900" y="5895975"/>
            <a:ext cx="2403475"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4" name="Rectangle 8"/>
          <p:cNvSpPr>
            <a:spLocks noGrp="1" noChangeArrowheads="1"/>
          </p:cNvSpPr>
          <p:nvPr>
            <p:ph type="ctrTitle"/>
          </p:nvPr>
        </p:nvSpPr>
        <p:spPr>
          <a:xfrm>
            <a:off x="609600" y="2130425"/>
            <a:ext cx="7848600" cy="612775"/>
          </a:xfrm>
        </p:spPr>
        <p:txBody>
          <a:bodyPr/>
          <a:lstStyle>
            <a:lvl1pPr>
              <a:defRPr sz="2800" b="0">
                <a:solidFill>
                  <a:schemeClr val="tx1"/>
                </a:solidFill>
              </a:defRPr>
            </a:lvl1pPr>
          </a:lstStyle>
          <a:p>
            <a:r>
              <a:rPr lang="en-US" smtClean="0"/>
              <a:t>Click to edit Master title style</a:t>
            </a:r>
            <a:endParaRPr lang="en-US"/>
          </a:p>
        </p:txBody>
      </p:sp>
      <p:sp>
        <p:nvSpPr>
          <p:cNvPr id="80905" name="Rectangle 9"/>
          <p:cNvSpPr>
            <a:spLocks noGrp="1" noChangeArrowheads="1"/>
          </p:cNvSpPr>
          <p:nvPr>
            <p:ph type="subTitle" idx="1"/>
          </p:nvPr>
        </p:nvSpPr>
        <p:spPr>
          <a:xfrm>
            <a:off x="609600" y="3124200"/>
            <a:ext cx="6477000" cy="1371600"/>
          </a:xfrm>
        </p:spPr>
        <p:txBody>
          <a:bodyPr/>
          <a:lstStyle>
            <a:lvl1pPr marL="0" indent="0">
              <a:buFontTx/>
              <a:buNone/>
              <a:defRPr sz="2200"/>
            </a:lvl1pPr>
          </a:lstStyle>
          <a:p>
            <a:r>
              <a:rPr lang="en-US" smtClean="0"/>
              <a:t>Click to edit Master subtitle style</a:t>
            </a:r>
            <a:endParaRPr lang="en-US"/>
          </a:p>
        </p:txBody>
      </p:sp>
      <p:pic>
        <p:nvPicPr>
          <p:cNvPr id="1031" name="Picture 7" descr="C:\Documents and Settings\ddcofer\My Documents\Projects\hacms\logos\UMN-v2.png"/>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4914900" y="5928898"/>
            <a:ext cx="952500" cy="624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6854325"/>
      </p:ext>
    </p:extLst>
  </p:cSld>
  <p:clrMapOvr>
    <a:masterClrMapping/>
  </p:clrMapOvr>
  <p:transition>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7486D9C8-0CDB-4BF0-99FF-D7490CE4EFA3}" type="slidenum">
              <a:rPr lang="en-US"/>
              <a:pPr>
                <a:defRPr/>
              </a:pPr>
              <a:t>‹Nr.›</a:t>
            </a:fld>
            <a:endParaRPr lang="en-US"/>
          </a:p>
        </p:txBody>
      </p:sp>
    </p:spTree>
    <p:extLst>
      <p:ext uri="{BB962C8B-B14F-4D97-AF65-F5344CB8AC3E}">
        <p14:creationId xmlns:p14="http://schemas.microsoft.com/office/powerpoint/2010/main" val="277217001"/>
      </p:ext>
    </p:extLst>
  </p:cSld>
  <p:clrMapOvr>
    <a:masterClrMapping/>
  </p:clrMapOvr>
  <p:transition>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07BEBAD3-AF3F-4A89-9B03-21F6ECFAE9EB}" type="slidenum">
              <a:rPr lang="en-US"/>
              <a:pPr>
                <a:defRPr/>
              </a:pPr>
              <a:t>‹Nr.›</a:t>
            </a:fld>
            <a:endParaRPr lang="en-US"/>
          </a:p>
        </p:txBody>
      </p:sp>
    </p:spTree>
    <p:extLst>
      <p:ext uri="{BB962C8B-B14F-4D97-AF65-F5344CB8AC3E}">
        <p14:creationId xmlns:p14="http://schemas.microsoft.com/office/powerpoint/2010/main" val="211983093"/>
      </p:ext>
    </p:extLst>
  </p:cSld>
  <p:clrMapOvr>
    <a:masterClrMapping/>
  </p:clrMapOvr>
  <p:transition>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62000" y="1600200"/>
            <a:ext cx="3886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00600" y="1600200"/>
            <a:ext cx="3886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pPr>
              <a:defRPr/>
            </a:pPr>
            <a:fld id="{77F30389-1DEC-4A7E-9278-B25F5FA25EC7}" type="slidenum">
              <a:rPr lang="en-US"/>
              <a:pPr>
                <a:defRPr/>
              </a:pPr>
              <a:t>‹Nr.›</a:t>
            </a:fld>
            <a:endParaRPr lang="en-US"/>
          </a:p>
        </p:txBody>
      </p:sp>
    </p:spTree>
    <p:extLst>
      <p:ext uri="{BB962C8B-B14F-4D97-AF65-F5344CB8AC3E}">
        <p14:creationId xmlns:p14="http://schemas.microsoft.com/office/powerpoint/2010/main" val="3400658915"/>
      </p:ext>
    </p:extLst>
  </p:cSld>
  <p:clrMapOvr>
    <a:masterClrMapping/>
  </p:clrMapOvr>
  <p:transition>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pPr>
              <a:defRPr/>
            </a:pPr>
            <a:fld id="{69FB2711-254E-440B-8ED8-5AE118580B8A}" type="slidenum">
              <a:rPr lang="en-US"/>
              <a:pPr>
                <a:defRPr/>
              </a:pPr>
              <a:t>‹Nr.›</a:t>
            </a:fld>
            <a:endParaRPr lang="en-US"/>
          </a:p>
        </p:txBody>
      </p:sp>
    </p:spTree>
    <p:extLst>
      <p:ext uri="{BB962C8B-B14F-4D97-AF65-F5344CB8AC3E}">
        <p14:creationId xmlns:p14="http://schemas.microsoft.com/office/powerpoint/2010/main" val="2692751647"/>
      </p:ext>
    </p:extLst>
  </p:cSld>
  <p:clrMapOvr>
    <a:masterClrMapping/>
  </p:clrMapOvr>
  <p:transition>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pPr>
              <a:defRPr/>
            </a:pPr>
            <a:fld id="{0913AD8B-6753-4D8D-9DCF-DBA38AAB592C}" type="slidenum">
              <a:rPr lang="en-US"/>
              <a:pPr>
                <a:defRPr/>
              </a:pPr>
              <a:t>‹Nr.›</a:t>
            </a:fld>
            <a:endParaRPr lang="en-US"/>
          </a:p>
        </p:txBody>
      </p:sp>
    </p:spTree>
    <p:extLst>
      <p:ext uri="{BB962C8B-B14F-4D97-AF65-F5344CB8AC3E}">
        <p14:creationId xmlns:p14="http://schemas.microsoft.com/office/powerpoint/2010/main" val="2949654491"/>
      </p:ext>
    </p:extLst>
  </p:cSld>
  <p:clrMapOvr>
    <a:masterClrMapping/>
  </p:clrMapOvr>
  <p:transition>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8A7DEF6D-193A-43B9-A88F-EFE847976AC6}" type="slidenum">
              <a:rPr lang="en-US"/>
              <a:pPr>
                <a:defRPr/>
              </a:pPr>
              <a:t>‹Nr.›</a:t>
            </a:fld>
            <a:endParaRPr lang="en-US"/>
          </a:p>
        </p:txBody>
      </p:sp>
    </p:spTree>
    <p:extLst>
      <p:ext uri="{BB962C8B-B14F-4D97-AF65-F5344CB8AC3E}">
        <p14:creationId xmlns:p14="http://schemas.microsoft.com/office/powerpoint/2010/main" val="2210693936"/>
      </p:ext>
    </p:extLst>
  </p:cSld>
  <p:clrMapOvr>
    <a:masterClrMapping/>
  </p:clrMapOvr>
  <p:transition>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0323AFB3-A7A9-4065-A543-86CB95746188}" type="slidenum">
              <a:rPr lang="en-US"/>
              <a:pPr>
                <a:defRPr/>
              </a:pPr>
              <a:t>‹Nr.›</a:t>
            </a:fld>
            <a:endParaRPr lang="en-US"/>
          </a:p>
        </p:txBody>
      </p:sp>
    </p:spTree>
    <p:extLst>
      <p:ext uri="{BB962C8B-B14F-4D97-AF65-F5344CB8AC3E}">
        <p14:creationId xmlns:p14="http://schemas.microsoft.com/office/powerpoint/2010/main" val="2163219021"/>
      </p:ext>
    </p:extLst>
  </p:cSld>
  <p:clrMapOvr>
    <a:masterClrMapping/>
  </p:clrMapOvr>
  <p:transition>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020F6297-55CF-46FA-BCD9-C51E80AB2E2C}" type="slidenum">
              <a:rPr lang="en-US"/>
              <a:pPr>
                <a:defRPr/>
              </a:pPr>
              <a:t>‹Nr.›</a:t>
            </a:fld>
            <a:endParaRPr lang="en-US"/>
          </a:p>
        </p:txBody>
      </p:sp>
    </p:spTree>
    <p:extLst>
      <p:ext uri="{BB962C8B-B14F-4D97-AF65-F5344CB8AC3E}">
        <p14:creationId xmlns:p14="http://schemas.microsoft.com/office/powerpoint/2010/main" val="1878239697"/>
      </p:ext>
    </p:extLst>
  </p:cSld>
  <p:clrMapOvr>
    <a:masterClrMapping/>
  </p:clrMapOvr>
  <p:transition>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A7133AE0-5302-4CC4-8AE7-7FEAC9BB32C4}" type="slidenum">
              <a:rPr lang="en-US"/>
              <a:pPr>
                <a:defRPr/>
              </a:pPr>
              <a:t>‹Nr.›</a:t>
            </a:fld>
            <a:endParaRPr lang="en-US"/>
          </a:p>
        </p:txBody>
      </p:sp>
    </p:spTree>
    <p:extLst>
      <p:ext uri="{BB962C8B-B14F-4D97-AF65-F5344CB8AC3E}">
        <p14:creationId xmlns:p14="http://schemas.microsoft.com/office/powerpoint/2010/main" val="3718381786"/>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868363"/>
            <a:ext cx="1981200" cy="52578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62000" y="868363"/>
            <a:ext cx="5791200" cy="5257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3B38E08D-5B21-43BE-BFE9-88252EB91AF8}" type="slidenum">
              <a:rPr lang="en-US"/>
              <a:pPr>
                <a:defRPr/>
              </a:pPr>
              <a:t>‹Nr.›</a:t>
            </a:fld>
            <a:endParaRPr lang="en-US"/>
          </a:p>
        </p:txBody>
      </p:sp>
    </p:spTree>
    <p:extLst>
      <p:ext uri="{BB962C8B-B14F-4D97-AF65-F5344CB8AC3E}">
        <p14:creationId xmlns:p14="http://schemas.microsoft.com/office/powerpoint/2010/main" val="3289391497"/>
      </p:ext>
    </p:extLst>
  </p:cSld>
  <p:clrMapOvr>
    <a:masterClrMapping/>
  </p:clrMapOvr>
  <p:transition>
    <p:wipe dir="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762000" y="868363"/>
            <a:ext cx="7772400" cy="503237"/>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762000" y="1600200"/>
            <a:ext cx="7924800" cy="4525963"/>
          </a:xfrm>
        </p:spPr>
        <p:txBody>
          <a:bodyPr/>
          <a:lstStyle/>
          <a:p>
            <a:pPr lvl="0"/>
            <a:r>
              <a:rPr lang="en-US" noProof="0" smtClean="0"/>
              <a:t>Click icon to add chart</a:t>
            </a:r>
          </a:p>
        </p:txBody>
      </p:sp>
      <p:sp>
        <p:nvSpPr>
          <p:cNvPr id="4" name="Rectangle 6"/>
          <p:cNvSpPr>
            <a:spLocks noGrp="1" noChangeArrowheads="1"/>
          </p:cNvSpPr>
          <p:nvPr>
            <p:ph type="sldNum" sz="quarter" idx="10"/>
          </p:nvPr>
        </p:nvSpPr>
        <p:spPr>
          <a:ln/>
        </p:spPr>
        <p:txBody>
          <a:bodyPr/>
          <a:lstStyle>
            <a:lvl1pPr>
              <a:defRPr/>
            </a:lvl1pPr>
          </a:lstStyle>
          <a:p>
            <a:pPr>
              <a:defRPr/>
            </a:pPr>
            <a:fld id="{5E3BFFDF-0626-469B-AB2D-9C367C48781D}" type="slidenum">
              <a:rPr lang="en-US"/>
              <a:pPr>
                <a:defRPr/>
              </a:pPr>
              <a:t>‹Nr.›</a:t>
            </a:fld>
            <a:endParaRPr lang="en-US"/>
          </a:p>
        </p:txBody>
      </p:sp>
    </p:spTree>
    <p:extLst>
      <p:ext uri="{BB962C8B-B14F-4D97-AF65-F5344CB8AC3E}">
        <p14:creationId xmlns:p14="http://schemas.microsoft.com/office/powerpoint/2010/main" val="1541958768"/>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762000" y="868363"/>
            <a:ext cx="7772400" cy="503237"/>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762000" y="1600200"/>
            <a:ext cx="7924800" cy="4525963"/>
          </a:xfrm>
        </p:spPr>
        <p:txBody>
          <a:bodyPr/>
          <a:lstStyle/>
          <a:p>
            <a:pPr lvl="0"/>
            <a:r>
              <a:rPr lang="en-US" noProof="0" smtClean="0"/>
              <a:t>Click icon to add table</a:t>
            </a:r>
          </a:p>
        </p:txBody>
      </p:sp>
      <p:sp>
        <p:nvSpPr>
          <p:cNvPr id="4" name="Rectangle 6"/>
          <p:cNvSpPr>
            <a:spLocks noGrp="1" noChangeArrowheads="1"/>
          </p:cNvSpPr>
          <p:nvPr>
            <p:ph type="sldNum" sz="quarter" idx="10"/>
          </p:nvPr>
        </p:nvSpPr>
        <p:spPr>
          <a:ln/>
        </p:spPr>
        <p:txBody>
          <a:bodyPr/>
          <a:lstStyle>
            <a:lvl1pPr>
              <a:defRPr/>
            </a:lvl1pPr>
          </a:lstStyle>
          <a:p>
            <a:pPr>
              <a:defRPr/>
            </a:pPr>
            <a:fld id="{363C41CE-CB0A-4C53-9688-B3615EF8FCD8}" type="slidenum">
              <a:rPr lang="en-US"/>
              <a:pPr>
                <a:defRPr/>
              </a:pPr>
              <a:t>‹Nr.›</a:t>
            </a:fld>
            <a:endParaRPr lang="en-US"/>
          </a:p>
        </p:txBody>
      </p:sp>
    </p:spTree>
    <p:extLst>
      <p:ext uri="{BB962C8B-B14F-4D97-AF65-F5344CB8AC3E}">
        <p14:creationId xmlns:p14="http://schemas.microsoft.com/office/powerpoint/2010/main" val="2542998175"/>
      </p:ext>
    </p:extLst>
  </p:cSld>
  <p:clrMapOvr>
    <a:masterClrMapping/>
  </p:clrMapOvr>
  <p:transition>
    <p:wipe dir="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36130" y="457201"/>
            <a:ext cx="8485556" cy="295466"/>
          </a:xfrm>
        </p:spPr>
        <p:txBody>
          <a:bodyPr/>
          <a:lstStyle/>
          <a:p>
            <a:r>
              <a:rPr lang="en-US" smtClean="0"/>
              <a:t>Click to edit Master title style</a:t>
            </a:r>
            <a:endParaRPr lang="en-US" dirty="0"/>
          </a:p>
        </p:txBody>
      </p:sp>
      <p:sp>
        <p:nvSpPr>
          <p:cNvPr id="7" name="Text Placeholder 6"/>
          <p:cNvSpPr>
            <a:spLocks noGrp="1"/>
          </p:cNvSpPr>
          <p:nvPr>
            <p:ph type="body" sz="quarter" idx="12"/>
          </p:nvPr>
        </p:nvSpPr>
        <p:spPr>
          <a:xfrm>
            <a:off x="336130" y="777241"/>
            <a:ext cx="8485556" cy="253916"/>
          </a:xfrm>
        </p:spPr>
        <p:txBody>
          <a:bodyPr tIns="45720"/>
          <a:lstStyle>
            <a:lvl1pPr>
              <a:buNone/>
              <a:defRPr b="0">
                <a:solidFill>
                  <a:sysClr val="windowText" lastClr="000000"/>
                </a:solidFill>
              </a:defRPr>
            </a:lvl1pPr>
          </a:lstStyle>
          <a:p>
            <a:pPr lvl="0"/>
            <a:r>
              <a:rPr lang="en-US" smtClean="0"/>
              <a:t>Click to edit Master text styles</a:t>
            </a:r>
          </a:p>
        </p:txBody>
      </p:sp>
      <p:sp>
        <p:nvSpPr>
          <p:cNvPr id="5" name="Slide Number Placeholder 4"/>
          <p:cNvSpPr>
            <a:spLocks noGrp="1"/>
          </p:cNvSpPr>
          <p:nvPr>
            <p:ph type="sldNum" sz="quarter" idx="14"/>
          </p:nvPr>
        </p:nvSpPr>
        <p:spPr/>
        <p:txBody>
          <a:bodyPr/>
          <a:lstStyle/>
          <a:p>
            <a:fld id="{B6F15528-21DE-4FAA-801E-634DDDAF4B2B}" type="slidenum">
              <a:rPr lang="en-US" smtClean="0"/>
              <a:pPr/>
              <a:t>‹Nr.›</a:t>
            </a:fld>
            <a:endParaRPr lang="en-US"/>
          </a:p>
        </p:txBody>
      </p:sp>
      <p:sp>
        <p:nvSpPr>
          <p:cNvPr id="8" name="Content Placeholder 5"/>
          <p:cNvSpPr>
            <a:spLocks noGrp="1"/>
          </p:cNvSpPr>
          <p:nvPr>
            <p:ph sz="quarter" idx="16"/>
          </p:nvPr>
        </p:nvSpPr>
        <p:spPr>
          <a:xfrm>
            <a:off x="304117" y="1283209"/>
            <a:ext cx="8485556" cy="1001813"/>
          </a:xfrm>
        </p:spPr>
        <p:txBody>
          <a:bodyPr/>
          <a:lstStyle>
            <a:lvl3pPr>
              <a:defRPr sz="1050"/>
            </a:lvl3pPr>
            <a:lvl4pPr>
              <a:defRPr sz="1050"/>
            </a:lvl4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607181892"/>
      </p:ext>
    </p:extLst>
  </p:cSld>
  <p:clrMapOvr>
    <a:masterClrMapping/>
  </p:clrMapOvr>
  <p:transition>
    <p:wipe dir="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p:cNvSpPr/>
          <p:nvPr userDrawn="1"/>
        </p:nvSpPr>
        <p:spPr bwMode="auto">
          <a:xfrm>
            <a:off x="-76200" y="0"/>
            <a:ext cx="9220200" cy="6858000"/>
          </a:xfrm>
          <a:prstGeom prst="rect">
            <a:avLst/>
          </a:prstGeom>
          <a:solidFill>
            <a:srgbClr val="FFFFFF"/>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sz="2400">
              <a:solidFill>
                <a:srgbClr val="000000"/>
              </a:solidFill>
              <a:latin typeface="Arial" charset="0"/>
              <a:cs typeface="Arial" charset="0"/>
            </a:endParaRPr>
          </a:p>
        </p:txBody>
      </p:sp>
      <p:sp>
        <p:nvSpPr>
          <p:cNvPr id="7" name="Freeform 23"/>
          <p:cNvSpPr>
            <a:spLocks/>
          </p:cNvSpPr>
          <p:nvPr/>
        </p:nvSpPr>
        <p:spPr bwMode="auto">
          <a:xfrm>
            <a:off x="-98622" y="-30269"/>
            <a:ext cx="3793892" cy="6902620"/>
          </a:xfrm>
          <a:custGeom>
            <a:avLst/>
            <a:gdLst>
              <a:gd name="T0" fmla="*/ 12700 w 2381"/>
              <a:gd name="T1" fmla="*/ 0 h 4332"/>
              <a:gd name="T2" fmla="*/ 0 w 2381"/>
              <a:gd name="T3" fmla="*/ 6877050 h 4332"/>
              <a:gd name="T4" fmla="*/ 711200 w 2381"/>
              <a:gd name="T5" fmla="*/ 6870700 h 4332"/>
              <a:gd name="T6" fmla="*/ 3779838 w 2381"/>
              <a:gd name="T7" fmla="*/ 12700 h 4332"/>
              <a:gd name="T8" fmla="*/ 12700 w 2381"/>
              <a:gd name="T9" fmla="*/ 0 h 4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81" h="4332">
                <a:moveTo>
                  <a:pt x="8" y="0"/>
                </a:moveTo>
                <a:lnTo>
                  <a:pt x="0" y="4332"/>
                </a:lnTo>
                <a:lnTo>
                  <a:pt x="448" y="4328"/>
                </a:lnTo>
                <a:lnTo>
                  <a:pt x="2381" y="8"/>
                </a:lnTo>
                <a:lnTo>
                  <a:pt x="8" y="0"/>
                </a:lnTo>
                <a:close/>
              </a:path>
            </a:pathLst>
          </a:custGeom>
          <a:solidFill>
            <a:srgbClr val="E4551F"/>
          </a:solidFill>
          <a:ln>
            <a:noFill/>
          </a:ln>
          <a:effectLst/>
        </p:spPr>
        <p:txBody>
          <a:bodyPr/>
          <a:lstStyle/>
          <a:p>
            <a:endParaRPr lang="en-US" sz="2400">
              <a:solidFill>
                <a:srgbClr val="E4551F"/>
              </a:solidFill>
              <a:cs typeface="Arial"/>
            </a:endParaRPr>
          </a:p>
        </p:txBody>
      </p:sp>
      <p:grpSp>
        <p:nvGrpSpPr>
          <p:cNvPr id="10" name="Group 9"/>
          <p:cNvGrpSpPr>
            <a:grpSpLocks/>
          </p:cNvGrpSpPr>
          <p:nvPr userDrawn="1"/>
        </p:nvGrpSpPr>
        <p:grpSpPr bwMode="auto">
          <a:xfrm>
            <a:off x="7204714" y="-4122"/>
            <a:ext cx="1562100" cy="209550"/>
            <a:chOff x="4518" y="0"/>
            <a:chExt cx="984" cy="132"/>
          </a:xfrm>
          <a:solidFill>
            <a:srgbClr val="E4551F"/>
          </a:solidFill>
        </p:grpSpPr>
        <p:sp>
          <p:nvSpPr>
            <p:cNvPr id="11" name="Freeform 10"/>
            <p:cNvSpPr>
              <a:spLocks/>
            </p:cNvSpPr>
            <p:nvPr userDrawn="1"/>
          </p:nvSpPr>
          <p:spPr bwMode="auto">
            <a:xfrm>
              <a:off x="4518"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a:lstStyle>
            <a:p>
              <a:endParaRPr lang="en-US">
                <a:solidFill>
                  <a:srgbClr val="000000"/>
                </a:solidFill>
              </a:endParaRPr>
            </a:p>
          </p:txBody>
        </p:sp>
        <p:sp>
          <p:nvSpPr>
            <p:cNvPr id="12" name="Freeform 11"/>
            <p:cNvSpPr>
              <a:spLocks/>
            </p:cNvSpPr>
            <p:nvPr userDrawn="1"/>
          </p:nvSpPr>
          <p:spPr bwMode="auto">
            <a:xfrm>
              <a:off x="4870"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a:lstStyle>
            <a:p>
              <a:endParaRPr lang="en-US">
                <a:solidFill>
                  <a:srgbClr val="000000"/>
                </a:solidFill>
              </a:endParaRPr>
            </a:p>
          </p:txBody>
        </p:sp>
        <p:sp>
          <p:nvSpPr>
            <p:cNvPr id="13" name="Freeform 12"/>
            <p:cNvSpPr>
              <a:spLocks/>
            </p:cNvSpPr>
            <p:nvPr userDrawn="1"/>
          </p:nvSpPr>
          <p:spPr bwMode="auto">
            <a:xfrm>
              <a:off x="5218"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a:lstStyle>
            <a:p>
              <a:endParaRPr lang="en-US">
                <a:solidFill>
                  <a:srgbClr val="000000"/>
                </a:solidFill>
              </a:endParaRPr>
            </a:p>
          </p:txBody>
        </p:sp>
      </p:grpSp>
      <p:sp>
        <p:nvSpPr>
          <p:cNvPr id="5" name="Rectangle 20"/>
          <p:cNvSpPr>
            <a:spLocks noChangeArrowheads="1"/>
          </p:cNvSpPr>
          <p:nvPr/>
        </p:nvSpPr>
        <p:spPr bwMode="auto">
          <a:xfrm>
            <a:off x="914400" y="6491288"/>
            <a:ext cx="147703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800" dirty="0">
                <a:solidFill>
                  <a:srgbClr val="000000"/>
                </a:solidFill>
                <a:latin typeface="Verdana" pitchFamily="34" charset="0"/>
                <a:cs typeface="Arial"/>
              </a:rPr>
              <a:t>© </a:t>
            </a:r>
            <a:r>
              <a:rPr lang="en-US" altLang="en-US" sz="800" dirty="0" smtClean="0">
                <a:solidFill>
                  <a:srgbClr val="000000"/>
                </a:solidFill>
                <a:latin typeface="Verdana" pitchFamily="34" charset="0"/>
                <a:cs typeface="Arial"/>
              </a:rPr>
              <a:t>2016 </a:t>
            </a:r>
            <a:r>
              <a:rPr lang="en-US" altLang="en-US" sz="800" dirty="0">
                <a:solidFill>
                  <a:srgbClr val="000000"/>
                </a:solidFill>
                <a:latin typeface="Verdana" pitchFamily="34" charset="0"/>
                <a:cs typeface="Arial"/>
              </a:rPr>
              <a:t>Rockwell Collins. </a:t>
            </a:r>
          </a:p>
          <a:p>
            <a:pPr eaLnBrk="1" hangingPunct="1"/>
            <a:r>
              <a:rPr lang="en-US" altLang="en-US" sz="800" dirty="0">
                <a:solidFill>
                  <a:srgbClr val="000000"/>
                </a:solidFill>
                <a:latin typeface="Verdana" pitchFamily="34" charset="0"/>
                <a:cs typeface="Arial"/>
              </a:rPr>
              <a:t>All rights reserved.</a:t>
            </a:r>
          </a:p>
        </p:txBody>
      </p:sp>
      <p:pic>
        <p:nvPicPr>
          <p:cNvPr id="8" name="Picture 11" descr="RCsig2_tag_col_cmyk.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0800" y="5916613"/>
            <a:ext cx="2319338"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4" name="Rectangle 8"/>
          <p:cNvSpPr>
            <a:spLocks noGrp="1" noChangeArrowheads="1"/>
          </p:cNvSpPr>
          <p:nvPr>
            <p:ph type="ctrTitle"/>
          </p:nvPr>
        </p:nvSpPr>
        <p:spPr>
          <a:xfrm>
            <a:off x="2890838" y="2130425"/>
            <a:ext cx="5567362" cy="612775"/>
          </a:xfrm>
        </p:spPr>
        <p:txBody>
          <a:bodyPr/>
          <a:lstStyle>
            <a:lvl1pPr>
              <a:defRPr sz="2800" b="0">
                <a:solidFill>
                  <a:schemeClr val="tx1"/>
                </a:solidFill>
              </a:defRPr>
            </a:lvl1pPr>
          </a:lstStyle>
          <a:p>
            <a:pPr lvl="0"/>
            <a:r>
              <a:rPr lang="en-US" noProof="0" smtClean="0"/>
              <a:t>Click to edit Master title style</a:t>
            </a:r>
          </a:p>
        </p:txBody>
      </p:sp>
      <p:sp>
        <p:nvSpPr>
          <p:cNvPr id="80905" name="Rectangle 9"/>
          <p:cNvSpPr>
            <a:spLocks noGrp="1" noChangeArrowheads="1"/>
          </p:cNvSpPr>
          <p:nvPr>
            <p:ph type="subTitle" idx="1"/>
          </p:nvPr>
        </p:nvSpPr>
        <p:spPr>
          <a:xfrm>
            <a:off x="2906713" y="3124200"/>
            <a:ext cx="4179887" cy="1371600"/>
          </a:xfrm>
        </p:spPr>
        <p:txBody>
          <a:bodyPr/>
          <a:lstStyle>
            <a:lvl1pPr marL="0" indent="0">
              <a:buFontTx/>
              <a:buNone/>
              <a:defRPr sz="1600"/>
            </a:lvl1pPr>
          </a:lstStyle>
          <a:p>
            <a:pPr lvl="0"/>
            <a:r>
              <a:rPr lang="en-US" noProof="0" smtClean="0"/>
              <a:t>Click to edit Master subtitle style</a:t>
            </a:r>
          </a:p>
        </p:txBody>
      </p:sp>
    </p:spTree>
    <p:extLst>
      <p:ext uri="{BB962C8B-B14F-4D97-AF65-F5344CB8AC3E}">
        <p14:creationId xmlns:p14="http://schemas.microsoft.com/office/powerpoint/2010/main" val="98853689"/>
      </p:ext>
    </p:extLst>
  </p:cSld>
  <p:clrMapOvr>
    <a:masterClrMapping/>
  </p:clrMapOvr>
  <p:transition>
    <p:wipe dir="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Rectangle 1"/>
          <p:cNvSpPr/>
          <p:nvPr userDrawn="1"/>
        </p:nvSpPr>
        <p:spPr bwMode="auto">
          <a:xfrm>
            <a:off x="0" y="0"/>
            <a:ext cx="9144000" cy="6858000"/>
          </a:xfrm>
          <a:prstGeom prst="rect">
            <a:avLst/>
          </a:prstGeom>
          <a:solidFill>
            <a:srgbClr val="FFFFFF"/>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sz="2400">
              <a:solidFill>
                <a:srgbClr val="000000"/>
              </a:solidFill>
              <a:latin typeface="Arial" charset="0"/>
              <a:cs typeface="Arial" charset="0"/>
            </a:endParaRPr>
          </a:p>
        </p:txBody>
      </p:sp>
      <p:sp>
        <p:nvSpPr>
          <p:cNvPr id="14" name="Freeform 23"/>
          <p:cNvSpPr>
            <a:spLocks/>
          </p:cNvSpPr>
          <p:nvPr userDrawn="1"/>
        </p:nvSpPr>
        <p:spPr bwMode="auto">
          <a:xfrm>
            <a:off x="-25400" y="-12700"/>
            <a:ext cx="3779838" cy="6877050"/>
          </a:xfrm>
          <a:custGeom>
            <a:avLst/>
            <a:gdLst>
              <a:gd name="T0" fmla="*/ 12700 w 2381"/>
              <a:gd name="T1" fmla="*/ 0 h 4332"/>
              <a:gd name="T2" fmla="*/ 0 w 2381"/>
              <a:gd name="T3" fmla="*/ 6877050 h 4332"/>
              <a:gd name="T4" fmla="*/ 711200 w 2381"/>
              <a:gd name="T5" fmla="*/ 6870700 h 4332"/>
              <a:gd name="T6" fmla="*/ 3779838 w 2381"/>
              <a:gd name="T7" fmla="*/ 12700 h 4332"/>
              <a:gd name="T8" fmla="*/ 12700 w 2381"/>
              <a:gd name="T9" fmla="*/ 0 h 4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81" h="4332">
                <a:moveTo>
                  <a:pt x="8" y="0"/>
                </a:moveTo>
                <a:lnTo>
                  <a:pt x="0" y="4332"/>
                </a:lnTo>
                <a:lnTo>
                  <a:pt x="448" y="4328"/>
                </a:lnTo>
                <a:lnTo>
                  <a:pt x="2381" y="8"/>
                </a:lnTo>
                <a:lnTo>
                  <a:pt x="8" y="0"/>
                </a:lnTo>
                <a:close/>
              </a:path>
            </a:pathLst>
          </a:custGeom>
          <a:solidFill>
            <a:schemeClr val="accent1">
              <a:alpha val="89803"/>
            </a:schemeClr>
          </a:solidFill>
          <a:ln>
            <a:noFill/>
          </a:ln>
          <a:effectLst/>
          <a:extLst/>
        </p:spPr>
        <p:txBody>
          <a:bodyPr/>
          <a:lstStyle/>
          <a:p>
            <a:endParaRPr lang="en-US" sz="2400">
              <a:solidFill>
                <a:srgbClr val="000000"/>
              </a:solidFill>
              <a:cs typeface="Arial"/>
            </a:endParaRPr>
          </a:p>
        </p:txBody>
      </p:sp>
      <p:sp>
        <p:nvSpPr>
          <p:cNvPr id="15" name="Freeform 19"/>
          <p:cNvSpPr>
            <a:spLocks/>
          </p:cNvSpPr>
          <p:nvPr userDrawn="1"/>
        </p:nvSpPr>
        <p:spPr bwMode="auto">
          <a:xfrm>
            <a:off x="668338" y="-3175"/>
            <a:ext cx="8475662" cy="6869113"/>
          </a:xfrm>
          <a:custGeom>
            <a:avLst/>
            <a:gdLst>
              <a:gd name="T0" fmla="*/ 3062287 w 5339"/>
              <a:gd name="T1" fmla="*/ 3175 h 4327"/>
              <a:gd name="T2" fmla="*/ 0 w 5339"/>
              <a:gd name="T3" fmla="*/ 6869113 h 4327"/>
              <a:gd name="T4" fmla="*/ 8475662 w 5339"/>
              <a:gd name="T5" fmla="*/ 6861175 h 4327"/>
              <a:gd name="T6" fmla="*/ 8475662 w 5339"/>
              <a:gd name="T7" fmla="*/ 3175 h 4327"/>
              <a:gd name="T8" fmla="*/ 8085137 w 5339"/>
              <a:gd name="T9" fmla="*/ 0 h 4327"/>
              <a:gd name="T10" fmla="*/ 7994650 w 5339"/>
              <a:gd name="T11" fmla="*/ 212725 h 4327"/>
              <a:gd name="T12" fmla="*/ 7646987 w 5339"/>
              <a:gd name="T13" fmla="*/ 212725 h 4327"/>
              <a:gd name="T14" fmla="*/ 7740650 w 5339"/>
              <a:gd name="T15" fmla="*/ 0 h 4327"/>
              <a:gd name="T16" fmla="*/ 7535862 w 5339"/>
              <a:gd name="T17" fmla="*/ 3175 h 4327"/>
              <a:gd name="T18" fmla="*/ 7440612 w 5339"/>
              <a:gd name="T19" fmla="*/ 212725 h 4327"/>
              <a:gd name="T20" fmla="*/ 7092950 w 5339"/>
              <a:gd name="T21" fmla="*/ 212725 h 4327"/>
              <a:gd name="T22" fmla="*/ 7188200 w 5339"/>
              <a:gd name="T23" fmla="*/ 3175 h 4327"/>
              <a:gd name="T24" fmla="*/ 6983412 w 5339"/>
              <a:gd name="T25" fmla="*/ 3175 h 4327"/>
              <a:gd name="T26" fmla="*/ 6894512 w 5339"/>
              <a:gd name="T27" fmla="*/ 212725 h 4327"/>
              <a:gd name="T28" fmla="*/ 6535737 w 5339"/>
              <a:gd name="T29" fmla="*/ 212725 h 4327"/>
              <a:gd name="T30" fmla="*/ 6637337 w 5339"/>
              <a:gd name="T31" fmla="*/ 3175 h 4327"/>
              <a:gd name="T32" fmla="*/ 3062287 w 5339"/>
              <a:gd name="T33" fmla="*/ 3175 h 432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39" h="4327">
                <a:moveTo>
                  <a:pt x="1929" y="2"/>
                </a:moveTo>
                <a:lnTo>
                  <a:pt x="0" y="4327"/>
                </a:lnTo>
                <a:lnTo>
                  <a:pt x="5339" y="4322"/>
                </a:lnTo>
                <a:lnTo>
                  <a:pt x="5339" y="2"/>
                </a:lnTo>
                <a:lnTo>
                  <a:pt x="5093" y="0"/>
                </a:lnTo>
                <a:lnTo>
                  <a:pt x="5036" y="134"/>
                </a:lnTo>
                <a:lnTo>
                  <a:pt x="4817" y="134"/>
                </a:lnTo>
                <a:lnTo>
                  <a:pt x="4876" y="0"/>
                </a:lnTo>
                <a:lnTo>
                  <a:pt x="4747" y="2"/>
                </a:lnTo>
                <a:lnTo>
                  <a:pt x="4687" y="134"/>
                </a:lnTo>
                <a:lnTo>
                  <a:pt x="4468" y="134"/>
                </a:lnTo>
                <a:lnTo>
                  <a:pt x="4528" y="2"/>
                </a:lnTo>
                <a:lnTo>
                  <a:pt x="4399" y="2"/>
                </a:lnTo>
                <a:lnTo>
                  <a:pt x="4343" y="134"/>
                </a:lnTo>
                <a:lnTo>
                  <a:pt x="4117" y="134"/>
                </a:lnTo>
                <a:lnTo>
                  <a:pt x="4181" y="2"/>
                </a:lnTo>
                <a:lnTo>
                  <a:pt x="1929" y="2"/>
                </a:lnTo>
                <a:close/>
              </a:path>
            </a:pathLst>
          </a:custGeom>
          <a:solidFill>
            <a:schemeClr val="accent1"/>
          </a:solidFill>
          <a:ln>
            <a:noFill/>
          </a:ln>
          <a:effectLst/>
          <a:extLst/>
        </p:spPr>
        <p:txBody>
          <a:bodyPr/>
          <a:lstStyle/>
          <a:p>
            <a:endParaRPr lang="en-US" sz="2400">
              <a:solidFill>
                <a:srgbClr val="D7451A"/>
              </a:solidFill>
              <a:cs typeface="Arial"/>
            </a:endParaRPr>
          </a:p>
        </p:txBody>
      </p:sp>
      <p:pic>
        <p:nvPicPr>
          <p:cNvPr id="9" name="Picture 8" descr="RCsig2_tag_col_bw.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400800" y="5924550"/>
            <a:ext cx="2309813"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1"/>
          <p:cNvSpPr>
            <a:spLocks noChangeArrowheads="1"/>
          </p:cNvSpPr>
          <p:nvPr userDrawn="1"/>
        </p:nvSpPr>
        <p:spPr bwMode="auto">
          <a:xfrm>
            <a:off x="-7175" y="914400"/>
            <a:ext cx="9151175" cy="3135313"/>
          </a:xfrm>
          <a:prstGeom prst="rect">
            <a:avLst/>
          </a:prstGeom>
          <a:solidFill>
            <a:schemeClr val="accent6"/>
          </a:solidFill>
          <a:ln w="12700" cmpd="sng">
            <a:noFill/>
          </a:ln>
          <a:effectLst/>
          <a:extLst/>
        </p:spPr>
        <p:txBody>
          <a:bodyPr wrap="none" anchor="ctr"/>
          <a:lstStyle/>
          <a:p>
            <a:pPr>
              <a:defRPr/>
            </a:pPr>
            <a:endParaRPr lang="en-US">
              <a:solidFill>
                <a:srgbClr val="000000"/>
              </a:solidFill>
              <a:latin typeface="Arial" charset="0"/>
              <a:cs typeface="Arial"/>
            </a:endParaRPr>
          </a:p>
        </p:txBody>
      </p:sp>
      <p:sp>
        <p:nvSpPr>
          <p:cNvPr id="17" name="Line 21"/>
          <p:cNvSpPr>
            <a:spLocks noChangeShapeType="1"/>
          </p:cNvSpPr>
          <p:nvPr userDrawn="1"/>
        </p:nvSpPr>
        <p:spPr bwMode="auto">
          <a:xfrm>
            <a:off x="-7175" y="914400"/>
            <a:ext cx="9151175"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solidFill>
                <a:srgbClr val="000000"/>
              </a:solidFill>
              <a:latin typeface="Arial" charset="0"/>
              <a:cs typeface="Arial"/>
            </a:endParaRPr>
          </a:p>
        </p:txBody>
      </p:sp>
      <p:sp>
        <p:nvSpPr>
          <p:cNvPr id="18" name="Line 22"/>
          <p:cNvSpPr>
            <a:spLocks noChangeShapeType="1"/>
          </p:cNvSpPr>
          <p:nvPr userDrawn="1"/>
        </p:nvSpPr>
        <p:spPr bwMode="auto">
          <a:xfrm>
            <a:off x="-7175" y="4048125"/>
            <a:ext cx="9151175"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solidFill>
                <a:srgbClr val="000000"/>
              </a:solidFill>
              <a:latin typeface="Arial" charset="0"/>
              <a:cs typeface="Arial"/>
            </a:endParaRPr>
          </a:p>
        </p:txBody>
      </p:sp>
      <p:sp>
        <p:nvSpPr>
          <p:cNvPr id="19" name="Rectangle 31"/>
          <p:cNvSpPr>
            <a:spLocks noChangeArrowheads="1"/>
          </p:cNvSpPr>
          <p:nvPr userDrawn="1"/>
        </p:nvSpPr>
        <p:spPr bwMode="auto">
          <a:xfrm>
            <a:off x="920750" y="6491288"/>
            <a:ext cx="147703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800" dirty="0">
                <a:solidFill>
                  <a:srgbClr val="000000"/>
                </a:solidFill>
                <a:latin typeface="Verdana" pitchFamily="34" charset="0"/>
                <a:cs typeface="Arial"/>
              </a:rPr>
              <a:t>© </a:t>
            </a:r>
            <a:r>
              <a:rPr lang="en-US" altLang="en-US" sz="800" dirty="0" smtClean="0">
                <a:solidFill>
                  <a:srgbClr val="000000"/>
                </a:solidFill>
                <a:latin typeface="Verdana" pitchFamily="34" charset="0"/>
                <a:cs typeface="Arial"/>
              </a:rPr>
              <a:t>2016 </a:t>
            </a:r>
            <a:r>
              <a:rPr lang="en-US" altLang="en-US" sz="800" dirty="0">
                <a:solidFill>
                  <a:srgbClr val="000000"/>
                </a:solidFill>
                <a:latin typeface="Verdana" pitchFamily="34" charset="0"/>
                <a:cs typeface="Arial"/>
              </a:rPr>
              <a:t>Rockwell Collins. </a:t>
            </a:r>
          </a:p>
          <a:p>
            <a:pPr eaLnBrk="1" hangingPunct="1"/>
            <a:r>
              <a:rPr lang="en-US" altLang="en-US" sz="800" dirty="0">
                <a:solidFill>
                  <a:srgbClr val="000000"/>
                </a:solidFill>
                <a:latin typeface="Verdana" pitchFamily="34" charset="0"/>
                <a:cs typeface="Arial"/>
              </a:rPr>
              <a:t>All rights reserved.</a:t>
            </a:r>
          </a:p>
        </p:txBody>
      </p:sp>
    </p:spTree>
    <p:extLst>
      <p:ext uri="{BB962C8B-B14F-4D97-AF65-F5344CB8AC3E}">
        <p14:creationId xmlns:p14="http://schemas.microsoft.com/office/powerpoint/2010/main" val="1857719889"/>
      </p:ext>
    </p:extLst>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4551F"/>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6"/>
          <p:cNvSpPr>
            <a:spLocks noGrp="1" noChangeArrowheads="1"/>
          </p:cNvSpPr>
          <p:nvPr>
            <p:ph type="sldNum" sz="quarter" idx="10"/>
          </p:nvPr>
        </p:nvSpPr>
        <p:spPr>
          <a:ln/>
        </p:spPr>
        <p:txBody>
          <a:bodyPr/>
          <a:lstStyle>
            <a:lvl1pPr>
              <a:defRPr/>
            </a:lvl1pPr>
          </a:lstStyle>
          <a:p>
            <a:fld id="{6FB38293-AEBC-48C9-B732-3290CCE0D0E2}" type="slidenum">
              <a:rPr lang="en-US" altLang="en-US">
                <a:solidFill>
                  <a:srgbClr val="000000"/>
                </a:solidFill>
              </a:rPr>
              <a:pPr/>
              <a:t>‹Nr.›</a:t>
            </a:fld>
            <a:endParaRPr lang="en-US" altLang="en-US">
              <a:solidFill>
                <a:srgbClr val="000000"/>
              </a:solidFill>
            </a:endParaRPr>
          </a:p>
        </p:txBody>
      </p:sp>
    </p:spTree>
    <p:extLst>
      <p:ext uri="{BB962C8B-B14F-4D97-AF65-F5344CB8AC3E}">
        <p14:creationId xmlns:p14="http://schemas.microsoft.com/office/powerpoint/2010/main" val="3142120624"/>
      </p:ext>
    </p:extLst>
  </p:cSld>
  <p:clrMapOvr>
    <a:masterClrMapping/>
  </p:clrMapOvr>
  <p:transition>
    <p:wipe dir="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4551F"/>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762000" y="1600200"/>
            <a:ext cx="3886200" cy="4525963"/>
          </a:xfrm>
        </p:spPr>
        <p:txBody>
          <a:bodyPr/>
          <a:lstStyle>
            <a:lvl1pPr>
              <a:defRPr sz="1800"/>
            </a:lvl1pPr>
            <a:lvl2pPr>
              <a:defRPr sz="1600"/>
            </a:lvl2pPr>
            <a:lvl3pPr>
              <a:defRPr sz="1400"/>
            </a:lvl3pPr>
            <a:lvl4pPr>
              <a:defRPr sz="1200"/>
            </a:lvl4pPr>
            <a:lvl5pPr>
              <a:defRPr sz="12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1600200"/>
            <a:ext cx="3886200" cy="4525963"/>
          </a:xfrm>
        </p:spPr>
        <p:txBody>
          <a:bodyPr/>
          <a:lstStyle>
            <a:lvl1pPr>
              <a:defRPr sz="1800"/>
            </a:lvl1pPr>
            <a:lvl2pPr>
              <a:defRPr sz="1600"/>
            </a:lvl2pPr>
            <a:lvl3pPr>
              <a:defRPr sz="1400"/>
            </a:lvl3pPr>
            <a:lvl4pPr>
              <a:defRPr sz="1200"/>
            </a:lvl4pPr>
            <a:lvl5pPr>
              <a:defRPr sz="12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Rectangle 6"/>
          <p:cNvSpPr>
            <a:spLocks noGrp="1" noChangeArrowheads="1"/>
          </p:cNvSpPr>
          <p:nvPr>
            <p:ph type="sldNum" sz="quarter" idx="10"/>
          </p:nvPr>
        </p:nvSpPr>
        <p:spPr>
          <a:ln/>
        </p:spPr>
        <p:txBody>
          <a:bodyPr/>
          <a:lstStyle>
            <a:lvl1pPr>
              <a:defRPr/>
            </a:lvl1pPr>
          </a:lstStyle>
          <a:p>
            <a:fld id="{23D3C076-B1AA-47AB-ABBA-4FF62BCC70E6}" type="slidenum">
              <a:rPr lang="en-US" altLang="en-US">
                <a:solidFill>
                  <a:srgbClr val="000000"/>
                </a:solidFill>
              </a:rPr>
              <a:pPr/>
              <a:t>‹Nr.›</a:t>
            </a:fld>
            <a:endParaRPr lang="en-US" altLang="en-US">
              <a:solidFill>
                <a:srgbClr val="000000"/>
              </a:solidFill>
            </a:endParaRPr>
          </a:p>
        </p:txBody>
      </p:sp>
    </p:spTree>
    <p:extLst>
      <p:ext uri="{BB962C8B-B14F-4D97-AF65-F5344CB8AC3E}">
        <p14:creationId xmlns:p14="http://schemas.microsoft.com/office/powerpoint/2010/main" val="1377963761"/>
      </p:ext>
    </p:extLst>
  </p:cSld>
  <p:clrMapOvr>
    <a:masterClrMapping/>
  </p:clrMapOvr>
  <p:transition>
    <p:wipe dir="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8A7DEF6D-193A-43B9-A88F-EFE847976AC6}" type="slidenum">
              <a:rPr lang="en-US">
                <a:solidFill>
                  <a:srgbClr val="000000"/>
                </a:solidFill>
              </a:rPr>
              <a:pPr>
                <a:defRPr/>
              </a:pPr>
              <a:t>‹Nr.›</a:t>
            </a:fld>
            <a:endParaRPr lang="en-US">
              <a:solidFill>
                <a:srgbClr val="000000"/>
              </a:solidFill>
            </a:endParaRPr>
          </a:p>
        </p:txBody>
      </p:sp>
    </p:spTree>
    <p:extLst>
      <p:ext uri="{BB962C8B-B14F-4D97-AF65-F5344CB8AC3E}">
        <p14:creationId xmlns:p14="http://schemas.microsoft.com/office/powerpoint/2010/main" val="2508516565"/>
      </p:ext>
    </p:extLst>
  </p:cSld>
  <p:clrMapOvr>
    <a:masterClrMapping/>
  </p:clrMapOvr>
  <p:transition>
    <p:wipe dir="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Full-page Content - 1 line 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0375" y="1600200"/>
            <a:ext cx="8229600" cy="1283428"/>
          </a:xfrm>
        </p:spPr>
        <p:txBody>
          <a:bodyPr/>
          <a:lstStyle>
            <a:lvl1pPr>
              <a:defRPr/>
            </a:lvl1pPr>
            <a:lvl2pPr marL="182880" indent="-182880">
              <a:spcBef>
                <a:spcPts val="0"/>
              </a:spcBef>
              <a:spcAft>
                <a:spcPts val="600"/>
              </a:spcAft>
              <a:defRPr/>
            </a:lvl2pPr>
            <a:lvl3pPr>
              <a:spcBef>
                <a:spcPts val="0"/>
              </a:spcBef>
              <a:defRPr/>
            </a:lvl3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6" name="Title 1"/>
          <p:cNvSpPr>
            <a:spLocks noGrp="1"/>
          </p:cNvSpPr>
          <p:nvPr>
            <p:ph type="title" hasCustomPrompt="1"/>
          </p:nvPr>
        </p:nvSpPr>
        <p:spPr>
          <a:xfrm>
            <a:off x="457199" y="320040"/>
            <a:ext cx="8229600" cy="357293"/>
          </a:xfrm>
        </p:spPr>
        <p:txBody>
          <a:bodyPr/>
          <a:lstStyle>
            <a:lvl1pPr>
              <a:defRPr/>
            </a:lvl1pPr>
          </a:lstStyle>
          <a:p>
            <a:r>
              <a:rPr lang="en-US" dirty="0" smtClean="0"/>
              <a:t>Click to edit master title style</a:t>
            </a:r>
            <a:endParaRPr lang="en-US" dirty="0"/>
          </a:p>
        </p:txBody>
      </p:sp>
      <p:sp>
        <p:nvSpPr>
          <p:cNvPr id="4" name="Text Placeholder 7"/>
          <p:cNvSpPr>
            <a:spLocks noGrp="1"/>
          </p:cNvSpPr>
          <p:nvPr>
            <p:ph type="body" sz="quarter" idx="12" hasCustomPrompt="1"/>
          </p:nvPr>
        </p:nvSpPr>
        <p:spPr>
          <a:xfrm>
            <a:off x="457199" y="624841"/>
            <a:ext cx="8229601" cy="307777"/>
          </a:xfrm>
        </p:spPr>
        <p:txBody>
          <a:bodyPr tIns="45720"/>
          <a:lstStyle>
            <a:lvl1pPr marL="0" marR="0" indent="0" algn="l" defTabSz="1020763" rtl="0" eaLnBrk="1" fontAlgn="base" latinLnBrk="0" hangingPunct="1">
              <a:lnSpc>
                <a:spcPct val="85000"/>
              </a:lnSpc>
              <a:spcBef>
                <a:spcPct val="0"/>
              </a:spcBef>
              <a:spcAft>
                <a:spcPct val="0"/>
              </a:spcAft>
              <a:buClrTx/>
              <a:buSzTx/>
              <a:buFontTx/>
              <a:buNone/>
              <a:tabLst/>
              <a:defRPr kumimoji="0" lang="en-US" sz="2000" b="0" i="0" u="none" strike="noStrike" kern="0" cap="none" spc="0" normalizeH="0" baseline="0" noProof="0">
                <a:ln>
                  <a:noFill/>
                </a:ln>
                <a:solidFill>
                  <a:schemeClr val="bg2">
                    <a:lumMod val="75000"/>
                  </a:schemeClr>
                </a:solidFill>
                <a:effectLst/>
                <a:uLnTx/>
                <a:uFillTx/>
              </a:defRPr>
            </a:lvl1pPr>
          </a:lstStyle>
          <a:p>
            <a:pPr marL="0" marR="0" lvl="0" indent="0" algn="l" defTabSz="1020763" rtl="0" eaLnBrk="1" fontAlgn="base" latinLnBrk="0" hangingPunct="1">
              <a:lnSpc>
                <a:spcPct val="85000"/>
              </a:lnSpc>
              <a:spcBef>
                <a:spcPct val="0"/>
              </a:spcBef>
              <a:spcAft>
                <a:spcPct val="0"/>
              </a:spcAft>
              <a:buClrTx/>
              <a:buSzTx/>
              <a:buFontTx/>
              <a:buNone/>
              <a:tabLst/>
              <a:defRPr/>
            </a:pPr>
            <a:r>
              <a:rPr kumimoji="0" lang="en-US" sz="2000" b="0" i="0" u="none" strike="noStrike" kern="0" cap="none" spc="0" normalizeH="0" baseline="0" noProof="0" dirty="0" smtClean="0">
                <a:ln>
                  <a:noFill/>
                </a:ln>
                <a:solidFill>
                  <a:schemeClr val="bg2">
                    <a:lumMod val="75000"/>
                  </a:schemeClr>
                </a:solidFill>
                <a:effectLst/>
                <a:uLnTx/>
                <a:uFillTx/>
                <a:latin typeface="+mj-lt"/>
                <a:ea typeface="+mj-ea"/>
                <a:cs typeface="+mj-cs"/>
              </a:rPr>
              <a:t>Click to add subtitle – font size to 20 pt</a:t>
            </a:r>
            <a:endParaRPr kumimoji="0" lang="en-US" sz="2000" b="0" i="0" u="none" strike="noStrike" kern="0" cap="none" spc="0" normalizeH="0" baseline="0" noProof="0" dirty="0">
              <a:ln>
                <a:noFill/>
              </a:ln>
              <a:solidFill>
                <a:schemeClr val="bg2">
                  <a:lumMod val="75000"/>
                </a:schemeClr>
              </a:solidFill>
              <a:effectLst/>
              <a:uLnTx/>
              <a:uFillTx/>
              <a:latin typeface="+mj-lt"/>
              <a:ea typeface="+mj-ea"/>
              <a:cs typeface="+mj-cs"/>
            </a:endParaRPr>
          </a:p>
        </p:txBody>
      </p:sp>
      <p:sp>
        <p:nvSpPr>
          <p:cNvPr id="5" name="Rectangle 6"/>
          <p:cNvSpPr>
            <a:spLocks noGrp="1" noChangeArrowheads="1"/>
          </p:cNvSpPr>
          <p:nvPr>
            <p:ph type="sldNum" sz="quarter" idx="4"/>
          </p:nvPr>
        </p:nvSpPr>
        <p:spPr bwMode="auto">
          <a:xfrm>
            <a:off x="7848600" y="6477000"/>
            <a:ext cx="849313"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smtClean="0">
                <a:latin typeface="+mn-lt"/>
                <a:cs typeface="Arial" charset="0"/>
              </a:defRPr>
            </a:lvl1pPr>
          </a:lstStyle>
          <a:p>
            <a:pPr>
              <a:defRPr/>
            </a:pPr>
            <a:fld id="{BE15C076-9075-4B49-A4B0-DACF630C7820}" type="slidenum">
              <a:rPr lang="en-US"/>
              <a:pPr>
                <a:defRPr/>
              </a:pPr>
              <a:t>‹Nr.›</a:t>
            </a:fld>
            <a:endParaRPr lang="en-US"/>
          </a:p>
        </p:txBody>
      </p:sp>
    </p:spTree>
    <p:extLst>
      <p:ext uri="{BB962C8B-B14F-4D97-AF65-F5344CB8AC3E}">
        <p14:creationId xmlns:p14="http://schemas.microsoft.com/office/powerpoint/2010/main" val="3177318523"/>
      </p:ext>
    </p:extLst>
  </p:cSld>
  <p:clrMapOvr>
    <a:masterClrMapping/>
  </p:clrMapOvr>
  <p:transition>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slideLayout" Target="../slideLayouts/slideLayout17.xml"/><Relationship Id="rId7"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762000" y="868363"/>
            <a:ext cx="77724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099" name="Rectangle 3"/>
          <p:cNvSpPr>
            <a:spLocks noGrp="1" noChangeArrowheads="1"/>
          </p:cNvSpPr>
          <p:nvPr>
            <p:ph type="body" idx="1"/>
          </p:nvPr>
        </p:nvSpPr>
        <p:spPr bwMode="auto">
          <a:xfrm>
            <a:off x="762000" y="1600200"/>
            <a:ext cx="7924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078" name="Rectangle 6"/>
          <p:cNvSpPr>
            <a:spLocks noGrp="1" noChangeArrowheads="1"/>
          </p:cNvSpPr>
          <p:nvPr>
            <p:ph type="sldNum" sz="quarter" idx="4"/>
          </p:nvPr>
        </p:nvSpPr>
        <p:spPr bwMode="auto">
          <a:xfrm>
            <a:off x="7848600" y="6477000"/>
            <a:ext cx="849313"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smtClean="0">
                <a:latin typeface="+mn-lt"/>
                <a:cs typeface="Arial" charset="0"/>
              </a:defRPr>
            </a:lvl1pPr>
          </a:lstStyle>
          <a:p>
            <a:pPr>
              <a:defRPr/>
            </a:pPr>
            <a:fld id="{BE15C076-9075-4B49-A4B0-DACF630C7820}" type="slidenum">
              <a:rPr lang="en-US"/>
              <a:pPr>
                <a:defRPr/>
              </a:pPr>
              <a:t>‹Nr.›</a:t>
            </a:fld>
            <a:endParaRPr lang="en-US"/>
          </a:p>
        </p:txBody>
      </p:sp>
      <p:pic>
        <p:nvPicPr>
          <p:cNvPr id="4101" name="Picture 15" descr="gray-heade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0" y="0"/>
            <a:ext cx="16764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92" name="Freeform 20"/>
          <p:cNvSpPr>
            <a:spLocks/>
          </p:cNvSpPr>
          <p:nvPr/>
        </p:nvSpPr>
        <p:spPr bwMode="auto">
          <a:xfrm>
            <a:off x="1752600" y="0"/>
            <a:ext cx="7391400" cy="419100"/>
          </a:xfrm>
          <a:custGeom>
            <a:avLst/>
            <a:gdLst/>
            <a:ahLst/>
            <a:cxnLst>
              <a:cxn ang="0">
                <a:pos x="0" y="264"/>
              </a:cxn>
              <a:cxn ang="0">
                <a:pos x="4656" y="264"/>
              </a:cxn>
              <a:cxn ang="0">
                <a:pos x="4656" y="0"/>
              </a:cxn>
              <a:cxn ang="0">
                <a:pos x="120" y="0"/>
              </a:cxn>
              <a:cxn ang="0">
                <a:pos x="0" y="264"/>
              </a:cxn>
            </a:cxnLst>
            <a:rect l="0" t="0" r="r" b="b"/>
            <a:pathLst>
              <a:path w="4656" h="264">
                <a:moveTo>
                  <a:pt x="0" y="264"/>
                </a:moveTo>
                <a:lnTo>
                  <a:pt x="4656" y="264"/>
                </a:lnTo>
                <a:lnTo>
                  <a:pt x="4656" y="0"/>
                </a:lnTo>
                <a:lnTo>
                  <a:pt x="120" y="0"/>
                </a:lnTo>
                <a:lnTo>
                  <a:pt x="0" y="264"/>
                </a:lnTo>
                <a:close/>
              </a:path>
            </a:pathLst>
          </a:custGeom>
          <a:solidFill>
            <a:srgbClr val="DDDDDD"/>
          </a:solidFill>
          <a:ln w="9525">
            <a:noFill/>
            <a:round/>
            <a:headEnd/>
            <a:tailEnd/>
          </a:ln>
          <a:effectLst/>
        </p:spPr>
        <p:txBody>
          <a:bodyPr wrap="none" anchor="ctr"/>
          <a:lstStyle/>
          <a:p>
            <a:pPr>
              <a:defRPr/>
            </a:pPr>
            <a:endParaRPr lang="en-US">
              <a:latin typeface="Arial" charset="0"/>
              <a:cs typeface="Arial" charset="0"/>
            </a:endParaRPr>
          </a:p>
        </p:txBody>
      </p:sp>
      <p:grpSp>
        <p:nvGrpSpPr>
          <p:cNvPr id="4105" name="Group 21"/>
          <p:cNvGrpSpPr>
            <a:grpSpLocks/>
          </p:cNvGrpSpPr>
          <p:nvPr/>
        </p:nvGrpSpPr>
        <p:grpSpPr bwMode="auto">
          <a:xfrm>
            <a:off x="7772400" y="0"/>
            <a:ext cx="962025" cy="128588"/>
            <a:chOff x="4518" y="0"/>
            <a:chExt cx="984" cy="132"/>
          </a:xfrm>
        </p:grpSpPr>
        <p:sp>
          <p:nvSpPr>
            <p:cNvPr id="3094" name="Freeform 22"/>
            <p:cNvSpPr>
              <a:spLocks/>
            </p:cNvSpPr>
            <p:nvPr/>
          </p:nvSpPr>
          <p:spPr bwMode="auto">
            <a:xfrm>
              <a:off x="4518" y="0"/>
              <a:ext cx="284" cy="132"/>
            </a:xfrm>
            <a:custGeom>
              <a:avLst/>
              <a:gdLst/>
              <a:ahLst/>
              <a:cxnLst>
                <a:cxn ang="0">
                  <a:pos x="0" y="132"/>
                </a:cxn>
                <a:cxn ang="0">
                  <a:pos x="60" y="0"/>
                </a:cxn>
                <a:cxn ang="0">
                  <a:pos x="284" y="0"/>
                </a:cxn>
                <a:cxn ang="0">
                  <a:pos x="228" y="132"/>
                </a:cxn>
                <a:cxn ang="0">
                  <a:pos x="0" y="132"/>
                </a:cxn>
              </a:cxnLst>
              <a:rect l="0" t="0" r="r" b="b"/>
              <a:pathLst>
                <a:path w="284" h="132">
                  <a:moveTo>
                    <a:pt x="0" y="132"/>
                  </a:moveTo>
                  <a:lnTo>
                    <a:pt x="60" y="0"/>
                  </a:lnTo>
                  <a:lnTo>
                    <a:pt x="284" y="0"/>
                  </a:lnTo>
                  <a:lnTo>
                    <a:pt x="228" y="132"/>
                  </a:lnTo>
                  <a:lnTo>
                    <a:pt x="0" y="132"/>
                  </a:lnTo>
                  <a:close/>
                </a:path>
              </a:pathLst>
            </a:custGeom>
            <a:solidFill>
              <a:schemeClr val="bg1"/>
            </a:solidFill>
            <a:ln w="9525">
              <a:noFill/>
              <a:round/>
              <a:headEnd/>
              <a:tailEnd/>
            </a:ln>
            <a:effectLst/>
          </p:spPr>
          <p:txBody>
            <a:bodyPr wrap="none" anchor="ctr"/>
            <a:lstStyle/>
            <a:p>
              <a:pPr>
                <a:defRPr/>
              </a:pPr>
              <a:endParaRPr lang="en-US">
                <a:latin typeface="Arial" charset="0"/>
                <a:cs typeface="Arial" charset="0"/>
              </a:endParaRPr>
            </a:p>
          </p:txBody>
        </p:sp>
        <p:sp>
          <p:nvSpPr>
            <p:cNvPr id="3095" name="Freeform 23"/>
            <p:cNvSpPr>
              <a:spLocks/>
            </p:cNvSpPr>
            <p:nvPr/>
          </p:nvSpPr>
          <p:spPr bwMode="auto">
            <a:xfrm>
              <a:off x="4870" y="0"/>
              <a:ext cx="284" cy="132"/>
            </a:xfrm>
            <a:custGeom>
              <a:avLst/>
              <a:gdLst/>
              <a:ahLst/>
              <a:cxnLst>
                <a:cxn ang="0">
                  <a:pos x="0" y="132"/>
                </a:cxn>
                <a:cxn ang="0">
                  <a:pos x="60" y="0"/>
                </a:cxn>
                <a:cxn ang="0">
                  <a:pos x="284" y="0"/>
                </a:cxn>
                <a:cxn ang="0">
                  <a:pos x="228" y="132"/>
                </a:cxn>
                <a:cxn ang="0">
                  <a:pos x="0" y="132"/>
                </a:cxn>
              </a:cxnLst>
              <a:rect l="0" t="0" r="r" b="b"/>
              <a:pathLst>
                <a:path w="284" h="132">
                  <a:moveTo>
                    <a:pt x="0" y="132"/>
                  </a:moveTo>
                  <a:lnTo>
                    <a:pt x="60" y="0"/>
                  </a:lnTo>
                  <a:lnTo>
                    <a:pt x="284" y="0"/>
                  </a:lnTo>
                  <a:lnTo>
                    <a:pt x="228" y="132"/>
                  </a:lnTo>
                  <a:lnTo>
                    <a:pt x="0" y="132"/>
                  </a:lnTo>
                  <a:close/>
                </a:path>
              </a:pathLst>
            </a:custGeom>
            <a:solidFill>
              <a:schemeClr val="bg1"/>
            </a:solidFill>
            <a:ln w="9525">
              <a:noFill/>
              <a:round/>
              <a:headEnd/>
              <a:tailEnd/>
            </a:ln>
            <a:effectLst/>
          </p:spPr>
          <p:txBody>
            <a:bodyPr wrap="none" anchor="ctr"/>
            <a:lstStyle/>
            <a:p>
              <a:pPr>
                <a:defRPr/>
              </a:pPr>
              <a:endParaRPr lang="en-US">
                <a:latin typeface="Arial" charset="0"/>
                <a:cs typeface="Arial" charset="0"/>
              </a:endParaRPr>
            </a:p>
          </p:txBody>
        </p:sp>
        <p:sp>
          <p:nvSpPr>
            <p:cNvPr id="3096" name="Freeform 24"/>
            <p:cNvSpPr>
              <a:spLocks/>
            </p:cNvSpPr>
            <p:nvPr/>
          </p:nvSpPr>
          <p:spPr bwMode="auto">
            <a:xfrm>
              <a:off x="5218" y="0"/>
              <a:ext cx="284" cy="132"/>
            </a:xfrm>
            <a:custGeom>
              <a:avLst/>
              <a:gdLst/>
              <a:ahLst/>
              <a:cxnLst>
                <a:cxn ang="0">
                  <a:pos x="0" y="132"/>
                </a:cxn>
                <a:cxn ang="0">
                  <a:pos x="60" y="0"/>
                </a:cxn>
                <a:cxn ang="0">
                  <a:pos x="284" y="0"/>
                </a:cxn>
                <a:cxn ang="0">
                  <a:pos x="228" y="132"/>
                </a:cxn>
                <a:cxn ang="0">
                  <a:pos x="0" y="132"/>
                </a:cxn>
              </a:cxnLst>
              <a:rect l="0" t="0" r="r" b="b"/>
              <a:pathLst>
                <a:path w="284" h="132">
                  <a:moveTo>
                    <a:pt x="0" y="132"/>
                  </a:moveTo>
                  <a:lnTo>
                    <a:pt x="60" y="0"/>
                  </a:lnTo>
                  <a:lnTo>
                    <a:pt x="284" y="0"/>
                  </a:lnTo>
                  <a:lnTo>
                    <a:pt x="228" y="132"/>
                  </a:lnTo>
                  <a:lnTo>
                    <a:pt x="0" y="132"/>
                  </a:lnTo>
                  <a:close/>
                </a:path>
              </a:pathLst>
            </a:custGeom>
            <a:solidFill>
              <a:schemeClr val="bg1"/>
            </a:solidFill>
            <a:ln w="9525">
              <a:noFill/>
              <a:round/>
              <a:headEnd/>
              <a:tailEnd/>
            </a:ln>
            <a:effectLst/>
          </p:spPr>
          <p:txBody>
            <a:bodyPr wrap="none" anchor="ctr"/>
            <a:lstStyle/>
            <a:p>
              <a:pPr>
                <a:defRPr/>
              </a:pPr>
              <a:endParaRPr lang="en-US">
                <a:latin typeface="Arial" charset="0"/>
                <a:cs typeface="Arial" charset="0"/>
              </a:endParaRPr>
            </a:p>
          </p:txBody>
        </p:sp>
      </p:grpSp>
    </p:spTree>
  </p:cSld>
  <p:clrMap bg1="lt1" tx1="dk1" bg2="lt2" tx2="dk2" accent1="accent1" accent2="accent2" accent3="accent3" accent4="accent4" accent5="accent5" accent6="accent6" hlink="hlink" folHlink="folHlink"/>
  <p:sldLayoutIdLst>
    <p:sldLayoutId id="2147483700"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701" r:id="rId14"/>
  </p:sldLayoutIdLst>
  <p:transition>
    <p:wipe dir="r"/>
  </p:transition>
  <p:timing>
    <p:tnLst>
      <p:par>
        <p:cTn id="1" dur="indefinite" restart="never" nodeType="tmRoot"/>
      </p:par>
    </p:tnLst>
  </p:timing>
  <p:hf hdr="0" ftr="0" dt="0"/>
  <p:txStyles>
    <p:titleStyle>
      <a:lvl1pPr algn="l" rtl="0" eaLnBrk="1" fontAlgn="base" hangingPunct="1">
        <a:spcBef>
          <a:spcPct val="0"/>
        </a:spcBef>
        <a:spcAft>
          <a:spcPct val="0"/>
        </a:spcAft>
        <a:defRPr sz="2200" b="1">
          <a:solidFill>
            <a:srgbClr val="777777"/>
          </a:solidFill>
          <a:latin typeface="+mj-lt"/>
          <a:ea typeface="+mj-ea"/>
          <a:cs typeface="+mj-cs"/>
        </a:defRPr>
      </a:lvl1pPr>
      <a:lvl2pPr algn="l" rtl="0" eaLnBrk="1" fontAlgn="base" hangingPunct="1">
        <a:spcBef>
          <a:spcPct val="0"/>
        </a:spcBef>
        <a:spcAft>
          <a:spcPct val="0"/>
        </a:spcAft>
        <a:defRPr sz="2200" b="1">
          <a:solidFill>
            <a:srgbClr val="777777"/>
          </a:solidFill>
          <a:latin typeface="Verdana" pitchFamily="34" charset="0"/>
          <a:cs typeface="Arial" charset="0"/>
        </a:defRPr>
      </a:lvl2pPr>
      <a:lvl3pPr algn="l" rtl="0" eaLnBrk="1" fontAlgn="base" hangingPunct="1">
        <a:spcBef>
          <a:spcPct val="0"/>
        </a:spcBef>
        <a:spcAft>
          <a:spcPct val="0"/>
        </a:spcAft>
        <a:defRPr sz="2200" b="1">
          <a:solidFill>
            <a:srgbClr val="777777"/>
          </a:solidFill>
          <a:latin typeface="Verdana" pitchFamily="34" charset="0"/>
          <a:cs typeface="Arial" charset="0"/>
        </a:defRPr>
      </a:lvl3pPr>
      <a:lvl4pPr algn="l" rtl="0" eaLnBrk="1" fontAlgn="base" hangingPunct="1">
        <a:spcBef>
          <a:spcPct val="0"/>
        </a:spcBef>
        <a:spcAft>
          <a:spcPct val="0"/>
        </a:spcAft>
        <a:defRPr sz="2200" b="1">
          <a:solidFill>
            <a:srgbClr val="777777"/>
          </a:solidFill>
          <a:latin typeface="Verdana" pitchFamily="34" charset="0"/>
          <a:cs typeface="Arial" charset="0"/>
        </a:defRPr>
      </a:lvl4pPr>
      <a:lvl5pPr algn="l" rtl="0" eaLnBrk="1" fontAlgn="base" hangingPunct="1">
        <a:spcBef>
          <a:spcPct val="0"/>
        </a:spcBef>
        <a:spcAft>
          <a:spcPct val="0"/>
        </a:spcAft>
        <a:defRPr sz="2200" b="1">
          <a:solidFill>
            <a:srgbClr val="777777"/>
          </a:solidFill>
          <a:latin typeface="Verdana" pitchFamily="34" charset="0"/>
          <a:cs typeface="Arial" charset="0"/>
        </a:defRPr>
      </a:lvl5pPr>
      <a:lvl6pPr marL="457200" algn="l" rtl="0" eaLnBrk="1" fontAlgn="base" hangingPunct="1">
        <a:spcBef>
          <a:spcPct val="0"/>
        </a:spcBef>
        <a:spcAft>
          <a:spcPct val="0"/>
        </a:spcAft>
        <a:defRPr sz="2200" b="1">
          <a:solidFill>
            <a:srgbClr val="777777"/>
          </a:solidFill>
          <a:latin typeface="Verdana" pitchFamily="34" charset="0"/>
          <a:cs typeface="Arial" charset="0"/>
        </a:defRPr>
      </a:lvl6pPr>
      <a:lvl7pPr marL="914400" algn="l" rtl="0" eaLnBrk="1" fontAlgn="base" hangingPunct="1">
        <a:spcBef>
          <a:spcPct val="0"/>
        </a:spcBef>
        <a:spcAft>
          <a:spcPct val="0"/>
        </a:spcAft>
        <a:defRPr sz="2200" b="1">
          <a:solidFill>
            <a:srgbClr val="777777"/>
          </a:solidFill>
          <a:latin typeface="Verdana" pitchFamily="34" charset="0"/>
          <a:cs typeface="Arial" charset="0"/>
        </a:defRPr>
      </a:lvl7pPr>
      <a:lvl8pPr marL="1371600" algn="l" rtl="0" eaLnBrk="1" fontAlgn="base" hangingPunct="1">
        <a:spcBef>
          <a:spcPct val="0"/>
        </a:spcBef>
        <a:spcAft>
          <a:spcPct val="0"/>
        </a:spcAft>
        <a:defRPr sz="2200" b="1">
          <a:solidFill>
            <a:srgbClr val="777777"/>
          </a:solidFill>
          <a:latin typeface="Verdana" pitchFamily="34" charset="0"/>
          <a:cs typeface="Arial" charset="0"/>
        </a:defRPr>
      </a:lvl8pPr>
      <a:lvl9pPr marL="1828800" algn="l" rtl="0" eaLnBrk="1" fontAlgn="base" hangingPunct="1">
        <a:spcBef>
          <a:spcPct val="0"/>
        </a:spcBef>
        <a:spcAft>
          <a:spcPct val="0"/>
        </a:spcAft>
        <a:defRPr sz="2200" b="1">
          <a:solidFill>
            <a:srgbClr val="777777"/>
          </a:solidFill>
          <a:latin typeface="Verdana" pitchFamily="34" charset="0"/>
          <a:cs typeface="Arial" charset="0"/>
        </a:defRPr>
      </a:lvl9pPr>
    </p:titleStyle>
    <p:bodyStyle>
      <a:lvl1pPr marL="342900" indent="-342900" algn="l" rtl="0" eaLnBrk="1" fontAlgn="base" hangingPunct="1">
        <a:spcBef>
          <a:spcPct val="20000"/>
        </a:spcBef>
        <a:spcAft>
          <a:spcPct val="0"/>
        </a:spcAft>
        <a:buChar char="•"/>
        <a:defRPr>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a:solidFill>
            <a:schemeClr val="tx1"/>
          </a:solidFill>
          <a:latin typeface="+mn-lt"/>
          <a:cs typeface="+mn-cs"/>
        </a:defRPr>
      </a:lvl2pPr>
      <a:lvl3pPr marL="1143000" indent="-228600" algn="l" rtl="0" eaLnBrk="1" fontAlgn="base" hangingPunct="1">
        <a:spcBef>
          <a:spcPct val="20000"/>
        </a:spcBef>
        <a:spcAft>
          <a:spcPct val="0"/>
        </a:spcAft>
        <a:buChar char="•"/>
        <a:defRPr sz="1400">
          <a:solidFill>
            <a:schemeClr val="tx1"/>
          </a:solidFill>
          <a:latin typeface="+mn-lt"/>
          <a:cs typeface="+mn-cs"/>
        </a:defRPr>
      </a:lvl3pPr>
      <a:lvl4pPr marL="1600200" indent="-228600" algn="l" rtl="0" eaLnBrk="1" fontAlgn="base" hangingPunct="1">
        <a:spcBef>
          <a:spcPct val="20000"/>
        </a:spcBef>
        <a:spcAft>
          <a:spcPct val="0"/>
        </a:spcAft>
        <a:buChar char="–"/>
        <a:defRPr sz="1400">
          <a:solidFill>
            <a:schemeClr val="tx1"/>
          </a:solidFill>
          <a:latin typeface="+mn-lt"/>
          <a:cs typeface="+mn-cs"/>
        </a:defRPr>
      </a:lvl4pPr>
      <a:lvl5pPr marL="2057400" indent="-228600" algn="l" rtl="0" eaLnBrk="1" fontAlgn="base" hangingPunct="1">
        <a:spcBef>
          <a:spcPct val="20000"/>
        </a:spcBef>
        <a:spcAft>
          <a:spcPct val="0"/>
        </a:spcAft>
        <a:buChar char="»"/>
        <a:defRPr sz="1400">
          <a:solidFill>
            <a:schemeClr val="tx1"/>
          </a:solidFill>
          <a:latin typeface="+mn-lt"/>
          <a:cs typeface="+mn-cs"/>
        </a:defRPr>
      </a:lvl5pPr>
      <a:lvl6pPr marL="2514600" indent="-228600" algn="l" rtl="0" eaLnBrk="1" fontAlgn="base" hangingPunct="1">
        <a:spcBef>
          <a:spcPct val="20000"/>
        </a:spcBef>
        <a:spcAft>
          <a:spcPct val="0"/>
        </a:spcAft>
        <a:buChar char="»"/>
        <a:defRPr sz="1400">
          <a:solidFill>
            <a:schemeClr val="tx1"/>
          </a:solidFill>
          <a:latin typeface="+mn-lt"/>
          <a:cs typeface="+mn-cs"/>
        </a:defRPr>
      </a:lvl6pPr>
      <a:lvl7pPr marL="2971800" indent="-228600" algn="l" rtl="0" eaLnBrk="1" fontAlgn="base" hangingPunct="1">
        <a:spcBef>
          <a:spcPct val="20000"/>
        </a:spcBef>
        <a:spcAft>
          <a:spcPct val="0"/>
        </a:spcAft>
        <a:buChar char="»"/>
        <a:defRPr sz="1400">
          <a:solidFill>
            <a:schemeClr val="tx1"/>
          </a:solidFill>
          <a:latin typeface="+mn-lt"/>
          <a:cs typeface="+mn-cs"/>
        </a:defRPr>
      </a:lvl7pPr>
      <a:lvl8pPr marL="3429000" indent="-228600" algn="l" rtl="0" eaLnBrk="1" fontAlgn="base" hangingPunct="1">
        <a:spcBef>
          <a:spcPct val="20000"/>
        </a:spcBef>
        <a:spcAft>
          <a:spcPct val="0"/>
        </a:spcAft>
        <a:buChar char="»"/>
        <a:defRPr sz="1400">
          <a:solidFill>
            <a:schemeClr val="tx1"/>
          </a:solidFill>
          <a:latin typeface="+mn-lt"/>
          <a:cs typeface="+mn-cs"/>
        </a:defRPr>
      </a:lvl8pPr>
      <a:lvl9pPr marL="3886200" indent="-228600" algn="l" rtl="0" eaLnBrk="1" fontAlgn="base" hangingPunct="1">
        <a:spcBef>
          <a:spcPct val="20000"/>
        </a:spcBef>
        <a:spcAft>
          <a:spcPct val="0"/>
        </a:spcAft>
        <a:buChar char="»"/>
        <a:defRPr sz="1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Picture 15" descr="gray-header"/>
          <p:cNvPicPr>
            <a:picLocks noChangeAspect="1" noChangeArrowheads="1"/>
          </p:cNvPicPr>
          <p:nvPr/>
        </p:nvPicPr>
        <p:blipFill>
          <a:blip r:embed="rId8">
            <a:extLst>
              <a:ext uri="{28A0092B-C50C-407E-A947-70E740481C1C}">
                <a14:useLocalDpi xmlns:a14="http://schemas.microsoft.com/office/drawing/2010/main" val="0"/>
              </a:ext>
            </a:extLst>
          </a:blip>
          <a:srcRect r="81667"/>
          <a:stretch>
            <a:fillRect/>
          </a:stretch>
        </p:blipFill>
        <p:spPr bwMode="auto">
          <a:xfrm>
            <a:off x="0" y="0"/>
            <a:ext cx="16764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reeform 20"/>
          <p:cNvSpPr>
            <a:spLocks/>
          </p:cNvSpPr>
          <p:nvPr/>
        </p:nvSpPr>
        <p:spPr bwMode="auto">
          <a:xfrm>
            <a:off x="1752600" y="0"/>
            <a:ext cx="7391400" cy="419100"/>
          </a:xfrm>
          <a:custGeom>
            <a:avLst/>
            <a:gdLst>
              <a:gd name="T0" fmla="*/ 0 w 4656"/>
              <a:gd name="T1" fmla="*/ 419100 h 264"/>
              <a:gd name="T2" fmla="*/ 7391400 w 4656"/>
              <a:gd name="T3" fmla="*/ 419100 h 264"/>
              <a:gd name="T4" fmla="*/ 7391400 w 4656"/>
              <a:gd name="T5" fmla="*/ 0 h 264"/>
              <a:gd name="T6" fmla="*/ 190500 w 4656"/>
              <a:gd name="T7" fmla="*/ 0 h 264"/>
              <a:gd name="T8" fmla="*/ 0 w 4656"/>
              <a:gd name="T9" fmla="*/ 41910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56" h="264">
                <a:moveTo>
                  <a:pt x="0" y="264"/>
                </a:moveTo>
                <a:lnTo>
                  <a:pt x="4656" y="264"/>
                </a:lnTo>
                <a:lnTo>
                  <a:pt x="4656" y="0"/>
                </a:lnTo>
                <a:lnTo>
                  <a:pt x="120" y="0"/>
                </a:lnTo>
                <a:lnTo>
                  <a:pt x="0" y="264"/>
                </a:lnTo>
                <a:close/>
              </a:path>
            </a:pathLst>
          </a:custGeom>
          <a:solidFill>
            <a:schemeClr val="accent1"/>
          </a:solidFill>
          <a:ln>
            <a:noFill/>
          </a:ln>
          <a:effectLst/>
        </p:spPr>
        <p:txBody>
          <a:bodyPr wrap="none" anchor="ctr"/>
          <a:lstStyle/>
          <a:p>
            <a:endParaRPr lang="en-US" sz="2400">
              <a:solidFill>
                <a:srgbClr val="000000"/>
              </a:solidFill>
              <a:cs typeface="Arial"/>
            </a:endParaRPr>
          </a:p>
        </p:txBody>
      </p:sp>
      <p:sp>
        <p:nvSpPr>
          <p:cNvPr id="3074" name="Rectangle 2"/>
          <p:cNvSpPr>
            <a:spLocks noGrp="1" noChangeArrowheads="1"/>
          </p:cNvSpPr>
          <p:nvPr>
            <p:ph type="title"/>
          </p:nvPr>
        </p:nvSpPr>
        <p:spPr bwMode="auto">
          <a:xfrm>
            <a:off x="762000" y="868363"/>
            <a:ext cx="7772400"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US" dirty="0"/>
          </a:p>
        </p:txBody>
      </p:sp>
      <p:sp>
        <p:nvSpPr>
          <p:cNvPr id="3075" name="Rectangle 3"/>
          <p:cNvSpPr>
            <a:spLocks noGrp="1" noChangeArrowheads="1"/>
          </p:cNvSpPr>
          <p:nvPr>
            <p:ph type="body" idx="1"/>
          </p:nvPr>
        </p:nvSpPr>
        <p:spPr bwMode="auto">
          <a:xfrm>
            <a:off x="762000" y="1600200"/>
            <a:ext cx="7924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078" name="Rectangle 6"/>
          <p:cNvSpPr>
            <a:spLocks noGrp="1" noChangeArrowheads="1"/>
          </p:cNvSpPr>
          <p:nvPr>
            <p:ph type="sldNum" sz="quarter" idx="4"/>
          </p:nvPr>
        </p:nvSpPr>
        <p:spPr bwMode="auto">
          <a:xfrm>
            <a:off x="7848600" y="6477000"/>
            <a:ext cx="84931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000">
                <a:latin typeface="Verdana" pitchFamily="34" charset="0"/>
              </a:defRPr>
            </a:lvl1pPr>
          </a:lstStyle>
          <a:p>
            <a:fld id="{84BE33A8-B07C-4AE5-8AD6-5B92B3138622}" type="slidenum">
              <a:rPr lang="en-US" altLang="en-US">
                <a:solidFill>
                  <a:srgbClr val="000000"/>
                </a:solidFill>
                <a:cs typeface="Arial"/>
              </a:rPr>
              <a:pPr/>
              <a:t>‹Nr.›</a:t>
            </a:fld>
            <a:endParaRPr lang="en-US" altLang="en-US">
              <a:solidFill>
                <a:srgbClr val="000000"/>
              </a:solidFill>
              <a:cs typeface="Arial"/>
            </a:endParaRPr>
          </a:p>
        </p:txBody>
      </p:sp>
      <p:sp>
        <p:nvSpPr>
          <p:cNvPr id="3085" name="Rectangle 13"/>
          <p:cNvSpPr>
            <a:spLocks noChangeArrowheads="1"/>
          </p:cNvSpPr>
          <p:nvPr/>
        </p:nvSpPr>
        <p:spPr bwMode="auto">
          <a:xfrm>
            <a:off x="381000" y="6491288"/>
            <a:ext cx="147703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800" dirty="0">
                <a:solidFill>
                  <a:srgbClr val="000000"/>
                </a:solidFill>
                <a:latin typeface="Verdana" pitchFamily="34" charset="0"/>
                <a:cs typeface="Arial"/>
              </a:rPr>
              <a:t>© </a:t>
            </a:r>
            <a:r>
              <a:rPr lang="en-US" altLang="en-US" sz="800" dirty="0" smtClean="0">
                <a:solidFill>
                  <a:srgbClr val="000000"/>
                </a:solidFill>
                <a:latin typeface="Verdana" pitchFamily="34" charset="0"/>
                <a:cs typeface="Arial"/>
              </a:rPr>
              <a:t>2016 </a:t>
            </a:r>
            <a:r>
              <a:rPr lang="en-US" altLang="en-US" sz="800" dirty="0">
                <a:solidFill>
                  <a:srgbClr val="000000"/>
                </a:solidFill>
                <a:latin typeface="Verdana" pitchFamily="34" charset="0"/>
                <a:cs typeface="Arial"/>
              </a:rPr>
              <a:t>Rockwell Collins. </a:t>
            </a:r>
          </a:p>
          <a:p>
            <a:pPr eaLnBrk="1" hangingPunct="1"/>
            <a:r>
              <a:rPr lang="en-US" altLang="en-US" sz="800" dirty="0">
                <a:solidFill>
                  <a:srgbClr val="000000"/>
                </a:solidFill>
                <a:latin typeface="Verdana" pitchFamily="34" charset="0"/>
                <a:cs typeface="Arial"/>
              </a:rPr>
              <a:t>All rights reserved.</a:t>
            </a:r>
          </a:p>
        </p:txBody>
      </p:sp>
      <p:grpSp>
        <p:nvGrpSpPr>
          <p:cNvPr id="8" name="Group 30"/>
          <p:cNvGrpSpPr>
            <a:grpSpLocks/>
          </p:cNvGrpSpPr>
          <p:nvPr/>
        </p:nvGrpSpPr>
        <p:grpSpPr bwMode="auto">
          <a:xfrm>
            <a:off x="7697795" y="1"/>
            <a:ext cx="1036629" cy="139060"/>
            <a:chOff x="4518" y="0"/>
            <a:chExt cx="984" cy="132"/>
          </a:xfrm>
        </p:grpSpPr>
        <p:sp>
          <p:nvSpPr>
            <p:cNvPr id="10" name="Freeform 27"/>
            <p:cNvSpPr>
              <a:spLocks/>
            </p:cNvSpPr>
            <p:nvPr/>
          </p:nvSpPr>
          <p:spPr bwMode="auto">
            <a:xfrm>
              <a:off x="4518"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sz="2400">
                <a:solidFill>
                  <a:srgbClr val="000000"/>
                </a:solidFill>
                <a:cs typeface="Arial"/>
              </a:endParaRPr>
            </a:p>
          </p:txBody>
        </p:sp>
        <p:sp>
          <p:nvSpPr>
            <p:cNvPr id="11" name="Freeform 28"/>
            <p:cNvSpPr>
              <a:spLocks/>
            </p:cNvSpPr>
            <p:nvPr/>
          </p:nvSpPr>
          <p:spPr bwMode="auto">
            <a:xfrm>
              <a:off x="4870"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sz="2400">
                <a:solidFill>
                  <a:srgbClr val="000000"/>
                </a:solidFill>
                <a:cs typeface="Arial"/>
              </a:endParaRPr>
            </a:p>
          </p:txBody>
        </p:sp>
        <p:sp>
          <p:nvSpPr>
            <p:cNvPr id="12" name="Freeform 29"/>
            <p:cNvSpPr>
              <a:spLocks/>
            </p:cNvSpPr>
            <p:nvPr/>
          </p:nvSpPr>
          <p:spPr bwMode="auto">
            <a:xfrm>
              <a:off x="5218"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sz="2400">
                <a:solidFill>
                  <a:srgbClr val="000000"/>
                </a:solidFill>
                <a:cs typeface="Arial"/>
              </a:endParaRPr>
            </a:p>
          </p:txBody>
        </p:sp>
      </p:grpSp>
    </p:spTree>
    <p:extLst>
      <p:ext uri="{BB962C8B-B14F-4D97-AF65-F5344CB8AC3E}">
        <p14:creationId xmlns:p14="http://schemas.microsoft.com/office/powerpoint/2010/main" val="1400566664"/>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10" r:id="rId6"/>
  </p:sldLayoutIdLst>
  <p:transition>
    <p:wipe dir="r"/>
  </p:transition>
  <p:timing>
    <p:tnLst>
      <p:par>
        <p:cTn id="1" dur="indefinite" restart="never" nodeType="tmRoot"/>
      </p:par>
    </p:tnLst>
  </p:timing>
  <p:hf hdr="0" ftr="0" dt="0"/>
  <p:txStyles>
    <p:titleStyle>
      <a:lvl1pPr algn="l" rtl="0" eaLnBrk="1" fontAlgn="base" hangingPunct="1">
        <a:spcBef>
          <a:spcPct val="0"/>
        </a:spcBef>
        <a:spcAft>
          <a:spcPct val="0"/>
        </a:spcAft>
        <a:defRPr sz="2200" b="1">
          <a:solidFill>
            <a:schemeClr val="accent1"/>
          </a:solidFill>
          <a:latin typeface="+mj-lt"/>
          <a:ea typeface="+mj-ea"/>
          <a:cs typeface="+mj-cs"/>
        </a:defRPr>
      </a:lvl1pPr>
      <a:lvl2pPr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2pPr>
      <a:lvl3pPr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3pPr>
      <a:lvl4pPr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4pPr>
      <a:lvl5pPr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5pPr>
      <a:lvl6pPr marL="457200"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6pPr>
      <a:lvl7pPr marL="914400"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7pPr>
      <a:lvl8pPr marL="1371600"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8pPr>
      <a:lvl9pPr marL="1828800"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9pPr>
    </p:titleStyle>
    <p:bodyStyle>
      <a:lvl1pPr marL="342900" indent="-342900" algn="l" rtl="0" eaLnBrk="1" fontAlgn="base" hangingPunct="1">
        <a:spcBef>
          <a:spcPct val="20000"/>
        </a:spcBef>
        <a:spcAft>
          <a:spcPct val="0"/>
        </a:spcAft>
        <a:buChar char="•"/>
        <a:defRPr>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a:solidFill>
            <a:schemeClr val="tx1"/>
          </a:solidFill>
          <a:latin typeface="+mn-lt"/>
          <a:ea typeface="Arial" charset="0"/>
          <a:cs typeface="+mn-cs"/>
        </a:defRPr>
      </a:lvl2pPr>
      <a:lvl3pPr marL="1143000" indent="-228600" algn="l" rtl="0" eaLnBrk="1" fontAlgn="base" hangingPunct="1">
        <a:spcBef>
          <a:spcPct val="20000"/>
        </a:spcBef>
        <a:spcAft>
          <a:spcPct val="0"/>
        </a:spcAft>
        <a:buChar char="•"/>
        <a:defRPr sz="1400">
          <a:solidFill>
            <a:schemeClr val="tx1"/>
          </a:solidFill>
          <a:latin typeface="+mn-lt"/>
          <a:ea typeface="Arial" charset="0"/>
          <a:cs typeface="+mn-cs"/>
        </a:defRPr>
      </a:lvl3pPr>
      <a:lvl4pPr marL="1600200" indent="-228600" algn="l" rtl="0" eaLnBrk="1" fontAlgn="base" hangingPunct="1">
        <a:spcBef>
          <a:spcPct val="20000"/>
        </a:spcBef>
        <a:spcAft>
          <a:spcPct val="0"/>
        </a:spcAft>
        <a:buChar char="–"/>
        <a:defRPr sz="1400">
          <a:solidFill>
            <a:schemeClr val="tx1"/>
          </a:solidFill>
          <a:latin typeface="+mn-lt"/>
          <a:ea typeface="Arial" charset="0"/>
          <a:cs typeface="+mn-cs"/>
        </a:defRPr>
      </a:lvl4pPr>
      <a:lvl5pPr marL="2057400" indent="-228600" algn="l" rtl="0" eaLnBrk="1" fontAlgn="base" hangingPunct="1">
        <a:spcBef>
          <a:spcPct val="20000"/>
        </a:spcBef>
        <a:spcAft>
          <a:spcPct val="0"/>
        </a:spcAft>
        <a:buChar char="»"/>
        <a:defRPr sz="1400">
          <a:solidFill>
            <a:schemeClr val="tx1"/>
          </a:solidFill>
          <a:latin typeface="+mn-lt"/>
          <a:ea typeface="Arial" charset="0"/>
          <a:cs typeface="+mn-cs"/>
        </a:defRPr>
      </a:lvl5pPr>
      <a:lvl6pPr marL="2514600" indent="-228600" algn="l" rtl="0" eaLnBrk="1" fontAlgn="base" hangingPunct="1">
        <a:spcBef>
          <a:spcPct val="20000"/>
        </a:spcBef>
        <a:spcAft>
          <a:spcPct val="0"/>
        </a:spcAft>
        <a:buChar char="»"/>
        <a:defRPr sz="1400">
          <a:solidFill>
            <a:schemeClr val="tx1"/>
          </a:solidFill>
          <a:latin typeface="+mn-lt"/>
          <a:ea typeface="Arial" charset="0"/>
          <a:cs typeface="+mn-cs"/>
        </a:defRPr>
      </a:lvl6pPr>
      <a:lvl7pPr marL="2971800" indent="-228600" algn="l" rtl="0" eaLnBrk="1" fontAlgn="base" hangingPunct="1">
        <a:spcBef>
          <a:spcPct val="20000"/>
        </a:spcBef>
        <a:spcAft>
          <a:spcPct val="0"/>
        </a:spcAft>
        <a:buChar char="»"/>
        <a:defRPr sz="1400">
          <a:solidFill>
            <a:schemeClr val="tx1"/>
          </a:solidFill>
          <a:latin typeface="+mn-lt"/>
          <a:ea typeface="Arial" charset="0"/>
          <a:cs typeface="+mn-cs"/>
        </a:defRPr>
      </a:lvl7pPr>
      <a:lvl8pPr marL="3429000" indent="-228600" algn="l" rtl="0" eaLnBrk="1" fontAlgn="base" hangingPunct="1">
        <a:spcBef>
          <a:spcPct val="20000"/>
        </a:spcBef>
        <a:spcAft>
          <a:spcPct val="0"/>
        </a:spcAft>
        <a:buChar char="»"/>
        <a:defRPr sz="1400">
          <a:solidFill>
            <a:schemeClr val="tx1"/>
          </a:solidFill>
          <a:latin typeface="+mn-lt"/>
          <a:ea typeface="Arial" charset="0"/>
          <a:cs typeface="+mn-cs"/>
        </a:defRPr>
      </a:lvl8pPr>
      <a:lvl9pPr marL="3886200" indent="-228600" algn="l" rtl="0" eaLnBrk="1" fontAlgn="base" hangingPunct="1">
        <a:spcBef>
          <a:spcPct val="20000"/>
        </a:spcBef>
        <a:spcAft>
          <a:spcPct val="0"/>
        </a:spcAft>
        <a:buChar char="»"/>
        <a:defRPr sz="1400">
          <a:solidFill>
            <a:schemeClr val="tx1"/>
          </a:solidFill>
          <a:latin typeface="+mn-lt"/>
          <a:ea typeface="Arial" charset="0"/>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www.youtube.com/embed/V-8xPI2kfkg?rel=0?width=640&amp;height=390&amp;iframe=true" TargetMode="External"/><Relationship Id="rId3" Type="http://schemas.openxmlformats.org/officeDocument/2006/relationships/hyperlink" Target="http://www.rockwellcollins.com/Rockwell/Sublayouts/modalcontent.html" TargetMode="External"/><Relationship Id="rId7"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3.jpeg"/><Relationship Id="rId4" Type="http://schemas.openxmlformats.org/officeDocument/2006/relationships/image" Target="../media/image8.jpeg"/><Relationship Id="rId9" Type="http://schemas.openxmlformats.org/officeDocument/2006/relationships/image" Target="../media/image1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notesSlide" Target="../notesSlides/notesSlide7.xml"/><Relationship Id="rId7"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4.wmf"/><Relationship Id="rId5" Type="http://schemas.openxmlformats.org/officeDocument/2006/relationships/image" Target="../media/image23.emf"/><Relationship Id="rId4" Type="http://schemas.openxmlformats.org/officeDocument/2006/relationships/oleObject" Target="../embeddings/oleObject1.bin"/><Relationship Id="rId9" Type="http://schemas.openxmlformats.org/officeDocument/2006/relationships/image" Target="../media/image27.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8.xml"/><Relationship Id="rId7" Type="http://schemas.openxmlformats.org/officeDocument/2006/relationships/image" Target="../media/image29.emf"/><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28.emf"/><Relationship Id="rId4" Type="http://schemas.openxmlformats.org/officeDocument/2006/relationships/oleObject" Target="../embeddings/oleObject2.bin"/><Relationship Id="rId9" Type="http://schemas.openxmlformats.org/officeDocument/2006/relationships/image" Target="../media/image23.e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31.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30.emf"/><Relationship Id="rId4" Type="http://schemas.openxmlformats.org/officeDocument/2006/relationships/oleObject" Target="../embeddings/oleObject5.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jpeg"/><Relationship Id="rId4" Type="http://schemas.openxmlformats.org/officeDocument/2006/relationships/image" Target="../media/image34.jpe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42.jpeg"/><Relationship Id="rId5" Type="http://schemas.openxmlformats.org/officeDocument/2006/relationships/image" Target="../media/image41.png"/><Relationship Id="rId4" Type="http://schemas.openxmlformats.org/officeDocument/2006/relationships/image" Target="../media/image40.wmf"/></Relationships>
</file>

<file path=ppt/slides/_rels/slide3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6.png"/></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5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0.png"/><Relationship Id="rId7" Type="http://schemas.openxmlformats.org/officeDocument/2006/relationships/image" Target="../media/image64.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0.png"/><Relationship Id="rId9" Type="http://schemas.openxmlformats.org/officeDocument/2006/relationships/image" Target="../media/image24.png"/></Relationships>
</file>

<file path=ppt/slides/_rels/slide5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610.png"/><Relationship Id="rId7" Type="http://schemas.openxmlformats.org/officeDocument/2006/relationships/image" Target="../media/image65.png"/><Relationship Id="rId2" Type="http://schemas.openxmlformats.org/officeDocument/2006/relationships/image" Target="../media/image60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59.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250.png"/><Relationship Id="rId7" Type="http://schemas.openxmlformats.org/officeDocument/2006/relationships/image" Target="../media/image64.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610.png"/><Relationship Id="rId9" Type="http://schemas.openxmlformats.org/officeDocument/2006/relationships/image" Target="../media/image28.png"/></Relationships>
</file>

<file path=ppt/slides/_rels/slide60.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250.png"/><Relationship Id="rId7" Type="http://schemas.openxmlformats.org/officeDocument/2006/relationships/image" Target="../media/image67.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66.png"/><Relationship Id="rId9" Type="http://schemas.openxmlformats.org/officeDocument/2006/relationships/image" Target="../media/image320.png"/></Relationships>
</file>

<file path=ppt/slides/_rels/slide61.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33.png"/><Relationship Id="rId7" Type="http://schemas.openxmlformats.org/officeDocument/2006/relationships/image" Target="../media/image72.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 Id="rId9" Type="http://schemas.openxmlformats.org/officeDocument/2006/relationships/image" Target="../media/image74.png"/></Relationships>
</file>

<file path=ppt/slides/_rels/slide62.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40.png"/><Relationship Id="rId7" Type="http://schemas.openxmlformats.org/officeDocument/2006/relationships/image" Target="../media/image76.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430.png"/><Relationship Id="rId5" Type="http://schemas.openxmlformats.org/officeDocument/2006/relationships/image" Target="../media/image420.png"/><Relationship Id="rId4" Type="http://schemas.openxmlformats.org/officeDocument/2006/relationships/image" Target="../media/image75.png"/><Relationship Id="rId9" Type="http://schemas.openxmlformats.org/officeDocument/2006/relationships/image" Target="../media/image460.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62.emf"/><Relationship Id="rId5" Type="http://schemas.openxmlformats.org/officeDocument/2006/relationships/oleObject" Target="../embeddings/oleObject7.bin"/><Relationship Id="rId4" Type="http://schemas.openxmlformats.org/officeDocument/2006/relationships/image" Target="../media/image78.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63.emf"/><Relationship Id="rId5" Type="http://schemas.openxmlformats.org/officeDocument/2006/relationships/oleObject" Target="../embeddings/oleObject8.bin"/><Relationship Id="rId4" Type="http://schemas.openxmlformats.org/officeDocument/2006/relationships/image" Target="../media/image80.png"/></Relationships>
</file>

<file path=ppt/slides/_rels/slide6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1.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6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7.png"/><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83.emf"/><Relationship Id="rId5" Type="http://schemas.openxmlformats.org/officeDocument/2006/relationships/oleObject" Target="../embeddings/oleObject9.bin"/><Relationship Id="rId4" Type="http://schemas.openxmlformats.org/officeDocument/2006/relationships/image" Target="../media/image84.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1.gif"/><Relationship Id="rId2" Type="http://schemas.openxmlformats.org/officeDocument/2006/relationships/image" Target="../media/image9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981200"/>
            <a:ext cx="7848600" cy="993775"/>
          </a:xfrm>
        </p:spPr>
        <p:txBody>
          <a:bodyPr/>
          <a:lstStyle/>
          <a:p>
            <a:r>
              <a:rPr lang="en-US" dirty="0" smtClean="0"/>
              <a:t>Architectural Modeling and Analysis for Safety Engineering (AMASE)</a:t>
            </a:r>
            <a:endParaRPr lang="en-US" dirty="0"/>
          </a:p>
        </p:txBody>
      </p:sp>
      <p:sp>
        <p:nvSpPr>
          <p:cNvPr id="3" name="Subtitle 2"/>
          <p:cNvSpPr>
            <a:spLocks noGrp="1"/>
          </p:cNvSpPr>
          <p:nvPr>
            <p:ph type="subTitle" idx="1"/>
          </p:nvPr>
        </p:nvSpPr>
        <p:spPr>
          <a:xfrm>
            <a:off x="762000" y="4267200"/>
            <a:ext cx="3962400" cy="1066800"/>
          </a:xfrm>
        </p:spPr>
        <p:txBody>
          <a:bodyPr/>
          <a:lstStyle/>
          <a:p>
            <a:r>
              <a:rPr lang="en-US" sz="1600" dirty="0" smtClean="0"/>
              <a:t>Year 2 Review Meeting</a:t>
            </a:r>
          </a:p>
          <a:p>
            <a:r>
              <a:rPr lang="en-US" sz="1600" dirty="0" smtClean="0"/>
              <a:t>NASA Langley Research Center</a:t>
            </a:r>
          </a:p>
          <a:p>
            <a:r>
              <a:rPr lang="en-US" sz="1600" dirty="0" smtClean="0"/>
              <a:t>4 October 2018</a:t>
            </a:r>
          </a:p>
        </p:txBody>
      </p:sp>
      <p:sp>
        <p:nvSpPr>
          <p:cNvPr id="6" name="Subtitle 2"/>
          <p:cNvSpPr txBox="1">
            <a:spLocks/>
          </p:cNvSpPr>
          <p:nvPr/>
        </p:nvSpPr>
        <p:spPr bwMode="auto">
          <a:xfrm>
            <a:off x="762000" y="3203575"/>
            <a:ext cx="7620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Tx/>
              <a:buNone/>
              <a:defRPr sz="2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a:solidFill>
                  <a:schemeClr val="tx1"/>
                </a:solidFill>
                <a:latin typeface="+mn-lt"/>
                <a:cs typeface="+mn-cs"/>
              </a:defRPr>
            </a:lvl2pPr>
            <a:lvl3pPr marL="1143000" indent="-228600" algn="l" rtl="0" eaLnBrk="1" fontAlgn="base" hangingPunct="1">
              <a:spcBef>
                <a:spcPct val="20000"/>
              </a:spcBef>
              <a:spcAft>
                <a:spcPct val="0"/>
              </a:spcAft>
              <a:buChar char="•"/>
              <a:defRPr sz="1400">
                <a:solidFill>
                  <a:schemeClr val="tx1"/>
                </a:solidFill>
                <a:latin typeface="+mn-lt"/>
                <a:cs typeface="+mn-cs"/>
              </a:defRPr>
            </a:lvl3pPr>
            <a:lvl4pPr marL="1600200" indent="-228600" algn="l" rtl="0" eaLnBrk="1" fontAlgn="base" hangingPunct="1">
              <a:spcBef>
                <a:spcPct val="20000"/>
              </a:spcBef>
              <a:spcAft>
                <a:spcPct val="0"/>
              </a:spcAft>
              <a:buChar char="–"/>
              <a:defRPr sz="1400">
                <a:solidFill>
                  <a:schemeClr val="tx1"/>
                </a:solidFill>
                <a:latin typeface="+mn-lt"/>
                <a:cs typeface="+mn-cs"/>
              </a:defRPr>
            </a:lvl4pPr>
            <a:lvl5pPr marL="2057400" indent="-228600" algn="l" rtl="0" eaLnBrk="1" fontAlgn="base" hangingPunct="1">
              <a:spcBef>
                <a:spcPct val="20000"/>
              </a:spcBef>
              <a:spcAft>
                <a:spcPct val="0"/>
              </a:spcAft>
              <a:buChar char="»"/>
              <a:defRPr sz="1400">
                <a:solidFill>
                  <a:schemeClr val="tx1"/>
                </a:solidFill>
                <a:latin typeface="+mn-lt"/>
                <a:cs typeface="+mn-cs"/>
              </a:defRPr>
            </a:lvl5pPr>
            <a:lvl6pPr marL="2514600" indent="-228600" algn="l" rtl="0" eaLnBrk="1" fontAlgn="base" hangingPunct="1">
              <a:spcBef>
                <a:spcPct val="20000"/>
              </a:spcBef>
              <a:spcAft>
                <a:spcPct val="0"/>
              </a:spcAft>
              <a:buChar char="»"/>
              <a:defRPr sz="1400">
                <a:solidFill>
                  <a:schemeClr val="tx1"/>
                </a:solidFill>
                <a:latin typeface="+mn-lt"/>
                <a:cs typeface="+mn-cs"/>
              </a:defRPr>
            </a:lvl6pPr>
            <a:lvl7pPr marL="2971800" indent="-228600" algn="l" rtl="0" eaLnBrk="1" fontAlgn="base" hangingPunct="1">
              <a:spcBef>
                <a:spcPct val="20000"/>
              </a:spcBef>
              <a:spcAft>
                <a:spcPct val="0"/>
              </a:spcAft>
              <a:buChar char="»"/>
              <a:defRPr sz="1400">
                <a:solidFill>
                  <a:schemeClr val="tx1"/>
                </a:solidFill>
                <a:latin typeface="+mn-lt"/>
                <a:cs typeface="+mn-cs"/>
              </a:defRPr>
            </a:lvl7pPr>
            <a:lvl8pPr marL="3429000" indent="-228600" algn="l" rtl="0" eaLnBrk="1" fontAlgn="base" hangingPunct="1">
              <a:spcBef>
                <a:spcPct val="20000"/>
              </a:spcBef>
              <a:spcAft>
                <a:spcPct val="0"/>
              </a:spcAft>
              <a:buChar char="»"/>
              <a:defRPr sz="1400">
                <a:solidFill>
                  <a:schemeClr val="tx1"/>
                </a:solidFill>
                <a:latin typeface="+mn-lt"/>
                <a:cs typeface="+mn-cs"/>
              </a:defRPr>
            </a:lvl8pPr>
            <a:lvl9pPr marL="3886200" indent="-228600" algn="l" rtl="0" eaLnBrk="1" fontAlgn="base" hangingPunct="1">
              <a:spcBef>
                <a:spcPct val="20000"/>
              </a:spcBef>
              <a:spcAft>
                <a:spcPct val="0"/>
              </a:spcAft>
              <a:buChar char="»"/>
              <a:defRPr sz="1400">
                <a:solidFill>
                  <a:schemeClr val="tx1"/>
                </a:solidFill>
                <a:latin typeface="+mn-lt"/>
                <a:cs typeface="+mn-cs"/>
              </a:defRPr>
            </a:lvl9pPr>
          </a:lstStyle>
          <a:p>
            <a:r>
              <a:rPr lang="en-US" sz="1800" b="1" dirty="0"/>
              <a:t>Research Opportunities in Aeronautics </a:t>
            </a:r>
            <a:r>
              <a:rPr lang="en-US" sz="1800" b="1" dirty="0" smtClean="0"/>
              <a:t>(</a:t>
            </a:r>
            <a:r>
              <a:rPr lang="en-US" sz="1800" b="1" dirty="0"/>
              <a:t>NRA ROA-2015</a:t>
            </a:r>
            <a:r>
              <a:rPr lang="en-US" sz="1800" b="1" dirty="0" smtClean="0"/>
              <a:t>)</a:t>
            </a:r>
          </a:p>
          <a:p>
            <a:pPr marL="0" lvl="1" indent="0">
              <a:buNone/>
            </a:pPr>
            <a:r>
              <a:rPr lang="en-US" dirty="0"/>
              <a:t>Model-based safety analysis of highly complex safety critical systems</a:t>
            </a:r>
          </a:p>
          <a:p>
            <a:endParaRPr lang="en-US" sz="1800" b="1" dirty="0"/>
          </a:p>
        </p:txBody>
      </p:sp>
    </p:spTree>
  </p:cSld>
  <p:clrMapOvr>
    <a:overrideClrMapping bg1="lt1" tx1="dk1" bg2="lt2" tx2="dk2" accent1="accent1" accent2="accent2" accent3="accent3" accent4="accent4" accent5="accent5" accent6="accent6" hlink="hlink" folHlink="folHlink"/>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r>
              <a:rPr lang="en-US" dirty="0" smtClean="0"/>
              <a:t>Project overview</a:t>
            </a:r>
          </a:p>
          <a:p>
            <a:pPr lvl="1"/>
            <a:r>
              <a:rPr lang="en-US" dirty="0" smtClean="0"/>
              <a:t>Status</a:t>
            </a:r>
          </a:p>
          <a:p>
            <a:pPr lvl="1"/>
            <a:r>
              <a:rPr lang="en-US" dirty="0" smtClean="0"/>
              <a:t>Technical approach</a:t>
            </a:r>
          </a:p>
          <a:p>
            <a:pPr lvl="1"/>
            <a:r>
              <a:rPr lang="en-US" dirty="0" smtClean="0"/>
              <a:t>Accomplishments</a:t>
            </a:r>
          </a:p>
          <a:p>
            <a:pPr lvl="1"/>
            <a:r>
              <a:rPr lang="en-US" dirty="0" smtClean="0"/>
              <a:t>Plans</a:t>
            </a:r>
          </a:p>
          <a:p>
            <a:r>
              <a:rPr lang="en-US" dirty="0" smtClean="0"/>
              <a:t>AGREE and Safety Analysis Annex</a:t>
            </a:r>
          </a:p>
          <a:p>
            <a:r>
              <a:rPr lang="en-US" dirty="0" smtClean="0"/>
              <a:t>Tool demo</a:t>
            </a:r>
          </a:p>
          <a:p>
            <a:r>
              <a:rPr lang="en-US" dirty="0" smtClean="0"/>
              <a:t>Next steps (discussion…)</a:t>
            </a:r>
          </a:p>
          <a:p>
            <a:pPr lvl="1"/>
            <a:r>
              <a:rPr lang="en-US" dirty="0" smtClean="0"/>
              <a:t>Byzantine Fault</a:t>
            </a:r>
          </a:p>
          <a:p>
            <a:pPr lvl="1"/>
            <a:r>
              <a:rPr lang="en-US" dirty="0" smtClean="0"/>
              <a:t>Transient Fault</a:t>
            </a:r>
          </a:p>
          <a:p>
            <a:pPr lvl="1"/>
            <a:r>
              <a:rPr lang="en-US" dirty="0" smtClean="0"/>
              <a:t>Scalability &amp; Usability</a:t>
            </a:r>
          </a:p>
          <a:p>
            <a:pPr lvl="2"/>
            <a:r>
              <a:rPr lang="en-US" dirty="0" smtClean="0"/>
              <a:t>ARP4754A/4761 objectives</a:t>
            </a:r>
          </a:p>
          <a:p>
            <a:pPr lvl="2"/>
            <a:r>
              <a:rPr lang="en-US" dirty="0" smtClean="0"/>
              <a:t>Assessment on the draft ARP4761 appendix on MBSA</a:t>
            </a:r>
          </a:p>
          <a:p>
            <a:pPr lvl="2"/>
            <a:r>
              <a:rPr lang="en-US" dirty="0" smtClean="0"/>
              <a:t>Complete the assessment of compositional probabilistic fault analysis on the extended WBS example</a:t>
            </a:r>
          </a:p>
          <a:p>
            <a:pPr lvl="2"/>
            <a:r>
              <a:rPr lang="en-US" dirty="0" smtClean="0"/>
              <a:t>Another large aerospace example</a:t>
            </a:r>
          </a:p>
          <a:p>
            <a:endParaRPr lang="en-US" dirty="0" smtClean="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2</a:t>
            </a:fld>
            <a:endParaRPr lang="en-US" dirty="0"/>
          </a:p>
        </p:txBody>
      </p:sp>
    </p:spTree>
    <p:extLst>
      <p:ext uri="{BB962C8B-B14F-4D97-AF65-F5344CB8AC3E}">
        <p14:creationId xmlns:p14="http://schemas.microsoft.com/office/powerpoint/2010/main" val="2530233285"/>
      </p:ext>
    </p:extLst>
  </p:cSld>
  <p:clrMapOvr>
    <a:masterClrMapping/>
  </p:clrMapOvr>
  <p:transition>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3112" name="Picture 8" descr="http://upload.wikimedia.org/wikipedia/commons/thumb/0/01/Blackhawk.jpg/320px-Blackhaw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6243" y="3276600"/>
            <a:ext cx="2438400" cy="1341120"/>
          </a:xfrm>
          <a:prstGeom prst="rect">
            <a:avLst/>
          </a:prstGeom>
          <a:noFill/>
          <a:extLst>
            <a:ext uri="{909E8E84-426E-40DD-AFC4-6F175D3DCCD1}">
              <a14:hiddenFill xmlns:a14="http://schemas.microsoft.com/office/drawing/2010/main">
                <a:solidFill>
                  <a:srgbClr val="FFFFFF"/>
                </a:solidFill>
              </a14:hiddenFill>
            </a:ext>
          </a:extLst>
        </p:spPr>
      </p:pic>
      <p:pic>
        <p:nvPicPr>
          <p:cNvPr id="303110" name="Picture 6" descr="CDU-7000_690x364">
            <a:hlinkClick r:id="rId3"/>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2384769" y="4812434"/>
            <a:ext cx="2106018" cy="152861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762000" y="762000"/>
            <a:ext cx="7772400" cy="503237"/>
          </a:xfrm>
        </p:spPr>
        <p:txBody>
          <a:bodyPr/>
          <a:lstStyle/>
          <a:p>
            <a:r>
              <a:rPr lang="en-US" dirty="0" smtClean="0"/>
              <a:t>Advanced Technology Center</a:t>
            </a:r>
            <a:endParaRPr lang="en-US" dirty="0"/>
          </a:p>
        </p:txBody>
      </p:sp>
      <p:sp>
        <p:nvSpPr>
          <p:cNvPr id="3" name="Content Placeholder 2"/>
          <p:cNvSpPr>
            <a:spLocks noGrp="1"/>
          </p:cNvSpPr>
          <p:nvPr>
            <p:ph idx="1"/>
          </p:nvPr>
        </p:nvSpPr>
        <p:spPr>
          <a:xfrm>
            <a:off x="6261709" y="3200400"/>
            <a:ext cx="2882291" cy="1593758"/>
          </a:xfrm>
        </p:spPr>
        <p:txBody>
          <a:bodyPr/>
          <a:lstStyle/>
          <a:p>
            <a:pPr marL="0" indent="0">
              <a:buNone/>
            </a:pPr>
            <a:r>
              <a:rPr lang="en-US" sz="1400" b="1" dirty="0" smtClean="0"/>
              <a:t>Rockwell Collins Products</a:t>
            </a:r>
          </a:p>
          <a:p>
            <a:r>
              <a:rPr lang="en-US" sz="1400" dirty="0" smtClean="0"/>
              <a:t>Avionics systems</a:t>
            </a:r>
          </a:p>
          <a:p>
            <a:r>
              <a:rPr lang="en-US" sz="1400" dirty="0" smtClean="0"/>
              <a:t>Commercial and military</a:t>
            </a:r>
          </a:p>
          <a:p>
            <a:r>
              <a:rPr lang="en-US" sz="1400" dirty="0" smtClean="0"/>
              <a:t>Manned and unmanned</a:t>
            </a:r>
          </a:p>
          <a:p>
            <a:r>
              <a:rPr lang="en-US" sz="1400" dirty="0" smtClean="0"/>
              <a:t>Safety and security</a:t>
            </a:r>
          </a:p>
        </p:txBody>
      </p:sp>
      <p:sp>
        <p:nvSpPr>
          <p:cNvPr id="4" name="Slide Number Placeholder 3"/>
          <p:cNvSpPr>
            <a:spLocks noGrp="1"/>
          </p:cNvSpPr>
          <p:nvPr>
            <p:ph type="sldNum" sz="quarter" idx="10"/>
          </p:nvPr>
        </p:nvSpPr>
        <p:spPr/>
        <p:txBody>
          <a:bodyPr/>
          <a:lstStyle/>
          <a:p>
            <a:fld id="{C837130E-3FF9-455A-A1CC-4E75A71694C4}" type="slidenum">
              <a:rPr lang="en-US" smtClean="0">
                <a:solidFill>
                  <a:srgbClr val="000000"/>
                </a:solidFill>
              </a:rPr>
              <a:pPr/>
              <a:t>3</a:t>
            </a:fld>
            <a:endParaRPr lang="en-US" dirty="0">
              <a:solidFill>
                <a:srgbClr val="000000"/>
              </a:solidFill>
            </a:endParaRPr>
          </a:p>
        </p:txBody>
      </p:sp>
      <p:pic>
        <p:nvPicPr>
          <p:cNvPr id="7" name="Picture 6"/>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953000" y="4572000"/>
            <a:ext cx="1357071" cy="1395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1706" y="4812434"/>
            <a:ext cx="1694294" cy="120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3106" name="Picture 2" descr="http://upload.wikimedia.org/wikipedia/commons/thumb/1/15/All_Nippon_Airways_Boeing_787-8_Dreamliner_JA801A_OKJ_in_flight.jpg/320px-All_Nippon_Airways_Boeing_787-8_Dreamliner_JA801A_OKJ_in_flight.jp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a:stretch/>
        </p:blipFill>
        <p:spPr bwMode="auto">
          <a:xfrm>
            <a:off x="414137" y="3392291"/>
            <a:ext cx="3023641" cy="1255909"/>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2"/>
          <p:cNvSpPr txBox="1">
            <a:spLocks/>
          </p:cNvSpPr>
          <p:nvPr/>
        </p:nvSpPr>
        <p:spPr bwMode="auto">
          <a:xfrm>
            <a:off x="785128" y="1371600"/>
            <a:ext cx="4091672" cy="1563977"/>
          </a:xfrm>
          <a:prstGeom prst="rect">
            <a:avLst/>
          </a:prstGeom>
          <a:solidFill>
            <a:srgbClr val="8693B8"/>
          </a:solidFill>
          <a:ln>
            <a:noFill/>
          </a:ln>
          <a:effectLst/>
          <a:extLst/>
        </p:spPr>
        <p:txBody>
          <a:bodyPr vert="horz" wrap="square" lIns="91440" tIns="45720" rIns="91440" bIns="45720" numCol="1" anchor="ctr" anchorCtr="0" compatLnSpc="1">
            <a:prstTxWarp prst="textNoShape">
              <a:avLst/>
            </a:prstTxWarp>
          </a:bodyPr>
          <a:lstStyle>
            <a:lvl1pPr marL="342900" indent="-342900" algn="l" rtl="0" fontAlgn="base">
              <a:spcBef>
                <a:spcPct val="20000"/>
              </a:spcBef>
              <a:spcAft>
                <a:spcPct val="0"/>
              </a:spcAft>
              <a:buChar char="•"/>
              <a:defRPr>
                <a:solidFill>
                  <a:schemeClr val="tx1"/>
                </a:solidFill>
                <a:latin typeface="+mn-lt"/>
                <a:ea typeface="+mn-ea"/>
                <a:cs typeface="+mn-cs"/>
              </a:defRPr>
            </a:lvl1pPr>
            <a:lvl2pPr marL="742950" indent="-285750" algn="l" rtl="0" fontAlgn="base">
              <a:spcBef>
                <a:spcPct val="20000"/>
              </a:spcBef>
              <a:spcAft>
                <a:spcPct val="0"/>
              </a:spcAft>
              <a:buChar char="–"/>
              <a:defRPr sz="1600">
                <a:solidFill>
                  <a:schemeClr val="tx1"/>
                </a:solidFill>
                <a:latin typeface="+mn-lt"/>
                <a:cs typeface="+mn-cs"/>
              </a:defRPr>
            </a:lvl2pPr>
            <a:lvl3pPr marL="1143000" indent="-228600" algn="l" rtl="0" fontAlgn="base">
              <a:spcBef>
                <a:spcPct val="20000"/>
              </a:spcBef>
              <a:spcAft>
                <a:spcPct val="0"/>
              </a:spcAft>
              <a:buChar char="•"/>
              <a:defRPr sz="1400">
                <a:solidFill>
                  <a:schemeClr val="tx1"/>
                </a:solidFill>
                <a:latin typeface="+mn-lt"/>
                <a:cs typeface="+mn-cs"/>
              </a:defRPr>
            </a:lvl3pPr>
            <a:lvl4pPr marL="1600200" indent="-228600" algn="l" rtl="0" fontAlgn="base">
              <a:spcBef>
                <a:spcPct val="20000"/>
              </a:spcBef>
              <a:spcAft>
                <a:spcPct val="0"/>
              </a:spcAft>
              <a:buChar char="–"/>
              <a:defRPr sz="1400">
                <a:solidFill>
                  <a:schemeClr val="tx1"/>
                </a:solidFill>
                <a:latin typeface="+mn-lt"/>
                <a:cs typeface="+mn-cs"/>
              </a:defRPr>
            </a:lvl4pPr>
            <a:lvl5pPr marL="2057400" indent="-228600" algn="l" rtl="0" fontAlgn="base">
              <a:spcBef>
                <a:spcPct val="20000"/>
              </a:spcBef>
              <a:spcAft>
                <a:spcPct val="0"/>
              </a:spcAft>
              <a:buChar char="»"/>
              <a:defRPr sz="1400">
                <a:solidFill>
                  <a:schemeClr val="tx1"/>
                </a:solidFill>
                <a:latin typeface="+mn-lt"/>
                <a:cs typeface="+mn-cs"/>
              </a:defRPr>
            </a:lvl5pPr>
            <a:lvl6pPr marL="2514600" indent="-228600" algn="l" rtl="0" fontAlgn="base">
              <a:spcBef>
                <a:spcPct val="20000"/>
              </a:spcBef>
              <a:spcAft>
                <a:spcPct val="0"/>
              </a:spcAft>
              <a:buChar char="»"/>
              <a:defRPr sz="1400">
                <a:solidFill>
                  <a:schemeClr val="tx1"/>
                </a:solidFill>
                <a:latin typeface="+mn-lt"/>
                <a:cs typeface="+mn-cs"/>
              </a:defRPr>
            </a:lvl6pPr>
            <a:lvl7pPr marL="2971800" indent="-228600" algn="l" rtl="0" fontAlgn="base">
              <a:spcBef>
                <a:spcPct val="20000"/>
              </a:spcBef>
              <a:spcAft>
                <a:spcPct val="0"/>
              </a:spcAft>
              <a:buChar char="»"/>
              <a:defRPr sz="1400">
                <a:solidFill>
                  <a:schemeClr val="tx1"/>
                </a:solidFill>
                <a:latin typeface="+mn-lt"/>
                <a:cs typeface="+mn-cs"/>
              </a:defRPr>
            </a:lvl7pPr>
            <a:lvl8pPr marL="3429000" indent="-228600" algn="l" rtl="0" fontAlgn="base">
              <a:spcBef>
                <a:spcPct val="20000"/>
              </a:spcBef>
              <a:spcAft>
                <a:spcPct val="0"/>
              </a:spcAft>
              <a:buChar char="»"/>
              <a:defRPr sz="1400">
                <a:solidFill>
                  <a:schemeClr val="tx1"/>
                </a:solidFill>
                <a:latin typeface="+mn-lt"/>
                <a:cs typeface="+mn-cs"/>
              </a:defRPr>
            </a:lvl8pPr>
            <a:lvl9pPr marL="3886200" indent="-228600" algn="l" rtl="0" fontAlgn="base">
              <a:spcBef>
                <a:spcPct val="20000"/>
              </a:spcBef>
              <a:spcAft>
                <a:spcPct val="0"/>
              </a:spcAft>
              <a:buChar char="»"/>
              <a:defRPr sz="1400">
                <a:solidFill>
                  <a:schemeClr val="tx1"/>
                </a:solidFill>
                <a:latin typeface="+mn-lt"/>
                <a:cs typeface="+mn-cs"/>
              </a:defRPr>
            </a:lvl9pPr>
          </a:lstStyle>
          <a:p>
            <a:pPr marL="0" indent="0">
              <a:buFontTx/>
              <a:buNone/>
            </a:pPr>
            <a:r>
              <a:rPr lang="en-US" sz="1600" b="1" dirty="0" smtClean="0">
                <a:solidFill>
                  <a:srgbClr val="FFFFFF"/>
                </a:solidFill>
              </a:rPr>
              <a:t>Trusted Systems Group</a:t>
            </a:r>
          </a:p>
          <a:p>
            <a:r>
              <a:rPr lang="en-US" sz="1600" dirty="0" smtClean="0">
                <a:solidFill>
                  <a:srgbClr val="FFFFFF"/>
                </a:solidFill>
              </a:rPr>
              <a:t>Formal </a:t>
            </a:r>
            <a:r>
              <a:rPr lang="en-US" sz="1600" dirty="0">
                <a:solidFill>
                  <a:srgbClr val="FFFFFF"/>
                </a:solidFill>
              </a:rPr>
              <a:t>methods for verification</a:t>
            </a:r>
          </a:p>
          <a:p>
            <a:r>
              <a:rPr lang="en-US" sz="1600" dirty="0" smtClean="0">
                <a:solidFill>
                  <a:srgbClr val="FFFFFF"/>
                </a:solidFill>
              </a:rPr>
              <a:t>Model-based development</a:t>
            </a:r>
          </a:p>
          <a:p>
            <a:r>
              <a:rPr lang="en-US" sz="1600" dirty="0" smtClean="0">
                <a:solidFill>
                  <a:srgbClr val="FFFFFF"/>
                </a:solidFill>
              </a:rPr>
              <a:t>Practical and effective tools</a:t>
            </a:r>
            <a:endParaRPr lang="en-US" sz="1600" dirty="0">
              <a:solidFill>
                <a:srgbClr val="FFFFFF"/>
              </a:solidFill>
            </a:endParaRPr>
          </a:p>
          <a:p>
            <a:r>
              <a:rPr lang="en-US" sz="1600" dirty="0" smtClean="0">
                <a:solidFill>
                  <a:srgbClr val="FFFFFF"/>
                </a:solidFill>
              </a:rPr>
              <a:t>Certification (DO-178C)</a:t>
            </a:r>
            <a:endParaRPr lang="en-US" sz="1600" dirty="0">
              <a:solidFill>
                <a:srgbClr val="FFFFFF"/>
              </a:solidFill>
            </a:endParaRPr>
          </a:p>
        </p:txBody>
      </p:sp>
      <p:pic>
        <p:nvPicPr>
          <p:cNvPr id="303108" name="Picture 4" descr="Rockwell Collins Common Avionics Architecture System (CAAS) w/synthetic vision technology">
            <a:hlinkClick r:id="rId8" tooltip="Watch: Synthetic Vision for Rotary Wing Platforms "/>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7970" y="4552601"/>
            <a:ext cx="1763790" cy="155381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3"/>
          <p:cNvGrpSpPr>
            <a:grpSpLocks noChangeAspect="1"/>
          </p:cNvGrpSpPr>
          <p:nvPr/>
        </p:nvGrpSpPr>
        <p:grpSpPr bwMode="auto">
          <a:xfrm>
            <a:off x="5638800" y="1371600"/>
            <a:ext cx="3131822" cy="1637149"/>
            <a:chOff x="879" y="893"/>
            <a:chExt cx="4378" cy="2503"/>
          </a:xfrm>
        </p:grpSpPr>
        <p:sp>
          <p:nvSpPr>
            <p:cNvPr id="14" name="Freeform 4"/>
            <p:cNvSpPr>
              <a:spLocks noChangeAspect="1"/>
            </p:cNvSpPr>
            <p:nvPr/>
          </p:nvSpPr>
          <p:spPr bwMode="blackWhite">
            <a:xfrm>
              <a:off x="5051" y="1260"/>
              <a:ext cx="205" cy="337"/>
            </a:xfrm>
            <a:custGeom>
              <a:avLst/>
              <a:gdLst>
                <a:gd name="T0" fmla="*/ 205 w 205"/>
                <a:gd name="T1" fmla="*/ 0 h 337"/>
                <a:gd name="T2" fmla="*/ 0 w 205"/>
                <a:gd name="T3" fmla="*/ 159 h 337"/>
                <a:gd name="T4" fmla="*/ 0 w 205"/>
                <a:gd name="T5" fmla="*/ 337 h 337"/>
                <a:gd name="T6" fmla="*/ 205 w 205"/>
                <a:gd name="T7" fmla="*/ 180 h 337"/>
                <a:gd name="T8" fmla="*/ 205 w 205"/>
                <a:gd name="T9" fmla="*/ 0 h 337"/>
              </a:gdLst>
              <a:ahLst/>
              <a:cxnLst>
                <a:cxn ang="0">
                  <a:pos x="T0" y="T1"/>
                </a:cxn>
                <a:cxn ang="0">
                  <a:pos x="T2" y="T3"/>
                </a:cxn>
                <a:cxn ang="0">
                  <a:pos x="T4" y="T5"/>
                </a:cxn>
                <a:cxn ang="0">
                  <a:pos x="T6" y="T7"/>
                </a:cxn>
                <a:cxn ang="0">
                  <a:pos x="T8" y="T9"/>
                </a:cxn>
              </a:cxnLst>
              <a:rect l="0" t="0" r="r" b="b"/>
              <a:pathLst>
                <a:path w="205" h="337">
                  <a:moveTo>
                    <a:pt x="205" y="0"/>
                  </a:moveTo>
                  <a:lnTo>
                    <a:pt x="0" y="159"/>
                  </a:lnTo>
                  <a:lnTo>
                    <a:pt x="0" y="337"/>
                  </a:lnTo>
                  <a:lnTo>
                    <a:pt x="205" y="180"/>
                  </a:lnTo>
                  <a:lnTo>
                    <a:pt x="205"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5" name="Freeform 5"/>
            <p:cNvSpPr>
              <a:spLocks noChangeAspect="1"/>
            </p:cNvSpPr>
            <p:nvPr/>
          </p:nvSpPr>
          <p:spPr bwMode="blackWhite">
            <a:xfrm>
              <a:off x="4975" y="1419"/>
              <a:ext cx="76" cy="253"/>
            </a:xfrm>
            <a:custGeom>
              <a:avLst/>
              <a:gdLst>
                <a:gd name="T0" fmla="*/ 0 w 76"/>
                <a:gd name="T1" fmla="*/ 72 h 253"/>
                <a:gd name="T2" fmla="*/ 67 w 76"/>
                <a:gd name="T3" fmla="*/ 32 h 253"/>
                <a:gd name="T4" fmla="*/ 76 w 76"/>
                <a:gd name="T5" fmla="*/ 0 h 253"/>
                <a:gd name="T6" fmla="*/ 76 w 76"/>
                <a:gd name="T7" fmla="*/ 175 h 253"/>
                <a:gd name="T8" fmla="*/ 67 w 76"/>
                <a:gd name="T9" fmla="*/ 219 h 253"/>
                <a:gd name="T10" fmla="*/ 0 w 76"/>
                <a:gd name="T11" fmla="*/ 253 h 253"/>
                <a:gd name="T12" fmla="*/ 0 w 76"/>
                <a:gd name="T13" fmla="*/ 72 h 253"/>
              </a:gdLst>
              <a:ahLst/>
              <a:cxnLst>
                <a:cxn ang="0">
                  <a:pos x="T0" y="T1"/>
                </a:cxn>
                <a:cxn ang="0">
                  <a:pos x="T2" y="T3"/>
                </a:cxn>
                <a:cxn ang="0">
                  <a:pos x="T4" y="T5"/>
                </a:cxn>
                <a:cxn ang="0">
                  <a:pos x="T6" y="T7"/>
                </a:cxn>
                <a:cxn ang="0">
                  <a:pos x="T8" y="T9"/>
                </a:cxn>
                <a:cxn ang="0">
                  <a:pos x="T10" y="T11"/>
                </a:cxn>
                <a:cxn ang="0">
                  <a:pos x="T12" y="T13"/>
                </a:cxn>
              </a:cxnLst>
              <a:rect l="0" t="0" r="r" b="b"/>
              <a:pathLst>
                <a:path w="76" h="253">
                  <a:moveTo>
                    <a:pt x="0" y="72"/>
                  </a:moveTo>
                  <a:lnTo>
                    <a:pt x="67" y="32"/>
                  </a:lnTo>
                  <a:lnTo>
                    <a:pt x="76" y="0"/>
                  </a:lnTo>
                  <a:lnTo>
                    <a:pt x="76" y="175"/>
                  </a:lnTo>
                  <a:lnTo>
                    <a:pt x="67" y="219"/>
                  </a:lnTo>
                  <a:lnTo>
                    <a:pt x="0" y="253"/>
                  </a:lnTo>
                  <a:lnTo>
                    <a:pt x="0" y="72"/>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6" name="Freeform 6"/>
            <p:cNvSpPr>
              <a:spLocks noChangeAspect="1"/>
            </p:cNvSpPr>
            <p:nvPr/>
          </p:nvSpPr>
          <p:spPr bwMode="blackWhite">
            <a:xfrm>
              <a:off x="4959" y="1542"/>
              <a:ext cx="25" cy="66"/>
            </a:xfrm>
            <a:custGeom>
              <a:avLst/>
              <a:gdLst>
                <a:gd name="T0" fmla="*/ 25 w 25"/>
                <a:gd name="T1" fmla="*/ 0 h 66"/>
                <a:gd name="T2" fmla="*/ 0 w 25"/>
                <a:gd name="T3" fmla="*/ 25 h 66"/>
                <a:gd name="T4" fmla="*/ 25 w 25"/>
                <a:gd name="T5" fmla="*/ 66 h 66"/>
                <a:gd name="T6" fmla="*/ 25 w 25"/>
                <a:gd name="T7" fmla="*/ 0 h 66"/>
              </a:gdLst>
              <a:ahLst/>
              <a:cxnLst>
                <a:cxn ang="0">
                  <a:pos x="T0" y="T1"/>
                </a:cxn>
                <a:cxn ang="0">
                  <a:pos x="T2" y="T3"/>
                </a:cxn>
                <a:cxn ang="0">
                  <a:pos x="T4" y="T5"/>
                </a:cxn>
                <a:cxn ang="0">
                  <a:pos x="T6" y="T7"/>
                </a:cxn>
              </a:cxnLst>
              <a:rect l="0" t="0" r="r" b="b"/>
              <a:pathLst>
                <a:path w="25" h="66">
                  <a:moveTo>
                    <a:pt x="25" y="0"/>
                  </a:moveTo>
                  <a:lnTo>
                    <a:pt x="0" y="25"/>
                  </a:lnTo>
                  <a:lnTo>
                    <a:pt x="25" y="66"/>
                  </a:lnTo>
                  <a:lnTo>
                    <a:pt x="25"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7" name="Freeform 7"/>
            <p:cNvSpPr>
              <a:spLocks noChangeAspect="1"/>
            </p:cNvSpPr>
            <p:nvPr/>
          </p:nvSpPr>
          <p:spPr bwMode="blackWhite">
            <a:xfrm>
              <a:off x="5043" y="1419"/>
              <a:ext cx="8" cy="217"/>
            </a:xfrm>
            <a:custGeom>
              <a:avLst/>
              <a:gdLst>
                <a:gd name="T0" fmla="*/ 7 w 8"/>
                <a:gd name="T1" fmla="*/ 0 h 217"/>
                <a:gd name="T2" fmla="*/ 0 w 8"/>
                <a:gd name="T3" fmla="*/ 35 h 217"/>
                <a:gd name="T4" fmla="*/ 0 w 8"/>
                <a:gd name="T5" fmla="*/ 217 h 217"/>
                <a:gd name="T6" fmla="*/ 8 w 8"/>
                <a:gd name="T7" fmla="*/ 180 h 217"/>
                <a:gd name="T8" fmla="*/ 7 w 8"/>
                <a:gd name="T9" fmla="*/ 0 h 217"/>
              </a:gdLst>
              <a:ahLst/>
              <a:cxnLst>
                <a:cxn ang="0">
                  <a:pos x="T0" y="T1"/>
                </a:cxn>
                <a:cxn ang="0">
                  <a:pos x="T2" y="T3"/>
                </a:cxn>
                <a:cxn ang="0">
                  <a:pos x="T4" y="T5"/>
                </a:cxn>
                <a:cxn ang="0">
                  <a:pos x="T6" y="T7"/>
                </a:cxn>
                <a:cxn ang="0">
                  <a:pos x="T8" y="T9"/>
                </a:cxn>
              </a:cxnLst>
              <a:rect l="0" t="0" r="r" b="b"/>
              <a:pathLst>
                <a:path w="8" h="217">
                  <a:moveTo>
                    <a:pt x="7" y="0"/>
                  </a:moveTo>
                  <a:lnTo>
                    <a:pt x="0" y="35"/>
                  </a:lnTo>
                  <a:lnTo>
                    <a:pt x="0" y="217"/>
                  </a:lnTo>
                  <a:lnTo>
                    <a:pt x="8" y="180"/>
                  </a:lnTo>
                  <a:lnTo>
                    <a:pt x="7"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8" name="Freeform 8"/>
            <p:cNvSpPr>
              <a:spLocks noChangeAspect="1"/>
            </p:cNvSpPr>
            <p:nvPr/>
          </p:nvSpPr>
          <p:spPr bwMode="blackWhite">
            <a:xfrm>
              <a:off x="3539" y="2739"/>
              <a:ext cx="55" cy="196"/>
            </a:xfrm>
            <a:custGeom>
              <a:avLst/>
              <a:gdLst>
                <a:gd name="T0" fmla="*/ 0 w 55"/>
                <a:gd name="T1" fmla="*/ 34 h 196"/>
                <a:gd name="T2" fmla="*/ 25 w 55"/>
                <a:gd name="T3" fmla="*/ 111 h 196"/>
                <a:gd name="T4" fmla="*/ 25 w 55"/>
                <a:gd name="T5" fmla="*/ 196 h 196"/>
                <a:gd name="T6" fmla="*/ 55 w 55"/>
                <a:gd name="T7" fmla="*/ 175 h 196"/>
                <a:gd name="T8" fmla="*/ 55 w 55"/>
                <a:gd name="T9" fmla="*/ 0 h 196"/>
                <a:gd name="T10" fmla="*/ 0 w 55"/>
                <a:gd name="T11" fmla="*/ 34 h 196"/>
              </a:gdLst>
              <a:ahLst/>
              <a:cxnLst>
                <a:cxn ang="0">
                  <a:pos x="T0" y="T1"/>
                </a:cxn>
                <a:cxn ang="0">
                  <a:pos x="T2" y="T3"/>
                </a:cxn>
                <a:cxn ang="0">
                  <a:pos x="T4" y="T5"/>
                </a:cxn>
                <a:cxn ang="0">
                  <a:pos x="T6" y="T7"/>
                </a:cxn>
                <a:cxn ang="0">
                  <a:pos x="T8" y="T9"/>
                </a:cxn>
                <a:cxn ang="0">
                  <a:pos x="T10" y="T11"/>
                </a:cxn>
              </a:cxnLst>
              <a:rect l="0" t="0" r="r" b="b"/>
              <a:pathLst>
                <a:path w="55" h="196">
                  <a:moveTo>
                    <a:pt x="0" y="34"/>
                  </a:moveTo>
                  <a:lnTo>
                    <a:pt x="25" y="111"/>
                  </a:lnTo>
                  <a:lnTo>
                    <a:pt x="25" y="196"/>
                  </a:lnTo>
                  <a:lnTo>
                    <a:pt x="55" y="175"/>
                  </a:lnTo>
                  <a:lnTo>
                    <a:pt x="55" y="0"/>
                  </a:lnTo>
                  <a:lnTo>
                    <a:pt x="0" y="34"/>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9" name="Freeform 9"/>
            <p:cNvSpPr>
              <a:spLocks noChangeAspect="1"/>
            </p:cNvSpPr>
            <p:nvPr/>
          </p:nvSpPr>
          <p:spPr bwMode="blackWhite">
            <a:xfrm>
              <a:off x="3594" y="2732"/>
              <a:ext cx="172" cy="182"/>
            </a:xfrm>
            <a:custGeom>
              <a:avLst/>
              <a:gdLst>
                <a:gd name="T0" fmla="*/ 0 w 172"/>
                <a:gd name="T1" fmla="*/ 7 h 182"/>
                <a:gd name="T2" fmla="*/ 73 w 172"/>
                <a:gd name="T3" fmla="*/ 0 h 182"/>
                <a:gd name="T4" fmla="*/ 172 w 172"/>
                <a:gd name="T5" fmla="*/ 0 h 182"/>
                <a:gd name="T6" fmla="*/ 172 w 172"/>
                <a:gd name="T7" fmla="*/ 177 h 182"/>
                <a:gd name="T8" fmla="*/ 73 w 172"/>
                <a:gd name="T9" fmla="*/ 177 h 182"/>
                <a:gd name="T10" fmla="*/ 0 w 172"/>
                <a:gd name="T11" fmla="*/ 182 h 182"/>
                <a:gd name="T12" fmla="*/ 0 w 172"/>
                <a:gd name="T13" fmla="*/ 7 h 182"/>
              </a:gdLst>
              <a:ahLst/>
              <a:cxnLst>
                <a:cxn ang="0">
                  <a:pos x="T0" y="T1"/>
                </a:cxn>
                <a:cxn ang="0">
                  <a:pos x="T2" y="T3"/>
                </a:cxn>
                <a:cxn ang="0">
                  <a:pos x="T4" y="T5"/>
                </a:cxn>
                <a:cxn ang="0">
                  <a:pos x="T6" y="T7"/>
                </a:cxn>
                <a:cxn ang="0">
                  <a:pos x="T8" y="T9"/>
                </a:cxn>
                <a:cxn ang="0">
                  <a:pos x="T10" y="T11"/>
                </a:cxn>
                <a:cxn ang="0">
                  <a:pos x="T12" y="T13"/>
                </a:cxn>
              </a:cxnLst>
              <a:rect l="0" t="0" r="r" b="b"/>
              <a:pathLst>
                <a:path w="172" h="182">
                  <a:moveTo>
                    <a:pt x="0" y="7"/>
                  </a:moveTo>
                  <a:lnTo>
                    <a:pt x="73" y="0"/>
                  </a:lnTo>
                  <a:lnTo>
                    <a:pt x="172" y="0"/>
                  </a:lnTo>
                  <a:lnTo>
                    <a:pt x="172" y="177"/>
                  </a:lnTo>
                  <a:lnTo>
                    <a:pt x="73" y="177"/>
                  </a:lnTo>
                  <a:lnTo>
                    <a:pt x="0" y="182"/>
                  </a:lnTo>
                  <a:lnTo>
                    <a:pt x="0" y="7"/>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20" name="Freeform 10"/>
            <p:cNvSpPr>
              <a:spLocks noChangeAspect="1"/>
            </p:cNvSpPr>
            <p:nvPr/>
          </p:nvSpPr>
          <p:spPr bwMode="blackWhite">
            <a:xfrm>
              <a:off x="3769" y="2734"/>
              <a:ext cx="81" cy="249"/>
            </a:xfrm>
            <a:custGeom>
              <a:avLst/>
              <a:gdLst>
                <a:gd name="T0" fmla="*/ 0 w 81"/>
                <a:gd name="T1" fmla="*/ 0 h 249"/>
                <a:gd name="T2" fmla="*/ 0 w 81"/>
                <a:gd name="T3" fmla="*/ 175 h 249"/>
                <a:gd name="T4" fmla="*/ 81 w 81"/>
                <a:gd name="T5" fmla="*/ 249 h 249"/>
                <a:gd name="T6" fmla="*/ 81 w 81"/>
                <a:gd name="T7" fmla="*/ 69 h 249"/>
                <a:gd name="T8" fmla="*/ 0 w 81"/>
                <a:gd name="T9" fmla="*/ 0 h 249"/>
              </a:gdLst>
              <a:ahLst/>
              <a:cxnLst>
                <a:cxn ang="0">
                  <a:pos x="T0" y="T1"/>
                </a:cxn>
                <a:cxn ang="0">
                  <a:pos x="T2" y="T3"/>
                </a:cxn>
                <a:cxn ang="0">
                  <a:pos x="T4" y="T5"/>
                </a:cxn>
                <a:cxn ang="0">
                  <a:pos x="T6" y="T7"/>
                </a:cxn>
                <a:cxn ang="0">
                  <a:pos x="T8" y="T9"/>
                </a:cxn>
              </a:cxnLst>
              <a:rect l="0" t="0" r="r" b="b"/>
              <a:pathLst>
                <a:path w="81" h="249">
                  <a:moveTo>
                    <a:pt x="0" y="0"/>
                  </a:moveTo>
                  <a:lnTo>
                    <a:pt x="0" y="175"/>
                  </a:lnTo>
                  <a:lnTo>
                    <a:pt x="81" y="249"/>
                  </a:lnTo>
                  <a:lnTo>
                    <a:pt x="81" y="69"/>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21" name="Freeform 11"/>
            <p:cNvSpPr>
              <a:spLocks noChangeAspect="1"/>
            </p:cNvSpPr>
            <p:nvPr/>
          </p:nvSpPr>
          <p:spPr bwMode="blackWhite">
            <a:xfrm>
              <a:off x="3850" y="2780"/>
              <a:ext cx="101" cy="200"/>
            </a:xfrm>
            <a:custGeom>
              <a:avLst/>
              <a:gdLst>
                <a:gd name="T0" fmla="*/ 0 w 101"/>
                <a:gd name="T1" fmla="*/ 25 h 200"/>
                <a:gd name="T2" fmla="*/ 101 w 101"/>
                <a:gd name="T3" fmla="*/ 0 h 200"/>
                <a:gd name="T4" fmla="*/ 101 w 101"/>
                <a:gd name="T5" fmla="*/ 178 h 200"/>
                <a:gd name="T6" fmla="*/ 0 w 101"/>
                <a:gd name="T7" fmla="*/ 200 h 200"/>
                <a:gd name="T8" fmla="*/ 0 w 101"/>
                <a:gd name="T9" fmla="*/ 25 h 200"/>
              </a:gdLst>
              <a:ahLst/>
              <a:cxnLst>
                <a:cxn ang="0">
                  <a:pos x="T0" y="T1"/>
                </a:cxn>
                <a:cxn ang="0">
                  <a:pos x="T2" y="T3"/>
                </a:cxn>
                <a:cxn ang="0">
                  <a:pos x="T4" y="T5"/>
                </a:cxn>
                <a:cxn ang="0">
                  <a:pos x="T6" y="T7"/>
                </a:cxn>
                <a:cxn ang="0">
                  <a:pos x="T8" y="T9"/>
                </a:cxn>
              </a:cxnLst>
              <a:rect l="0" t="0" r="r" b="b"/>
              <a:pathLst>
                <a:path w="101" h="200">
                  <a:moveTo>
                    <a:pt x="0" y="25"/>
                  </a:moveTo>
                  <a:lnTo>
                    <a:pt x="101" y="0"/>
                  </a:lnTo>
                  <a:lnTo>
                    <a:pt x="101" y="178"/>
                  </a:lnTo>
                  <a:lnTo>
                    <a:pt x="0" y="200"/>
                  </a:lnTo>
                  <a:lnTo>
                    <a:pt x="0" y="25"/>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22" name="Freeform 12"/>
            <p:cNvSpPr>
              <a:spLocks noChangeAspect="1"/>
            </p:cNvSpPr>
            <p:nvPr/>
          </p:nvSpPr>
          <p:spPr bwMode="blackWhite">
            <a:xfrm>
              <a:off x="4019" y="2953"/>
              <a:ext cx="66" cy="277"/>
            </a:xfrm>
            <a:custGeom>
              <a:avLst/>
              <a:gdLst>
                <a:gd name="T0" fmla="*/ 0 w 66"/>
                <a:gd name="T1" fmla="*/ 0 h 277"/>
                <a:gd name="T2" fmla="*/ 66 w 66"/>
                <a:gd name="T3" fmla="*/ 98 h 277"/>
                <a:gd name="T4" fmla="*/ 66 w 66"/>
                <a:gd name="T5" fmla="*/ 277 h 277"/>
                <a:gd name="T6" fmla="*/ 0 w 66"/>
                <a:gd name="T7" fmla="*/ 176 h 277"/>
                <a:gd name="T8" fmla="*/ 0 w 66"/>
                <a:gd name="T9" fmla="*/ 0 h 277"/>
              </a:gdLst>
              <a:ahLst/>
              <a:cxnLst>
                <a:cxn ang="0">
                  <a:pos x="T0" y="T1"/>
                </a:cxn>
                <a:cxn ang="0">
                  <a:pos x="T2" y="T3"/>
                </a:cxn>
                <a:cxn ang="0">
                  <a:pos x="T4" y="T5"/>
                </a:cxn>
                <a:cxn ang="0">
                  <a:pos x="T6" y="T7"/>
                </a:cxn>
                <a:cxn ang="0">
                  <a:pos x="T8" y="T9"/>
                </a:cxn>
              </a:cxnLst>
              <a:rect l="0" t="0" r="r" b="b"/>
              <a:pathLst>
                <a:path w="66" h="277">
                  <a:moveTo>
                    <a:pt x="0" y="0"/>
                  </a:moveTo>
                  <a:lnTo>
                    <a:pt x="66" y="98"/>
                  </a:lnTo>
                  <a:lnTo>
                    <a:pt x="66" y="277"/>
                  </a:lnTo>
                  <a:lnTo>
                    <a:pt x="0" y="176"/>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23" name="Freeform 13"/>
            <p:cNvSpPr>
              <a:spLocks noChangeAspect="1"/>
            </p:cNvSpPr>
            <p:nvPr/>
          </p:nvSpPr>
          <p:spPr bwMode="blackWhite">
            <a:xfrm>
              <a:off x="3951" y="2780"/>
              <a:ext cx="84" cy="252"/>
            </a:xfrm>
            <a:custGeom>
              <a:avLst/>
              <a:gdLst>
                <a:gd name="T0" fmla="*/ 0 w 84"/>
                <a:gd name="T1" fmla="*/ 0 h 252"/>
                <a:gd name="T2" fmla="*/ 84 w 84"/>
                <a:gd name="T3" fmla="*/ 91 h 252"/>
                <a:gd name="T4" fmla="*/ 66 w 84"/>
                <a:gd name="T5" fmla="*/ 173 h 252"/>
                <a:gd name="T6" fmla="*/ 66 w 84"/>
                <a:gd name="T7" fmla="*/ 252 h 252"/>
                <a:gd name="T8" fmla="*/ 0 w 84"/>
                <a:gd name="T9" fmla="*/ 175 h 252"/>
                <a:gd name="T10" fmla="*/ 0 w 84"/>
                <a:gd name="T11" fmla="*/ 0 h 252"/>
              </a:gdLst>
              <a:ahLst/>
              <a:cxnLst>
                <a:cxn ang="0">
                  <a:pos x="T0" y="T1"/>
                </a:cxn>
                <a:cxn ang="0">
                  <a:pos x="T2" y="T3"/>
                </a:cxn>
                <a:cxn ang="0">
                  <a:pos x="T4" y="T5"/>
                </a:cxn>
                <a:cxn ang="0">
                  <a:pos x="T6" y="T7"/>
                </a:cxn>
                <a:cxn ang="0">
                  <a:pos x="T8" y="T9"/>
                </a:cxn>
                <a:cxn ang="0">
                  <a:pos x="T10" y="T11"/>
                </a:cxn>
              </a:cxnLst>
              <a:rect l="0" t="0" r="r" b="b"/>
              <a:pathLst>
                <a:path w="84" h="252">
                  <a:moveTo>
                    <a:pt x="0" y="0"/>
                  </a:moveTo>
                  <a:lnTo>
                    <a:pt x="84" y="91"/>
                  </a:lnTo>
                  <a:lnTo>
                    <a:pt x="66" y="173"/>
                  </a:lnTo>
                  <a:lnTo>
                    <a:pt x="66" y="252"/>
                  </a:lnTo>
                  <a:lnTo>
                    <a:pt x="0" y="175"/>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24" name="Freeform 14"/>
            <p:cNvSpPr>
              <a:spLocks noChangeAspect="1"/>
            </p:cNvSpPr>
            <p:nvPr/>
          </p:nvSpPr>
          <p:spPr bwMode="blackWhite">
            <a:xfrm>
              <a:off x="2934" y="2804"/>
              <a:ext cx="178" cy="313"/>
            </a:xfrm>
            <a:custGeom>
              <a:avLst/>
              <a:gdLst>
                <a:gd name="T0" fmla="*/ 16 w 178"/>
                <a:gd name="T1" fmla="*/ 313 h 313"/>
                <a:gd name="T2" fmla="*/ 0 w 178"/>
                <a:gd name="T3" fmla="*/ 214 h 313"/>
                <a:gd name="T4" fmla="*/ 37 w 178"/>
                <a:gd name="T5" fmla="*/ 114 h 313"/>
                <a:gd name="T6" fmla="*/ 178 w 178"/>
                <a:gd name="T7" fmla="*/ 0 h 313"/>
                <a:gd name="T8" fmla="*/ 178 w 178"/>
                <a:gd name="T9" fmla="*/ 175 h 313"/>
                <a:gd name="T10" fmla="*/ 39 w 178"/>
                <a:gd name="T11" fmla="*/ 286 h 313"/>
                <a:gd name="T12" fmla="*/ 16 w 178"/>
                <a:gd name="T13" fmla="*/ 313 h 313"/>
              </a:gdLst>
              <a:ahLst/>
              <a:cxnLst>
                <a:cxn ang="0">
                  <a:pos x="T0" y="T1"/>
                </a:cxn>
                <a:cxn ang="0">
                  <a:pos x="T2" y="T3"/>
                </a:cxn>
                <a:cxn ang="0">
                  <a:pos x="T4" y="T5"/>
                </a:cxn>
                <a:cxn ang="0">
                  <a:pos x="T6" y="T7"/>
                </a:cxn>
                <a:cxn ang="0">
                  <a:pos x="T8" y="T9"/>
                </a:cxn>
                <a:cxn ang="0">
                  <a:pos x="T10" y="T11"/>
                </a:cxn>
                <a:cxn ang="0">
                  <a:pos x="T12" y="T13"/>
                </a:cxn>
              </a:cxnLst>
              <a:rect l="0" t="0" r="r" b="b"/>
              <a:pathLst>
                <a:path w="178" h="313">
                  <a:moveTo>
                    <a:pt x="16" y="313"/>
                  </a:moveTo>
                  <a:lnTo>
                    <a:pt x="0" y="214"/>
                  </a:lnTo>
                  <a:lnTo>
                    <a:pt x="37" y="114"/>
                  </a:lnTo>
                  <a:lnTo>
                    <a:pt x="178" y="0"/>
                  </a:lnTo>
                  <a:lnTo>
                    <a:pt x="178" y="175"/>
                  </a:lnTo>
                  <a:lnTo>
                    <a:pt x="39" y="286"/>
                  </a:lnTo>
                  <a:lnTo>
                    <a:pt x="16" y="313"/>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25" name="Freeform 15"/>
            <p:cNvSpPr>
              <a:spLocks noChangeAspect="1"/>
            </p:cNvSpPr>
            <p:nvPr/>
          </p:nvSpPr>
          <p:spPr bwMode="blackWhite">
            <a:xfrm>
              <a:off x="3112" y="2777"/>
              <a:ext cx="99" cy="200"/>
            </a:xfrm>
            <a:custGeom>
              <a:avLst/>
              <a:gdLst>
                <a:gd name="T0" fmla="*/ 0 w 99"/>
                <a:gd name="T1" fmla="*/ 27 h 200"/>
                <a:gd name="T2" fmla="*/ 0 w 99"/>
                <a:gd name="T3" fmla="*/ 200 h 200"/>
                <a:gd name="T4" fmla="*/ 99 w 99"/>
                <a:gd name="T5" fmla="*/ 175 h 200"/>
                <a:gd name="T6" fmla="*/ 99 w 99"/>
                <a:gd name="T7" fmla="*/ 0 h 200"/>
                <a:gd name="T8" fmla="*/ 0 w 99"/>
                <a:gd name="T9" fmla="*/ 27 h 200"/>
              </a:gdLst>
              <a:ahLst/>
              <a:cxnLst>
                <a:cxn ang="0">
                  <a:pos x="T0" y="T1"/>
                </a:cxn>
                <a:cxn ang="0">
                  <a:pos x="T2" y="T3"/>
                </a:cxn>
                <a:cxn ang="0">
                  <a:pos x="T4" y="T5"/>
                </a:cxn>
                <a:cxn ang="0">
                  <a:pos x="T6" y="T7"/>
                </a:cxn>
                <a:cxn ang="0">
                  <a:pos x="T8" y="T9"/>
                </a:cxn>
              </a:cxnLst>
              <a:rect l="0" t="0" r="r" b="b"/>
              <a:pathLst>
                <a:path w="99" h="200">
                  <a:moveTo>
                    <a:pt x="0" y="27"/>
                  </a:moveTo>
                  <a:lnTo>
                    <a:pt x="0" y="200"/>
                  </a:lnTo>
                  <a:lnTo>
                    <a:pt x="99" y="175"/>
                  </a:lnTo>
                  <a:lnTo>
                    <a:pt x="99" y="0"/>
                  </a:lnTo>
                  <a:lnTo>
                    <a:pt x="0" y="27"/>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26" name="Freeform 16"/>
            <p:cNvSpPr>
              <a:spLocks noChangeAspect="1"/>
            </p:cNvSpPr>
            <p:nvPr/>
          </p:nvSpPr>
          <p:spPr bwMode="blackWhite">
            <a:xfrm>
              <a:off x="3211" y="2777"/>
              <a:ext cx="200" cy="246"/>
            </a:xfrm>
            <a:custGeom>
              <a:avLst/>
              <a:gdLst>
                <a:gd name="T0" fmla="*/ 0 w 200"/>
                <a:gd name="T1" fmla="*/ 0 h 246"/>
                <a:gd name="T2" fmla="*/ 200 w 200"/>
                <a:gd name="T3" fmla="*/ 71 h 246"/>
                <a:gd name="T4" fmla="*/ 200 w 200"/>
                <a:gd name="T5" fmla="*/ 246 h 246"/>
                <a:gd name="T6" fmla="*/ 0 w 200"/>
                <a:gd name="T7" fmla="*/ 175 h 246"/>
                <a:gd name="T8" fmla="*/ 0 w 200"/>
                <a:gd name="T9" fmla="*/ 0 h 246"/>
              </a:gdLst>
              <a:ahLst/>
              <a:cxnLst>
                <a:cxn ang="0">
                  <a:pos x="T0" y="T1"/>
                </a:cxn>
                <a:cxn ang="0">
                  <a:pos x="T2" y="T3"/>
                </a:cxn>
                <a:cxn ang="0">
                  <a:pos x="T4" y="T5"/>
                </a:cxn>
                <a:cxn ang="0">
                  <a:pos x="T6" y="T7"/>
                </a:cxn>
                <a:cxn ang="0">
                  <a:pos x="T8" y="T9"/>
                </a:cxn>
              </a:cxnLst>
              <a:rect l="0" t="0" r="r" b="b"/>
              <a:pathLst>
                <a:path w="200" h="246">
                  <a:moveTo>
                    <a:pt x="0" y="0"/>
                  </a:moveTo>
                  <a:lnTo>
                    <a:pt x="200" y="71"/>
                  </a:lnTo>
                  <a:lnTo>
                    <a:pt x="200" y="246"/>
                  </a:lnTo>
                  <a:lnTo>
                    <a:pt x="0" y="175"/>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27" name="Freeform 17"/>
            <p:cNvSpPr>
              <a:spLocks noChangeAspect="1"/>
            </p:cNvSpPr>
            <p:nvPr/>
          </p:nvSpPr>
          <p:spPr bwMode="blackWhite">
            <a:xfrm>
              <a:off x="3411" y="2848"/>
              <a:ext cx="155" cy="182"/>
            </a:xfrm>
            <a:custGeom>
              <a:avLst/>
              <a:gdLst>
                <a:gd name="T0" fmla="*/ 0 w 155"/>
                <a:gd name="T1" fmla="*/ 0 h 182"/>
                <a:gd name="T2" fmla="*/ 0 w 155"/>
                <a:gd name="T3" fmla="*/ 175 h 182"/>
                <a:gd name="T4" fmla="*/ 155 w 155"/>
                <a:gd name="T5" fmla="*/ 182 h 182"/>
                <a:gd name="T6" fmla="*/ 155 w 155"/>
                <a:gd name="T7" fmla="*/ 4 h 182"/>
                <a:gd name="T8" fmla="*/ 0 w 155"/>
                <a:gd name="T9" fmla="*/ 0 h 182"/>
              </a:gdLst>
              <a:ahLst/>
              <a:cxnLst>
                <a:cxn ang="0">
                  <a:pos x="T0" y="T1"/>
                </a:cxn>
                <a:cxn ang="0">
                  <a:pos x="T2" y="T3"/>
                </a:cxn>
                <a:cxn ang="0">
                  <a:pos x="T4" y="T5"/>
                </a:cxn>
                <a:cxn ang="0">
                  <a:pos x="T6" y="T7"/>
                </a:cxn>
                <a:cxn ang="0">
                  <a:pos x="T8" y="T9"/>
                </a:cxn>
              </a:cxnLst>
              <a:rect l="0" t="0" r="r" b="b"/>
              <a:pathLst>
                <a:path w="155" h="182">
                  <a:moveTo>
                    <a:pt x="0" y="0"/>
                  </a:moveTo>
                  <a:lnTo>
                    <a:pt x="0" y="175"/>
                  </a:lnTo>
                  <a:lnTo>
                    <a:pt x="155" y="182"/>
                  </a:lnTo>
                  <a:lnTo>
                    <a:pt x="155" y="4"/>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28" name="Freeform 18"/>
            <p:cNvSpPr>
              <a:spLocks noChangeAspect="1"/>
            </p:cNvSpPr>
            <p:nvPr/>
          </p:nvSpPr>
          <p:spPr bwMode="blackWhite">
            <a:xfrm>
              <a:off x="4204" y="3132"/>
              <a:ext cx="87" cy="258"/>
            </a:xfrm>
            <a:custGeom>
              <a:avLst/>
              <a:gdLst>
                <a:gd name="T0" fmla="*/ 0 w 87"/>
                <a:gd name="T1" fmla="*/ 83 h 258"/>
                <a:gd name="T2" fmla="*/ 87 w 87"/>
                <a:gd name="T3" fmla="*/ 0 h 258"/>
                <a:gd name="T4" fmla="*/ 87 w 87"/>
                <a:gd name="T5" fmla="*/ 173 h 258"/>
                <a:gd name="T6" fmla="*/ 0 w 87"/>
                <a:gd name="T7" fmla="*/ 258 h 258"/>
                <a:gd name="T8" fmla="*/ 0 w 87"/>
                <a:gd name="T9" fmla="*/ 83 h 258"/>
              </a:gdLst>
              <a:ahLst/>
              <a:cxnLst>
                <a:cxn ang="0">
                  <a:pos x="T0" y="T1"/>
                </a:cxn>
                <a:cxn ang="0">
                  <a:pos x="T2" y="T3"/>
                </a:cxn>
                <a:cxn ang="0">
                  <a:pos x="T4" y="T5"/>
                </a:cxn>
                <a:cxn ang="0">
                  <a:pos x="T6" y="T7"/>
                </a:cxn>
                <a:cxn ang="0">
                  <a:pos x="T8" y="T9"/>
                </a:cxn>
              </a:cxnLst>
              <a:rect l="0" t="0" r="r" b="b"/>
              <a:pathLst>
                <a:path w="87" h="258">
                  <a:moveTo>
                    <a:pt x="0" y="83"/>
                  </a:moveTo>
                  <a:lnTo>
                    <a:pt x="87" y="0"/>
                  </a:lnTo>
                  <a:lnTo>
                    <a:pt x="87" y="173"/>
                  </a:lnTo>
                  <a:lnTo>
                    <a:pt x="0" y="258"/>
                  </a:lnTo>
                  <a:lnTo>
                    <a:pt x="0" y="83"/>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29" name="Freeform 19"/>
            <p:cNvSpPr>
              <a:spLocks noChangeAspect="1"/>
            </p:cNvSpPr>
            <p:nvPr/>
          </p:nvSpPr>
          <p:spPr bwMode="blackWhite">
            <a:xfrm>
              <a:off x="4083" y="3053"/>
              <a:ext cx="28" cy="178"/>
            </a:xfrm>
            <a:custGeom>
              <a:avLst/>
              <a:gdLst>
                <a:gd name="T0" fmla="*/ 0 w 28"/>
                <a:gd name="T1" fmla="*/ 0 h 178"/>
                <a:gd name="T2" fmla="*/ 0 w 28"/>
                <a:gd name="T3" fmla="*/ 178 h 178"/>
                <a:gd name="T4" fmla="*/ 28 w 28"/>
                <a:gd name="T5" fmla="*/ 178 h 178"/>
                <a:gd name="T6" fmla="*/ 28 w 28"/>
                <a:gd name="T7" fmla="*/ 2 h 178"/>
                <a:gd name="T8" fmla="*/ 0 w 28"/>
                <a:gd name="T9" fmla="*/ 0 h 178"/>
              </a:gdLst>
              <a:ahLst/>
              <a:cxnLst>
                <a:cxn ang="0">
                  <a:pos x="T0" y="T1"/>
                </a:cxn>
                <a:cxn ang="0">
                  <a:pos x="T2" y="T3"/>
                </a:cxn>
                <a:cxn ang="0">
                  <a:pos x="T4" y="T5"/>
                </a:cxn>
                <a:cxn ang="0">
                  <a:pos x="T6" y="T7"/>
                </a:cxn>
                <a:cxn ang="0">
                  <a:pos x="T8" y="T9"/>
                </a:cxn>
              </a:cxnLst>
              <a:rect l="0" t="0" r="r" b="b"/>
              <a:pathLst>
                <a:path w="28" h="178">
                  <a:moveTo>
                    <a:pt x="0" y="0"/>
                  </a:moveTo>
                  <a:lnTo>
                    <a:pt x="0" y="178"/>
                  </a:lnTo>
                  <a:lnTo>
                    <a:pt x="28" y="178"/>
                  </a:lnTo>
                  <a:lnTo>
                    <a:pt x="28" y="2"/>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30" name="Freeform 20"/>
            <p:cNvSpPr>
              <a:spLocks noChangeAspect="1"/>
            </p:cNvSpPr>
            <p:nvPr/>
          </p:nvSpPr>
          <p:spPr bwMode="blackWhite">
            <a:xfrm>
              <a:off x="4134" y="3215"/>
              <a:ext cx="70" cy="180"/>
            </a:xfrm>
            <a:custGeom>
              <a:avLst/>
              <a:gdLst>
                <a:gd name="T0" fmla="*/ 0 w 70"/>
                <a:gd name="T1" fmla="*/ 5 h 180"/>
                <a:gd name="T2" fmla="*/ 70 w 70"/>
                <a:gd name="T3" fmla="*/ 0 h 180"/>
                <a:gd name="T4" fmla="*/ 70 w 70"/>
                <a:gd name="T5" fmla="*/ 173 h 180"/>
                <a:gd name="T6" fmla="*/ 0 w 70"/>
                <a:gd name="T7" fmla="*/ 180 h 180"/>
                <a:gd name="T8" fmla="*/ 0 w 70"/>
                <a:gd name="T9" fmla="*/ 5 h 180"/>
              </a:gdLst>
              <a:ahLst/>
              <a:cxnLst>
                <a:cxn ang="0">
                  <a:pos x="T0" y="T1"/>
                </a:cxn>
                <a:cxn ang="0">
                  <a:pos x="T2" y="T3"/>
                </a:cxn>
                <a:cxn ang="0">
                  <a:pos x="T4" y="T5"/>
                </a:cxn>
                <a:cxn ang="0">
                  <a:pos x="T6" y="T7"/>
                </a:cxn>
                <a:cxn ang="0">
                  <a:pos x="T8" y="T9"/>
                </a:cxn>
              </a:cxnLst>
              <a:rect l="0" t="0" r="r" b="b"/>
              <a:pathLst>
                <a:path w="70" h="180">
                  <a:moveTo>
                    <a:pt x="0" y="5"/>
                  </a:moveTo>
                  <a:lnTo>
                    <a:pt x="70" y="0"/>
                  </a:lnTo>
                  <a:lnTo>
                    <a:pt x="70" y="173"/>
                  </a:lnTo>
                  <a:lnTo>
                    <a:pt x="0" y="180"/>
                  </a:lnTo>
                  <a:lnTo>
                    <a:pt x="0" y="5"/>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31" name="Freeform 21"/>
            <p:cNvSpPr>
              <a:spLocks noChangeAspect="1"/>
            </p:cNvSpPr>
            <p:nvPr/>
          </p:nvSpPr>
          <p:spPr bwMode="blackWhite">
            <a:xfrm>
              <a:off x="4110" y="3054"/>
              <a:ext cx="24" cy="342"/>
            </a:xfrm>
            <a:custGeom>
              <a:avLst/>
              <a:gdLst>
                <a:gd name="T0" fmla="*/ 0 w 24"/>
                <a:gd name="T1" fmla="*/ 0 h 342"/>
                <a:gd name="T2" fmla="*/ 24 w 24"/>
                <a:gd name="T3" fmla="*/ 170 h 342"/>
                <a:gd name="T4" fmla="*/ 24 w 24"/>
                <a:gd name="T5" fmla="*/ 342 h 342"/>
                <a:gd name="T6" fmla="*/ 0 w 24"/>
                <a:gd name="T7" fmla="*/ 176 h 342"/>
                <a:gd name="T8" fmla="*/ 0 w 24"/>
                <a:gd name="T9" fmla="*/ 0 h 342"/>
              </a:gdLst>
              <a:ahLst/>
              <a:cxnLst>
                <a:cxn ang="0">
                  <a:pos x="T0" y="T1"/>
                </a:cxn>
                <a:cxn ang="0">
                  <a:pos x="T2" y="T3"/>
                </a:cxn>
                <a:cxn ang="0">
                  <a:pos x="T4" y="T5"/>
                </a:cxn>
                <a:cxn ang="0">
                  <a:pos x="T6" y="T7"/>
                </a:cxn>
                <a:cxn ang="0">
                  <a:pos x="T8" y="T9"/>
                </a:cxn>
              </a:cxnLst>
              <a:rect l="0" t="0" r="r" b="b"/>
              <a:pathLst>
                <a:path w="24" h="342">
                  <a:moveTo>
                    <a:pt x="0" y="0"/>
                  </a:moveTo>
                  <a:lnTo>
                    <a:pt x="24" y="170"/>
                  </a:lnTo>
                  <a:lnTo>
                    <a:pt x="24" y="342"/>
                  </a:lnTo>
                  <a:lnTo>
                    <a:pt x="0" y="176"/>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32" name="Freeform 22"/>
            <p:cNvSpPr>
              <a:spLocks noChangeAspect="1"/>
            </p:cNvSpPr>
            <p:nvPr/>
          </p:nvSpPr>
          <p:spPr bwMode="blackWhite">
            <a:xfrm>
              <a:off x="4204" y="2518"/>
              <a:ext cx="73" cy="203"/>
            </a:xfrm>
            <a:custGeom>
              <a:avLst/>
              <a:gdLst>
                <a:gd name="T0" fmla="*/ 0 w 73"/>
                <a:gd name="T1" fmla="*/ 25 h 203"/>
                <a:gd name="T2" fmla="*/ 73 w 73"/>
                <a:gd name="T3" fmla="*/ 0 h 203"/>
                <a:gd name="T4" fmla="*/ 73 w 73"/>
                <a:gd name="T5" fmla="*/ 177 h 203"/>
                <a:gd name="T6" fmla="*/ 0 w 73"/>
                <a:gd name="T7" fmla="*/ 203 h 203"/>
                <a:gd name="T8" fmla="*/ 0 w 73"/>
                <a:gd name="T9" fmla="*/ 25 h 203"/>
              </a:gdLst>
              <a:ahLst/>
              <a:cxnLst>
                <a:cxn ang="0">
                  <a:pos x="T0" y="T1"/>
                </a:cxn>
                <a:cxn ang="0">
                  <a:pos x="T2" y="T3"/>
                </a:cxn>
                <a:cxn ang="0">
                  <a:pos x="T4" y="T5"/>
                </a:cxn>
                <a:cxn ang="0">
                  <a:pos x="T6" y="T7"/>
                </a:cxn>
                <a:cxn ang="0">
                  <a:pos x="T8" y="T9"/>
                </a:cxn>
              </a:cxnLst>
              <a:rect l="0" t="0" r="r" b="b"/>
              <a:pathLst>
                <a:path w="73" h="203">
                  <a:moveTo>
                    <a:pt x="0" y="25"/>
                  </a:moveTo>
                  <a:lnTo>
                    <a:pt x="73" y="0"/>
                  </a:lnTo>
                  <a:lnTo>
                    <a:pt x="73" y="177"/>
                  </a:lnTo>
                  <a:lnTo>
                    <a:pt x="0" y="203"/>
                  </a:lnTo>
                  <a:lnTo>
                    <a:pt x="0" y="25"/>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33" name="Freeform 23"/>
            <p:cNvSpPr>
              <a:spLocks noChangeAspect="1"/>
            </p:cNvSpPr>
            <p:nvPr/>
          </p:nvSpPr>
          <p:spPr bwMode="blackWhite">
            <a:xfrm>
              <a:off x="4277" y="2416"/>
              <a:ext cx="97" cy="282"/>
            </a:xfrm>
            <a:custGeom>
              <a:avLst/>
              <a:gdLst>
                <a:gd name="T0" fmla="*/ 0 w 97"/>
                <a:gd name="T1" fmla="*/ 102 h 282"/>
                <a:gd name="T2" fmla="*/ 97 w 97"/>
                <a:gd name="T3" fmla="*/ 0 h 282"/>
                <a:gd name="T4" fmla="*/ 97 w 97"/>
                <a:gd name="T5" fmla="*/ 179 h 282"/>
                <a:gd name="T6" fmla="*/ 0 w 97"/>
                <a:gd name="T7" fmla="*/ 282 h 282"/>
                <a:gd name="T8" fmla="*/ 0 w 97"/>
                <a:gd name="T9" fmla="*/ 102 h 282"/>
              </a:gdLst>
              <a:ahLst/>
              <a:cxnLst>
                <a:cxn ang="0">
                  <a:pos x="T0" y="T1"/>
                </a:cxn>
                <a:cxn ang="0">
                  <a:pos x="T2" y="T3"/>
                </a:cxn>
                <a:cxn ang="0">
                  <a:pos x="T4" y="T5"/>
                </a:cxn>
                <a:cxn ang="0">
                  <a:pos x="T6" y="T7"/>
                </a:cxn>
                <a:cxn ang="0">
                  <a:pos x="T8" y="T9"/>
                </a:cxn>
              </a:cxnLst>
              <a:rect l="0" t="0" r="r" b="b"/>
              <a:pathLst>
                <a:path w="97" h="282">
                  <a:moveTo>
                    <a:pt x="0" y="102"/>
                  </a:moveTo>
                  <a:lnTo>
                    <a:pt x="97" y="0"/>
                  </a:lnTo>
                  <a:lnTo>
                    <a:pt x="97" y="179"/>
                  </a:lnTo>
                  <a:lnTo>
                    <a:pt x="0" y="282"/>
                  </a:lnTo>
                  <a:lnTo>
                    <a:pt x="0" y="102"/>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34" name="Freeform 24"/>
            <p:cNvSpPr>
              <a:spLocks noChangeAspect="1"/>
            </p:cNvSpPr>
            <p:nvPr/>
          </p:nvSpPr>
          <p:spPr bwMode="blackWhite">
            <a:xfrm>
              <a:off x="4374" y="2349"/>
              <a:ext cx="44" cy="246"/>
            </a:xfrm>
            <a:custGeom>
              <a:avLst/>
              <a:gdLst>
                <a:gd name="T0" fmla="*/ 0 w 44"/>
                <a:gd name="T1" fmla="*/ 72 h 246"/>
                <a:gd name="T2" fmla="*/ 0 w 44"/>
                <a:gd name="T3" fmla="*/ 246 h 246"/>
                <a:gd name="T4" fmla="*/ 44 w 44"/>
                <a:gd name="T5" fmla="*/ 174 h 246"/>
                <a:gd name="T6" fmla="*/ 44 w 44"/>
                <a:gd name="T7" fmla="*/ 0 h 246"/>
                <a:gd name="T8" fmla="*/ 0 w 44"/>
                <a:gd name="T9" fmla="*/ 72 h 246"/>
              </a:gdLst>
              <a:ahLst/>
              <a:cxnLst>
                <a:cxn ang="0">
                  <a:pos x="T0" y="T1"/>
                </a:cxn>
                <a:cxn ang="0">
                  <a:pos x="T2" y="T3"/>
                </a:cxn>
                <a:cxn ang="0">
                  <a:pos x="T4" y="T5"/>
                </a:cxn>
                <a:cxn ang="0">
                  <a:pos x="T6" y="T7"/>
                </a:cxn>
                <a:cxn ang="0">
                  <a:pos x="T8" y="T9"/>
                </a:cxn>
              </a:cxnLst>
              <a:rect l="0" t="0" r="r" b="b"/>
              <a:pathLst>
                <a:path w="44" h="246">
                  <a:moveTo>
                    <a:pt x="0" y="72"/>
                  </a:moveTo>
                  <a:lnTo>
                    <a:pt x="0" y="246"/>
                  </a:lnTo>
                  <a:lnTo>
                    <a:pt x="44" y="174"/>
                  </a:lnTo>
                  <a:lnTo>
                    <a:pt x="44" y="0"/>
                  </a:lnTo>
                  <a:lnTo>
                    <a:pt x="0" y="72"/>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35" name="Freeform 25"/>
            <p:cNvSpPr>
              <a:spLocks noChangeAspect="1"/>
            </p:cNvSpPr>
            <p:nvPr/>
          </p:nvSpPr>
          <p:spPr bwMode="blackWhite">
            <a:xfrm>
              <a:off x="4148" y="2546"/>
              <a:ext cx="56" cy="265"/>
            </a:xfrm>
            <a:custGeom>
              <a:avLst/>
              <a:gdLst>
                <a:gd name="T0" fmla="*/ 56 w 56"/>
                <a:gd name="T1" fmla="*/ 0 h 265"/>
                <a:gd name="T2" fmla="*/ 56 w 56"/>
                <a:gd name="T3" fmla="*/ 182 h 265"/>
                <a:gd name="T4" fmla="*/ 47 w 56"/>
                <a:gd name="T5" fmla="*/ 231 h 265"/>
                <a:gd name="T6" fmla="*/ 33 w 56"/>
                <a:gd name="T7" fmla="*/ 265 h 265"/>
                <a:gd name="T8" fmla="*/ 11 w 56"/>
                <a:gd name="T9" fmla="*/ 233 h 265"/>
                <a:gd name="T10" fmla="*/ 0 w 56"/>
                <a:gd name="T11" fmla="*/ 170 h 265"/>
                <a:gd name="T12" fmla="*/ 44 w 56"/>
                <a:gd name="T13" fmla="*/ 58 h 265"/>
                <a:gd name="T14" fmla="*/ 56 w 56"/>
                <a:gd name="T15" fmla="*/ 0 h 2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6" h="265">
                  <a:moveTo>
                    <a:pt x="56" y="0"/>
                  </a:moveTo>
                  <a:lnTo>
                    <a:pt x="56" y="182"/>
                  </a:lnTo>
                  <a:lnTo>
                    <a:pt x="47" y="231"/>
                  </a:lnTo>
                  <a:lnTo>
                    <a:pt x="33" y="265"/>
                  </a:lnTo>
                  <a:lnTo>
                    <a:pt x="11" y="233"/>
                  </a:lnTo>
                  <a:lnTo>
                    <a:pt x="0" y="170"/>
                  </a:lnTo>
                  <a:lnTo>
                    <a:pt x="44" y="58"/>
                  </a:lnTo>
                  <a:lnTo>
                    <a:pt x="56"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36" name="Freeform 26"/>
            <p:cNvSpPr>
              <a:spLocks noChangeAspect="1"/>
            </p:cNvSpPr>
            <p:nvPr/>
          </p:nvSpPr>
          <p:spPr bwMode="blackWhite">
            <a:xfrm>
              <a:off x="4418" y="2314"/>
              <a:ext cx="108" cy="211"/>
            </a:xfrm>
            <a:custGeom>
              <a:avLst/>
              <a:gdLst>
                <a:gd name="T0" fmla="*/ 0 w 108"/>
                <a:gd name="T1" fmla="*/ 32 h 211"/>
                <a:gd name="T2" fmla="*/ 108 w 108"/>
                <a:gd name="T3" fmla="*/ 0 h 211"/>
                <a:gd name="T4" fmla="*/ 108 w 108"/>
                <a:gd name="T5" fmla="*/ 177 h 211"/>
                <a:gd name="T6" fmla="*/ 0 w 108"/>
                <a:gd name="T7" fmla="*/ 211 h 211"/>
                <a:gd name="T8" fmla="*/ 0 w 108"/>
                <a:gd name="T9" fmla="*/ 32 h 211"/>
              </a:gdLst>
              <a:ahLst/>
              <a:cxnLst>
                <a:cxn ang="0">
                  <a:pos x="T0" y="T1"/>
                </a:cxn>
                <a:cxn ang="0">
                  <a:pos x="T2" y="T3"/>
                </a:cxn>
                <a:cxn ang="0">
                  <a:pos x="T4" y="T5"/>
                </a:cxn>
                <a:cxn ang="0">
                  <a:pos x="T6" y="T7"/>
                </a:cxn>
                <a:cxn ang="0">
                  <a:pos x="T8" y="T9"/>
                </a:cxn>
              </a:cxnLst>
              <a:rect l="0" t="0" r="r" b="b"/>
              <a:pathLst>
                <a:path w="108" h="211">
                  <a:moveTo>
                    <a:pt x="0" y="32"/>
                  </a:moveTo>
                  <a:lnTo>
                    <a:pt x="108" y="0"/>
                  </a:lnTo>
                  <a:lnTo>
                    <a:pt x="108" y="177"/>
                  </a:lnTo>
                  <a:lnTo>
                    <a:pt x="0" y="211"/>
                  </a:lnTo>
                  <a:lnTo>
                    <a:pt x="0" y="32"/>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37" name="Freeform 27"/>
            <p:cNvSpPr>
              <a:spLocks noChangeAspect="1"/>
            </p:cNvSpPr>
            <p:nvPr/>
          </p:nvSpPr>
          <p:spPr bwMode="blackWhite">
            <a:xfrm>
              <a:off x="4526" y="2234"/>
              <a:ext cx="76" cy="258"/>
            </a:xfrm>
            <a:custGeom>
              <a:avLst/>
              <a:gdLst>
                <a:gd name="T0" fmla="*/ 0 w 76"/>
                <a:gd name="T1" fmla="*/ 80 h 258"/>
                <a:gd name="T2" fmla="*/ 0 w 76"/>
                <a:gd name="T3" fmla="*/ 258 h 258"/>
                <a:gd name="T4" fmla="*/ 76 w 76"/>
                <a:gd name="T5" fmla="*/ 176 h 258"/>
                <a:gd name="T6" fmla="*/ 76 w 76"/>
                <a:gd name="T7" fmla="*/ 0 h 258"/>
                <a:gd name="T8" fmla="*/ 0 w 76"/>
                <a:gd name="T9" fmla="*/ 80 h 258"/>
              </a:gdLst>
              <a:ahLst/>
              <a:cxnLst>
                <a:cxn ang="0">
                  <a:pos x="T0" y="T1"/>
                </a:cxn>
                <a:cxn ang="0">
                  <a:pos x="T2" y="T3"/>
                </a:cxn>
                <a:cxn ang="0">
                  <a:pos x="T4" y="T5"/>
                </a:cxn>
                <a:cxn ang="0">
                  <a:pos x="T6" y="T7"/>
                </a:cxn>
                <a:cxn ang="0">
                  <a:pos x="T8" y="T9"/>
                </a:cxn>
              </a:cxnLst>
              <a:rect l="0" t="0" r="r" b="b"/>
              <a:pathLst>
                <a:path w="76" h="258">
                  <a:moveTo>
                    <a:pt x="0" y="80"/>
                  </a:moveTo>
                  <a:lnTo>
                    <a:pt x="0" y="258"/>
                  </a:lnTo>
                  <a:lnTo>
                    <a:pt x="76" y="176"/>
                  </a:lnTo>
                  <a:lnTo>
                    <a:pt x="76" y="0"/>
                  </a:lnTo>
                  <a:lnTo>
                    <a:pt x="0" y="8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38" name="Freeform 28"/>
            <p:cNvSpPr>
              <a:spLocks noChangeAspect="1"/>
            </p:cNvSpPr>
            <p:nvPr/>
          </p:nvSpPr>
          <p:spPr bwMode="blackWhite">
            <a:xfrm>
              <a:off x="4652" y="1835"/>
              <a:ext cx="57" cy="252"/>
            </a:xfrm>
            <a:custGeom>
              <a:avLst/>
              <a:gdLst>
                <a:gd name="T0" fmla="*/ 0 w 57"/>
                <a:gd name="T1" fmla="*/ 72 h 252"/>
                <a:gd name="T2" fmla="*/ 57 w 57"/>
                <a:gd name="T3" fmla="*/ 0 h 252"/>
                <a:gd name="T4" fmla="*/ 57 w 57"/>
                <a:gd name="T5" fmla="*/ 177 h 252"/>
                <a:gd name="T6" fmla="*/ 0 w 57"/>
                <a:gd name="T7" fmla="*/ 252 h 252"/>
                <a:gd name="T8" fmla="*/ 0 w 57"/>
                <a:gd name="T9" fmla="*/ 72 h 252"/>
              </a:gdLst>
              <a:ahLst/>
              <a:cxnLst>
                <a:cxn ang="0">
                  <a:pos x="T0" y="T1"/>
                </a:cxn>
                <a:cxn ang="0">
                  <a:pos x="T2" y="T3"/>
                </a:cxn>
                <a:cxn ang="0">
                  <a:pos x="T4" y="T5"/>
                </a:cxn>
                <a:cxn ang="0">
                  <a:pos x="T6" y="T7"/>
                </a:cxn>
                <a:cxn ang="0">
                  <a:pos x="T8" y="T9"/>
                </a:cxn>
              </a:cxnLst>
              <a:rect l="0" t="0" r="r" b="b"/>
              <a:pathLst>
                <a:path w="57" h="252">
                  <a:moveTo>
                    <a:pt x="0" y="72"/>
                  </a:moveTo>
                  <a:lnTo>
                    <a:pt x="57" y="0"/>
                  </a:lnTo>
                  <a:lnTo>
                    <a:pt x="57" y="177"/>
                  </a:lnTo>
                  <a:lnTo>
                    <a:pt x="0" y="252"/>
                  </a:lnTo>
                  <a:lnTo>
                    <a:pt x="0" y="72"/>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39" name="Freeform 29"/>
            <p:cNvSpPr>
              <a:spLocks noChangeAspect="1"/>
            </p:cNvSpPr>
            <p:nvPr/>
          </p:nvSpPr>
          <p:spPr bwMode="blackWhite">
            <a:xfrm>
              <a:off x="4607" y="1846"/>
              <a:ext cx="45" cy="243"/>
            </a:xfrm>
            <a:custGeom>
              <a:avLst/>
              <a:gdLst>
                <a:gd name="T0" fmla="*/ 0 w 45"/>
                <a:gd name="T1" fmla="*/ 0 h 243"/>
                <a:gd name="T2" fmla="*/ 45 w 45"/>
                <a:gd name="T3" fmla="*/ 63 h 243"/>
                <a:gd name="T4" fmla="*/ 45 w 45"/>
                <a:gd name="T5" fmla="*/ 243 h 243"/>
                <a:gd name="T6" fmla="*/ 0 w 45"/>
                <a:gd name="T7" fmla="*/ 179 h 243"/>
                <a:gd name="T8" fmla="*/ 0 w 45"/>
                <a:gd name="T9" fmla="*/ 0 h 243"/>
              </a:gdLst>
              <a:ahLst/>
              <a:cxnLst>
                <a:cxn ang="0">
                  <a:pos x="T0" y="T1"/>
                </a:cxn>
                <a:cxn ang="0">
                  <a:pos x="T2" y="T3"/>
                </a:cxn>
                <a:cxn ang="0">
                  <a:pos x="T4" y="T5"/>
                </a:cxn>
                <a:cxn ang="0">
                  <a:pos x="T6" y="T7"/>
                </a:cxn>
                <a:cxn ang="0">
                  <a:pos x="T8" y="T9"/>
                </a:cxn>
              </a:cxnLst>
              <a:rect l="0" t="0" r="r" b="b"/>
              <a:pathLst>
                <a:path w="45" h="243">
                  <a:moveTo>
                    <a:pt x="0" y="0"/>
                  </a:moveTo>
                  <a:lnTo>
                    <a:pt x="45" y="63"/>
                  </a:lnTo>
                  <a:lnTo>
                    <a:pt x="45" y="243"/>
                  </a:lnTo>
                  <a:lnTo>
                    <a:pt x="0" y="179"/>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40" name="Freeform 30"/>
            <p:cNvSpPr>
              <a:spLocks noChangeAspect="1"/>
            </p:cNvSpPr>
            <p:nvPr/>
          </p:nvSpPr>
          <p:spPr bwMode="blackWhite">
            <a:xfrm>
              <a:off x="4581" y="1934"/>
              <a:ext cx="60" cy="287"/>
            </a:xfrm>
            <a:custGeom>
              <a:avLst/>
              <a:gdLst>
                <a:gd name="T0" fmla="*/ 60 w 60"/>
                <a:gd name="T1" fmla="*/ 0 h 287"/>
                <a:gd name="T2" fmla="*/ 0 w 60"/>
                <a:gd name="T3" fmla="*/ 111 h 287"/>
                <a:gd name="T4" fmla="*/ 0 w 60"/>
                <a:gd name="T5" fmla="*/ 287 h 287"/>
                <a:gd name="T6" fmla="*/ 60 w 60"/>
                <a:gd name="T7" fmla="*/ 180 h 287"/>
                <a:gd name="T8" fmla="*/ 60 w 60"/>
                <a:gd name="T9" fmla="*/ 0 h 287"/>
              </a:gdLst>
              <a:ahLst/>
              <a:cxnLst>
                <a:cxn ang="0">
                  <a:pos x="T0" y="T1"/>
                </a:cxn>
                <a:cxn ang="0">
                  <a:pos x="T2" y="T3"/>
                </a:cxn>
                <a:cxn ang="0">
                  <a:pos x="T4" y="T5"/>
                </a:cxn>
                <a:cxn ang="0">
                  <a:pos x="T6" y="T7"/>
                </a:cxn>
                <a:cxn ang="0">
                  <a:pos x="T8" y="T9"/>
                </a:cxn>
              </a:cxnLst>
              <a:rect l="0" t="0" r="r" b="b"/>
              <a:pathLst>
                <a:path w="60" h="287">
                  <a:moveTo>
                    <a:pt x="60" y="0"/>
                  </a:moveTo>
                  <a:lnTo>
                    <a:pt x="0" y="111"/>
                  </a:lnTo>
                  <a:lnTo>
                    <a:pt x="0" y="287"/>
                  </a:lnTo>
                  <a:lnTo>
                    <a:pt x="60" y="180"/>
                  </a:lnTo>
                  <a:lnTo>
                    <a:pt x="6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41" name="Freeform 31"/>
            <p:cNvSpPr>
              <a:spLocks noChangeAspect="1"/>
            </p:cNvSpPr>
            <p:nvPr/>
          </p:nvSpPr>
          <p:spPr bwMode="blackWhite">
            <a:xfrm>
              <a:off x="4545" y="2048"/>
              <a:ext cx="36" cy="129"/>
            </a:xfrm>
            <a:custGeom>
              <a:avLst/>
              <a:gdLst>
                <a:gd name="T0" fmla="*/ 36 w 36"/>
                <a:gd name="T1" fmla="*/ 0 h 129"/>
                <a:gd name="T2" fmla="*/ 0 w 36"/>
                <a:gd name="T3" fmla="*/ 39 h 129"/>
                <a:gd name="T4" fmla="*/ 36 w 36"/>
                <a:gd name="T5" fmla="*/ 129 h 129"/>
                <a:gd name="T6" fmla="*/ 36 w 36"/>
                <a:gd name="T7" fmla="*/ 0 h 129"/>
              </a:gdLst>
              <a:ahLst/>
              <a:cxnLst>
                <a:cxn ang="0">
                  <a:pos x="T0" y="T1"/>
                </a:cxn>
                <a:cxn ang="0">
                  <a:pos x="T2" y="T3"/>
                </a:cxn>
                <a:cxn ang="0">
                  <a:pos x="T4" y="T5"/>
                </a:cxn>
                <a:cxn ang="0">
                  <a:pos x="T6" y="T7"/>
                </a:cxn>
              </a:cxnLst>
              <a:rect l="0" t="0" r="r" b="b"/>
              <a:pathLst>
                <a:path w="36" h="129">
                  <a:moveTo>
                    <a:pt x="36" y="0"/>
                  </a:moveTo>
                  <a:lnTo>
                    <a:pt x="0" y="39"/>
                  </a:lnTo>
                  <a:lnTo>
                    <a:pt x="36" y="129"/>
                  </a:lnTo>
                  <a:lnTo>
                    <a:pt x="36"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42" name="Freeform 32"/>
            <p:cNvSpPr>
              <a:spLocks noChangeAspect="1"/>
            </p:cNvSpPr>
            <p:nvPr/>
          </p:nvSpPr>
          <p:spPr bwMode="blackWhite">
            <a:xfrm>
              <a:off x="4978" y="1633"/>
              <a:ext cx="61" cy="198"/>
            </a:xfrm>
            <a:custGeom>
              <a:avLst/>
              <a:gdLst>
                <a:gd name="T0" fmla="*/ 0 w 61"/>
                <a:gd name="T1" fmla="*/ 23 h 198"/>
                <a:gd name="T2" fmla="*/ 61 w 61"/>
                <a:gd name="T3" fmla="*/ 0 h 198"/>
                <a:gd name="T4" fmla="*/ 61 w 61"/>
                <a:gd name="T5" fmla="*/ 175 h 198"/>
                <a:gd name="T6" fmla="*/ 0 w 61"/>
                <a:gd name="T7" fmla="*/ 198 h 198"/>
                <a:gd name="T8" fmla="*/ 0 w 61"/>
                <a:gd name="T9" fmla="*/ 23 h 198"/>
              </a:gdLst>
              <a:ahLst/>
              <a:cxnLst>
                <a:cxn ang="0">
                  <a:pos x="T0" y="T1"/>
                </a:cxn>
                <a:cxn ang="0">
                  <a:pos x="T2" y="T3"/>
                </a:cxn>
                <a:cxn ang="0">
                  <a:pos x="T4" y="T5"/>
                </a:cxn>
                <a:cxn ang="0">
                  <a:pos x="T6" y="T7"/>
                </a:cxn>
                <a:cxn ang="0">
                  <a:pos x="T8" y="T9"/>
                </a:cxn>
              </a:cxnLst>
              <a:rect l="0" t="0" r="r" b="b"/>
              <a:pathLst>
                <a:path w="61" h="198">
                  <a:moveTo>
                    <a:pt x="0" y="23"/>
                  </a:moveTo>
                  <a:lnTo>
                    <a:pt x="61" y="0"/>
                  </a:lnTo>
                  <a:lnTo>
                    <a:pt x="61" y="175"/>
                  </a:lnTo>
                  <a:lnTo>
                    <a:pt x="0" y="198"/>
                  </a:lnTo>
                  <a:lnTo>
                    <a:pt x="0" y="23"/>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43" name="Freeform 33"/>
            <p:cNvSpPr>
              <a:spLocks noChangeAspect="1"/>
            </p:cNvSpPr>
            <p:nvPr/>
          </p:nvSpPr>
          <p:spPr bwMode="blackWhite">
            <a:xfrm>
              <a:off x="4942" y="1627"/>
              <a:ext cx="36" cy="202"/>
            </a:xfrm>
            <a:custGeom>
              <a:avLst/>
              <a:gdLst>
                <a:gd name="T0" fmla="*/ 0 w 36"/>
                <a:gd name="T1" fmla="*/ 0 h 202"/>
                <a:gd name="T2" fmla="*/ 36 w 36"/>
                <a:gd name="T3" fmla="*/ 32 h 202"/>
                <a:gd name="T4" fmla="*/ 36 w 36"/>
                <a:gd name="T5" fmla="*/ 202 h 202"/>
                <a:gd name="T6" fmla="*/ 0 w 36"/>
                <a:gd name="T7" fmla="*/ 172 h 202"/>
                <a:gd name="T8" fmla="*/ 0 w 36"/>
                <a:gd name="T9" fmla="*/ 0 h 202"/>
              </a:gdLst>
              <a:ahLst/>
              <a:cxnLst>
                <a:cxn ang="0">
                  <a:pos x="T0" y="T1"/>
                </a:cxn>
                <a:cxn ang="0">
                  <a:pos x="T2" y="T3"/>
                </a:cxn>
                <a:cxn ang="0">
                  <a:pos x="T4" y="T5"/>
                </a:cxn>
                <a:cxn ang="0">
                  <a:pos x="T6" y="T7"/>
                </a:cxn>
                <a:cxn ang="0">
                  <a:pos x="T8" y="T9"/>
                </a:cxn>
              </a:cxnLst>
              <a:rect l="0" t="0" r="r" b="b"/>
              <a:pathLst>
                <a:path w="36" h="202">
                  <a:moveTo>
                    <a:pt x="0" y="0"/>
                  </a:moveTo>
                  <a:lnTo>
                    <a:pt x="36" y="32"/>
                  </a:lnTo>
                  <a:lnTo>
                    <a:pt x="36" y="202"/>
                  </a:lnTo>
                  <a:lnTo>
                    <a:pt x="0" y="172"/>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44" name="Freeform 34"/>
            <p:cNvSpPr>
              <a:spLocks noChangeAspect="1"/>
            </p:cNvSpPr>
            <p:nvPr/>
          </p:nvSpPr>
          <p:spPr bwMode="blackWhite">
            <a:xfrm>
              <a:off x="4921" y="1631"/>
              <a:ext cx="21" cy="214"/>
            </a:xfrm>
            <a:custGeom>
              <a:avLst/>
              <a:gdLst>
                <a:gd name="T0" fmla="*/ 21 w 21"/>
                <a:gd name="T1" fmla="*/ 0 h 214"/>
                <a:gd name="T2" fmla="*/ 21 w 21"/>
                <a:gd name="T3" fmla="*/ 166 h 214"/>
                <a:gd name="T4" fmla="*/ 0 w 21"/>
                <a:gd name="T5" fmla="*/ 214 h 214"/>
                <a:gd name="T6" fmla="*/ 0 w 21"/>
                <a:gd name="T7" fmla="*/ 34 h 214"/>
                <a:gd name="T8" fmla="*/ 21 w 21"/>
                <a:gd name="T9" fmla="*/ 0 h 214"/>
              </a:gdLst>
              <a:ahLst/>
              <a:cxnLst>
                <a:cxn ang="0">
                  <a:pos x="T0" y="T1"/>
                </a:cxn>
                <a:cxn ang="0">
                  <a:pos x="T2" y="T3"/>
                </a:cxn>
                <a:cxn ang="0">
                  <a:pos x="T4" y="T5"/>
                </a:cxn>
                <a:cxn ang="0">
                  <a:pos x="T6" y="T7"/>
                </a:cxn>
                <a:cxn ang="0">
                  <a:pos x="T8" y="T9"/>
                </a:cxn>
              </a:cxnLst>
              <a:rect l="0" t="0" r="r" b="b"/>
              <a:pathLst>
                <a:path w="21" h="214">
                  <a:moveTo>
                    <a:pt x="21" y="0"/>
                  </a:moveTo>
                  <a:lnTo>
                    <a:pt x="21" y="166"/>
                  </a:lnTo>
                  <a:lnTo>
                    <a:pt x="0" y="214"/>
                  </a:lnTo>
                  <a:lnTo>
                    <a:pt x="0" y="34"/>
                  </a:lnTo>
                  <a:lnTo>
                    <a:pt x="21"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45" name="Freeform 35"/>
            <p:cNvSpPr>
              <a:spLocks noChangeAspect="1"/>
            </p:cNvSpPr>
            <p:nvPr/>
          </p:nvSpPr>
          <p:spPr bwMode="blackWhite">
            <a:xfrm>
              <a:off x="4758" y="1668"/>
              <a:ext cx="163" cy="198"/>
            </a:xfrm>
            <a:custGeom>
              <a:avLst/>
              <a:gdLst>
                <a:gd name="T0" fmla="*/ 163 w 163"/>
                <a:gd name="T1" fmla="*/ 0 h 198"/>
                <a:gd name="T2" fmla="*/ 129 w 163"/>
                <a:gd name="T3" fmla="*/ 4 h 198"/>
                <a:gd name="T4" fmla="*/ 0 w 163"/>
                <a:gd name="T5" fmla="*/ 23 h 198"/>
                <a:gd name="T6" fmla="*/ 0 w 163"/>
                <a:gd name="T7" fmla="*/ 198 h 198"/>
                <a:gd name="T8" fmla="*/ 131 w 163"/>
                <a:gd name="T9" fmla="*/ 182 h 198"/>
                <a:gd name="T10" fmla="*/ 163 w 163"/>
                <a:gd name="T11" fmla="*/ 177 h 198"/>
                <a:gd name="T12" fmla="*/ 163 w 163"/>
                <a:gd name="T13" fmla="*/ 0 h 198"/>
              </a:gdLst>
              <a:ahLst/>
              <a:cxnLst>
                <a:cxn ang="0">
                  <a:pos x="T0" y="T1"/>
                </a:cxn>
                <a:cxn ang="0">
                  <a:pos x="T2" y="T3"/>
                </a:cxn>
                <a:cxn ang="0">
                  <a:pos x="T4" y="T5"/>
                </a:cxn>
                <a:cxn ang="0">
                  <a:pos x="T6" y="T7"/>
                </a:cxn>
                <a:cxn ang="0">
                  <a:pos x="T8" y="T9"/>
                </a:cxn>
                <a:cxn ang="0">
                  <a:pos x="T10" y="T11"/>
                </a:cxn>
                <a:cxn ang="0">
                  <a:pos x="T12" y="T13"/>
                </a:cxn>
              </a:cxnLst>
              <a:rect l="0" t="0" r="r" b="b"/>
              <a:pathLst>
                <a:path w="163" h="198">
                  <a:moveTo>
                    <a:pt x="163" y="0"/>
                  </a:moveTo>
                  <a:lnTo>
                    <a:pt x="129" y="4"/>
                  </a:lnTo>
                  <a:lnTo>
                    <a:pt x="0" y="23"/>
                  </a:lnTo>
                  <a:lnTo>
                    <a:pt x="0" y="198"/>
                  </a:lnTo>
                  <a:lnTo>
                    <a:pt x="131" y="182"/>
                  </a:lnTo>
                  <a:lnTo>
                    <a:pt x="163" y="177"/>
                  </a:lnTo>
                  <a:lnTo>
                    <a:pt x="163"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46" name="Freeform 36"/>
            <p:cNvSpPr>
              <a:spLocks noChangeAspect="1"/>
            </p:cNvSpPr>
            <p:nvPr/>
          </p:nvSpPr>
          <p:spPr bwMode="blackWhite">
            <a:xfrm>
              <a:off x="4700" y="1695"/>
              <a:ext cx="58" cy="229"/>
            </a:xfrm>
            <a:custGeom>
              <a:avLst/>
              <a:gdLst>
                <a:gd name="T0" fmla="*/ 58 w 58"/>
                <a:gd name="T1" fmla="*/ 0 h 229"/>
                <a:gd name="T2" fmla="*/ 58 w 58"/>
                <a:gd name="T3" fmla="*/ 173 h 229"/>
                <a:gd name="T4" fmla="*/ 21 w 58"/>
                <a:gd name="T5" fmla="*/ 196 h 229"/>
                <a:gd name="T6" fmla="*/ 7 w 58"/>
                <a:gd name="T7" fmla="*/ 229 h 229"/>
                <a:gd name="T8" fmla="*/ 7 w 58"/>
                <a:gd name="T9" fmla="*/ 141 h 229"/>
                <a:gd name="T10" fmla="*/ 17 w 58"/>
                <a:gd name="T11" fmla="*/ 72 h 229"/>
                <a:gd name="T12" fmla="*/ 0 w 58"/>
                <a:gd name="T13" fmla="*/ 67 h 229"/>
                <a:gd name="T14" fmla="*/ 19 w 58"/>
                <a:gd name="T15" fmla="*/ 25 h 229"/>
                <a:gd name="T16" fmla="*/ 58 w 58"/>
                <a:gd name="T17" fmla="*/ 0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229">
                  <a:moveTo>
                    <a:pt x="58" y="0"/>
                  </a:moveTo>
                  <a:lnTo>
                    <a:pt x="58" y="173"/>
                  </a:lnTo>
                  <a:lnTo>
                    <a:pt x="21" y="196"/>
                  </a:lnTo>
                  <a:lnTo>
                    <a:pt x="7" y="229"/>
                  </a:lnTo>
                  <a:lnTo>
                    <a:pt x="7" y="141"/>
                  </a:lnTo>
                  <a:lnTo>
                    <a:pt x="17" y="72"/>
                  </a:lnTo>
                  <a:lnTo>
                    <a:pt x="0" y="67"/>
                  </a:lnTo>
                  <a:lnTo>
                    <a:pt x="19" y="25"/>
                  </a:lnTo>
                  <a:lnTo>
                    <a:pt x="58"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47" name="Freeform 37"/>
            <p:cNvSpPr>
              <a:spLocks noChangeAspect="1"/>
            </p:cNvSpPr>
            <p:nvPr/>
          </p:nvSpPr>
          <p:spPr bwMode="blackWhite">
            <a:xfrm>
              <a:off x="930" y="1898"/>
              <a:ext cx="264" cy="621"/>
            </a:xfrm>
            <a:custGeom>
              <a:avLst/>
              <a:gdLst>
                <a:gd name="T0" fmla="*/ 0 w 264"/>
                <a:gd name="T1" fmla="*/ 0 h 621"/>
                <a:gd name="T2" fmla="*/ 0 w 264"/>
                <a:gd name="T3" fmla="*/ 176 h 621"/>
                <a:gd name="T4" fmla="*/ 94 w 264"/>
                <a:gd name="T5" fmla="*/ 320 h 621"/>
                <a:gd name="T6" fmla="*/ 264 w 264"/>
                <a:gd name="T7" fmla="*/ 621 h 621"/>
                <a:gd name="T8" fmla="*/ 264 w 264"/>
                <a:gd name="T9" fmla="*/ 447 h 621"/>
                <a:gd name="T10" fmla="*/ 105 w 264"/>
                <a:gd name="T11" fmla="*/ 166 h 621"/>
                <a:gd name="T12" fmla="*/ 0 w 264"/>
                <a:gd name="T13" fmla="*/ 0 h 621"/>
              </a:gdLst>
              <a:ahLst/>
              <a:cxnLst>
                <a:cxn ang="0">
                  <a:pos x="T0" y="T1"/>
                </a:cxn>
                <a:cxn ang="0">
                  <a:pos x="T2" y="T3"/>
                </a:cxn>
                <a:cxn ang="0">
                  <a:pos x="T4" y="T5"/>
                </a:cxn>
                <a:cxn ang="0">
                  <a:pos x="T6" y="T7"/>
                </a:cxn>
                <a:cxn ang="0">
                  <a:pos x="T8" y="T9"/>
                </a:cxn>
                <a:cxn ang="0">
                  <a:pos x="T10" y="T11"/>
                </a:cxn>
                <a:cxn ang="0">
                  <a:pos x="T12" y="T13"/>
                </a:cxn>
              </a:cxnLst>
              <a:rect l="0" t="0" r="r" b="b"/>
              <a:pathLst>
                <a:path w="264" h="621">
                  <a:moveTo>
                    <a:pt x="0" y="0"/>
                  </a:moveTo>
                  <a:lnTo>
                    <a:pt x="0" y="176"/>
                  </a:lnTo>
                  <a:lnTo>
                    <a:pt x="94" y="320"/>
                  </a:lnTo>
                  <a:lnTo>
                    <a:pt x="264" y="621"/>
                  </a:lnTo>
                  <a:lnTo>
                    <a:pt x="264" y="447"/>
                  </a:lnTo>
                  <a:lnTo>
                    <a:pt x="105" y="166"/>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48" name="Rectangle 38"/>
            <p:cNvSpPr>
              <a:spLocks noChangeAspect="1" noChangeArrowheads="1"/>
            </p:cNvSpPr>
            <p:nvPr/>
          </p:nvSpPr>
          <p:spPr bwMode="blackWhite">
            <a:xfrm>
              <a:off x="1198" y="2352"/>
              <a:ext cx="55" cy="166"/>
            </a:xfrm>
            <a:prstGeom prst="rect">
              <a:avLst/>
            </a:prstGeom>
            <a:solidFill>
              <a:schemeClr val="bg1"/>
            </a:solidFill>
            <a:ln w="14351">
              <a:solidFill>
                <a:schemeClr val="tx1"/>
              </a:solidFill>
              <a:miter lim="800000"/>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49" name="Freeform 39"/>
            <p:cNvSpPr>
              <a:spLocks noChangeAspect="1"/>
            </p:cNvSpPr>
            <p:nvPr/>
          </p:nvSpPr>
          <p:spPr bwMode="blackWhite">
            <a:xfrm>
              <a:off x="1259" y="2348"/>
              <a:ext cx="187" cy="321"/>
            </a:xfrm>
            <a:custGeom>
              <a:avLst/>
              <a:gdLst>
                <a:gd name="T0" fmla="*/ 0 w 187"/>
                <a:gd name="T1" fmla="*/ 0 h 321"/>
                <a:gd name="T2" fmla="*/ 0 w 187"/>
                <a:gd name="T3" fmla="*/ 171 h 321"/>
                <a:gd name="T4" fmla="*/ 187 w 187"/>
                <a:gd name="T5" fmla="*/ 321 h 321"/>
                <a:gd name="T6" fmla="*/ 187 w 187"/>
                <a:gd name="T7" fmla="*/ 146 h 321"/>
                <a:gd name="T8" fmla="*/ 0 w 187"/>
                <a:gd name="T9" fmla="*/ 0 h 321"/>
              </a:gdLst>
              <a:ahLst/>
              <a:cxnLst>
                <a:cxn ang="0">
                  <a:pos x="T0" y="T1"/>
                </a:cxn>
                <a:cxn ang="0">
                  <a:pos x="T2" y="T3"/>
                </a:cxn>
                <a:cxn ang="0">
                  <a:pos x="T4" y="T5"/>
                </a:cxn>
                <a:cxn ang="0">
                  <a:pos x="T6" y="T7"/>
                </a:cxn>
                <a:cxn ang="0">
                  <a:pos x="T8" y="T9"/>
                </a:cxn>
              </a:cxnLst>
              <a:rect l="0" t="0" r="r" b="b"/>
              <a:pathLst>
                <a:path w="187" h="321">
                  <a:moveTo>
                    <a:pt x="0" y="0"/>
                  </a:moveTo>
                  <a:lnTo>
                    <a:pt x="0" y="171"/>
                  </a:lnTo>
                  <a:lnTo>
                    <a:pt x="187" y="321"/>
                  </a:lnTo>
                  <a:lnTo>
                    <a:pt x="187" y="146"/>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50" name="Freeform 40"/>
            <p:cNvSpPr>
              <a:spLocks noChangeAspect="1"/>
            </p:cNvSpPr>
            <p:nvPr/>
          </p:nvSpPr>
          <p:spPr bwMode="blackWhite">
            <a:xfrm>
              <a:off x="1446" y="2492"/>
              <a:ext cx="213" cy="179"/>
            </a:xfrm>
            <a:custGeom>
              <a:avLst/>
              <a:gdLst>
                <a:gd name="T0" fmla="*/ 0 w 213"/>
                <a:gd name="T1" fmla="*/ 2 h 179"/>
                <a:gd name="T2" fmla="*/ 0 w 213"/>
                <a:gd name="T3" fmla="*/ 179 h 179"/>
                <a:gd name="T4" fmla="*/ 213 w 213"/>
                <a:gd name="T5" fmla="*/ 179 h 179"/>
                <a:gd name="T6" fmla="*/ 213 w 213"/>
                <a:gd name="T7" fmla="*/ 0 h 179"/>
                <a:gd name="T8" fmla="*/ 0 w 213"/>
                <a:gd name="T9" fmla="*/ 2 h 179"/>
              </a:gdLst>
              <a:ahLst/>
              <a:cxnLst>
                <a:cxn ang="0">
                  <a:pos x="T0" y="T1"/>
                </a:cxn>
                <a:cxn ang="0">
                  <a:pos x="T2" y="T3"/>
                </a:cxn>
                <a:cxn ang="0">
                  <a:pos x="T4" y="T5"/>
                </a:cxn>
                <a:cxn ang="0">
                  <a:pos x="T6" y="T7"/>
                </a:cxn>
                <a:cxn ang="0">
                  <a:pos x="T8" y="T9"/>
                </a:cxn>
              </a:cxnLst>
              <a:rect l="0" t="0" r="r" b="b"/>
              <a:pathLst>
                <a:path w="213" h="179">
                  <a:moveTo>
                    <a:pt x="0" y="2"/>
                  </a:moveTo>
                  <a:lnTo>
                    <a:pt x="0" y="179"/>
                  </a:lnTo>
                  <a:lnTo>
                    <a:pt x="213" y="179"/>
                  </a:lnTo>
                  <a:lnTo>
                    <a:pt x="213" y="0"/>
                  </a:lnTo>
                  <a:lnTo>
                    <a:pt x="0" y="2"/>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51" name="Freeform 41"/>
            <p:cNvSpPr>
              <a:spLocks noChangeAspect="1"/>
            </p:cNvSpPr>
            <p:nvPr/>
          </p:nvSpPr>
          <p:spPr bwMode="blackWhite">
            <a:xfrm>
              <a:off x="1657" y="2531"/>
              <a:ext cx="256" cy="297"/>
            </a:xfrm>
            <a:custGeom>
              <a:avLst/>
              <a:gdLst>
                <a:gd name="T0" fmla="*/ 0 w 256"/>
                <a:gd name="T1" fmla="*/ 0 h 297"/>
                <a:gd name="T2" fmla="*/ 256 w 256"/>
                <a:gd name="T3" fmla="*/ 122 h 297"/>
                <a:gd name="T4" fmla="*/ 256 w 256"/>
                <a:gd name="T5" fmla="*/ 297 h 297"/>
                <a:gd name="T6" fmla="*/ 0 w 256"/>
                <a:gd name="T7" fmla="*/ 176 h 297"/>
                <a:gd name="T8" fmla="*/ 0 w 256"/>
                <a:gd name="T9" fmla="*/ 0 h 297"/>
              </a:gdLst>
              <a:ahLst/>
              <a:cxnLst>
                <a:cxn ang="0">
                  <a:pos x="T0" y="T1"/>
                </a:cxn>
                <a:cxn ang="0">
                  <a:pos x="T2" y="T3"/>
                </a:cxn>
                <a:cxn ang="0">
                  <a:pos x="T4" y="T5"/>
                </a:cxn>
                <a:cxn ang="0">
                  <a:pos x="T6" y="T7"/>
                </a:cxn>
                <a:cxn ang="0">
                  <a:pos x="T8" y="T9"/>
                </a:cxn>
              </a:cxnLst>
              <a:rect l="0" t="0" r="r" b="b"/>
              <a:pathLst>
                <a:path w="256" h="297">
                  <a:moveTo>
                    <a:pt x="0" y="0"/>
                  </a:moveTo>
                  <a:lnTo>
                    <a:pt x="256" y="122"/>
                  </a:lnTo>
                  <a:lnTo>
                    <a:pt x="256" y="297"/>
                  </a:lnTo>
                  <a:lnTo>
                    <a:pt x="0" y="176"/>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52" name="Rectangle 42"/>
            <p:cNvSpPr>
              <a:spLocks noChangeAspect="1" noChangeArrowheads="1"/>
            </p:cNvSpPr>
            <p:nvPr/>
          </p:nvSpPr>
          <p:spPr bwMode="blackWhite">
            <a:xfrm>
              <a:off x="1917" y="2659"/>
              <a:ext cx="199" cy="161"/>
            </a:xfrm>
            <a:prstGeom prst="rect">
              <a:avLst/>
            </a:prstGeom>
            <a:solidFill>
              <a:schemeClr val="bg1"/>
            </a:solidFill>
            <a:ln w="14351">
              <a:solidFill>
                <a:schemeClr val="tx1"/>
              </a:solidFill>
              <a:miter lim="800000"/>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53" name="Freeform 43"/>
            <p:cNvSpPr>
              <a:spLocks noChangeAspect="1"/>
            </p:cNvSpPr>
            <p:nvPr/>
          </p:nvSpPr>
          <p:spPr bwMode="blackWhite">
            <a:xfrm>
              <a:off x="2120" y="2575"/>
              <a:ext cx="86" cy="173"/>
            </a:xfrm>
            <a:custGeom>
              <a:avLst/>
              <a:gdLst>
                <a:gd name="T0" fmla="*/ 0 w 86"/>
                <a:gd name="T1" fmla="*/ 3 h 173"/>
                <a:gd name="T2" fmla="*/ 0 w 86"/>
                <a:gd name="T3" fmla="*/ 173 h 173"/>
                <a:gd name="T4" fmla="*/ 86 w 86"/>
                <a:gd name="T5" fmla="*/ 173 h 173"/>
                <a:gd name="T6" fmla="*/ 86 w 86"/>
                <a:gd name="T7" fmla="*/ 0 h 173"/>
                <a:gd name="T8" fmla="*/ 0 w 86"/>
                <a:gd name="T9" fmla="*/ 3 h 173"/>
              </a:gdLst>
              <a:ahLst/>
              <a:cxnLst>
                <a:cxn ang="0">
                  <a:pos x="T0" y="T1"/>
                </a:cxn>
                <a:cxn ang="0">
                  <a:pos x="T2" y="T3"/>
                </a:cxn>
                <a:cxn ang="0">
                  <a:pos x="T4" y="T5"/>
                </a:cxn>
                <a:cxn ang="0">
                  <a:pos x="T6" y="T7"/>
                </a:cxn>
                <a:cxn ang="0">
                  <a:pos x="T8" y="T9"/>
                </a:cxn>
              </a:cxnLst>
              <a:rect l="0" t="0" r="r" b="b"/>
              <a:pathLst>
                <a:path w="86" h="173">
                  <a:moveTo>
                    <a:pt x="0" y="3"/>
                  </a:moveTo>
                  <a:lnTo>
                    <a:pt x="0" y="173"/>
                  </a:lnTo>
                  <a:lnTo>
                    <a:pt x="86" y="173"/>
                  </a:lnTo>
                  <a:lnTo>
                    <a:pt x="86" y="0"/>
                  </a:lnTo>
                  <a:lnTo>
                    <a:pt x="0" y="3"/>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54" name="Freeform 44"/>
            <p:cNvSpPr>
              <a:spLocks noChangeAspect="1"/>
            </p:cNvSpPr>
            <p:nvPr/>
          </p:nvSpPr>
          <p:spPr bwMode="blackWhite">
            <a:xfrm>
              <a:off x="2206" y="2580"/>
              <a:ext cx="151" cy="300"/>
            </a:xfrm>
            <a:custGeom>
              <a:avLst/>
              <a:gdLst>
                <a:gd name="T0" fmla="*/ 0 w 151"/>
                <a:gd name="T1" fmla="*/ 0 h 300"/>
                <a:gd name="T2" fmla="*/ 151 w 151"/>
                <a:gd name="T3" fmla="*/ 125 h 300"/>
                <a:gd name="T4" fmla="*/ 151 w 151"/>
                <a:gd name="T5" fmla="*/ 300 h 300"/>
                <a:gd name="T6" fmla="*/ 0 w 151"/>
                <a:gd name="T7" fmla="*/ 168 h 300"/>
                <a:gd name="T8" fmla="*/ 0 w 151"/>
                <a:gd name="T9" fmla="*/ 0 h 300"/>
              </a:gdLst>
              <a:ahLst/>
              <a:cxnLst>
                <a:cxn ang="0">
                  <a:pos x="T0" y="T1"/>
                </a:cxn>
                <a:cxn ang="0">
                  <a:pos x="T2" y="T3"/>
                </a:cxn>
                <a:cxn ang="0">
                  <a:pos x="T4" y="T5"/>
                </a:cxn>
                <a:cxn ang="0">
                  <a:pos x="T6" y="T7"/>
                </a:cxn>
                <a:cxn ang="0">
                  <a:pos x="T8" y="T9"/>
                </a:cxn>
              </a:cxnLst>
              <a:rect l="0" t="0" r="r" b="b"/>
              <a:pathLst>
                <a:path w="151" h="300">
                  <a:moveTo>
                    <a:pt x="0" y="0"/>
                  </a:moveTo>
                  <a:lnTo>
                    <a:pt x="151" y="125"/>
                  </a:lnTo>
                  <a:lnTo>
                    <a:pt x="151" y="300"/>
                  </a:lnTo>
                  <a:lnTo>
                    <a:pt x="0" y="168"/>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55" name="Freeform 45"/>
            <p:cNvSpPr>
              <a:spLocks noChangeAspect="1"/>
            </p:cNvSpPr>
            <p:nvPr/>
          </p:nvSpPr>
          <p:spPr bwMode="blackWhite">
            <a:xfrm>
              <a:off x="2357" y="2705"/>
              <a:ext cx="68" cy="299"/>
            </a:xfrm>
            <a:custGeom>
              <a:avLst/>
              <a:gdLst>
                <a:gd name="T0" fmla="*/ 0 w 68"/>
                <a:gd name="T1" fmla="*/ 0 h 299"/>
                <a:gd name="T2" fmla="*/ 68 w 68"/>
                <a:gd name="T3" fmla="*/ 123 h 299"/>
                <a:gd name="T4" fmla="*/ 68 w 68"/>
                <a:gd name="T5" fmla="*/ 299 h 299"/>
                <a:gd name="T6" fmla="*/ 0 w 68"/>
                <a:gd name="T7" fmla="*/ 175 h 299"/>
                <a:gd name="T8" fmla="*/ 0 w 68"/>
                <a:gd name="T9" fmla="*/ 0 h 299"/>
              </a:gdLst>
              <a:ahLst/>
              <a:cxnLst>
                <a:cxn ang="0">
                  <a:pos x="T0" y="T1"/>
                </a:cxn>
                <a:cxn ang="0">
                  <a:pos x="T2" y="T3"/>
                </a:cxn>
                <a:cxn ang="0">
                  <a:pos x="T4" y="T5"/>
                </a:cxn>
                <a:cxn ang="0">
                  <a:pos x="T6" y="T7"/>
                </a:cxn>
                <a:cxn ang="0">
                  <a:pos x="T8" y="T9"/>
                </a:cxn>
              </a:cxnLst>
              <a:rect l="0" t="0" r="r" b="b"/>
              <a:pathLst>
                <a:path w="68" h="299">
                  <a:moveTo>
                    <a:pt x="0" y="0"/>
                  </a:moveTo>
                  <a:lnTo>
                    <a:pt x="68" y="123"/>
                  </a:lnTo>
                  <a:lnTo>
                    <a:pt x="68" y="299"/>
                  </a:lnTo>
                  <a:lnTo>
                    <a:pt x="0" y="175"/>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56" name="Freeform 46"/>
            <p:cNvSpPr>
              <a:spLocks noChangeAspect="1"/>
            </p:cNvSpPr>
            <p:nvPr/>
          </p:nvSpPr>
          <p:spPr bwMode="blackWhite">
            <a:xfrm>
              <a:off x="2425" y="2828"/>
              <a:ext cx="75" cy="220"/>
            </a:xfrm>
            <a:custGeom>
              <a:avLst/>
              <a:gdLst>
                <a:gd name="T0" fmla="*/ 0 w 75"/>
                <a:gd name="T1" fmla="*/ 0 h 220"/>
                <a:gd name="T2" fmla="*/ 75 w 75"/>
                <a:gd name="T3" fmla="*/ 45 h 220"/>
                <a:gd name="T4" fmla="*/ 75 w 75"/>
                <a:gd name="T5" fmla="*/ 220 h 220"/>
                <a:gd name="T6" fmla="*/ 0 w 75"/>
                <a:gd name="T7" fmla="*/ 174 h 220"/>
                <a:gd name="T8" fmla="*/ 0 w 75"/>
                <a:gd name="T9" fmla="*/ 0 h 220"/>
              </a:gdLst>
              <a:ahLst/>
              <a:cxnLst>
                <a:cxn ang="0">
                  <a:pos x="T0" y="T1"/>
                </a:cxn>
                <a:cxn ang="0">
                  <a:pos x="T2" y="T3"/>
                </a:cxn>
                <a:cxn ang="0">
                  <a:pos x="T4" y="T5"/>
                </a:cxn>
                <a:cxn ang="0">
                  <a:pos x="T6" y="T7"/>
                </a:cxn>
                <a:cxn ang="0">
                  <a:pos x="T8" y="T9"/>
                </a:cxn>
              </a:cxnLst>
              <a:rect l="0" t="0" r="r" b="b"/>
              <a:pathLst>
                <a:path w="75" h="220">
                  <a:moveTo>
                    <a:pt x="0" y="0"/>
                  </a:moveTo>
                  <a:lnTo>
                    <a:pt x="75" y="45"/>
                  </a:lnTo>
                  <a:lnTo>
                    <a:pt x="75" y="220"/>
                  </a:lnTo>
                  <a:lnTo>
                    <a:pt x="0" y="174"/>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57" name="Freeform 47"/>
            <p:cNvSpPr>
              <a:spLocks noChangeAspect="1"/>
            </p:cNvSpPr>
            <p:nvPr/>
          </p:nvSpPr>
          <p:spPr bwMode="blackWhite">
            <a:xfrm>
              <a:off x="2500" y="2815"/>
              <a:ext cx="52" cy="228"/>
            </a:xfrm>
            <a:custGeom>
              <a:avLst/>
              <a:gdLst>
                <a:gd name="T0" fmla="*/ 52 w 52"/>
                <a:gd name="T1" fmla="*/ 0 h 228"/>
                <a:gd name="T2" fmla="*/ 0 w 52"/>
                <a:gd name="T3" fmla="*/ 58 h 228"/>
                <a:gd name="T4" fmla="*/ 0 w 52"/>
                <a:gd name="T5" fmla="*/ 228 h 228"/>
                <a:gd name="T6" fmla="*/ 52 w 52"/>
                <a:gd name="T7" fmla="*/ 172 h 228"/>
                <a:gd name="T8" fmla="*/ 52 w 52"/>
                <a:gd name="T9" fmla="*/ 0 h 228"/>
              </a:gdLst>
              <a:ahLst/>
              <a:cxnLst>
                <a:cxn ang="0">
                  <a:pos x="T0" y="T1"/>
                </a:cxn>
                <a:cxn ang="0">
                  <a:pos x="T2" y="T3"/>
                </a:cxn>
                <a:cxn ang="0">
                  <a:pos x="T4" y="T5"/>
                </a:cxn>
                <a:cxn ang="0">
                  <a:pos x="T6" y="T7"/>
                </a:cxn>
                <a:cxn ang="0">
                  <a:pos x="T8" y="T9"/>
                </a:cxn>
              </a:cxnLst>
              <a:rect l="0" t="0" r="r" b="b"/>
              <a:pathLst>
                <a:path w="52" h="228">
                  <a:moveTo>
                    <a:pt x="52" y="0"/>
                  </a:moveTo>
                  <a:lnTo>
                    <a:pt x="0" y="58"/>
                  </a:lnTo>
                  <a:lnTo>
                    <a:pt x="0" y="228"/>
                  </a:lnTo>
                  <a:lnTo>
                    <a:pt x="52" y="172"/>
                  </a:lnTo>
                  <a:lnTo>
                    <a:pt x="52"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58" name="Freeform 48"/>
            <p:cNvSpPr>
              <a:spLocks noChangeAspect="1"/>
            </p:cNvSpPr>
            <p:nvPr/>
          </p:nvSpPr>
          <p:spPr bwMode="blackWhite">
            <a:xfrm>
              <a:off x="2552" y="2815"/>
              <a:ext cx="96" cy="206"/>
            </a:xfrm>
            <a:custGeom>
              <a:avLst/>
              <a:gdLst>
                <a:gd name="T0" fmla="*/ 0 w 96"/>
                <a:gd name="T1" fmla="*/ 0 h 206"/>
                <a:gd name="T2" fmla="*/ 96 w 96"/>
                <a:gd name="T3" fmla="*/ 33 h 206"/>
                <a:gd name="T4" fmla="*/ 96 w 96"/>
                <a:gd name="T5" fmla="*/ 206 h 206"/>
                <a:gd name="T6" fmla="*/ 0 w 96"/>
                <a:gd name="T7" fmla="*/ 175 h 206"/>
                <a:gd name="T8" fmla="*/ 0 w 96"/>
                <a:gd name="T9" fmla="*/ 0 h 206"/>
              </a:gdLst>
              <a:ahLst/>
              <a:cxnLst>
                <a:cxn ang="0">
                  <a:pos x="T0" y="T1"/>
                </a:cxn>
                <a:cxn ang="0">
                  <a:pos x="T2" y="T3"/>
                </a:cxn>
                <a:cxn ang="0">
                  <a:pos x="T4" y="T5"/>
                </a:cxn>
                <a:cxn ang="0">
                  <a:pos x="T6" y="T7"/>
                </a:cxn>
                <a:cxn ang="0">
                  <a:pos x="T8" y="T9"/>
                </a:cxn>
              </a:cxnLst>
              <a:rect l="0" t="0" r="r" b="b"/>
              <a:pathLst>
                <a:path w="96" h="206">
                  <a:moveTo>
                    <a:pt x="0" y="0"/>
                  </a:moveTo>
                  <a:lnTo>
                    <a:pt x="96" y="33"/>
                  </a:lnTo>
                  <a:lnTo>
                    <a:pt x="96" y="206"/>
                  </a:lnTo>
                  <a:lnTo>
                    <a:pt x="0" y="175"/>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59" name="Freeform 49"/>
            <p:cNvSpPr>
              <a:spLocks noChangeAspect="1"/>
            </p:cNvSpPr>
            <p:nvPr/>
          </p:nvSpPr>
          <p:spPr bwMode="blackWhite">
            <a:xfrm>
              <a:off x="2768" y="3049"/>
              <a:ext cx="184" cy="240"/>
            </a:xfrm>
            <a:custGeom>
              <a:avLst/>
              <a:gdLst>
                <a:gd name="T0" fmla="*/ 0 w 184"/>
                <a:gd name="T1" fmla="*/ 0 h 240"/>
                <a:gd name="T2" fmla="*/ 184 w 184"/>
                <a:gd name="T3" fmla="*/ 62 h 240"/>
                <a:gd name="T4" fmla="*/ 184 w 184"/>
                <a:gd name="T5" fmla="*/ 240 h 240"/>
                <a:gd name="T6" fmla="*/ 0 w 184"/>
                <a:gd name="T7" fmla="*/ 176 h 240"/>
                <a:gd name="T8" fmla="*/ 0 w 184"/>
                <a:gd name="T9" fmla="*/ 0 h 240"/>
              </a:gdLst>
              <a:ahLst/>
              <a:cxnLst>
                <a:cxn ang="0">
                  <a:pos x="T0" y="T1"/>
                </a:cxn>
                <a:cxn ang="0">
                  <a:pos x="T2" y="T3"/>
                </a:cxn>
                <a:cxn ang="0">
                  <a:pos x="T4" y="T5"/>
                </a:cxn>
                <a:cxn ang="0">
                  <a:pos x="T6" y="T7"/>
                </a:cxn>
                <a:cxn ang="0">
                  <a:pos x="T8" y="T9"/>
                </a:cxn>
              </a:cxnLst>
              <a:rect l="0" t="0" r="r" b="b"/>
              <a:pathLst>
                <a:path w="184" h="240">
                  <a:moveTo>
                    <a:pt x="0" y="0"/>
                  </a:moveTo>
                  <a:lnTo>
                    <a:pt x="184" y="62"/>
                  </a:lnTo>
                  <a:lnTo>
                    <a:pt x="184" y="240"/>
                  </a:lnTo>
                  <a:lnTo>
                    <a:pt x="0" y="176"/>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60" name="Freeform 50"/>
            <p:cNvSpPr>
              <a:spLocks noChangeAspect="1"/>
            </p:cNvSpPr>
            <p:nvPr/>
          </p:nvSpPr>
          <p:spPr bwMode="blackWhite">
            <a:xfrm>
              <a:off x="2648" y="2845"/>
              <a:ext cx="120" cy="383"/>
            </a:xfrm>
            <a:custGeom>
              <a:avLst/>
              <a:gdLst>
                <a:gd name="T0" fmla="*/ 0 w 120"/>
                <a:gd name="T1" fmla="*/ 0 h 383"/>
                <a:gd name="T2" fmla="*/ 120 w 120"/>
                <a:gd name="T3" fmla="*/ 206 h 383"/>
                <a:gd name="T4" fmla="*/ 120 w 120"/>
                <a:gd name="T5" fmla="*/ 383 h 383"/>
                <a:gd name="T6" fmla="*/ 0 w 120"/>
                <a:gd name="T7" fmla="*/ 178 h 383"/>
                <a:gd name="T8" fmla="*/ 0 w 120"/>
                <a:gd name="T9" fmla="*/ 0 h 383"/>
              </a:gdLst>
              <a:ahLst/>
              <a:cxnLst>
                <a:cxn ang="0">
                  <a:pos x="T0" y="T1"/>
                </a:cxn>
                <a:cxn ang="0">
                  <a:pos x="T2" y="T3"/>
                </a:cxn>
                <a:cxn ang="0">
                  <a:pos x="T4" y="T5"/>
                </a:cxn>
                <a:cxn ang="0">
                  <a:pos x="T6" y="T7"/>
                </a:cxn>
                <a:cxn ang="0">
                  <a:pos x="T8" y="T9"/>
                </a:cxn>
              </a:cxnLst>
              <a:rect l="0" t="0" r="r" b="b"/>
              <a:pathLst>
                <a:path w="120" h="383">
                  <a:moveTo>
                    <a:pt x="0" y="0"/>
                  </a:moveTo>
                  <a:lnTo>
                    <a:pt x="120" y="206"/>
                  </a:lnTo>
                  <a:lnTo>
                    <a:pt x="120" y="383"/>
                  </a:lnTo>
                  <a:lnTo>
                    <a:pt x="0" y="178"/>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61" name="Freeform 51"/>
            <p:cNvSpPr>
              <a:spLocks noChangeAspect="1"/>
            </p:cNvSpPr>
            <p:nvPr/>
          </p:nvSpPr>
          <p:spPr bwMode="blackWhite">
            <a:xfrm>
              <a:off x="882" y="996"/>
              <a:ext cx="41" cy="293"/>
            </a:xfrm>
            <a:custGeom>
              <a:avLst/>
              <a:gdLst>
                <a:gd name="T0" fmla="*/ 0 w 41"/>
                <a:gd name="T1" fmla="*/ 0 h 293"/>
                <a:gd name="T2" fmla="*/ 41 w 41"/>
                <a:gd name="T3" fmla="*/ 180 h 293"/>
                <a:gd name="T4" fmla="*/ 27 w 41"/>
                <a:gd name="T5" fmla="*/ 293 h 293"/>
                <a:gd name="T6" fmla="*/ 0 w 41"/>
                <a:gd name="T7" fmla="*/ 177 h 293"/>
                <a:gd name="T8" fmla="*/ 0 w 41"/>
                <a:gd name="T9" fmla="*/ 0 h 293"/>
              </a:gdLst>
              <a:ahLst/>
              <a:cxnLst>
                <a:cxn ang="0">
                  <a:pos x="T0" y="T1"/>
                </a:cxn>
                <a:cxn ang="0">
                  <a:pos x="T2" y="T3"/>
                </a:cxn>
                <a:cxn ang="0">
                  <a:pos x="T4" y="T5"/>
                </a:cxn>
                <a:cxn ang="0">
                  <a:pos x="T6" y="T7"/>
                </a:cxn>
                <a:cxn ang="0">
                  <a:pos x="T8" y="T9"/>
                </a:cxn>
              </a:cxnLst>
              <a:rect l="0" t="0" r="r" b="b"/>
              <a:pathLst>
                <a:path w="41" h="293">
                  <a:moveTo>
                    <a:pt x="0" y="0"/>
                  </a:moveTo>
                  <a:lnTo>
                    <a:pt x="41" y="180"/>
                  </a:lnTo>
                  <a:lnTo>
                    <a:pt x="27" y="293"/>
                  </a:lnTo>
                  <a:lnTo>
                    <a:pt x="0" y="177"/>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62" name="Freeform 52"/>
            <p:cNvSpPr>
              <a:spLocks noChangeAspect="1"/>
            </p:cNvSpPr>
            <p:nvPr/>
          </p:nvSpPr>
          <p:spPr bwMode="blackWhite">
            <a:xfrm>
              <a:off x="879" y="1746"/>
              <a:ext cx="64" cy="244"/>
            </a:xfrm>
            <a:custGeom>
              <a:avLst/>
              <a:gdLst>
                <a:gd name="T0" fmla="*/ 0 w 64"/>
                <a:gd name="T1" fmla="*/ 0 h 244"/>
                <a:gd name="T2" fmla="*/ 64 w 64"/>
                <a:gd name="T3" fmla="*/ 90 h 244"/>
                <a:gd name="T4" fmla="*/ 51 w 64"/>
                <a:gd name="T5" fmla="*/ 149 h 244"/>
                <a:gd name="T6" fmla="*/ 51 w 64"/>
                <a:gd name="T7" fmla="*/ 244 h 244"/>
                <a:gd name="T8" fmla="*/ 0 w 64"/>
                <a:gd name="T9" fmla="*/ 176 h 244"/>
                <a:gd name="T10" fmla="*/ 0 w 64"/>
                <a:gd name="T11" fmla="*/ 0 h 244"/>
              </a:gdLst>
              <a:ahLst/>
              <a:cxnLst>
                <a:cxn ang="0">
                  <a:pos x="T0" y="T1"/>
                </a:cxn>
                <a:cxn ang="0">
                  <a:pos x="T2" y="T3"/>
                </a:cxn>
                <a:cxn ang="0">
                  <a:pos x="T4" y="T5"/>
                </a:cxn>
                <a:cxn ang="0">
                  <a:pos x="T6" y="T7"/>
                </a:cxn>
                <a:cxn ang="0">
                  <a:pos x="T8" y="T9"/>
                </a:cxn>
                <a:cxn ang="0">
                  <a:pos x="T10" y="T11"/>
                </a:cxn>
              </a:cxnLst>
              <a:rect l="0" t="0" r="r" b="b"/>
              <a:pathLst>
                <a:path w="64" h="244">
                  <a:moveTo>
                    <a:pt x="0" y="0"/>
                  </a:moveTo>
                  <a:lnTo>
                    <a:pt x="64" y="90"/>
                  </a:lnTo>
                  <a:lnTo>
                    <a:pt x="51" y="149"/>
                  </a:lnTo>
                  <a:lnTo>
                    <a:pt x="51" y="244"/>
                  </a:lnTo>
                  <a:lnTo>
                    <a:pt x="0" y="176"/>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63" name="Freeform 53"/>
            <p:cNvSpPr>
              <a:spLocks noChangeAspect="1"/>
            </p:cNvSpPr>
            <p:nvPr/>
          </p:nvSpPr>
          <p:spPr bwMode="blackWhite">
            <a:xfrm>
              <a:off x="3727" y="1187"/>
              <a:ext cx="240" cy="205"/>
            </a:xfrm>
            <a:custGeom>
              <a:avLst/>
              <a:gdLst>
                <a:gd name="T0" fmla="*/ 0 w 240"/>
                <a:gd name="T1" fmla="*/ 30 h 205"/>
                <a:gd name="T2" fmla="*/ 240 w 240"/>
                <a:gd name="T3" fmla="*/ 0 h 205"/>
                <a:gd name="T4" fmla="*/ 240 w 240"/>
                <a:gd name="T5" fmla="*/ 171 h 205"/>
                <a:gd name="T6" fmla="*/ 0 w 240"/>
                <a:gd name="T7" fmla="*/ 205 h 205"/>
                <a:gd name="T8" fmla="*/ 0 w 240"/>
                <a:gd name="T9" fmla="*/ 30 h 205"/>
              </a:gdLst>
              <a:ahLst/>
              <a:cxnLst>
                <a:cxn ang="0">
                  <a:pos x="T0" y="T1"/>
                </a:cxn>
                <a:cxn ang="0">
                  <a:pos x="T2" y="T3"/>
                </a:cxn>
                <a:cxn ang="0">
                  <a:pos x="T4" y="T5"/>
                </a:cxn>
                <a:cxn ang="0">
                  <a:pos x="T6" y="T7"/>
                </a:cxn>
                <a:cxn ang="0">
                  <a:pos x="T8" y="T9"/>
                </a:cxn>
              </a:cxnLst>
              <a:rect l="0" t="0" r="r" b="b"/>
              <a:pathLst>
                <a:path w="240" h="205">
                  <a:moveTo>
                    <a:pt x="0" y="30"/>
                  </a:moveTo>
                  <a:lnTo>
                    <a:pt x="240" y="0"/>
                  </a:lnTo>
                  <a:lnTo>
                    <a:pt x="240" y="171"/>
                  </a:lnTo>
                  <a:lnTo>
                    <a:pt x="0" y="205"/>
                  </a:lnTo>
                  <a:lnTo>
                    <a:pt x="0" y="3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64" name="Freeform 54"/>
            <p:cNvSpPr>
              <a:spLocks noChangeAspect="1"/>
            </p:cNvSpPr>
            <p:nvPr/>
          </p:nvSpPr>
          <p:spPr bwMode="blackWhite">
            <a:xfrm>
              <a:off x="3645" y="1217"/>
              <a:ext cx="93" cy="265"/>
            </a:xfrm>
            <a:custGeom>
              <a:avLst/>
              <a:gdLst>
                <a:gd name="T0" fmla="*/ 93 w 93"/>
                <a:gd name="T1" fmla="*/ 0 h 265"/>
                <a:gd name="T2" fmla="*/ 93 w 93"/>
                <a:gd name="T3" fmla="*/ 173 h 265"/>
                <a:gd name="T4" fmla="*/ 0 w 93"/>
                <a:gd name="T5" fmla="*/ 265 h 265"/>
                <a:gd name="T6" fmla="*/ 0 w 93"/>
                <a:gd name="T7" fmla="*/ 90 h 265"/>
                <a:gd name="T8" fmla="*/ 93 w 93"/>
                <a:gd name="T9" fmla="*/ 0 h 265"/>
              </a:gdLst>
              <a:ahLst/>
              <a:cxnLst>
                <a:cxn ang="0">
                  <a:pos x="T0" y="T1"/>
                </a:cxn>
                <a:cxn ang="0">
                  <a:pos x="T2" y="T3"/>
                </a:cxn>
                <a:cxn ang="0">
                  <a:pos x="T4" y="T5"/>
                </a:cxn>
                <a:cxn ang="0">
                  <a:pos x="T6" y="T7"/>
                </a:cxn>
                <a:cxn ang="0">
                  <a:pos x="T8" y="T9"/>
                </a:cxn>
              </a:cxnLst>
              <a:rect l="0" t="0" r="r" b="b"/>
              <a:pathLst>
                <a:path w="93" h="265">
                  <a:moveTo>
                    <a:pt x="93" y="0"/>
                  </a:moveTo>
                  <a:lnTo>
                    <a:pt x="93" y="173"/>
                  </a:lnTo>
                  <a:lnTo>
                    <a:pt x="0" y="265"/>
                  </a:lnTo>
                  <a:lnTo>
                    <a:pt x="0" y="90"/>
                  </a:lnTo>
                  <a:lnTo>
                    <a:pt x="93"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65" name="Freeform 55"/>
            <p:cNvSpPr>
              <a:spLocks noChangeAspect="1"/>
            </p:cNvSpPr>
            <p:nvPr/>
          </p:nvSpPr>
          <p:spPr bwMode="blackWhite">
            <a:xfrm>
              <a:off x="3313" y="963"/>
              <a:ext cx="136" cy="182"/>
            </a:xfrm>
            <a:custGeom>
              <a:avLst/>
              <a:gdLst>
                <a:gd name="T0" fmla="*/ 136 w 136"/>
                <a:gd name="T1" fmla="*/ 0 h 182"/>
                <a:gd name="T2" fmla="*/ 16 w 136"/>
                <a:gd name="T3" fmla="*/ 111 h 182"/>
                <a:gd name="T4" fmla="*/ 0 w 136"/>
                <a:gd name="T5" fmla="*/ 175 h 182"/>
                <a:gd name="T6" fmla="*/ 109 w 136"/>
                <a:gd name="T7" fmla="*/ 138 h 182"/>
                <a:gd name="T8" fmla="*/ 136 w 136"/>
                <a:gd name="T9" fmla="*/ 182 h 182"/>
                <a:gd name="T10" fmla="*/ 136 w 136"/>
                <a:gd name="T11" fmla="*/ 0 h 182"/>
              </a:gdLst>
              <a:ahLst/>
              <a:cxnLst>
                <a:cxn ang="0">
                  <a:pos x="T0" y="T1"/>
                </a:cxn>
                <a:cxn ang="0">
                  <a:pos x="T2" y="T3"/>
                </a:cxn>
                <a:cxn ang="0">
                  <a:pos x="T4" y="T5"/>
                </a:cxn>
                <a:cxn ang="0">
                  <a:pos x="T6" y="T7"/>
                </a:cxn>
                <a:cxn ang="0">
                  <a:pos x="T8" y="T9"/>
                </a:cxn>
                <a:cxn ang="0">
                  <a:pos x="T10" y="T11"/>
                </a:cxn>
              </a:cxnLst>
              <a:rect l="0" t="0" r="r" b="b"/>
              <a:pathLst>
                <a:path w="136" h="182">
                  <a:moveTo>
                    <a:pt x="136" y="0"/>
                  </a:moveTo>
                  <a:lnTo>
                    <a:pt x="16" y="111"/>
                  </a:lnTo>
                  <a:lnTo>
                    <a:pt x="0" y="175"/>
                  </a:lnTo>
                  <a:lnTo>
                    <a:pt x="109" y="138"/>
                  </a:lnTo>
                  <a:lnTo>
                    <a:pt x="136" y="182"/>
                  </a:lnTo>
                  <a:lnTo>
                    <a:pt x="136"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66" name="Freeform 56"/>
            <p:cNvSpPr>
              <a:spLocks noChangeAspect="1"/>
            </p:cNvSpPr>
            <p:nvPr/>
          </p:nvSpPr>
          <p:spPr bwMode="blackWhite">
            <a:xfrm>
              <a:off x="3602" y="1067"/>
              <a:ext cx="75" cy="90"/>
            </a:xfrm>
            <a:custGeom>
              <a:avLst/>
              <a:gdLst>
                <a:gd name="T0" fmla="*/ 75 w 75"/>
                <a:gd name="T1" fmla="*/ 0 h 90"/>
                <a:gd name="T2" fmla="*/ 0 w 75"/>
                <a:gd name="T3" fmla="*/ 62 h 90"/>
                <a:gd name="T4" fmla="*/ 75 w 75"/>
                <a:gd name="T5" fmla="*/ 90 h 90"/>
                <a:gd name="T6" fmla="*/ 75 w 75"/>
                <a:gd name="T7" fmla="*/ 0 h 90"/>
              </a:gdLst>
              <a:ahLst/>
              <a:cxnLst>
                <a:cxn ang="0">
                  <a:pos x="T0" y="T1"/>
                </a:cxn>
                <a:cxn ang="0">
                  <a:pos x="T2" y="T3"/>
                </a:cxn>
                <a:cxn ang="0">
                  <a:pos x="T4" y="T5"/>
                </a:cxn>
                <a:cxn ang="0">
                  <a:pos x="T6" y="T7"/>
                </a:cxn>
              </a:cxnLst>
              <a:rect l="0" t="0" r="r" b="b"/>
              <a:pathLst>
                <a:path w="75" h="90">
                  <a:moveTo>
                    <a:pt x="75" y="0"/>
                  </a:moveTo>
                  <a:lnTo>
                    <a:pt x="0" y="62"/>
                  </a:lnTo>
                  <a:lnTo>
                    <a:pt x="75" y="90"/>
                  </a:lnTo>
                  <a:lnTo>
                    <a:pt x="75"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67" name="Freeform 57"/>
            <p:cNvSpPr>
              <a:spLocks noChangeAspect="1"/>
            </p:cNvSpPr>
            <p:nvPr/>
          </p:nvSpPr>
          <p:spPr bwMode="blackWhite">
            <a:xfrm>
              <a:off x="3679" y="1316"/>
              <a:ext cx="53" cy="251"/>
            </a:xfrm>
            <a:custGeom>
              <a:avLst/>
              <a:gdLst>
                <a:gd name="T0" fmla="*/ 53 w 53"/>
                <a:gd name="T1" fmla="*/ 0 h 251"/>
                <a:gd name="T2" fmla="*/ 0 w 53"/>
                <a:gd name="T3" fmla="*/ 69 h 251"/>
                <a:gd name="T4" fmla="*/ 0 w 53"/>
                <a:gd name="T5" fmla="*/ 251 h 251"/>
                <a:gd name="T6" fmla="*/ 53 w 53"/>
                <a:gd name="T7" fmla="*/ 177 h 251"/>
                <a:gd name="T8" fmla="*/ 53 w 53"/>
                <a:gd name="T9" fmla="*/ 0 h 251"/>
              </a:gdLst>
              <a:ahLst/>
              <a:cxnLst>
                <a:cxn ang="0">
                  <a:pos x="T0" y="T1"/>
                </a:cxn>
                <a:cxn ang="0">
                  <a:pos x="T2" y="T3"/>
                </a:cxn>
                <a:cxn ang="0">
                  <a:pos x="T4" y="T5"/>
                </a:cxn>
                <a:cxn ang="0">
                  <a:pos x="T6" y="T7"/>
                </a:cxn>
                <a:cxn ang="0">
                  <a:pos x="T8" y="T9"/>
                </a:cxn>
              </a:cxnLst>
              <a:rect l="0" t="0" r="r" b="b"/>
              <a:pathLst>
                <a:path w="53" h="251">
                  <a:moveTo>
                    <a:pt x="53" y="0"/>
                  </a:moveTo>
                  <a:lnTo>
                    <a:pt x="0" y="69"/>
                  </a:lnTo>
                  <a:lnTo>
                    <a:pt x="0" y="251"/>
                  </a:lnTo>
                  <a:lnTo>
                    <a:pt x="53" y="177"/>
                  </a:lnTo>
                  <a:lnTo>
                    <a:pt x="53"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68" name="Freeform 58"/>
            <p:cNvSpPr>
              <a:spLocks noChangeAspect="1"/>
            </p:cNvSpPr>
            <p:nvPr/>
          </p:nvSpPr>
          <p:spPr bwMode="blackWhite">
            <a:xfrm>
              <a:off x="3656" y="1399"/>
              <a:ext cx="21" cy="205"/>
            </a:xfrm>
            <a:custGeom>
              <a:avLst/>
              <a:gdLst>
                <a:gd name="T0" fmla="*/ 21 w 21"/>
                <a:gd name="T1" fmla="*/ 0 h 205"/>
                <a:gd name="T2" fmla="*/ 21 w 21"/>
                <a:gd name="T3" fmla="*/ 166 h 205"/>
                <a:gd name="T4" fmla="*/ 16 w 21"/>
                <a:gd name="T5" fmla="*/ 205 h 205"/>
                <a:gd name="T6" fmla="*/ 0 w 21"/>
                <a:gd name="T7" fmla="*/ 161 h 205"/>
                <a:gd name="T8" fmla="*/ 21 w 21"/>
                <a:gd name="T9" fmla="*/ 0 h 205"/>
              </a:gdLst>
              <a:ahLst/>
              <a:cxnLst>
                <a:cxn ang="0">
                  <a:pos x="T0" y="T1"/>
                </a:cxn>
                <a:cxn ang="0">
                  <a:pos x="T2" y="T3"/>
                </a:cxn>
                <a:cxn ang="0">
                  <a:pos x="T4" y="T5"/>
                </a:cxn>
                <a:cxn ang="0">
                  <a:pos x="T6" y="T7"/>
                </a:cxn>
                <a:cxn ang="0">
                  <a:pos x="T8" y="T9"/>
                </a:cxn>
              </a:cxnLst>
              <a:rect l="0" t="0" r="r" b="b"/>
              <a:pathLst>
                <a:path w="21" h="205">
                  <a:moveTo>
                    <a:pt x="21" y="0"/>
                  </a:moveTo>
                  <a:lnTo>
                    <a:pt x="21" y="166"/>
                  </a:lnTo>
                  <a:lnTo>
                    <a:pt x="16" y="205"/>
                  </a:lnTo>
                  <a:lnTo>
                    <a:pt x="0" y="161"/>
                  </a:lnTo>
                  <a:lnTo>
                    <a:pt x="21"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69" name="Freeform 59"/>
            <p:cNvSpPr>
              <a:spLocks noChangeAspect="1"/>
            </p:cNvSpPr>
            <p:nvPr/>
          </p:nvSpPr>
          <p:spPr bwMode="blackWhite">
            <a:xfrm>
              <a:off x="3968" y="1355"/>
              <a:ext cx="65" cy="94"/>
            </a:xfrm>
            <a:custGeom>
              <a:avLst/>
              <a:gdLst>
                <a:gd name="T0" fmla="*/ 65 w 65"/>
                <a:gd name="T1" fmla="*/ 0 h 94"/>
                <a:gd name="T2" fmla="*/ 0 w 65"/>
                <a:gd name="T3" fmla="*/ 67 h 94"/>
                <a:gd name="T4" fmla="*/ 18 w 65"/>
                <a:gd name="T5" fmla="*/ 94 h 94"/>
                <a:gd name="T6" fmla="*/ 65 w 65"/>
                <a:gd name="T7" fmla="*/ 67 h 94"/>
                <a:gd name="T8" fmla="*/ 65 w 65"/>
                <a:gd name="T9" fmla="*/ 0 h 94"/>
              </a:gdLst>
              <a:ahLst/>
              <a:cxnLst>
                <a:cxn ang="0">
                  <a:pos x="T0" y="T1"/>
                </a:cxn>
                <a:cxn ang="0">
                  <a:pos x="T2" y="T3"/>
                </a:cxn>
                <a:cxn ang="0">
                  <a:pos x="T4" y="T5"/>
                </a:cxn>
                <a:cxn ang="0">
                  <a:pos x="T6" y="T7"/>
                </a:cxn>
                <a:cxn ang="0">
                  <a:pos x="T8" y="T9"/>
                </a:cxn>
              </a:cxnLst>
              <a:rect l="0" t="0" r="r" b="b"/>
              <a:pathLst>
                <a:path w="65" h="94">
                  <a:moveTo>
                    <a:pt x="65" y="0"/>
                  </a:moveTo>
                  <a:lnTo>
                    <a:pt x="0" y="67"/>
                  </a:lnTo>
                  <a:lnTo>
                    <a:pt x="18" y="94"/>
                  </a:lnTo>
                  <a:lnTo>
                    <a:pt x="65" y="67"/>
                  </a:lnTo>
                  <a:lnTo>
                    <a:pt x="65"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70" name="Freeform 60"/>
            <p:cNvSpPr>
              <a:spLocks noChangeAspect="1"/>
            </p:cNvSpPr>
            <p:nvPr/>
          </p:nvSpPr>
          <p:spPr bwMode="blackWhite">
            <a:xfrm>
              <a:off x="4010" y="1528"/>
              <a:ext cx="68" cy="133"/>
            </a:xfrm>
            <a:custGeom>
              <a:avLst/>
              <a:gdLst>
                <a:gd name="T0" fmla="*/ 68 w 68"/>
                <a:gd name="T1" fmla="*/ 0 h 133"/>
                <a:gd name="T2" fmla="*/ 0 w 68"/>
                <a:gd name="T3" fmla="*/ 88 h 133"/>
                <a:gd name="T4" fmla="*/ 0 w 68"/>
                <a:gd name="T5" fmla="*/ 105 h 133"/>
                <a:gd name="T6" fmla="*/ 51 w 68"/>
                <a:gd name="T7" fmla="*/ 133 h 133"/>
                <a:gd name="T8" fmla="*/ 68 w 68"/>
                <a:gd name="T9" fmla="*/ 133 h 133"/>
                <a:gd name="T10" fmla="*/ 68 w 68"/>
                <a:gd name="T11" fmla="*/ 0 h 133"/>
              </a:gdLst>
              <a:ahLst/>
              <a:cxnLst>
                <a:cxn ang="0">
                  <a:pos x="T0" y="T1"/>
                </a:cxn>
                <a:cxn ang="0">
                  <a:pos x="T2" y="T3"/>
                </a:cxn>
                <a:cxn ang="0">
                  <a:pos x="T4" y="T5"/>
                </a:cxn>
                <a:cxn ang="0">
                  <a:pos x="T6" y="T7"/>
                </a:cxn>
                <a:cxn ang="0">
                  <a:pos x="T8" y="T9"/>
                </a:cxn>
                <a:cxn ang="0">
                  <a:pos x="T10" y="T11"/>
                </a:cxn>
              </a:cxnLst>
              <a:rect l="0" t="0" r="r" b="b"/>
              <a:pathLst>
                <a:path w="68" h="133">
                  <a:moveTo>
                    <a:pt x="68" y="0"/>
                  </a:moveTo>
                  <a:lnTo>
                    <a:pt x="0" y="88"/>
                  </a:lnTo>
                  <a:lnTo>
                    <a:pt x="0" y="105"/>
                  </a:lnTo>
                  <a:lnTo>
                    <a:pt x="51" y="133"/>
                  </a:lnTo>
                  <a:lnTo>
                    <a:pt x="68" y="133"/>
                  </a:lnTo>
                  <a:lnTo>
                    <a:pt x="68"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71" name="Freeform 61"/>
            <p:cNvSpPr>
              <a:spLocks noChangeAspect="1"/>
            </p:cNvSpPr>
            <p:nvPr/>
          </p:nvSpPr>
          <p:spPr bwMode="blackWhite">
            <a:xfrm>
              <a:off x="4231" y="1567"/>
              <a:ext cx="425" cy="260"/>
            </a:xfrm>
            <a:custGeom>
              <a:avLst/>
              <a:gdLst>
                <a:gd name="T0" fmla="*/ 0 w 425"/>
                <a:gd name="T1" fmla="*/ 49 h 260"/>
                <a:gd name="T2" fmla="*/ 61 w 425"/>
                <a:gd name="T3" fmla="*/ 0 h 260"/>
                <a:gd name="T4" fmla="*/ 61 w 425"/>
                <a:gd name="T5" fmla="*/ 47 h 260"/>
                <a:gd name="T6" fmla="*/ 377 w 425"/>
                <a:gd name="T7" fmla="*/ 47 h 260"/>
                <a:gd name="T8" fmla="*/ 425 w 425"/>
                <a:gd name="T9" fmla="*/ 124 h 260"/>
                <a:gd name="T10" fmla="*/ 396 w 425"/>
                <a:gd name="T11" fmla="*/ 146 h 260"/>
                <a:gd name="T12" fmla="*/ 423 w 425"/>
                <a:gd name="T13" fmla="*/ 212 h 260"/>
                <a:gd name="T14" fmla="*/ 397 w 425"/>
                <a:gd name="T15" fmla="*/ 239 h 260"/>
                <a:gd name="T16" fmla="*/ 323 w 425"/>
                <a:gd name="T17" fmla="*/ 239 h 260"/>
                <a:gd name="T18" fmla="*/ 323 w 425"/>
                <a:gd name="T19" fmla="*/ 260 h 260"/>
                <a:gd name="T20" fmla="*/ 0 w 425"/>
                <a:gd name="T21" fmla="*/ 260 h 260"/>
                <a:gd name="T22" fmla="*/ 0 w 425"/>
                <a:gd name="T23" fmla="*/ 49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5" h="260">
                  <a:moveTo>
                    <a:pt x="0" y="49"/>
                  </a:moveTo>
                  <a:lnTo>
                    <a:pt x="61" y="0"/>
                  </a:lnTo>
                  <a:lnTo>
                    <a:pt x="61" y="47"/>
                  </a:lnTo>
                  <a:lnTo>
                    <a:pt x="377" y="47"/>
                  </a:lnTo>
                  <a:lnTo>
                    <a:pt x="425" y="124"/>
                  </a:lnTo>
                  <a:lnTo>
                    <a:pt x="396" y="146"/>
                  </a:lnTo>
                  <a:lnTo>
                    <a:pt x="423" y="212"/>
                  </a:lnTo>
                  <a:lnTo>
                    <a:pt x="397" y="239"/>
                  </a:lnTo>
                  <a:lnTo>
                    <a:pt x="323" y="239"/>
                  </a:lnTo>
                  <a:lnTo>
                    <a:pt x="323" y="260"/>
                  </a:lnTo>
                  <a:lnTo>
                    <a:pt x="0" y="260"/>
                  </a:lnTo>
                  <a:lnTo>
                    <a:pt x="0" y="49"/>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72" name="Freeform 62"/>
            <p:cNvSpPr>
              <a:spLocks noChangeAspect="1"/>
            </p:cNvSpPr>
            <p:nvPr/>
          </p:nvSpPr>
          <p:spPr bwMode="blackWhite">
            <a:xfrm>
              <a:off x="4291" y="1299"/>
              <a:ext cx="477" cy="424"/>
            </a:xfrm>
            <a:custGeom>
              <a:avLst/>
              <a:gdLst>
                <a:gd name="T0" fmla="*/ 0 w 477"/>
                <a:gd name="T1" fmla="*/ 268 h 424"/>
                <a:gd name="T2" fmla="*/ 0 w 477"/>
                <a:gd name="T3" fmla="*/ 313 h 424"/>
                <a:gd name="T4" fmla="*/ 313 w 477"/>
                <a:gd name="T5" fmla="*/ 313 h 424"/>
                <a:gd name="T6" fmla="*/ 364 w 477"/>
                <a:gd name="T7" fmla="*/ 389 h 424"/>
                <a:gd name="T8" fmla="*/ 422 w 477"/>
                <a:gd name="T9" fmla="*/ 401 h 424"/>
                <a:gd name="T10" fmla="*/ 424 w 477"/>
                <a:gd name="T11" fmla="*/ 424 h 424"/>
                <a:gd name="T12" fmla="*/ 466 w 477"/>
                <a:gd name="T13" fmla="*/ 392 h 424"/>
                <a:gd name="T14" fmla="*/ 477 w 477"/>
                <a:gd name="T15" fmla="*/ 250 h 424"/>
                <a:gd name="T16" fmla="*/ 477 w 477"/>
                <a:gd name="T17" fmla="*/ 152 h 424"/>
                <a:gd name="T18" fmla="*/ 459 w 477"/>
                <a:gd name="T19" fmla="*/ 136 h 424"/>
                <a:gd name="T20" fmla="*/ 468 w 477"/>
                <a:gd name="T21" fmla="*/ 0 h 424"/>
                <a:gd name="T22" fmla="*/ 366 w 477"/>
                <a:gd name="T23" fmla="*/ 0 h 424"/>
                <a:gd name="T24" fmla="*/ 256 w 477"/>
                <a:gd name="T25" fmla="*/ 109 h 424"/>
                <a:gd name="T26" fmla="*/ 274 w 477"/>
                <a:gd name="T27" fmla="*/ 146 h 424"/>
                <a:gd name="T28" fmla="*/ 207 w 477"/>
                <a:gd name="T29" fmla="*/ 195 h 424"/>
                <a:gd name="T30" fmla="*/ 122 w 477"/>
                <a:gd name="T31" fmla="*/ 183 h 424"/>
                <a:gd name="T32" fmla="*/ 48 w 477"/>
                <a:gd name="T33" fmla="*/ 183 h 424"/>
                <a:gd name="T34" fmla="*/ 32 w 477"/>
                <a:gd name="T35" fmla="*/ 234 h 424"/>
                <a:gd name="T36" fmla="*/ 0 w 477"/>
                <a:gd name="T37" fmla="*/ 268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 h="424">
                  <a:moveTo>
                    <a:pt x="0" y="268"/>
                  </a:moveTo>
                  <a:lnTo>
                    <a:pt x="0" y="313"/>
                  </a:lnTo>
                  <a:lnTo>
                    <a:pt x="313" y="313"/>
                  </a:lnTo>
                  <a:lnTo>
                    <a:pt x="364" y="389"/>
                  </a:lnTo>
                  <a:lnTo>
                    <a:pt x="422" y="401"/>
                  </a:lnTo>
                  <a:lnTo>
                    <a:pt x="424" y="424"/>
                  </a:lnTo>
                  <a:lnTo>
                    <a:pt x="466" y="392"/>
                  </a:lnTo>
                  <a:lnTo>
                    <a:pt x="477" y="250"/>
                  </a:lnTo>
                  <a:lnTo>
                    <a:pt x="477" y="152"/>
                  </a:lnTo>
                  <a:lnTo>
                    <a:pt x="459" y="136"/>
                  </a:lnTo>
                  <a:lnTo>
                    <a:pt x="468" y="0"/>
                  </a:lnTo>
                  <a:lnTo>
                    <a:pt x="366" y="0"/>
                  </a:lnTo>
                  <a:lnTo>
                    <a:pt x="256" y="109"/>
                  </a:lnTo>
                  <a:lnTo>
                    <a:pt x="274" y="146"/>
                  </a:lnTo>
                  <a:lnTo>
                    <a:pt x="207" y="195"/>
                  </a:lnTo>
                  <a:lnTo>
                    <a:pt x="122" y="183"/>
                  </a:lnTo>
                  <a:lnTo>
                    <a:pt x="48" y="183"/>
                  </a:lnTo>
                  <a:lnTo>
                    <a:pt x="32" y="234"/>
                  </a:lnTo>
                  <a:lnTo>
                    <a:pt x="0" y="268"/>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73" name="Freeform 63"/>
            <p:cNvSpPr>
              <a:spLocks noChangeAspect="1"/>
            </p:cNvSpPr>
            <p:nvPr/>
          </p:nvSpPr>
          <p:spPr bwMode="blackWhite">
            <a:xfrm>
              <a:off x="4747" y="1303"/>
              <a:ext cx="178" cy="216"/>
            </a:xfrm>
            <a:custGeom>
              <a:avLst/>
              <a:gdLst>
                <a:gd name="T0" fmla="*/ 12 w 178"/>
                <a:gd name="T1" fmla="*/ 0 h 216"/>
                <a:gd name="T2" fmla="*/ 178 w 178"/>
                <a:gd name="T3" fmla="*/ 0 h 216"/>
                <a:gd name="T4" fmla="*/ 171 w 178"/>
                <a:gd name="T5" fmla="*/ 52 h 216"/>
                <a:gd name="T6" fmla="*/ 141 w 178"/>
                <a:gd name="T7" fmla="*/ 64 h 216"/>
                <a:gd name="T8" fmla="*/ 95 w 178"/>
                <a:gd name="T9" fmla="*/ 216 h 216"/>
                <a:gd name="T10" fmla="*/ 21 w 178"/>
                <a:gd name="T11" fmla="*/ 216 h 216"/>
                <a:gd name="T12" fmla="*/ 21 w 178"/>
                <a:gd name="T13" fmla="*/ 148 h 216"/>
                <a:gd name="T14" fmla="*/ 0 w 178"/>
                <a:gd name="T15" fmla="*/ 132 h 216"/>
                <a:gd name="T16" fmla="*/ 12 w 178"/>
                <a:gd name="T17"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 h="216">
                  <a:moveTo>
                    <a:pt x="12" y="0"/>
                  </a:moveTo>
                  <a:lnTo>
                    <a:pt x="178" y="0"/>
                  </a:lnTo>
                  <a:lnTo>
                    <a:pt x="171" y="52"/>
                  </a:lnTo>
                  <a:lnTo>
                    <a:pt x="141" y="64"/>
                  </a:lnTo>
                  <a:lnTo>
                    <a:pt x="95" y="216"/>
                  </a:lnTo>
                  <a:lnTo>
                    <a:pt x="21" y="216"/>
                  </a:lnTo>
                  <a:lnTo>
                    <a:pt x="21" y="148"/>
                  </a:lnTo>
                  <a:lnTo>
                    <a:pt x="0" y="132"/>
                  </a:lnTo>
                  <a:lnTo>
                    <a:pt x="12"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74" name="Freeform 64"/>
            <p:cNvSpPr>
              <a:spLocks noChangeAspect="1"/>
            </p:cNvSpPr>
            <p:nvPr/>
          </p:nvSpPr>
          <p:spPr bwMode="blackWhite">
            <a:xfrm>
              <a:off x="4842" y="1226"/>
              <a:ext cx="133" cy="293"/>
            </a:xfrm>
            <a:custGeom>
              <a:avLst/>
              <a:gdLst>
                <a:gd name="T0" fmla="*/ 83 w 133"/>
                <a:gd name="T1" fmla="*/ 77 h 293"/>
                <a:gd name="T2" fmla="*/ 133 w 133"/>
                <a:gd name="T3" fmla="*/ 0 h 293"/>
                <a:gd name="T4" fmla="*/ 133 w 133"/>
                <a:gd name="T5" fmla="*/ 268 h 293"/>
                <a:gd name="T6" fmla="*/ 85 w 133"/>
                <a:gd name="T7" fmla="*/ 293 h 293"/>
                <a:gd name="T8" fmla="*/ 0 w 133"/>
                <a:gd name="T9" fmla="*/ 291 h 293"/>
                <a:gd name="T10" fmla="*/ 46 w 133"/>
                <a:gd name="T11" fmla="*/ 143 h 293"/>
                <a:gd name="T12" fmla="*/ 78 w 133"/>
                <a:gd name="T13" fmla="*/ 129 h 293"/>
                <a:gd name="T14" fmla="*/ 83 w 133"/>
                <a:gd name="T15" fmla="*/ 77 h 2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 h="293">
                  <a:moveTo>
                    <a:pt x="83" y="77"/>
                  </a:moveTo>
                  <a:lnTo>
                    <a:pt x="133" y="0"/>
                  </a:lnTo>
                  <a:lnTo>
                    <a:pt x="133" y="268"/>
                  </a:lnTo>
                  <a:lnTo>
                    <a:pt x="85" y="293"/>
                  </a:lnTo>
                  <a:lnTo>
                    <a:pt x="0" y="291"/>
                  </a:lnTo>
                  <a:lnTo>
                    <a:pt x="46" y="143"/>
                  </a:lnTo>
                  <a:lnTo>
                    <a:pt x="78" y="129"/>
                  </a:lnTo>
                  <a:lnTo>
                    <a:pt x="83" y="77"/>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75" name="Freeform 65"/>
            <p:cNvSpPr>
              <a:spLocks noChangeAspect="1"/>
            </p:cNvSpPr>
            <p:nvPr/>
          </p:nvSpPr>
          <p:spPr bwMode="blackWhite">
            <a:xfrm>
              <a:off x="4975" y="1065"/>
              <a:ext cx="282" cy="426"/>
            </a:xfrm>
            <a:custGeom>
              <a:avLst/>
              <a:gdLst>
                <a:gd name="T0" fmla="*/ 0 w 282"/>
                <a:gd name="T1" fmla="*/ 166 h 426"/>
                <a:gd name="T2" fmla="*/ 0 w 282"/>
                <a:gd name="T3" fmla="*/ 426 h 426"/>
                <a:gd name="T4" fmla="*/ 68 w 282"/>
                <a:gd name="T5" fmla="*/ 389 h 426"/>
                <a:gd name="T6" fmla="*/ 72 w 282"/>
                <a:gd name="T7" fmla="*/ 354 h 426"/>
                <a:gd name="T8" fmla="*/ 282 w 282"/>
                <a:gd name="T9" fmla="*/ 202 h 426"/>
                <a:gd name="T10" fmla="*/ 270 w 282"/>
                <a:gd name="T11" fmla="*/ 145 h 426"/>
                <a:gd name="T12" fmla="*/ 234 w 282"/>
                <a:gd name="T13" fmla="*/ 129 h 426"/>
                <a:gd name="T14" fmla="*/ 209 w 282"/>
                <a:gd name="T15" fmla="*/ 6 h 426"/>
                <a:gd name="T16" fmla="*/ 152 w 282"/>
                <a:gd name="T17" fmla="*/ 22 h 426"/>
                <a:gd name="T18" fmla="*/ 123 w 282"/>
                <a:gd name="T19" fmla="*/ 0 h 426"/>
                <a:gd name="T20" fmla="*/ 68 w 282"/>
                <a:gd name="T21" fmla="*/ 43 h 426"/>
                <a:gd name="T22" fmla="*/ 0 w 282"/>
                <a:gd name="T23" fmla="*/ 166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2" h="426">
                  <a:moveTo>
                    <a:pt x="0" y="166"/>
                  </a:moveTo>
                  <a:lnTo>
                    <a:pt x="0" y="426"/>
                  </a:lnTo>
                  <a:lnTo>
                    <a:pt x="68" y="389"/>
                  </a:lnTo>
                  <a:lnTo>
                    <a:pt x="72" y="354"/>
                  </a:lnTo>
                  <a:lnTo>
                    <a:pt x="282" y="202"/>
                  </a:lnTo>
                  <a:lnTo>
                    <a:pt x="270" y="145"/>
                  </a:lnTo>
                  <a:lnTo>
                    <a:pt x="234" y="129"/>
                  </a:lnTo>
                  <a:lnTo>
                    <a:pt x="209" y="6"/>
                  </a:lnTo>
                  <a:lnTo>
                    <a:pt x="152" y="22"/>
                  </a:lnTo>
                  <a:lnTo>
                    <a:pt x="123" y="0"/>
                  </a:lnTo>
                  <a:lnTo>
                    <a:pt x="68" y="43"/>
                  </a:lnTo>
                  <a:lnTo>
                    <a:pt x="0" y="166"/>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76" name="Freeform 66"/>
            <p:cNvSpPr>
              <a:spLocks noChangeAspect="1"/>
            </p:cNvSpPr>
            <p:nvPr/>
          </p:nvSpPr>
          <p:spPr bwMode="blackWhite">
            <a:xfrm>
              <a:off x="4763" y="1501"/>
              <a:ext cx="273" cy="155"/>
            </a:xfrm>
            <a:custGeom>
              <a:avLst/>
              <a:gdLst>
                <a:gd name="T0" fmla="*/ 7 w 273"/>
                <a:gd name="T1" fmla="*/ 18 h 155"/>
                <a:gd name="T2" fmla="*/ 164 w 273"/>
                <a:gd name="T3" fmla="*/ 18 h 155"/>
                <a:gd name="T4" fmla="*/ 203 w 273"/>
                <a:gd name="T5" fmla="*/ 0 h 155"/>
                <a:gd name="T6" fmla="*/ 221 w 273"/>
                <a:gd name="T7" fmla="*/ 41 h 155"/>
                <a:gd name="T8" fmla="*/ 196 w 273"/>
                <a:gd name="T9" fmla="*/ 66 h 155"/>
                <a:gd name="T10" fmla="*/ 233 w 273"/>
                <a:gd name="T11" fmla="*/ 132 h 155"/>
                <a:gd name="T12" fmla="*/ 273 w 273"/>
                <a:gd name="T13" fmla="*/ 132 h 155"/>
                <a:gd name="T14" fmla="*/ 215 w 273"/>
                <a:gd name="T15" fmla="*/ 155 h 155"/>
                <a:gd name="T16" fmla="*/ 162 w 273"/>
                <a:gd name="T17" fmla="*/ 103 h 155"/>
                <a:gd name="T18" fmla="*/ 0 w 273"/>
                <a:gd name="T19" fmla="*/ 103 h 155"/>
                <a:gd name="T20" fmla="*/ 7 w 273"/>
                <a:gd name="T21" fmla="*/ 18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3" h="155">
                  <a:moveTo>
                    <a:pt x="7" y="18"/>
                  </a:moveTo>
                  <a:lnTo>
                    <a:pt x="164" y="18"/>
                  </a:lnTo>
                  <a:lnTo>
                    <a:pt x="203" y="0"/>
                  </a:lnTo>
                  <a:lnTo>
                    <a:pt x="221" y="41"/>
                  </a:lnTo>
                  <a:lnTo>
                    <a:pt x="196" y="66"/>
                  </a:lnTo>
                  <a:lnTo>
                    <a:pt x="233" y="132"/>
                  </a:lnTo>
                  <a:lnTo>
                    <a:pt x="273" y="132"/>
                  </a:lnTo>
                  <a:lnTo>
                    <a:pt x="215" y="155"/>
                  </a:lnTo>
                  <a:lnTo>
                    <a:pt x="162" y="103"/>
                  </a:lnTo>
                  <a:lnTo>
                    <a:pt x="0" y="103"/>
                  </a:lnTo>
                  <a:lnTo>
                    <a:pt x="7" y="18"/>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77" name="Freeform 67"/>
            <p:cNvSpPr>
              <a:spLocks noChangeAspect="1"/>
            </p:cNvSpPr>
            <p:nvPr/>
          </p:nvSpPr>
          <p:spPr bwMode="blackWhite">
            <a:xfrm>
              <a:off x="4888" y="1604"/>
              <a:ext cx="55" cy="68"/>
            </a:xfrm>
            <a:custGeom>
              <a:avLst/>
              <a:gdLst>
                <a:gd name="T0" fmla="*/ 0 w 55"/>
                <a:gd name="T1" fmla="*/ 0 h 68"/>
                <a:gd name="T2" fmla="*/ 37 w 55"/>
                <a:gd name="T3" fmla="*/ 0 h 68"/>
                <a:gd name="T4" fmla="*/ 55 w 55"/>
                <a:gd name="T5" fmla="*/ 19 h 68"/>
                <a:gd name="T6" fmla="*/ 35 w 55"/>
                <a:gd name="T7" fmla="*/ 64 h 68"/>
                <a:gd name="T8" fmla="*/ 0 w 55"/>
                <a:gd name="T9" fmla="*/ 68 h 68"/>
                <a:gd name="T10" fmla="*/ 0 w 55"/>
                <a:gd name="T11" fmla="*/ 0 h 68"/>
              </a:gdLst>
              <a:ahLst/>
              <a:cxnLst>
                <a:cxn ang="0">
                  <a:pos x="T0" y="T1"/>
                </a:cxn>
                <a:cxn ang="0">
                  <a:pos x="T2" y="T3"/>
                </a:cxn>
                <a:cxn ang="0">
                  <a:pos x="T4" y="T5"/>
                </a:cxn>
                <a:cxn ang="0">
                  <a:pos x="T6" y="T7"/>
                </a:cxn>
                <a:cxn ang="0">
                  <a:pos x="T8" y="T9"/>
                </a:cxn>
                <a:cxn ang="0">
                  <a:pos x="T10" y="T11"/>
                </a:cxn>
              </a:cxnLst>
              <a:rect l="0" t="0" r="r" b="b"/>
              <a:pathLst>
                <a:path w="55" h="68">
                  <a:moveTo>
                    <a:pt x="0" y="0"/>
                  </a:moveTo>
                  <a:lnTo>
                    <a:pt x="37" y="0"/>
                  </a:lnTo>
                  <a:lnTo>
                    <a:pt x="55" y="19"/>
                  </a:lnTo>
                  <a:lnTo>
                    <a:pt x="35" y="64"/>
                  </a:lnTo>
                  <a:lnTo>
                    <a:pt x="0" y="68"/>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78" name="Freeform 68"/>
            <p:cNvSpPr>
              <a:spLocks noChangeAspect="1"/>
            </p:cNvSpPr>
            <p:nvPr/>
          </p:nvSpPr>
          <p:spPr bwMode="blackWhite">
            <a:xfrm>
              <a:off x="4757" y="1602"/>
              <a:ext cx="131" cy="90"/>
            </a:xfrm>
            <a:custGeom>
              <a:avLst/>
              <a:gdLst>
                <a:gd name="T0" fmla="*/ 6 w 131"/>
                <a:gd name="T1" fmla="*/ 0 h 90"/>
                <a:gd name="T2" fmla="*/ 131 w 131"/>
                <a:gd name="T3" fmla="*/ 0 h 90"/>
                <a:gd name="T4" fmla="*/ 131 w 131"/>
                <a:gd name="T5" fmla="*/ 71 h 90"/>
                <a:gd name="T6" fmla="*/ 0 w 131"/>
                <a:gd name="T7" fmla="*/ 90 h 90"/>
                <a:gd name="T8" fmla="*/ 6 w 131"/>
                <a:gd name="T9" fmla="*/ 0 h 90"/>
              </a:gdLst>
              <a:ahLst/>
              <a:cxnLst>
                <a:cxn ang="0">
                  <a:pos x="T0" y="T1"/>
                </a:cxn>
                <a:cxn ang="0">
                  <a:pos x="T2" y="T3"/>
                </a:cxn>
                <a:cxn ang="0">
                  <a:pos x="T4" y="T5"/>
                </a:cxn>
                <a:cxn ang="0">
                  <a:pos x="T6" y="T7"/>
                </a:cxn>
                <a:cxn ang="0">
                  <a:pos x="T8" y="T9"/>
                </a:cxn>
              </a:cxnLst>
              <a:rect l="0" t="0" r="r" b="b"/>
              <a:pathLst>
                <a:path w="131" h="90">
                  <a:moveTo>
                    <a:pt x="6" y="0"/>
                  </a:moveTo>
                  <a:lnTo>
                    <a:pt x="131" y="0"/>
                  </a:lnTo>
                  <a:lnTo>
                    <a:pt x="131" y="71"/>
                  </a:lnTo>
                  <a:lnTo>
                    <a:pt x="0" y="90"/>
                  </a:lnTo>
                  <a:lnTo>
                    <a:pt x="6"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79" name="Freeform 69"/>
            <p:cNvSpPr>
              <a:spLocks noChangeAspect="1"/>
            </p:cNvSpPr>
            <p:nvPr/>
          </p:nvSpPr>
          <p:spPr bwMode="blackWhite">
            <a:xfrm>
              <a:off x="4603" y="1692"/>
              <a:ext cx="115" cy="217"/>
            </a:xfrm>
            <a:custGeom>
              <a:avLst/>
              <a:gdLst>
                <a:gd name="T0" fmla="*/ 53 w 115"/>
                <a:gd name="T1" fmla="*/ 0 h 217"/>
                <a:gd name="T2" fmla="*/ 25 w 115"/>
                <a:gd name="T3" fmla="*/ 24 h 217"/>
                <a:gd name="T4" fmla="*/ 49 w 115"/>
                <a:gd name="T5" fmla="*/ 87 h 217"/>
                <a:gd name="T6" fmla="*/ 25 w 115"/>
                <a:gd name="T7" fmla="*/ 116 h 217"/>
                <a:gd name="T8" fmla="*/ 0 w 115"/>
                <a:gd name="T9" fmla="*/ 150 h 217"/>
                <a:gd name="T10" fmla="*/ 49 w 115"/>
                <a:gd name="T11" fmla="*/ 217 h 217"/>
                <a:gd name="T12" fmla="*/ 100 w 115"/>
                <a:gd name="T13" fmla="*/ 150 h 217"/>
                <a:gd name="T14" fmla="*/ 115 w 115"/>
                <a:gd name="T15" fmla="*/ 73 h 217"/>
                <a:gd name="T16" fmla="*/ 96 w 115"/>
                <a:gd name="T17" fmla="*/ 70 h 217"/>
                <a:gd name="T18" fmla="*/ 114 w 115"/>
                <a:gd name="T19" fmla="*/ 31 h 217"/>
                <a:gd name="T20" fmla="*/ 110 w 115"/>
                <a:gd name="T21" fmla="*/ 9 h 217"/>
                <a:gd name="T22" fmla="*/ 53 w 115"/>
                <a:gd name="T23"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5" h="217">
                  <a:moveTo>
                    <a:pt x="53" y="0"/>
                  </a:moveTo>
                  <a:lnTo>
                    <a:pt x="25" y="24"/>
                  </a:lnTo>
                  <a:lnTo>
                    <a:pt x="49" y="87"/>
                  </a:lnTo>
                  <a:lnTo>
                    <a:pt x="25" y="116"/>
                  </a:lnTo>
                  <a:lnTo>
                    <a:pt x="0" y="150"/>
                  </a:lnTo>
                  <a:lnTo>
                    <a:pt x="49" y="217"/>
                  </a:lnTo>
                  <a:lnTo>
                    <a:pt x="100" y="150"/>
                  </a:lnTo>
                  <a:lnTo>
                    <a:pt x="115" y="73"/>
                  </a:lnTo>
                  <a:lnTo>
                    <a:pt x="96" y="70"/>
                  </a:lnTo>
                  <a:lnTo>
                    <a:pt x="114" y="31"/>
                  </a:lnTo>
                  <a:lnTo>
                    <a:pt x="110" y="9"/>
                  </a:lnTo>
                  <a:lnTo>
                    <a:pt x="53"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80" name="Freeform 70"/>
            <p:cNvSpPr>
              <a:spLocks noChangeAspect="1"/>
            </p:cNvSpPr>
            <p:nvPr/>
          </p:nvSpPr>
          <p:spPr bwMode="blackWhite">
            <a:xfrm>
              <a:off x="4554" y="1805"/>
              <a:ext cx="88" cy="153"/>
            </a:xfrm>
            <a:custGeom>
              <a:avLst/>
              <a:gdLst>
                <a:gd name="T0" fmla="*/ 76 w 88"/>
                <a:gd name="T1" fmla="*/ 0 h 153"/>
                <a:gd name="T2" fmla="*/ 0 w 88"/>
                <a:gd name="T3" fmla="*/ 0 h 153"/>
                <a:gd name="T4" fmla="*/ 0 w 88"/>
                <a:gd name="T5" fmla="*/ 153 h 153"/>
                <a:gd name="T6" fmla="*/ 73 w 88"/>
                <a:gd name="T7" fmla="*/ 153 h 153"/>
                <a:gd name="T8" fmla="*/ 88 w 88"/>
                <a:gd name="T9" fmla="*/ 129 h 153"/>
                <a:gd name="T10" fmla="*/ 50 w 88"/>
                <a:gd name="T11" fmla="*/ 81 h 153"/>
                <a:gd name="T12" fmla="*/ 51 w 88"/>
                <a:gd name="T13" fmla="*/ 39 h 153"/>
                <a:gd name="T14" fmla="*/ 76 w 88"/>
                <a:gd name="T15" fmla="*/ 0 h 1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 h="153">
                  <a:moveTo>
                    <a:pt x="76" y="0"/>
                  </a:moveTo>
                  <a:lnTo>
                    <a:pt x="0" y="0"/>
                  </a:lnTo>
                  <a:lnTo>
                    <a:pt x="0" y="153"/>
                  </a:lnTo>
                  <a:lnTo>
                    <a:pt x="73" y="153"/>
                  </a:lnTo>
                  <a:lnTo>
                    <a:pt x="88" y="129"/>
                  </a:lnTo>
                  <a:lnTo>
                    <a:pt x="50" y="81"/>
                  </a:lnTo>
                  <a:lnTo>
                    <a:pt x="51" y="39"/>
                  </a:lnTo>
                  <a:lnTo>
                    <a:pt x="76"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81" name="Freeform 71"/>
            <p:cNvSpPr>
              <a:spLocks noChangeAspect="1"/>
            </p:cNvSpPr>
            <p:nvPr/>
          </p:nvSpPr>
          <p:spPr bwMode="blackWhite">
            <a:xfrm>
              <a:off x="4300" y="1828"/>
              <a:ext cx="328" cy="212"/>
            </a:xfrm>
            <a:custGeom>
              <a:avLst/>
              <a:gdLst>
                <a:gd name="T0" fmla="*/ 0 w 328"/>
                <a:gd name="T1" fmla="*/ 0 h 212"/>
                <a:gd name="T2" fmla="*/ 255 w 328"/>
                <a:gd name="T3" fmla="*/ 0 h 212"/>
                <a:gd name="T4" fmla="*/ 255 w 328"/>
                <a:gd name="T5" fmla="*/ 132 h 212"/>
                <a:gd name="T6" fmla="*/ 328 w 328"/>
                <a:gd name="T7" fmla="*/ 132 h 212"/>
                <a:gd name="T8" fmla="*/ 287 w 328"/>
                <a:gd name="T9" fmla="*/ 212 h 212"/>
                <a:gd name="T10" fmla="*/ 200 w 328"/>
                <a:gd name="T11" fmla="*/ 189 h 212"/>
                <a:gd name="T12" fmla="*/ 172 w 328"/>
                <a:gd name="T13" fmla="*/ 83 h 212"/>
                <a:gd name="T14" fmla="*/ 161 w 328"/>
                <a:gd name="T15" fmla="*/ 58 h 212"/>
                <a:gd name="T16" fmla="*/ 98 w 328"/>
                <a:gd name="T17" fmla="*/ 39 h 212"/>
                <a:gd name="T18" fmla="*/ 0 w 328"/>
                <a:gd name="T19" fmla="*/ 86 h 212"/>
                <a:gd name="T20" fmla="*/ 0 w 328"/>
                <a:gd name="T21"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8" h="212">
                  <a:moveTo>
                    <a:pt x="0" y="0"/>
                  </a:moveTo>
                  <a:lnTo>
                    <a:pt x="255" y="0"/>
                  </a:lnTo>
                  <a:lnTo>
                    <a:pt x="255" y="132"/>
                  </a:lnTo>
                  <a:lnTo>
                    <a:pt x="328" y="132"/>
                  </a:lnTo>
                  <a:lnTo>
                    <a:pt x="287" y="212"/>
                  </a:lnTo>
                  <a:lnTo>
                    <a:pt x="200" y="189"/>
                  </a:lnTo>
                  <a:lnTo>
                    <a:pt x="172" y="83"/>
                  </a:lnTo>
                  <a:lnTo>
                    <a:pt x="161" y="58"/>
                  </a:lnTo>
                  <a:lnTo>
                    <a:pt x="98" y="39"/>
                  </a:lnTo>
                  <a:lnTo>
                    <a:pt x="0" y="86"/>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82" name="Freeform 72"/>
            <p:cNvSpPr>
              <a:spLocks noChangeAspect="1"/>
            </p:cNvSpPr>
            <p:nvPr/>
          </p:nvSpPr>
          <p:spPr bwMode="blackWhite">
            <a:xfrm>
              <a:off x="2567" y="1808"/>
              <a:ext cx="555" cy="289"/>
            </a:xfrm>
            <a:custGeom>
              <a:avLst/>
              <a:gdLst>
                <a:gd name="T0" fmla="*/ 0 w 555"/>
                <a:gd name="T1" fmla="*/ 0 h 289"/>
                <a:gd name="T2" fmla="*/ 525 w 555"/>
                <a:gd name="T3" fmla="*/ 0 h 289"/>
                <a:gd name="T4" fmla="*/ 541 w 555"/>
                <a:gd name="T5" fmla="*/ 21 h 289"/>
                <a:gd name="T6" fmla="*/ 518 w 555"/>
                <a:gd name="T7" fmla="*/ 46 h 289"/>
                <a:gd name="T8" fmla="*/ 555 w 555"/>
                <a:gd name="T9" fmla="*/ 81 h 289"/>
                <a:gd name="T10" fmla="*/ 555 w 555"/>
                <a:gd name="T11" fmla="*/ 289 h 289"/>
                <a:gd name="T12" fmla="*/ 0 w 555"/>
                <a:gd name="T13" fmla="*/ 289 h 289"/>
                <a:gd name="T14" fmla="*/ 0 w 555"/>
                <a:gd name="T15" fmla="*/ 0 h 2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5" h="289">
                  <a:moveTo>
                    <a:pt x="0" y="0"/>
                  </a:moveTo>
                  <a:lnTo>
                    <a:pt x="525" y="0"/>
                  </a:lnTo>
                  <a:lnTo>
                    <a:pt x="541" y="21"/>
                  </a:lnTo>
                  <a:lnTo>
                    <a:pt x="518" y="46"/>
                  </a:lnTo>
                  <a:lnTo>
                    <a:pt x="555" y="81"/>
                  </a:lnTo>
                  <a:lnTo>
                    <a:pt x="555" y="289"/>
                  </a:lnTo>
                  <a:lnTo>
                    <a:pt x="0" y="289"/>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83" name="Freeform 73"/>
            <p:cNvSpPr>
              <a:spLocks noChangeAspect="1"/>
            </p:cNvSpPr>
            <p:nvPr/>
          </p:nvSpPr>
          <p:spPr bwMode="blackWhite">
            <a:xfrm>
              <a:off x="2425" y="1196"/>
              <a:ext cx="578" cy="365"/>
            </a:xfrm>
            <a:custGeom>
              <a:avLst/>
              <a:gdLst>
                <a:gd name="T0" fmla="*/ 0 w 578"/>
                <a:gd name="T1" fmla="*/ 0 h 365"/>
                <a:gd name="T2" fmla="*/ 566 w 578"/>
                <a:gd name="T3" fmla="*/ 0 h 365"/>
                <a:gd name="T4" fmla="*/ 566 w 578"/>
                <a:gd name="T5" fmla="*/ 29 h 365"/>
                <a:gd name="T6" fmla="*/ 541 w 578"/>
                <a:gd name="T7" fmla="*/ 59 h 365"/>
                <a:gd name="T8" fmla="*/ 578 w 578"/>
                <a:gd name="T9" fmla="*/ 102 h 365"/>
                <a:gd name="T10" fmla="*/ 578 w 578"/>
                <a:gd name="T11" fmla="*/ 261 h 365"/>
                <a:gd name="T12" fmla="*/ 553 w 578"/>
                <a:gd name="T13" fmla="*/ 261 h 365"/>
                <a:gd name="T14" fmla="*/ 553 w 578"/>
                <a:gd name="T15" fmla="*/ 365 h 365"/>
                <a:gd name="T16" fmla="*/ 454 w 578"/>
                <a:gd name="T17" fmla="*/ 333 h 365"/>
                <a:gd name="T18" fmla="*/ 414 w 578"/>
                <a:gd name="T19" fmla="*/ 309 h 365"/>
                <a:gd name="T20" fmla="*/ 0 w 578"/>
                <a:gd name="T21" fmla="*/ 309 h 365"/>
                <a:gd name="T22" fmla="*/ 0 w 578"/>
                <a:gd name="T23" fmla="*/ 0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78" h="365">
                  <a:moveTo>
                    <a:pt x="0" y="0"/>
                  </a:moveTo>
                  <a:lnTo>
                    <a:pt x="566" y="0"/>
                  </a:lnTo>
                  <a:lnTo>
                    <a:pt x="566" y="29"/>
                  </a:lnTo>
                  <a:lnTo>
                    <a:pt x="541" y="59"/>
                  </a:lnTo>
                  <a:lnTo>
                    <a:pt x="578" y="102"/>
                  </a:lnTo>
                  <a:lnTo>
                    <a:pt x="578" y="261"/>
                  </a:lnTo>
                  <a:lnTo>
                    <a:pt x="553" y="261"/>
                  </a:lnTo>
                  <a:lnTo>
                    <a:pt x="553" y="365"/>
                  </a:lnTo>
                  <a:lnTo>
                    <a:pt x="454" y="333"/>
                  </a:lnTo>
                  <a:lnTo>
                    <a:pt x="414" y="309"/>
                  </a:lnTo>
                  <a:lnTo>
                    <a:pt x="0" y="309"/>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84" name="Freeform 74"/>
            <p:cNvSpPr>
              <a:spLocks noChangeAspect="1"/>
            </p:cNvSpPr>
            <p:nvPr/>
          </p:nvSpPr>
          <p:spPr bwMode="auto">
            <a:xfrm>
              <a:off x="2978" y="1457"/>
              <a:ext cx="502" cy="284"/>
            </a:xfrm>
            <a:custGeom>
              <a:avLst/>
              <a:gdLst>
                <a:gd name="T0" fmla="*/ 0 w 502"/>
                <a:gd name="T1" fmla="*/ 0 h 284"/>
                <a:gd name="T2" fmla="*/ 428 w 502"/>
                <a:gd name="T3" fmla="*/ 0 h 284"/>
                <a:gd name="T4" fmla="*/ 441 w 502"/>
                <a:gd name="T5" fmla="*/ 32 h 284"/>
                <a:gd name="T6" fmla="*/ 439 w 502"/>
                <a:gd name="T7" fmla="*/ 71 h 284"/>
                <a:gd name="T8" fmla="*/ 480 w 502"/>
                <a:gd name="T9" fmla="*/ 110 h 284"/>
                <a:gd name="T10" fmla="*/ 502 w 502"/>
                <a:gd name="T11" fmla="*/ 157 h 284"/>
                <a:gd name="T12" fmla="*/ 441 w 502"/>
                <a:gd name="T13" fmla="*/ 202 h 284"/>
                <a:gd name="T14" fmla="*/ 453 w 502"/>
                <a:gd name="T15" fmla="*/ 231 h 284"/>
                <a:gd name="T16" fmla="*/ 403 w 502"/>
                <a:gd name="T17" fmla="*/ 284 h 284"/>
                <a:gd name="T18" fmla="*/ 59 w 502"/>
                <a:gd name="T19" fmla="*/ 284 h 284"/>
                <a:gd name="T20" fmla="*/ 0 w 502"/>
                <a:gd name="T21" fmla="*/ 103 h 284"/>
                <a:gd name="T22" fmla="*/ 0 w 502"/>
                <a:gd name="T23" fmla="*/ 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2" h="284">
                  <a:moveTo>
                    <a:pt x="0" y="0"/>
                  </a:moveTo>
                  <a:lnTo>
                    <a:pt x="428" y="0"/>
                  </a:lnTo>
                  <a:lnTo>
                    <a:pt x="441" y="32"/>
                  </a:lnTo>
                  <a:lnTo>
                    <a:pt x="439" y="71"/>
                  </a:lnTo>
                  <a:lnTo>
                    <a:pt x="480" y="110"/>
                  </a:lnTo>
                  <a:lnTo>
                    <a:pt x="502" y="157"/>
                  </a:lnTo>
                  <a:lnTo>
                    <a:pt x="441" y="202"/>
                  </a:lnTo>
                  <a:lnTo>
                    <a:pt x="453" y="231"/>
                  </a:lnTo>
                  <a:lnTo>
                    <a:pt x="403" y="284"/>
                  </a:lnTo>
                  <a:lnTo>
                    <a:pt x="59" y="284"/>
                  </a:lnTo>
                  <a:lnTo>
                    <a:pt x="0" y="103"/>
                  </a:lnTo>
                  <a:lnTo>
                    <a:pt x="0" y="0"/>
                  </a:lnTo>
                  <a:close/>
                </a:path>
              </a:pathLst>
            </a:custGeom>
            <a:solidFill>
              <a:srgbClr val="993300"/>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85" name="Freeform 75"/>
            <p:cNvSpPr>
              <a:spLocks noChangeAspect="1"/>
            </p:cNvSpPr>
            <p:nvPr/>
          </p:nvSpPr>
          <p:spPr bwMode="blackWhite">
            <a:xfrm>
              <a:off x="2934" y="893"/>
              <a:ext cx="516" cy="566"/>
            </a:xfrm>
            <a:custGeom>
              <a:avLst/>
              <a:gdLst>
                <a:gd name="T0" fmla="*/ 0 w 516"/>
                <a:gd name="T1" fmla="*/ 0 h 566"/>
                <a:gd name="T2" fmla="*/ 173 w 516"/>
                <a:gd name="T3" fmla="*/ 0 h 566"/>
                <a:gd name="T4" fmla="*/ 516 w 516"/>
                <a:gd name="T5" fmla="*/ 69 h 566"/>
                <a:gd name="T6" fmla="*/ 398 w 516"/>
                <a:gd name="T7" fmla="*/ 180 h 566"/>
                <a:gd name="T8" fmla="*/ 348 w 516"/>
                <a:gd name="T9" fmla="*/ 348 h 566"/>
                <a:gd name="T10" fmla="*/ 348 w 516"/>
                <a:gd name="T11" fmla="*/ 437 h 566"/>
                <a:gd name="T12" fmla="*/ 466 w 516"/>
                <a:gd name="T13" fmla="*/ 523 h 566"/>
                <a:gd name="T14" fmla="*/ 473 w 516"/>
                <a:gd name="T15" fmla="*/ 566 h 566"/>
                <a:gd name="T16" fmla="*/ 69 w 516"/>
                <a:gd name="T17" fmla="*/ 566 h 566"/>
                <a:gd name="T18" fmla="*/ 69 w 516"/>
                <a:gd name="T19" fmla="*/ 403 h 566"/>
                <a:gd name="T20" fmla="*/ 34 w 516"/>
                <a:gd name="T21" fmla="*/ 362 h 566"/>
                <a:gd name="T22" fmla="*/ 57 w 516"/>
                <a:gd name="T23" fmla="*/ 336 h 566"/>
                <a:gd name="T24" fmla="*/ 57 w 516"/>
                <a:gd name="T25" fmla="*/ 301 h 566"/>
                <a:gd name="T26" fmla="*/ 44 w 516"/>
                <a:gd name="T27" fmla="*/ 202 h 566"/>
                <a:gd name="T28" fmla="*/ 0 w 516"/>
                <a:gd name="T29" fmla="*/ 0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6" h="566">
                  <a:moveTo>
                    <a:pt x="0" y="0"/>
                  </a:moveTo>
                  <a:lnTo>
                    <a:pt x="173" y="0"/>
                  </a:lnTo>
                  <a:lnTo>
                    <a:pt x="516" y="69"/>
                  </a:lnTo>
                  <a:lnTo>
                    <a:pt x="398" y="180"/>
                  </a:lnTo>
                  <a:lnTo>
                    <a:pt x="348" y="348"/>
                  </a:lnTo>
                  <a:lnTo>
                    <a:pt x="348" y="437"/>
                  </a:lnTo>
                  <a:lnTo>
                    <a:pt x="466" y="523"/>
                  </a:lnTo>
                  <a:lnTo>
                    <a:pt x="473" y="566"/>
                  </a:lnTo>
                  <a:lnTo>
                    <a:pt x="69" y="566"/>
                  </a:lnTo>
                  <a:lnTo>
                    <a:pt x="69" y="403"/>
                  </a:lnTo>
                  <a:lnTo>
                    <a:pt x="34" y="362"/>
                  </a:lnTo>
                  <a:lnTo>
                    <a:pt x="57" y="336"/>
                  </a:lnTo>
                  <a:lnTo>
                    <a:pt x="57" y="301"/>
                  </a:lnTo>
                  <a:lnTo>
                    <a:pt x="44" y="202"/>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86" name="Freeform 76"/>
            <p:cNvSpPr>
              <a:spLocks noChangeAspect="1"/>
            </p:cNvSpPr>
            <p:nvPr/>
          </p:nvSpPr>
          <p:spPr bwMode="blackWhite">
            <a:xfrm>
              <a:off x="3281" y="1103"/>
              <a:ext cx="450" cy="462"/>
            </a:xfrm>
            <a:custGeom>
              <a:avLst/>
              <a:gdLst>
                <a:gd name="T0" fmla="*/ 29 w 450"/>
                <a:gd name="T1" fmla="*/ 35 h 462"/>
                <a:gd name="T2" fmla="*/ 143 w 450"/>
                <a:gd name="T3" fmla="*/ 0 h 462"/>
                <a:gd name="T4" fmla="*/ 166 w 450"/>
                <a:gd name="T5" fmla="*/ 44 h 462"/>
                <a:gd name="T6" fmla="*/ 321 w 450"/>
                <a:gd name="T7" fmla="*/ 121 h 462"/>
                <a:gd name="T8" fmla="*/ 356 w 450"/>
                <a:gd name="T9" fmla="*/ 164 h 462"/>
                <a:gd name="T10" fmla="*/ 367 w 450"/>
                <a:gd name="T11" fmla="*/ 206 h 462"/>
                <a:gd name="T12" fmla="*/ 427 w 450"/>
                <a:gd name="T13" fmla="*/ 196 h 462"/>
                <a:gd name="T14" fmla="*/ 450 w 450"/>
                <a:gd name="T15" fmla="*/ 216 h 462"/>
                <a:gd name="T16" fmla="*/ 400 w 450"/>
                <a:gd name="T17" fmla="*/ 289 h 462"/>
                <a:gd name="T18" fmla="*/ 374 w 450"/>
                <a:gd name="T19" fmla="*/ 462 h 462"/>
                <a:gd name="T20" fmla="*/ 175 w 450"/>
                <a:gd name="T21" fmla="*/ 462 h 462"/>
                <a:gd name="T22" fmla="*/ 136 w 450"/>
                <a:gd name="T23" fmla="*/ 430 h 462"/>
                <a:gd name="T24" fmla="*/ 138 w 450"/>
                <a:gd name="T25" fmla="*/ 388 h 462"/>
                <a:gd name="T26" fmla="*/ 122 w 450"/>
                <a:gd name="T27" fmla="*/ 351 h 462"/>
                <a:gd name="T28" fmla="*/ 118 w 450"/>
                <a:gd name="T29" fmla="*/ 312 h 462"/>
                <a:gd name="T30" fmla="*/ 0 w 450"/>
                <a:gd name="T31" fmla="*/ 227 h 462"/>
                <a:gd name="T32" fmla="*/ 0 w 450"/>
                <a:gd name="T33" fmla="*/ 141 h 462"/>
                <a:gd name="T34" fmla="*/ 29 w 450"/>
                <a:gd name="T35" fmla="*/ 35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0" h="462">
                  <a:moveTo>
                    <a:pt x="29" y="35"/>
                  </a:moveTo>
                  <a:lnTo>
                    <a:pt x="143" y="0"/>
                  </a:lnTo>
                  <a:lnTo>
                    <a:pt x="166" y="44"/>
                  </a:lnTo>
                  <a:lnTo>
                    <a:pt x="321" y="121"/>
                  </a:lnTo>
                  <a:lnTo>
                    <a:pt x="356" y="164"/>
                  </a:lnTo>
                  <a:lnTo>
                    <a:pt x="367" y="206"/>
                  </a:lnTo>
                  <a:lnTo>
                    <a:pt x="427" y="196"/>
                  </a:lnTo>
                  <a:lnTo>
                    <a:pt x="450" y="216"/>
                  </a:lnTo>
                  <a:lnTo>
                    <a:pt x="400" y="289"/>
                  </a:lnTo>
                  <a:lnTo>
                    <a:pt x="374" y="462"/>
                  </a:lnTo>
                  <a:lnTo>
                    <a:pt x="175" y="462"/>
                  </a:lnTo>
                  <a:lnTo>
                    <a:pt x="136" y="430"/>
                  </a:lnTo>
                  <a:lnTo>
                    <a:pt x="138" y="388"/>
                  </a:lnTo>
                  <a:lnTo>
                    <a:pt x="122" y="351"/>
                  </a:lnTo>
                  <a:lnTo>
                    <a:pt x="118" y="312"/>
                  </a:lnTo>
                  <a:lnTo>
                    <a:pt x="0" y="227"/>
                  </a:lnTo>
                  <a:lnTo>
                    <a:pt x="0" y="141"/>
                  </a:lnTo>
                  <a:lnTo>
                    <a:pt x="29" y="35"/>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87" name="Freeform 77"/>
            <p:cNvSpPr>
              <a:spLocks noChangeAspect="1"/>
            </p:cNvSpPr>
            <p:nvPr/>
          </p:nvSpPr>
          <p:spPr bwMode="blackWhite">
            <a:xfrm>
              <a:off x="3445" y="1055"/>
              <a:ext cx="519" cy="252"/>
            </a:xfrm>
            <a:custGeom>
              <a:avLst/>
              <a:gdLst>
                <a:gd name="T0" fmla="*/ 0 w 519"/>
                <a:gd name="T1" fmla="*/ 87 h 252"/>
                <a:gd name="T2" fmla="*/ 161 w 519"/>
                <a:gd name="T3" fmla="*/ 173 h 252"/>
                <a:gd name="T4" fmla="*/ 192 w 519"/>
                <a:gd name="T5" fmla="*/ 214 h 252"/>
                <a:gd name="T6" fmla="*/ 203 w 519"/>
                <a:gd name="T7" fmla="*/ 252 h 252"/>
                <a:gd name="T8" fmla="*/ 293 w 519"/>
                <a:gd name="T9" fmla="*/ 164 h 252"/>
                <a:gd name="T10" fmla="*/ 519 w 519"/>
                <a:gd name="T11" fmla="*/ 130 h 252"/>
                <a:gd name="T12" fmla="*/ 420 w 519"/>
                <a:gd name="T13" fmla="*/ 67 h 252"/>
                <a:gd name="T14" fmla="*/ 286 w 519"/>
                <a:gd name="T15" fmla="*/ 125 h 252"/>
                <a:gd name="T16" fmla="*/ 159 w 519"/>
                <a:gd name="T17" fmla="*/ 74 h 252"/>
                <a:gd name="T18" fmla="*/ 233 w 519"/>
                <a:gd name="T19" fmla="*/ 12 h 252"/>
                <a:gd name="T20" fmla="*/ 168 w 519"/>
                <a:gd name="T21" fmla="*/ 0 h 252"/>
                <a:gd name="T22" fmla="*/ 0 w 519"/>
                <a:gd name="T23" fmla="*/ 87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19" h="252">
                  <a:moveTo>
                    <a:pt x="0" y="87"/>
                  </a:moveTo>
                  <a:lnTo>
                    <a:pt x="161" y="173"/>
                  </a:lnTo>
                  <a:lnTo>
                    <a:pt x="192" y="214"/>
                  </a:lnTo>
                  <a:lnTo>
                    <a:pt x="203" y="252"/>
                  </a:lnTo>
                  <a:lnTo>
                    <a:pt x="293" y="164"/>
                  </a:lnTo>
                  <a:lnTo>
                    <a:pt x="519" y="130"/>
                  </a:lnTo>
                  <a:lnTo>
                    <a:pt x="420" y="67"/>
                  </a:lnTo>
                  <a:lnTo>
                    <a:pt x="286" y="125"/>
                  </a:lnTo>
                  <a:lnTo>
                    <a:pt x="159" y="74"/>
                  </a:lnTo>
                  <a:lnTo>
                    <a:pt x="233" y="12"/>
                  </a:lnTo>
                  <a:lnTo>
                    <a:pt x="168" y="0"/>
                  </a:lnTo>
                  <a:lnTo>
                    <a:pt x="0" y="87"/>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88" name="Freeform 78"/>
            <p:cNvSpPr>
              <a:spLocks noChangeAspect="1"/>
            </p:cNvSpPr>
            <p:nvPr/>
          </p:nvSpPr>
          <p:spPr bwMode="blackWhite">
            <a:xfrm>
              <a:off x="3742" y="1247"/>
              <a:ext cx="338" cy="391"/>
            </a:xfrm>
            <a:custGeom>
              <a:avLst/>
              <a:gdLst>
                <a:gd name="T0" fmla="*/ 162 w 338"/>
                <a:gd name="T1" fmla="*/ 0 h 391"/>
                <a:gd name="T2" fmla="*/ 269 w 338"/>
                <a:gd name="T3" fmla="*/ 32 h 391"/>
                <a:gd name="T4" fmla="*/ 292 w 338"/>
                <a:gd name="T5" fmla="*/ 108 h 391"/>
                <a:gd name="T6" fmla="*/ 229 w 338"/>
                <a:gd name="T7" fmla="*/ 172 h 391"/>
                <a:gd name="T8" fmla="*/ 245 w 338"/>
                <a:gd name="T9" fmla="*/ 202 h 391"/>
                <a:gd name="T10" fmla="*/ 306 w 338"/>
                <a:gd name="T11" fmla="*/ 168 h 391"/>
                <a:gd name="T12" fmla="*/ 331 w 338"/>
                <a:gd name="T13" fmla="*/ 175 h 391"/>
                <a:gd name="T14" fmla="*/ 338 w 338"/>
                <a:gd name="T15" fmla="*/ 281 h 391"/>
                <a:gd name="T16" fmla="*/ 272 w 338"/>
                <a:gd name="T17" fmla="*/ 369 h 391"/>
                <a:gd name="T18" fmla="*/ 272 w 338"/>
                <a:gd name="T19" fmla="*/ 391 h 391"/>
                <a:gd name="T20" fmla="*/ 0 w 338"/>
                <a:gd name="T21" fmla="*/ 391 h 391"/>
                <a:gd name="T22" fmla="*/ 39 w 338"/>
                <a:gd name="T23" fmla="*/ 281 h 391"/>
                <a:gd name="T24" fmla="*/ 19 w 338"/>
                <a:gd name="T25" fmla="*/ 195 h 391"/>
                <a:gd name="T26" fmla="*/ 54 w 338"/>
                <a:gd name="T27" fmla="*/ 104 h 391"/>
                <a:gd name="T28" fmla="*/ 162 w 338"/>
                <a:gd name="T29" fmla="*/ 0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8" h="391">
                  <a:moveTo>
                    <a:pt x="162" y="0"/>
                  </a:moveTo>
                  <a:lnTo>
                    <a:pt x="269" y="32"/>
                  </a:lnTo>
                  <a:lnTo>
                    <a:pt x="292" y="108"/>
                  </a:lnTo>
                  <a:lnTo>
                    <a:pt x="229" y="172"/>
                  </a:lnTo>
                  <a:lnTo>
                    <a:pt x="245" y="202"/>
                  </a:lnTo>
                  <a:lnTo>
                    <a:pt x="306" y="168"/>
                  </a:lnTo>
                  <a:lnTo>
                    <a:pt x="331" y="175"/>
                  </a:lnTo>
                  <a:lnTo>
                    <a:pt x="338" y="281"/>
                  </a:lnTo>
                  <a:lnTo>
                    <a:pt x="272" y="369"/>
                  </a:lnTo>
                  <a:lnTo>
                    <a:pt x="272" y="391"/>
                  </a:lnTo>
                  <a:lnTo>
                    <a:pt x="0" y="391"/>
                  </a:lnTo>
                  <a:lnTo>
                    <a:pt x="39" y="281"/>
                  </a:lnTo>
                  <a:lnTo>
                    <a:pt x="19" y="195"/>
                  </a:lnTo>
                  <a:lnTo>
                    <a:pt x="54" y="104"/>
                  </a:lnTo>
                  <a:lnTo>
                    <a:pt x="162"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89" name="Freeform 79"/>
            <p:cNvSpPr>
              <a:spLocks noChangeAspect="1"/>
            </p:cNvSpPr>
            <p:nvPr/>
          </p:nvSpPr>
          <p:spPr bwMode="blackWhite">
            <a:xfrm>
              <a:off x="3381" y="1565"/>
              <a:ext cx="306" cy="523"/>
            </a:xfrm>
            <a:custGeom>
              <a:avLst/>
              <a:gdLst>
                <a:gd name="T0" fmla="*/ 77 w 306"/>
                <a:gd name="T1" fmla="*/ 0 h 523"/>
                <a:gd name="T2" fmla="*/ 279 w 306"/>
                <a:gd name="T3" fmla="*/ 0 h 523"/>
                <a:gd name="T4" fmla="*/ 304 w 306"/>
                <a:gd name="T5" fmla="*/ 78 h 523"/>
                <a:gd name="T6" fmla="*/ 304 w 306"/>
                <a:gd name="T7" fmla="*/ 346 h 523"/>
                <a:gd name="T8" fmla="*/ 306 w 306"/>
                <a:gd name="T9" fmla="*/ 371 h 523"/>
                <a:gd name="T10" fmla="*/ 267 w 306"/>
                <a:gd name="T11" fmla="*/ 416 h 523"/>
                <a:gd name="T12" fmla="*/ 258 w 306"/>
                <a:gd name="T13" fmla="*/ 471 h 523"/>
                <a:gd name="T14" fmla="*/ 184 w 306"/>
                <a:gd name="T15" fmla="*/ 523 h 523"/>
                <a:gd name="T16" fmla="*/ 150 w 306"/>
                <a:gd name="T17" fmla="*/ 511 h 523"/>
                <a:gd name="T18" fmla="*/ 73 w 306"/>
                <a:gd name="T19" fmla="*/ 400 h 523"/>
                <a:gd name="T20" fmla="*/ 95 w 306"/>
                <a:gd name="T21" fmla="*/ 366 h 523"/>
                <a:gd name="T22" fmla="*/ 64 w 306"/>
                <a:gd name="T23" fmla="*/ 344 h 523"/>
                <a:gd name="T24" fmla="*/ 0 w 306"/>
                <a:gd name="T25" fmla="*/ 239 h 523"/>
                <a:gd name="T26" fmla="*/ 4 w 306"/>
                <a:gd name="T27" fmla="*/ 174 h 523"/>
                <a:gd name="T28" fmla="*/ 50 w 306"/>
                <a:gd name="T29" fmla="*/ 121 h 523"/>
                <a:gd name="T30" fmla="*/ 38 w 306"/>
                <a:gd name="T31" fmla="*/ 91 h 523"/>
                <a:gd name="T32" fmla="*/ 97 w 306"/>
                <a:gd name="T33" fmla="*/ 49 h 523"/>
                <a:gd name="T34" fmla="*/ 77 w 306"/>
                <a:gd name="T35"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 h="523">
                  <a:moveTo>
                    <a:pt x="77" y="0"/>
                  </a:moveTo>
                  <a:lnTo>
                    <a:pt x="279" y="0"/>
                  </a:lnTo>
                  <a:lnTo>
                    <a:pt x="304" y="78"/>
                  </a:lnTo>
                  <a:lnTo>
                    <a:pt x="304" y="346"/>
                  </a:lnTo>
                  <a:lnTo>
                    <a:pt x="306" y="371"/>
                  </a:lnTo>
                  <a:lnTo>
                    <a:pt x="267" y="416"/>
                  </a:lnTo>
                  <a:lnTo>
                    <a:pt x="258" y="471"/>
                  </a:lnTo>
                  <a:lnTo>
                    <a:pt x="184" y="523"/>
                  </a:lnTo>
                  <a:lnTo>
                    <a:pt x="150" y="511"/>
                  </a:lnTo>
                  <a:lnTo>
                    <a:pt x="73" y="400"/>
                  </a:lnTo>
                  <a:lnTo>
                    <a:pt x="95" y="366"/>
                  </a:lnTo>
                  <a:lnTo>
                    <a:pt x="64" y="344"/>
                  </a:lnTo>
                  <a:lnTo>
                    <a:pt x="0" y="239"/>
                  </a:lnTo>
                  <a:lnTo>
                    <a:pt x="4" y="174"/>
                  </a:lnTo>
                  <a:lnTo>
                    <a:pt x="50" y="121"/>
                  </a:lnTo>
                  <a:lnTo>
                    <a:pt x="38" y="91"/>
                  </a:lnTo>
                  <a:lnTo>
                    <a:pt x="97" y="49"/>
                  </a:lnTo>
                  <a:lnTo>
                    <a:pt x="77"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90" name="Freeform 80"/>
            <p:cNvSpPr>
              <a:spLocks noChangeAspect="1"/>
            </p:cNvSpPr>
            <p:nvPr/>
          </p:nvSpPr>
          <p:spPr bwMode="blackWhite">
            <a:xfrm>
              <a:off x="3037" y="1741"/>
              <a:ext cx="528" cy="457"/>
            </a:xfrm>
            <a:custGeom>
              <a:avLst/>
              <a:gdLst>
                <a:gd name="T0" fmla="*/ 0 w 528"/>
                <a:gd name="T1" fmla="*/ 0 h 457"/>
                <a:gd name="T2" fmla="*/ 348 w 528"/>
                <a:gd name="T3" fmla="*/ 0 h 457"/>
                <a:gd name="T4" fmla="*/ 344 w 528"/>
                <a:gd name="T5" fmla="*/ 61 h 457"/>
                <a:gd name="T6" fmla="*/ 408 w 528"/>
                <a:gd name="T7" fmla="*/ 170 h 457"/>
                <a:gd name="T8" fmla="*/ 439 w 528"/>
                <a:gd name="T9" fmla="*/ 190 h 457"/>
                <a:gd name="T10" fmla="*/ 419 w 528"/>
                <a:gd name="T11" fmla="*/ 222 h 457"/>
                <a:gd name="T12" fmla="*/ 494 w 528"/>
                <a:gd name="T13" fmla="*/ 335 h 457"/>
                <a:gd name="T14" fmla="*/ 528 w 528"/>
                <a:gd name="T15" fmla="*/ 347 h 457"/>
                <a:gd name="T16" fmla="*/ 482 w 528"/>
                <a:gd name="T17" fmla="*/ 457 h 457"/>
                <a:gd name="T18" fmla="*/ 436 w 528"/>
                <a:gd name="T19" fmla="*/ 457 h 457"/>
                <a:gd name="T20" fmla="*/ 450 w 528"/>
                <a:gd name="T21" fmla="*/ 409 h 457"/>
                <a:gd name="T22" fmla="*/ 100 w 528"/>
                <a:gd name="T23" fmla="*/ 409 h 457"/>
                <a:gd name="T24" fmla="*/ 83 w 528"/>
                <a:gd name="T25" fmla="*/ 358 h 457"/>
                <a:gd name="T26" fmla="*/ 83 w 528"/>
                <a:gd name="T27" fmla="*/ 145 h 457"/>
                <a:gd name="T28" fmla="*/ 46 w 528"/>
                <a:gd name="T29" fmla="*/ 111 h 457"/>
                <a:gd name="T30" fmla="*/ 69 w 528"/>
                <a:gd name="T31" fmla="*/ 86 h 457"/>
                <a:gd name="T32" fmla="*/ 0 w 528"/>
                <a:gd name="T33" fmla="*/ 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8" h="457">
                  <a:moveTo>
                    <a:pt x="0" y="0"/>
                  </a:moveTo>
                  <a:lnTo>
                    <a:pt x="348" y="0"/>
                  </a:lnTo>
                  <a:lnTo>
                    <a:pt x="344" y="61"/>
                  </a:lnTo>
                  <a:lnTo>
                    <a:pt x="408" y="170"/>
                  </a:lnTo>
                  <a:lnTo>
                    <a:pt x="439" y="190"/>
                  </a:lnTo>
                  <a:lnTo>
                    <a:pt x="419" y="222"/>
                  </a:lnTo>
                  <a:lnTo>
                    <a:pt x="494" y="335"/>
                  </a:lnTo>
                  <a:lnTo>
                    <a:pt x="528" y="347"/>
                  </a:lnTo>
                  <a:lnTo>
                    <a:pt x="482" y="457"/>
                  </a:lnTo>
                  <a:lnTo>
                    <a:pt x="436" y="457"/>
                  </a:lnTo>
                  <a:lnTo>
                    <a:pt x="450" y="409"/>
                  </a:lnTo>
                  <a:lnTo>
                    <a:pt x="100" y="409"/>
                  </a:lnTo>
                  <a:lnTo>
                    <a:pt x="83" y="358"/>
                  </a:lnTo>
                  <a:lnTo>
                    <a:pt x="83" y="145"/>
                  </a:lnTo>
                  <a:lnTo>
                    <a:pt x="46" y="111"/>
                  </a:lnTo>
                  <a:lnTo>
                    <a:pt x="69" y="86"/>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91" name="Freeform 81"/>
            <p:cNvSpPr>
              <a:spLocks noChangeAspect="1"/>
            </p:cNvSpPr>
            <p:nvPr/>
          </p:nvSpPr>
          <p:spPr bwMode="blackWhite">
            <a:xfrm>
              <a:off x="3639" y="1636"/>
              <a:ext cx="249" cy="405"/>
            </a:xfrm>
            <a:custGeom>
              <a:avLst/>
              <a:gdLst>
                <a:gd name="T0" fmla="*/ 46 w 249"/>
                <a:gd name="T1" fmla="*/ 0 h 405"/>
                <a:gd name="T2" fmla="*/ 67 w 249"/>
                <a:gd name="T3" fmla="*/ 13 h 405"/>
                <a:gd name="T4" fmla="*/ 101 w 249"/>
                <a:gd name="T5" fmla="*/ 2 h 405"/>
                <a:gd name="T6" fmla="*/ 249 w 249"/>
                <a:gd name="T7" fmla="*/ 2 h 405"/>
                <a:gd name="T8" fmla="*/ 249 w 249"/>
                <a:gd name="T9" fmla="*/ 243 h 405"/>
                <a:gd name="T10" fmla="*/ 157 w 249"/>
                <a:gd name="T11" fmla="*/ 368 h 405"/>
                <a:gd name="T12" fmla="*/ 0 w 249"/>
                <a:gd name="T13" fmla="*/ 405 h 405"/>
                <a:gd name="T14" fmla="*/ 12 w 249"/>
                <a:gd name="T15" fmla="*/ 345 h 405"/>
                <a:gd name="T16" fmla="*/ 46 w 249"/>
                <a:gd name="T17" fmla="*/ 302 h 405"/>
                <a:gd name="T18" fmla="*/ 46 w 249"/>
                <a:gd name="T19" fmla="*/ 0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 h="405">
                  <a:moveTo>
                    <a:pt x="46" y="0"/>
                  </a:moveTo>
                  <a:lnTo>
                    <a:pt x="67" y="13"/>
                  </a:lnTo>
                  <a:lnTo>
                    <a:pt x="101" y="2"/>
                  </a:lnTo>
                  <a:lnTo>
                    <a:pt x="249" y="2"/>
                  </a:lnTo>
                  <a:lnTo>
                    <a:pt x="249" y="243"/>
                  </a:lnTo>
                  <a:lnTo>
                    <a:pt x="157" y="368"/>
                  </a:lnTo>
                  <a:lnTo>
                    <a:pt x="0" y="405"/>
                  </a:lnTo>
                  <a:lnTo>
                    <a:pt x="12" y="345"/>
                  </a:lnTo>
                  <a:lnTo>
                    <a:pt x="46" y="302"/>
                  </a:lnTo>
                  <a:lnTo>
                    <a:pt x="46"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92" name="Freeform 82"/>
            <p:cNvSpPr>
              <a:spLocks noChangeAspect="1"/>
            </p:cNvSpPr>
            <p:nvPr/>
          </p:nvSpPr>
          <p:spPr bwMode="blackWhite">
            <a:xfrm>
              <a:off x="3889" y="1613"/>
              <a:ext cx="342" cy="347"/>
            </a:xfrm>
            <a:custGeom>
              <a:avLst/>
              <a:gdLst>
                <a:gd name="T0" fmla="*/ 0 w 342"/>
                <a:gd name="T1" fmla="*/ 24 h 347"/>
                <a:gd name="T2" fmla="*/ 128 w 342"/>
                <a:gd name="T3" fmla="*/ 24 h 347"/>
                <a:gd name="T4" fmla="*/ 176 w 342"/>
                <a:gd name="T5" fmla="*/ 47 h 347"/>
                <a:gd name="T6" fmla="*/ 248 w 342"/>
                <a:gd name="T7" fmla="*/ 47 h 347"/>
                <a:gd name="T8" fmla="*/ 342 w 342"/>
                <a:gd name="T9" fmla="*/ 0 h 347"/>
                <a:gd name="T10" fmla="*/ 342 w 342"/>
                <a:gd name="T11" fmla="*/ 151 h 347"/>
                <a:gd name="T12" fmla="*/ 328 w 342"/>
                <a:gd name="T13" fmla="*/ 158 h 347"/>
                <a:gd name="T14" fmla="*/ 283 w 342"/>
                <a:gd name="T15" fmla="*/ 249 h 347"/>
                <a:gd name="T16" fmla="*/ 257 w 342"/>
                <a:gd name="T17" fmla="*/ 249 h 347"/>
                <a:gd name="T18" fmla="*/ 174 w 342"/>
                <a:gd name="T19" fmla="*/ 347 h 347"/>
                <a:gd name="T20" fmla="*/ 146 w 342"/>
                <a:gd name="T21" fmla="*/ 321 h 347"/>
                <a:gd name="T22" fmla="*/ 104 w 342"/>
                <a:gd name="T23" fmla="*/ 333 h 347"/>
                <a:gd name="T24" fmla="*/ 0 w 342"/>
                <a:gd name="T25" fmla="*/ 247 h 347"/>
                <a:gd name="T26" fmla="*/ 0 w 342"/>
                <a:gd name="T27" fmla="*/ 24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2" h="347">
                  <a:moveTo>
                    <a:pt x="0" y="24"/>
                  </a:moveTo>
                  <a:lnTo>
                    <a:pt x="128" y="24"/>
                  </a:lnTo>
                  <a:lnTo>
                    <a:pt x="176" y="47"/>
                  </a:lnTo>
                  <a:lnTo>
                    <a:pt x="248" y="47"/>
                  </a:lnTo>
                  <a:lnTo>
                    <a:pt x="342" y="0"/>
                  </a:lnTo>
                  <a:lnTo>
                    <a:pt x="342" y="151"/>
                  </a:lnTo>
                  <a:lnTo>
                    <a:pt x="328" y="158"/>
                  </a:lnTo>
                  <a:lnTo>
                    <a:pt x="283" y="249"/>
                  </a:lnTo>
                  <a:lnTo>
                    <a:pt x="257" y="249"/>
                  </a:lnTo>
                  <a:lnTo>
                    <a:pt x="174" y="347"/>
                  </a:lnTo>
                  <a:lnTo>
                    <a:pt x="146" y="321"/>
                  </a:lnTo>
                  <a:lnTo>
                    <a:pt x="104" y="333"/>
                  </a:lnTo>
                  <a:lnTo>
                    <a:pt x="0" y="247"/>
                  </a:lnTo>
                  <a:lnTo>
                    <a:pt x="0" y="24"/>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93" name="Freeform 83"/>
            <p:cNvSpPr>
              <a:spLocks noChangeAspect="1"/>
            </p:cNvSpPr>
            <p:nvPr/>
          </p:nvSpPr>
          <p:spPr bwMode="blackWhite">
            <a:xfrm>
              <a:off x="1509" y="893"/>
              <a:ext cx="916" cy="473"/>
            </a:xfrm>
            <a:custGeom>
              <a:avLst/>
              <a:gdLst>
                <a:gd name="T0" fmla="*/ 2 w 916"/>
                <a:gd name="T1" fmla="*/ 0 h 473"/>
                <a:gd name="T2" fmla="*/ 916 w 916"/>
                <a:gd name="T3" fmla="*/ 0 h 473"/>
                <a:gd name="T4" fmla="*/ 916 w 916"/>
                <a:gd name="T5" fmla="*/ 410 h 473"/>
                <a:gd name="T6" fmla="*/ 377 w 916"/>
                <a:gd name="T7" fmla="*/ 410 h 473"/>
                <a:gd name="T8" fmla="*/ 377 w 916"/>
                <a:gd name="T9" fmla="*/ 435 h 473"/>
                <a:gd name="T10" fmla="*/ 247 w 916"/>
                <a:gd name="T11" fmla="*/ 473 h 473"/>
                <a:gd name="T12" fmla="*/ 170 w 916"/>
                <a:gd name="T13" fmla="*/ 341 h 473"/>
                <a:gd name="T14" fmla="*/ 125 w 916"/>
                <a:gd name="T15" fmla="*/ 359 h 473"/>
                <a:gd name="T16" fmla="*/ 113 w 916"/>
                <a:gd name="T17" fmla="*/ 334 h 473"/>
                <a:gd name="T18" fmla="*/ 141 w 916"/>
                <a:gd name="T19" fmla="*/ 264 h 473"/>
                <a:gd name="T20" fmla="*/ 0 w 916"/>
                <a:gd name="T21" fmla="*/ 119 h 473"/>
                <a:gd name="T22" fmla="*/ 2 w 916"/>
                <a:gd name="T23" fmla="*/ 0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16" h="473">
                  <a:moveTo>
                    <a:pt x="2" y="0"/>
                  </a:moveTo>
                  <a:lnTo>
                    <a:pt x="916" y="0"/>
                  </a:lnTo>
                  <a:lnTo>
                    <a:pt x="916" y="410"/>
                  </a:lnTo>
                  <a:lnTo>
                    <a:pt x="377" y="410"/>
                  </a:lnTo>
                  <a:lnTo>
                    <a:pt x="377" y="435"/>
                  </a:lnTo>
                  <a:lnTo>
                    <a:pt x="247" y="473"/>
                  </a:lnTo>
                  <a:lnTo>
                    <a:pt x="170" y="341"/>
                  </a:lnTo>
                  <a:lnTo>
                    <a:pt x="125" y="359"/>
                  </a:lnTo>
                  <a:lnTo>
                    <a:pt x="113" y="334"/>
                  </a:lnTo>
                  <a:lnTo>
                    <a:pt x="141" y="264"/>
                  </a:lnTo>
                  <a:lnTo>
                    <a:pt x="0" y="119"/>
                  </a:lnTo>
                  <a:lnTo>
                    <a:pt x="2"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94" name="Rectangle 84"/>
            <p:cNvSpPr>
              <a:spLocks noChangeAspect="1" noChangeArrowheads="1"/>
            </p:cNvSpPr>
            <p:nvPr/>
          </p:nvSpPr>
          <p:spPr bwMode="blackWhite">
            <a:xfrm>
              <a:off x="1890" y="1309"/>
              <a:ext cx="531" cy="392"/>
            </a:xfrm>
            <a:prstGeom prst="rect">
              <a:avLst/>
            </a:prstGeom>
            <a:solidFill>
              <a:schemeClr val="bg1"/>
            </a:solidFill>
            <a:ln w="14351">
              <a:solidFill>
                <a:schemeClr val="tx1"/>
              </a:solidFill>
              <a:miter lim="800000"/>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95" name="Freeform 85"/>
            <p:cNvSpPr>
              <a:spLocks noChangeAspect="1"/>
            </p:cNvSpPr>
            <p:nvPr/>
          </p:nvSpPr>
          <p:spPr bwMode="blackWhite">
            <a:xfrm>
              <a:off x="2422" y="893"/>
              <a:ext cx="569" cy="303"/>
            </a:xfrm>
            <a:custGeom>
              <a:avLst/>
              <a:gdLst>
                <a:gd name="T0" fmla="*/ 0 w 569"/>
                <a:gd name="T1" fmla="*/ 0 h 303"/>
                <a:gd name="T2" fmla="*/ 512 w 569"/>
                <a:gd name="T3" fmla="*/ 0 h 303"/>
                <a:gd name="T4" fmla="*/ 560 w 569"/>
                <a:gd name="T5" fmla="*/ 228 h 303"/>
                <a:gd name="T6" fmla="*/ 569 w 569"/>
                <a:gd name="T7" fmla="*/ 303 h 303"/>
                <a:gd name="T8" fmla="*/ 3 w 569"/>
                <a:gd name="T9" fmla="*/ 303 h 303"/>
                <a:gd name="T10" fmla="*/ 0 w 569"/>
                <a:gd name="T11" fmla="*/ 0 h 303"/>
              </a:gdLst>
              <a:ahLst/>
              <a:cxnLst>
                <a:cxn ang="0">
                  <a:pos x="T0" y="T1"/>
                </a:cxn>
                <a:cxn ang="0">
                  <a:pos x="T2" y="T3"/>
                </a:cxn>
                <a:cxn ang="0">
                  <a:pos x="T4" y="T5"/>
                </a:cxn>
                <a:cxn ang="0">
                  <a:pos x="T6" y="T7"/>
                </a:cxn>
                <a:cxn ang="0">
                  <a:pos x="T8" y="T9"/>
                </a:cxn>
                <a:cxn ang="0">
                  <a:pos x="T10" y="T11"/>
                </a:cxn>
              </a:cxnLst>
              <a:rect l="0" t="0" r="r" b="b"/>
              <a:pathLst>
                <a:path w="569" h="303">
                  <a:moveTo>
                    <a:pt x="0" y="0"/>
                  </a:moveTo>
                  <a:lnTo>
                    <a:pt x="512" y="0"/>
                  </a:lnTo>
                  <a:lnTo>
                    <a:pt x="560" y="228"/>
                  </a:lnTo>
                  <a:lnTo>
                    <a:pt x="569" y="303"/>
                  </a:lnTo>
                  <a:lnTo>
                    <a:pt x="3" y="303"/>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96" name="Freeform 86"/>
            <p:cNvSpPr>
              <a:spLocks noChangeAspect="1"/>
            </p:cNvSpPr>
            <p:nvPr/>
          </p:nvSpPr>
          <p:spPr bwMode="blackWhite">
            <a:xfrm>
              <a:off x="2424" y="1506"/>
              <a:ext cx="666" cy="301"/>
            </a:xfrm>
            <a:custGeom>
              <a:avLst/>
              <a:gdLst>
                <a:gd name="T0" fmla="*/ 0 w 666"/>
                <a:gd name="T1" fmla="*/ 0 h 301"/>
                <a:gd name="T2" fmla="*/ 415 w 666"/>
                <a:gd name="T3" fmla="*/ 0 h 301"/>
                <a:gd name="T4" fmla="*/ 459 w 666"/>
                <a:gd name="T5" fmla="*/ 23 h 301"/>
                <a:gd name="T6" fmla="*/ 554 w 666"/>
                <a:gd name="T7" fmla="*/ 54 h 301"/>
                <a:gd name="T8" fmla="*/ 615 w 666"/>
                <a:gd name="T9" fmla="*/ 242 h 301"/>
                <a:gd name="T10" fmla="*/ 666 w 666"/>
                <a:gd name="T11" fmla="*/ 301 h 301"/>
                <a:gd name="T12" fmla="*/ 143 w 666"/>
                <a:gd name="T13" fmla="*/ 301 h 301"/>
                <a:gd name="T14" fmla="*/ 143 w 666"/>
                <a:gd name="T15" fmla="*/ 197 h 301"/>
                <a:gd name="T16" fmla="*/ 0 w 666"/>
                <a:gd name="T17" fmla="*/ 197 h 301"/>
                <a:gd name="T18" fmla="*/ 0 w 666"/>
                <a:gd name="T19"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6" h="301">
                  <a:moveTo>
                    <a:pt x="0" y="0"/>
                  </a:moveTo>
                  <a:lnTo>
                    <a:pt x="415" y="0"/>
                  </a:lnTo>
                  <a:lnTo>
                    <a:pt x="459" y="23"/>
                  </a:lnTo>
                  <a:lnTo>
                    <a:pt x="554" y="54"/>
                  </a:lnTo>
                  <a:lnTo>
                    <a:pt x="615" y="242"/>
                  </a:lnTo>
                  <a:lnTo>
                    <a:pt x="666" y="301"/>
                  </a:lnTo>
                  <a:lnTo>
                    <a:pt x="143" y="301"/>
                  </a:lnTo>
                  <a:lnTo>
                    <a:pt x="143" y="197"/>
                  </a:lnTo>
                  <a:lnTo>
                    <a:pt x="0" y="197"/>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97" name="Rectangle 87"/>
            <p:cNvSpPr>
              <a:spLocks noChangeAspect="1" noChangeArrowheads="1"/>
            </p:cNvSpPr>
            <p:nvPr/>
          </p:nvSpPr>
          <p:spPr bwMode="blackWhite">
            <a:xfrm>
              <a:off x="2046" y="1709"/>
              <a:ext cx="513" cy="380"/>
            </a:xfrm>
            <a:prstGeom prst="rect">
              <a:avLst/>
            </a:prstGeom>
            <a:solidFill>
              <a:schemeClr val="bg1"/>
            </a:solidFill>
            <a:ln w="14351">
              <a:solidFill>
                <a:schemeClr val="tx1"/>
              </a:solidFill>
              <a:miter lim="800000"/>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98" name="Freeform 88"/>
            <p:cNvSpPr>
              <a:spLocks noChangeAspect="1"/>
            </p:cNvSpPr>
            <p:nvPr/>
          </p:nvSpPr>
          <p:spPr bwMode="blackWhite">
            <a:xfrm>
              <a:off x="4063" y="1768"/>
              <a:ext cx="409" cy="309"/>
            </a:xfrm>
            <a:custGeom>
              <a:avLst/>
              <a:gdLst>
                <a:gd name="T0" fmla="*/ 168 w 409"/>
                <a:gd name="T1" fmla="*/ 0 h 309"/>
                <a:gd name="T2" fmla="*/ 157 w 409"/>
                <a:gd name="T3" fmla="*/ 0 h 309"/>
                <a:gd name="T4" fmla="*/ 109 w 409"/>
                <a:gd name="T5" fmla="*/ 94 h 309"/>
                <a:gd name="T6" fmla="*/ 81 w 409"/>
                <a:gd name="T7" fmla="*/ 94 h 309"/>
                <a:gd name="T8" fmla="*/ 0 w 409"/>
                <a:gd name="T9" fmla="*/ 189 h 309"/>
                <a:gd name="T10" fmla="*/ 35 w 409"/>
                <a:gd name="T11" fmla="*/ 289 h 309"/>
                <a:gd name="T12" fmla="*/ 161 w 409"/>
                <a:gd name="T13" fmla="*/ 309 h 309"/>
                <a:gd name="T14" fmla="*/ 194 w 409"/>
                <a:gd name="T15" fmla="*/ 284 h 309"/>
                <a:gd name="T16" fmla="*/ 231 w 409"/>
                <a:gd name="T17" fmla="*/ 212 h 309"/>
                <a:gd name="T18" fmla="*/ 240 w 409"/>
                <a:gd name="T19" fmla="*/ 205 h 309"/>
                <a:gd name="T20" fmla="*/ 409 w 409"/>
                <a:gd name="T21" fmla="*/ 146 h 309"/>
                <a:gd name="T22" fmla="*/ 397 w 409"/>
                <a:gd name="T23" fmla="*/ 118 h 309"/>
                <a:gd name="T24" fmla="*/ 332 w 409"/>
                <a:gd name="T25" fmla="*/ 97 h 309"/>
                <a:gd name="T26" fmla="*/ 238 w 409"/>
                <a:gd name="T27" fmla="*/ 146 h 309"/>
                <a:gd name="T28" fmla="*/ 238 w 409"/>
                <a:gd name="T29" fmla="*/ 60 h 309"/>
                <a:gd name="T30" fmla="*/ 168 w 409"/>
                <a:gd name="T31" fmla="*/ 60 h 309"/>
                <a:gd name="T32" fmla="*/ 168 w 409"/>
                <a:gd name="T33" fmla="*/ 0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9" h="309">
                  <a:moveTo>
                    <a:pt x="168" y="0"/>
                  </a:moveTo>
                  <a:lnTo>
                    <a:pt x="157" y="0"/>
                  </a:lnTo>
                  <a:lnTo>
                    <a:pt x="109" y="94"/>
                  </a:lnTo>
                  <a:lnTo>
                    <a:pt x="81" y="94"/>
                  </a:lnTo>
                  <a:lnTo>
                    <a:pt x="0" y="189"/>
                  </a:lnTo>
                  <a:lnTo>
                    <a:pt x="35" y="289"/>
                  </a:lnTo>
                  <a:lnTo>
                    <a:pt x="161" y="309"/>
                  </a:lnTo>
                  <a:lnTo>
                    <a:pt x="194" y="284"/>
                  </a:lnTo>
                  <a:lnTo>
                    <a:pt x="231" y="212"/>
                  </a:lnTo>
                  <a:lnTo>
                    <a:pt x="240" y="205"/>
                  </a:lnTo>
                  <a:lnTo>
                    <a:pt x="409" y="146"/>
                  </a:lnTo>
                  <a:lnTo>
                    <a:pt x="397" y="118"/>
                  </a:lnTo>
                  <a:lnTo>
                    <a:pt x="332" y="97"/>
                  </a:lnTo>
                  <a:lnTo>
                    <a:pt x="238" y="146"/>
                  </a:lnTo>
                  <a:lnTo>
                    <a:pt x="238" y="60"/>
                  </a:lnTo>
                  <a:lnTo>
                    <a:pt x="168" y="60"/>
                  </a:lnTo>
                  <a:lnTo>
                    <a:pt x="168"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99" name="Freeform 89"/>
            <p:cNvSpPr>
              <a:spLocks noChangeAspect="1"/>
            </p:cNvSpPr>
            <p:nvPr/>
          </p:nvSpPr>
          <p:spPr bwMode="blackWhite">
            <a:xfrm>
              <a:off x="3931" y="1914"/>
              <a:ext cx="654" cy="233"/>
            </a:xfrm>
            <a:custGeom>
              <a:avLst/>
              <a:gdLst>
                <a:gd name="T0" fmla="*/ 0 w 654"/>
                <a:gd name="T1" fmla="*/ 232 h 233"/>
                <a:gd name="T2" fmla="*/ 21 w 654"/>
                <a:gd name="T3" fmla="*/ 210 h 233"/>
                <a:gd name="T4" fmla="*/ 167 w 654"/>
                <a:gd name="T5" fmla="*/ 143 h 233"/>
                <a:gd name="T6" fmla="*/ 294 w 654"/>
                <a:gd name="T7" fmla="*/ 163 h 233"/>
                <a:gd name="T8" fmla="*/ 329 w 654"/>
                <a:gd name="T9" fmla="*/ 138 h 233"/>
                <a:gd name="T10" fmla="*/ 369 w 654"/>
                <a:gd name="T11" fmla="*/ 60 h 233"/>
                <a:gd name="T12" fmla="*/ 542 w 654"/>
                <a:gd name="T13" fmla="*/ 0 h 233"/>
                <a:gd name="T14" fmla="*/ 571 w 654"/>
                <a:gd name="T15" fmla="*/ 104 h 233"/>
                <a:gd name="T16" fmla="*/ 654 w 654"/>
                <a:gd name="T17" fmla="*/ 125 h 233"/>
                <a:gd name="T18" fmla="*/ 613 w 654"/>
                <a:gd name="T19" fmla="*/ 174 h 233"/>
                <a:gd name="T20" fmla="*/ 640 w 654"/>
                <a:gd name="T21" fmla="*/ 233 h 233"/>
                <a:gd name="T22" fmla="*/ 0 w 654"/>
                <a:gd name="T23" fmla="*/ 232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4" h="233">
                  <a:moveTo>
                    <a:pt x="0" y="232"/>
                  </a:moveTo>
                  <a:lnTo>
                    <a:pt x="21" y="210"/>
                  </a:lnTo>
                  <a:lnTo>
                    <a:pt x="167" y="143"/>
                  </a:lnTo>
                  <a:lnTo>
                    <a:pt x="294" y="163"/>
                  </a:lnTo>
                  <a:lnTo>
                    <a:pt x="329" y="138"/>
                  </a:lnTo>
                  <a:lnTo>
                    <a:pt x="369" y="60"/>
                  </a:lnTo>
                  <a:lnTo>
                    <a:pt x="542" y="0"/>
                  </a:lnTo>
                  <a:lnTo>
                    <a:pt x="571" y="104"/>
                  </a:lnTo>
                  <a:lnTo>
                    <a:pt x="654" y="125"/>
                  </a:lnTo>
                  <a:lnTo>
                    <a:pt x="613" y="174"/>
                  </a:lnTo>
                  <a:lnTo>
                    <a:pt x="640" y="233"/>
                  </a:lnTo>
                  <a:lnTo>
                    <a:pt x="0" y="232"/>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00" name="Freeform 90"/>
            <p:cNvSpPr>
              <a:spLocks noChangeAspect="1"/>
            </p:cNvSpPr>
            <p:nvPr/>
          </p:nvSpPr>
          <p:spPr bwMode="blackWhite">
            <a:xfrm>
              <a:off x="3533" y="1863"/>
              <a:ext cx="563" cy="305"/>
            </a:xfrm>
            <a:custGeom>
              <a:avLst/>
              <a:gdLst>
                <a:gd name="T0" fmla="*/ 0 w 563"/>
                <a:gd name="T1" fmla="*/ 305 h 305"/>
                <a:gd name="T2" fmla="*/ 32 w 563"/>
                <a:gd name="T3" fmla="*/ 225 h 305"/>
                <a:gd name="T4" fmla="*/ 106 w 563"/>
                <a:gd name="T5" fmla="*/ 176 h 305"/>
                <a:gd name="T6" fmla="*/ 261 w 563"/>
                <a:gd name="T7" fmla="*/ 143 h 305"/>
                <a:gd name="T8" fmla="*/ 355 w 563"/>
                <a:gd name="T9" fmla="*/ 21 h 305"/>
                <a:gd name="T10" fmla="*/ 355 w 563"/>
                <a:gd name="T11" fmla="*/ 0 h 305"/>
                <a:gd name="T12" fmla="*/ 459 w 563"/>
                <a:gd name="T13" fmla="*/ 84 h 305"/>
                <a:gd name="T14" fmla="*/ 501 w 563"/>
                <a:gd name="T15" fmla="*/ 70 h 305"/>
                <a:gd name="T16" fmla="*/ 526 w 563"/>
                <a:gd name="T17" fmla="*/ 95 h 305"/>
                <a:gd name="T18" fmla="*/ 563 w 563"/>
                <a:gd name="T19" fmla="*/ 194 h 305"/>
                <a:gd name="T20" fmla="*/ 419 w 563"/>
                <a:gd name="T21" fmla="*/ 261 h 305"/>
                <a:gd name="T22" fmla="*/ 398 w 563"/>
                <a:gd name="T23" fmla="*/ 284 h 305"/>
                <a:gd name="T24" fmla="*/ 118 w 563"/>
                <a:gd name="T25" fmla="*/ 284 h 305"/>
                <a:gd name="T26" fmla="*/ 118 w 563"/>
                <a:gd name="T27" fmla="*/ 305 h 305"/>
                <a:gd name="T28" fmla="*/ 0 w 563"/>
                <a:gd name="T29" fmla="*/ 305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3" h="305">
                  <a:moveTo>
                    <a:pt x="0" y="305"/>
                  </a:moveTo>
                  <a:lnTo>
                    <a:pt x="32" y="225"/>
                  </a:lnTo>
                  <a:lnTo>
                    <a:pt x="106" y="176"/>
                  </a:lnTo>
                  <a:lnTo>
                    <a:pt x="261" y="143"/>
                  </a:lnTo>
                  <a:lnTo>
                    <a:pt x="355" y="21"/>
                  </a:lnTo>
                  <a:lnTo>
                    <a:pt x="355" y="0"/>
                  </a:lnTo>
                  <a:lnTo>
                    <a:pt x="459" y="84"/>
                  </a:lnTo>
                  <a:lnTo>
                    <a:pt x="501" y="70"/>
                  </a:lnTo>
                  <a:lnTo>
                    <a:pt x="526" y="95"/>
                  </a:lnTo>
                  <a:lnTo>
                    <a:pt x="563" y="194"/>
                  </a:lnTo>
                  <a:lnTo>
                    <a:pt x="419" y="261"/>
                  </a:lnTo>
                  <a:lnTo>
                    <a:pt x="398" y="284"/>
                  </a:lnTo>
                  <a:lnTo>
                    <a:pt x="118" y="284"/>
                  </a:lnTo>
                  <a:lnTo>
                    <a:pt x="118" y="305"/>
                  </a:lnTo>
                  <a:lnTo>
                    <a:pt x="0" y="305"/>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01" name="Freeform 91"/>
            <p:cNvSpPr>
              <a:spLocks noChangeAspect="1"/>
            </p:cNvSpPr>
            <p:nvPr/>
          </p:nvSpPr>
          <p:spPr bwMode="blackWhite">
            <a:xfrm>
              <a:off x="3137" y="2150"/>
              <a:ext cx="388" cy="346"/>
            </a:xfrm>
            <a:custGeom>
              <a:avLst/>
              <a:gdLst>
                <a:gd name="T0" fmla="*/ 0 w 388"/>
                <a:gd name="T1" fmla="*/ 0 h 346"/>
                <a:gd name="T2" fmla="*/ 350 w 388"/>
                <a:gd name="T3" fmla="*/ 0 h 346"/>
                <a:gd name="T4" fmla="*/ 336 w 388"/>
                <a:gd name="T5" fmla="*/ 45 h 346"/>
                <a:gd name="T6" fmla="*/ 388 w 388"/>
                <a:gd name="T7" fmla="*/ 48 h 346"/>
                <a:gd name="T8" fmla="*/ 339 w 388"/>
                <a:gd name="T9" fmla="*/ 168 h 346"/>
                <a:gd name="T10" fmla="*/ 288 w 388"/>
                <a:gd name="T11" fmla="*/ 232 h 346"/>
                <a:gd name="T12" fmla="*/ 254 w 388"/>
                <a:gd name="T13" fmla="*/ 346 h 346"/>
                <a:gd name="T14" fmla="*/ 51 w 388"/>
                <a:gd name="T15" fmla="*/ 346 h 346"/>
                <a:gd name="T16" fmla="*/ 51 w 388"/>
                <a:gd name="T17" fmla="*/ 294 h 346"/>
                <a:gd name="T18" fmla="*/ 13 w 388"/>
                <a:gd name="T19" fmla="*/ 285 h 346"/>
                <a:gd name="T20" fmla="*/ 13 w 388"/>
                <a:gd name="T21" fmla="*/ 71 h 346"/>
                <a:gd name="T22" fmla="*/ 0 w 388"/>
                <a:gd name="T23"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8" h="346">
                  <a:moveTo>
                    <a:pt x="0" y="0"/>
                  </a:moveTo>
                  <a:lnTo>
                    <a:pt x="350" y="0"/>
                  </a:lnTo>
                  <a:lnTo>
                    <a:pt x="336" y="45"/>
                  </a:lnTo>
                  <a:lnTo>
                    <a:pt x="388" y="48"/>
                  </a:lnTo>
                  <a:lnTo>
                    <a:pt x="339" y="168"/>
                  </a:lnTo>
                  <a:lnTo>
                    <a:pt x="288" y="232"/>
                  </a:lnTo>
                  <a:lnTo>
                    <a:pt x="254" y="346"/>
                  </a:lnTo>
                  <a:lnTo>
                    <a:pt x="51" y="346"/>
                  </a:lnTo>
                  <a:lnTo>
                    <a:pt x="51" y="294"/>
                  </a:lnTo>
                  <a:lnTo>
                    <a:pt x="13" y="285"/>
                  </a:lnTo>
                  <a:lnTo>
                    <a:pt x="13" y="71"/>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02" name="Freeform 92"/>
            <p:cNvSpPr>
              <a:spLocks noChangeAspect="1"/>
            </p:cNvSpPr>
            <p:nvPr/>
          </p:nvSpPr>
          <p:spPr bwMode="blackWhite">
            <a:xfrm>
              <a:off x="3478" y="2147"/>
              <a:ext cx="658" cy="168"/>
            </a:xfrm>
            <a:custGeom>
              <a:avLst/>
              <a:gdLst>
                <a:gd name="T0" fmla="*/ 58 w 658"/>
                <a:gd name="T1" fmla="*/ 19 h 168"/>
                <a:gd name="T2" fmla="*/ 173 w 658"/>
                <a:gd name="T3" fmla="*/ 19 h 168"/>
                <a:gd name="T4" fmla="*/ 173 w 658"/>
                <a:gd name="T5" fmla="*/ 0 h 168"/>
                <a:gd name="T6" fmla="*/ 658 w 658"/>
                <a:gd name="T7" fmla="*/ 0 h 168"/>
                <a:gd name="T8" fmla="*/ 649 w 658"/>
                <a:gd name="T9" fmla="*/ 37 h 168"/>
                <a:gd name="T10" fmla="*/ 454 w 658"/>
                <a:gd name="T11" fmla="*/ 120 h 168"/>
                <a:gd name="T12" fmla="*/ 436 w 658"/>
                <a:gd name="T13" fmla="*/ 168 h 168"/>
                <a:gd name="T14" fmla="*/ 0 w 658"/>
                <a:gd name="T15" fmla="*/ 168 h 168"/>
                <a:gd name="T16" fmla="*/ 58 w 658"/>
                <a:gd name="T17" fmla="*/ 19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8" h="168">
                  <a:moveTo>
                    <a:pt x="58" y="19"/>
                  </a:moveTo>
                  <a:lnTo>
                    <a:pt x="173" y="19"/>
                  </a:lnTo>
                  <a:lnTo>
                    <a:pt x="173" y="0"/>
                  </a:lnTo>
                  <a:lnTo>
                    <a:pt x="658" y="0"/>
                  </a:lnTo>
                  <a:lnTo>
                    <a:pt x="649" y="37"/>
                  </a:lnTo>
                  <a:lnTo>
                    <a:pt x="454" y="120"/>
                  </a:lnTo>
                  <a:lnTo>
                    <a:pt x="436" y="168"/>
                  </a:lnTo>
                  <a:lnTo>
                    <a:pt x="0" y="168"/>
                  </a:lnTo>
                  <a:lnTo>
                    <a:pt x="58" y="19"/>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03" name="Freeform 93"/>
            <p:cNvSpPr>
              <a:spLocks noChangeAspect="1"/>
            </p:cNvSpPr>
            <p:nvPr/>
          </p:nvSpPr>
          <p:spPr bwMode="blackWhite">
            <a:xfrm>
              <a:off x="3914" y="2148"/>
              <a:ext cx="688" cy="268"/>
            </a:xfrm>
            <a:custGeom>
              <a:avLst/>
              <a:gdLst>
                <a:gd name="T0" fmla="*/ 222 w 688"/>
                <a:gd name="T1" fmla="*/ 0 h 268"/>
                <a:gd name="T2" fmla="*/ 658 w 688"/>
                <a:gd name="T3" fmla="*/ 0 h 268"/>
                <a:gd name="T4" fmla="*/ 688 w 688"/>
                <a:gd name="T5" fmla="*/ 83 h 268"/>
                <a:gd name="T6" fmla="*/ 612 w 688"/>
                <a:gd name="T7" fmla="*/ 164 h 268"/>
                <a:gd name="T8" fmla="*/ 504 w 688"/>
                <a:gd name="T9" fmla="*/ 198 h 268"/>
                <a:gd name="T10" fmla="*/ 460 w 688"/>
                <a:gd name="T11" fmla="*/ 268 h 268"/>
                <a:gd name="T12" fmla="*/ 354 w 688"/>
                <a:gd name="T13" fmla="*/ 153 h 268"/>
                <a:gd name="T14" fmla="*/ 269 w 688"/>
                <a:gd name="T15" fmla="*/ 153 h 268"/>
                <a:gd name="T16" fmla="*/ 254 w 688"/>
                <a:gd name="T17" fmla="*/ 130 h 268"/>
                <a:gd name="T18" fmla="*/ 140 w 688"/>
                <a:gd name="T19" fmla="*/ 130 h 268"/>
                <a:gd name="T20" fmla="*/ 97 w 688"/>
                <a:gd name="T21" fmla="*/ 169 h 268"/>
                <a:gd name="T22" fmla="*/ 0 w 688"/>
                <a:gd name="T23" fmla="*/ 169 h 268"/>
                <a:gd name="T24" fmla="*/ 18 w 688"/>
                <a:gd name="T25" fmla="*/ 119 h 268"/>
                <a:gd name="T26" fmla="*/ 213 w 688"/>
                <a:gd name="T27" fmla="*/ 39 h 268"/>
                <a:gd name="T28" fmla="*/ 222 w 688"/>
                <a:gd name="T29" fmla="*/ 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8" h="268">
                  <a:moveTo>
                    <a:pt x="222" y="0"/>
                  </a:moveTo>
                  <a:lnTo>
                    <a:pt x="658" y="0"/>
                  </a:lnTo>
                  <a:lnTo>
                    <a:pt x="688" y="83"/>
                  </a:lnTo>
                  <a:lnTo>
                    <a:pt x="612" y="164"/>
                  </a:lnTo>
                  <a:lnTo>
                    <a:pt x="504" y="198"/>
                  </a:lnTo>
                  <a:lnTo>
                    <a:pt x="460" y="268"/>
                  </a:lnTo>
                  <a:lnTo>
                    <a:pt x="354" y="153"/>
                  </a:lnTo>
                  <a:lnTo>
                    <a:pt x="269" y="153"/>
                  </a:lnTo>
                  <a:lnTo>
                    <a:pt x="254" y="130"/>
                  </a:lnTo>
                  <a:lnTo>
                    <a:pt x="140" y="130"/>
                  </a:lnTo>
                  <a:lnTo>
                    <a:pt x="97" y="169"/>
                  </a:lnTo>
                  <a:lnTo>
                    <a:pt x="0" y="169"/>
                  </a:lnTo>
                  <a:lnTo>
                    <a:pt x="18" y="119"/>
                  </a:lnTo>
                  <a:lnTo>
                    <a:pt x="213" y="39"/>
                  </a:lnTo>
                  <a:lnTo>
                    <a:pt x="222"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04" name="Freeform 94"/>
            <p:cNvSpPr>
              <a:spLocks noChangeAspect="1"/>
            </p:cNvSpPr>
            <p:nvPr/>
          </p:nvSpPr>
          <p:spPr bwMode="blackWhite">
            <a:xfrm>
              <a:off x="4000" y="2278"/>
              <a:ext cx="374" cy="324"/>
            </a:xfrm>
            <a:custGeom>
              <a:avLst/>
              <a:gdLst>
                <a:gd name="T0" fmla="*/ 15 w 374"/>
                <a:gd name="T1" fmla="*/ 39 h 324"/>
                <a:gd name="T2" fmla="*/ 54 w 374"/>
                <a:gd name="T3" fmla="*/ 0 h 324"/>
                <a:gd name="T4" fmla="*/ 168 w 374"/>
                <a:gd name="T5" fmla="*/ 0 h 324"/>
                <a:gd name="T6" fmla="*/ 181 w 374"/>
                <a:gd name="T7" fmla="*/ 23 h 324"/>
                <a:gd name="T8" fmla="*/ 268 w 374"/>
                <a:gd name="T9" fmla="*/ 23 h 324"/>
                <a:gd name="T10" fmla="*/ 374 w 374"/>
                <a:gd name="T11" fmla="*/ 138 h 324"/>
                <a:gd name="T12" fmla="*/ 277 w 374"/>
                <a:gd name="T13" fmla="*/ 240 h 324"/>
                <a:gd name="T14" fmla="*/ 204 w 374"/>
                <a:gd name="T15" fmla="*/ 265 h 324"/>
                <a:gd name="T16" fmla="*/ 195 w 374"/>
                <a:gd name="T17" fmla="*/ 324 h 324"/>
                <a:gd name="T18" fmla="*/ 157 w 374"/>
                <a:gd name="T19" fmla="*/ 256 h 324"/>
                <a:gd name="T20" fmla="*/ 0 w 374"/>
                <a:gd name="T21" fmla="*/ 71 h 324"/>
                <a:gd name="T22" fmla="*/ 15 w 374"/>
                <a:gd name="T23" fmla="*/ 39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4" h="324">
                  <a:moveTo>
                    <a:pt x="15" y="39"/>
                  </a:moveTo>
                  <a:lnTo>
                    <a:pt x="54" y="0"/>
                  </a:lnTo>
                  <a:lnTo>
                    <a:pt x="168" y="0"/>
                  </a:lnTo>
                  <a:lnTo>
                    <a:pt x="181" y="23"/>
                  </a:lnTo>
                  <a:lnTo>
                    <a:pt x="268" y="23"/>
                  </a:lnTo>
                  <a:lnTo>
                    <a:pt x="374" y="138"/>
                  </a:lnTo>
                  <a:lnTo>
                    <a:pt x="277" y="240"/>
                  </a:lnTo>
                  <a:lnTo>
                    <a:pt x="204" y="265"/>
                  </a:lnTo>
                  <a:lnTo>
                    <a:pt x="195" y="324"/>
                  </a:lnTo>
                  <a:lnTo>
                    <a:pt x="157" y="256"/>
                  </a:lnTo>
                  <a:lnTo>
                    <a:pt x="0" y="71"/>
                  </a:lnTo>
                  <a:lnTo>
                    <a:pt x="15" y="39"/>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05" name="Freeform 95"/>
            <p:cNvSpPr>
              <a:spLocks noChangeAspect="1"/>
            </p:cNvSpPr>
            <p:nvPr/>
          </p:nvSpPr>
          <p:spPr bwMode="blackWhite">
            <a:xfrm>
              <a:off x="3833" y="2317"/>
              <a:ext cx="362" cy="406"/>
            </a:xfrm>
            <a:custGeom>
              <a:avLst/>
              <a:gdLst>
                <a:gd name="T0" fmla="*/ 0 w 362"/>
                <a:gd name="T1" fmla="*/ 0 h 406"/>
                <a:gd name="T2" fmla="*/ 182 w 362"/>
                <a:gd name="T3" fmla="*/ 0 h 406"/>
                <a:gd name="T4" fmla="*/ 167 w 362"/>
                <a:gd name="T5" fmla="*/ 32 h 406"/>
                <a:gd name="T6" fmla="*/ 324 w 362"/>
                <a:gd name="T7" fmla="*/ 217 h 406"/>
                <a:gd name="T8" fmla="*/ 362 w 362"/>
                <a:gd name="T9" fmla="*/ 285 h 406"/>
                <a:gd name="T10" fmla="*/ 315 w 362"/>
                <a:gd name="T11" fmla="*/ 406 h 406"/>
                <a:gd name="T12" fmla="*/ 65 w 362"/>
                <a:gd name="T13" fmla="*/ 406 h 406"/>
                <a:gd name="T14" fmla="*/ 40 w 362"/>
                <a:gd name="T15" fmla="*/ 356 h 406"/>
                <a:gd name="T16" fmla="*/ 26 w 362"/>
                <a:gd name="T17" fmla="*/ 291 h 406"/>
                <a:gd name="T18" fmla="*/ 51 w 362"/>
                <a:gd name="T19" fmla="*/ 256 h 406"/>
                <a:gd name="T20" fmla="*/ 0 w 362"/>
                <a:gd name="T21" fmla="*/ 0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2" h="406">
                  <a:moveTo>
                    <a:pt x="0" y="0"/>
                  </a:moveTo>
                  <a:lnTo>
                    <a:pt x="182" y="0"/>
                  </a:lnTo>
                  <a:lnTo>
                    <a:pt x="167" y="32"/>
                  </a:lnTo>
                  <a:lnTo>
                    <a:pt x="324" y="217"/>
                  </a:lnTo>
                  <a:lnTo>
                    <a:pt x="362" y="285"/>
                  </a:lnTo>
                  <a:lnTo>
                    <a:pt x="315" y="406"/>
                  </a:lnTo>
                  <a:lnTo>
                    <a:pt x="65" y="406"/>
                  </a:lnTo>
                  <a:lnTo>
                    <a:pt x="40" y="356"/>
                  </a:lnTo>
                  <a:lnTo>
                    <a:pt x="26" y="291"/>
                  </a:lnTo>
                  <a:lnTo>
                    <a:pt x="51" y="256"/>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06" name="Freeform 96"/>
            <p:cNvSpPr>
              <a:spLocks noChangeAspect="1"/>
            </p:cNvSpPr>
            <p:nvPr/>
          </p:nvSpPr>
          <p:spPr bwMode="blackWhite">
            <a:xfrm>
              <a:off x="3592" y="2315"/>
              <a:ext cx="292" cy="425"/>
            </a:xfrm>
            <a:custGeom>
              <a:avLst/>
              <a:gdLst>
                <a:gd name="T0" fmla="*/ 60 w 292"/>
                <a:gd name="T1" fmla="*/ 0 h 425"/>
                <a:gd name="T2" fmla="*/ 243 w 292"/>
                <a:gd name="T3" fmla="*/ 0 h 425"/>
                <a:gd name="T4" fmla="*/ 292 w 292"/>
                <a:gd name="T5" fmla="*/ 260 h 425"/>
                <a:gd name="T6" fmla="*/ 268 w 292"/>
                <a:gd name="T7" fmla="*/ 295 h 425"/>
                <a:gd name="T8" fmla="*/ 280 w 292"/>
                <a:gd name="T9" fmla="*/ 355 h 425"/>
                <a:gd name="T10" fmla="*/ 76 w 292"/>
                <a:gd name="T11" fmla="*/ 355 h 425"/>
                <a:gd name="T12" fmla="*/ 72 w 292"/>
                <a:gd name="T13" fmla="*/ 415 h 425"/>
                <a:gd name="T14" fmla="*/ 0 w 292"/>
                <a:gd name="T15" fmla="*/ 425 h 425"/>
                <a:gd name="T16" fmla="*/ 3 w 292"/>
                <a:gd name="T17" fmla="*/ 306 h 425"/>
                <a:gd name="T18" fmla="*/ 60 w 292"/>
                <a:gd name="T19" fmla="*/ 0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2" h="425">
                  <a:moveTo>
                    <a:pt x="60" y="0"/>
                  </a:moveTo>
                  <a:lnTo>
                    <a:pt x="243" y="0"/>
                  </a:lnTo>
                  <a:lnTo>
                    <a:pt x="292" y="260"/>
                  </a:lnTo>
                  <a:lnTo>
                    <a:pt x="268" y="295"/>
                  </a:lnTo>
                  <a:lnTo>
                    <a:pt x="280" y="355"/>
                  </a:lnTo>
                  <a:lnTo>
                    <a:pt x="76" y="355"/>
                  </a:lnTo>
                  <a:lnTo>
                    <a:pt x="72" y="415"/>
                  </a:lnTo>
                  <a:lnTo>
                    <a:pt x="0" y="425"/>
                  </a:lnTo>
                  <a:lnTo>
                    <a:pt x="3" y="306"/>
                  </a:lnTo>
                  <a:lnTo>
                    <a:pt x="6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07" name="Freeform 97"/>
            <p:cNvSpPr>
              <a:spLocks noChangeAspect="1"/>
            </p:cNvSpPr>
            <p:nvPr/>
          </p:nvSpPr>
          <p:spPr bwMode="blackWhite">
            <a:xfrm>
              <a:off x="3391" y="2315"/>
              <a:ext cx="260" cy="459"/>
            </a:xfrm>
            <a:custGeom>
              <a:avLst/>
              <a:gdLst>
                <a:gd name="T0" fmla="*/ 87 w 260"/>
                <a:gd name="T1" fmla="*/ 0 h 459"/>
                <a:gd name="T2" fmla="*/ 260 w 260"/>
                <a:gd name="T3" fmla="*/ 0 h 459"/>
                <a:gd name="T4" fmla="*/ 204 w 260"/>
                <a:gd name="T5" fmla="*/ 306 h 459"/>
                <a:gd name="T6" fmla="*/ 201 w 260"/>
                <a:gd name="T7" fmla="*/ 425 h 459"/>
                <a:gd name="T8" fmla="*/ 148 w 260"/>
                <a:gd name="T9" fmla="*/ 459 h 459"/>
                <a:gd name="T10" fmla="*/ 120 w 260"/>
                <a:gd name="T11" fmla="*/ 380 h 459"/>
                <a:gd name="T12" fmla="*/ 0 w 260"/>
                <a:gd name="T13" fmla="*/ 380 h 459"/>
                <a:gd name="T14" fmla="*/ 38 w 260"/>
                <a:gd name="T15" fmla="*/ 249 h 459"/>
                <a:gd name="T16" fmla="*/ 1 w 260"/>
                <a:gd name="T17" fmla="*/ 180 h 459"/>
                <a:gd name="T18" fmla="*/ 35 w 260"/>
                <a:gd name="T19" fmla="*/ 69 h 459"/>
                <a:gd name="T20" fmla="*/ 87 w 260"/>
                <a:gd name="T21"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0" h="459">
                  <a:moveTo>
                    <a:pt x="87" y="0"/>
                  </a:moveTo>
                  <a:lnTo>
                    <a:pt x="260" y="0"/>
                  </a:lnTo>
                  <a:lnTo>
                    <a:pt x="204" y="306"/>
                  </a:lnTo>
                  <a:lnTo>
                    <a:pt x="201" y="425"/>
                  </a:lnTo>
                  <a:lnTo>
                    <a:pt x="148" y="459"/>
                  </a:lnTo>
                  <a:lnTo>
                    <a:pt x="120" y="380"/>
                  </a:lnTo>
                  <a:lnTo>
                    <a:pt x="0" y="380"/>
                  </a:lnTo>
                  <a:lnTo>
                    <a:pt x="38" y="249"/>
                  </a:lnTo>
                  <a:lnTo>
                    <a:pt x="1" y="180"/>
                  </a:lnTo>
                  <a:lnTo>
                    <a:pt x="35" y="69"/>
                  </a:lnTo>
                  <a:lnTo>
                    <a:pt x="87"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08" name="Freeform 98"/>
            <p:cNvSpPr>
              <a:spLocks noChangeAspect="1"/>
            </p:cNvSpPr>
            <p:nvPr/>
          </p:nvSpPr>
          <p:spPr bwMode="blackWhite">
            <a:xfrm>
              <a:off x="3664" y="2671"/>
              <a:ext cx="627" cy="548"/>
            </a:xfrm>
            <a:custGeom>
              <a:avLst/>
              <a:gdLst>
                <a:gd name="T0" fmla="*/ 3 w 627"/>
                <a:gd name="T1" fmla="*/ 0 h 548"/>
                <a:gd name="T2" fmla="*/ 209 w 627"/>
                <a:gd name="T3" fmla="*/ 0 h 548"/>
                <a:gd name="T4" fmla="*/ 236 w 627"/>
                <a:gd name="T5" fmla="*/ 55 h 548"/>
                <a:gd name="T6" fmla="*/ 486 w 627"/>
                <a:gd name="T7" fmla="*/ 55 h 548"/>
                <a:gd name="T8" fmla="*/ 493 w 627"/>
                <a:gd name="T9" fmla="*/ 103 h 548"/>
                <a:gd name="T10" fmla="*/ 581 w 627"/>
                <a:gd name="T11" fmla="*/ 263 h 548"/>
                <a:gd name="T12" fmla="*/ 615 w 627"/>
                <a:gd name="T13" fmla="*/ 378 h 548"/>
                <a:gd name="T14" fmla="*/ 627 w 627"/>
                <a:gd name="T15" fmla="*/ 458 h 548"/>
                <a:gd name="T16" fmla="*/ 540 w 627"/>
                <a:gd name="T17" fmla="*/ 541 h 548"/>
                <a:gd name="T18" fmla="*/ 468 w 627"/>
                <a:gd name="T19" fmla="*/ 548 h 548"/>
                <a:gd name="T20" fmla="*/ 447 w 627"/>
                <a:gd name="T21" fmla="*/ 380 h 548"/>
                <a:gd name="T22" fmla="*/ 424 w 627"/>
                <a:gd name="T23" fmla="*/ 383 h 548"/>
                <a:gd name="T24" fmla="*/ 353 w 627"/>
                <a:gd name="T25" fmla="*/ 282 h 548"/>
                <a:gd name="T26" fmla="*/ 369 w 627"/>
                <a:gd name="T27" fmla="*/ 198 h 548"/>
                <a:gd name="T28" fmla="*/ 289 w 627"/>
                <a:gd name="T29" fmla="*/ 108 h 548"/>
                <a:gd name="T30" fmla="*/ 184 w 627"/>
                <a:gd name="T31" fmla="*/ 134 h 548"/>
                <a:gd name="T32" fmla="*/ 102 w 627"/>
                <a:gd name="T33" fmla="*/ 62 h 548"/>
                <a:gd name="T34" fmla="*/ 0 w 627"/>
                <a:gd name="T35" fmla="*/ 60 h 548"/>
                <a:gd name="T36" fmla="*/ 3 w 627"/>
                <a:gd name="T37" fmla="*/ 0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27" h="548">
                  <a:moveTo>
                    <a:pt x="3" y="0"/>
                  </a:moveTo>
                  <a:lnTo>
                    <a:pt x="209" y="0"/>
                  </a:lnTo>
                  <a:lnTo>
                    <a:pt x="236" y="55"/>
                  </a:lnTo>
                  <a:lnTo>
                    <a:pt x="486" y="55"/>
                  </a:lnTo>
                  <a:lnTo>
                    <a:pt x="493" y="103"/>
                  </a:lnTo>
                  <a:lnTo>
                    <a:pt x="581" y="263"/>
                  </a:lnTo>
                  <a:lnTo>
                    <a:pt x="615" y="378"/>
                  </a:lnTo>
                  <a:lnTo>
                    <a:pt x="627" y="458"/>
                  </a:lnTo>
                  <a:lnTo>
                    <a:pt x="540" y="541"/>
                  </a:lnTo>
                  <a:lnTo>
                    <a:pt x="468" y="548"/>
                  </a:lnTo>
                  <a:lnTo>
                    <a:pt x="447" y="380"/>
                  </a:lnTo>
                  <a:lnTo>
                    <a:pt x="424" y="383"/>
                  </a:lnTo>
                  <a:lnTo>
                    <a:pt x="353" y="282"/>
                  </a:lnTo>
                  <a:lnTo>
                    <a:pt x="369" y="198"/>
                  </a:lnTo>
                  <a:lnTo>
                    <a:pt x="289" y="108"/>
                  </a:lnTo>
                  <a:lnTo>
                    <a:pt x="184" y="134"/>
                  </a:lnTo>
                  <a:lnTo>
                    <a:pt x="102" y="62"/>
                  </a:lnTo>
                  <a:lnTo>
                    <a:pt x="0" y="60"/>
                  </a:lnTo>
                  <a:lnTo>
                    <a:pt x="3"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09" name="Freeform 99"/>
            <p:cNvSpPr>
              <a:spLocks noChangeAspect="1"/>
            </p:cNvSpPr>
            <p:nvPr/>
          </p:nvSpPr>
          <p:spPr bwMode="blackWhite">
            <a:xfrm>
              <a:off x="3185" y="2487"/>
              <a:ext cx="382" cy="369"/>
            </a:xfrm>
            <a:custGeom>
              <a:avLst/>
              <a:gdLst>
                <a:gd name="T0" fmla="*/ 3 w 382"/>
                <a:gd name="T1" fmla="*/ 0 h 369"/>
                <a:gd name="T2" fmla="*/ 208 w 382"/>
                <a:gd name="T3" fmla="*/ 0 h 369"/>
                <a:gd name="T4" fmla="*/ 244 w 382"/>
                <a:gd name="T5" fmla="*/ 71 h 369"/>
                <a:gd name="T6" fmla="*/ 206 w 382"/>
                <a:gd name="T7" fmla="*/ 204 h 369"/>
                <a:gd name="T8" fmla="*/ 326 w 382"/>
                <a:gd name="T9" fmla="*/ 204 h 369"/>
                <a:gd name="T10" fmla="*/ 354 w 382"/>
                <a:gd name="T11" fmla="*/ 285 h 369"/>
                <a:gd name="T12" fmla="*/ 382 w 382"/>
                <a:gd name="T13" fmla="*/ 369 h 369"/>
                <a:gd name="T14" fmla="*/ 221 w 382"/>
                <a:gd name="T15" fmla="*/ 360 h 369"/>
                <a:gd name="T16" fmla="*/ 26 w 382"/>
                <a:gd name="T17" fmla="*/ 286 h 369"/>
                <a:gd name="T18" fmla="*/ 49 w 382"/>
                <a:gd name="T19" fmla="*/ 229 h 369"/>
                <a:gd name="T20" fmla="*/ 0 w 382"/>
                <a:gd name="T21" fmla="*/ 113 h 369"/>
                <a:gd name="T22" fmla="*/ 3 w 382"/>
                <a:gd name="T23" fmla="*/ 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2" h="369">
                  <a:moveTo>
                    <a:pt x="3" y="0"/>
                  </a:moveTo>
                  <a:lnTo>
                    <a:pt x="208" y="0"/>
                  </a:lnTo>
                  <a:lnTo>
                    <a:pt x="244" y="71"/>
                  </a:lnTo>
                  <a:lnTo>
                    <a:pt x="206" y="204"/>
                  </a:lnTo>
                  <a:lnTo>
                    <a:pt x="326" y="204"/>
                  </a:lnTo>
                  <a:lnTo>
                    <a:pt x="354" y="285"/>
                  </a:lnTo>
                  <a:lnTo>
                    <a:pt x="382" y="369"/>
                  </a:lnTo>
                  <a:lnTo>
                    <a:pt x="221" y="360"/>
                  </a:lnTo>
                  <a:lnTo>
                    <a:pt x="26" y="286"/>
                  </a:lnTo>
                  <a:lnTo>
                    <a:pt x="49" y="229"/>
                  </a:lnTo>
                  <a:lnTo>
                    <a:pt x="0" y="113"/>
                  </a:lnTo>
                  <a:lnTo>
                    <a:pt x="3"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10" name="Freeform 100"/>
            <p:cNvSpPr>
              <a:spLocks noChangeAspect="1"/>
            </p:cNvSpPr>
            <p:nvPr/>
          </p:nvSpPr>
          <p:spPr bwMode="blackWhite">
            <a:xfrm>
              <a:off x="2489" y="2097"/>
              <a:ext cx="659" cy="340"/>
            </a:xfrm>
            <a:custGeom>
              <a:avLst/>
              <a:gdLst>
                <a:gd name="T0" fmla="*/ 0 w 659"/>
                <a:gd name="T1" fmla="*/ 0 h 340"/>
                <a:gd name="T2" fmla="*/ 633 w 659"/>
                <a:gd name="T3" fmla="*/ 0 h 340"/>
                <a:gd name="T4" fmla="*/ 650 w 659"/>
                <a:gd name="T5" fmla="*/ 62 h 340"/>
                <a:gd name="T6" fmla="*/ 659 w 659"/>
                <a:gd name="T7" fmla="*/ 132 h 340"/>
                <a:gd name="T8" fmla="*/ 659 w 659"/>
                <a:gd name="T9" fmla="*/ 340 h 340"/>
                <a:gd name="T10" fmla="*/ 550 w 659"/>
                <a:gd name="T11" fmla="*/ 312 h 340"/>
                <a:gd name="T12" fmla="*/ 502 w 659"/>
                <a:gd name="T13" fmla="*/ 322 h 340"/>
                <a:gd name="T14" fmla="*/ 225 w 659"/>
                <a:gd name="T15" fmla="*/ 264 h 340"/>
                <a:gd name="T16" fmla="*/ 225 w 659"/>
                <a:gd name="T17" fmla="*/ 101 h 340"/>
                <a:gd name="T18" fmla="*/ 0 w 659"/>
                <a:gd name="T19" fmla="*/ 98 h 340"/>
                <a:gd name="T20" fmla="*/ 0 w 659"/>
                <a:gd name="T21" fmla="*/ 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9" h="340">
                  <a:moveTo>
                    <a:pt x="0" y="0"/>
                  </a:moveTo>
                  <a:lnTo>
                    <a:pt x="633" y="0"/>
                  </a:lnTo>
                  <a:lnTo>
                    <a:pt x="650" y="62"/>
                  </a:lnTo>
                  <a:lnTo>
                    <a:pt x="659" y="132"/>
                  </a:lnTo>
                  <a:lnTo>
                    <a:pt x="659" y="340"/>
                  </a:lnTo>
                  <a:lnTo>
                    <a:pt x="550" y="312"/>
                  </a:lnTo>
                  <a:lnTo>
                    <a:pt x="502" y="322"/>
                  </a:lnTo>
                  <a:lnTo>
                    <a:pt x="225" y="264"/>
                  </a:lnTo>
                  <a:lnTo>
                    <a:pt x="225" y="101"/>
                  </a:lnTo>
                  <a:lnTo>
                    <a:pt x="0" y="98"/>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11" name="Freeform 101"/>
            <p:cNvSpPr>
              <a:spLocks noChangeAspect="1"/>
            </p:cNvSpPr>
            <p:nvPr/>
          </p:nvSpPr>
          <p:spPr bwMode="blackWhite">
            <a:xfrm>
              <a:off x="2200" y="2196"/>
              <a:ext cx="1035" cy="918"/>
            </a:xfrm>
            <a:custGeom>
              <a:avLst/>
              <a:gdLst>
                <a:gd name="T0" fmla="*/ 289 w 1035"/>
                <a:gd name="T1" fmla="*/ 0 h 918"/>
                <a:gd name="T2" fmla="*/ 514 w 1035"/>
                <a:gd name="T3" fmla="*/ 0 h 918"/>
                <a:gd name="T4" fmla="*/ 514 w 1035"/>
                <a:gd name="T5" fmla="*/ 164 h 918"/>
                <a:gd name="T6" fmla="*/ 791 w 1035"/>
                <a:gd name="T7" fmla="*/ 223 h 918"/>
                <a:gd name="T8" fmla="*/ 837 w 1035"/>
                <a:gd name="T9" fmla="*/ 216 h 918"/>
                <a:gd name="T10" fmla="*/ 948 w 1035"/>
                <a:gd name="T11" fmla="*/ 242 h 918"/>
                <a:gd name="T12" fmla="*/ 987 w 1035"/>
                <a:gd name="T13" fmla="*/ 249 h 918"/>
                <a:gd name="T14" fmla="*/ 985 w 1035"/>
                <a:gd name="T15" fmla="*/ 412 h 918"/>
                <a:gd name="T16" fmla="*/ 1035 w 1035"/>
                <a:gd name="T17" fmla="*/ 527 h 918"/>
                <a:gd name="T18" fmla="*/ 1005 w 1035"/>
                <a:gd name="T19" fmla="*/ 583 h 918"/>
                <a:gd name="T20" fmla="*/ 913 w 1035"/>
                <a:gd name="T21" fmla="*/ 606 h 918"/>
                <a:gd name="T22" fmla="*/ 768 w 1035"/>
                <a:gd name="T23" fmla="*/ 724 h 918"/>
                <a:gd name="T24" fmla="*/ 733 w 1035"/>
                <a:gd name="T25" fmla="*/ 818 h 918"/>
                <a:gd name="T26" fmla="*/ 751 w 1035"/>
                <a:gd name="T27" fmla="*/ 918 h 918"/>
                <a:gd name="T28" fmla="*/ 566 w 1035"/>
                <a:gd name="T29" fmla="*/ 851 h 918"/>
                <a:gd name="T30" fmla="*/ 446 w 1035"/>
                <a:gd name="T31" fmla="*/ 649 h 918"/>
                <a:gd name="T32" fmla="*/ 351 w 1035"/>
                <a:gd name="T33" fmla="*/ 620 h 918"/>
                <a:gd name="T34" fmla="*/ 298 w 1035"/>
                <a:gd name="T35" fmla="*/ 675 h 918"/>
                <a:gd name="T36" fmla="*/ 224 w 1035"/>
                <a:gd name="T37" fmla="*/ 631 h 918"/>
                <a:gd name="T38" fmla="*/ 155 w 1035"/>
                <a:gd name="T39" fmla="*/ 506 h 918"/>
                <a:gd name="T40" fmla="*/ 0 w 1035"/>
                <a:gd name="T41" fmla="*/ 377 h 918"/>
                <a:gd name="T42" fmla="*/ 289 w 1035"/>
                <a:gd name="T43" fmla="*/ 377 h 918"/>
                <a:gd name="T44" fmla="*/ 289 w 1035"/>
                <a:gd name="T45" fmla="*/ 0 h 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35" h="918">
                  <a:moveTo>
                    <a:pt x="289" y="0"/>
                  </a:moveTo>
                  <a:lnTo>
                    <a:pt x="514" y="0"/>
                  </a:lnTo>
                  <a:lnTo>
                    <a:pt x="514" y="164"/>
                  </a:lnTo>
                  <a:lnTo>
                    <a:pt x="791" y="223"/>
                  </a:lnTo>
                  <a:lnTo>
                    <a:pt x="837" y="216"/>
                  </a:lnTo>
                  <a:lnTo>
                    <a:pt x="948" y="242"/>
                  </a:lnTo>
                  <a:lnTo>
                    <a:pt x="987" y="249"/>
                  </a:lnTo>
                  <a:lnTo>
                    <a:pt x="985" y="412"/>
                  </a:lnTo>
                  <a:lnTo>
                    <a:pt x="1035" y="527"/>
                  </a:lnTo>
                  <a:lnTo>
                    <a:pt x="1005" y="583"/>
                  </a:lnTo>
                  <a:lnTo>
                    <a:pt x="913" y="606"/>
                  </a:lnTo>
                  <a:lnTo>
                    <a:pt x="768" y="724"/>
                  </a:lnTo>
                  <a:lnTo>
                    <a:pt x="733" y="818"/>
                  </a:lnTo>
                  <a:lnTo>
                    <a:pt x="751" y="918"/>
                  </a:lnTo>
                  <a:lnTo>
                    <a:pt x="566" y="851"/>
                  </a:lnTo>
                  <a:lnTo>
                    <a:pt x="446" y="649"/>
                  </a:lnTo>
                  <a:lnTo>
                    <a:pt x="351" y="620"/>
                  </a:lnTo>
                  <a:lnTo>
                    <a:pt x="298" y="675"/>
                  </a:lnTo>
                  <a:lnTo>
                    <a:pt x="224" y="631"/>
                  </a:lnTo>
                  <a:lnTo>
                    <a:pt x="155" y="506"/>
                  </a:lnTo>
                  <a:lnTo>
                    <a:pt x="0" y="377"/>
                  </a:lnTo>
                  <a:lnTo>
                    <a:pt x="289" y="377"/>
                  </a:lnTo>
                  <a:lnTo>
                    <a:pt x="289"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12" name="Freeform 102"/>
            <p:cNvSpPr>
              <a:spLocks noChangeAspect="1"/>
            </p:cNvSpPr>
            <p:nvPr/>
          </p:nvSpPr>
          <p:spPr bwMode="blackWhite">
            <a:xfrm>
              <a:off x="2046" y="2093"/>
              <a:ext cx="443" cy="558"/>
            </a:xfrm>
            <a:custGeom>
              <a:avLst/>
              <a:gdLst>
                <a:gd name="T0" fmla="*/ 0 w 443"/>
                <a:gd name="T1" fmla="*/ 0 h 558"/>
                <a:gd name="T2" fmla="*/ 443 w 443"/>
                <a:gd name="T3" fmla="*/ 0 h 558"/>
                <a:gd name="T4" fmla="*/ 443 w 443"/>
                <a:gd name="T5" fmla="*/ 481 h 558"/>
                <a:gd name="T6" fmla="*/ 154 w 443"/>
                <a:gd name="T7" fmla="*/ 481 h 558"/>
                <a:gd name="T8" fmla="*/ 73 w 443"/>
                <a:gd name="T9" fmla="*/ 481 h 558"/>
                <a:gd name="T10" fmla="*/ 73 w 443"/>
                <a:gd name="T11" fmla="*/ 558 h 558"/>
                <a:gd name="T12" fmla="*/ 0 w 443"/>
                <a:gd name="T13" fmla="*/ 558 h 558"/>
                <a:gd name="T14" fmla="*/ 0 w 443"/>
                <a:gd name="T15" fmla="*/ 0 h 5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3" h="558">
                  <a:moveTo>
                    <a:pt x="0" y="0"/>
                  </a:moveTo>
                  <a:lnTo>
                    <a:pt x="443" y="0"/>
                  </a:lnTo>
                  <a:lnTo>
                    <a:pt x="443" y="481"/>
                  </a:lnTo>
                  <a:lnTo>
                    <a:pt x="154" y="481"/>
                  </a:lnTo>
                  <a:lnTo>
                    <a:pt x="73" y="481"/>
                  </a:lnTo>
                  <a:lnTo>
                    <a:pt x="73" y="558"/>
                  </a:lnTo>
                  <a:lnTo>
                    <a:pt x="0" y="558"/>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13" name="Freeform 103"/>
            <p:cNvSpPr>
              <a:spLocks noChangeAspect="1"/>
            </p:cNvSpPr>
            <p:nvPr/>
          </p:nvSpPr>
          <p:spPr bwMode="blackWhite">
            <a:xfrm>
              <a:off x="1662" y="1613"/>
              <a:ext cx="380" cy="487"/>
            </a:xfrm>
            <a:custGeom>
              <a:avLst/>
              <a:gdLst>
                <a:gd name="T0" fmla="*/ 224 w 380"/>
                <a:gd name="T1" fmla="*/ 92 h 487"/>
                <a:gd name="T2" fmla="*/ 380 w 380"/>
                <a:gd name="T3" fmla="*/ 92 h 487"/>
                <a:gd name="T4" fmla="*/ 380 w 380"/>
                <a:gd name="T5" fmla="*/ 487 h 487"/>
                <a:gd name="T6" fmla="*/ 0 w 380"/>
                <a:gd name="T7" fmla="*/ 487 h 487"/>
                <a:gd name="T8" fmla="*/ 0 w 380"/>
                <a:gd name="T9" fmla="*/ 0 h 487"/>
                <a:gd name="T10" fmla="*/ 224 w 380"/>
                <a:gd name="T11" fmla="*/ 0 h 487"/>
                <a:gd name="T12" fmla="*/ 224 w 380"/>
                <a:gd name="T13" fmla="*/ 92 h 487"/>
              </a:gdLst>
              <a:ahLst/>
              <a:cxnLst>
                <a:cxn ang="0">
                  <a:pos x="T0" y="T1"/>
                </a:cxn>
                <a:cxn ang="0">
                  <a:pos x="T2" y="T3"/>
                </a:cxn>
                <a:cxn ang="0">
                  <a:pos x="T4" y="T5"/>
                </a:cxn>
                <a:cxn ang="0">
                  <a:pos x="T6" y="T7"/>
                </a:cxn>
                <a:cxn ang="0">
                  <a:pos x="T8" y="T9"/>
                </a:cxn>
                <a:cxn ang="0">
                  <a:pos x="T10" y="T11"/>
                </a:cxn>
                <a:cxn ang="0">
                  <a:pos x="T12" y="T13"/>
                </a:cxn>
              </a:cxnLst>
              <a:rect l="0" t="0" r="r" b="b"/>
              <a:pathLst>
                <a:path w="380" h="487">
                  <a:moveTo>
                    <a:pt x="224" y="92"/>
                  </a:moveTo>
                  <a:lnTo>
                    <a:pt x="380" y="92"/>
                  </a:lnTo>
                  <a:lnTo>
                    <a:pt x="380" y="487"/>
                  </a:lnTo>
                  <a:lnTo>
                    <a:pt x="0" y="487"/>
                  </a:lnTo>
                  <a:lnTo>
                    <a:pt x="0" y="0"/>
                  </a:lnTo>
                  <a:lnTo>
                    <a:pt x="224" y="0"/>
                  </a:lnTo>
                  <a:lnTo>
                    <a:pt x="224" y="92"/>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14" name="Freeform 104"/>
            <p:cNvSpPr>
              <a:spLocks noChangeAspect="1"/>
            </p:cNvSpPr>
            <p:nvPr/>
          </p:nvSpPr>
          <p:spPr bwMode="blackWhite">
            <a:xfrm>
              <a:off x="880" y="893"/>
              <a:ext cx="549" cy="341"/>
            </a:xfrm>
            <a:custGeom>
              <a:avLst/>
              <a:gdLst>
                <a:gd name="T0" fmla="*/ 123 w 549"/>
                <a:gd name="T1" fmla="*/ 0 h 341"/>
                <a:gd name="T2" fmla="*/ 144 w 549"/>
                <a:gd name="T3" fmla="*/ 101 h 341"/>
                <a:gd name="T4" fmla="*/ 132 w 549"/>
                <a:gd name="T5" fmla="*/ 123 h 341"/>
                <a:gd name="T6" fmla="*/ 0 w 549"/>
                <a:gd name="T7" fmla="*/ 103 h 341"/>
                <a:gd name="T8" fmla="*/ 42 w 549"/>
                <a:gd name="T9" fmla="*/ 283 h 341"/>
                <a:gd name="T10" fmla="*/ 103 w 549"/>
                <a:gd name="T11" fmla="*/ 287 h 341"/>
                <a:gd name="T12" fmla="*/ 116 w 549"/>
                <a:gd name="T13" fmla="*/ 341 h 341"/>
                <a:gd name="T14" fmla="*/ 367 w 549"/>
                <a:gd name="T15" fmla="*/ 292 h 341"/>
                <a:gd name="T16" fmla="*/ 549 w 549"/>
                <a:gd name="T17" fmla="*/ 292 h 341"/>
                <a:gd name="T18" fmla="*/ 549 w 549"/>
                <a:gd name="T19" fmla="*/ 2 h 341"/>
                <a:gd name="T20" fmla="*/ 123 w 549"/>
                <a:gd name="T21" fmla="*/ 0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9" h="341">
                  <a:moveTo>
                    <a:pt x="123" y="0"/>
                  </a:moveTo>
                  <a:lnTo>
                    <a:pt x="144" y="101"/>
                  </a:lnTo>
                  <a:lnTo>
                    <a:pt x="132" y="123"/>
                  </a:lnTo>
                  <a:lnTo>
                    <a:pt x="0" y="103"/>
                  </a:lnTo>
                  <a:lnTo>
                    <a:pt x="42" y="283"/>
                  </a:lnTo>
                  <a:lnTo>
                    <a:pt x="103" y="287"/>
                  </a:lnTo>
                  <a:lnTo>
                    <a:pt x="116" y="341"/>
                  </a:lnTo>
                  <a:lnTo>
                    <a:pt x="367" y="292"/>
                  </a:lnTo>
                  <a:lnTo>
                    <a:pt x="549" y="292"/>
                  </a:lnTo>
                  <a:lnTo>
                    <a:pt x="549" y="2"/>
                  </a:lnTo>
                  <a:lnTo>
                    <a:pt x="123"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15" name="Freeform 105"/>
            <p:cNvSpPr>
              <a:spLocks noChangeAspect="1"/>
            </p:cNvSpPr>
            <p:nvPr/>
          </p:nvSpPr>
          <p:spPr bwMode="blackWhite">
            <a:xfrm>
              <a:off x="883" y="1176"/>
              <a:ext cx="573" cy="436"/>
            </a:xfrm>
            <a:custGeom>
              <a:avLst/>
              <a:gdLst>
                <a:gd name="T0" fmla="*/ 36 w 573"/>
                <a:gd name="T1" fmla="*/ 0 h 436"/>
                <a:gd name="T2" fmla="*/ 100 w 573"/>
                <a:gd name="T3" fmla="*/ 2 h 436"/>
                <a:gd name="T4" fmla="*/ 115 w 573"/>
                <a:gd name="T5" fmla="*/ 58 h 436"/>
                <a:gd name="T6" fmla="*/ 359 w 573"/>
                <a:gd name="T7" fmla="*/ 9 h 436"/>
                <a:gd name="T8" fmla="*/ 546 w 573"/>
                <a:gd name="T9" fmla="*/ 9 h 436"/>
                <a:gd name="T10" fmla="*/ 573 w 573"/>
                <a:gd name="T11" fmla="*/ 53 h 436"/>
                <a:gd name="T12" fmla="*/ 534 w 573"/>
                <a:gd name="T13" fmla="*/ 217 h 436"/>
                <a:gd name="T14" fmla="*/ 559 w 573"/>
                <a:gd name="T15" fmla="*/ 224 h 436"/>
                <a:gd name="T16" fmla="*/ 559 w 573"/>
                <a:gd name="T17" fmla="*/ 436 h 436"/>
                <a:gd name="T18" fmla="*/ 16 w 573"/>
                <a:gd name="T19" fmla="*/ 436 h 436"/>
                <a:gd name="T20" fmla="*/ 0 w 573"/>
                <a:gd name="T21" fmla="*/ 342 h 436"/>
                <a:gd name="T22" fmla="*/ 36 w 573"/>
                <a:gd name="T23"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73" h="436">
                  <a:moveTo>
                    <a:pt x="36" y="0"/>
                  </a:moveTo>
                  <a:lnTo>
                    <a:pt x="100" y="2"/>
                  </a:lnTo>
                  <a:lnTo>
                    <a:pt x="115" y="58"/>
                  </a:lnTo>
                  <a:lnTo>
                    <a:pt x="359" y="9"/>
                  </a:lnTo>
                  <a:lnTo>
                    <a:pt x="546" y="9"/>
                  </a:lnTo>
                  <a:lnTo>
                    <a:pt x="573" y="53"/>
                  </a:lnTo>
                  <a:lnTo>
                    <a:pt x="534" y="217"/>
                  </a:lnTo>
                  <a:lnTo>
                    <a:pt x="559" y="224"/>
                  </a:lnTo>
                  <a:lnTo>
                    <a:pt x="559" y="436"/>
                  </a:lnTo>
                  <a:lnTo>
                    <a:pt x="16" y="436"/>
                  </a:lnTo>
                  <a:lnTo>
                    <a:pt x="0" y="342"/>
                  </a:lnTo>
                  <a:lnTo>
                    <a:pt x="36"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16" name="Freeform 106"/>
            <p:cNvSpPr>
              <a:spLocks noChangeAspect="1"/>
            </p:cNvSpPr>
            <p:nvPr/>
          </p:nvSpPr>
          <p:spPr bwMode="blackWhite">
            <a:xfrm>
              <a:off x="1415" y="893"/>
              <a:ext cx="469" cy="719"/>
            </a:xfrm>
            <a:custGeom>
              <a:avLst/>
              <a:gdLst>
                <a:gd name="T0" fmla="*/ 14 w 469"/>
                <a:gd name="T1" fmla="*/ 0 h 719"/>
                <a:gd name="T2" fmla="*/ 96 w 469"/>
                <a:gd name="T3" fmla="*/ 0 h 719"/>
                <a:gd name="T4" fmla="*/ 96 w 469"/>
                <a:gd name="T5" fmla="*/ 119 h 719"/>
                <a:gd name="T6" fmla="*/ 235 w 469"/>
                <a:gd name="T7" fmla="*/ 267 h 719"/>
                <a:gd name="T8" fmla="*/ 206 w 469"/>
                <a:gd name="T9" fmla="*/ 332 h 719"/>
                <a:gd name="T10" fmla="*/ 218 w 469"/>
                <a:gd name="T11" fmla="*/ 362 h 719"/>
                <a:gd name="T12" fmla="*/ 269 w 469"/>
                <a:gd name="T13" fmla="*/ 343 h 719"/>
                <a:gd name="T14" fmla="*/ 342 w 469"/>
                <a:gd name="T15" fmla="*/ 473 h 719"/>
                <a:gd name="T16" fmla="*/ 469 w 469"/>
                <a:gd name="T17" fmla="*/ 435 h 719"/>
                <a:gd name="T18" fmla="*/ 469 w 469"/>
                <a:gd name="T19" fmla="*/ 719 h 719"/>
                <a:gd name="T20" fmla="*/ 242 w 469"/>
                <a:gd name="T21" fmla="*/ 719 h 719"/>
                <a:gd name="T22" fmla="*/ 27 w 469"/>
                <a:gd name="T23" fmla="*/ 719 h 719"/>
                <a:gd name="T24" fmla="*/ 27 w 469"/>
                <a:gd name="T25" fmla="*/ 507 h 719"/>
                <a:gd name="T26" fmla="*/ 0 w 469"/>
                <a:gd name="T27" fmla="*/ 502 h 719"/>
                <a:gd name="T28" fmla="*/ 41 w 469"/>
                <a:gd name="T29" fmla="*/ 339 h 719"/>
                <a:gd name="T30" fmla="*/ 14 w 469"/>
                <a:gd name="T31" fmla="*/ 289 h 719"/>
                <a:gd name="T32" fmla="*/ 14 w 469"/>
                <a:gd name="T33" fmla="*/ 0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9" h="719">
                  <a:moveTo>
                    <a:pt x="14" y="0"/>
                  </a:moveTo>
                  <a:lnTo>
                    <a:pt x="96" y="0"/>
                  </a:lnTo>
                  <a:lnTo>
                    <a:pt x="96" y="119"/>
                  </a:lnTo>
                  <a:lnTo>
                    <a:pt x="235" y="267"/>
                  </a:lnTo>
                  <a:lnTo>
                    <a:pt x="206" y="332"/>
                  </a:lnTo>
                  <a:lnTo>
                    <a:pt x="218" y="362"/>
                  </a:lnTo>
                  <a:lnTo>
                    <a:pt x="269" y="343"/>
                  </a:lnTo>
                  <a:lnTo>
                    <a:pt x="342" y="473"/>
                  </a:lnTo>
                  <a:lnTo>
                    <a:pt x="469" y="435"/>
                  </a:lnTo>
                  <a:lnTo>
                    <a:pt x="469" y="719"/>
                  </a:lnTo>
                  <a:lnTo>
                    <a:pt x="242" y="719"/>
                  </a:lnTo>
                  <a:lnTo>
                    <a:pt x="27" y="719"/>
                  </a:lnTo>
                  <a:lnTo>
                    <a:pt x="27" y="507"/>
                  </a:lnTo>
                  <a:lnTo>
                    <a:pt x="0" y="502"/>
                  </a:lnTo>
                  <a:lnTo>
                    <a:pt x="41" y="339"/>
                  </a:lnTo>
                  <a:lnTo>
                    <a:pt x="14" y="289"/>
                  </a:lnTo>
                  <a:lnTo>
                    <a:pt x="14"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17" name="Freeform 107"/>
            <p:cNvSpPr>
              <a:spLocks noChangeAspect="1"/>
            </p:cNvSpPr>
            <p:nvPr/>
          </p:nvSpPr>
          <p:spPr bwMode="blackWhite">
            <a:xfrm>
              <a:off x="1219" y="1613"/>
              <a:ext cx="442" cy="713"/>
            </a:xfrm>
            <a:custGeom>
              <a:avLst/>
              <a:gdLst>
                <a:gd name="T0" fmla="*/ 0 w 442"/>
                <a:gd name="T1" fmla="*/ 0 h 713"/>
                <a:gd name="T2" fmla="*/ 442 w 442"/>
                <a:gd name="T3" fmla="*/ 0 h 713"/>
                <a:gd name="T4" fmla="*/ 442 w 442"/>
                <a:gd name="T5" fmla="*/ 485 h 713"/>
                <a:gd name="T6" fmla="*/ 442 w 442"/>
                <a:gd name="T7" fmla="*/ 594 h 713"/>
                <a:gd name="T8" fmla="*/ 393 w 442"/>
                <a:gd name="T9" fmla="*/ 582 h 713"/>
                <a:gd name="T10" fmla="*/ 416 w 442"/>
                <a:gd name="T11" fmla="*/ 713 h 713"/>
                <a:gd name="T12" fmla="*/ 0 w 442"/>
                <a:gd name="T13" fmla="*/ 301 h 713"/>
                <a:gd name="T14" fmla="*/ 0 w 442"/>
                <a:gd name="T15" fmla="*/ 0 h 7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713">
                  <a:moveTo>
                    <a:pt x="0" y="0"/>
                  </a:moveTo>
                  <a:lnTo>
                    <a:pt x="442" y="0"/>
                  </a:lnTo>
                  <a:lnTo>
                    <a:pt x="442" y="485"/>
                  </a:lnTo>
                  <a:lnTo>
                    <a:pt x="442" y="594"/>
                  </a:lnTo>
                  <a:lnTo>
                    <a:pt x="393" y="582"/>
                  </a:lnTo>
                  <a:lnTo>
                    <a:pt x="416" y="713"/>
                  </a:lnTo>
                  <a:lnTo>
                    <a:pt x="0" y="301"/>
                  </a:lnTo>
                  <a:lnTo>
                    <a:pt x="0"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18" name="Freeform 108"/>
            <p:cNvSpPr>
              <a:spLocks noChangeAspect="1"/>
            </p:cNvSpPr>
            <p:nvPr/>
          </p:nvSpPr>
          <p:spPr bwMode="blackWhite">
            <a:xfrm>
              <a:off x="1614" y="2100"/>
              <a:ext cx="432" cy="553"/>
            </a:xfrm>
            <a:custGeom>
              <a:avLst/>
              <a:gdLst>
                <a:gd name="T0" fmla="*/ 47 w 432"/>
                <a:gd name="T1" fmla="*/ 0 h 553"/>
                <a:gd name="T2" fmla="*/ 432 w 432"/>
                <a:gd name="T3" fmla="*/ 0 h 553"/>
                <a:gd name="T4" fmla="*/ 432 w 432"/>
                <a:gd name="T5" fmla="*/ 553 h 553"/>
                <a:gd name="T6" fmla="*/ 298 w 432"/>
                <a:gd name="T7" fmla="*/ 553 h 553"/>
                <a:gd name="T8" fmla="*/ 43 w 432"/>
                <a:gd name="T9" fmla="*/ 431 h 553"/>
                <a:gd name="T10" fmla="*/ 43 w 432"/>
                <a:gd name="T11" fmla="*/ 392 h 553"/>
                <a:gd name="T12" fmla="*/ 59 w 432"/>
                <a:gd name="T13" fmla="*/ 274 h 553"/>
                <a:gd name="T14" fmla="*/ 19 w 432"/>
                <a:gd name="T15" fmla="*/ 219 h 553"/>
                <a:gd name="T16" fmla="*/ 0 w 432"/>
                <a:gd name="T17" fmla="*/ 95 h 553"/>
                <a:gd name="T18" fmla="*/ 47 w 432"/>
                <a:gd name="T19" fmla="*/ 107 h 553"/>
                <a:gd name="T20" fmla="*/ 47 w 432"/>
                <a:gd name="T21" fmla="*/ 0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2" h="553">
                  <a:moveTo>
                    <a:pt x="47" y="0"/>
                  </a:moveTo>
                  <a:lnTo>
                    <a:pt x="432" y="0"/>
                  </a:lnTo>
                  <a:lnTo>
                    <a:pt x="432" y="553"/>
                  </a:lnTo>
                  <a:lnTo>
                    <a:pt x="298" y="553"/>
                  </a:lnTo>
                  <a:lnTo>
                    <a:pt x="43" y="431"/>
                  </a:lnTo>
                  <a:lnTo>
                    <a:pt x="43" y="392"/>
                  </a:lnTo>
                  <a:lnTo>
                    <a:pt x="59" y="274"/>
                  </a:lnTo>
                  <a:lnTo>
                    <a:pt x="19" y="219"/>
                  </a:lnTo>
                  <a:lnTo>
                    <a:pt x="0" y="95"/>
                  </a:lnTo>
                  <a:lnTo>
                    <a:pt x="47" y="107"/>
                  </a:lnTo>
                  <a:lnTo>
                    <a:pt x="47"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19" name="Freeform 109"/>
            <p:cNvSpPr>
              <a:spLocks noChangeAspect="1"/>
            </p:cNvSpPr>
            <p:nvPr/>
          </p:nvSpPr>
          <p:spPr bwMode="blackWhite">
            <a:xfrm>
              <a:off x="879" y="1610"/>
              <a:ext cx="794" cy="884"/>
            </a:xfrm>
            <a:custGeom>
              <a:avLst/>
              <a:gdLst>
                <a:gd name="T0" fmla="*/ 19 w 794"/>
                <a:gd name="T1" fmla="*/ 0 h 884"/>
                <a:gd name="T2" fmla="*/ 341 w 794"/>
                <a:gd name="T3" fmla="*/ 0 h 884"/>
                <a:gd name="T4" fmla="*/ 341 w 794"/>
                <a:gd name="T5" fmla="*/ 301 h 884"/>
                <a:gd name="T6" fmla="*/ 757 w 794"/>
                <a:gd name="T7" fmla="*/ 716 h 884"/>
                <a:gd name="T8" fmla="*/ 794 w 794"/>
                <a:gd name="T9" fmla="*/ 764 h 884"/>
                <a:gd name="T10" fmla="*/ 775 w 794"/>
                <a:gd name="T11" fmla="*/ 884 h 884"/>
                <a:gd name="T12" fmla="*/ 567 w 794"/>
                <a:gd name="T13" fmla="*/ 884 h 884"/>
                <a:gd name="T14" fmla="*/ 383 w 794"/>
                <a:gd name="T15" fmla="*/ 735 h 884"/>
                <a:gd name="T16" fmla="*/ 317 w 794"/>
                <a:gd name="T17" fmla="*/ 735 h 884"/>
                <a:gd name="T18" fmla="*/ 161 w 794"/>
                <a:gd name="T19" fmla="*/ 458 h 884"/>
                <a:gd name="T20" fmla="*/ 51 w 794"/>
                <a:gd name="T21" fmla="*/ 288 h 884"/>
                <a:gd name="T22" fmla="*/ 64 w 794"/>
                <a:gd name="T23" fmla="*/ 223 h 884"/>
                <a:gd name="T24" fmla="*/ 0 w 794"/>
                <a:gd name="T25" fmla="*/ 136 h 884"/>
                <a:gd name="T26" fmla="*/ 19 w 794"/>
                <a:gd name="T2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4" h="884">
                  <a:moveTo>
                    <a:pt x="19" y="0"/>
                  </a:moveTo>
                  <a:lnTo>
                    <a:pt x="341" y="0"/>
                  </a:lnTo>
                  <a:lnTo>
                    <a:pt x="341" y="301"/>
                  </a:lnTo>
                  <a:lnTo>
                    <a:pt x="757" y="716"/>
                  </a:lnTo>
                  <a:lnTo>
                    <a:pt x="794" y="764"/>
                  </a:lnTo>
                  <a:lnTo>
                    <a:pt x="775" y="884"/>
                  </a:lnTo>
                  <a:lnTo>
                    <a:pt x="567" y="884"/>
                  </a:lnTo>
                  <a:lnTo>
                    <a:pt x="383" y="735"/>
                  </a:lnTo>
                  <a:lnTo>
                    <a:pt x="317" y="735"/>
                  </a:lnTo>
                  <a:lnTo>
                    <a:pt x="161" y="458"/>
                  </a:lnTo>
                  <a:lnTo>
                    <a:pt x="51" y="288"/>
                  </a:lnTo>
                  <a:lnTo>
                    <a:pt x="64" y="223"/>
                  </a:lnTo>
                  <a:lnTo>
                    <a:pt x="0" y="136"/>
                  </a:lnTo>
                  <a:lnTo>
                    <a:pt x="19" y="0"/>
                  </a:lnTo>
                  <a:close/>
                </a:path>
              </a:pathLst>
            </a:custGeom>
            <a:solidFill>
              <a:schemeClr val="bg1"/>
            </a:solidFill>
            <a:ln w="14351">
              <a:solidFill>
                <a:schemeClr val="tx1"/>
              </a:solidFill>
              <a:prstDash val="solid"/>
              <a:round/>
              <a:headEnd/>
              <a:tailEnd/>
            </a:ln>
          </p:spPr>
          <p:txBody>
            <a:bodyPr/>
            <a:lstStyle/>
            <a:p>
              <a:pPr fontAlgn="auto">
                <a:spcBef>
                  <a:spcPts val="0"/>
                </a:spcBef>
                <a:spcAft>
                  <a:spcPts val="0"/>
                </a:spcAft>
              </a:pPr>
              <a:endParaRPr lang="en-US" dirty="0">
                <a:solidFill>
                  <a:srgbClr val="000000"/>
                </a:solidFill>
                <a:latin typeface="Verdana"/>
                <a:cs typeface="Arial"/>
              </a:endParaRPr>
            </a:p>
          </p:txBody>
        </p:sp>
        <p:sp>
          <p:nvSpPr>
            <p:cNvPr id="120" name="AutoShape 110"/>
            <p:cNvSpPr>
              <a:spLocks noChangeAspect="1" noChangeArrowheads="1"/>
            </p:cNvSpPr>
            <p:nvPr/>
          </p:nvSpPr>
          <p:spPr bwMode="auto">
            <a:xfrm>
              <a:off x="3288" y="1560"/>
              <a:ext cx="88" cy="96"/>
            </a:xfrm>
            <a:prstGeom prst="octagon">
              <a:avLst>
                <a:gd name="adj" fmla="val 29287"/>
              </a:avLst>
            </a:prstGeom>
            <a:solidFill>
              <a:srgbClr val="FF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pPr>
              <a:endParaRPr lang="en-US" dirty="0">
                <a:solidFill>
                  <a:srgbClr val="000000"/>
                </a:solidFill>
                <a:latin typeface="Verdana"/>
                <a:cs typeface="Arial"/>
              </a:endParaRPr>
            </a:p>
          </p:txBody>
        </p:sp>
      </p:grpSp>
      <p:sp>
        <p:nvSpPr>
          <p:cNvPr id="121" name="Oval 120"/>
          <p:cNvSpPr/>
          <p:nvPr/>
        </p:nvSpPr>
        <p:spPr>
          <a:xfrm>
            <a:off x="7283382" y="1638300"/>
            <a:ext cx="37993" cy="37993"/>
          </a:xfrm>
          <a:prstGeom prst="ellipse">
            <a:avLst/>
          </a:prstGeom>
          <a:solidFill>
            <a:srgbClr val="0070C0"/>
          </a:solidFill>
          <a:ln>
            <a:solidFill>
              <a:srgbClr val="0068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srgbClr val="FFFFFF"/>
              </a:solidFill>
            </a:endParaRPr>
          </a:p>
        </p:txBody>
      </p:sp>
      <p:pic>
        <p:nvPicPr>
          <p:cNvPr id="6" name="Picture 3"/>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57996" y="5662911"/>
            <a:ext cx="1671372" cy="966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ight Arrow 8"/>
          <p:cNvSpPr/>
          <p:nvPr/>
        </p:nvSpPr>
        <p:spPr>
          <a:xfrm rot="2527759">
            <a:off x="6023376" y="888780"/>
            <a:ext cx="1417776" cy="533400"/>
          </a:xfrm>
          <a:prstGeom prst="rightArrow">
            <a:avLst>
              <a:gd name="adj1" fmla="val 67857"/>
              <a:gd name="adj2"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RC Minneapolis </a:t>
            </a:r>
            <a:endParaRPr lang="en-US" sz="900" b="1" dirty="0" smtClean="0"/>
          </a:p>
          <a:p>
            <a:pPr algn="ctr"/>
            <a:r>
              <a:rPr lang="en-US" sz="900" b="1" dirty="0" smtClean="0"/>
              <a:t>&amp; Univ. of MN</a:t>
            </a:r>
            <a:endParaRPr lang="en-US" sz="900" b="1" dirty="0"/>
          </a:p>
        </p:txBody>
      </p:sp>
    </p:spTree>
    <p:extLst>
      <p:ext uri="{BB962C8B-B14F-4D97-AF65-F5344CB8AC3E}">
        <p14:creationId xmlns:p14="http://schemas.microsoft.com/office/powerpoint/2010/main" val="88851670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wipe(down)">
                                      <p:cBhvr>
                                        <p:cTn id="7" dur="580">
                                          <p:stCondLst>
                                            <p:cond delay="0"/>
                                          </p:stCondLst>
                                        </p:cTn>
                                        <p:tgtEl>
                                          <p:spTgt spid="121"/>
                                        </p:tgtEl>
                                      </p:cBhvr>
                                    </p:animEffect>
                                    <p:anim calcmode="lin" valueType="num">
                                      <p:cBhvr>
                                        <p:cTn id="8" dur="1822" tmFilter="0,0; 0.14,0.36; 0.43,0.73; 0.71,0.91; 1.0,1.0">
                                          <p:stCondLst>
                                            <p:cond delay="0"/>
                                          </p:stCondLst>
                                        </p:cTn>
                                        <p:tgtEl>
                                          <p:spTgt spid="12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2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2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2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21"/>
                                        </p:tgtEl>
                                        <p:attrNameLst>
                                          <p:attrName>ppt_y</p:attrName>
                                        </p:attrNameLst>
                                      </p:cBhvr>
                                      <p:tavLst>
                                        <p:tav tm="0" fmla="#ppt_y-sin(pi*$)/81">
                                          <p:val>
                                            <p:fltVal val="0"/>
                                          </p:val>
                                        </p:tav>
                                        <p:tav tm="100000">
                                          <p:val>
                                            <p:fltVal val="1"/>
                                          </p:val>
                                        </p:tav>
                                      </p:tavLst>
                                    </p:anim>
                                    <p:animScale>
                                      <p:cBhvr>
                                        <p:cTn id="13" dur="26">
                                          <p:stCondLst>
                                            <p:cond delay="650"/>
                                          </p:stCondLst>
                                        </p:cTn>
                                        <p:tgtEl>
                                          <p:spTgt spid="121"/>
                                        </p:tgtEl>
                                      </p:cBhvr>
                                      <p:to x="100000" y="60000"/>
                                    </p:animScale>
                                    <p:animScale>
                                      <p:cBhvr>
                                        <p:cTn id="14" dur="166" decel="50000">
                                          <p:stCondLst>
                                            <p:cond delay="676"/>
                                          </p:stCondLst>
                                        </p:cTn>
                                        <p:tgtEl>
                                          <p:spTgt spid="121"/>
                                        </p:tgtEl>
                                      </p:cBhvr>
                                      <p:to x="100000" y="100000"/>
                                    </p:animScale>
                                    <p:animScale>
                                      <p:cBhvr>
                                        <p:cTn id="15" dur="26">
                                          <p:stCondLst>
                                            <p:cond delay="1312"/>
                                          </p:stCondLst>
                                        </p:cTn>
                                        <p:tgtEl>
                                          <p:spTgt spid="121"/>
                                        </p:tgtEl>
                                      </p:cBhvr>
                                      <p:to x="100000" y="80000"/>
                                    </p:animScale>
                                    <p:animScale>
                                      <p:cBhvr>
                                        <p:cTn id="16" dur="166" decel="50000">
                                          <p:stCondLst>
                                            <p:cond delay="1338"/>
                                          </p:stCondLst>
                                        </p:cTn>
                                        <p:tgtEl>
                                          <p:spTgt spid="121"/>
                                        </p:tgtEl>
                                      </p:cBhvr>
                                      <p:to x="100000" y="100000"/>
                                    </p:animScale>
                                    <p:animScale>
                                      <p:cBhvr>
                                        <p:cTn id="17" dur="26">
                                          <p:stCondLst>
                                            <p:cond delay="1642"/>
                                          </p:stCondLst>
                                        </p:cTn>
                                        <p:tgtEl>
                                          <p:spTgt spid="121"/>
                                        </p:tgtEl>
                                      </p:cBhvr>
                                      <p:to x="100000" y="90000"/>
                                    </p:animScale>
                                    <p:animScale>
                                      <p:cBhvr>
                                        <p:cTn id="18" dur="166" decel="50000">
                                          <p:stCondLst>
                                            <p:cond delay="1668"/>
                                          </p:stCondLst>
                                        </p:cTn>
                                        <p:tgtEl>
                                          <p:spTgt spid="121"/>
                                        </p:tgtEl>
                                      </p:cBhvr>
                                      <p:to x="100000" y="100000"/>
                                    </p:animScale>
                                    <p:animScale>
                                      <p:cBhvr>
                                        <p:cTn id="19" dur="26">
                                          <p:stCondLst>
                                            <p:cond delay="1808"/>
                                          </p:stCondLst>
                                        </p:cTn>
                                        <p:tgtEl>
                                          <p:spTgt spid="121"/>
                                        </p:tgtEl>
                                      </p:cBhvr>
                                      <p:to x="100000" y="95000"/>
                                    </p:animScale>
                                    <p:animScale>
                                      <p:cBhvr>
                                        <p:cTn id="20" dur="166" decel="50000">
                                          <p:stCondLst>
                                            <p:cond delay="1834"/>
                                          </p:stCondLst>
                                        </p:cTn>
                                        <p:tgtEl>
                                          <p:spTgt spid="121"/>
                                        </p:tgtEl>
                                      </p:cBhvr>
                                      <p:to x="100000" y="100000"/>
                                    </p:animScale>
                                  </p:childTnLst>
                                </p:cTn>
                              </p:par>
                            </p:childTnLst>
                          </p:cTn>
                        </p:par>
                        <p:par>
                          <p:cTn id="21" fill="hold">
                            <p:stCondLst>
                              <p:cond delay="2000"/>
                            </p:stCondLst>
                            <p:childTnLst>
                              <p:par>
                                <p:cTn id="22" presetID="2" presetClass="entr" presetSubtype="1"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Overview</a:t>
            </a:r>
            <a:endParaRPr lang="en-US" dirty="0"/>
          </a:p>
        </p:txBody>
      </p:sp>
      <p:sp>
        <p:nvSpPr>
          <p:cNvPr id="3" name="Content Placeholder 2"/>
          <p:cNvSpPr>
            <a:spLocks noGrp="1"/>
          </p:cNvSpPr>
          <p:nvPr>
            <p:ph idx="1"/>
          </p:nvPr>
        </p:nvSpPr>
        <p:spPr/>
        <p:txBody>
          <a:bodyPr/>
          <a:lstStyle/>
          <a:p>
            <a:r>
              <a:rPr lang="en-US" altLang="en-US" dirty="0" smtClean="0"/>
              <a:t>NASA </a:t>
            </a:r>
            <a:r>
              <a:rPr lang="en-US" altLang="en-US" dirty="0"/>
              <a:t>ARMD </a:t>
            </a:r>
          </a:p>
          <a:p>
            <a:pPr lvl="1"/>
            <a:r>
              <a:rPr lang="en-US" altLang="en-US" dirty="0"/>
              <a:t>RESEARCH OPPORTUNITIES IN AERONAUTICS (ROA-2015)</a:t>
            </a:r>
          </a:p>
          <a:p>
            <a:pPr lvl="1"/>
            <a:r>
              <a:rPr lang="en-US" altLang="en-US" dirty="0"/>
              <a:t>NASA RESEARCH ANNOUNCEMENT (NRA): NNH15ZEA001N </a:t>
            </a:r>
          </a:p>
          <a:p>
            <a:r>
              <a:rPr lang="en-US" altLang="en-US" dirty="0"/>
              <a:t>Airspace Operations and Safety </a:t>
            </a:r>
            <a:r>
              <a:rPr lang="en-US" altLang="en-US" dirty="0" smtClean="0"/>
              <a:t>Program (AOSP)</a:t>
            </a:r>
            <a:endParaRPr lang="en-US" altLang="en-US" dirty="0"/>
          </a:p>
          <a:p>
            <a:pPr lvl="1"/>
            <a:r>
              <a:rPr lang="en-US" altLang="en-US" dirty="0"/>
              <a:t>SMART-NAS Test Bed for Safe, Trajectory-Based Operations Project</a:t>
            </a:r>
          </a:p>
          <a:p>
            <a:pPr lvl="1"/>
            <a:r>
              <a:rPr lang="en-US" altLang="en-US" dirty="0"/>
              <a:t>Systems Assurance Technologies sub-project</a:t>
            </a:r>
          </a:p>
          <a:p>
            <a:pPr lvl="1"/>
            <a:r>
              <a:rPr lang="en-US" altLang="en-US" dirty="0"/>
              <a:t>Safe Avionics and ATM Future Evolution (SAAFE) technical challenge</a:t>
            </a:r>
          </a:p>
          <a:p>
            <a:pPr lvl="1"/>
            <a:r>
              <a:rPr lang="en-US" altLang="en-US" dirty="0"/>
              <a:t>Subtopic 2.5: </a:t>
            </a:r>
            <a:r>
              <a:rPr lang="en-US" altLang="en-US" b="1" dirty="0"/>
              <a:t>Model-Based Safety Analysis (MBSA) of Highly-Complex, Safety Critical </a:t>
            </a:r>
            <a:r>
              <a:rPr lang="en-US" altLang="en-US" b="1" dirty="0" smtClean="0"/>
              <a:t>Systems</a:t>
            </a:r>
          </a:p>
          <a:p>
            <a:r>
              <a:rPr lang="en-US" altLang="en-US" dirty="0" smtClean="0"/>
              <a:t>Our project: Architectural Modeling and Analysis for Safety Engineering (AMASE)</a:t>
            </a:r>
            <a:endParaRPr lang="en-US" altLang="en-US" dirty="0"/>
          </a:p>
          <a:p>
            <a:pPr lvl="1"/>
            <a:r>
              <a:rPr lang="en-US" dirty="0" smtClean="0"/>
              <a:t>Three year project (base + two option years)</a:t>
            </a:r>
          </a:p>
          <a:p>
            <a:pPr lvl="1"/>
            <a:r>
              <a:rPr lang="en-US" dirty="0" smtClean="0"/>
              <a:t>Rockwell Collins (prime) + University of Minnesota (sub)</a:t>
            </a:r>
            <a:endParaRPr lang="en-US" dirty="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4</a:t>
            </a:fld>
            <a:endParaRPr lang="en-US" dirty="0"/>
          </a:p>
        </p:txBody>
      </p:sp>
      <p:sp>
        <p:nvSpPr>
          <p:cNvPr id="5" name="Right Arrow 4"/>
          <p:cNvSpPr/>
          <p:nvPr/>
        </p:nvSpPr>
        <p:spPr>
          <a:xfrm rot="21060335" flipH="1">
            <a:off x="6359135" y="4789966"/>
            <a:ext cx="2133600" cy="609600"/>
          </a:xfrm>
          <a:prstGeom prst="rightArrow">
            <a:avLst>
              <a:gd name="adj1" fmla="val 65625"/>
              <a:gd name="adj2"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Fully funded!</a:t>
            </a:r>
            <a:endParaRPr lang="en-US" b="1" dirty="0"/>
          </a:p>
        </p:txBody>
      </p:sp>
    </p:spTree>
    <p:extLst>
      <p:ext uri="{BB962C8B-B14F-4D97-AF65-F5344CB8AC3E}">
        <p14:creationId xmlns:p14="http://schemas.microsoft.com/office/powerpoint/2010/main" val="264700978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Team</a:t>
            </a:r>
            <a:endParaRPr lang="en-US" dirty="0"/>
          </a:p>
        </p:txBody>
      </p:sp>
      <p:sp>
        <p:nvSpPr>
          <p:cNvPr id="3" name="Content Placeholder 2"/>
          <p:cNvSpPr>
            <a:spLocks noGrp="1"/>
          </p:cNvSpPr>
          <p:nvPr>
            <p:ph idx="1"/>
          </p:nvPr>
        </p:nvSpPr>
        <p:spPr/>
        <p:txBody>
          <a:bodyPr/>
          <a:lstStyle/>
          <a:p>
            <a:r>
              <a:rPr lang="en-US" dirty="0" smtClean="0"/>
              <a:t>Rockwell Collins</a:t>
            </a:r>
          </a:p>
          <a:p>
            <a:pPr lvl="1"/>
            <a:r>
              <a:rPr lang="en-US" dirty="0" smtClean="0"/>
              <a:t>Darren Cofer (Fellow, PI)</a:t>
            </a:r>
          </a:p>
          <a:p>
            <a:pPr lvl="1"/>
            <a:r>
              <a:rPr lang="en-US" dirty="0" smtClean="0"/>
              <a:t>Janet Liu (Sr. Software Engineer)</a:t>
            </a:r>
          </a:p>
          <a:p>
            <a:pPr lvl="1"/>
            <a:r>
              <a:rPr lang="en-US" dirty="0" smtClean="0"/>
              <a:t>Matt Wilding (Eng. Manager, Trusted Systems)</a:t>
            </a:r>
          </a:p>
          <a:p>
            <a:pPr lvl="1"/>
            <a:r>
              <a:rPr lang="en-US" dirty="0" smtClean="0"/>
              <a:t>Rick Spring (PM)</a:t>
            </a:r>
          </a:p>
          <a:p>
            <a:r>
              <a:rPr lang="en-US" dirty="0" smtClean="0"/>
              <a:t>University of Minnesota</a:t>
            </a:r>
          </a:p>
          <a:p>
            <a:pPr lvl="1"/>
            <a:r>
              <a:rPr lang="en-US" dirty="0" smtClean="0"/>
              <a:t>Mats </a:t>
            </a:r>
            <a:r>
              <a:rPr lang="en-US" dirty="0" err="1" smtClean="0"/>
              <a:t>Heimdahl</a:t>
            </a:r>
            <a:r>
              <a:rPr lang="en-US" dirty="0" smtClean="0"/>
              <a:t> (</a:t>
            </a:r>
            <a:r>
              <a:rPr lang="en-US" dirty="0" err="1" smtClean="0"/>
              <a:t>Dept</a:t>
            </a:r>
            <a:r>
              <a:rPr lang="en-US" dirty="0" smtClean="0"/>
              <a:t> Head, CS &amp; </a:t>
            </a:r>
            <a:r>
              <a:rPr lang="en-US" dirty="0" err="1" smtClean="0"/>
              <a:t>Eng</a:t>
            </a:r>
            <a:r>
              <a:rPr lang="en-US" dirty="0" smtClean="0"/>
              <a:t>, </a:t>
            </a:r>
            <a:r>
              <a:rPr lang="en-US" dirty="0"/>
              <a:t>Co-I)  </a:t>
            </a:r>
            <a:endParaRPr lang="en-US" dirty="0" smtClean="0"/>
          </a:p>
          <a:p>
            <a:pPr lvl="1"/>
            <a:r>
              <a:rPr lang="en-US" dirty="0" smtClean="0"/>
              <a:t>Danielle Stewart (PhD Student)</a:t>
            </a:r>
            <a:endParaRPr lang="en-US" dirty="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5</a:t>
            </a:fld>
            <a:endParaRPr lang="en-US"/>
          </a:p>
        </p:txBody>
      </p:sp>
    </p:spTree>
    <p:extLst>
      <p:ext uri="{BB962C8B-B14F-4D97-AF65-F5344CB8AC3E}">
        <p14:creationId xmlns:p14="http://schemas.microsoft.com/office/powerpoint/2010/main" val="3737302524"/>
      </p:ext>
    </p:extLst>
  </p:cSld>
  <p:clrMapOvr>
    <a:masterClrMapping/>
  </p:clrMapOvr>
  <p:transition>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Model-Based Safety Analysis</a:t>
            </a:r>
            <a:endParaRPr lang="en-US" dirty="0"/>
          </a:p>
        </p:txBody>
      </p:sp>
      <p:sp>
        <p:nvSpPr>
          <p:cNvPr id="3" name="Content Placeholder 2"/>
          <p:cNvSpPr>
            <a:spLocks noGrp="1"/>
          </p:cNvSpPr>
          <p:nvPr>
            <p:ph idx="1"/>
          </p:nvPr>
        </p:nvSpPr>
        <p:spPr/>
        <p:txBody>
          <a:bodyPr/>
          <a:lstStyle/>
          <a:p>
            <a:r>
              <a:rPr lang="en-US" dirty="0" smtClean="0"/>
              <a:t>Problem</a:t>
            </a:r>
          </a:p>
          <a:p>
            <a:pPr lvl="1"/>
            <a:r>
              <a:rPr lang="en-US" dirty="0" smtClean="0"/>
              <a:t>Traditional system safety analysis is subjective and dependent on the skill of the practitioner</a:t>
            </a:r>
          </a:p>
          <a:p>
            <a:pPr lvl="1"/>
            <a:r>
              <a:rPr lang="en-US" dirty="0" smtClean="0"/>
              <a:t>Based on informal (or non-existent) system models that are incomplete, imprecise, possibly inconsistent</a:t>
            </a:r>
          </a:p>
          <a:p>
            <a:r>
              <a:rPr lang="en-US" dirty="0" smtClean="0"/>
              <a:t>Insight</a:t>
            </a:r>
          </a:p>
          <a:p>
            <a:pPr lvl="1"/>
            <a:r>
              <a:rPr lang="en-US" dirty="0" smtClean="0"/>
              <a:t>Have system developers and </a:t>
            </a:r>
            <a:r>
              <a:rPr lang="en-US" dirty="0"/>
              <a:t>safety engineers use the same system models created during a model-based development process</a:t>
            </a:r>
          </a:p>
          <a:p>
            <a:r>
              <a:rPr lang="en-US" dirty="0" smtClean="0"/>
              <a:t>Approach</a:t>
            </a:r>
          </a:p>
          <a:p>
            <a:pPr lvl="1"/>
            <a:r>
              <a:rPr lang="en-US" dirty="0" smtClean="0"/>
              <a:t>Extend AADL-based system modeling and analysis tools to add appropriate syntax and analysis capabilities for reasoning about faulty system behaviors</a:t>
            </a:r>
            <a:endParaRPr lang="en-US" dirty="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6</a:t>
            </a:fld>
            <a:endParaRPr lang="en-US"/>
          </a:p>
        </p:txBody>
      </p:sp>
    </p:spTree>
    <p:extLst>
      <p:ext uri="{BB962C8B-B14F-4D97-AF65-F5344CB8AC3E}">
        <p14:creationId xmlns:p14="http://schemas.microsoft.com/office/powerpoint/2010/main" val="3724511483"/>
      </p:ext>
    </p:extLst>
  </p:cSld>
  <p:clrMapOvr>
    <a:masterClrMapping/>
  </p:clrMapOvr>
  <p:transition>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But what about the AADL Error Model Annex?</a:t>
            </a:r>
            <a:endParaRPr lang="en-US" dirty="0"/>
          </a:p>
        </p:txBody>
      </p:sp>
      <p:sp>
        <p:nvSpPr>
          <p:cNvPr id="3" name="Content Placeholder 2"/>
          <p:cNvSpPr>
            <a:spLocks noGrp="1"/>
          </p:cNvSpPr>
          <p:nvPr>
            <p:ph idx="1"/>
          </p:nvPr>
        </p:nvSpPr>
        <p:spPr/>
        <p:txBody>
          <a:bodyPr/>
          <a:lstStyle/>
          <a:p>
            <a:r>
              <a:rPr lang="en-US" dirty="0" smtClean="0"/>
              <a:t>EMA was developed before AADL had any support for modeling component behaviors</a:t>
            </a:r>
          </a:p>
          <a:p>
            <a:r>
              <a:rPr lang="en-US" dirty="0" smtClean="0"/>
              <a:t>EMA therefore requires fault propagation to be explicitly modeled, apart from actual system behavior</a:t>
            </a:r>
          </a:p>
          <a:p>
            <a:r>
              <a:rPr lang="en-US" dirty="0" smtClean="0"/>
              <a:t>Fault representations available in EMA are limited/incomplete</a:t>
            </a:r>
          </a:p>
          <a:p>
            <a:r>
              <a:rPr lang="en-US" dirty="0" smtClean="0"/>
              <a:t>Current EMA analysis tools are limited in effectiveness</a:t>
            </a:r>
          </a:p>
          <a:p>
            <a:endParaRPr lang="en-US" dirty="0"/>
          </a:p>
          <a:p>
            <a:pPr marL="0" indent="0">
              <a:buNone/>
            </a:pPr>
            <a:r>
              <a:rPr lang="en-US" sz="2000" b="1" dirty="0" smtClean="0">
                <a:latin typeface="+mj-lt"/>
              </a:rPr>
              <a:t>Meanwhile…</a:t>
            </a:r>
            <a:endParaRPr lang="en-US" sz="1600" b="1" dirty="0" smtClean="0">
              <a:latin typeface="+mj-lt"/>
            </a:endParaRPr>
          </a:p>
          <a:p>
            <a:r>
              <a:rPr lang="en-US" dirty="0" smtClean="0"/>
              <a:t>We implemented AGREE annex and analysis tool to add assume-guarantee contracts and compositional reasoning to AADL</a:t>
            </a:r>
          </a:p>
          <a:p>
            <a:r>
              <a:rPr lang="en-US" dirty="0" smtClean="0"/>
              <a:t>This allows us to take a different (better) approach to safety analysis for AADL models</a:t>
            </a:r>
            <a:endParaRPr lang="en-US" dirty="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7</a:t>
            </a:fld>
            <a:endParaRPr lang="en-US"/>
          </a:p>
        </p:txBody>
      </p:sp>
    </p:spTree>
    <p:extLst>
      <p:ext uri="{BB962C8B-B14F-4D97-AF65-F5344CB8AC3E}">
        <p14:creationId xmlns:p14="http://schemas.microsoft.com/office/powerpoint/2010/main" val="1235254905"/>
      </p:ext>
    </p:extLst>
  </p:cSld>
  <p:clrMapOvr>
    <a:masterClrMapping/>
  </p:clrMapOvr>
  <p:transition>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4866"/>
          <a:stretch/>
        </p:blipFill>
        <p:spPr bwMode="auto">
          <a:xfrm>
            <a:off x="4737545" y="4850759"/>
            <a:ext cx="1987105" cy="1680259"/>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762000" y="609600"/>
            <a:ext cx="7772400" cy="1104899"/>
          </a:xfrm>
        </p:spPr>
        <p:txBody>
          <a:bodyPr/>
          <a:lstStyle/>
          <a:p>
            <a:r>
              <a:rPr lang="en-US" dirty="0" smtClean="0"/>
              <a:t>AGREE:</a:t>
            </a:r>
            <a:br>
              <a:rPr lang="en-US" dirty="0" smtClean="0"/>
            </a:br>
            <a:r>
              <a:rPr lang="en-US" dirty="0" smtClean="0"/>
              <a:t>Assume Guarantee</a:t>
            </a:r>
            <a:br>
              <a:rPr lang="en-US" dirty="0" smtClean="0"/>
            </a:br>
            <a:r>
              <a:rPr lang="en-US" dirty="0" smtClean="0"/>
              <a:t>Reasoning Environment</a:t>
            </a:r>
            <a:endParaRPr lang="en-US" dirty="0"/>
          </a:p>
        </p:txBody>
      </p:sp>
      <p:sp>
        <p:nvSpPr>
          <p:cNvPr id="3" name="Content Placeholder 2"/>
          <p:cNvSpPr>
            <a:spLocks noGrp="1"/>
          </p:cNvSpPr>
          <p:nvPr>
            <p:ph idx="1"/>
          </p:nvPr>
        </p:nvSpPr>
        <p:spPr>
          <a:xfrm>
            <a:off x="457200" y="1828800"/>
            <a:ext cx="4419600" cy="4297363"/>
          </a:xfrm>
        </p:spPr>
        <p:txBody>
          <a:bodyPr/>
          <a:lstStyle/>
          <a:p>
            <a:r>
              <a:rPr lang="en-US" dirty="0"/>
              <a:t>Each component has a contract consisting of assumptions and guarantees</a:t>
            </a:r>
          </a:p>
          <a:p>
            <a:pPr lvl="1"/>
            <a:r>
              <a:rPr lang="en-US" dirty="0"/>
              <a:t>Assumptions: Constraints over what a component expects </a:t>
            </a:r>
            <a:r>
              <a:rPr lang="en-US" dirty="0" smtClean="0"/>
              <a:t>from </a:t>
            </a:r>
            <a:r>
              <a:rPr lang="en-US" dirty="0"/>
              <a:t>its environment</a:t>
            </a:r>
          </a:p>
          <a:p>
            <a:pPr lvl="1"/>
            <a:r>
              <a:rPr lang="en-US" dirty="0"/>
              <a:t>Guarantees: Constraints over how a component behaves in response to its </a:t>
            </a:r>
            <a:r>
              <a:rPr lang="en-US" dirty="0" smtClean="0"/>
              <a:t>environment (requirements)</a:t>
            </a:r>
            <a:endParaRPr lang="en-US" dirty="0"/>
          </a:p>
          <a:p>
            <a:r>
              <a:rPr lang="en-US" dirty="0"/>
              <a:t>The contract of a component abstracts the behavior of its </a:t>
            </a:r>
            <a:r>
              <a:rPr lang="en-US" dirty="0" smtClean="0"/>
              <a:t>implementation</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solidFill>
                  <a:srgbClr val="000000"/>
                </a:solidFill>
              </a:rPr>
              <a:pPr>
                <a:defRPr/>
              </a:pPr>
              <a:t>8</a:t>
            </a:fld>
            <a:endParaRPr lang="en-US">
              <a:solidFill>
                <a:srgbClr val="000000"/>
              </a:solidFill>
            </a:endParaRPr>
          </a:p>
        </p:txBody>
      </p:sp>
      <p:sp>
        <p:nvSpPr>
          <p:cNvPr id="5" name="Rounded Rectangle 4"/>
          <p:cNvSpPr/>
          <p:nvPr/>
        </p:nvSpPr>
        <p:spPr>
          <a:xfrm>
            <a:off x="6019800" y="2432304"/>
            <a:ext cx="2362200" cy="1066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Flowchart: Data 5"/>
          <p:cNvSpPr/>
          <p:nvPr/>
        </p:nvSpPr>
        <p:spPr>
          <a:xfrm>
            <a:off x="6324600" y="2737104"/>
            <a:ext cx="952500" cy="533400"/>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Flowchart: Data 6"/>
          <p:cNvSpPr/>
          <p:nvPr/>
        </p:nvSpPr>
        <p:spPr>
          <a:xfrm>
            <a:off x="7200900" y="2737104"/>
            <a:ext cx="952500" cy="533400"/>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8" name="Flowchart: Data 7"/>
          <p:cNvSpPr/>
          <p:nvPr/>
        </p:nvSpPr>
        <p:spPr>
          <a:xfrm>
            <a:off x="6172200" y="3733800"/>
            <a:ext cx="1905000" cy="768096"/>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Flowchart: Data 8"/>
          <p:cNvSpPr/>
          <p:nvPr/>
        </p:nvSpPr>
        <p:spPr>
          <a:xfrm>
            <a:off x="6362700" y="3962400"/>
            <a:ext cx="723900" cy="304800"/>
          </a:xfrm>
          <a:prstGeom prst="flowChartInputOutpu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Flowchart: Data 9"/>
          <p:cNvSpPr/>
          <p:nvPr/>
        </p:nvSpPr>
        <p:spPr>
          <a:xfrm>
            <a:off x="7086600" y="3962400"/>
            <a:ext cx="723900" cy="304800"/>
          </a:xfrm>
          <a:prstGeom prst="flowChartInputOutpu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11" name="Picture 8"/>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8155" t="3514" r="8140" b="15359"/>
          <a:stretch/>
        </p:blipFill>
        <p:spPr bwMode="auto">
          <a:xfrm>
            <a:off x="7010400" y="4817685"/>
            <a:ext cx="1828800" cy="1707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ounded Rectangle 12"/>
          <p:cNvSpPr/>
          <p:nvPr/>
        </p:nvSpPr>
        <p:spPr>
          <a:xfrm>
            <a:off x="5945495" y="609600"/>
            <a:ext cx="2735861" cy="1447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ounded Rectangle 13"/>
          <p:cNvSpPr/>
          <p:nvPr/>
        </p:nvSpPr>
        <p:spPr>
          <a:xfrm>
            <a:off x="6170725" y="838200"/>
            <a:ext cx="839675" cy="53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ounded Rectangle 14"/>
          <p:cNvSpPr/>
          <p:nvPr/>
        </p:nvSpPr>
        <p:spPr>
          <a:xfrm>
            <a:off x="7448550" y="762000"/>
            <a:ext cx="839675" cy="53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ounded Rectangle 15"/>
          <p:cNvSpPr/>
          <p:nvPr/>
        </p:nvSpPr>
        <p:spPr>
          <a:xfrm>
            <a:off x="7057287" y="1447800"/>
            <a:ext cx="839675" cy="53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0" name="Down Arrow 19"/>
          <p:cNvSpPr/>
          <p:nvPr/>
        </p:nvSpPr>
        <p:spPr>
          <a:xfrm>
            <a:off x="7313425" y="1905000"/>
            <a:ext cx="363725" cy="52730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1" name="Down Arrow 20"/>
          <p:cNvSpPr/>
          <p:nvPr/>
        </p:nvSpPr>
        <p:spPr>
          <a:xfrm>
            <a:off x="7313425" y="3206496"/>
            <a:ext cx="363725" cy="52730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Down Arrow 21"/>
          <p:cNvSpPr/>
          <p:nvPr/>
        </p:nvSpPr>
        <p:spPr>
          <a:xfrm rot="1283352">
            <a:off x="6297084" y="4157770"/>
            <a:ext cx="363725" cy="6782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3" name="Down Arrow 22"/>
          <p:cNvSpPr/>
          <p:nvPr/>
        </p:nvSpPr>
        <p:spPr>
          <a:xfrm rot="20253590">
            <a:off x="7445405" y="4128815"/>
            <a:ext cx="363725" cy="6782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4" name="Freeform 23"/>
          <p:cNvSpPr/>
          <p:nvPr/>
        </p:nvSpPr>
        <p:spPr>
          <a:xfrm>
            <a:off x="5648325" y="600075"/>
            <a:ext cx="219075" cy="3876675"/>
          </a:xfrm>
          <a:custGeom>
            <a:avLst/>
            <a:gdLst>
              <a:gd name="connsiteX0" fmla="*/ 219075 w 219075"/>
              <a:gd name="connsiteY0" fmla="*/ 0 h 3876675"/>
              <a:gd name="connsiteX1" fmla="*/ 0 w 219075"/>
              <a:gd name="connsiteY1" fmla="*/ 0 h 3876675"/>
              <a:gd name="connsiteX2" fmla="*/ 9525 w 219075"/>
              <a:gd name="connsiteY2" fmla="*/ 3876675 h 3876675"/>
              <a:gd name="connsiteX3" fmla="*/ 200025 w 219075"/>
              <a:gd name="connsiteY3" fmla="*/ 3876675 h 3876675"/>
            </a:gdLst>
            <a:ahLst/>
            <a:cxnLst>
              <a:cxn ang="0">
                <a:pos x="connsiteX0" y="connsiteY0"/>
              </a:cxn>
              <a:cxn ang="0">
                <a:pos x="connsiteX1" y="connsiteY1"/>
              </a:cxn>
              <a:cxn ang="0">
                <a:pos x="connsiteX2" y="connsiteY2"/>
              </a:cxn>
              <a:cxn ang="0">
                <a:pos x="connsiteX3" y="connsiteY3"/>
              </a:cxn>
            </a:cxnLst>
            <a:rect l="l" t="t" r="r" b="b"/>
            <a:pathLst>
              <a:path w="219075" h="3876675">
                <a:moveTo>
                  <a:pt x="219075" y="0"/>
                </a:moveTo>
                <a:lnTo>
                  <a:pt x="0" y="0"/>
                </a:lnTo>
                <a:lnTo>
                  <a:pt x="9525" y="3876675"/>
                </a:lnTo>
                <a:lnTo>
                  <a:pt x="200025" y="3876675"/>
                </a:ln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5" name="TextBox 24"/>
          <p:cNvSpPr txBox="1"/>
          <p:nvPr/>
        </p:nvSpPr>
        <p:spPr>
          <a:xfrm rot="16200000">
            <a:off x="4353065" y="2286000"/>
            <a:ext cx="2178802" cy="369332"/>
          </a:xfrm>
          <a:prstGeom prst="rect">
            <a:avLst/>
          </a:prstGeom>
          <a:noFill/>
        </p:spPr>
        <p:txBody>
          <a:bodyPr wrap="none" rtlCol="0">
            <a:spAutoFit/>
          </a:bodyPr>
          <a:lstStyle/>
          <a:p>
            <a:r>
              <a:rPr lang="en-US" b="1" dirty="0">
                <a:solidFill>
                  <a:srgbClr val="ABB41D"/>
                </a:solidFill>
              </a:rPr>
              <a:t>AGREE analysis</a:t>
            </a:r>
          </a:p>
        </p:txBody>
      </p:sp>
      <p:sp>
        <p:nvSpPr>
          <p:cNvPr id="26" name="TextBox 25"/>
          <p:cNvSpPr txBox="1"/>
          <p:nvPr/>
        </p:nvSpPr>
        <p:spPr>
          <a:xfrm rot="16200000">
            <a:off x="3469810" y="5461933"/>
            <a:ext cx="1811714" cy="523220"/>
          </a:xfrm>
          <a:prstGeom prst="rect">
            <a:avLst/>
          </a:prstGeom>
          <a:noFill/>
        </p:spPr>
        <p:txBody>
          <a:bodyPr wrap="none" rtlCol="0">
            <a:spAutoFit/>
          </a:bodyPr>
          <a:lstStyle/>
          <a:p>
            <a:pPr algn="ctr"/>
            <a:r>
              <a:rPr lang="en-US" sz="1400" b="1" dirty="0">
                <a:solidFill>
                  <a:srgbClr val="ABB41D"/>
                </a:solidFill>
              </a:rPr>
              <a:t>Component</a:t>
            </a:r>
          </a:p>
          <a:p>
            <a:pPr algn="ctr"/>
            <a:r>
              <a:rPr lang="en-US" sz="1400" b="1" dirty="0">
                <a:solidFill>
                  <a:srgbClr val="ABB41D"/>
                </a:solidFill>
              </a:rPr>
              <a:t>Implementation</a:t>
            </a:r>
          </a:p>
        </p:txBody>
      </p:sp>
      <p:sp>
        <p:nvSpPr>
          <p:cNvPr id="27" name="TextBox 26"/>
          <p:cNvSpPr txBox="1"/>
          <p:nvPr/>
        </p:nvSpPr>
        <p:spPr>
          <a:xfrm>
            <a:off x="6214514" y="816918"/>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28" name="TextBox 27"/>
          <p:cNvSpPr txBox="1"/>
          <p:nvPr/>
        </p:nvSpPr>
        <p:spPr>
          <a:xfrm>
            <a:off x="7508352" y="762000"/>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29" name="TextBox 28"/>
          <p:cNvSpPr txBox="1"/>
          <p:nvPr/>
        </p:nvSpPr>
        <p:spPr>
          <a:xfrm>
            <a:off x="7088515" y="1447800"/>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30" name="TextBox 29"/>
          <p:cNvSpPr txBox="1"/>
          <p:nvPr/>
        </p:nvSpPr>
        <p:spPr>
          <a:xfrm>
            <a:off x="6477000" y="2734872"/>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31" name="TextBox 30"/>
          <p:cNvSpPr txBox="1"/>
          <p:nvPr/>
        </p:nvSpPr>
        <p:spPr>
          <a:xfrm>
            <a:off x="7365083" y="2747826"/>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32" name="TextBox 31"/>
          <p:cNvSpPr txBox="1"/>
          <p:nvPr/>
        </p:nvSpPr>
        <p:spPr>
          <a:xfrm>
            <a:off x="6403231" y="3943910"/>
            <a:ext cx="663964" cy="215444"/>
          </a:xfrm>
          <a:prstGeom prst="rect">
            <a:avLst/>
          </a:prstGeom>
          <a:noFill/>
        </p:spPr>
        <p:txBody>
          <a:bodyPr wrap="none" rtlCol="0">
            <a:spAutoFit/>
          </a:bodyPr>
          <a:lstStyle/>
          <a:p>
            <a:r>
              <a:rPr lang="en-US" sz="800" b="1" dirty="0" smtClean="0">
                <a:solidFill>
                  <a:schemeClr val="accent1"/>
                </a:solidFill>
                <a:latin typeface="+mn-lt"/>
              </a:rPr>
              <a:t>contract</a:t>
            </a:r>
            <a:endParaRPr lang="en-US" sz="800" b="1" dirty="0">
              <a:solidFill>
                <a:schemeClr val="accent1"/>
              </a:solidFill>
              <a:latin typeface="+mn-lt"/>
            </a:endParaRPr>
          </a:p>
        </p:txBody>
      </p:sp>
      <p:sp>
        <p:nvSpPr>
          <p:cNvPr id="33" name="TextBox 32"/>
          <p:cNvSpPr txBox="1"/>
          <p:nvPr/>
        </p:nvSpPr>
        <p:spPr>
          <a:xfrm>
            <a:off x="7134225" y="3943910"/>
            <a:ext cx="663964" cy="215444"/>
          </a:xfrm>
          <a:prstGeom prst="rect">
            <a:avLst/>
          </a:prstGeom>
          <a:noFill/>
        </p:spPr>
        <p:txBody>
          <a:bodyPr wrap="none" rtlCol="0">
            <a:spAutoFit/>
          </a:bodyPr>
          <a:lstStyle/>
          <a:p>
            <a:r>
              <a:rPr lang="en-US" sz="800" b="1" dirty="0" smtClean="0">
                <a:solidFill>
                  <a:schemeClr val="accent1"/>
                </a:solidFill>
                <a:latin typeface="+mn-lt"/>
              </a:rPr>
              <a:t>contract</a:t>
            </a:r>
            <a:endParaRPr lang="en-US" sz="800" b="1" dirty="0">
              <a:solidFill>
                <a:schemeClr val="accent1"/>
              </a:solidFill>
              <a:latin typeface="+mn-lt"/>
            </a:endParaRPr>
          </a:p>
        </p:txBody>
      </p:sp>
    </p:spTree>
    <p:extLst>
      <p:ext uri="{BB962C8B-B14F-4D97-AF65-F5344CB8AC3E}">
        <p14:creationId xmlns:p14="http://schemas.microsoft.com/office/powerpoint/2010/main" val="271735009"/>
      </p:ext>
    </p:extLst>
  </p:cSld>
  <p:clrMapOvr>
    <a:masterClrMapping/>
  </p:clrMapOvr>
  <p:transition>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Arrow Connector 16"/>
          <p:cNvCxnSpPr>
            <a:stCxn id="1026" idx="3"/>
            <a:endCxn id="7" idx="1"/>
          </p:cNvCxnSpPr>
          <p:nvPr/>
        </p:nvCxnSpPr>
        <p:spPr>
          <a:xfrm>
            <a:off x="6903121" y="3785494"/>
            <a:ext cx="366349" cy="0"/>
          </a:xfrm>
          <a:prstGeom prst="straightConnector1">
            <a:avLst/>
          </a:prstGeom>
          <a:ln w="38100">
            <a:solidFill>
              <a:schemeClr val="tx1"/>
            </a:solidFill>
            <a:round/>
            <a:tailEnd type="arrow"/>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AGREE Translation</a:t>
            </a:r>
            <a:endParaRPr lang="en-US" dirty="0"/>
          </a:p>
        </p:txBody>
      </p:sp>
      <p:sp>
        <p:nvSpPr>
          <p:cNvPr id="3" name="Content Placeholder 2"/>
          <p:cNvSpPr>
            <a:spLocks noGrp="1"/>
          </p:cNvSpPr>
          <p:nvPr>
            <p:ph idx="1"/>
          </p:nvPr>
        </p:nvSpPr>
        <p:spPr>
          <a:xfrm>
            <a:off x="771525" y="1524000"/>
            <a:ext cx="7924800" cy="4525963"/>
          </a:xfrm>
        </p:spPr>
        <p:txBody>
          <a:bodyPr/>
          <a:lstStyle/>
          <a:p>
            <a:r>
              <a:rPr lang="en-US" dirty="0" smtClean="0"/>
              <a:t>Translates AADL models with AGREE annotations into Lustre for analysis by k-induction model checkers</a:t>
            </a:r>
          </a:p>
          <a:p>
            <a:pPr lvl="1"/>
            <a:r>
              <a:rPr lang="en-US" dirty="0" smtClean="0"/>
              <a:t>Kind 2 (University of Iowa)</a:t>
            </a:r>
          </a:p>
          <a:p>
            <a:pPr lvl="1"/>
            <a:r>
              <a:rPr lang="en-US" dirty="0" err="1" smtClean="0"/>
              <a:t>JKind</a:t>
            </a:r>
            <a:r>
              <a:rPr lang="en-US" dirty="0" smtClean="0"/>
              <a:t> (Rockwell Collins)</a:t>
            </a:r>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9</a:t>
            </a:fld>
            <a:endParaRPr lang="en-US"/>
          </a:p>
        </p:txBody>
      </p:sp>
      <p:pic>
        <p:nvPicPr>
          <p:cNvPr id="5"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2668" y="3058810"/>
            <a:ext cx="2561679" cy="1478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9468" y="3048000"/>
            <a:ext cx="1803653" cy="147498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7" name="Rectangle 6"/>
          <p:cNvSpPr/>
          <p:nvPr/>
        </p:nvSpPr>
        <p:spPr>
          <a:xfrm>
            <a:off x="7269470" y="3048000"/>
            <a:ext cx="1493530" cy="1474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Kind 2</a:t>
            </a:r>
            <a:endParaRPr lang="en-US" b="1" dirty="0"/>
          </a:p>
          <a:p>
            <a:pPr algn="ctr"/>
            <a:r>
              <a:rPr lang="en-US" b="1" dirty="0"/>
              <a:t>or</a:t>
            </a:r>
          </a:p>
          <a:p>
            <a:pPr algn="ctr"/>
            <a:r>
              <a:rPr lang="en-US" b="1" dirty="0" err="1" smtClean="0"/>
              <a:t>JKind</a:t>
            </a:r>
            <a:endParaRPr lang="en-US" b="1" dirty="0"/>
          </a:p>
        </p:txBody>
      </p:sp>
      <p:sp>
        <p:nvSpPr>
          <p:cNvPr id="8" name="Rectangle 7"/>
          <p:cNvSpPr/>
          <p:nvPr/>
        </p:nvSpPr>
        <p:spPr>
          <a:xfrm>
            <a:off x="104776" y="3743206"/>
            <a:ext cx="310732" cy="6827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endCxn id="18" idx="1"/>
          </p:cNvCxnSpPr>
          <p:nvPr/>
        </p:nvCxnSpPr>
        <p:spPr>
          <a:xfrm>
            <a:off x="2784347" y="3783655"/>
            <a:ext cx="410121" cy="1839"/>
          </a:xfrm>
          <a:prstGeom prst="straightConnector1">
            <a:avLst/>
          </a:prstGeom>
          <a:ln w="38100">
            <a:solidFill>
              <a:schemeClr val="tx1"/>
            </a:solidFill>
            <a:round/>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591090" y="4527030"/>
            <a:ext cx="879978" cy="369332"/>
          </a:xfrm>
          <a:prstGeom prst="rect">
            <a:avLst/>
          </a:prstGeom>
          <a:noFill/>
        </p:spPr>
        <p:txBody>
          <a:bodyPr wrap="square" rtlCol="0">
            <a:spAutoFit/>
          </a:bodyPr>
          <a:lstStyle/>
          <a:p>
            <a:r>
              <a:rPr lang="en-US" dirty="0" err="1" smtClean="0"/>
              <a:t>Lustre</a:t>
            </a:r>
            <a:endParaRPr lang="en-US" dirty="0"/>
          </a:p>
        </p:txBody>
      </p:sp>
      <p:sp>
        <p:nvSpPr>
          <p:cNvPr id="16" name="TextBox 15"/>
          <p:cNvSpPr txBox="1"/>
          <p:nvPr/>
        </p:nvSpPr>
        <p:spPr>
          <a:xfrm>
            <a:off x="1295400" y="4522224"/>
            <a:ext cx="879978" cy="369332"/>
          </a:xfrm>
          <a:prstGeom prst="rect">
            <a:avLst/>
          </a:prstGeom>
          <a:noFill/>
        </p:spPr>
        <p:txBody>
          <a:bodyPr wrap="square" rtlCol="0">
            <a:spAutoFit/>
          </a:bodyPr>
          <a:lstStyle/>
          <a:p>
            <a:r>
              <a:rPr lang="en-US" dirty="0" smtClean="0"/>
              <a:t>AADL</a:t>
            </a:r>
            <a:endParaRPr lang="en-US" dirty="0"/>
          </a:p>
        </p:txBody>
      </p:sp>
      <p:sp>
        <p:nvSpPr>
          <p:cNvPr id="18" name="Rectangle 17"/>
          <p:cNvSpPr/>
          <p:nvPr/>
        </p:nvSpPr>
        <p:spPr>
          <a:xfrm>
            <a:off x="3194468" y="3048000"/>
            <a:ext cx="1493530" cy="1474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AGREE</a:t>
            </a:r>
            <a:endParaRPr lang="en-US" b="1" dirty="0"/>
          </a:p>
        </p:txBody>
      </p:sp>
      <p:cxnSp>
        <p:nvCxnSpPr>
          <p:cNvPr id="20" name="Straight Arrow Connector 19"/>
          <p:cNvCxnSpPr>
            <a:stCxn id="18" idx="3"/>
            <a:endCxn id="1026" idx="1"/>
          </p:cNvCxnSpPr>
          <p:nvPr/>
        </p:nvCxnSpPr>
        <p:spPr>
          <a:xfrm>
            <a:off x="4687998" y="3785494"/>
            <a:ext cx="411470" cy="0"/>
          </a:xfrm>
          <a:prstGeom prst="straightConnector1">
            <a:avLst/>
          </a:prstGeom>
          <a:ln w="38100">
            <a:solidFill>
              <a:schemeClr val="tx1"/>
            </a:solidFill>
            <a:round/>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7269470" y="4591562"/>
            <a:ext cx="1493530" cy="1295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Your favorite SMT solver</a:t>
            </a:r>
            <a:endParaRPr lang="en-US" b="1" dirty="0"/>
          </a:p>
        </p:txBody>
      </p:sp>
      <p:sp>
        <p:nvSpPr>
          <p:cNvPr id="6" name="Rectangular Callout 5"/>
          <p:cNvSpPr/>
          <p:nvPr/>
        </p:nvSpPr>
        <p:spPr>
          <a:xfrm>
            <a:off x="5410200" y="5124962"/>
            <a:ext cx="1447800" cy="1066800"/>
          </a:xfrm>
          <a:prstGeom prst="wedgeRectCallout">
            <a:avLst>
              <a:gd name="adj1" fmla="val 98245"/>
              <a:gd name="adj2" fmla="val -25893"/>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t>Z3</a:t>
            </a:r>
          </a:p>
          <a:p>
            <a:r>
              <a:rPr lang="en-US" sz="1400" dirty="0" smtClean="0"/>
              <a:t>CMC4</a:t>
            </a:r>
          </a:p>
          <a:p>
            <a:r>
              <a:rPr lang="en-US" sz="1400" dirty="0" smtClean="0"/>
              <a:t>Yikes</a:t>
            </a:r>
          </a:p>
          <a:p>
            <a:r>
              <a:rPr lang="en-US" sz="1400" dirty="0" err="1" smtClean="0"/>
              <a:t>SMTInterpol</a:t>
            </a:r>
            <a:endParaRPr lang="en-US" sz="1400" dirty="0"/>
          </a:p>
        </p:txBody>
      </p:sp>
    </p:spTree>
    <p:extLst>
      <p:ext uri="{BB962C8B-B14F-4D97-AF65-F5344CB8AC3E}">
        <p14:creationId xmlns:p14="http://schemas.microsoft.com/office/powerpoint/2010/main" val="2566296505"/>
      </p:ext>
    </p:extLst>
  </p:cSld>
  <p:clrMapOvr>
    <a:masterClrMapping/>
  </p:clrMapOvr>
  <p:transition spd="slow">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FLM vs. FEM</a:t>
            </a:r>
            <a:endParaRPr lang="en-US" dirty="0"/>
          </a:p>
        </p:txBody>
      </p:sp>
      <p:sp>
        <p:nvSpPr>
          <p:cNvPr id="3" name="Content Placeholder 2"/>
          <p:cNvSpPr>
            <a:spLocks noGrp="1"/>
          </p:cNvSpPr>
          <p:nvPr>
            <p:ph idx="1"/>
          </p:nvPr>
        </p:nvSpPr>
        <p:spPr>
          <a:xfrm>
            <a:off x="685800" y="2514600"/>
            <a:ext cx="7924800" cy="3886200"/>
          </a:xfrm>
        </p:spPr>
        <p:txBody>
          <a:bodyPr/>
          <a:lstStyle/>
          <a:p>
            <a:r>
              <a:rPr lang="en-US" dirty="0" smtClean="0"/>
              <a:t>Failure Logic Modeling (FLM): Failure propagation is </a:t>
            </a:r>
            <a:r>
              <a:rPr lang="en-US" b="1" i="1" dirty="0" smtClean="0"/>
              <a:t>explicit</a:t>
            </a:r>
          </a:p>
          <a:p>
            <a:pPr lvl="1"/>
            <a:r>
              <a:rPr lang="en-US" dirty="0" smtClean="0"/>
              <a:t>Component failure information is propagated to “downstream” components</a:t>
            </a:r>
          </a:p>
          <a:p>
            <a:pPr lvl="1"/>
            <a:r>
              <a:rPr lang="en-US" dirty="0" smtClean="0"/>
              <a:t>Analysis proceeds by determining whether failure reaches system boundary</a:t>
            </a:r>
          </a:p>
          <a:p>
            <a:r>
              <a:rPr lang="en-US" dirty="0" smtClean="0"/>
              <a:t>Failure Effect Modeling (FEM): Failure propagation is </a:t>
            </a:r>
            <a:r>
              <a:rPr lang="en-US" b="1" i="1" dirty="0" smtClean="0"/>
              <a:t>implicit</a:t>
            </a:r>
            <a:endParaRPr lang="en-US" dirty="0" smtClean="0"/>
          </a:p>
          <a:p>
            <a:pPr lvl="1"/>
            <a:r>
              <a:rPr lang="en-US" dirty="0" smtClean="0"/>
              <a:t>System dynamics are present in a </a:t>
            </a:r>
            <a:r>
              <a:rPr lang="en-US" i="1" dirty="0" smtClean="0"/>
              <a:t>nominal </a:t>
            </a:r>
            <a:r>
              <a:rPr lang="en-US" dirty="0" smtClean="0"/>
              <a:t>behavioral model</a:t>
            </a:r>
          </a:p>
          <a:p>
            <a:pPr lvl="1"/>
            <a:r>
              <a:rPr lang="en-US" dirty="0" smtClean="0"/>
              <a:t>Component Failures are described by their affect on variables in component dynamics</a:t>
            </a:r>
          </a:p>
          <a:p>
            <a:pPr lvl="1"/>
            <a:r>
              <a:rPr lang="en-US" dirty="0" smtClean="0"/>
              <a:t>Propagation occurs via continued effect on dynamics of “downstream” components</a:t>
            </a:r>
          </a:p>
          <a:p>
            <a:pPr lvl="1"/>
            <a:r>
              <a:rPr lang="en-US" dirty="0" smtClean="0"/>
              <a:t>Analysis proceeds by determining whether system dynamics are still acceptable in the presence of component failures.</a:t>
            </a:r>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10</a:t>
            </a:fld>
            <a:endParaRPr lang="en-US"/>
          </a:p>
        </p:txBody>
      </p:sp>
      <p:sp>
        <p:nvSpPr>
          <p:cNvPr id="5" name="Rectangle 4"/>
          <p:cNvSpPr/>
          <p:nvPr/>
        </p:nvSpPr>
        <p:spPr>
          <a:xfrm>
            <a:off x="876300" y="1524000"/>
            <a:ext cx="7696200" cy="830997"/>
          </a:xfrm>
          <a:prstGeom prst="rect">
            <a:avLst/>
          </a:prstGeom>
          <a:ln>
            <a:solidFill>
              <a:schemeClr val="tx1"/>
            </a:solidFill>
          </a:ln>
        </p:spPr>
        <p:txBody>
          <a:bodyPr wrap="square">
            <a:spAutoFit/>
          </a:bodyPr>
          <a:lstStyle/>
          <a:p>
            <a:pPr marL="0" indent="0">
              <a:buNone/>
            </a:pPr>
            <a:r>
              <a:rPr lang="en-US" sz="1600" i="1" dirty="0"/>
              <a:t>Terminology </a:t>
            </a:r>
            <a:r>
              <a:rPr lang="en-US" sz="1600" i="1" dirty="0" smtClean="0"/>
              <a:t>from: </a:t>
            </a:r>
            <a:r>
              <a:rPr lang="en-US" sz="1600" i="1" dirty="0"/>
              <a:t>O. </a:t>
            </a:r>
            <a:r>
              <a:rPr lang="en-US" sz="1600" i="1" dirty="0" err="1"/>
              <a:t>Lisagor</a:t>
            </a:r>
            <a:r>
              <a:rPr lang="en-US" sz="1600" i="1" dirty="0"/>
              <a:t>, T. Kelly, and R. </a:t>
            </a:r>
            <a:r>
              <a:rPr lang="en-US" sz="1600" i="1" dirty="0" err="1"/>
              <a:t>Niu</a:t>
            </a:r>
            <a:r>
              <a:rPr lang="en-US" sz="1600" i="1" dirty="0"/>
              <a:t>. Model-based safety assessment: Review of the discipline and its challenges. In The Proceedings of 2011 9th International Conference on Reliability, Maintainability and Safety</a:t>
            </a:r>
          </a:p>
        </p:txBody>
      </p:sp>
    </p:spTree>
    <p:extLst>
      <p:ext uri="{BB962C8B-B14F-4D97-AF65-F5344CB8AC3E}">
        <p14:creationId xmlns:p14="http://schemas.microsoft.com/office/powerpoint/2010/main" val="956263094"/>
      </p:ext>
    </p:extLst>
  </p:cSld>
  <p:clrMapOvr>
    <a:masterClrMapping/>
  </p:clrMapOvr>
  <p:transition>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en-US" altLang="en-US" dirty="0" smtClean="0"/>
              <a:t>AMASE Technical Approach</a:t>
            </a:r>
            <a:endParaRPr lang="en-US" altLang="en-US" dirty="0"/>
          </a:p>
        </p:txBody>
      </p:sp>
      <p:sp>
        <p:nvSpPr>
          <p:cNvPr id="132099" name="Rectangle 3"/>
          <p:cNvSpPr>
            <a:spLocks noGrp="1" noChangeArrowheads="1"/>
          </p:cNvSpPr>
          <p:nvPr>
            <p:ph type="body" idx="1"/>
          </p:nvPr>
        </p:nvSpPr>
        <p:spPr/>
        <p:txBody>
          <a:bodyPr/>
          <a:lstStyle/>
          <a:p>
            <a:r>
              <a:rPr lang="en-US" altLang="en-US" dirty="0" smtClean="0"/>
              <a:t>Update previous NASA-sponsored work on MBSA using current generation of MBSE tools and recent research</a:t>
            </a:r>
          </a:p>
          <a:p>
            <a:r>
              <a:rPr lang="en-US" altLang="en-US" dirty="0" smtClean="0"/>
              <a:t>Extend our AADL </a:t>
            </a:r>
            <a:r>
              <a:rPr lang="en-US" altLang="en-US" dirty="0"/>
              <a:t>system architecture modeling and analysis tools </a:t>
            </a:r>
            <a:r>
              <a:rPr lang="en-US" altLang="en-US" dirty="0" smtClean="0"/>
              <a:t>to implement new safety analysis capabilities based on FEM approach to fault modeling/propagation</a:t>
            </a:r>
            <a:endParaRPr lang="en-US" altLang="en-US" dirty="0"/>
          </a:p>
          <a:p>
            <a:r>
              <a:rPr lang="en-US" altLang="en-US" dirty="0" smtClean="0"/>
              <a:t>Develop example systems based on</a:t>
            </a:r>
          </a:p>
          <a:p>
            <a:pPr lvl="1"/>
            <a:r>
              <a:rPr lang="en-US" altLang="en-US" dirty="0" smtClean="0"/>
              <a:t>Wheel Braking System in SAE AIR6110</a:t>
            </a:r>
          </a:p>
          <a:p>
            <a:pPr lvl="1"/>
            <a:r>
              <a:rPr lang="en-US" altLang="en-US" dirty="0" smtClean="0"/>
              <a:t>NASA quad-redundant flight control system (QFCS)</a:t>
            </a:r>
          </a:p>
          <a:p>
            <a:pPr lvl="1"/>
            <a:r>
              <a:rPr lang="en-US" altLang="en-US" dirty="0" smtClean="0"/>
              <a:t>HACMS unmanned aircraft (or comparable systems)</a:t>
            </a:r>
          </a:p>
          <a:p>
            <a:r>
              <a:rPr lang="en-US" altLang="en-US" dirty="0" smtClean="0"/>
              <a:t>Link to system safety objectives in ARP4754A/4761 to demonstrate effectiveness in certification</a:t>
            </a:r>
          </a:p>
          <a:p>
            <a:endParaRPr lang="en-US" altLang="en-US" dirty="0" smtClean="0"/>
          </a:p>
        </p:txBody>
      </p:sp>
      <p:sp>
        <p:nvSpPr>
          <p:cNvPr id="4" name="Slide Number Placeholder 3"/>
          <p:cNvSpPr>
            <a:spLocks noGrp="1"/>
          </p:cNvSpPr>
          <p:nvPr>
            <p:ph type="sldNum" sz="quarter" idx="10"/>
          </p:nvPr>
        </p:nvSpPr>
        <p:spPr/>
        <p:txBody>
          <a:bodyPr/>
          <a:lstStyle/>
          <a:p>
            <a:fld id="{D37315C4-5A22-45B4-938B-0C05F6007493}" type="slidenum">
              <a:rPr lang="en-US" altLang="en-US" smtClean="0"/>
              <a:pPr/>
              <a:t>11</a:t>
            </a:fld>
            <a:endParaRPr lang="en-US" altLang="en-US"/>
          </a:p>
        </p:txBody>
      </p:sp>
      <p:sp>
        <p:nvSpPr>
          <p:cNvPr id="5" name="TextBox 4"/>
          <p:cNvSpPr txBox="1"/>
          <p:nvPr/>
        </p:nvSpPr>
        <p:spPr>
          <a:xfrm>
            <a:off x="2209800" y="18288"/>
            <a:ext cx="6324600" cy="369332"/>
          </a:xfrm>
          <a:prstGeom prst="rect">
            <a:avLst/>
          </a:prstGeom>
          <a:noFill/>
        </p:spPr>
        <p:txBody>
          <a:bodyPr wrap="square" rtlCol="0">
            <a:spAutoFit/>
          </a:bodyPr>
          <a:lstStyle/>
          <a:p>
            <a:r>
              <a:rPr lang="en-US" b="1" dirty="0" smtClean="0">
                <a:solidFill>
                  <a:srgbClr val="FF0000"/>
                </a:solidFill>
              </a:rPr>
              <a:t>HACMS example for year-3 still applicable?</a:t>
            </a:r>
          </a:p>
        </p:txBody>
      </p:sp>
    </p:spTree>
    <p:extLst>
      <p:ext uri="{BB962C8B-B14F-4D97-AF65-F5344CB8AC3E}">
        <p14:creationId xmlns:p14="http://schemas.microsoft.com/office/powerpoint/2010/main" val="2156971881"/>
      </p:ext>
    </p:extLst>
  </p:cSld>
  <p:clrMapOvr>
    <a:masterClrMapping/>
  </p:clrMapOvr>
  <p:transition>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Year 2 Statement of Work</a:t>
            </a:r>
            <a:endParaRPr lang="en-US" dirty="0"/>
          </a:p>
        </p:txBody>
      </p:sp>
      <p:sp>
        <p:nvSpPr>
          <p:cNvPr id="3" name="Content Placeholder 2"/>
          <p:cNvSpPr>
            <a:spLocks noGrp="1"/>
          </p:cNvSpPr>
          <p:nvPr>
            <p:ph idx="1"/>
          </p:nvPr>
        </p:nvSpPr>
        <p:spPr>
          <a:xfrm>
            <a:off x="762000" y="1600200"/>
            <a:ext cx="8001000" cy="4525963"/>
          </a:xfrm>
        </p:spPr>
        <p:txBody>
          <a:bodyPr/>
          <a:lstStyle/>
          <a:p>
            <a:pPr marL="742950" indent="-742950">
              <a:buNone/>
            </a:pPr>
            <a:r>
              <a:rPr lang="en-US" sz="1600" b="1" dirty="0"/>
              <a:t>3.2.1 	Apply</a:t>
            </a:r>
            <a:r>
              <a:rPr lang="en-US" sz="1600" dirty="0"/>
              <a:t> the MBSA process and tools developed in Phase 1 to a system representative in complexity/size of fielded systems in the National Airspace (NAS) – for example, NASA Quad-redundant Flight Control System (QFCS). Evaluate and address </a:t>
            </a:r>
            <a:r>
              <a:rPr lang="en-US" sz="1600" b="1" dirty="0"/>
              <a:t>scalability</a:t>
            </a:r>
            <a:r>
              <a:rPr lang="en-US" sz="1600" dirty="0"/>
              <a:t> issues identified by </a:t>
            </a:r>
            <a:r>
              <a:rPr lang="en-US" sz="1600" b="1" dirty="0"/>
              <a:t>extending</a:t>
            </a:r>
            <a:r>
              <a:rPr lang="en-US" sz="1600" dirty="0"/>
              <a:t> the analysis framework from the Phase 1 (feasibility) model to the MBSA I system model and conduct demonstrations.</a:t>
            </a:r>
            <a:endParaRPr lang="en-US" sz="1600" b="1" dirty="0"/>
          </a:p>
          <a:p>
            <a:pPr marL="742950" indent="-742950">
              <a:buNone/>
            </a:pPr>
            <a:r>
              <a:rPr lang="en-US" sz="1600" b="1" dirty="0"/>
              <a:t>3.2.2 	Document</a:t>
            </a:r>
            <a:r>
              <a:rPr lang="en-US" sz="1600" dirty="0"/>
              <a:t> the MBSA approach/process including data definitions and analysis steps, illustrated with the methodology used to define and assess MBSA I models. The Contractor shall document results of scalability analysis conducted under 3.2.1.  Document any refinements to the analysis framework necessary to transition to analysis of the MBSA I system in 3.2.1. </a:t>
            </a:r>
          </a:p>
          <a:p>
            <a:pPr marL="742950" indent="-742950">
              <a:buNone/>
            </a:pPr>
            <a:r>
              <a:rPr lang="en-US" sz="1600" b="1" dirty="0"/>
              <a:t>3.2.3 	</a:t>
            </a:r>
            <a:r>
              <a:rPr lang="en-US" sz="1600" dirty="0"/>
              <a:t>Conference paper. </a:t>
            </a:r>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12</a:t>
            </a:fld>
            <a:endParaRPr lang="en-US"/>
          </a:p>
        </p:txBody>
      </p:sp>
    </p:spTree>
    <p:extLst>
      <p:ext uri="{BB962C8B-B14F-4D97-AF65-F5344CB8AC3E}">
        <p14:creationId xmlns:p14="http://schemas.microsoft.com/office/powerpoint/2010/main" val="3774317512"/>
      </p:ext>
    </p:extLst>
  </p:cSld>
  <p:clrMapOvr>
    <a:masterClrMapping/>
  </p:clrMapOvr>
  <p:transition>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Straight Connector 51"/>
          <p:cNvCxnSpPr/>
          <p:nvPr/>
        </p:nvCxnSpPr>
        <p:spPr bwMode="auto">
          <a:xfrm>
            <a:off x="6891423" y="1956570"/>
            <a:ext cx="0" cy="2844030"/>
          </a:xfrm>
          <a:prstGeom prst="line">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1" name="Straight Connector 20"/>
          <p:cNvCxnSpPr/>
          <p:nvPr/>
        </p:nvCxnSpPr>
        <p:spPr bwMode="auto">
          <a:xfrm>
            <a:off x="3009900" y="1956570"/>
            <a:ext cx="0" cy="2844030"/>
          </a:xfrm>
          <a:prstGeom prst="line">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8" name="Straight Connector 37"/>
          <p:cNvCxnSpPr/>
          <p:nvPr/>
        </p:nvCxnSpPr>
        <p:spPr bwMode="auto">
          <a:xfrm>
            <a:off x="5410200" y="1956570"/>
            <a:ext cx="0" cy="2844030"/>
          </a:xfrm>
          <a:prstGeom prst="line">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9" name="Straight Connector 38"/>
          <p:cNvCxnSpPr/>
          <p:nvPr/>
        </p:nvCxnSpPr>
        <p:spPr bwMode="auto">
          <a:xfrm>
            <a:off x="8264549" y="1956570"/>
            <a:ext cx="0" cy="2844030"/>
          </a:xfrm>
          <a:prstGeom prst="line">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1268" name="Rectangle 2"/>
          <p:cNvSpPr>
            <a:spLocks noGrp="1" noChangeArrowheads="1"/>
          </p:cNvSpPr>
          <p:nvPr>
            <p:ph type="title"/>
          </p:nvPr>
        </p:nvSpPr>
        <p:spPr/>
        <p:txBody>
          <a:bodyPr/>
          <a:lstStyle/>
          <a:p>
            <a:pPr eaLnBrk="1" hangingPunct="1"/>
            <a:r>
              <a:rPr lang="en-US" dirty="0" smtClean="0"/>
              <a:t>Year 2 Schedule</a:t>
            </a:r>
          </a:p>
        </p:txBody>
      </p:sp>
      <p:sp>
        <p:nvSpPr>
          <p:cNvPr id="5" name="Slide Number Placeholder 1"/>
          <p:cNvSpPr>
            <a:spLocks noGrp="1"/>
          </p:cNvSpPr>
          <p:nvPr>
            <p:ph type="sldNum" sz="quarter" idx="10"/>
          </p:nvPr>
        </p:nvSpPr>
        <p:spPr/>
        <p:txBody>
          <a:bodyPr/>
          <a:lstStyle/>
          <a:p>
            <a:pPr>
              <a:defRPr/>
            </a:pPr>
            <a:fld id="{CFEF3BC8-9D5B-4072-9C94-A2A1C52285CD}" type="slidenum">
              <a:rPr lang="en-US"/>
              <a:pPr>
                <a:defRPr/>
              </a:pPr>
              <a:t>13</a:t>
            </a:fld>
            <a:endParaRPr lang="en-US" dirty="0"/>
          </a:p>
        </p:txBody>
      </p:sp>
      <p:sp>
        <p:nvSpPr>
          <p:cNvPr id="4" name="Slide Number Placeholder 3"/>
          <p:cNvSpPr txBox="1">
            <a:spLocks noGrp="1"/>
          </p:cNvSpPr>
          <p:nvPr/>
        </p:nvSpPr>
        <p:spPr bwMode="auto">
          <a:xfrm>
            <a:off x="7848600" y="6477000"/>
            <a:ext cx="849313" cy="244475"/>
          </a:xfrm>
          <a:prstGeom prst="rect">
            <a:avLst/>
          </a:prstGeom>
          <a:noFill/>
          <a:ln>
            <a:miter lim="800000"/>
            <a:headEnd/>
            <a:tailEnd/>
          </a:ln>
        </p:spPr>
        <p:txBody>
          <a:bodyPr/>
          <a:lstStyle/>
          <a:p>
            <a:pPr algn="r">
              <a:defRPr/>
            </a:pPr>
            <a:fld id="{0365C265-587E-42A1-951A-998641590C8F}" type="slidenum">
              <a:rPr lang="en-US" sz="1000">
                <a:latin typeface="+mn-lt"/>
              </a:rPr>
              <a:pPr algn="r">
                <a:defRPr/>
              </a:pPr>
              <a:t>13</a:t>
            </a:fld>
            <a:endParaRPr lang="en-US" sz="1000" dirty="0">
              <a:latin typeface="+mn-lt"/>
            </a:endParaRPr>
          </a:p>
        </p:txBody>
      </p:sp>
      <p:grpSp>
        <p:nvGrpSpPr>
          <p:cNvPr id="3" name="Group 2"/>
          <p:cNvGrpSpPr/>
          <p:nvPr/>
        </p:nvGrpSpPr>
        <p:grpSpPr>
          <a:xfrm>
            <a:off x="3000375" y="1600200"/>
            <a:ext cx="5486400" cy="229486"/>
            <a:chOff x="914400" y="2513714"/>
            <a:chExt cx="5486400" cy="229486"/>
          </a:xfrm>
        </p:grpSpPr>
        <p:sp>
          <p:nvSpPr>
            <p:cNvPr id="2" name="Rectangle 1"/>
            <p:cNvSpPr/>
            <p:nvPr/>
          </p:nvSpPr>
          <p:spPr bwMode="auto">
            <a:xfrm>
              <a:off x="9144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OCT</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8" name="Rectangle 7"/>
            <p:cNvSpPr/>
            <p:nvPr/>
          </p:nvSpPr>
          <p:spPr bwMode="auto">
            <a:xfrm>
              <a:off x="1371600" y="2513714"/>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NOV</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9" name="Rectangle 8"/>
            <p:cNvSpPr/>
            <p:nvPr/>
          </p:nvSpPr>
          <p:spPr bwMode="auto">
            <a:xfrm>
              <a:off x="1828800" y="2513714"/>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100" dirty="0" smtClean="0">
                  <a:solidFill>
                    <a:srgbClr val="000000"/>
                  </a:solidFill>
                  <a:latin typeface="Arial Narrow" panose="020B0606020202030204" pitchFamily="34" charset="0"/>
                  <a:ea typeface="ＭＳ Ｐゴシック" charset="0"/>
                  <a:cs typeface="Arial" charset="0"/>
                </a:rPr>
                <a:t>DEC</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0" name="Rectangle 9"/>
            <p:cNvSpPr/>
            <p:nvPr/>
          </p:nvSpPr>
          <p:spPr bwMode="auto">
            <a:xfrm>
              <a:off x="22860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JAN</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1" name="Rectangle 10"/>
            <p:cNvSpPr/>
            <p:nvPr/>
          </p:nvSpPr>
          <p:spPr bwMode="auto">
            <a:xfrm>
              <a:off x="27432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FEB</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2" name="Rectangle 11"/>
            <p:cNvSpPr/>
            <p:nvPr/>
          </p:nvSpPr>
          <p:spPr bwMode="auto">
            <a:xfrm>
              <a:off x="32004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100" dirty="0" smtClean="0">
                  <a:solidFill>
                    <a:srgbClr val="000000"/>
                  </a:solidFill>
                  <a:latin typeface="Arial Narrow" panose="020B0606020202030204" pitchFamily="34" charset="0"/>
                  <a:ea typeface="ＭＳ Ｐゴシック" charset="0"/>
                  <a:cs typeface="Arial" charset="0"/>
                </a:rPr>
                <a:t>MAR</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3" name="Rectangle 12"/>
            <p:cNvSpPr/>
            <p:nvPr/>
          </p:nvSpPr>
          <p:spPr bwMode="auto">
            <a:xfrm>
              <a:off x="36576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APR</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4" name="Rectangle 13"/>
            <p:cNvSpPr/>
            <p:nvPr/>
          </p:nvSpPr>
          <p:spPr bwMode="auto">
            <a:xfrm>
              <a:off x="41148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MAY</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5" name="Rectangle 14"/>
            <p:cNvSpPr/>
            <p:nvPr/>
          </p:nvSpPr>
          <p:spPr bwMode="auto">
            <a:xfrm>
              <a:off x="45720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100" dirty="0" smtClean="0">
                  <a:solidFill>
                    <a:srgbClr val="000000"/>
                  </a:solidFill>
                  <a:latin typeface="Arial Narrow" panose="020B0606020202030204" pitchFamily="34" charset="0"/>
                  <a:ea typeface="ＭＳ Ｐゴシック" charset="0"/>
                  <a:cs typeface="Arial" charset="0"/>
                </a:rPr>
                <a:t>JUN</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6" name="Rectangle 15"/>
            <p:cNvSpPr/>
            <p:nvPr/>
          </p:nvSpPr>
          <p:spPr bwMode="auto">
            <a:xfrm>
              <a:off x="50292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JUL</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7" name="Rectangle 16"/>
            <p:cNvSpPr/>
            <p:nvPr/>
          </p:nvSpPr>
          <p:spPr bwMode="auto">
            <a:xfrm>
              <a:off x="54864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AUG</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8" name="Rectangle 17"/>
            <p:cNvSpPr/>
            <p:nvPr/>
          </p:nvSpPr>
          <p:spPr bwMode="auto">
            <a:xfrm>
              <a:off x="59436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100" dirty="0" smtClean="0">
                  <a:solidFill>
                    <a:srgbClr val="000000"/>
                  </a:solidFill>
                  <a:latin typeface="Arial Narrow" panose="020B0606020202030204" pitchFamily="34" charset="0"/>
                  <a:ea typeface="ＭＳ Ｐゴシック" charset="0"/>
                  <a:cs typeface="Arial" charset="0"/>
                </a:rPr>
                <a:t>SEP</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grpSp>
      <p:sp>
        <p:nvSpPr>
          <p:cNvPr id="7" name="TextBox 6"/>
          <p:cNvSpPr txBox="1"/>
          <p:nvPr/>
        </p:nvSpPr>
        <p:spPr>
          <a:xfrm>
            <a:off x="990600" y="1956570"/>
            <a:ext cx="1958934" cy="307777"/>
          </a:xfrm>
          <a:prstGeom prst="rect">
            <a:avLst/>
          </a:prstGeom>
          <a:noFill/>
        </p:spPr>
        <p:txBody>
          <a:bodyPr wrap="none" rtlCol="0">
            <a:spAutoFit/>
          </a:bodyPr>
          <a:lstStyle/>
          <a:p>
            <a:r>
              <a:rPr lang="en-US" sz="1400" dirty="0" smtClean="0"/>
              <a:t>Application of MBSA I</a:t>
            </a:r>
            <a:endParaRPr lang="en-US" sz="1400" dirty="0"/>
          </a:p>
        </p:txBody>
      </p:sp>
      <p:sp>
        <p:nvSpPr>
          <p:cNvPr id="19" name="Isosceles Triangle 18"/>
          <p:cNvSpPr/>
          <p:nvPr/>
        </p:nvSpPr>
        <p:spPr bwMode="auto">
          <a:xfrm>
            <a:off x="8153400" y="4098670"/>
            <a:ext cx="228600" cy="224972"/>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Arial" charset="0"/>
              <a:ea typeface="ＭＳ Ｐゴシック" charset="0"/>
              <a:cs typeface="Arial" charset="0"/>
            </a:endParaRPr>
          </a:p>
        </p:txBody>
      </p:sp>
      <p:sp>
        <p:nvSpPr>
          <p:cNvPr id="23" name="Isosceles Triangle 22"/>
          <p:cNvSpPr/>
          <p:nvPr/>
        </p:nvSpPr>
        <p:spPr bwMode="auto">
          <a:xfrm>
            <a:off x="2895600" y="3197423"/>
            <a:ext cx="228600" cy="224972"/>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Arial" charset="0"/>
              <a:ea typeface="ＭＳ Ｐゴシック" charset="0"/>
              <a:cs typeface="Arial" charset="0"/>
            </a:endParaRPr>
          </a:p>
        </p:txBody>
      </p:sp>
      <p:sp>
        <p:nvSpPr>
          <p:cNvPr id="25" name="Isosceles Triangle 24"/>
          <p:cNvSpPr/>
          <p:nvPr/>
        </p:nvSpPr>
        <p:spPr bwMode="auto">
          <a:xfrm>
            <a:off x="5295900" y="3461146"/>
            <a:ext cx="228600" cy="224972"/>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Arial" charset="0"/>
              <a:ea typeface="ＭＳ Ｐゴシック" charset="0"/>
              <a:cs typeface="Arial" charset="0"/>
            </a:endParaRPr>
          </a:p>
        </p:txBody>
      </p:sp>
      <p:sp>
        <p:nvSpPr>
          <p:cNvPr id="26" name="Isosceles Triangle 25"/>
          <p:cNvSpPr/>
          <p:nvPr/>
        </p:nvSpPr>
        <p:spPr bwMode="auto">
          <a:xfrm>
            <a:off x="8150249" y="3740999"/>
            <a:ext cx="228600" cy="224972"/>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Arial" charset="0"/>
              <a:ea typeface="ＭＳ Ｐゴシック" charset="0"/>
              <a:cs typeface="Arial" charset="0"/>
            </a:endParaRPr>
          </a:p>
        </p:txBody>
      </p:sp>
      <p:sp>
        <p:nvSpPr>
          <p:cNvPr id="30" name="TextBox 29"/>
          <p:cNvSpPr txBox="1"/>
          <p:nvPr/>
        </p:nvSpPr>
        <p:spPr>
          <a:xfrm>
            <a:off x="4671439" y="2209800"/>
            <a:ext cx="2186561" cy="523220"/>
          </a:xfrm>
          <a:prstGeom prst="rect">
            <a:avLst/>
          </a:prstGeom>
          <a:noFill/>
        </p:spPr>
        <p:txBody>
          <a:bodyPr wrap="none" rtlCol="0">
            <a:spAutoFit/>
          </a:bodyPr>
          <a:lstStyle/>
          <a:p>
            <a:r>
              <a:rPr lang="en-US" sz="1400" dirty="0" smtClean="0"/>
              <a:t>Documentation of MBSA </a:t>
            </a:r>
          </a:p>
          <a:p>
            <a:r>
              <a:rPr lang="en-US" sz="1400" dirty="0" smtClean="0"/>
              <a:t>approach and process I</a:t>
            </a:r>
            <a:endParaRPr lang="en-US" sz="1400" dirty="0"/>
          </a:p>
        </p:txBody>
      </p:sp>
      <p:sp>
        <p:nvSpPr>
          <p:cNvPr id="20" name="Rectangle 19"/>
          <p:cNvSpPr/>
          <p:nvPr/>
        </p:nvSpPr>
        <p:spPr bwMode="auto">
          <a:xfrm>
            <a:off x="2895600" y="2059172"/>
            <a:ext cx="4000518" cy="114300"/>
          </a:xfrm>
          <a:prstGeom prst="rect">
            <a:avLst/>
          </a:prstGeom>
          <a:solidFill>
            <a:srgbClr val="0033CC"/>
          </a:solidFill>
          <a:ln w="12700"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Arial" charset="0"/>
              <a:ea typeface="ＭＳ Ｐゴシック" charset="0"/>
              <a:cs typeface="Arial" charset="0"/>
            </a:endParaRPr>
          </a:p>
        </p:txBody>
      </p:sp>
      <p:sp>
        <p:nvSpPr>
          <p:cNvPr id="33" name="Rectangle 32"/>
          <p:cNvSpPr/>
          <p:nvPr/>
        </p:nvSpPr>
        <p:spPr bwMode="auto">
          <a:xfrm>
            <a:off x="6896118" y="2434667"/>
            <a:ext cx="1377138" cy="126003"/>
          </a:xfrm>
          <a:prstGeom prst="rect">
            <a:avLst/>
          </a:prstGeom>
          <a:solidFill>
            <a:srgbClr val="0033CC"/>
          </a:solidFill>
          <a:ln w="12700"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Arial" charset="0"/>
              <a:ea typeface="ＭＳ Ｐゴシック" charset="0"/>
              <a:cs typeface="Arial" charset="0"/>
            </a:endParaRPr>
          </a:p>
        </p:txBody>
      </p:sp>
      <p:sp>
        <p:nvSpPr>
          <p:cNvPr id="27" name="TextBox 26"/>
          <p:cNvSpPr txBox="1"/>
          <p:nvPr/>
        </p:nvSpPr>
        <p:spPr>
          <a:xfrm>
            <a:off x="1333954" y="3124200"/>
            <a:ext cx="1561646" cy="523220"/>
          </a:xfrm>
          <a:prstGeom prst="rect">
            <a:avLst/>
          </a:prstGeom>
          <a:noFill/>
        </p:spPr>
        <p:txBody>
          <a:bodyPr wrap="none" rtlCol="0">
            <a:spAutoFit/>
          </a:bodyPr>
          <a:lstStyle/>
          <a:p>
            <a:r>
              <a:rPr lang="en-US" sz="1400" dirty="0" smtClean="0"/>
              <a:t>Year 1 Review </a:t>
            </a:r>
          </a:p>
          <a:p>
            <a:r>
              <a:rPr lang="en-US" sz="1400" dirty="0" smtClean="0"/>
              <a:t>(20 Sep @LaRC)</a:t>
            </a:r>
            <a:endParaRPr lang="en-US" sz="1400" dirty="0"/>
          </a:p>
        </p:txBody>
      </p:sp>
      <p:sp>
        <p:nvSpPr>
          <p:cNvPr id="28" name="TextBox 27"/>
          <p:cNvSpPr txBox="1"/>
          <p:nvPr/>
        </p:nvSpPr>
        <p:spPr>
          <a:xfrm>
            <a:off x="3848100" y="3466009"/>
            <a:ext cx="1447832" cy="307777"/>
          </a:xfrm>
          <a:prstGeom prst="rect">
            <a:avLst/>
          </a:prstGeom>
          <a:noFill/>
        </p:spPr>
        <p:txBody>
          <a:bodyPr wrap="none" rtlCol="0">
            <a:spAutoFit/>
          </a:bodyPr>
          <a:lstStyle/>
          <a:p>
            <a:r>
              <a:rPr lang="en-US" sz="1400" dirty="0" smtClean="0"/>
              <a:t>Mid-year review</a:t>
            </a:r>
            <a:endParaRPr lang="en-US" sz="1400" dirty="0"/>
          </a:p>
        </p:txBody>
      </p:sp>
      <p:sp>
        <p:nvSpPr>
          <p:cNvPr id="29" name="TextBox 28"/>
          <p:cNvSpPr txBox="1"/>
          <p:nvPr/>
        </p:nvSpPr>
        <p:spPr>
          <a:xfrm>
            <a:off x="5943600" y="3737371"/>
            <a:ext cx="2143087" cy="307777"/>
          </a:xfrm>
          <a:prstGeom prst="rect">
            <a:avLst/>
          </a:prstGeom>
          <a:noFill/>
        </p:spPr>
        <p:txBody>
          <a:bodyPr wrap="none" rtlCol="0">
            <a:spAutoFit/>
          </a:bodyPr>
          <a:lstStyle/>
          <a:p>
            <a:r>
              <a:rPr lang="en-US" sz="1400" dirty="0" smtClean="0"/>
              <a:t>Year 2 Review (@LaRC)</a:t>
            </a:r>
            <a:endParaRPr lang="en-US" sz="1400" dirty="0"/>
          </a:p>
        </p:txBody>
      </p:sp>
      <p:sp>
        <p:nvSpPr>
          <p:cNvPr id="31" name="TextBox 30"/>
          <p:cNvSpPr txBox="1"/>
          <p:nvPr/>
        </p:nvSpPr>
        <p:spPr>
          <a:xfrm>
            <a:off x="6867354" y="4111823"/>
            <a:ext cx="1251818" cy="307777"/>
          </a:xfrm>
          <a:prstGeom prst="rect">
            <a:avLst/>
          </a:prstGeom>
          <a:noFill/>
        </p:spPr>
        <p:txBody>
          <a:bodyPr wrap="none" rtlCol="0">
            <a:spAutoFit/>
          </a:bodyPr>
          <a:lstStyle/>
          <a:p>
            <a:r>
              <a:rPr lang="en-US" sz="1400" dirty="0" smtClean="0"/>
              <a:t>Year 2 report</a:t>
            </a:r>
            <a:endParaRPr lang="en-US" sz="1400" dirty="0"/>
          </a:p>
        </p:txBody>
      </p:sp>
      <p:sp>
        <p:nvSpPr>
          <p:cNvPr id="32" name="Isosceles Triangle 31"/>
          <p:cNvSpPr/>
          <p:nvPr/>
        </p:nvSpPr>
        <p:spPr bwMode="auto">
          <a:xfrm>
            <a:off x="5295900" y="2743200"/>
            <a:ext cx="228600" cy="224972"/>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Arial" charset="0"/>
              <a:ea typeface="ＭＳ Ｐゴシック" charset="0"/>
              <a:cs typeface="Arial" charset="0"/>
            </a:endParaRPr>
          </a:p>
        </p:txBody>
      </p:sp>
      <p:sp>
        <p:nvSpPr>
          <p:cNvPr id="35" name="Isosceles Triangle 34"/>
          <p:cNvSpPr/>
          <p:nvPr/>
        </p:nvSpPr>
        <p:spPr bwMode="auto">
          <a:xfrm>
            <a:off x="6781818" y="2743200"/>
            <a:ext cx="228600" cy="224972"/>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Arial" charset="0"/>
              <a:ea typeface="ＭＳ Ｐゴシック" charset="0"/>
              <a:cs typeface="Arial" charset="0"/>
            </a:endParaRPr>
          </a:p>
        </p:txBody>
      </p:sp>
      <p:sp>
        <p:nvSpPr>
          <p:cNvPr id="36" name="Isosceles Triangle 35"/>
          <p:cNvSpPr/>
          <p:nvPr/>
        </p:nvSpPr>
        <p:spPr bwMode="auto">
          <a:xfrm>
            <a:off x="8153400" y="2743200"/>
            <a:ext cx="228600" cy="224972"/>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Arial" charset="0"/>
              <a:ea typeface="ＭＳ Ｐゴシック" charset="0"/>
              <a:cs typeface="Arial" charset="0"/>
            </a:endParaRPr>
          </a:p>
        </p:txBody>
      </p:sp>
      <p:sp>
        <p:nvSpPr>
          <p:cNvPr id="37" name="TextBox 36"/>
          <p:cNvSpPr txBox="1"/>
          <p:nvPr/>
        </p:nvSpPr>
        <p:spPr>
          <a:xfrm>
            <a:off x="2819400" y="2730372"/>
            <a:ext cx="2412840" cy="307777"/>
          </a:xfrm>
          <a:prstGeom prst="rect">
            <a:avLst/>
          </a:prstGeom>
          <a:noFill/>
        </p:spPr>
        <p:txBody>
          <a:bodyPr wrap="none" rtlCol="0">
            <a:spAutoFit/>
          </a:bodyPr>
          <a:lstStyle/>
          <a:p>
            <a:r>
              <a:rPr lang="en-US" sz="1400" dirty="0" smtClean="0"/>
              <a:t>Models and Demonstrations</a:t>
            </a:r>
            <a:endParaRPr lang="en-US" sz="1400" dirty="0"/>
          </a:p>
        </p:txBody>
      </p:sp>
      <p:sp>
        <p:nvSpPr>
          <p:cNvPr id="48" name="TextBox 47"/>
          <p:cNvSpPr txBox="1"/>
          <p:nvPr/>
        </p:nvSpPr>
        <p:spPr>
          <a:xfrm>
            <a:off x="2590800" y="4876800"/>
            <a:ext cx="859531" cy="276999"/>
          </a:xfrm>
          <a:prstGeom prst="rect">
            <a:avLst/>
          </a:prstGeom>
          <a:noFill/>
        </p:spPr>
        <p:txBody>
          <a:bodyPr wrap="none" rtlCol="0">
            <a:spAutoFit/>
          </a:bodyPr>
          <a:lstStyle/>
          <a:p>
            <a:r>
              <a:rPr lang="en-US" sz="1200" dirty="0" smtClean="0"/>
              <a:t>1st month</a:t>
            </a:r>
            <a:endParaRPr lang="en-US" sz="1200" dirty="0"/>
          </a:p>
        </p:txBody>
      </p:sp>
      <p:sp>
        <p:nvSpPr>
          <p:cNvPr id="49" name="TextBox 48"/>
          <p:cNvSpPr txBox="1"/>
          <p:nvPr/>
        </p:nvSpPr>
        <p:spPr>
          <a:xfrm>
            <a:off x="4980434" y="4876800"/>
            <a:ext cx="816249" cy="276999"/>
          </a:xfrm>
          <a:prstGeom prst="rect">
            <a:avLst/>
          </a:prstGeom>
          <a:noFill/>
        </p:spPr>
        <p:txBody>
          <a:bodyPr wrap="none" rtlCol="0">
            <a:spAutoFit/>
          </a:bodyPr>
          <a:lstStyle/>
          <a:p>
            <a:r>
              <a:rPr lang="en-US" sz="1200" dirty="0" smtClean="0"/>
              <a:t>6 months</a:t>
            </a:r>
            <a:endParaRPr lang="en-US" sz="1200" dirty="0"/>
          </a:p>
        </p:txBody>
      </p:sp>
      <p:sp>
        <p:nvSpPr>
          <p:cNvPr id="50" name="TextBox 49"/>
          <p:cNvSpPr txBox="1"/>
          <p:nvPr/>
        </p:nvSpPr>
        <p:spPr>
          <a:xfrm>
            <a:off x="6408044" y="4876800"/>
            <a:ext cx="816249" cy="276999"/>
          </a:xfrm>
          <a:prstGeom prst="rect">
            <a:avLst/>
          </a:prstGeom>
          <a:noFill/>
        </p:spPr>
        <p:txBody>
          <a:bodyPr wrap="none" rtlCol="0">
            <a:spAutoFit/>
          </a:bodyPr>
          <a:lstStyle/>
          <a:p>
            <a:r>
              <a:rPr lang="en-US" sz="1200" dirty="0" smtClean="0"/>
              <a:t>9 months</a:t>
            </a:r>
            <a:endParaRPr lang="en-US" sz="1200" dirty="0"/>
          </a:p>
        </p:txBody>
      </p:sp>
      <p:sp>
        <p:nvSpPr>
          <p:cNvPr id="51" name="TextBox 50"/>
          <p:cNvSpPr txBox="1"/>
          <p:nvPr/>
        </p:nvSpPr>
        <p:spPr>
          <a:xfrm>
            <a:off x="7696200" y="4876800"/>
            <a:ext cx="901209" cy="276999"/>
          </a:xfrm>
          <a:prstGeom prst="rect">
            <a:avLst/>
          </a:prstGeom>
          <a:noFill/>
        </p:spPr>
        <p:txBody>
          <a:bodyPr wrap="none" rtlCol="0">
            <a:spAutoFit/>
          </a:bodyPr>
          <a:lstStyle/>
          <a:p>
            <a:r>
              <a:rPr lang="en-US" sz="1200" dirty="0" smtClean="0"/>
              <a:t>12 </a:t>
            </a:r>
            <a:r>
              <a:rPr lang="en-US" sz="1200" dirty="0"/>
              <a:t>m</a:t>
            </a:r>
            <a:r>
              <a:rPr lang="en-US" sz="1200" dirty="0" smtClean="0"/>
              <a:t>onths</a:t>
            </a:r>
            <a:endParaRPr lang="en-US" sz="1200" dirty="0"/>
          </a:p>
        </p:txBody>
      </p:sp>
      <p:sp>
        <p:nvSpPr>
          <p:cNvPr id="42" name="Isosceles Triangle 41"/>
          <p:cNvSpPr/>
          <p:nvPr/>
        </p:nvSpPr>
        <p:spPr bwMode="auto">
          <a:xfrm>
            <a:off x="3171825"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Arial" charset="0"/>
              <a:ea typeface="ＭＳ Ｐゴシック" charset="0"/>
              <a:cs typeface="Arial" charset="0"/>
            </a:endParaRPr>
          </a:p>
        </p:txBody>
      </p:sp>
      <p:sp>
        <p:nvSpPr>
          <p:cNvPr id="43" name="Isosceles Triangle 42"/>
          <p:cNvSpPr/>
          <p:nvPr/>
        </p:nvSpPr>
        <p:spPr bwMode="auto">
          <a:xfrm>
            <a:off x="3629025"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Arial" charset="0"/>
              <a:ea typeface="ＭＳ Ｐゴシック" charset="0"/>
              <a:cs typeface="Arial" charset="0"/>
            </a:endParaRPr>
          </a:p>
        </p:txBody>
      </p:sp>
      <p:sp>
        <p:nvSpPr>
          <p:cNvPr id="44" name="Isosceles Triangle 43"/>
          <p:cNvSpPr/>
          <p:nvPr/>
        </p:nvSpPr>
        <p:spPr bwMode="auto">
          <a:xfrm>
            <a:off x="4086225"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Arial" charset="0"/>
              <a:ea typeface="ＭＳ Ｐゴシック" charset="0"/>
              <a:cs typeface="Arial" charset="0"/>
            </a:endParaRPr>
          </a:p>
        </p:txBody>
      </p:sp>
      <p:sp>
        <p:nvSpPr>
          <p:cNvPr id="45" name="Isosceles Triangle 44"/>
          <p:cNvSpPr/>
          <p:nvPr/>
        </p:nvSpPr>
        <p:spPr bwMode="auto">
          <a:xfrm>
            <a:off x="4543425"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Arial" charset="0"/>
              <a:ea typeface="ＭＳ Ｐゴシック" charset="0"/>
              <a:cs typeface="Arial" charset="0"/>
            </a:endParaRPr>
          </a:p>
        </p:txBody>
      </p:sp>
      <p:sp>
        <p:nvSpPr>
          <p:cNvPr id="46" name="Isosceles Triangle 45"/>
          <p:cNvSpPr/>
          <p:nvPr/>
        </p:nvSpPr>
        <p:spPr bwMode="auto">
          <a:xfrm>
            <a:off x="5000625"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Arial" charset="0"/>
              <a:ea typeface="ＭＳ Ｐゴシック" charset="0"/>
              <a:cs typeface="Arial" charset="0"/>
            </a:endParaRPr>
          </a:p>
        </p:txBody>
      </p:sp>
      <p:sp>
        <p:nvSpPr>
          <p:cNvPr id="53" name="Isosceles Triangle 52"/>
          <p:cNvSpPr/>
          <p:nvPr/>
        </p:nvSpPr>
        <p:spPr bwMode="auto">
          <a:xfrm>
            <a:off x="5867400"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Arial" charset="0"/>
              <a:ea typeface="ＭＳ Ｐゴシック" charset="0"/>
              <a:cs typeface="Arial" charset="0"/>
            </a:endParaRPr>
          </a:p>
        </p:txBody>
      </p:sp>
      <p:sp>
        <p:nvSpPr>
          <p:cNvPr id="54" name="Isosceles Triangle 53"/>
          <p:cNvSpPr/>
          <p:nvPr/>
        </p:nvSpPr>
        <p:spPr bwMode="auto">
          <a:xfrm>
            <a:off x="6324600"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Arial" charset="0"/>
              <a:ea typeface="ＭＳ Ｐゴシック" charset="0"/>
              <a:cs typeface="Arial" charset="0"/>
            </a:endParaRPr>
          </a:p>
        </p:txBody>
      </p:sp>
      <p:sp>
        <p:nvSpPr>
          <p:cNvPr id="55" name="Isosceles Triangle 54"/>
          <p:cNvSpPr/>
          <p:nvPr/>
        </p:nvSpPr>
        <p:spPr bwMode="auto">
          <a:xfrm>
            <a:off x="6819900"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Arial" charset="0"/>
              <a:ea typeface="ＭＳ Ｐゴシック" charset="0"/>
              <a:cs typeface="Arial" charset="0"/>
            </a:endParaRPr>
          </a:p>
        </p:txBody>
      </p:sp>
      <p:sp>
        <p:nvSpPr>
          <p:cNvPr id="56" name="Isosceles Triangle 55"/>
          <p:cNvSpPr/>
          <p:nvPr/>
        </p:nvSpPr>
        <p:spPr bwMode="auto">
          <a:xfrm>
            <a:off x="7239000"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Arial" charset="0"/>
              <a:ea typeface="ＭＳ Ｐゴシック" charset="0"/>
              <a:cs typeface="Arial" charset="0"/>
            </a:endParaRPr>
          </a:p>
        </p:txBody>
      </p:sp>
      <p:sp>
        <p:nvSpPr>
          <p:cNvPr id="57" name="Isosceles Triangle 56"/>
          <p:cNvSpPr/>
          <p:nvPr/>
        </p:nvSpPr>
        <p:spPr bwMode="auto">
          <a:xfrm>
            <a:off x="7696200"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Arial" charset="0"/>
              <a:ea typeface="ＭＳ Ｐゴシック" charset="0"/>
              <a:cs typeface="Arial" charset="0"/>
            </a:endParaRPr>
          </a:p>
        </p:txBody>
      </p:sp>
      <p:sp>
        <p:nvSpPr>
          <p:cNvPr id="59" name="TextBox 58"/>
          <p:cNvSpPr txBox="1"/>
          <p:nvPr/>
        </p:nvSpPr>
        <p:spPr>
          <a:xfrm>
            <a:off x="1600200" y="4416623"/>
            <a:ext cx="1417376" cy="307777"/>
          </a:xfrm>
          <a:prstGeom prst="rect">
            <a:avLst/>
          </a:prstGeom>
          <a:noFill/>
        </p:spPr>
        <p:txBody>
          <a:bodyPr wrap="none" rtlCol="0">
            <a:spAutoFit/>
          </a:bodyPr>
          <a:lstStyle/>
          <a:p>
            <a:r>
              <a:rPr lang="en-US" sz="1400" dirty="0" smtClean="0"/>
              <a:t>Monthly reports</a:t>
            </a:r>
            <a:endParaRPr lang="en-US" sz="1400" dirty="0"/>
          </a:p>
        </p:txBody>
      </p:sp>
    </p:spTree>
    <p:extLst>
      <p:ext uri="{BB962C8B-B14F-4D97-AF65-F5344CB8AC3E}">
        <p14:creationId xmlns:p14="http://schemas.microsoft.com/office/powerpoint/2010/main" val="1221983104"/>
      </p:ext>
    </p:extLst>
  </p:cSld>
  <p:clrMapOvr>
    <a:masterClrMapping/>
  </p:clrMapOvr>
  <p:transition>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p:txBody>
          <a:bodyPr/>
          <a:lstStyle/>
          <a:p>
            <a:r>
              <a:rPr lang="en-US" dirty="0" smtClean="0">
                <a:solidFill>
                  <a:schemeClr val="bg1">
                    <a:lumMod val="50000"/>
                  </a:schemeClr>
                </a:solidFill>
              </a:rPr>
              <a:t>Year 2 Deliverables</a:t>
            </a:r>
            <a:endParaRPr lang="en-US" dirty="0">
              <a:solidFill>
                <a:schemeClr val="bg1">
                  <a:lumMod val="50000"/>
                </a:schemeClr>
              </a:solidFill>
            </a:endParaRPr>
          </a:p>
        </p:txBody>
      </p:sp>
      <p:sp>
        <p:nvSpPr>
          <p:cNvPr id="6" name="Content Placeholder 5"/>
          <p:cNvSpPr>
            <a:spLocks noGrp="1"/>
          </p:cNvSpPr>
          <p:nvPr>
            <p:ph idx="1"/>
          </p:nvPr>
        </p:nvSpPr>
        <p:spPr/>
        <p:txBody>
          <a:bodyPr/>
          <a:lstStyle/>
          <a:p>
            <a:pPr>
              <a:tabLst>
                <a:tab pos="971550" algn="l"/>
                <a:tab pos="4914900" algn="l"/>
              </a:tabLst>
            </a:pPr>
            <a:r>
              <a:rPr lang="en-US" sz="1400" dirty="0"/>
              <a:t>4</a:t>
            </a:r>
            <a:r>
              <a:rPr lang="en-US" sz="1400" dirty="0" smtClean="0"/>
              <a:t>.1 	Monthly Progress Reports	Monthly		</a:t>
            </a:r>
          </a:p>
          <a:p>
            <a:pPr>
              <a:tabLst>
                <a:tab pos="971550" algn="l"/>
                <a:tab pos="4914900" algn="l"/>
              </a:tabLst>
            </a:pPr>
            <a:endParaRPr lang="en-US" sz="1000" dirty="0"/>
          </a:p>
          <a:p>
            <a:pPr>
              <a:tabLst>
                <a:tab pos="971550" algn="l"/>
                <a:tab pos="4914900" algn="l"/>
              </a:tabLst>
            </a:pPr>
            <a:r>
              <a:rPr lang="en-US" sz="1400" dirty="0" smtClean="0"/>
              <a:t>4.2 	Kickoff Meeting &amp; Presentation	20 Sept 2017		</a:t>
            </a:r>
          </a:p>
          <a:p>
            <a:pPr>
              <a:tabLst>
                <a:tab pos="971550" algn="l"/>
                <a:tab pos="4914900" algn="l"/>
              </a:tabLst>
            </a:pPr>
            <a:endParaRPr lang="en-US" sz="1400" dirty="0"/>
          </a:p>
          <a:p>
            <a:pPr>
              <a:tabLst>
                <a:tab pos="971550" algn="l"/>
                <a:tab pos="4914900" algn="l"/>
              </a:tabLst>
            </a:pPr>
            <a:r>
              <a:rPr lang="en-US" sz="1400" dirty="0"/>
              <a:t>4.3	Midterm Review &amp; Presentation	</a:t>
            </a:r>
            <a:r>
              <a:rPr lang="en-US" sz="1400" dirty="0" smtClean="0"/>
              <a:t>19 Mar 2018</a:t>
            </a:r>
            <a:r>
              <a:rPr lang="en-US" sz="1400" dirty="0"/>
              <a:t>		</a:t>
            </a:r>
          </a:p>
          <a:p>
            <a:pPr>
              <a:tabLst>
                <a:tab pos="971550" algn="l"/>
                <a:tab pos="4914900" algn="l"/>
              </a:tabLst>
            </a:pPr>
            <a:r>
              <a:rPr lang="en-US" sz="1400" dirty="0" smtClean="0"/>
              <a:t>4.4	</a:t>
            </a:r>
            <a:r>
              <a:rPr lang="en-US" sz="1400" i="1" dirty="0" smtClean="0"/>
              <a:t>Reserved</a:t>
            </a:r>
          </a:p>
          <a:p>
            <a:pPr>
              <a:tabLst>
                <a:tab pos="971550" algn="l"/>
                <a:tab pos="4914900" algn="l"/>
              </a:tabLst>
            </a:pPr>
            <a:endParaRPr lang="en-US" sz="1400" dirty="0"/>
          </a:p>
          <a:p>
            <a:pPr>
              <a:tabLst>
                <a:tab pos="971550" algn="l"/>
                <a:tab pos="4914900" algn="l"/>
              </a:tabLst>
            </a:pPr>
            <a:r>
              <a:rPr lang="en-US" sz="1400" dirty="0" smtClean="0"/>
              <a:t>4.5.A	Feasibility Demonstrations	19 Mar 2018</a:t>
            </a:r>
          </a:p>
          <a:p>
            <a:pPr>
              <a:tabLst>
                <a:tab pos="971550" algn="l"/>
                <a:tab pos="4914900" algn="l"/>
              </a:tabLst>
            </a:pPr>
            <a:r>
              <a:rPr lang="en-US" sz="1400" dirty="0" smtClean="0"/>
              <a:t>4.5.B</a:t>
            </a:r>
            <a:r>
              <a:rPr lang="en-US" sz="1400" dirty="0"/>
              <a:t>	Feasibility Demonstrations	</a:t>
            </a:r>
            <a:r>
              <a:rPr lang="en-US" sz="1400" dirty="0" smtClean="0"/>
              <a:t>11 Jun 2018</a:t>
            </a:r>
            <a:endParaRPr lang="en-US" sz="1400" dirty="0"/>
          </a:p>
          <a:p>
            <a:pPr>
              <a:tabLst>
                <a:tab pos="971550" algn="l"/>
                <a:tab pos="4914900" algn="l"/>
              </a:tabLst>
            </a:pPr>
            <a:r>
              <a:rPr lang="en-US" sz="1400" dirty="0" smtClean="0"/>
              <a:t>4.5.C</a:t>
            </a:r>
            <a:r>
              <a:rPr lang="en-US" sz="1400" dirty="0"/>
              <a:t>	Feasibility Demonstrations	</a:t>
            </a:r>
            <a:r>
              <a:rPr lang="en-US" sz="1400" dirty="0" smtClean="0"/>
              <a:t>Today</a:t>
            </a:r>
            <a:endParaRPr lang="en-US" sz="1400" dirty="0"/>
          </a:p>
          <a:p>
            <a:pPr>
              <a:tabLst>
                <a:tab pos="971550" algn="l"/>
                <a:tab pos="4914900" algn="l"/>
              </a:tabLst>
            </a:pPr>
            <a:endParaRPr lang="en-US" sz="1400" dirty="0" smtClean="0"/>
          </a:p>
          <a:p>
            <a:pPr>
              <a:tabLst>
                <a:tab pos="971550" algn="l"/>
                <a:tab pos="4914900" algn="l"/>
              </a:tabLst>
            </a:pPr>
            <a:r>
              <a:rPr lang="en-US" sz="1400" dirty="0" smtClean="0"/>
              <a:t>4.6	Phase 2 Report	22 Sept 2018</a:t>
            </a:r>
          </a:p>
          <a:p>
            <a:pPr>
              <a:tabLst>
                <a:tab pos="971550" algn="l"/>
                <a:tab pos="4914900" algn="l"/>
              </a:tabLst>
            </a:pPr>
            <a:endParaRPr lang="en-US" sz="1400" dirty="0"/>
          </a:p>
          <a:p>
            <a:pPr>
              <a:tabLst>
                <a:tab pos="971550" algn="l"/>
                <a:tab pos="4914900" algn="l"/>
              </a:tabLst>
            </a:pPr>
            <a:r>
              <a:rPr lang="en-US" sz="1400" dirty="0" smtClean="0"/>
              <a:t>4.7	Phase 2 Review &amp; Presentation	Today		</a:t>
            </a:r>
            <a:endParaRPr lang="en-US" sz="2400" dirty="0" smtClean="0"/>
          </a:p>
        </p:txBody>
      </p:sp>
      <p:sp>
        <p:nvSpPr>
          <p:cNvPr id="4" name="Slide Number Placeholder 3"/>
          <p:cNvSpPr>
            <a:spLocks noGrp="1"/>
          </p:cNvSpPr>
          <p:nvPr>
            <p:ph type="sldNum" sz="quarter" idx="10"/>
          </p:nvPr>
        </p:nvSpPr>
        <p:spPr/>
        <p:txBody>
          <a:bodyPr/>
          <a:lstStyle/>
          <a:p>
            <a:fld id="{6FB38293-AEBC-48C9-B732-3290CCE0D0E2}" type="slidenum">
              <a:rPr lang="en-US" altLang="en-US" smtClean="0"/>
              <a:pPr/>
              <a:t>14</a:t>
            </a:fld>
            <a:endParaRPr lang="en-US" altLang="en-US"/>
          </a:p>
        </p:txBody>
      </p:sp>
    </p:spTree>
    <p:extLst>
      <p:ext uri="{BB962C8B-B14F-4D97-AF65-F5344CB8AC3E}">
        <p14:creationId xmlns:p14="http://schemas.microsoft.com/office/powerpoint/2010/main" val="672969003"/>
      </p:ext>
    </p:extLst>
  </p:cSld>
  <p:clrMapOvr>
    <a:masterClrMapping/>
  </p:clrMapOvr>
  <p:transition>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15</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87500"/>
            <a:ext cx="3409950" cy="504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smtClean="0"/>
              <a:t>Technical Write-ups of the Work in Progress</a:t>
            </a:r>
            <a:endParaRPr lang="en-US" dirty="0"/>
          </a:p>
        </p:txBody>
      </p:sp>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599" y="1520907"/>
            <a:ext cx="3962401" cy="51084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2486087"/>
      </p:ext>
    </p:extLst>
  </p:cSld>
  <p:clrMapOvr>
    <a:masterClrMapping/>
  </p:clrMapOvr>
  <p:transition>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1462881" y="3367882"/>
            <a:ext cx="4953000" cy="503237"/>
          </a:xfrm>
        </p:spPr>
        <p:txBody>
          <a:bodyPr/>
          <a:lstStyle/>
          <a:p>
            <a:r>
              <a:rPr lang="en-US" dirty="0" smtClean="0"/>
              <a:t>Models and tools on </a:t>
            </a:r>
            <a:r>
              <a:rPr lang="en-US" dirty="0" err="1" smtClean="0"/>
              <a:t>github</a:t>
            </a:r>
            <a:endParaRPr lang="en-US" dirty="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16</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515389"/>
            <a:ext cx="6737350" cy="6115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7526466"/>
      </p:ext>
    </p:extLst>
  </p:cSld>
  <p:clrMapOvr>
    <a:masterClrMapping/>
  </p:clrMapOvr>
  <p:transition>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17</a:t>
            </a:fld>
            <a:endParaRPr lang="en-US"/>
          </a:p>
        </p:txBody>
      </p:sp>
      <p:sp>
        <p:nvSpPr>
          <p:cNvPr id="2" name="Title 1"/>
          <p:cNvSpPr>
            <a:spLocks noGrp="1"/>
          </p:cNvSpPr>
          <p:nvPr>
            <p:ph type="title"/>
          </p:nvPr>
        </p:nvSpPr>
        <p:spPr/>
        <p:txBody>
          <a:bodyPr/>
          <a:lstStyle/>
          <a:p>
            <a:r>
              <a:rPr lang="en-US" dirty="0" smtClean="0"/>
              <a:t>Updated Users Guide</a:t>
            </a: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47800"/>
            <a:ext cx="6791325" cy="180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505200"/>
            <a:ext cx="6448425" cy="2933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6713303"/>
      </p:ext>
    </p:extLst>
  </p:cSld>
  <p:clrMapOvr>
    <a:masterClrMapping/>
  </p:clrMapOvr>
  <p:transition>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868363"/>
            <a:ext cx="7772400" cy="655637"/>
          </a:xfrm>
        </p:spPr>
        <p:txBody>
          <a:bodyPr/>
          <a:lstStyle/>
          <a:p>
            <a:r>
              <a:rPr lang="en-US" dirty="0" smtClean="0"/>
              <a:t>Year 3 Statement of Work</a:t>
            </a:r>
            <a:br>
              <a:rPr lang="en-US" dirty="0" smtClean="0"/>
            </a:br>
            <a:r>
              <a:rPr lang="en-US" dirty="0" smtClean="0"/>
              <a:t>Refine Framework and Application MBSA II</a:t>
            </a:r>
            <a:endParaRPr lang="en-US" dirty="0"/>
          </a:p>
        </p:txBody>
      </p:sp>
      <p:sp>
        <p:nvSpPr>
          <p:cNvPr id="3" name="Content Placeholder 2"/>
          <p:cNvSpPr>
            <a:spLocks noGrp="1"/>
          </p:cNvSpPr>
          <p:nvPr>
            <p:ph idx="1"/>
          </p:nvPr>
        </p:nvSpPr>
        <p:spPr>
          <a:xfrm>
            <a:off x="762000" y="1798637"/>
            <a:ext cx="8001000" cy="4525963"/>
          </a:xfrm>
        </p:spPr>
        <p:txBody>
          <a:bodyPr/>
          <a:lstStyle/>
          <a:p>
            <a:pPr marL="742950" indent="-742950">
              <a:buNone/>
            </a:pPr>
            <a:r>
              <a:rPr lang="en-US" sz="1600" b="1" dirty="0" smtClean="0"/>
              <a:t>3.2.1 	Apply</a:t>
            </a:r>
            <a:r>
              <a:rPr lang="en-US" sz="1600" dirty="0" smtClean="0"/>
              <a:t> </a:t>
            </a:r>
            <a:r>
              <a:rPr lang="en-US" sz="1600" dirty="0"/>
              <a:t>the MBSA process and tools developed in </a:t>
            </a:r>
            <a:r>
              <a:rPr lang="en-US" sz="1600" dirty="0" smtClean="0"/>
              <a:t>Phase 2 </a:t>
            </a:r>
            <a:r>
              <a:rPr lang="en-US" sz="1600" dirty="0"/>
              <a:t>to a </a:t>
            </a:r>
            <a:r>
              <a:rPr lang="en-US" sz="1600" dirty="0" smtClean="0"/>
              <a:t>reasonable distinct system from that addressed in Phase 2, and of complexity/size representative </a:t>
            </a:r>
            <a:r>
              <a:rPr lang="en-US" sz="1600" dirty="0"/>
              <a:t>of fielded systems in the National Airspace (NAS</a:t>
            </a:r>
            <a:r>
              <a:rPr lang="en-US" sz="1600" dirty="0" smtClean="0"/>
              <a:t>). Evaluate </a:t>
            </a:r>
            <a:r>
              <a:rPr lang="en-US" sz="1600" dirty="0"/>
              <a:t>and address </a:t>
            </a:r>
            <a:r>
              <a:rPr lang="en-US" sz="1600" b="1" dirty="0" smtClean="0"/>
              <a:t>scalability </a:t>
            </a:r>
            <a:r>
              <a:rPr lang="en-US" sz="1600" dirty="0" smtClean="0"/>
              <a:t>and</a:t>
            </a:r>
            <a:r>
              <a:rPr lang="en-US" sz="1600" b="1" dirty="0" smtClean="0"/>
              <a:t> practicality</a:t>
            </a:r>
            <a:r>
              <a:rPr lang="en-US" sz="1600" dirty="0" smtClean="0"/>
              <a:t> </a:t>
            </a:r>
            <a:r>
              <a:rPr lang="en-US" sz="1600" dirty="0"/>
              <a:t>issues identified by </a:t>
            </a:r>
            <a:r>
              <a:rPr lang="en-US" sz="1600" b="1" dirty="0"/>
              <a:t>extending</a:t>
            </a:r>
            <a:r>
              <a:rPr lang="en-US" sz="1600" dirty="0"/>
              <a:t> the analysis framework from the Phase </a:t>
            </a:r>
            <a:r>
              <a:rPr lang="en-US" sz="1600" dirty="0" smtClean="0"/>
              <a:t>2 (scalability) </a:t>
            </a:r>
            <a:r>
              <a:rPr lang="en-US" sz="1600" dirty="0"/>
              <a:t>model to the MBSA </a:t>
            </a:r>
            <a:r>
              <a:rPr lang="en-US" sz="1600" dirty="0" smtClean="0"/>
              <a:t>II </a:t>
            </a:r>
            <a:r>
              <a:rPr lang="en-US" sz="1600" dirty="0"/>
              <a:t>system model and conduct demonstrations.</a:t>
            </a:r>
            <a:endParaRPr lang="en-US" sz="1600" b="1" dirty="0" smtClean="0"/>
          </a:p>
          <a:p>
            <a:pPr marL="742950" indent="-742950">
              <a:buNone/>
            </a:pPr>
            <a:r>
              <a:rPr lang="en-US" sz="1600" b="1" dirty="0" smtClean="0"/>
              <a:t>3.2.2 	Document</a:t>
            </a:r>
            <a:r>
              <a:rPr lang="en-US" sz="1600" dirty="0" smtClean="0"/>
              <a:t> </a:t>
            </a:r>
            <a:r>
              <a:rPr lang="en-US" sz="1600" dirty="0"/>
              <a:t>the MBSA </a:t>
            </a:r>
            <a:r>
              <a:rPr lang="en-US" sz="1600" dirty="0" smtClean="0"/>
              <a:t>approach including </a:t>
            </a:r>
            <a:r>
              <a:rPr lang="en-US" sz="1600" dirty="0"/>
              <a:t>data definitions and analysis steps, illustrated with the methodology used to define and assess MBSA </a:t>
            </a:r>
            <a:r>
              <a:rPr lang="en-US" sz="1600" dirty="0" smtClean="0"/>
              <a:t>II </a:t>
            </a:r>
            <a:r>
              <a:rPr lang="en-US" sz="1600" dirty="0"/>
              <a:t>models. The Contractor shall document results of scalability analysis conducted under 3.2.1. </a:t>
            </a:r>
            <a:r>
              <a:rPr lang="en-US" sz="1600" dirty="0" smtClean="0"/>
              <a:t> Document </a:t>
            </a:r>
            <a:r>
              <a:rPr lang="en-US" sz="1600" dirty="0"/>
              <a:t>any refinements to the analysis framework necessary to transition to analysis of the MBSA </a:t>
            </a:r>
            <a:r>
              <a:rPr lang="en-US" sz="1600" dirty="0" smtClean="0"/>
              <a:t>II </a:t>
            </a:r>
            <a:r>
              <a:rPr lang="en-US" sz="1600" dirty="0"/>
              <a:t>system in 3.2.1.</a:t>
            </a:r>
            <a:r>
              <a:rPr lang="en-US" sz="1600" dirty="0" smtClean="0"/>
              <a:t> </a:t>
            </a:r>
            <a:endParaRPr lang="en-US" sz="1600" dirty="0"/>
          </a:p>
          <a:p>
            <a:pPr marL="742950" indent="-742950">
              <a:buNone/>
            </a:pPr>
            <a:r>
              <a:rPr lang="en-US" sz="1600" b="1" dirty="0" smtClean="0"/>
              <a:t>3.2.3 	</a:t>
            </a:r>
            <a:r>
              <a:rPr lang="en-US" sz="1600" dirty="0" smtClean="0"/>
              <a:t>Conference paper. </a:t>
            </a:r>
            <a:endParaRPr lang="en-US" sz="1600" dirty="0"/>
          </a:p>
          <a:p>
            <a:pPr marL="742950" indent="-742950">
              <a:buNone/>
            </a:pPr>
            <a:endParaRPr lang="en-US" sz="1600" dirty="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18</a:t>
            </a:fld>
            <a:endParaRPr lang="en-US"/>
          </a:p>
        </p:txBody>
      </p:sp>
    </p:spTree>
    <p:extLst>
      <p:ext uri="{BB962C8B-B14F-4D97-AF65-F5344CB8AC3E}">
        <p14:creationId xmlns:p14="http://schemas.microsoft.com/office/powerpoint/2010/main" val="1775961335"/>
      </p:ext>
    </p:extLst>
  </p:cSld>
  <p:clrMapOvr>
    <a:masterClrMapping/>
  </p:clrMapOvr>
  <p:transition>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Straight Connector 51"/>
          <p:cNvCxnSpPr/>
          <p:nvPr/>
        </p:nvCxnSpPr>
        <p:spPr bwMode="auto">
          <a:xfrm>
            <a:off x="6891423" y="1956570"/>
            <a:ext cx="0" cy="2844030"/>
          </a:xfrm>
          <a:prstGeom prst="line">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1" name="Straight Connector 20"/>
          <p:cNvCxnSpPr/>
          <p:nvPr/>
        </p:nvCxnSpPr>
        <p:spPr bwMode="auto">
          <a:xfrm>
            <a:off x="3009900" y="1956570"/>
            <a:ext cx="0" cy="2844030"/>
          </a:xfrm>
          <a:prstGeom prst="line">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8" name="Straight Connector 37"/>
          <p:cNvCxnSpPr/>
          <p:nvPr/>
        </p:nvCxnSpPr>
        <p:spPr bwMode="auto">
          <a:xfrm>
            <a:off x="5410200" y="1956570"/>
            <a:ext cx="0" cy="2844030"/>
          </a:xfrm>
          <a:prstGeom prst="line">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9" name="Straight Connector 38"/>
          <p:cNvCxnSpPr/>
          <p:nvPr/>
        </p:nvCxnSpPr>
        <p:spPr bwMode="auto">
          <a:xfrm>
            <a:off x="8264549" y="1956570"/>
            <a:ext cx="0" cy="2844030"/>
          </a:xfrm>
          <a:prstGeom prst="line">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1268" name="Rectangle 2"/>
          <p:cNvSpPr>
            <a:spLocks noGrp="1" noChangeArrowheads="1"/>
          </p:cNvSpPr>
          <p:nvPr>
            <p:ph type="title"/>
          </p:nvPr>
        </p:nvSpPr>
        <p:spPr/>
        <p:txBody>
          <a:bodyPr/>
          <a:lstStyle/>
          <a:p>
            <a:pPr eaLnBrk="1" hangingPunct="1"/>
            <a:r>
              <a:rPr lang="en-US" dirty="0" smtClean="0"/>
              <a:t>Year 3 Schedule</a:t>
            </a:r>
          </a:p>
        </p:txBody>
      </p:sp>
      <p:sp>
        <p:nvSpPr>
          <p:cNvPr id="5" name="Slide Number Placeholder 1"/>
          <p:cNvSpPr>
            <a:spLocks noGrp="1"/>
          </p:cNvSpPr>
          <p:nvPr>
            <p:ph type="sldNum" sz="quarter" idx="10"/>
          </p:nvPr>
        </p:nvSpPr>
        <p:spPr/>
        <p:txBody>
          <a:bodyPr/>
          <a:lstStyle/>
          <a:p>
            <a:pPr>
              <a:defRPr/>
            </a:pPr>
            <a:fld id="{CFEF3BC8-9D5B-4072-9C94-A2A1C52285CD}" type="slidenum">
              <a:rPr lang="en-US"/>
              <a:pPr>
                <a:defRPr/>
              </a:pPr>
              <a:t>19</a:t>
            </a:fld>
            <a:endParaRPr lang="en-US" dirty="0"/>
          </a:p>
        </p:txBody>
      </p:sp>
      <p:sp>
        <p:nvSpPr>
          <p:cNvPr id="4" name="Slide Number Placeholder 3"/>
          <p:cNvSpPr txBox="1">
            <a:spLocks noGrp="1"/>
          </p:cNvSpPr>
          <p:nvPr/>
        </p:nvSpPr>
        <p:spPr bwMode="auto">
          <a:xfrm>
            <a:off x="7848600" y="6477000"/>
            <a:ext cx="849313" cy="244475"/>
          </a:xfrm>
          <a:prstGeom prst="rect">
            <a:avLst/>
          </a:prstGeom>
          <a:noFill/>
          <a:ln>
            <a:miter lim="800000"/>
            <a:headEnd/>
            <a:tailEnd/>
          </a:ln>
        </p:spPr>
        <p:txBody>
          <a:bodyPr/>
          <a:lstStyle/>
          <a:p>
            <a:pPr algn="r">
              <a:defRPr/>
            </a:pPr>
            <a:fld id="{0365C265-587E-42A1-951A-998641590C8F}" type="slidenum">
              <a:rPr lang="en-US" sz="1000">
                <a:latin typeface="+mn-lt"/>
              </a:rPr>
              <a:pPr algn="r">
                <a:defRPr/>
              </a:pPr>
              <a:t>19</a:t>
            </a:fld>
            <a:endParaRPr lang="en-US" sz="1000" dirty="0">
              <a:latin typeface="+mn-lt"/>
            </a:endParaRPr>
          </a:p>
        </p:txBody>
      </p:sp>
      <p:grpSp>
        <p:nvGrpSpPr>
          <p:cNvPr id="3" name="Group 2"/>
          <p:cNvGrpSpPr/>
          <p:nvPr/>
        </p:nvGrpSpPr>
        <p:grpSpPr>
          <a:xfrm>
            <a:off x="3000375" y="1600200"/>
            <a:ext cx="5486400" cy="229486"/>
            <a:chOff x="914400" y="2513714"/>
            <a:chExt cx="5486400" cy="229486"/>
          </a:xfrm>
        </p:grpSpPr>
        <p:sp>
          <p:nvSpPr>
            <p:cNvPr id="2" name="Rectangle 1"/>
            <p:cNvSpPr/>
            <p:nvPr/>
          </p:nvSpPr>
          <p:spPr bwMode="auto">
            <a:xfrm>
              <a:off x="9144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OCT</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8" name="Rectangle 7"/>
            <p:cNvSpPr/>
            <p:nvPr/>
          </p:nvSpPr>
          <p:spPr bwMode="auto">
            <a:xfrm>
              <a:off x="1371600" y="2513714"/>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NOV</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9" name="Rectangle 8"/>
            <p:cNvSpPr/>
            <p:nvPr/>
          </p:nvSpPr>
          <p:spPr bwMode="auto">
            <a:xfrm>
              <a:off x="1828800" y="2513714"/>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100" dirty="0" smtClean="0">
                  <a:solidFill>
                    <a:srgbClr val="000000"/>
                  </a:solidFill>
                  <a:latin typeface="Arial Narrow" panose="020B0606020202030204" pitchFamily="34" charset="0"/>
                  <a:ea typeface="ＭＳ Ｐゴシック" charset="0"/>
                  <a:cs typeface="Arial" charset="0"/>
                </a:rPr>
                <a:t>DEC</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0" name="Rectangle 9"/>
            <p:cNvSpPr/>
            <p:nvPr/>
          </p:nvSpPr>
          <p:spPr bwMode="auto">
            <a:xfrm>
              <a:off x="22860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JAN</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1" name="Rectangle 10"/>
            <p:cNvSpPr/>
            <p:nvPr/>
          </p:nvSpPr>
          <p:spPr bwMode="auto">
            <a:xfrm>
              <a:off x="27432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FEB</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2" name="Rectangle 11"/>
            <p:cNvSpPr/>
            <p:nvPr/>
          </p:nvSpPr>
          <p:spPr bwMode="auto">
            <a:xfrm>
              <a:off x="32004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100" dirty="0" smtClean="0">
                  <a:solidFill>
                    <a:srgbClr val="000000"/>
                  </a:solidFill>
                  <a:latin typeface="Arial Narrow" panose="020B0606020202030204" pitchFamily="34" charset="0"/>
                  <a:ea typeface="ＭＳ Ｐゴシック" charset="0"/>
                  <a:cs typeface="Arial" charset="0"/>
                </a:rPr>
                <a:t>MAR</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3" name="Rectangle 12"/>
            <p:cNvSpPr/>
            <p:nvPr/>
          </p:nvSpPr>
          <p:spPr bwMode="auto">
            <a:xfrm>
              <a:off x="36576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APR</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4" name="Rectangle 13"/>
            <p:cNvSpPr/>
            <p:nvPr/>
          </p:nvSpPr>
          <p:spPr bwMode="auto">
            <a:xfrm>
              <a:off x="41148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MAY</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5" name="Rectangle 14"/>
            <p:cNvSpPr/>
            <p:nvPr/>
          </p:nvSpPr>
          <p:spPr bwMode="auto">
            <a:xfrm>
              <a:off x="45720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100" dirty="0" smtClean="0">
                  <a:solidFill>
                    <a:srgbClr val="000000"/>
                  </a:solidFill>
                  <a:latin typeface="Arial Narrow" panose="020B0606020202030204" pitchFamily="34" charset="0"/>
                  <a:ea typeface="ＭＳ Ｐゴシック" charset="0"/>
                  <a:cs typeface="Arial" charset="0"/>
                </a:rPr>
                <a:t>JUN</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6" name="Rectangle 15"/>
            <p:cNvSpPr/>
            <p:nvPr/>
          </p:nvSpPr>
          <p:spPr bwMode="auto">
            <a:xfrm>
              <a:off x="50292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JUL</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7" name="Rectangle 16"/>
            <p:cNvSpPr/>
            <p:nvPr/>
          </p:nvSpPr>
          <p:spPr bwMode="auto">
            <a:xfrm>
              <a:off x="54864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Arial Narrow" panose="020B0606020202030204" pitchFamily="34" charset="0"/>
                  <a:ea typeface="ＭＳ Ｐゴシック" charset="0"/>
                  <a:cs typeface="Arial" charset="0"/>
                </a:rPr>
                <a:t>AUG</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sp>
          <p:nvSpPr>
            <p:cNvPr id="18" name="Rectangle 17"/>
            <p:cNvSpPr/>
            <p:nvPr/>
          </p:nvSpPr>
          <p:spPr bwMode="auto">
            <a:xfrm>
              <a:off x="5943600" y="2514600"/>
              <a:ext cx="457200" cy="228600"/>
            </a:xfrm>
            <a:prstGeom prst="rect">
              <a:avLst/>
            </a:prstGeom>
            <a:no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100" dirty="0" smtClean="0">
                  <a:solidFill>
                    <a:srgbClr val="000000"/>
                  </a:solidFill>
                  <a:latin typeface="Arial Narrow" panose="020B0606020202030204" pitchFamily="34" charset="0"/>
                  <a:ea typeface="ＭＳ Ｐゴシック" charset="0"/>
                  <a:cs typeface="Arial" charset="0"/>
                </a:rPr>
                <a:t>SEP</a:t>
              </a:r>
              <a:endParaRPr kumimoji="0" lang="en-US" sz="1100" b="0" i="0" u="none" strike="noStrike" cap="none" normalizeH="0" baseline="0" dirty="0">
                <a:ln>
                  <a:noFill/>
                </a:ln>
                <a:solidFill>
                  <a:srgbClr val="000000"/>
                </a:solidFill>
                <a:effectLst/>
                <a:latin typeface="Arial Narrow" panose="020B0606020202030204" pitchFamily="34" charset="0"/>
                <a:ea typeface="ＭＳ Ｐゴシック" charset="0"/>
                <a:cs typeface="Arial" charset="0"/>
              </a:endParaRPr>
            </a:p>
          </p:txBody>
        </p:sp>
      </p:grpSp>
      <p:sp>
        <p:nvSpPr>
          <p:cNvPr id="7" name="TextBox 6"/>
          <p:cNvSpPr txBox="1"/>
          <p:nvPr/>
        </p:nvSpPr>
        <p:spPr>
          <a:xfrm>
            <a:off x="990600" y="1956570"/>
            <a:ext cx="1958934" cy="307777"/>
          </a:xfrm>
          <a:prstGeom prst="rect">
            <a:avLst/>
          </a:prstGeom>
          <a:noFill/>
        </p:spPr>
        <p:txBody>
          <a:bodyPr wrap="none" rtlCol="0">
            <a:spAutoFit/>
          </a:bodyPr>
          <a:lstStyle/>
          <a:p>
            <a:r>
              <a:rPr lang="en-US" sz="1400" dirty="0" smtClean="0"/>
              <a:t>Application of MBSA II</a:t>
            </a:r>
            <a:endParaRPr lang="en-US" sz="1400" dirty="0"/>
          </a:p>
        </p:txBody>
      </p:sp>
      <p:sp>
        <p:nvSpPr>
          <p:cNvPr id="19" name="Isosceles Triangle 18"/>
          <p:cNvSpPr/>
          <p:nvPr/>
        </p:nvSpPr>
        <p:spPr bwMode="auto">
          <a:xfrm>
            <a:off x="8153400" y="4098670"/>
            <a:ext cx="228600" cy="224972"/>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solidFill>
                <a:srgbClr val="000000"/>
              </a:solidFill>
              <a:latin typeface="Arial" charset="0"/>
              <a:ea typeface="ＭＳ Ｐゴシック" charset="0"/>
              <a:cs typeface="Arial" charset="0"/>
            </a:endParaRPr>
          </a:p>
        </p:txBody>
      </p:sp>
      <p:sp>
        <p:nvSpPr>
          <p:cNvPr id="23" name="Isosceles Triangle 22"/>
          <p:cNvSpPr/>
          <p:nvPr/>
        </p:nvSpPr>
        <p:spPr bwMode="auto">
          <a:xfrm>
            <a:off x="2895600" y="3197423"/>
            <a:ext cx="228600" cy="224972"/>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Arial" charset="0"/>
            </a:endParaRPr>
          </a:p>
        </p:txBody>
      </p:sp>
      <p:sp>
        <p:nvSpPr>
          <p:cNvPr id="25" name="Isosceles Triangle 24"/>
          <p:cNvSpPr/>
          <p:nvPr/>
        </p:nvSpPr>
        <p:spPr bwMode="auto">
          <a:xfrm>
            <a:off x="5295900" y="3461146"/>
            <a:ext cx="228600" cy="224972"/>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solidFill>
                <a:srgbClr val="000000"/>
              </a:solidFill>
              <a:latin typeface="Arial" charset="0"/>
              <a:ea typeface="ＭＳ Ｐゴシック" charset="0"/>
              <a:cs typeface="Arial" charset="0"/>
            </a:endParaRPr>
          </a:p>
        </p:txBody>
      </p:sp>
      <p:sp>
        <p:nvSpPr>
          <p:cNvPr id="26" name="Isosceles Triangle 25"/>
          <p:cNvSpPr/>
          <p:nvPr/>
        </p:nvSpPr>
        <p:spPr bwMode="auto">
          <a:xfrm>
            <a:off x="8150249" y="3740999"/>
            <a:ext cx="228600" cy="224972"/>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solidFill>
                <a:srgbClr val="000000"/>
              </a:solidFill>
              <a:latin typeface="Arial" charset="0"/>
              <a:ea typeface="ＭＳ Ｐゴシック" charset="0"/>
              <a:cs typeface="Arial" charset="0"/>
            </a:endParaRPr>
          </a:p>
        </p:txBody>
      </p:sp>
      <p:sp>
        <p:nvSpPr>
          <p:cNvPr id="30" name="TextBox 29"/>
          <p:cNvSpPr txBox="1"/>
          <p:nvPr/>
        </p:nvSpPr>
        <p:spPr>
          <a:xfrm>
            <a:off x="4671439" y="2209800"/>
            <a:ext cx="2186561" cy="523220"/>
          </a:xfrm>
          <a:prstGeom prst="rect">
            <a:avLst/>
          </a:prstGeom>
          <a:noFill/>
        </p:spPr>
        <p:txBody>
          <a:bodyPr wrap="none" rtlCol="0">
            <a:spAutoFit/>
          </a:bodyPr>
          <a:lstStyle/>
          <a:p>
            <a:r>
              <a:rPr lang="en-US" sz="1400" dirty="0" smtClean="0"/>
              <a:t>Documentation of MBSA </a:t>
            </a:r>
          </a:p>
          <a:p>
            <a:r>
              <a:rPr lang="en-US" sz="1400" dirty="0" smtClean="0"/>
              <a:t>approach and process II</a:t>
            </a:r>
            <a:endParaRPr lang="en-US" sz="1400" dirty="0"/>
          </a:p>
        </p:txBody>
      </p:sp>
      <p:sp>
        <p:nvSpPr>
          <p:cNvPr id="20" name="Rectangle 19"/>
          <p:cNvSpPr/>
          <p:nvPr/>
        </p:nvSpPr>
        <p:spPr bwMode="auto">
          <a:xfrm>
            <a:off x="2895600" y="2059172"/>
            <a:ext cx="4000518" cy="114300"/>
          </a:xfrm>
          <a:prstGeom prst="rect">
            <a:avLst/>
          </a:prstGeom>
          <a:solidFill>
            <a:srgbClr val="0033CC"/>
          </a:solidFill>
          <a:ln w="12700"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Arial" charset="0"/>
            </a:endParaRPr>
          </a:p>
        </p:txBody>
      </p:sp>
      <p:sp>
        <p:nvSpPr>
          <p:cNvPr id="33" name="Rectangle 32"/>
          <p:cNvSpPr/>
          <p:nvPr/>
        </p:nvSpPr>
        <p:spPr bwMode="auto">
          <a:xfrm>
            <a:off x="6896118" y="2434667"/>
            <a:ext cx="1377138" cy="126003"/>
          </a:xfrm>
          <a:prstGeom prst="rect">
            <a:avLst/>
          </a:prstGeom>
          <a:solidFill>
            <a:srgbClr val="0033CC"/>
          </a:solidFill>
          <a:ln w="12700"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Arial" charset="0"/>
            </a:endParaRPr>
          </a:p>
        </p:txBody>
      </p:sp>
      <p:sp>
        <p:nvSpPr>
          <p:cNvPr id="27" name="TextBox 26"/>
          <p:cNvSpPr txBox="1"/>
          <p:nvPr/>
        </p:nvSpPr>
        <p:spPr>
          <a:xfrm>
            <a:off x="1333954" y="3124200"/>
            <a:ext cx="1422184" cy="523220"/>
          </a:xfrm>
          <a:prstGeom prst="rect">
            <a:avLst/>
          </a:prstGeom>
          <a:noFill/>
        </p:spPr>
        <p:txBody>
          <a:bodyPr wrap="none" rtlCol="0">
            <a:spAutoFit/>
          </a:bodyPr>
          <a:lstStyle/>
          <a:p>
            <a:r>
              <a:rPr lang="en-US" sz="1400" dirty="0" smtClean="0"/>
              <a:t>Year 2 Review </a:t>
            </a:r>
          </a:p>
          <a:p>
            <a:r>
              <a:rPr lang="en-US" sz="1400" dirty="0" smtClean="0"/>
              <a:t>(</a:t>
            </a:r>
            <a:r>
              <a:rPr lang="en-US" sz="1400" dirty="0"/>
              <a:t>4</a:t>
            </a:r>
            <a:r>
              <a:rPr lang="en-US" sz="1400" dirty="0" smtClean="0"/>
              <a:t> Oct @</a:t>
            </a:r>
            <a:r>
              <a:rPr lang="en-US" sz="1400" dirty="0" err="1" smtClean="0"/>
              <a:t>LaRC</a:t>
            </a:r>
            <a:r>
              <a:rPr lang="en-US" sz="1400" dirty="0" smtClean="0"/>
              <a:t>)</a:t>
            </a:r>
            <a:endParaRPr lang="en-US" sz="1400" dirty="0"/>
          </a:p>
        </p:txBody>
      </p:sp>
      <p:sp>
        <p:nvSpPr>
          <p:cNvPr id="28" name="TextBox 27"/>
          <p:cNvSpPr txBox="1"/>
          <p:nvPr/>
        </p:nvSpPr>
        <p:spPr>
          <a:xfrm>
            <a:off x="3848100" y="3466009"/>
            <a:ext cx="1447832" cy="307777"/>
          </a:xfrm>
          <a:prstGeom prst="rect">
            <a:avLst/>
          </a:prstGeom>
          <a:noFill/>
        </p:spPr>
        <p:txBody>
          <a:bodyPr wrap="none" rtlCol="0">
            <a:spAutoFit/>
          </a:bodyPr>
          <a:lstStyle/>
          <a:p>
            <a:r>
              <a:rPr lang="en-US" sz="1400" dirty="0" smtClean="0"/>
              <a:t>Mid-year review</a:t>
            </a:r>
            <a:endParaRPr lang="en-US" sz="1400" dirty="0"/>
          </a:p>
        </p:txBody>
      </p:sp>
      <p:sp>
        <p:nvSpPr>
          <p:cNvPr id="29" name="TextBox 28"/>
          <p:cNvSpPr txBox="1"/>
          <p:nvPr/>
        </p:nvSpPr>
        <p:spPr>
          <a:xfrm>
            <a:off x="5943600" y="3737371"/>
            <a:ext cx="2143087" cy="307777"/>
          </a:xfrm>
          <a:prstGeom prst="rect">
            <a:avLst/>
          </a:prstGeom>
          <a:noFill/>
        </p:spPr>
        <p:txBody>
          <a:bodyPr wrap="none" rtlCol="0">
            <a:spAutoFit/>
          </a:bodyPr>
          <a:lstStyle/>
          <a:p>
            <a:r>
              <a:rPr lang="en-US" sz="1400" dirty="0" smtClean="0"/>
              <a:t>Year 3 Review (@</a:t>
            </a:r>
            <a:r>
              <a:rPr lang="en-US" sz="1400" dirty="0" err="1" smtClean="0"/>
              <a:t>LaRC</a:t>
            </a:r>
            <a:r>
              <a:rPr lang="en-US" sz="1400" dirty="0" smtClean="0"/>
              <a:t>)</a:t>
            </a:r>
            <a:endParaRPr lang="en-US" sz="1400" dirty="0"/>
          </a:p>
        </p:txBody>
      </p:sp>
      <p:sp>
        <p:nvSpPr>
          <p:cNvPr id="31" name="TextBox 30"/>
          <p:cNvSpPr txBox="1"/>
          <p:nvPr/>
        </p:nvSpPr>
        <p:spPr>
          <a:xfrm>
            <a:off x="6867354" y="4111823"/>
            <a:ext cx="1211742" cy="307777"/>
          </a:xfrm>
          <a:prstGeom prst="rect">
            <a:avLst/>
          </a:prstGeom>
          <a:noFill/>
        </p:spPr>
        <p:txBody>
          <a:bodyPr wrap="none" rtlCol="0">
            <a:spAutoFit/>
          </a:bodyPr>
          <a:lstStyle/>
          <a:p>
            <a:r>
              <a:rPr lang="en-US" sz="1400" dirty="0" smtClean="0"/>
              <a:t>Year 3 report</a:t>
            </a:r>
            <a:endParaRPr lang="en-US" sz="1400" dirty="0"/>
          </a:p>
        </p:txBody>
      </p:sp>
      <p:sp>
        <p:nvSpPr>
          <p:cNvPr id="32" name="Isosceles Triangle 31"/>
          <p:cNvSpPr/>
          <p:nvPr/>
        </p:nvSpPr>
        <p:spPr bwMode="auto">
          <a:xfrm>
            <a:off x="5295900" y="2743200"/>
            <a:ext cx="228600" cy="224972"/>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Arial" charset="0"/>
            </a:endParaRPr>
          </a:p>
        </p:txBody>
      </p:sp>
      <p:sp>
        <p:nvSpPr>
          <p:cNvPr id="35" name="Isosceles Triangle 34"/>
          <p:cNvSpPr/>
          <p:nvPr/>
        </p:nvSpPr>
        <p:spPr bwMode="auto">
          <a:xfrm>
            <a:off x="6781818" y="2743200"/>
            <a:ext cx="228600" cy="224972"/>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Arial" charset="0"/>
            </a:endParaRPr>
          </a:p>
        </p:txBody>
      </p:sp>
      <p:sp>
        <p:nvSpPr>
          <p:cNvPr id="36" name="Isosceles Triangle 35"/>
          <p:cNvSpPr/>
          <p:nvPr/>
        </p:nvSpPr>
        <p:spPr bwMode="auto">
          <a:xfrm>
            <a:off x="8153400" y="2743200"/>
            <a:ext cx="228600" cy="224972"/>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Arial" charset="0"/>
            </a:endParaRPr>
          </a:p>
        </p:txBody>
      </p:sp>
      <p:sp>
        <p:nvSpPr>
          <p:cNvPr id="37" name="TextBox 36"/>
          <p:cNvSpPr txBox="1"/>
          <p:nvPr/>
        </p:nvSpPr>
        <p:spPr>
          <a:xfrm>
            <a:off x="2819400" y="2730372"/>
            <a:ext cx="2412840" cy="307777"/>
          </a:xfrm>
          <a:prstGeom prst="rect">
            <a:avLst/>
          </a:prstGeom>
          <a:noFill/>
        </p:spPr>
        <p:txBody>
          <a:bodyPr wrap="none" rtlCol="0">
            <a:spAutoFit/>
          </a:bodyPr>
          <a:lstStyle/>
          <a:p>
            <a:r>
              <a:rPr lang="en-US" sz="1400" dirty="0" smtClean="0"/>
              <a:t>Models and Demonstrations</a:t>
            </a:r>
            <a:endParaRPr lang="en-US" sz="1400" dirty="0"/>
          </a:p>
        </p:txBody>
      </p:sp>
      <p:sp>
        <p:nvSpPr>
          <p:cNvPr id="48" name="TextBox 47"/>
          <p:cNvSpPr txBox="1"/>
          <p:nvPr/>
        </p:nvSpPr>
        <p:spPr>
          <a:xfrm>
            <a:off x="2590800" y="4876800"/>
            <a:ext cx="859531" cy="276999"/>
          </a:xfrm>
          <a:prstGeom prst="rect">
            <a:avLst/>
          </a:prstGeom>
          <a:noFill/>
        </p:spPr>
        <p:txBody>
          <a:bodyPr wrap="none" rtlCol="0">
            <a:spAutoFit/>
          </a:bodyPr>
          <a:lstStyle/>
          <a:p>
            <a:r>
              <a:rPr lang="en-US" sz="1200" dirty="0" smtClean="0"/>
              <a:t>1st month</a:t>
            </a:r>
            <a:endParaRPr lang="en-US" sz="1200" dirty="0"/>
          </a:p>
        </p:txBody>
      </p:sp>
      <p:sp>
        <p:nvSpPr>
          <p:cNvPr id="49" name="TextBox 48"/>
          <p:cNvSpPr txBox="1"/>
          <p:nvPr/>
        </p:nvSpPr>
        <p:spPr>
          <a:xfrm>
            <a:off x="4980434" y="4876800"/>
            <a:ext cx="816249" cy="276999"/>
          </a:xfrm>
          <a:prstGeom prst="rect">
            <a:avLst/>
          </a:prstGeom>
          <a:noFill/>
        </p:spPr>
        <p:txBody>
          <a:bodyPr wrap="none" rtlCol="0">
            <a:spAutoFit/>
          </a:bodyPr>
          <a:lstStyle/>
          <a:p>
            <a:r>
              <a:rPr lang="en-US" sz="1200" dirty="0" smtClean="0"/>
              <a:t>6 months</a:t>
            </a:r>
            <a:endParaRPr lang="en-US" sz="1200" dirty="0"/>
          </a:p>
        </p:txBody>
      </p:sp>
      <p:sp>
        <p:nvSpPr>
          <p:cNvPr id="50" name="TextBox 49"/>
          <p:cNvSpPr txBox="1"/>
          <p:nvPr/>
        </p:nvSpPr>
        <p:spPr>
          <a:xfrm>
            <a:off x="6408044" y="4876800"/>
            <a:ext cx="816249" cy="276999"/>
          </a:xfrm>
          <a:prstGeom prst="rect">
            <a:avLst/>
          </a:prstGeom>
          <a:noFill/>
        </p:spPr>
        <p:txBody>
          <a:bodyPr wrap="none" rtlCol="0">
            <a:spAutoFit/>
          </a:bodyPr>
          <a:lstStyle/>
          <a:p>
            <a:r>
              <a:rPr lang="en-US" sz="1200" dirty="0" smtClean="0"/>
              <a:t>9 months</a:t>
            </a:r>
            <a:endParaRPr lang="en-US" sz="1200" dirty="0"/>
          </a:p>
        </p:txBody>
      </p:sp>
      <p:sp>
        <p:nvSpPr>
          <p:cNvPr id="51" name="TextBox 50"/>
          <p:cNvSpPr txBox="1"/>
          <p:nvPr/>
        </p:nvSpPr>
        <p:spPr>
          <a:xfrm>
            <a:off x="7696200" y="4876800"/>
            <a:ext cx="901209" cy="276999"/>
          </a:xfrm>
          <a:prstGeom prst="rect">
            <a:avLst/>
          </a:prstGeom>
          <a:noFill/>
        </p:spPr>
        <p:txBody>
          <a:bodyPr wrap="none" rtlCol="0">
            <a:spAutoFit/>
          </a:bodyPr>
          <a:lstStyle/>
          <a:p>
            <a:r>
              <a:rPr lang="en-US" sz="1200" dirty="0" smtClean="0"/>
              <a:t>12 </a:t>
            </a:r>
            <a:r>
              <a:rPr lang="en-US" sz="1200" dirty="0"/>
              <a:t>m</a:t>
            </a:r>
            <a:r>
              <a:rPr lang="en-US" sz="1200" dirty="0" smtClean="0"/>
              <a:t>onths</a:t>
            </a:r>
            <a:endParaRPr lang="en-US" sz="1200" dirty="0"/>
          </a:p>
        </p:txBody>
      </p:sp>
      <p:sp>
        <p:nvSpPr>
          <p:cNvPr id="42" name="Isosceles Triangle 41"/>
          <p:cNvSpPr/>
          <p:nvPr/>
        </p:nvSpPr>
        <p:spPr bwMode="auto">
          <a:xfrm>
            <a:off x="3171825"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solidFill>
                <a:srgbClr val="000000"/>
              </a:solidFill>
              <a:latin typeface="Arial" charset="0"/>
              <a:ea typeface="ＭＳ Ｐゴシック" charset="0"/>
              <a:cs typeface="Arial" charset="0"/>
            </a:endParaRPr>
          </a:p>
        </p:txBody>
      </p:sp>
      <p:sp>
        <p:nvSpPr>
          <p:cNvPr id="43" name="Isosceles Triangle 42"/>
          <p:cNvSpPr/>
          <p:nvPr/>
        </p:nvSpPr>
        <p:spPr bwMode="auto">
          <a:xfrm>
            <a:off x="3629025"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solidFill>
                <a:srgbClr val="000000"/>
              </a:solidFill>
              <a:latin typeface="Arial" charset="0"/>
              <a:ea typeface="ＭＳ Ｐゴシック" charset="0"/>
              <a:cs typeface="Arial" charset="0"/>
            </a:endParaRPr>
          </a:p>
        </p:txBody>
      </p:sp>
      <p:sp>
        <p:nvSpPr>
          <p:cNvPr id="44" name="Isosceles Triangle 43"/>
          <p:cNvSpPr/>
          <p:nvPr/>
        </p:nvSpPr>
        <p:spPr bwMode="auto">
          <a:xfrm>
            <a:off x="4086225"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solidFill>
                <a:srgbClr val="000000"/>
              </a:solidFill>
              <a:latin typeface="Arial" charset="0"/>
              <a:ea typeface="ＭＳ Ｐゴシック" charset="0"/>
              <a:cs typeface="Arial" charset="0"/>
            </a:endParaRPr>
          </a:p>
        </p:txBody>
      </p:sp>
      <p:sp>
        <p:nvSpPr>
          <p:cNvPr id="45" name="Isosceles Triangle 44"/>
          <p:cNvSpPr/>
          <p:nvPr/>
        </p:nvSpPr>
        <p:spPr bwMode="auto">
          <a:xfrm>
            <a:off x="4543425"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solidFill>
                <a:srgbClr val="000000"/>
              </a:solidFill>
              <a:latin typeface="Arial" charset="0"/>
              <a:ea typeface="ＭＳ Ｐゴシック" charset="0"/>
              <a:cs typeface="Arial" charset="0"/>
            </a:endParaRPr>
          </a:p>
        </p:txBody>
      </p:sp>
      <p:sp>
        <p:nvSpPr>
          <p:cNvPr id="46" name="Isosceles Triangle 45"/>
          <p:cNvSpPr/>
          <p:nvPr/>
        </p:nvSpPr>
        <p:spPr bwMode="auto">
          <a:xfrm>
            <a:off x="5000625"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solidFill>
                <a:srgbClr val="000000"/>
              </a:solidFill>
              <a:latin typeface="Arial" charset="0"/>
              <a:ea typeface="ＭＳ Ｐゴシック" charset="0"/>
              <a:cs typeface="Arial" charset="0"/>
            </a:endParaRPr>
          </a:p>
        </p:txBody>
      </p:sp>
      <p:sp>
        <p:nvSpPr>
          <p:cNvPr id="53" name="Isosceles Triangle 52"/>
          <p:cNvSpPr/>
          <p:nvPr/>
        </p:nvSpPr>
        <p:spPr bwMode="auto">
          <a:xfrm>
            <a:off x="5867400"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solidFill>
                <a:srgbClr val="000000"/>
              </a:solidFill>
              <a:latin typeface="Arial" charset="0"/>
              <a:ea typeface="ＭＳ Ｐゴシック" charset="0"/>
              <a:cs typeface="Arial" charset="0"/>
            </a:endParaRPr>
          </a:p>
        </p:txBody>
      </p:sp>
      <p:sp>
        <p:nvSpPr>
          <p:cNvPr id="54" name="Isosceles Triangle 53"/>
          <p:cNvSpPr/>
          <p:nvPr/>
        </p:nvSpPr>
        <p:spPr bwMode="auto">
          <a:xfrm>
            <a:off x="6324600"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solidFill>
                <a:srgbClr val="000000"/>
              </a:solidFill>
              <a:latin typeface="Arial" charset="0"/>
              <a:ea typeface="ＭＳ Ｐゴシック" charset="0"/>
              <a:cs typeface="Arial" charset="0"/>
            </a:endParaRPr>
          </a:p>
        </p:txBody>
      </p:sp>
      <p:sp>
        <p:nvSpPr>
          <p:cNvPr id="55" name="Isosceles Triangle 54"/>
          <p:cNvSpPr/>
          <p:nvPr/>
        </p:nvSpPr>
        <p:spPr bwMode="auto">
          <a:xfrm>
            <a:off x="6819900"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solidFill>
                <a:srgbClr val="000000"/>
              </a:solidFill>
              <a:latin typeface="Arial" charset="0"/>
              <a:ea typeface="ＭＳ Ｐゴシック" charset="0"/>
              <a:cs typeface="Arial" charset="0"/>
            </a:endParaRPr>
          </a:p>
        </p:txBody>
      </p:sp>
      <p:sp>
        <p:nvSpPr>
          <p:cNvPr id="56" name="Isosceles Triangle 55"/>
          <p:cNvSpPr/>
          <p:nvPr/>
        </p:nvSpPr>
        <p:spPr bwMode="auto">
          <a:xfrm>
            <a:off x="7239000"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solidFill>
                <a:srgbClr val="000000"/>
              </a:solidFill>
              <a:latin typeface="Arial" charset="0"/>
              <a:ea typeface="ＭＳ Ｐゴシック" charset="0"/>
              <a:cs typeface="Arial" charset="0"/>
            </a:endParaRPr>
          </a:p>
        </p:txBody>
      </p:sp>
      <p:sp>
        <p:nvSpPr>
          <p:cNvPr id="57" name="Isosceles Triangle 56"/>
          <p:cNvSpPr/>
          <p:nvPr/>
        </p:nvSpPr>
        <p:spPr bwMode="auto">
          <a:xfrm>
            <a:off x="7696200" y="4507630"/>
            <a:ext cx="142837" cy="140570"/>
          </a:xfrm>
          <a:prstGeom prst="triangle">
            <a:avLst/>
          </a:prstGeom>
          <a:solidFill>
            <a:srgbClr val="00B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solidFill>
                <a:srgbClr val="000000"/>
              </a:solidFill>
              <a:latin typeface="Arial" charset="0"/>
              <a:ea typeface="ＭＳ Ｐゴシック" charset="0"/>
              <a:cs typeface="Arial" charset="0"/>
            </a:endParaRPr>
          </a:p>
        </p:txBody>
      </p:sp>
      <p:sp>
        <p:nvSpPr>
          <p:cNvPr id="59" name="TextBox 58"/>
          <p:cNvSpPr txBox="1"/>
          <p:nvPr/>
        </p:nvSpPr>
        <p:spPr>
          <a:xfrm>
            <a:off x="1600200" y="4416623"/>
            <a:ext cx="1417376" cy="307777"/>
          </a:xfrm>
          <a:prstGeom prst="rect">
            <a:avLst/>
          </a:prstGeom>
          <a:noFill/>
        </p:spPr>
        <p:txBody>
          <a:bodyPr wrap="none" rtlCol="0">
            <a:spAutoFit/>
          </a:bodyPr>
          <a:lstStyle/>
          <a:p>
            <a:r>
              <a:rPr lang="en-US" sz="1400" dirty="0" smtClean="0"/>
              <a:t>Monthly reports</a:t>
            </a:r>
            <a:endParaRPr lang="en-US" sz="1400" dirty="0"/>
          </a:p>
        </p:txBody>
      </p:sp>
    </p:spTree>
    <p:extLst>
      <p:ext uri="{BB962C8B-B14F-4D97-AF65-F5344CB8AC3E}">
        <p14:creationId xmlns:p14="http://schemas.microsoft.com/office/powerpoint/2010/main" val="3381973174"/>
      </p:ext>
    </p:extLst>
  </p:cSld>
  <p:clrMapOvr>
    <a:masterClrMapping/>
  </p:clrMapOvr>
  <p:transition>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24000" y="2909598"/>
            <a:ext cx="5181600" cy="769441"/>
          </a:xfrm>
          <a:prstGeom prst="rect">
            <a:avLst/>
          </a:prstGeom>
          <a:noFill/>
        </p:spPr>
        <p:txBody>
          <a:bodyPr wrap="square" rtlCol="0">
            <a:spAutoFit/>
          </a:bodyPr>
          <a:lstStyle/>
          <a:p>
            <a:r>
              <a:rPr lang="de-DE" sz="4400" dirty="0" smtClean="0">
                <a:latin typeface="+mn-lt"/>
              </a:rPr>
              <a:t>Progress To Date</a:t>
            </a:r>
            <a:endParaRPr lang="en-US" sz="4400" dirty="0">
              <a:latin typeface="+mn-lt"/>
            </a:endParaRPr>
          </a:p>
        </p:txBody>
      </p:sp>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20</a:t>
            </a:fld>
            <a:endParaRPr lang="en-US"/>
          </a:p>
        </p:txBody>
      </p:sp>
    </p:spTree>
    <p:extLst>
      <p:ext uri="{BB962C8B-B14F-4D97-AF65-F5344CB8AC3E}">
        <p14:creationId xmlns:p14="http://schemas.microsoft.com/office/powerpoint/2010/main" val="23166513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00200" y="2877879"/>
            <a:ext cx="5105400" cy="769441"/>
          </a:xfrm>
          <a:prstGeom prst="rect">
            <a:avLst/>
          </a:prstGeom>
          <a:noFill/>
        </p:spPr>
        <p:txBody>
          <a:bodyPr wrap="square" rtlCol="0">
            <a:spAutoFit/>
          </a:bodyPr>
          <a:lstStyle/>
          <a:p>
            <a:r>
              <a:rPr lang="de-DE" sz="4400" dirty="0" smtClean="0">
                <a:latin typeface="+mn-lt"/>
              </a:rPr>
              <a:t>Background</a:t>
            </a:r>
            <a:endParaRPr lang="en-US" sz="4400" dirty="0">
              <a:latin typeface="+mn-lt"/>
            </a:endParaRPr>
          </a:p>
        </p:txBody>
      </p:sp>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21</a:t>
            </a:fld>
            <a:endParaRPr lang="en-US"/>
          </a:p>
        </p:txBody>
      </p:sp>
    </p:spTree>
    <p:extLst>
      <p:ext uri="{BB962C8B-B14F-4D97-AF65-F5344CB8AC3E}">
        <p14:creationId xmlns:p14="http://schemas.microsoft.com/office/powerpoint/2010/main" val="22917204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US" altLang="en-US" dirty="0"/>
              <a:t>Motivation</a:t>
            </a:r>
          </a:p>
        </p:txBody>
      </p:sp>
      <p:grpSp>
        <p:nvGrpSpPr>
          <p:cNvPr id="3" name="Group 32"/>
          <p:cNvGrpSpPr>
            <a:grpSpLocks/>
          </p:cNvGrpSpPr>
          <p:nvPr/>
        </p:nvGrpSpPr>
        <p:grpSpPr bwMode="auto">
          <a:xfrm>
            <a:off x="207963" y="3733800"/>
            <a:ext cx="2840037" cy="2428875"/>
            <a:chOff x="131" y="2352"/>
            <a:chExt cx="1789" cy="1530"/>
          </a:xfrm>
        </p:grpSpPr>
        <p:graphicFrame>
          <p:nvGraphicFramePr>
            <p:cNvPr id="86018" name="Object 2"/>
            <p:cNvGraphicFramePr>
              <a:graphicFrameLocks noChangeAspect="1"/>
            </p:cNvGraphicFramePr>
            <p:nvPr/>
          </p:nvGraphicFramePr>
          <p:xfrm>
            <a:off x="131" y="2496"/>
            <a:ext cx="1789" cy="1386"/>
          </p:xfrm>
          <a:graphic>
            <a:graphicData uri="http://schemas.openxmlformats.org/presentationml/2006/ole">
              <mc:AlternateContent xmlns:mc="http://schemas.openxmlformats.org/markup-compatibility/2006">
                <mc:Choice xmlns:v="urn:schemas-microsoft-com:vml" Requires="v">
                  <p:oleObj spid="_x0000_s1242" name="Visio" r:id="rId4" imgW="7073900" imgH="5549900" progId="">
                    <p:embed/>
                  </p:oleObj>
                </mc:Choice>
                <mc:Fallback>
                  <p:oleObj name="Visio" r:id="rId4" imgW="7073900" imgH="554990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 y="2496"/>
                          <a:ext cx="1789" cy="1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9" name="Line 13"/>
            <p:cNvSpPr>
              <a:spLocks noChangeShapeType="1"/>
            </p:cNvSpPr>
            <p:nvPr/>
          </p:nvSpPr>
          <p:spPr bwMode="auto">
            <a:xfrm>
              <a:off x="720" y="2352"/>
              <a:ext cx="96" cy="336"/>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grpSp>
      <p:grpSp>
        <p:nvGrpSpPr>
          <p:cNvPr id="4" name="Group 33"/>
          <p:cNvGrpSpPr>
            <a:grpSpLocks/>
          </p:cNvGrpSpPr>
          <p:nvPr/>
        </p:nvGrpSpPr>
        <p:grpSpPr bwMode="auto">
          <a:xfrm>
            <a:off x="7010400" y="3810000"/>
            <a:ext cx="1524000" cy="2438400"/>
            <a:chOff x="4416" y="2400"/>
            <a:chExt cx="890" cy="1536"/>
          </a:xfrm>
        </p:grpSpPr>
        <p:pic>
          <p:nvPicPr>
            <p:cNvPr id="86024"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16" y="2832"/>
              <a:ext cx="890" cy="1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6034" name="Line 18"/>
            <p:cNvSpPr>
              <a:spLocks noChangeShapeType="1"/>
            </p:cNvSpPr>
            <p:nvPr/>
          </p:nvSpPr>
          <p:spPr bwMode="auto">
            <a:xfrm flipH="1">
              <a:off x="4944" y="2400"/>
              <a:ext cx="144" cy="288"/>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grpSp>
      <p:grpSp>
        <p:nvGrpSpPr>
          <p:cNvPr id="5" name="Group 29"/>
          <p:cNvGrpSpPr>
            <a:grpSpLocks/>
          </p:cNvGrpSpPr>
          <p:nvPr/>
        </p:nvGrpSpPr>
        <p:grpSpPr bwMode="auto">
          <a:xfrm>
            <a:off x="2514600" y="1295400"/>
            <a:ext cx="4038600" cy="990600"/>
            <a:chOff x="1584" y="816"/>
            <a:chExt cx="2544" cy="624"/>
          </a:xfrm>
        </p:grpSpPr>
        <p:sp>
          <p:nvSpPr>
            <p:cNvPr id="86020" name="Document"/>
            <p:cNvSpPr>
              <a:spLocks noEditPoints="1" noChangeArrowheads="1"/>
            </p:cNvSpPr>
            <p:nvPr/>
          </p:nvSpPr>
          <p:spPr bwMode="auto">
            <a:xfrm>
              <a:off x="1584" y="816"/>
              <a:ext cx="338" cy="554"/>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a:lstStyle/>
            <a:p>
              <a:endParaRPr lang="en-US" dirty="0"/>
            </a:p>
          </p:txBody>
        </p:sp>
        <p:pic>
          <p:nvPicPr>
            <p:cNvPr id="86021" name="Picture 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64" y="816"/>
              <a:ext cx="450" cy="564"/>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6022" name="Documents"/>
            <p:cNvSpPr>
              <a:spLocks noEditPoints="1" noChangeArrowheads="1"/>
            </p:cNvSpPr>
            <p:nvPr/>
          </p:nvSpPr>
          <p:spPr bwMode="auto">
            <a:xfrm>
              <a:off x="3696" y="816"/>
              <a:ext cx="432" cy="624"/>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a:lstStyle/>
            <a:p>
              <a:endParaRPr lang="en-US" dirty="0"/>
            </a:p>
          </p:txBody>
        </p:sp>
        <p:sp>
          <p:nvSpPr>
            <p:cNvPr id="86035" name="Text Box 19"/>
            <p:cNvSpPr txBox="1">
              <a:spLocks noChangeArrowheads="1"/>
            </p:cNvSpPr>
            <p:nvPr/>
          </p:nvSpPr>
          <p:spPr bwMode="auto">
            <a:xfrm>
              <a:off x="2544" y="912"/>
              <a:ext cx="1127"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spcBef>
                  <a:spcPct val="20000"/>
                </a:spcBef>
                <a:buClr>
                  <a:srgbClr val="FFD300"/>
                </a:buClr>
                <a:buSzPct val="59000"/>
                <a:buFont typeface="Monotype Sorts" pitchFamily="2" charset="2"/>
                <a:buNone/>
              </a:pPr>
              <a:r>
                <a:rPr lang="en-US" altLang="en-US" sz="1400" b="1" dirty="0"/>
                <a:t>Requirements and </a:t>
              </a:r>
            </a:p>
            <a:p>
              <a:pPr algn="ctr" eaLnBrk="0" hangingPunct="0">
                <a:spcBef>
                  <a:spcPct val="20000"/>
                </a:spcBef>
                <a:buClr>
                  <a:srgbClr val="FFD300"/>
                </a:buClr>
                <a:buSzPct val="59000"/>
                <a:buFont typeface="Monotype Sorts" pitchFamily="2" charset="2"/>
                <a:buNone/>
              </a:pPr>
              <a:r>
                <a:rPr lang="en-US" altLang="en-US" sz="1400" b="1" dirty="0"/>
                <a:t>Design Documents</a:t>
              </a:r>
            </a:p>
          </p:txBody>
        </p:sp>
      </p:grpSp>
      <p:grpSp>
        <p:nvGrpSpPr>
          <p:cNvPr id="6" name="Group 34"/>
          <p:cNvGrpSpPr>
            <a:grpSpLocks/>
          </p:cNvGrpSpPr>
          <p:nvPr/>
        </p:nvGrpSpPr>
        <p:grpSpPr bwMode="auto">
          <a:xfrm>
            <a:off x="2667000" y="4622800"/>
            <a:ext cx="4114800" cy="1854200"/>
            <a:chOff x="1680" y="2912"/>
            <a:chExt cx="2592" cy="1168"/>
          </a:xfrm>
        </p:grpSpPr>
        <p:pic>
          <p:nvPicPr>
            <p:cNvPr id="86023" name="Picture 7" descr="MCj02309870000[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208" y="2912"/>
              <a:ext cx="1584" cy="1168"/>
            </a:xfrm>
            <a:prstGeom prst="rect">
              <a:avLst/>
            </a:prstGeom>
            <a:noFill/>
            <a:extLst>
              <a:ext uri="{909E8E84-426E-40DD-AFC4-6F175D3DCCD1}">
                <a14:hiddenFill xmlns:a14="http://schemas.microsoft.com/office/drawing/2010/main">
                  <a:solidFill>
                    <a:srgbClr val="FFFFFF"/>
                  </a:solidFill>
                </a14:hiddenFill>
              </a:ext>
            </a:extLst>
          </p:spPr>
        </p:pic>
        <p:sp>
          <p:nvSpPr>
            <p:cNvPr id="86037" name="Line 21"/>
            <p:cNvSpPr>
              <a:spLocks noChangeShapeType="1"/>
            </p:cNvSpPr>
            <p:nvPr/>
          </p:nvSpPr>
          <p:spPr bwMode="auto">
            <a:xfrm rot="-10800000" flipH="1" flipV="1">
              <a:off x="1680" y="3312"/>
              <a:ext cx="480" cy="96"/>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38" name="Line 22"/>
            <p:cNvSpPr>
              <a:spLocks noChangeShapeType="1"/>
            </p:cNvSpPr>
            <p:nvPr/>
          </p:nvSpPr>
          <p:spPr bwMode="auto">
            <a:xfrm rot="10800000" flipV="1">
              <a:off x="3840" y="3360"/>
              <a:ext cx="432" cy="96"/>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grpSp>
      <p:grpSp>
        <p:nvGrpSpPr>
          <p:cNvPr id="7" name="Group 30"/>
          <p:cNvGrpSpPr>
            <a:grpSpLocks/>
          </p:cNvGrpSpPr>
          <p:nvPr/>
        </p:nvGrpSpPr>
        <p:grpSpPr bwMode="auto">
          <a:xfrm>
            <a:off x="228600" y="1735138"/>
            <a:ext cx="5638800" cy="1971675"/>
            <a:chOff x="144" y="1093"/>
            <a:chExt cx="3552" cy="1242"/>
          </a:xfrm>
        </p:grpSpPr>
        <p:pic>
          <p:nvPicPr>
            <p:cNvPr id="86025" name="Picture 9" descr="MCj02955600000[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92" y="1584"/>
              <a:ext cx="936" cy="751"/>
            </a:xfrm>
            <a:prstGeom prst="rect">
              <a:avLst/>
            </a:prstGeom>
            <a:noFill/>
            <a:extLst>
              <a:ext uri="{909E8E84-426E-40DD-AFC4-6F175D3DCCD1}">
                <a14:hiddenFill xmlns:a14="http://schemas.microsoft.com/office/drawing/2010/main">
                  <a:solidFill>
                    <a:srgbClr val="FFFFFF"/>
                  </a:solidFill>
                </a14:hiddenFill>
              </a:ext>
            </a:extLst>
          </p:spPr>
        </p:pic>
        <p:sp>
          <p:nvSpPr>
            <p:cNvPr id="86026" name="Line 10"/>
            <p:cNvSpPr>
              <a:spLocks noChangeShapeType="1"/>
            </p:cNvSpPr>
            <p:nvPr/>
          </p:nvSpPr>
          <p:spPr bwMode="auto">
            <a:xfrm flipH="1">
              <a:off x="1008" y="1392"/>
              <a:ext cx="576" cy="288"/>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27" name="Line 11"/>
            <p:cNvSpPr>
              <a:spLocks noChangeShapeType="1"/>
            </p:cNvSpPr>
            <p:nvPr/>
          </p:nvSpPr>
          <p:spPr bwMode="auto">
            <a:xfrm flipH="1">
              <a:off x="1152" y="1392"/>
              <a:ext cx="1104" cy="432"/>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28" name="Line 12"/>
            <p:cNvSpPr>
              <a:spLocks noChangeShapeType="1"/>
            </p:cNvSpPr>
            <p:nvPr/>
          </p:nvSpPr>
          <p:spPr bwMode="auto">
            <a:xfrm flipH="1">
              <a:off x="1152" y="1440"/>
              <a:ext cx="2544" cy="528"/>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41" name="Text Box 25"/>
            <p:cNvSpPr txBox="1">
              <a:spLocks noChangeArrowheads="1"/>
            </p:cNvSpPr>
            <p:nvPr/>
          </p:nvSpPr>
          <p:spPr bwMode="auto">
            <a:xfrm>
              <a:off x="144" y="1093"/>
              <a:ext cx="816"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lang="en-US" altLang="en-US" sz="1600" b="1" dirty="0"/>
                <a:t>Safety </a:t>
              </a:r>
            </a:p>
            <a:p>
              <a:pPr algn="ctr">
                <a:spcBef>
                  <a:spcPct val="50000"/>
                </a:spcBef>
              </a:pPr>
              <a:r>
                <a:rPr lang="en-US" altLang="en-US" sz="1600" b="1" dirty="0"/>
                <a:t>Analyst A</a:t>
              </a:r>
            </a:p>
          </p:txBody>
        </p:sp>
      </p:grpSp>
      <p:grpSp>
        <p:nvGrpSpPr>
          <p:cNvPr id="8" name="Group 31"/>
          <p:cNvGrpSpPr>
            <a:grpSpLocks/>
          </p:cNvGrpSpPr>
          <p:nvPr/>
        </p:nvGrpSpPr>
        <p:grpSpPr bwMode="auto">
          <a:xfrm>
            <a:off x="2895600" y="1735138"/>
            <a:ext cx="5905500" cy="1971675"/>
            <a:chOff x="1824" y="1093"/>
            <a:chExt cx="3720" cy="1242"/>
          </a:xfrm>
        </p:grpSpPr>
        <p:sp>
          <p:nvSpPr>
            <p:cNvPr id="86031" name="Line 15"/>
            <p:cNvSpPr>
              <a:spLocks noChangeShapeType="1"/>
            </p:cNvSpPr>
            <p:nvPr/>
          </p:nvSpPr>
          <p:spPr bwMode="auto">
            <a:xfrm>
              <a:off x="1824" y="1488"/>
              <a:ext cx="2688" cy="576"/>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33" name="Line 17"/>
            <p:cNvSpPr>
              <a:spLocks noChangeShapeType="1"/>
            </p:cNvSpPr>
            <p:nvPr/>
          </p:nvSpPr>
          <p:spPr bwMode="auto">
            <a:xfrm>
              <a:off x="2544" y="1344"/>
              <a:ext cx="2064" cy="576"/>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pic>
          <p:nvPicPr>
            <p:cNvPr id="86030" name="Picture 14" descr="MCj02955600000[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608" y="1584"/>
              <a:ext cx="936" cy="751"/>
            </a:xfrm>
            <a:prstGeom prst="rect">
              <a:avLst/>
            </a:prstGeom>
            <a:noFill/>
            <a:extLst>
              <a:ext uri="{909E8E84-426E-40DD-AFC4-6F175D3DCCD1}">
                <a14:hiddenFill xmlns:a14="http://schemas.microsoft.com/office/drawing/2010/main">
                  <a:solidFill>
                    <a:srgbClr val="FFFFFF"/>
                  </a:solidFill>
                </a14:hiddenFill>
              </a:ext>
            </a:extLst>
          </p:spPr>
        </p:pic>
        <p:sp>
          <p:nvSpPr>
            <p:cNvPr id="86032" name="Line 16"/>
            <p:cNvSpPr>
              <a:spLocks noChangeShapeType="1"/>
            </p:cNvSpPr>
            <p:nvPr/>
          </p:nvSpPr>
          <p:spPr bwMode="auto">
            <a:xfrm>
              <a:off x="4224" y="1488"/>
              <a:ext cx="336" cy="192"/>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42" name="Text Box 26"/>
            <p:cNvSpPr txBox="1">
              <a:spLocks noChangeArrowheads="1"/>
            </p:cNvSpPr>
            <p:nvPr/>
          </p:nvSpPr>
          <p:spPr bwMode="auto">
            <a:xfrm>
              <a:off x="4704" y="1093"/>
              <a:ext cx="816"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lang="en-US" altLang="en-US" sz="1600" b="1" dirty="0"/>
                <a:t>Safety </a:t>
              </a:r>
            </a:p>
            <a:p>
              <a:pPr algn="ctr">
                <a:spcBef>
                  <a:spcPct val="50000"/>
                </a:spcBef>
              </a:pPr>
              <a:r>
                <a:rPr lang="en-US" altLang="en-US" sz="1600" b="1" dirty="0"/>
                <a:t>Analyst B</a:t>
              </a:r>
            </a:p>
          </p:txBody>
        </p:sp>
      </p:grpSp>
      <p:grpSp>
        <p:nvGrpSpPr>
          <p:cNvPr id="9" name="Group 36"/>
          <p:cNvGrpSpPr>
            <a:grpSpLocks/>
          </p:cNvGrpSpPr>
          <p:nvPr/>
        </p:nvGrpSpPr>
        <p:grpSpPr bwMode="auto">
          <a:xfrm>
            <a:off x="2093912" y="3276600"/>
            <a:ext cx="5526088" cy="1101725"/>
            <a:chOff x="1552" y="2074"/>
            <a:chExt cx="3481" cy="694"/>
          </a:xfrm>
        </p:grpSpPr>
        <p:sp>
          <p:nvSpPr>
            <p:cNvPr id="86040" name="Text Box 24"/>
            <p:cNvSpPr txBox="1">
              <a:spLocks noChangeArrowheads="1"/>
            </p:cNvSpPr>
            <p:nvPr/>
          </p:nvSpPr>
          <p:spPr bwMode="auto">
            <a:xfrm>
              <a:off x="1552" y="2074"/>
              <a:ext cx="2086"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sz="1700" b="1" dirty="0">
                  <a:latin typeface="+mn-lt"/>
                </a:rPr>
                <a:t>System Safety Analysis is</a:t>
              </a:r>
            </a:p>
          </p:txBody>
        </p:sp>
        <p:sp>
          <p:nvSpPr>
            <p:cNvPr id="86043" name="Text Box 27"/>
            <p:cNvSpPr txBox="1">
              <a:spLocks noChangeArrowheads="1"/>
            </p:cNvSpPr>
            <p:nvPr/>
          </p:nvSpPr>
          <p:spPr bwMode="auto">
            <a:xfrm>
              <a:off x="1696" y="2305"/>
              <a:ext cx="2773"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sz="1700" b="1" dirty="0">
                  <a:latin typeface="+mn-lt"/>
                </a:rPr>
                <a:t>- Based on Informal Specifications</a:t>
              </a:r>
            </a:p>
          </p:txBody>
        </p:sp>
        <p:sp>
          <p:nvSpPr>
            <p:cNvPr id="86044" name="Text Box 28"/>
            <p:cNvSpPr txBox="1">
              <a:spLocks noChangeArrowheads="1"/>
            </p:cNvSpPr>
            <p:nvPr/>
          </p:nvSpPr>
          <p:spPr bwMode="auto">
            <a:xfrm>
              <a:off x="1696" y="2545"/>
              <a:ext cx="3337"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sz="1700" b="1" dirty="0">
                  <a:latin typeface="+mn-lt"/>
                </a:rPr>
                <a:t>- Highly Dependent on Skill of the Analyst</a:t>
              </a:r>
            </a:p>
          </p:txBody>
        </p:sp>
      </p:grpSp>
      <p:sp>
        <p:nvSpPr>
          <p:cNvPr id="34" name="TextBox 33"/>
          <p:cNvSpPr txBox="1"/>
          <p:nvPr/>
        </p:nvSpPr>
        <p:spPr>
          <a:xfrm>
            <a:off x="2209800" y="18288"/>
            <a:ext cx="6324600" cy="369332"/>
          </a:xfrm>
          <a:prstGeom prst="rect">
            <a:avLst/>
          </a:prstGeom>
          <a:noFill/>
        </p:spPr>
        <p:txBody>
          <a:bodyPr wrap="square" rtlCol="0">
            <a:spAutoFit/>
          </a:bodyPr>
          <a:lstStyle/>
          <a:p>
            <a:r>
              <a:rPr lang="en-US" b="1" dirty="0" smtClean="0">
                <a:solidFill>
                  <a:srgbClr val="FF0000"/>
                </a:solidFill>
              </a:rPr>
              <a:t>Keep?</a:t>
            </a:r>
          </a:p>
        </p:txBody>
      </p:sp>
      <p:sp>
        <p:nvSpPr>
          <p:cNvPr id="2" name="Slide Number Placeholder 1"/>
          <p:cNvSpPr>
            <a:spLocks noGrp="1"/>
          </p:cNvSpPr>
          <p:nvPr>
            <p:ph type="sldNum" sz="quarter" idx="10"/>
          </p:nvPr>
        </p:nvSpPr>
        <p:spPr/>
        <p:txBody>
          <a:bodyPr/>
          <a:lstStyle/>
          <a:p>
            <a:pPr>
              <a:defRPr/>
            </a:pPr>
            <a:fld id="{7486D9C8-0CDB-4BF0-99FF-D7490CE4EFA3}" type="slidenum">
              <a:rPr lang="en-US" smtClean="0"/>
              <a:pPr>
                <a:defRPr/>
              </a:pPr>
              <a:t>22</a:t>
            </a:fld>
            <a:endParaRPr lang="en-US"/>
          </a:p>
        </p:txBody>
      </p:sp>
    </p:spTree>
    <p:extLst>
      <p:ext uri="{BB962C8B-B14F-4D97-AF65-F5344CB8AC3E}">
        <p14:creationId xmlns:p14="http://schemas.microsoft.com/office/powerpoint/2010/main" val="18528652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500" name="Rectangle 4"/>
          <p:cNvSpPr>
            <a:spLocks noGrp="1" noChangeArrowheads="1"/>
          </p:cNvSpPr>
          <p:nvPr>
            <p:ph type="title"/>
          </p:nvPr>
        </p:nvSpPr>
        <p:spPr/>
        <p:txBody>
          <a:bodyPr/>
          <a:lstStyle/>
          <a:p>
            <a:r>
              <a:rPr lang="en-US" altLang="en-US" dirty="0"/>
              <a:t>Model-Based Development</a:t>
            </a:r>
          </a:p>
        </p:txBody>
      </p:sp>
      <p:grpSp>
        <p:nvGrpSpPr>
          <p:cNvPr id="3" name="Group 14"/>
          <p:cNvGrpSpPr>
            <a:grpSpLocks/>
          </p:cNvGrpSpPr>
          <p:nvPr/>
        </p:nvGrpSpPr>
        <p:grpSpPr bwMode="auto">
          <a:xfrm>
            <a:off x="609600" y="1600200"/>
            <a:ext cx="4800600" cy="4724400"/>
            <a:chOff x="384" y="1008"/>
            <a:chExt cx="3024" cy="2976"/>
          </a:xfrm>
        </p:grpSpPr>
        <p:grpSp>
          <p:nvGrpSpPr>
            <p:cNvPr id="4" name="Group 5"/>
            <p:cNvGrpSpPr>
              <a:grpSpLocks/>
            </p:cNvGrpSpPr>
            <p:nvPr/>
          </p:nvGrpSpPr>
          <p:grpSpPr bwMode="auto">
            <a:xfrm>
              <a:off x="384" y="1008"/>
              <a:ext cx="3024" cy="2232"/>
              <a:chOff x="3120" y="960"/>
              <a:chExt cx="2476" cy="1752"/>
            </a:xfrm>
          </p:grpSpPr>
          <p:graphicFrame>
            <p:nvGraphicFramePr>
              <p:cNvPr id="234502" name="Object 6"/>
              <p:cNvGraphicFramePr>
                <a:graphicFrameLocks noChangeAspect="1"/>
              </p:cNvGraphicFramePr>
              <p:nvPr/>
            </p:nvGraphicFramePr>
            <p:xfrm>
              <a:off x="3120" y="960"/>
              <a:ext cx="2476" cy="1752"/>
            </p:xfrm>
            <a:graphic>
              <a:graphicData uri="http://schemas.openxmlformats.org/presentationml/2006/ole">
                <mc:AlternateContent xmlns:mc="http://schemas.openxmlformats.org/markup-compatibility/2006">
                  <mc:Choice xmlns:v="urn:schemas-microsoft-com:vml" Requires="v">
                    <p:oleObj spid="_x0000_s2698" name="VISIO" r:id="rId4" imgW="3937000" imgH="2781300" progId="">
                      <p:embed/>
                    </p:oleObj>
                  </mc:Choice>
                  <mc:Fallback>
                    <p:oleObj name="VISIO" r:id="rId4" imgW="3937000" imgH="278130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0" y="960"/>
                            <a:ext cx="2476" cy="1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4503" name="Object 7" descr="c2sdocs"/>
              <p:cNvGraphicFramePr>
                <a:graphicFrameLocks noChangeAspect="1"/>
              </p:cNvGraphicFramePr>
              <p:nvPr/>
            </p:nvGraphicFramePr>
            <p:xfrm>
              <a:off x="3967" y="1392"/>
              <a:ext cx="737" cy="756"/>
            </p:xfrm>
            <a:graphic>
              <a:graphicData uri="http://schemas.openxmlformats.org/presentationml/2006/ole">
                <mc:AlternateContent xmlns:mc="http://schemas.openxmlformats.org/markup-compatibility/2006">
                  <mc:Choice xmlns:v="urn:schemas-microsoft-com:vml" Requires="v">
                    <p:oleObj spid="_x0000_s2699" name="VISIO" r:id="rId6" imgW="2336800" imgH="2108200" progId="">
                      <p:embed/>
                    </p:oleObj>
                  </mc:Choice>
                  <mc:Fallback>
                    <p:oleObj name="VISIO" r:id="rId6" imgW="2336800" imgH="210820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11728" t="8691" r="11728" b="4346"/>
                          <a:stretch>
                            <a:fillRect/>
                          </a:stretch>
                        </p:blipFill>
                        <p:spPr bwMode="auto">
                          <a:xfrm>
                            <a:off x="3967" y="1392"/>
                            <a:ext cx="737" cy="7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34508" name="Text Box 12"/>
            <p:cNvSpPr txBox="1">
              <a:spLocks noChangeArrowheads="1"/>
            </p:cNvSpPr>
            <p:nvPr/>
          </p:nvSpPr>
          <p:spPr bwMode="auto">
            <a:xfrm>
              <a:off x="924" y="3344"/>
              <a:ext cx="1901"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2000" b="1" dirty="0">
                  <a:solidFill>
                    <a:schemeClr val="tx2"/>
                  </a:solidFill>
                  <a:latin typeface="+mn-lt"/>
                </a:rPr>
                <a:t>We Base the Entire </a:t>
              </a:r>
            </a:p>
            <a:p>
              <a:pPr algn="ctr"/>
              <a:r>
                <a:rPr lang="en-US" altLang="en-US" sz="2000" b="1" dirty="0">
                  <a:solidFill>
                    <a:schemeClr val="tx2"/>
                  </a:solidFill>
                  <a:latin typeface="+mn-lt"/>
                </a:rPr>
                <a:t>Development Cycle</a:t>
              </a:r>
            </a:p>
            <a:p>
              <a:pPr algn="ctr"/>
              <a:r>
                <a:rPr lang="en-US" altLang="en-US" sz="2000" b="1" dirty="0">
                  <a:solidFill>
                    <a:schemeClr val="tx2"/>
                  </a:solidFill>
                  <a:latin typeface="+mn-lt"/>
                </a:rPr>
                <a:t>Around the Model</a:t>
              </a:r>
            </a:p>
          </p:txBody>
        </p:sp>
      </p:grpSp>
      <p:grpSp>
        <p:nvGrpSpPr>
          <p:cNvPr id="5" name="Group 15"/>
          <p:cNvGrpSpPr>
            <a:grpSpLocks/>
          </p:cNvGrpSpPr>
          <p:nvPr/>
        </p:nvGrpSpPr>
        <p:grpSpPr bwMode="auto">
          <a:xfrm>
            <a:off x="5562601" y="2184400"/>
            <a:ext cx="3271838" cy="3140075"/>
            <a:chOff x="3504" y="1376"/>
            <a:chExt cx="2061" cy="1978"/>
          </a:xfrm>
        </p:grpSpPr>
        <p:graphicFrame>
          <p:nvGraphicFramePr>
            <p:cNvPr id="234505" name="Object 9"/>
            <p:cNvGraphicFramePr>
              <a:graphicFrameLocks noChangeAspect="1"/>
            </p:cNvGraphicFramePr>
            <p:nvPr/>
          </p:nvGraphicFramePr>
          <p:xfrm>
            <a:off x="3648" y="1968"/>
            <a:ext cx="1789" cy="1386"/>
          </p:xfrm>
          <a:graphic>
            <a:graphicData uri="http://schemas.openxmlformats.org/presentationml/2006/ole">
              <mc:AlternateContent xmlns:mc="http://schemas.openxmlformats.org/markup-compatibility/2006">
                <mc:Choice xmlns:v="urn:schemas-microsoft-com:vml" Requires="v">
                  <p:oleObj spid="_x0000_s2700" name="Visio" r:id="rId8" imgW="7073900" imgH="5549900" progId="">
                    <p:embed/>
                  </p:oleObj>
                </mc:Choice>
                <mc:Fallback>
                  <p:oleObj name="Visio" r:id="rId8" imgW="7073900" imgH="5549900"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48" y="1968"/>
                          <a:ext cx="1789" cy="1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4507" name="AutoShape 11"/>
            <p:cNvSpPr>
              <a:spLocks noChangeArrowheads="1"/>
            </p:cNvSpPr>
            <p:nvPr/>
          </p:nvSpPr>
          <p:spPr bwMode="auto">
            <a:xfrm rot="1303765">
              <a:off x="3504" y="2160"/>
              <a:ext cx="432" cy="288"/>
            </a:xfrm>
            <a:prstGeom prst="rightArrow">
              <a:avLst>
                <a:gd name="adj1" fmla="val 50000"/>
                <a:gd name="adj2" fmla="val 37500"/>
              </a:avLst>
            </a:prstGeom>
            <a:solidFill>
              <a:schemeClr val="tx2"/>
            </a:solidFill>
            <a:ln w="17526"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234509" name="Text Box 13"/>
            <p:cNvSpPr txBox="1">
              <a:spLocks noChangeArrowheads="1"/>
            </p:cNvSpPr>
            <p:nvPr/>
          </p:nvSpPr>
          <p:spPr bwMode="auto">
            <a:xfrm>
              <a:off x="3959" y="1376"/>
              <a:ext cx="160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2000" b="1" dirty="0">
                  <a:solidFill>
                    <a:schemeClr val="tx2"/>
                  </a:solidFill>
                  <a:latin typeface="+mn-lt"/>
                </a:rPr>
                <a:t>Why Not the</a:t>
              </a:r>
            </a:p>
            <a:p>
              <a:pPr algn="ctr"/>
              <a:r>
                <a:rPr lang="en-US" altLang="en-US" sz="2000" b="1" dirty="0">
                  <a:solidFill>
                    <a:schemeClr val="tx2"/>
                  </a:solidFill>
                  <a:latin typeface="+mn-lt"/>
                </a:rPr>
                <a:t>Safety Analysis?</a:t>
              </a:r>
            </a:p>
          </p:txBody>
        </p:sp>
      </p:grpSp>
      <p:sp>
        <p:nvSpPr>
          <p:cNvPr id="12" name="TextBox 11"/>
          <p:cNvSpPr txBox="1"/>
          <p:nvPr/>
        </p:nvSpPr>
        <p:spPr>
          <a:xfrm>
            <a:off x="2209800" y="18288"/>
            <a:ext cx="6324600" cy="369332"/>
          </a:xfrm>
          <a:prstGeom prst="rect">
            <a:avLst/>
          </a:prstGeom>
          <a:noFill/>
        </p:spPr>
        <p:txBody>
          <a:bodyPr wrap="square" rtlCol="0">
            <a:spAutoFit/>
          </a:bodyPr>
          <a:lstStyle/>
          <a:p>
            <a:r>
              <a:rPr lang="en-US" b="1" dirty="0" smtClean="0">
                <a:solidFill>
                  <a:srgbClr val="FF0000"/>
                </a:solidFill>
              </a:rPr>
              <a:t>Keep?</a:t>
            </a:r>
          </a:p>
        </p:txBody>
      </p:sp>
      <p:sp>
        <p:nvSpPr>
          <p:cNvPr id="2" name="Slide Number Placeholder 1"/>
          <p:cNvSpPr>
            <a:spLocks noGrp="1"/>
          </p:cNvSpPr>
          <p:nvPr>
            <p:ph type="sldNum" sz="quarter" idx="10"/>
          </p:nvPr>
        </p:nvSpPr>
        <p:spPr/>
        <p:txBody>
          <a:bodyPr/>
          <a:lstStyle/>
          <a:p>
            <a:pPr>
              <a:defRPr/>
            </a:pPr>
            <a:fld id="{0913AD8B-6753-4D8D-9DCF-DBA38AAB592C}" type="slidenum">
              <a:rPr lang="en-US" smtClean="0"/>
              <a:pPr>
                <a:defRPr/>
              </a:pPr>
              <a:t>23</a:t>
            </a:fld>
            <a:endParaRPr lang="en-US"/>
          </a:p>
        </p:txBody>
      </p:sp>
    </p:spTree>
    <p:extLst>
      <p:ext uri="{BB962C8B-B14F-4D97-AF65-F5344CB8AC3E}">
        <p14:creationId xmlns:p14="http://schemas.microsoft.com/office/powerpoint/2010/main" val="37803501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15876" y="542926"/>
            <a:ext cx="7772400" cy="503237"/>
          </a:xfrm>
        </p:spPr>
        <p:txBody>
          <a:bodyPr/>
          <a:lstStyle/>
          <a:p>
            <a:r>
              <a:rPr lang="en-US" altLang="en-US" sz="2400" dirty="0"/>
              <a:t>Model-Based Safety Analysis</a:t>
            </a:r>
          </a:p>
        </p:txBody>
      </p:sp>
      <p:sp>
        <p:nvSpPr>
          <p:cNvPr id="154627" name="Rectangle 3"/>
          <p:cNvSpPr>
            <a:spLocks noGrp="1" noChangeArrowheads="1"/>
          </p:cNvSpPr>
          <p:nvPr>
            <p:ph type="body" idx="1"/>
          </p:nvPr>
        </p:nvSpPr>
        <p:spPr>
          <a:xfrm>
            <a:off x="254000" y="5130800"/>
            <a:ext cx="4559300" cy="374650"/>
          </a:xfrm>
        </p:spPr>
        <p:txBody>
          <a:bodyPr/>
          <a:lstStyle/>
          <a:p>
            <a:pPr>
              <a:lnSpc>
                <a:spcPct val="80000"/>
              </a:lnSpc>
              <a:buSzPct val="70000"/>
            </a:pPr>
            <a:r>
              <a:rPr lang="en-US" altLang="en-US" sz="1700" dirty="0"/>
              <a:t>Add Fault Model for Physical </a:t>
            </a:r>
            <a:r>
              <a:rPr lang="en-US" altLang="en-US" sz="1700" dirty="0" smtClean="0"/>
              <a:t>System</a:t>
            </a:r>
            <a:endParaRPr lang="en-US" altLang="en-US" sz="1700" dirty="0"/>
          </a:p>
        </p:txBody>
      </p:sp>
      <p:grpSp>
        <p:nvGrpSpPr>
          <p:cNvPr id="4" name="Group 4"/>
          <p:cNvGrpSpPr>
            <a:grpSpLocks/>
          </p:cNvGrpSpPr>
          <p:nvPr/>
        </p:nvGrpSpPr>
        <p:grpSpPr bwMode="auto">
          <a:xfrm>
            <a:off x="277813" y="2035175"/>
            <a:ext cx="1595437" cy="2438400"/>
            <a:chOff x="175" y="1282"/>
            <a:chExt cx="1005" cy="1536"/>
          </a:xfrm>
        </p:grpSpPr>
        <p:sp>
          <p:nvSpPr>
            <p:cNvPr id="154629" name="Rectangle 5"/>
            <p:cNvSpPr>
              <a:spLocks noChangeArrowheads="1"/>
            </p:cNvSpPr>
            <p:nvPr/>
          </p:nvSpPr>
          <p:spPr bwMode="auto">
            <a:xfrm>
              <a:off x="548" y="1296"/>
              <a:ext cx="343" cy="11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30" name="Rectangle 6"/>
            <p:cNvSpPr>
              <a:spLocks noChangeArrowheads="1"/>
            </p:cNvSpPr>
            <p:nvPr/>
          </p:nvSpPr>
          <p:spPr bwMode="auto">
            <a:xfrm>
              <a:off x="548" y="1282"/>
              <a:ext cx="630" cy="1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31" name="Line 7"/>
            <p:cNvSpPr>
              <a:spLocks noChangeShapeType="1"/>
            </p:cNvSpPr>
            <p:nvPr/>
          </p:nvSpPr>
          <p:spPr bwMode="auto">
            <a:xfrm>
              <a:off x="396" y="1449"/>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32" name="Freeform 8"/>
            <p:cNvSpPr>
              <a:spLocks/>
            </p:cNvSpPr>
            <p:nvPr/>
          </p:nvSpPr>
          <p:spPr bwMode="auto">
            <a:xfrm>
              <a:off x="513" y="143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33" name="Line 9"/>
            <p:cNvSpPr>
              <a:spLocks noChangeShapeType="1"/>
            </p:cNvSpPr>
            <p:nvPr/>
          </p:nvSpPr>
          <p:spPr bwMode="auto">
            <a:xfrm>
              <a:off x="396" y="1644"/>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34" name="Freeform 10"/>
            <p:cNvSpPr>
              <a:spLocks/>
            </p:cNvSpPr>
            <p:nvPr/>
          </p:nvSpPr>
          <p:spPr bwMode="auto">
            <a:xfrm>
              <a:off x="513" y="1632"/>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35" name="Rectangle 11"/>
            <p:cNvSpPr>
              <a:spLocks noChangeArrowheads="1"/>
            </p:cNvSpPr>
            <p:nvPr/>
          </p:nvSpPr>
          <p:spPr bwMode="auto">
            <a:xfrm>
              <a:off x="257" y="1365"/>
              <a:ext cx="2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A</a:t>
              </a:r>
              <a:endParaRPr lang="en-US" altLang="en-US" dirty="0"/>
            </a:p>
          </p:txBody>
        </p:sp>
        <p:sp>
          <p:nvSpPr>
            <p:cNvPr id="154636" name="Rectangle 12"/>
            <p:cNvSpPr>
              <a:spLocks noChangeArrowheads="1"/>
            </p:cNvSpPr>
            <p:nvPr/>
          </p:nvSpPr>
          <p:spPr bwMode="auto">
            <a:xfrm>
              <a:off x="291" y="1560"/>
              <a:ext cx="22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1</a:t>
              </a:r>
              <a:endParaRPr lang="en-US" altLang="en-US" dirty="0"/>
            </a:p>
          </p:txBody>
        </p:sp>
        <p:sp>
          <p:nvSpPr>
            <p:cNvPr id="154637" name="Rectangle 13"/>
            <p:cNvSpPr>
              <a:spLocks noChangeArrowheads="1"/>
            </p:cNvSpPr>
            <p:nvPr/>
          </p:nvSpPr>
          <p:spPr bwMode="auto">
            <a:xfrm>
              <a:off x="175" y="1876"/>
              <a:ext cx="33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Feed back </a:t>
              </a:r>
              <a:endParaRPr lang="en-US" altLang="en-US" dirty="0"/>
            </a:p>
          </p:txBody>
        </p:sp>
        <p:sp>
          <p:nvSpPr>
            <p:cNvPr id="154638" name="Rectangle 14"/>
            <p:cNvSpPr>
              <a:spLocks noChangeArrowheads="1"/>
            </p:cNvSpPr>
            <p:nvPr/>
          </p:nvSpPr>
          <p:spPr bwMode="auto">
            <a:xfrm>
              <a:off x="312" y="1770"/>
              <a:ext cx="1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a:t>
              </a:r>
              <a:endParaRPr lang="en-US" altLang="en-US" dirty="0"/>
            </a:p>
          </p:txBody>
        </p:sp>
        <p:sp>
          <p:nvSpPr>
            <p:cNvPr id="154639" name="Rectangle 15"/>
            <p:cNvSpPr>
              <a:spLocks noChangeArrowheads="1"/>
            </p:cNvSpPr>
            <p:nvPr/>
          </p:nvSpPr>
          <p:spPr bwMode="auto">
            <a:xfrm>
              <a:off x="706" y="1913"/>
              <a:ext cx="326"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40" name="Rectangle 16"/>
            <p:cNvSpPr>
              <a:spLocks noChangeArrowheads="1"/>
            </p:cNvSpPr>
            <p:nvPr/>
          </p:nvSpPr>
          <p:spPr bwMode="auto">
            <a:xfrm>
              <a:off x="642" y="2460"/>
              <a:ext cx="44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Fault Tolerant </a:t>
              </a:r>
              <a:endParaRPr lang="en-US" altLang="en-US" dirty="0"/>
            </a:p>
          </p:txBody>
        </p:sp>
        <p:sp>
          <p:nvSpPr>
            <p:cNvPr id="154641" name="Rectangle 17"/>
            <p:cNvSpPr>
              <a:spLocks noChangeArrowheads="1"/>
            </p:cNvSpPr>
            <p:nvPr/>
          </p:nvSpPr>
          <p:spPr bwMode="auto">
            <a:xfrm>
              <a:off x="657" y="2628"/>
              <a:ext cx="38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Control Unit </a:t>
              </a:r>
              <a:endParaRPr lang="en-US" altLang="en-US" dirty="0"/>
            </a:p>
          </p:txBody>
        </p:sp>
        <p:sp>
          <p:nvSpPr>
            <p:cNvPr id="154642" name="Rectangle 18"/>
            <p:cNvSpPr>
              <a:spLocks noChangeArrowheads="1"/>
            </p:cNvSpPr>
            <p:nvPr/>
          </p:nvSpPr>
          <p:spPr bwMode="auto">
            <a:xfrm>
              <a:off x="729" y="2741"/>
              <a:ext cx="25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BSCU )</a:t>
              </a:r>
              <a:endParaRPr lang="en-US" altLang="en-US" dirty="0"/>
            </a:p>
          </p:txBody>
        </p:sp>
        <p:sp>
          <p:nvSpPr>
            <p:cNvPr id="154643" name="Rectangle 19"/>
            <p:cNvSpPr>
              <a:spLocks noChangeArrowheads="1"/>
            </p:cNvSpPr>
            <p:nvPr/>
          </p:nvSpPr>
          <p:spPr bwMode="auto">
            <a:xfrm>
              <a:off x="625" y="2542"/>
              <a:ext cx="504"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System </a:t>
              </a:r>
              <a:endParaRPr lang="en-US" altLang="en-US" dirty="0"/>
            </a:p>
          </p:txBody>
        </p:sp>
        <p:sp>
          <p:nvSpPr>
            <p:cNvPr id="154644" name="Rectangle 20"/>
            <p:cNvSpPr>
              <a:spLocks noChangeArrowheads="1"/>
            </p:cNvSpPr>
            <p:nvPr/>
          </p:nvSpPr>
          <p:spPr bwMode="auto">
            <a:xfrm>
              <a:off x="709" y="1365"/>
              <a:ext cx="327"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45" name="Rectangle 21"/>
            <p:cNvSpPr>
              <a:spLocks noChangeArrowheads="1"/>
            </p:cNvSpPr>
            <p:nvPr/>
          </p:nvSpPr>
          <p:spPr bwMode="auto">
            <a:xfrm>
              <a:off x="741" y="1492"/>
              <a:ext cx="256"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A</a:t>
              </a:r>
              <a:endParaRPr lang="en-US" altLang="en-US" sz="900" dirty="0"/>
            </a:p>
          </p:txBody>
        </p:sp>
        <p:sp>
          <p:nvSpPr>
            <p:cNvPr id="154646" name="Line 22"/>
            <p:cNvSpPr>
              <a:spLocks noChangeShapeType="1"/>
            </p:cNvSpPr>
            <p:nvPr/>
          </p:nvSpPr>
          <p:spPr bwMode="auto">
            <a:xfrm>
              <a:off x="391" y="2258"/>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47" name="Freeform 23"/>
            <p:cNvSpPr>
              <a:spLocks/>
            </p:cNvSpPr>
            <p:nvPr/>
          </p:nvSpPr>
          <p:spPr bwMode="auto">
            <a:xfrm>
              <a:off x="508" y="224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48" name="Rectangle 24"/>
            <p:cNvSpPr>
              <a:spLocks noChangeArrowheads="1"/>
            </p:cNvSpPr>
            <p:nvPr/>
          </p:nvSpPr>
          <p:spPr bwMode="auto">
            <a:xfrm>
              <a:off x="252" y="2174"/>
              <a:ext cx="2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B</a:t>
              </a:r>
              <a:endParaRPr lang="en-US" altLang="en-US" dirty="0"/>
            </a:p>
          </p:txBody>
        </p:sp>
        <p:sp>
          <p:nvSpPr>
            <p:cNvPr id="154649" name="Line 25"/>
            <p:cNvSpPr>
              <a:spLocks noChangeShapeType="1"/>
            </p:cNvSpPr>
            <p:nvPr/>
          </p:nvSpPr>
          <p:spPr bwMode="auto">
            <a:xfrm>
              <a:off x="556" y="144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0" name="Freeform 26"/>
            <p:cNvSpPr>
              <a:spLocks/>
            </p:cNvSpPr>
            <p:nvPr/>
          </p:nvSpPr>
          <p:spPr bwMode="auto">
            <a:xfrm>
              <a:off x="377" y="1816"/>
              <a:ext cx="171" cy="84"/>
            </a:xfrm>
            <a:custGeom>
              <a:avLst/>
              <a:gdLst>
                <a:gd name="T0" fmla="*/ 171 w 171"/>
                <a:gd name="T1" fmla="*/ 42 h 84"/>
                <a:gd name="T2" fmla="*/ 133 w 171"/>
                <a:gd name="T3" fmla="*/ 84 h 84"/>
                <a:gd name="T4" fmla="*/ 133 w 171"/>
                <a:gd name="T5" fmla="*/ 57 h 84"/>
                <a:gd name="T6" fmla="*/ 0 w 171"/>
                <a:gd name="T7" fmla="*/ 57 h 84"/>
                <a:gd name="T8" fmla="*/ 0 w 171"/>
                <a:gd name="T9" fmla="*/ 28 h 84"/>
                <a:gd name="T10" fmla="*/ 133 w 171"/>
                <a:gd name="T11" fmla="*/ 28 h 84"/>
                <a:gd name="T12" fmla="*/ 133 w 171"/>
                <a:gd name="T13" fmla="*/ 0 h 84"/>
                <a:gd name="T14" fmla="*/ 171 w 171"/>
                <a:gd name="T15" fmla="*/ 42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1" h="84">
                  <a:moveTo>
                    <a:pt x="171" y="42"/>
                  </a:moveTo>
                  <a:lnTo>
                    <a:pt x="133" y="84"/>
                  </a:lnTo>
                  <a:lnTo>
                    <a:pt x="133" y="57"/>
                  </a:lnTo>
                  <a:lnTo>
                    <a:pt x="0" y="57"/>
                  </a:lnTo>
                  <a:lnTo>
                    <a:pt x="0" y="28"/>
                  </a:lnTo>
                  <a:lnTo>
                    <a:pt x="133" y="28"/>
                  </a:lnTo>
                  <a:lnTo>
                    <a:pt x="133" y="0"/>
                  </a:lnTo>
                  <a:lnTo>
                    <a:pt x="171" y="42"/>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51" name="Line 27"/>
            <p:cNvSpPr>
              <a:spLocks noChangeShapeType="1"/>
            </p:cNvSpPr>
            <p:nvPr/>
          </p:nvSpPr>
          <p:spPr bwMode="auto">
            <a:xfrm>
              <a:off x="399" y="2121"/>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52" name="Freeform 28"/>
            <p:cNvSpPr>
              <a:spLocks/>
            </p:cNvSpPr>
            <p:nvPr/>
          </p:nvSpPr>
          <p:spPr bwMode="auto">
            <a:xfrm>
              <a:off x="516" y="2109"/>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53" name="Rectangle 29"/>
            <p:cNvSpPr>
              <a:spLocks noChangeArrowheads="1"/>
            </p:cNvSpPr>
            <p:nvPr/>
          </p:nvSpPr>
          <p:spPr bwMode="auto">
            <a:xfrm>
              <a:off x="294" y="2037"/>
              <a:ext cx="22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2</a:t>
              </a:r>
              <a:endParaRPr lang="en-US" altLang="en-US" dirty="0"/>
            </a:p>
          </p:txBody>
        </p:sp>
        <p:sp>
          <p:nvSpPr>
            <p:cNvPr id="154654" name="Line 30"/>
            <p:cNvSpPr>
              <a:spLocks noChangeShapeType="1"/>
            </p:cNvSpPr>
            <p:nvPr/>
          </p:nvSpPr>
          <p:spPr bwMode="auto">
            <a:xfrm>
              <a:off x="550" y="225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5" name="Line 31"/>
            <p:cNvSpPr>
              <a:spLocks noChangeShapeType="1"/>
            </p:cNvSpPr>
            <p:nvPr/>
          </p:nvSpPr>
          <p:spPr bwMode="auto">
            <a:xfrm>
              <a:off x="550" y="1643"/>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6" name="Line 32"/>
            <p:cNvSpPr>
              <a:spLocks noChangeShapeType="1"/>
            </p:cNvSpPr>
            <p:nvPr/>
          </p:nvSpPr>
          <p:spPr bwMode="auto">
            <a:xfrm>
              <a:off x="550" y="2120"/>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7" name="Line 33"/>
            <p:cNvSpPr>
              <a:spLocks noChangeShapeType="1"/>
            </p:cNvSpPr>
            <p:nvPr/>
          </p:nvSpPr>
          <p:spPr bwMode="auto">
            <a:xfrm>
              <a:off x="649" y="2069"/>
              <a:ext cx="57"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8" name="Line 34"/>
            <p:cNvSpPr>
              <a:spLocks noChangeShapeType="1"/>
            </p:cNvSpPr>
            <p:nvPr/>
          </p:nvSpPr>
          <p:spPr bwMode="auto">
            <a:xfrm>
              <a:off x="1057" y="1682"/>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9" name="Line 35"/>
            <p:cNvSpPr>
              <a:spLocks noChangeShapeType="1"/>
            </p:cNvSpPr>
            <p:nvPr/>
          </p:nvSpPr>
          <p:spPr bwMode="auto">
            <a:xfrm>
              <a:off x="610" y="1594"/>
              <a:ext cx="9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0" name="Line 36"/>
            <p:cNvSpPr>
              <a:spLocks noChangeShapeType="1"/>
            </p:cNvSpPr>
            <p:nvPr/>
          </p:nvSpPr>
          <p:spPr bwMode="auto">
            <a:xfrm flipH="1">
              <a:off x="610" y="1608"/>
              <a:ext cx="0" cy="513"/>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1" name="Line 37"/>
            <p:cNvSpPr>
              <a:spLocks noChangeShapeType="1"/>
            </p:cNvSpPr>
            <p:nvPr/>
          </p:nvSpPr>
          <p:spPr bwMode="auto">
            <a:xfrm>
              <a:off x="549" y="1859"/>
              <a:ext cx="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2" name="Line 38"/>
            <p:cNvSpPr>
              <a:spLocks noChangeShapeType="1"/>
            </p:cNvSpPr>
            <p:nvPr/>
          </p:nvSpPr>
          <p:spPr bwMode="auto">
            <a:xfrm flipH="1">
              <a:off x="579" y="1525"/>
              <a:ext cx="0" cy="666"/>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3" name="Line 39"/>
            <p:cNvSpPr>
              <a:spLocks noChangeShapeType="1"/>
            </p:cNvSpPr>
            <p:nvPr/>
          </p:nvSpPr>
          <p:spPr bwMode="auto">
            <a:xfrm>
              <a:off x="579" y="1524"/>
              <a:ext cx="1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4" name="Line 40"/>
            <p:cNvSpPr>
              <a:spLocks noChangeShapeType="1"/>
            </p:cNvSpPr>
            <p:nvPr/>
          </p:nvSpPr>
          <p:spPr bwMode="auto">
            <a:xfrm flipV="1">
              <a:off x="579" y="2189"/>
              <a:ext cx="12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5" name="Rectangle 41"/>
            <p:cNvSpPr>
              <a:spLocks noChangeArrowheads="1"/>
            </p:cNvSpPr>
            <p:nvPr/>
          </p:nvSpPr>
          <p:spPr bwMode="auto">
            <a:xfrm>
              <a:off x="729" y="2032"/>
              <a:ext cx="256"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B</a:t>
              </a:r>
              <a:endParaRPr lang="en-US" altLang="en-US" sz="900" dirty="0"/>
            </a:p>
          </p:txBody>
        </p:sp>
        <p:sp>
          <p:nvSpPr>
            <p:cNvPr id="154666" name="Line 42"/>
            <p:cNvSpPr>
              <a:spLocks noChangeShapeType="1"/>
            </p:cNvSpPr>
            <p:nvPr/>
          </p:nvSpPr>
          <p:spPr bwMode="auto">
            <a:xfrm flipV="1">
              <a:off x="1038" y="1445"/>
              <a:ext cx="100"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7" name="Line 43"/>
            <p:cNvSpPr>
              <a:spLocks noChangeShapeType="1"/>
            </p:cNvSpPr>
            <p:nvPr/>
          </p:nvSpPr>
          <p:spPr bwMode="auto">
            <a:xfrm flipV="1">
              <a:off x="1038" y="1555"/>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8" name="Line 44"/>
            <p:cNvSpPr>
              <a:spLocks noChangeShapeType="1"/>
            </p:cNvSpPr>
            <p:nvPr/>
          </p:nvSpPr>
          <p:spPr bwMode="auto">
            <a:xfrm>
              <a:off x="1036" y="1682"/>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9" name="Line 45"/>
            <p:cNvSpPr>
              <a:spLocks noChangeShapeType="1"/>
            </p:cNvSpPr>
            <p:nvPr/>
          </p:nvSpPr>
          <p:spPr bwMode="auto">
            <a:xfrm>
              <a:off x="1037" y="2001"/>
              <a:ext cx="90"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0" name="Line 46"/>
            <p:cNvSpPr>
              <a:spLocks noChangeShapeType="1"/>
            </p:cNvSpPr>
            <p:nvPr/>
          </p:nvSpPr>
          <p:spPr bwMode="auto">
            <a:xfrm flipV="1">
              <a:off x="1037" y="2111"/>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1" name="Line 47"/>
            <p:cNvSpPr>
              <a:spLocks noChangeShapeType="1"/>
            </p:cNvSpPr>
            <p:nvPr/>
          </p:nvSpPr>
          <p:spPr bwMode="auto">
            <a:xfrm flipV="1">
              <a:off x="1035" y="2237"/>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2" name="Line 48"/>
            <p:cNvSpPr>
              <a:spLocks noChangeShapeType="1"/>
            </p:cNvSpPr>
            <p:nvPr/>
          </p:nvSpPr>
          <p:spPr bwMode="auto">
            <a:xfrm>
              <a:off x="1089" y="1841"/>
              <a:ext cx="91"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3" name="Line 49"/>
            <p:cNvSpPr>
              <a:spLocks noChangeShapeType="1"/>
            </p:cNvSpPr>
            <p:nvPr/>
          </p:nvSpPr>
          <p:spPr bwMode="auto">
            <a:xfrm>
              <a:off x="646" y="1650"/>
              <a:ext cx="6" cy="41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4" name="Line 50"/>
            <p:cNvSpPr>
              <a:spLocks noChangeShapeType="1"/>
            </p:cNvSpPr>
            <p:nvPr/>
          </p:nvSpPr>
          <p:spPr bwMode="auto">
            <a:xfrm>
              <a:off x="1127" y="1444"/>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5" name="Line 51"/>
            <p:cNvSpPr>
              <a:spLocks noChangeShapeType="1"/>
            </p:cNvSpPr>
            <p:nvPr/>
          </p:nvSpPr>
          <p:spPr bwMode="auto">
            <a:xfrm flipV="1">
              <a:off x="1127" y="1515"/>
              <a:ext cx="5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6" name="Line 52"/>
            <p:cNvSpPr>
              <a:spLocks noChangeShapeType="1"/>
            </p:cNvSpPr>
            <p:nvPr/>
          </p:nvSpPr>
          <p:spPr bwMode="auto">
            <a:xfrm>
              <a:off x="1089" y="1554"/>
              <a:ext cx="3" cy="555"/>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7" name="Line 53"/>
            <p:cNvSpPr>
              <a:spLocks noChangeShapeType="1"/>
            </p:cNvSpPr>
            <p:nvPr/>
          </p:nvSpPr>
          <p:spPr bwMode="auto">
            <a:xfrm>
              <a:off x="1057" y="2177"/>
              <a:ext cx="12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grpSp>
        <p:nvGrpSpPr>
          <p:cNvPr id="5" name="Group 54"/>
          <p:cNvGrpSpPr>
            <a:grpSpLocks/>
          </p:cNvGrpSpPr>
          <p:nvPr/>
        </p:nvGrpSpPr>
        <p:grpSpPr bwMode="auto">
          <a:xfrm>
            <a:off x="1876425" y="1412875"/>
            <a:ext cx="2941638" cy="3205163"/>
            <a:chOff x="1176" y="890"/>
            <a:chExt cx="1853" cy="2019"/>
          </a:xfrm>
        </p:grpSpPr>
        <p:sp>
          <p:nvSpPr>
            <p:cNvPr id="154679" name="Rectangle 55"/>
            <p:cNvSpPr>
              <a:spLocks noChangeArrowheads="1"/>
            </p:cNvSpPr>
            <p:nvPr/>
          </p:nvSpPr>
          <p:spPr bwMode="auto">
            <a:xfrm>
              <a:off x="1780" y="1605"/>
              <a:ext cx="748" cy="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80" name="Rectangle 56"/>
            <p:cNvSpPr>
              <a:spLocks noChangeArrowheads="1"/>
            </p:cNvSpPr>
            <p:nvPr/>
          </p:nvSpPr>
          <p:spPr bwMode="auto">
            <a:xfrm>
              <a:off x="1780" y="1605"/>
              <a:ext cx="748" cy="84"/>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81" name="Line 57"/>
            <p:cNvSpPr>
              <a:spLocks noChangeShapeType="1"/>
            </p:cNvSpPr>
            <p:nvPr/>
          </p:nvSpPr>
          <p:spPr bwMode="auto">
            <a:xfrm>
              <a:off x="1889" y="1647"/>
              <a:ext cx="549"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82" name="Freeform 58"/>
            <p:cNvSpPr>
              <a:spLocks/>
            </p:cNvSpPr>
            <p:nvPr/>
          </p:nvSpPr>
          <p:spPr bwMode="auto">
            <a:xfrm>
              <a:off x="1856" y="1634"/>
              <a:ext cx="35" cy="26"/>
            </a:xfrm>
            <a:custGeom>
              <a:avLst/>
              <a:gdLst>
                <a:gd name="T0" fmla="*/ 35 w 35"/>
                <a:gd name="T1" fmla="*/ 26 h 26"/>
                <a:gd name="T2" fmla="*/ 0 w 35"/>
                <a:gd name="T3" fmla="*/ 13 h 26"/>
                <a:gd name="T4" fmla="*/ 35 w 35"/>
                <a:gd name="T5" fmla="*/ 0 h 26"/>
                <a:gd name="T6" fmla="*/ 35 w 35"/>
                <a:gd name="T7" fmla="*/ 26 h 26"/>
              </a:gdLst>
              <a:ahLst/>
              <a:cxnLst>
                <a:cxn ang="0">
                  <a:pos x="T0" y="T1"/>
                </a:cxn>
                <a:cxn ang="0">
                  <a:pos x="T2" y="T3"/>
                </a:cxn>
                <a:cxn ang="0">
                  <a:pos x="T4" y="T5"/>
                </a:cxn>
                <a:cxn ang="0">
                  <a:pos x="T6" y="T7"/>
                </a:cxn>
              </a:cxnLst>
              <a:rect l="0" t="0" r="r" b="b"/>
              <a:pathLst>
                <a:path w="35" h="26">
                  <a:moveTo>
                    <a:pt x="35" y="26"/>
                  </a:moveTo>
                  <a:lnTo>
                    <a:pt x="0" y="13"/>
                  </a:lnTo>
                  <a:lnTo>
                    <a:pt x="35" y="0"/>
                  </a:lnTo>
                  <a:lnTo>
                    <a:pt x="35"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83" name="Freeform 59"/>
            <p:cNvSpPr>
              <a:spLocks/>
            </p:cNvSpPr>
            <p:nvPr/>
          </p:nvSpPr>
          <p:spPr bwMode="auto">
            <a:xfrm>
              <a:off x="2435" y="1634"/>
              <a:ext cx="36" cy="26"/>
            </a:xfrm>
            <a:custGeom>
              <a:avLst/>
              <a:gdLst>
                <a:gd name="T0" fmla="*/ 0 w 36"/>
                <a:gd name="T1" fmla="*/ 0 h 26"/>
                <a:gd name="T2" fmla="*/ 36 w 36"/>
                <a:gd name="T3" fmla="*/ 13 h 26"/>
                <a:gd name="T4" fmla="*/ 0 w 36"/>
                <a:gd name="T5" fmla="*/ 26 h 26"/>
                <a:gd name="T6" fmla="*/ 0 w 36"/>
                <a:gd name="T7" fmla="*/ 0 h 26"/>
              </a:gdLst>
              <a:ahLst/>
              <a:cxnLst>
                <a:cxn ang="0">
                  <a:pos x="T0" y="T1"/>
                </a:cxn>
                <a:cxn ang="0">
                  <a:pos x="T2" y="T3"/>
                </a:cxn>
                <a:cxn ang="0">
                  <a:pos x="T4" y="T5"/>
                </a:cxn>
                <a:cxn ang="0">
                  <a:pos x="T6" y="T7"/>
                </a:cxn>
              </a:cxnLst>
              <a:rect l="0" t="0" r="r" b="b"/>
              <a:pathLst>
                <a:path w="36" h="26">
                  <a:moveTo>
                    <a:pt x="0" y="0"/>
                  </a:moveTo>
                  <a:lnTo>
                    <a:pt x="36"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84" name="Rectangle 60"/>
            <p:cNvSpPr>
              <a:spLocks noChangeArrowheads="1"/>
            </p:cNvSpPr>
            <p:nvPr/>
          </p:nvSpPr>
          <p:spPr bwMode="auto">
            <a:xfrm>
              <a:off x="1742" y="974"/>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85" name="Rectangle 61"/>
            <p:cNvSpPr>
              <a:spLocks noChangeArrowheads="1"/>
            </p:cNvSpPr>
            <p:nvPr/>
          </p:nvSpPr>
          <p:spPr bwMode="auto">
            <a:xfrm>
              <a:off x="1742" y="974"/>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86" name="Freeform 62"/>
            <p:cNvSpPr>
              <a:spLocks/>
            </p:cNvSpPr>
            <p:nvPr/>
          </p:nvSpPr>
          <p:spPr bwMode="auto">
            <a:xfrm>
              <a:off x="1780" y="974"/>
              <a:ext cx="153"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FF00"/>
            </a:solidFill>
            <a:ln w="0">
              <a:solidFill>
                <a:srgbClr val="000000"/>
              </a:solidFill>
              <a:prstDash val="solid"/>
              <a:round/>
              <a:headEnd/>
              <a:tailEnd/>
            </a:ln>
          </p:spPr>
          <p:txBody>
            <a:bodyPr/>
            <a:lstStyle/>
            <a:p>
              <a:endParaRPr lang="en-US" dirty="0"/>
            </a:p>
          </p:txBody>
        </p:sp>
        <p:sp>
          <p:nvSpPr>
            <p:cNvPr id="154687" name="Freeform 63"/>
            <p:cNvSpPr>
              <a:spLocks/>
            </p:cNvSpPr>
            <p:nvPr/>
          </p:nvSpPr>
          <p:spPr bwMode="auto">
            <a:xfrm>
              <a:off x="1780" y="974"/>
              <a:ext cx="153" cy="169"/>
            </a:xfrm>
            <a:custGeom>
              <a:avLst/>
              <a:gdLst>
                <a:gd name="T0" fmla="*/ 0 w 153"/>
                <a:gd name="T1" fmla="*/ 84 h 169"/>
                <a:gd name="T2" fmla="*/ 76 w 153"/>
                <a:gd name="T3" fmla="*/ 0 h 169"/>
                <a:gd name="T4" fmla="*/ 153 w 153"/>
                <a:gd name="T5" fmla="*/ 84 h 169"/>
                <a:gd name="T6" fmla="*/ 153 w 153"/>
                <a:gd name="T7" fmla="*/ 84 h 169"/>
                <a:gd name="T8" fmla="*/ 76 w 153"/>
                <a:gd name="T9" fmla="*/ 169 h 169"/>
                <a:gd name="T10" fmla="*/ 0 w 153"/>
                <a:gd name="T11" fmla="*/ 84 h 169"/>
              </a:gdLst>
              <a:ahLst/>
              <a:cxnLst>
                <a:cxn ang="0">
                  <a:pos x="T0" y="T1"/>
                </a:cxn>
                <a:cxn ang="0">
                  <a:pos x="T2" y="T3"/>
                </a:cxn>
                <a:cxn ang="0">
                  <a:pos x="T4" y="T5"/>
                </a:cxn>
                <a:cxn ang="0">
                  <a:pos x="T6" y="T7"/>
                </a:cxn>
                <a:cxn ang="0">
                  <a:pos x="T8" y="T9"/>
                </a:cxn>
                <a:cxn ang="0">
                  <a:pos x="T10" y="T11"/>
                </a:cxn>
              </a:cxnLst>
              <a:rect l="0" t="0" r="r" b="b"/>
              <a:pathLst>
                <a:path w="153" h="169">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88" name="Rectangle 64"/>
            <p:cNvSpPr>
              <a:spLocks noChangeArrowheads="1"/>
            </p:cNvSpPr>
            <p:nvPr/>
          </p:nvSpPr>
          <p:spPr bwMode="auto">
            <a:xfrm>
              <a:off x="2261" y="974"/>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89" name="Rectangle 65"/>
            <p:cNvSpPr>
              <a:spLocks noChangeArrowheads="1"/>
            </p:cNvSpPr>
            <p:nvPr/>
          </p:nvSpPr>
          <p:spPr bwMode="auto">
            <a:xfrm>
              <a:off x="2261" y="974"/>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0" name="Freeform 66"/>
            <p:cNvSpPr>
              <a:spLocks/>
            </p:cNvSpPr>
            <p:nvPr/>
          </p:nvSpPr>
          <p:spPr bwMode="auto">
            <a:xfrm>
              <a:off x="2299" y="974"/>
              <a:ext cx="153"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00FF"/>
            </a:solidFill>
            <a:ln w="0">
              <a:solidFill>
                <a:srgbClr val="000000"/>
              </a:solidFill>
              <a:prstDash val="solid"/>
              <a:round/>
              <a:headEnd/>
              <a:tailEnd/>
            </a:ln>
          </p:spPr>
          <p:txBody>
            <a:bodyPr/>
            <a:lstStyle/>
            <a:p>
              <a:endParaRPr lang="en-US" dirty="0"/>
            </a:p>
          </p:txBody>
        </p:sp>
        <p:sp>
          <p:nvSpPr>
            <p:cNvPr id="154691" name="Freeform 67"/>
            <p:cNvSpPr>
              <a:spLocks/>
            </p:cNvSpPr>
            <p:nvPr/>
          </p:nvSpPr>
          <p:spPr bwMode="auto">
            <a:xfrm>
              <a:off x="2299" y="974"/>
              <a:ext cx="153" cy="169"/>
            </a:xfrm>
            <a:custGeom>
              <a:avLst/>
              <a:gdLst>
                <a:gd name="T0" fmla="*/ 0 w 153"/>
                <a:gd name="T1" fmla="*/ 84 h 169"/>
                <a:gd name="T2" fmla="*/ 76 w 153"/>
                <a:gd name="T3" fmla="*/ 0 h 169"/>
                <a:gd name="T4" fmla="*/ 153 w 153"/>
                <a:gd name="T5" fmla="*/ 84 h 169"/>
                <a:gd name="T6" fmla="*/ 153 w 153"/>
                <a:gd name="T7" fmla="*/ 84 h 169"/>
                <a:gd name="T8" fmla="*/ 76 w 153"/>
                <a:gd name="T9" fmla="*/ 169 h 169"/>
                <a:gd name="T10" fmla="*/ 0 w 153"/>
                <a:gd name="T11" fmla="*/ 84 h 169"/>
              </a:gdLst>
              <a:ahLst/>
              <a:cxnLst>
                <a:cxn ang="0">
                  <a:pos x="T0" y="T1"/>
                </a:cxn>
                <a:cxn ang="0">
                  <a:pos x="T2" y="T3"/>
                </a:cxn>
                <a:cxn ang="0">
                  <a:pos x="T4" y="T5"/>
                </a:cxn>
                <a:cxn ang="0">
                  <a:pos x="T6" y="T7"/>
                </a:cxn>
                <a:cxn ang="0">
                  <a:pos x="T8" y="T9"/>
                </a:cxn>
                <a:cxn ang="0">
                  <a:pos x="T10" y="T11"/>
                </a:cxn>
              </a:cxnLst>
              <a:rect l="0" t="0" r="r" b="b"/>
              <a:pathLst>
                <a:path w="153" h="169">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2" name="Rectangle 68"/>
            <p:cNvSpPr>
              <a:spLocks noChangeArrowheads="1"/>
            </p:cNvSpPr>
            <p:nvPr/>
          </p:nvSpPr>
          <p:spPr bwMode="auto">
            <a:xfrm>
              <a:off x="2680" y="1815"/>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93" name="Rectangle 69"/>
            <p:cNvSpPr>
              <a:spLocks noChangeArrowheads="1"/>
            </p:cNvSpPr>
            <p:nvPr/>
          </p:nvSpPr>
          <p:spPr bwMode="auto">
            <a:xfrm>
              <a:off x="2680" y="1815"/>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4" name="Freeform 70"/>
            <p:cNvSpPr>
              <a:spLocks/>
            </p:cNvSpPr>
            <p:nvPr/>
          </p:nvSpPr>
          <p:spPr bwMode="auto">
            <a:xfrm>
              <a:off x="2719" y="1815"/>
              <a:ext cx="152"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FFFFFF"/>
            </a:solidFill>
            <a:ln w="0">
              <a:solidFill>
                <a:srgbClr val="000000"/>
              </a:solidFill>
              <a:prstDash val="solid"/>
              <a:round/>
              <a:headEnd/>
              <a:tailEnd/>
            </a:ln>
          </p:spPr>
          <p:txBody>
            <a:bodyPr/>
            <a:lstStyle/>
            <a:p>
              <a:endParaRPr lang="en-US" dirty="0"/>
            </a:p>
          </p:txBody>
        </p:sp>
        <p:sp>
          <p:nvSpPr>
            <p:cNvPr id="154695" name="Freeform 71"/>
            <p:cNvSpPr>
              <a:spLocks/>
            </p:cNvSpPr>
            <p:nvPr/>
          </p:nvSpPr>
          <p:spPr bwMode="auto">
            <a:xfrm>
              <a:off x="2719" y="1815"/>
              <a:ext cx="152" cy="169"/>
            </a:xfrm>
            <a:custGeom>
              <a:avLst/>
              <a:gdLst>
                <a:gd name="T0" fmla="*/ 0 w 152"/>
                <a:gd name="T1" fmla="*/ 84 h 169"/>
                <a:gd name="T2" fmla="*/ 76 w 152"/>
                <a:gd name="T3" fmla="*/ 0 h 169"/>
                <a:gd name="T4" fmla="*/ 152 w 152"/>
                <a:gd name="T5" fmla="*/ 84 h 169"/>
                <a:gd name="T6" fmla="*/ 152 w 152"/>
                <a:gd name="T7" fmla="*/ 84 h 169"/>
                <a:gd name="T8" fmla="*/ 76 w 152"/>
                <a:gd name="T9" fmla="*/ 169 h 169"/>
                <a:gd name="T10" fmla="*/ 0 w 152"/>
                <a:gd name="T11" fmla="*/ 84 h 169"/>
              </a:gdLst>
              <a:ahLst/>
              <a:cxnLst>
                <a:cxn ang="0">
                  <a:pos x="T0" y="T1"/>
                </a:cxn>
                <a:cxn ang="0">
                  <a:pos x="T2" y="T3"/>
                </a:cxn>
                <a:cxn ang="0">
                  <a:pos x="T4" y="T5"/>
                </a:cxn>
                <a:cxn ang="0">
                  <a:pos x="T6" y="T7"/>
                </a:cxn>
                <a:cxn ang="0">
                  <a:pos x="T8" y="T9"/>
                </a:cxn>
                <a:cxn ang="0">
                  <a:pos x="T10" y="T11"/>
                </a:cxn>
              </a:cxnLst>
              <a:rect l="0" t="0" r="r" b="b"/>
              <a:pathLst>
                <a:path w="152" h="169">
                  <a:moveTo>
                    <a:pt x="0" y="84"/>
                  </a:moveTo>
                  <a:cubicBezTo>
                    <a:pt x="0" y="38"/>
                    <a:pt x="34" y="0"/>
                    <a:pt x="76" y="0"/>
                  </a:cubicBezTo>
                  <a:cubicBezTo>
                    <a:pt x="118" y="0"/>
                    <a:pt x="152" y="38"/>
                    <a:pt x="152" y="84"/>
                  </a:cubicBezTo>
                  <a:cubicBezTo>
                    <a:pt x="152" y="84"/>
                    <a:pt x="152" y="84"/>
                    <a:pt x="152" y="84"/>
                  </a:cubicBezTo>
                  <a:cubicBezTo>
                    <a:pt x="152"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6" name="Rectangle 72"/>
            <p:cNvSpPr>
              <a:spLocks noChangeArrowheads="1"/>
            </p:cNvSpPr>
            <p:nvPr/>
          </p:nvSpPr>
          <p:spPr bwMode="auto">
            <a:xfrm>
              <a:off x="1809" y="1269"/>
              <a:ext cx="114" cy="126"/>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97" name="Rectangle 73"/>
            <p:cNvSpPr>
              <a:spLocks noChangeArrowheads="1"/>
            </p:cNvSpPr>
            <p:nvPr/>
          </p:nvSpPr>
          <p:spPr bwMode="auto">
            <a:xfrm>
              <a:off x="1809" y="1269"/>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8" name="Rectangle 74"/>
            <p:cNvSpPr>
              <a:spLocks noChangeArrowheads="1"/>
            </p:cNvSpPr>
            <p:nvPr/>
          </p:nvSpPr>
          <p:spPr bwMode="auto">
            <a:xfrm>
              <a:off x="2328" y="1269"/>
              <a:ext cx="114" cy="126"/>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99" name="Rectangle 75"/>
            <p:cNvSpPr>
              <a:spLocks noChangeArrowheads="1"/>
            </p:cNvSpPr>
            <p:nvPr/>
          </p:nvSpPr>
          <p:spPr bwMode="auto">
            <a:xfrm>
              <a:off x="2328" y="1269"/>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0" name="Rectangle 76"/>
            <p:cNvSpPr>
              <a:spLocks noChangeArrowheads="1"/>
            </p:cNvSpPr>
            <p:nvPr/>
          </p:nvSpPr>
          <p:spPr bwMode="auto">
            <a:xfrm>
              <a:off x="2299" y="1857"/>
              <a:ext cx="114" cy="12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01" name="Rectangle 77"/>
            <p:cNvSpPr>
              <a:spLocks noChangeArrowheads="1"/>
            </p:cNvSpPr>
            <p:nvPr/>
          </p:nvSpPr>
          <p:spPr bwMode="auto">
            <a:xfrm>
              <a:off x="2299" y="1857"/>
              <a:ext cx="114" cy="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2" name="Rectangle 78"/>
            <p:cNvSpPr>
              <a:spLocks noChangeArrowheads="1"/>
            </p:cNvSpPr>
            <p:nvPr/>
          </p:nvSpPr>
          <p:spPr bwMode="auto">
            <a:xfrm>
              <a:off x="1780" y="2446"/>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03" name="Rectangle 79"/>
            <p:cNvSpPr>
              <a:spLocks noChangeArrowheads="1"/>
            </p:cNvSpPr>
            <p:nvPr/>
          </p:nvSpPr>
          <p:spPr bwMode="auto">
            <a:xfrm>
              <a:off x="1780" y="2446"/>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4" name="Rectangle 80"/>
            <p:cNvSpPr>
              <a:spLocks noChangeArrowheads="1"/>
            </p:cNvSpPr>
            <p:nvPr/>
          </p:nvSpPr>
          <p:spPr bwMode="auto">
            <a:xfrm>
              <a:off x="2299" y="2194"/>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05" name="Rectangle 81"/>
            <p:cNvSpPr>
              <a:spLocks noChangeArrowheads="1"/>
            </p:cNvSpPr>
            <p:nvPr/>
          </p:nvSpPr>
          <p:spPr bwMode="auto">
            <a:xfrm>
              <a:off x="2299" y="2194"/>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6" name="Rectangle 82"/>
            <p:cNvSpPr>
              <a:spLocks noChangeArrowheads="1"/>
            </p:cNvSpPr>
            <p:nvPr/>
          </p:nvSpPr>
          <p:spPr bwMode="auto">
            <a:xfrm>
              <a:off x="2299" y="2446"/>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07" name="Rectangle 83"/>
            <p:cNvSpPr>
              <a:spLocks noChangeArrowheads="1"/>
            </p:cNvSpPr>
            <p:nvPr/>
          </p:nvSpPr>
          <p:spPr bwMode="auto">
            <a:xfrm>
              <a:off x="2299" y="2446"/>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8" name="Freeform 84"/>
            <p:cNvSpPr>
              <a:spLocks/>
            </p:cNvSpPr>
            <p:nvPr/>
          </p:nvSpPr>
          <p:spPr bwMode="auto">
            <a:xfrm>
              <a:off x="1180" y="1317"/>
              <a:ext cx="603" cy="196"/>
            </a:xfrm>
            <a:custGeom>
              <a:avLst/>
              <a:gdLst>
                <a:gd name="T0" fmla="*/ 0 w 426"/>
                <a:gd name="T1" fmla="*/ 505 h 505"/>
                <a:gd name="T2" fmla="*/ 229 w 426"/>
                <a:gd name="T3" fmla="*/ 505 h 505"/>
                <a:gd name="T4" fmla="*/ 229 w 426"/>
                <a:gd name="T5" fmla="*/ 0 h 505"/>
                <a:gd name="T6" fmla="*/ 426 w 426"/>
                <a:gd name="T7" fmla="*/ 0 h 505"/>
              </a:gdLst>
              <a:ahLst/>
              <a:cxnLst>
                <a:cxn ang="0">
                  <a:pos x="T0" y="T1"/>
                </a:cxn>
                <a:cxn ang="0">
                  <a:pos x="T2" y="T3"/>
                </a:cxn>
                <a:cxn ang="0">
                  <a:pos x="T4" y="T5"/>
                </a:cxn>
                <a:cxn ang="0">
                  <a:pos x="T6" y="T7"/>
                </a:cxn>
              </a:cxnLst>
              <a:rect l="0" t="0" r="r" b="b"/>
              <a:pathLst>
                <a:path w="426" h="505">
                  <a:moveTo>
                    <a:pt x="0" y="505"/>
                  </a:moveTo>
                  <a:lnTo>
                    <a:pt x="229" y="505"/>
                  </a:lnTo>
                  <a:lnTo>
                    <a:pt x="229" y="0"/>
                  </a:lnTo>
                  <a:lnTo>
                    <a:pt x="426" y="0"/>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9" name="Freeform 85"/>
            <p:cNvSpPr>
              <a:spLocks/>
            </p:cNvSpPr>
            <p:nvPr/>
          </p:nvSpPr>
          <p:spPr bwMode="auto">
            <a:xfrm>
              <a:off x="1783" y="1304"/>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710" name="Line 86"/>
            <p:cNvSpPr>
              <a:spLocks noChangeShapeType="1"/>
            </p:cNvSpPr>
            <p:nvPr/>
          </p:nvSpPr>
          <p:spPr bwMode="auto">
            <a:xfrm>
              <a:off x="1856" y="1143"/>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1" name="Line 87"/>
            <p:cNvSpPr>
              <a:spLocks noChangeShapeType="1"/>
            </p:cNvSpPr>
            <p:nvPr/>
          </p:nvSpPr>
          <p:spPr bwMode="auto">
            <a:xfrm>
              <a:off x="1856" y="1395"/>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2" name="Line 88"/>
            <p:cNvSpPr>
              <a:spLocks noChangeShapeType="1"/>
            </p:cNvSpPr>
            <p:nvPr/>
          </p:nvSpPr>
          <p:spPr bwMode="auto">
            <a:xfrm>
              <a:off x="2375" y="1143"/>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3" name="Line 89"/>
            <p:cNvSpPr>
              <a:spLocks noChangeShapeType="1"/>
            </p:cNvSpPr>
            <p:nvPr/>
          </p:nvSpPr>
          <p:spPr bwMode="auto">
            <a:xfrm>
              <a:off x="2375" y="1395"/>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4" name="Line 90"/>
            <p:cNvSpPr>
              <a:spLocks noChangeShapeType="1"/>
            </p:cNvSpPr>
            <p:nvPr/>
          </p:nvSpPr>
          <p:spPr bwMode="auto">
            <a:xfrm>
              <a:off x="2375" y="1689"/>
              <a:ext cx="1" cy="168"/>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5" name="Line 91"/>
            <p:cNvSpPr>
              <a:spLocks noChangeShapeType="1"/>
            </p:cNvSpPr>
            <p:nvPr/>
          </p:nvSpPr>
          <p:spPr bwMode="auto">
            <a:xfrm>
              <a:off x="2375" y="1984"/>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6" name="Line 92"/>
            <p:cNvSpPr>
              <a:spLocks noChangeShapeType="1"/>
            </p:cNvSpPr>
            <p:nvPr/>
          </p:nvSpPr>
          <p:spPr bwMode="auto">
            <a:xfrm>
              <a:off x="1856" y="1689"/>
              <a:ext cx="1" cy="757"/>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7" name="Freeform 93"/>
            <p:cNvSpPr>
              <a:spLocks/>
            </p:cNvSpPr>
            <p:nvPr/>
          </p:nvSpPr>
          <p:spPr bwMode="auto">
            <a:xfrm>
              <a:off x="1856" y="2572"/>
              <a:ext cx="954" cy="211"/>
            </a:xfrm>
            <a:custGeom>
              <a:avLst/>
              <a:gdLst>
                <a:gd name="T0" fmla="*/ 0 w 954"/>
                <a:gd name="T1" fmla="*/ 0 h 211"/>
                <a:gd name="T2" fmla="*/ 0 w 954"/>
                <a:gd name="T3" fmla="*/ 211 h 211"/>
                <a:gd name="T4" fmla="*/ 954 w 954"/>
                <a:gd name="T5" fmla="*/ 211 h 211"/>
              </a:gdLst>
              <a:ahLst/>
              <a:cxnLst>
                <a:cxn ang="0">
                  <a:pos x="T0" y="T1"/>
                </a:cxn>
                <a:cxn ang="0">
                  <a:pos x="T2" y="T3"/>
                </a:cxn>
                <a:cxn ang="0">
                  <a:pos x="T4" y="T5"/>
                </a:cxn>
              </a:cxnLst>
              <a:rect l="0" t="0" r="r" b="b"/>
              <a:pathLst>
                <a:path w="954" h="211">
                  <a:moveTo>
                    <a:pt x="0" y="0"/>
                  </a:moveTo>
                  <a:lnTo>
                    <a:pt x="0" y="211"/>
                  </a:lnTo>
                  <a:lnTo>
                    <a:pt x="954" y="211"/>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18" name="Freeform 94"/>
            <p:cNvSpPr>
              <a:spLocks/>
            </p:cNvSpPr>
            <p:nvPr/>
          </p:nvSpPr>
          <p:spPr bwMode="auto">
            <a:xfrm>
              <a:off x="2375" y="2572"/>
              <a:ext cx="305" cy="126"/>
            </a:xfrm>
            <a:custGeom>
              <a:avLst/>
              <a:gdLst>
                <a:gd name="T0" fmla="*/ 0 w 305"/>
                <a:gd name="T1" fmla="*/ 0 h 126"/>
                <a:gd name="T2" fmla="*/ 0 w 305"/>
                <a:gd name="T3" fmla="*/ 126 h 126"/>
                <a:gd name="T4" fmla="*/ 305 w 305"/>
                <a:gd name="T5" fmla="*/ 126 h 126"/>
              </a:gdLst>
              <a:ahLst/>
              <a:cxnLst>
                <a:cxn ang="0">
                  <a:pos x="T0" y="T1"/>
                </a:cxn>
                <a:cxn ang="0">
                  <a:pos x="T2" y="T3"/>
                </a:cxn>
                <a:cxn ang="0">
                  <a:pos x="T4" y="T5"/>
                </a:cxn>
              </a:cxnLst>
              <a:rect l="0" t="0" r="r" b="b"/>
              <a:pathLst>
                <a:path w="305" h="126">
                  <a:moveTo>
                    <a:pt x="0" y="0"/>
                  </a:moveTo>
                  <a:lnTo>
                    <a:pt x="0" y="126"/>
                  </a:lnTo>
                  <a:lnTo>
                    <a:pt x="305" y="126"/>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19" name="Line 95"/>
            <p:cNvSpPr>
              <a:spLocks noChangeShapeType="1"/>
            </p:cNvSpPr>
            <p:nvPr/>
          </p:nvSpPr>
          <p:spPr bwMode="auto">
            <a:xfrm>
              <a:off x="2642" y="2783"/>
              <a:ext cx="38"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20" name="Freeform 96"/>
            <p:cNvSpPr>
              <a:spLocks/>
            </p:cNvSpPr>
            <p:nvPr/>
          </p:nvSpPr>
          <p:spPr bwMode="auto">
            <a:xfrm>
              <a:off x="2642" y="2572"/>
              <a:ext cx="305" cy="337"/>
            </a:xfrm>
            <a:custGeom>
              <a:avLst/>
              <a:gdLst>
                <a:gd name="T0" fmla="*/ 0 w 1536"/>
                <a:gd name="T1" fmla="*/ 768 h 1536"/>
                <a:gd name="T2" fmla="*/ 768 w 1536"/>
                <a:gd name="T3" fmla="*/ 0 h 1536"/>
                <a:gd name="T4" fmla="*/ 1536 w 1536"/>
                <a:gd name="T5" fmla="*/ 768 h 1536"/>
                <a:gd name="T6" fmla="*/ 1536 w 1536"/>
                <a:gd name="T7" fmla="*/ 768 h 1536"/>
                <a:gd name="T8" fmla="*/ 768 w 1536"/>
                <a:gd name="T9" fmla="*/ 1536 h 1536"/>
                <a:gd name="T10" fmla="*/ 0 w 1536"/>
                <a:gd name="T11" fmla="*/ 768 h 1536"/>
              </a:gdLst>
              <a:ahLst/>
              <a:cxnLst>
                <a:cxn ang="0">
                  <a:pos x="T0" y="T1"/>
                </a:cxn>
                <a:cxn ang="0">
                  <a:pos x="T2" y="T3"/>
                </a:cxn>
                <a:cxn ang="0">
                  <a:pos x="T4" y="T5"/>
                </a:cxn>
                <a:cxn ang="0">
                  <a:pos x="T6" y="T7"/>
                </a:cxn>
                <a:cxn ang="0">
                  <a:pos x="T8" y="T9"/>
                </a:cxn>
                <a:cxn ang="0">
                  <a:pos x="T10" y="T11"/>
                </a:cxn>
              </a:cxnLst>
              <a:rect l="0" t="0" r="r" b="b"/>
              <a:pathLst>
                <a:path w="1536" h="1536">
                  <a:moveTo>
                    <a:pt x="0" y="768"/>
                  </a:moveTo>
                  <a:cubicBezTo>
                    <a:pt x="0" y="344"/>
                    <a:pt x="344" y="0"/>
                    <a:pt x="768" y="0"/>
                  </a:cubicBezTo>
                  <a:cubicBezTo>
                    <a:pt x="1192" y="0"/>
                    <a:pt x="1536" y="344"/>
                    <a:pt x="1536" y="768"/>
                  </a:cubicBezTo>
                  <a:cubicBezTo>
                    <a:pt x="1536" y="768"/>
                    <a:pt x="1536" y="768"/>
                    <a:pt x="1536" y="768"/>
                  </a:cubicBezTo>
                  <a:cubicBezTo>
                    <a:pt x="1536" y="1192"/>
                    <a:pt x="1192" y="1536"/>
                    <a:pt x="768" y="1536"/>
                  </a:cubicBezTo>
                  <a:cubicBezTo>
                    <a:pt x="344" y="1536"/>
                    <a:pt x="0" y="1192"/>
                    <a:pt x="0" y="768"/>
                  </a:cubicBezTo>
                </a:path>
              </a:pathLst>
            </a:custGeom>
            <a:solidFill>
              <a:srgbClr val="FFFFFF"/>
            </a:solidFill>
            <a:ln w="0">
              <a:solidFill>
                <a:srgbClr val="000000"/>
              </a:solidFill>
              <a:prstDash val="solid"/>
              <a:round/>
              <a:headEnd/>
              <a:tailEnd/>
            </a:ln>
          </p:spPr>
          <p:txBody>
            <a:bodyPr/>
            <a:lstStyle/>
            <a:p>
              <a:endParaRPr lang="en-US" dirty="0"/>
            </a:p>
          </p:txBody>
        </p:sp>
        <p:sp>
          <p:nvSpPr>
            <p:cNvPr id="154721" name="Freeform 97"/>
            <p:cNvSpPr>
              <a:spLocks/>
            </p:cNvSpPr>
            <p:nvPr/>
          </p:nvSpPr>
          <p:spPr bwMode="auto">
            <a:xfrm>
              <a:off x="2642" y="2572"/>
              <a:ext cx="305" cy="337"/>
            </a:xfrm>
            <a:custGeom>
              <a:avLst/>
              <a:gdLst>
                <a:gd name="T0" fmla="*/ 0 w 305"/>
                <a:gd name="T1" fmla="*/ 168 h 337"/>
                <a:gd name="T2" fmla="*/ 153 w 305"/>
                <a:gd name="T3" fmla="*/ 0 h 337"/>
                <a:gd name="T4" fmla="*/ 305 w 305"/>
                <a:gd name="T5" fmla="*/ 168 h 337"/>
                <a:gd name="T6" fmla="*/ 305 w 305"/>
                <a:gd name="T7" fmla="*/ 168 h 337"/>
                <a:gd name="T8" fmla="*/ 153 w 305"/>
                <a:gd name="T9" fmla="*/ 337 h 337"/>
                <a:gd name="T10" fmla="*/ 0 w 305"/>
                <a:gd name="T11" fmla="*/ 168 h 337"/>
              </a:gdLst>
              <a:ahLst/>
              <a:cxnLst>
                <a:cxn ang="0">
                  <a:pos x="T0" y="T1"/>
                </a:cxn>
                <a:cxn ang="0">
                  <a:pos x="T2" y="T3"/>
                </a:cxn>
                <a:cxn ang="0">
                  <a:pos x="T4" y="T5"/>
                </a:cxn>
                <a:cxn ang="0">
                  <a:pos x="T6" y="T7"/>
                </a:cxn>
                <a:cxn ang="0">
                  <a:pos x="T8" y="T9"/>
                </a:cxn>
                <a:cxn ang="0">
                  <a:pos x="T10" y="T11"/>
                </a:cxn>
              </a:cxnLst>
              <a:rect l="0" t="0" r="r" b="b"/>
              <a:pathLst>
                <a:path w="305" h="337">
                  <a:moveTo>
                    <a:pt x="0" y="168"/>
                  </a:moveTo>
                  <a:cubicBezTo>
                    <a:pt x="0" y="76"/>
                    <a:pt x="69" y="0"/>
                    <a:pt x="153" y="0"/>
                  </a:cubicBezTo>
                  <a:cubicBezTo>
                    <a:pt x="237" y="0"/>
                    <a:pt x="305" y="76"/>
                    <a:pt x="305" y="168"/>
                  </a:cubicBezTo>
                  <a:cubicBezTo>
                    <a:pt x="305" y="168"/>
                    <a:pt x="305" y="168"/>
                    <a:pt x="305" y="168"/>
                  </a:cubicBezTo>
                  <a:cubicBezTo>
                    <a:pt x="305" y="261"/>
                    <a:pt x="237" y="337"/>
                    <a:pt x="153" y="337"/>
                  </a:cubicBezTo>
                  <a:cubicBezTo>
                    <a:pt x="69" y="337"/>
                    <a:pt x="0" y="261"/>
                    <a:pt x="0" y="168"/>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22" name="Rectangle 98"/>
            <p:cNvSpPr>
              <a:spLocks noChangeArrowheads="1"/>
            </p:cNvSpPr>
            <p:nvPr/>
          </p:nvSpPr>
          <p:spPr bwMode="auto">
            <a:xfrm>
              <a:off x="2741" y="2659"/>
              <a:ext cx="175"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 </a:t>
              </a:r>
              <a:endParaRPr lang="en-US" altLang="en-US" dirty="0"/>
            </a:p>
          </p:txBody>
        </p:sp>
        <p:sp>
          <p:nvSpPr>
            <p:cNvPr id="154723" name="Rectangle 99"/>
            <p:cNvSpPr>
              <a:spLocks noChangeArrowheads="1"/>
            </p:cNvSpPr>
            <p:nvPr/>
          </p:nvSpPr>
          <p:spPr bwMode="auto">
            <a:xfrm>
              <a:off x="2728" y="2736"/>
              <a:ext cx="185"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Model</a:t>
              </a:r>
              <a:endParaRPr lang="en-US" altLang="en-US" dirty="0"/>
            </a:p>
          </p:txBody>
        </p:sp>
        <p:sp>
          <p:nvSpPr>
            <p:cNvPr id="154724" name="Line 100"/>
            <p:cNvSpPr>
              <a:spLocks noChangeShapeType="1"/>
            </p:cNvSpPr>
            <p:nvPr/>
          </p:nvSpPr>
          <p:spPr bwMode="auto">
            <a:xfrm>
              <a:off x="2375" y="2320"/>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25" name="Line 101"/>
            <p:cNvSpPr>
              <a:spLocks noChangeShapeType="1"/>
            </p:cNvSpPr>
            <p:nvPr/>
          </p:nvSpPr>
          <p:spPr bwMode="auto">
            <a:xfrm>
              <a:off x="2413" y="2488"/>
              <a:ext cx="267"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26" name="Rectangle 102"/>
            <p:cNvSpPr>
              <a:spLocks noChangeArrowheads="1"/>
            </p:cNvSpPr>
            <p:nvPr/>
          </p:nvSpPr>
          <p:spPr bwMode="auto">
            <a:xfrm>
              <a:off x="2680" y="2446"/>
              <a:ext cx="15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27" name="Rectangle 103"/>
            <p:cNvSpPr>
              <a:spLocks noChangeArrowheads="1"/>
            </p:cNvSpPr>
            <p:nvPr/>
          </p:nvSpPr>
          <p:spPr bwMode="auto">
            <a:xfrm>
              <a:off x="2680" y="2446"/>
              <a:ext cx="153" cy="42"/>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28" name="Freeform 104"/>
            <p:cNvSpPr>
              <a:spLocks/>
            </p:cNvSpPr>
            <p:nvPr/>
          </p:nvSpPr>
          <p:spPr bwMode="auto">
            <a:xfrm>
              <a:off x="2413" y="1899"/>
              <a:ext cx="267" cy="1"/>
            </a:xfrm>
            <a:custGeom>
              <a:avLst/>
              <a:gdLst>
                <a:gd name="T0" fmla="*/ 0 w 267"/>
                <a:gd name="T1" fmla="*/ 267 w 267"/>
                <a:gd name="T2" fmla="*/ 0 w 267"/>
              </a:gdLst>
              <a:ahLst/>
              <a:cxnLst>
                <a:cxn ang="0">
                  <a:pos x="T0" y="0"/>
                </a:cxn>
                <a:cxn ang="0">
                  <a:pos x="T1" y="0"/>
                </a:cxn>
                <a:cxn ang="0">
                  <a:pos x="T2" y="0"/>
                </a:cxn>
              </a:cxnLst>
              <a:rect l="0" t="0" r="r" b="b"/>
              <a:pathLst>
                <a:path w="267">
                  <a:moveTo>
                    <a:pt x="0" y="0"/>
                  </a:moveTo>
                  <a:lnTo>
                    <a:pt x="267" y="0"/>
                  </a:lnTo>
                  <a:lnTo>
                    <a:pt x="0" y="0"/>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29" name="Line 105"/>
            <p:cNvSpPr>
              <a:spLocks noChangeShapeType="1"/>
            </p:cNvSpPr>
            <p:nvPr/>
          </p:nvSpPr>
          <p:spPr bwMode="auto">
            <a:xfrm flipV="1">
              <a:off x="1262" y="2488"/>
              <a:ext cx="486"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30" name="Freeform 106"/>
            <p:cNvSpPr>
              <a:spLocks/>
            </p:cNvSpPr>
            <p:nvPr/>
          </p:nvSpPr>
          <p:spPr bwMode="auto">
            <a:xfrm>
              <a:off x="1745" y="247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731" name="Line 107"/>
            <p:cNvSpPr>
              <a:spLocks noChangeShapeType="1"/>
            </p:cNvSpPr>
            <p:nvPr/>
          </p:nvSpPr>
          <p:spPr bwMode="auto">
            <a:xfrm>
              <a:off x="1346" y="2279"/>
              <a:ext cx="921"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32" name="Freeform 108"/>
            <p:cNvSpPr>
              <a:spLocks/>
            </p:cNvSpPr>
            <p:nvPr/>
          </p:nvSpPr>
          <p:spPr bwMode="auto">
            <a:xfrm>
              <a:off x="2264" y="226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733" name="Line 109"/>
            <p:cNvSpPr>
              <a:spLocks noChangeShapeType="1"/>
            </p:cNvSpPr>
            <p:nvPr/>
          </p:nvSpPr>
          <p:spPr bwMode="auto">
            <a:xfrm>
              <a:off x="1509" y="1647"/>
              <a:ext cx="239"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34" name="Freeform 110"/>
            <p:cNvSpPr>
              <a:spLocks/>
            </p:cNvSpPr>
            <p:nvPr/>
          </p:nvSpPr>
          <p:spPr bwMode="auto">
            <a:xfrm>
              <a:off x="1745" y="1634"/>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735" name="Rectangle 111"/>
            <p:cNvSpPr>
              <a:spLocks noChangeArrowheads="1"/>
            </p:cNvSpPr>
            <p:nvPr/>
          </p:nvSpPr>
          <p:spPr bwMode="auto">
            <a:xfrm>
              <a:off x="1473" y="2197"/>
              <a:ext cx="27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AntiSkid </a:t>
              </a:r>
              <a:endParaRPr lang="en-US" altLang="en-US" dirty="0"/>
            </a:p>
          </p:txBody>
        </p:sp>
        <p:sp>
          <p:nvSpPr>
            <p:cNvPr id="154736" name="Rectangle 112"/>
            <p:cNvSpPr>
              <a:spLocks noChangeArrowheads="1"/>
            </p:cNvSpPr>
            <p:nvPr/>
          </p:nvSpPr>
          <p:spPr bwMode="auto">
            <a:xfrm>
              <a:off x="1448" y="2274"/>
              <a:ext cx="31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Command</a:t>
              </a:r>
              <a:endParaRPr lang="en-US" altLang="en-US" dirty="0"/>
            </a:p>
          </p:txBody>
        </p:sp>
        <p:sp>
          <p:nvSpPr>
            <p:cNvPr id="154737" name="Rectangle 113"/>
            <p:cNvSpPr>
              <a:spLocks noChangeArrowheads="1"/>
            </p:cNvSpPr>
            <p:nvPr/>
          </p:nvSpPr>
          <p:spPr bwMode="auto">
            <a:xfrm>
              <a:off x="1455" y="2410"/>
              <a:ext cx="2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a:t>
              </a:r>
              <a:endParaRPr lang="en-US" altLang="en-US" dirty="0"/>
            </a:p>
          </p:txBody>
        </p:sp>
        <p:sp>
          <p:nvSpPr>
            <p:cNvPr id="154738" name="Rectangle 114"/>
            <p:cNvSpPr>
              <a:spLocks noChangeArrowheads="1"/>
            </p:cNvSpPr>
            <p:nvPr/>
          </p:nvSpPr>
          <p:spPr bwMode="auto">
            <a:xfrm>
              <a:off x="1689" y="2410"/>
              <a:ext cx="55"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a:t>
              </a:r>
              <a:endParaRPr lang="en-US" altLang="en-US" dirty="0"/>
            </a:p>
          </p:txBody>
        </p:sp>
        <p:sp>
          <p:nvSpPr>
            <p:cNvPr id="154739" name="Rectangle 115"/>
            <p:cNvSpPr>
              <a:spLocks noChangeArrowheads="1"/>
            </p:cNvSpPr>
            <p:nvPr/>
          </p:nvSpPr>
          <p:spPr bwMode="auto">
            <a:xfrm>
              <a:off x="1473" y="2488"/>
              <a:ext cx="27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AntiSkid </a:t>
              </a:r>
              <a:endParaRPr lang="en-US" altLang="en-US" dirty="0"/>
            </a:p>
          </p:txBody>
        </p:sp>
        <p:sp>
          <p:nvSpPr>
            <p:cNvPr id="154740" name="Rectangle 116"/>
            <p:cNvSpPr>
              <a:spLocks noChangeArrowheads="1"/>
            </p:cNvSpPr>
            <p:nvPr/>
          </p:nvSpPr>
          <p:spPr bwMode="auto">
            <a:xfrm>
              <a:off x="1448" y="2565"/>
              <a:ext cx="31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Command</a:t>
              </a:r>
              <a:endParaRPr lang="en-US" altLang="en-US" dirty="0"/>
            </a:p>
          </p:txBody>
        </p:sp>
        <p:sp>
          <p:nvSpPr>
            <p:cNvPr id="154741" name="Rectangle 117"/>
            <p:cNvSpPr>
              <a:spLocks noChangeArrowheads="1"/>
            </p:cNvSpPr>
            <p:nvPr/>
          </p:nvSpPr>
          <p:spPr bwMode="auto">
            <a:xfrm>
              <a:off x="1713" y="890"/>
              <a:ext cx="38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Green Pump</a:t>
              </a:r>
              <a:endParaRPr lang="en-US" altLang="en-US" dirty="0"/>
            </a:p>
          </p:txBody>
        </p:sp>
        <p:sp>
          <p:nvSpPr>
            <p:cNvPr id="154742" name="Rectangle 118"/>
            <p:cNvSpPr>
              <a:spLocks noChangeArrowheads="1"/>
            </p:cNvSpPr>
            <p:nvPr/>
          </p:nvSpPr>
          <p:spPr bwMode="auto">
            <a:xfrm>
              <a:off x="2252" y="890"/>
              <a:ext cx="335"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Blue Pump</a:t>
              </a:r>
              <a:endParaRPr lang="en-US" altLang="en-US" dirty="0"/>
            </a:p>
          </p:txBody>
        </p:sp>
        <p:sp>
          <p:nvSpPr>
            <p:cNvPr id="154743" name="Rectangle 119"/>
            <p:cNvSpPr>
              <a:spLocks noChangeArrowheads="1"/>
            </p:cNvSpPr>
            <p:nvPr/>
          </p:nvSpPr>
          <p:spPr bwMode="auto">
            <a:xfrm>
              <a:off x="2165" y="1184"/>
              <a:ext cx="45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Isolation Valve</a:t>
              </a:r>
              <a:endParaRPr lang="en-US" altLang="en-US" dirty="0"/>
            </a:p>
          </p:txBody>
        </p:sp>
        <p:sp>
          <p:nvSpPr>
            <p:cNvPr id="154744" name="Rectangle 120"/>
            <p:cNvSpPr>
              <a:spLocks noChangeArrowheads="1"/>
            </p:cNvSpPr>
            <p:nvPr/>
          </p:nvSpPr>
          <p:spPr bwMode="auto">
            <a:xfrm>
              <a:off x="1662" y="1184"/>
              <a:ext cx="45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Isolation Valve</a:t>
              </a:r>
              <a:endParaRPr lang="en-US" altLang="en-US" dirty="0"/>
            </a:p>
          </p:txBody>
        </p:sp>
        <p:sp>
          <p:nvSpPr>
            <p:cNvPr id="154745" name="Rectangle 121"/>
            <p:cNvSpPr>
              <a:spLocks noChangeArrowheads="1"/>
            </p:cNvSpPr>
            <p:nvPr/>
          </p:nvSpPr>
          <p:spPr bwMode="auto">
            <a:xfrm>
              <a:off x="1438" y="1654"/>
              <a:ext cx="16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Shut </a:t>
              </a:r>
              <a:endParaRPr lang="en-US" altLang="en-US" dirty="0"/>
            </a:p>
          </p:txBody>
        </p:sp>
        <p:sp>
          <p:nvSpPr>
            <p:cNvPr id="154746" name="Rectangle 122"/>
            <p:cNvSpPr>
              <a:spLocks noChangeArrowheads="1"/>
            </p:cNvSpPr>
            <p:nvPr/>
          </p:nvSpPr>
          <p:spPr bwMode="auto">
            <a:xfrm>
              <a:off x="1405" y="1731"/>
              <a:ext cx="23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Normal </a:t>
              </a:r>
              <a:endParaRPr lang="en-US" altLang="en-US" dirty="0"/>
            </a:p>
          </p:txBody>
        </p:sp>
        <p:sp>
          <p:nvSpPr>
            <p:cNvPr id="154747" name="Rectangle 123"/>
            <p:cNvSpPr>
              <a:spLocks noChangeArrowheads="1"/>
            </p:cNvSpPr>
            <p:nvPr/>
          </p:nvSpPr>
          <p:spPr bwMode="auto">
            <a:xfrm>
              <a:off x="1400" y="1808"/>
              <a:ext cx="2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System</a:t>
              </a:r>
              <a:endParaRPr lang="en-US" altLang="en-US" dirty="0"/>
            </a:p>
          </p:txBody>
        </p:sp>
        <p:sp>
          <p:nvSpPr>
            <p:cNvPr id="154748" name="Rectangle 124"/>
            <p:cNvSpPr>
              <a:spLocks noChangeArrowheads="1"/>
            </p:cNvSpPr>
            <p:nvPr/>
          </p:nvSpPr>
          <p:spPr bwMode="auto">
            <a:xfrm>
              <a:off x="1808" y="1758"/>
              <a:ext cx="4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N</a:t>
              </a:r>
              <a:endParaRPr lang="en-US" altLang="en-US" dirty="0"/>
            </a:p>
          </p:txBody>
        </p:sp>
        <p:sp>
          <p:nvSpPr>
            <p:cNvPr id="154749" name="Rectangle 125"/>
            <p:cNvSpPr>
              <a:spLocks noChangeArrowheads="1"/>
            </p:cNvSpPr>
            <p:nvPr/>
          </p:nvSpPr>
          <p:spPr bwMode="auto">
            <a:xfrm>
              <a:off x="1806" y="1825"/>
              <a:ext cx="4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O</a:t>
              </a:r>
              <a:endParaRPr lang="en-US" altLang="en-US" dirty="0"/>
            </a:p>
          </p:txBody>
        </p:sp>
        <p:sp>
          <p:nvSpPr>
            <p:cNvPr id="154750" name="Rectangle 126"/>
            <p:cNvSpPr>
              <a:spLocks noChangeArrowheads="1"/>
            </p:cNvSpPr>
            <p:nvPr/>
          </p:nvSpPr>
          <p:spPr bwMode="auto">
            <a:xfrm>
              <a:off x="1808" y="1891"/>
              <a:ext cx="4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R</a:t>
              </a:r>
              <a:endParaRPr lang="en-US" altLang="en-US" dirty="0"/>
            </a:p>
          </p:txBody>
        </p:sp>
        <p:sp>
          <p:nvSpPr>
            <p:cNvPr id="154751" name="Rectangle 127"/>
            <p:cNvSpPr>
              <a:spLocks noChangeArrowheads="1"/>
            </p:cNvSpPr>
            <p:nvPr/>
          </p:nvSpPr>
          <p:spPr bwMode="auto">
            <a:xfrm>
              <a:off x="1806" y="1961"/>
              <a:ext cx="47"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M</a:t>
              </a:r>
              <a:endParaRPr lang="en-US" altLang="en-US" dirty="0"/>
            </a:p>
          </p:txBody>
        </p:sp>
        <p:sp>
          <p:nvSpPr>
            <p:cNvPr id="154752" name="Rectangle 128"/>
            <p:cNvSpPr>
              <a:spLocks noChangeArrowheads="1"/>
            </p:cNvSpPr>
            <p:nvPr/>
          </p:nvSpPr>
          <p:spPr bwMode="auto">
            <a:xfrm>
              <a:off x="1808" y="2028"/>
              <a:ext cx="4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A</a:t>
              </a:r>
              <a:endParaRPr lang="en-US" altLang="en-US" dirty="0"/>
            </a:p>
          </p:txBody>
        </p:sp>
        <p:sp>
          <p:nvSpPr>
            <p:cNvPr id="154753" name="Rectangle 129"/>
            <p:cNvSpPr>
              <a:spLocks noChangeArrowheads="1"/>
            </p:cNvSpPr>
            <p:nvPr/>
          </p:nvSpPr>
          <p:spPr bwMode="auto">
            <a:xfrm>
              <a:off x="1807" y="2095"/>
              <a:ext cx="3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L</a:t>
              </a:r>
              <a:endParaRPr lang="en-US" altLang="en-US" dirty="0"/>
            </a:p>
          </p:txBody>
        </p:sp>
        <p:sp>
          <p:nvSpPr>
            <p:cNvPr id="154754" name="Rectangle 130"/>
            <p:cNvSpPr>
              <a:spLocks noChangeArrowheads="1"/>
            </p:cNvSpPr>
            <p:nvPr/>
          </p:nvSpPr>
          <p:spPr bwMode="auto">
            <a:xfrm>
              <a:off x="2245" y="1731"/>
              <a:ext cx="4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A</a:t>
              </a:r>
              <a:endParaRPr lang="en-US" altLang="en-US" dirty="0"/>
            </a:p>
          </p:txBody>
        </p:sp>
        <p:sp>
          <p:nvSpPr>
            <p:cNvPr id="154755" name="Rectangle 131"/>
            <p:cNvSpPr>
              <a:spLocks noChangeArrowheads="1"/>
            </p:cNvSpPr>
            <p:nvPr/>
          </p:nvSpPr>
          <p:spPr bwMode="auto">
            <a:xfrm>
              <a:off x="2246" y="1811"/>
              <a:ext cx="3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L</a:t>
              </a:r>
              <a:endParaRPr lang="en-US" altLang="en-US" dirty="0"/>
            </a:p>
          </p:txBody>
        </p:sp>
        <p:sp>
          <p:nvSpPr>
            <p:cNvPr id="154756" name="Rectangle 132"/>
            <p:cNvSpPr>
              <a:spLocks noChangeArrowheads="1"/>
            </p:cNvSpPr>
            <p:nvPr/>
          </p:nvSpPr>
          <p:spPr bwMode="auto">
            <a:xfrm>
              <a:off x="2246" y="1888"/>
              <a:ext cx="3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T</a:t>
              </a:r>
              <a:endParaRPr lang="en-US" altLang="en-US" dirty="0"/>
            </a:p>
          </p:txBody>
        </p:sp>
        <p:sp>
          <p:nvSpPr>
            <p:cNvPr id="154757" name="Rectangle 133"/>
            <p:cNvSpPr>
              <a:spLocks noChangeArrowheads="1"/>
            </p:cNvSpPr>
            <p:nvPr/>
          </p:nvSpPr>
          <p:spPr bwMode="auto">
            <a:xfrm>
              <a:off x="2245" y="1965"/>
              <a:ext cx="4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E</a:t>
              </a:r>
              <a:endParaRPr lang="en-US" altLang="en-US" dirty="0"/>
            </a:p>
          </p:txBody>
        </p:sp>
        <p:sp>
          <p:nvSpPr>
            <p:cNvPr id="154758" name="Rectangle 134"/>
            <p:cNvSpPr>
              <a:spLocks noChangeArrowheads="1"/>
            </p:cNvSpPr>
            <p:nvPr/>
          </p:nvSpPr>
          <p:spPr bwMode="auto">
            <a:xfrm>
              <a:off x="2245" y="2046"/>
              <a:ext cx="4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R</a:t>
              </a:r>
              <a:endParaRPr lang="en-US" altLang="en-US" dirty="0"/>
            </a:p>
          </p:txBody>
        </p:sp>
        <p:sp>
          <p:nvSpPr>
            <p:cNvPr id="154759" name="Rectangle 135"/>
            <p:cNvSpPr>
              <a:spLocks noChangeArrowheads="1"/>
            </p:cNvSpPr>
            <p:nvPr/>
          </p:nvSpPr>
          <p:spPr bwMode="auto">
            <a:xfrm>
              <a:off x="2245" y="2123"/>
              <a:ext cx="4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N</a:t>
              </a:r>
              <a:endParaRPr lang="en-US" altLang="en-US" dirty="0"/>
            </a:p>
          </p:txBody>
        </p:sp>
        <p:sp>
          <p:nvSpPr>
            <p:cNvPr id="154760" name="Rectangle 136"/>
            <p:cNvSpPr>
              <a:spLocks noChangeArrowheads="1"/>
            </p:cNvSpPr>
            <p:nvPr/>
          </p:nvSpPr>
          <p:spPr bwMode="auto">
            <a:xfrm>
              <a:off x="2245" y="2204"/>
              <a:ext cx="4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A</a:t>
              </a:r>
              <a:endParaRPr lang="en-US" altLang="en-US" dirty="0"/>
            </a:p>
          </p:txBody>
        </p:sp>
        <p:sp>
          <p:nvSpPr>
            <p:cNvPr id="154761" name="Rectangle 137"/>
            <p:cNvSpPr>
              <a:spLocks noChangeArrowheads="1"/>
            </p:cNvSpPr>
            <p:nvPr/>
          </p:nvSpPr>
          <p:spPr bwMode="auto">
            <a:xfrm>
              <a:off x="2246" y="2281"/>
              <a:ext cx="3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T</a:t>
              </a:r>
              <a:endParaRPr lang="en-US" altLang="en-US" dirty="0"/>
            </a:p>
          </p:txBody>
        </p:sp>
        <p:sp>
          <p:nvSpPr>
            <p:cNvPr id="154762" name="Rectangle 138"/>
            <p:cNvSpPr>
              <a:spLocks noChangeArrowheads="1"/>
            </p:cNvSpPr>
            <p:nvPr/>
          </p:nvSpPr>
          <p:spPr bwMode="auto">
            <a:xfrm>
              <a:off x="2245" y="2358"/>
              <a:ext cx="4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E</a:t>
              </a:r>
              <a:endParaRPr lang="en-US" altLang="en-US" dirty="0"/>
            </a:p>
          </p:txBody>
        </p:sp>
        <p:sp>
          <p:nvSpPr>
            <p:cNvPr id="154763" name="Rectangle 139"/>
            <p:cNvSpPr>
              <a:spLocks noChangeArrowheads="1"/>
            </p:cNvSpPr>
            <p:nvPr/>
          </p:nvSpPr>
          <p:spPr bwMode="auto">
            <a:xfrm>
              <a:off x="2619" y="2007"/>
              <a:ext cx="41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Accumulator </a:t>
              </a:r>
              <a:endParaRPr lang="en-US" altLang="en-US" dirty="0"/>
            </a:p>
          </p:txBody>
        </p:sp>
        <p:sp>
          <p:nvSpPr>
            <p:cNvPr id="154764" name="Rectangle 140"/>
            <p:cNvSpPr>
              <a:spLocks noChangeArrowheads="1"/>
            </p:cNvSpPr>
            <p:nvPr/>
          </p:nvSpPr>
          <p:spPr bwMode="auto">
            <a:xfrm>
              <a:off x="2712" y="2085"/>
              <a:ext cx="17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Pump</a:t>
              </a:r>
              <a:endParaRPr lang="en-US" altLang="en-US" dirty="0"/>
            </a:p>
          </p:txBody>
        </p:sp>
        <p:sp>
          <p:nvSpPr>
            <p:cNvPr id="154765" name="Rectangle 141"/>
            <p:cNvSpPr>
              <a:spLocks noChangeArrowheads="1"/>
            </p:cNvSpPr>
            <p:nvPr/>
          </p:nvSpPr>
          <p:spPr bwMode="auto">
            <a:xfrm>
              <a:off x="1953" y="2428"/>
              <a:ext cx="18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Meter </a:t>
              </a:r>
              <a:endParaRPr lang="en-US" altLang="en-US" dirty="0"/>
            </a:p>
          </p:txBody>
        </p:sp>
        <p:sp>
          <p:nvSpPr>
            <p:cNvPr id="154766" name="Rectangle 142"/>
            <p:cNvSpPr>
              <a:spLocks noChangeArrowheads="1"/>
            </p:cNvSpPr>
            <p:nvPr/>
          </p:nvSpPr>
          <p:spPr bwMode="auto">
            <a:xfrm>
              <a:off x="1955" y="2505"/>
              <a:ext cx="16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Valve</a:t>
              </a:r>
              <a:endParaRPr lang="en-US" altLang="en-US" dirty="0"/>
            </a:p>
          </p:txBody>
        </p:sp>
        <p:sp>
          <p:nvSpPr>
            <p:cNvPr id="154767" name="Rectangle 143"/>
            <p:cNvSpPr>
              <a:spLocks noChangeArrowheads="1"/>
            </p:cNvSpPr>
            <p:nvPr/>
          </p:nvSpPr>
          <p:spPr bwMode="auto">
            <a:xfrm>
              <a:off x="2317" y="2463"/>
              <a:ext cx="11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Meter </a:t>
              </a:r>
              <a:endParaRPr lang="en-US" altLang="en-US" dirty="0"/>
            </a:p>
          </p:txBody>
        </p:sp>
        <p:sp>
          <p:nvSpPr>
            <p:cNvPr id="154768" name="Rectangle 144"/>
            <p:cNvSpPr>
              <a:spLocks noChangeArrowheads="1"/>
            </p:cNvSpPr>
            <p:nvPr/>
          </p:nvSpPr>
          <p:spPr bwMode="auto">
            <a:xfrm>
              <a:off x="2316" y="2509"/>
              <a:ext cx="100"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Valve</a:t>
              </a:r>
              <a:endParaRPr lang="en-US" altLang="en-US" dirty="0"/>
            </a:p>
          </p:txBody>
        </p:sp>
        <p:sp>
          <p:nvSpPr>
            <p:cNvPr id="154769" name="Rectangle 145"/>
            <p:cNvSpPr>
              <a:spLocks noChangeArrowheads="1"/>
            </p:cNvSpPr>
            <p:nvPr/>
          </p:nvSpPr>
          <p:spPr bwMode="auto">
            <a:xfrm>
              <a:off x="2317" y="2211"/>
              <a:ext cx="11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Meter </a:t>
              </a:r>
              <a:endParaRPr lang="en-US" altLang="en-US" dirty="0"/>
            </a:p>
          </p:txBody>
        </p:sp>
        <p:sp>
          <p:nvSpPr>
            <p:cNvPr id="154770" name="Rectangle 146"/>
            <p:cNvSpPr>
              <a:spLocks noChangeArrowheads="1"/>
            </p:cNvSpPr>
            <p:nvPr/>
          </p:nvSpPr>
          <p:spPr bwMode="auto">
            <a:xfrm>
              <a:off x="2316" y="2256"/>
              <a:ext cx="100"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Valve</a:t>
              </a:r>
              <a:endParaRPr lang="en-US" altLang="en-US" dirty="0"/>
            </a:p>
          </p:txBody>
        </p:sp>
        <p:sp>
          <p:nvSpPr>
            <p:cNvPr id="154771" name="Rectangle 147"/>
            <p:cNvSpPr>
              <a:spLocks noChangeArrowheads="1"/>
            </p:cNvSpPr>
            <p:nvPr/>
          </p:nvSpPr>
          <p:spPr bwMode="auto">
            <a:xfrm>
              <a:off x="2352" y="1755"/>
              <a:ext cx="41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Accumulator </a:t>
              </a:r>
              <a:endParaRPr lang="en-US" altLang="en-US" dirty="0"/>
            </a:p>
          </p:txBody>
        </p:sp>
        <p:sp>
          <p:nvSpPr>
            <p:cNvPr id="154772" name="Rectangle 148"/>
            <p:cNvSpPr>
              <a:spLocks noChangeArrowheads="1"/>
            </p:cNvSpPr>
            <p:nvPr/>
          </p:nvSpPr>
          <p:spPr bwMode="auto">
            <a:xfrm>
              <a:off x="2451" y="1832"/>
              <a:ext cx="16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Valve</a:t>
              </a:r>
              <a:endParaRPr lang="en-US" altLang="en-US" dirty="0"/>
            </a:p>
          </p:txBody>
        </p:sp>
        <p:sp>
          <p:nvSpPr>
            <p:cNvPr id="154773" name="Rectangle 149"/>
            <p:cNvSpPr>
              <a:spLocks noChangeArrowheads="1"/>
            </p:cNvSpPr>
            <p:nvPr/>
          </p:nvSpPr>
          <p:spPr bwMode="auto">
            <a:xfrm>
              <a:off x="2602" y="2270"/>
              <a:ext cx="365"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Mechanical </a:t>
              </a:r>
              <a:endParaRPr lang="en-US" altLang="en-US" dirty="0"/>
            </a:p>
          </p:txBody>
        </p:sp>
        <p:sp>
          <p:nvSpPr>
            <p:cNvPr id="154774" name="Rectangle 150"/>
            <p:cNvSpPr>
              <a:spLocks noChangeArrowheads="1"/>
            </p:cNvSpPr>
            <p:nvPr/>
          </p:nvSpPr>
          <p:spPr bwMode="auto">
            <a:xfrm>
              <a:off x="2677" y="2347"/>
              <a:ext cx="17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a:t>
              </a:r>
              <a:endParaRPr lang="en-US" altLang="en-US" dirty="0"/>
            </a:p>
          </p:txBody>
        </p:sp>
        <p:sp>
          <p:nvSpPr>
            <p:cNvPr id="154775" name="Rectangle 151"/>
            <p:cNvSpPr>
              <a:spLocks noChangeArrowheads="1"/>
            </p:cNvSpPr>
            <p:nvPr/>
          </p:nvSpPr>
          <p:spPr bwMode="auto">
            <a:xfrm>
              <a:off x="2011" y="1531"/>
              <a:ext cx="44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Selector Valve</a:t>
              </a:r>
              <a:endParaRPr lang="en-US" altLang="en-US" dirty="0"/>
            </a:p>
          </p:txBody>
        </p:sp>
        <p:sp>
          <p:nvSpPr>
            <p:cNvPr id="154776" name="Line 152"/>
            <p:cNvSpPr>
              <a:spLocks noChangeShapeType="1"/>
            </p:cNvSpPr>
            <p:nvPr/>
          </p:nvSpPr>
          <p:spPr bwMode="auto">
            <a:xfrm flipH="1" flipV="1">
              <a:off x="1503" y="1506"/>
              <a:ext cx="0" cy="141"/>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777" name="Line 153"/>
            <p:cNvSpPr>
              <a:spLocks noChangeShapeType="1"/>
            </p:cNvSpPr>
            <p:nvPr/>
          </p:nvSpPr>
          <p:spPr bwMode="auto">
            <a:xfrm>
              <a:off x="1176" y="1839"/>
              <a:ext cx="162" cy="0"/>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778" name="Line 154"/>
            <p:cNvSpPr>
              <a:spLocks noChangeShapeType="1"/>
            </p:cNvSpPr>
            <p:nvPr/>
          </p:nvSpPr>
          <p:spPr bwMode="auto">
            <a:xfrm flipH="1" flipV="1">
              <a:off x="1341" y="1839"/>
              <a:ext cx="0" cy="441"/>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779" name="Line 155"/>
            <p:cNvSpPr>
              <a:spLocks noChangeShapeType="1"/>
            </p:cNvSpPr>
            <p:nvPr/>
          </p:nvSpPr>
          <p:spPr bwMode="auto">
            <a:xfrm>
              <a:off x="1179" y="2178"/>
              <a:ext cx="81" cy="0"/>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780" name="Line 156"/>
            <p:cNvSpPr>
              <a:spLocks noChangeShapeType="1"/>
            </p:cNvSpPr>
            <p:nvPr/>
          </p:nvSpPr>
          <p:spPr bwMode="auto">
            <a:xfrm flipH="1" flipV="1">
              <a:off x="1263" y="2178"/>
              <a:ext cx="0" cy="309"/>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grpSp>
        <p:nvGrpSpPr>
          <p:cNvPr id="6" name="Group 157"/>
          <p:cNvGrpSpPr>
            <a:grpSpLocks/>
          </p:cNvGrpSpPr>
          <p:nvPr/>
        </p:nvGrpSpPr>
        <p:grpSpPr bwMode="auto">
          <a:xfrm>
            <a:off x="1643063" y="2271713"/>
            <a:ext cx="171450" cy="1303337"/>
            <a:chOff x="1035" y="1431"/>
            <a:chExt cx="108" cy="821"/>
          </a:xfrm>
        </p:grpSpPr>
        <p:sp>
          <p:nvSpPr>
            <p:cNvPr id="154782" name="Rectangle 158"/>
            <p:cNvSpPr>
              <a:spLocks noChangeArrowheads="1"/>
            </p:cNvSpPr>
            <p:nvPr/>
          </p:nvSpPr>
          <p:spPr bwMode="auto">
            <a:xfrm>
              <a:off x="1041" y="1431"/>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3" name="Rectangle 159"/>
            <p:cNvSpPr>
              <a:spLocks noChangeArrowheads="1"/>
            </p:cNvSpPr>
            <p:nvPr/>
          </p:nvSpPr>
          <p:spPr bwMode="auto">
            <a:xfrm>
              <a:off x="1044" y="1539"/>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4" name="Rectangle 160"/>
            <p:cNvSpPr>
              <a:spLocks noChangeArrowheads="1"/>
            </p:cNvSpPr>
            <p:nvPr/>
          </p:nvSpPr>
          <p:spPr bwMode="auto">
            <a:xfrm>
              <a:off x="1041" y="1668"/>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5" name="Rectangle 161"/>
            <p:cNvSpPr>
              <a:spLocks noChangeArrowheads="1"/>
            </p:cNvSpPr>
            <p:nvPr/>
          </p:nvSpPr>
          <p:spPr bwMode="auto">
            <a:xfrm>
              <a:off x="1038" y="2097"/>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6" name="Rectangle 162"/>
            <p:cNvSpPr>
              <a:spLocks noChangeArrowheads="1"/>
            </p:cNvSpPr>
            <p:nvPr/>
          </p:nvSpPr>
          <p:spPr bwMode="auto">
            <a:xfrm>
              <a:off x="1035" y="1983"/>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7" name="Rectangle 163"/>
            <p:cNvSpPr>
              <a:spLocks noChangeArrowheads="1"/>
            </p:cNvSpPr>
            <p:nvPr/>
          </p:nvSpPr>
          <p:spPr bwMode="auto">
            <a:xfrm>
              <a:off x="1038" y="2223"/>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8" name="Rectangle 164"/>
            <p:cNvSpPr>
              <a:spLocks noChangeArrowheads="1"/>
            </p:cNvSpPr>
            <p:nvPr/>
          </p:nvSpPr>
          <p:spPr bwMode="auto">
            <a:xfrm>
              <a:off x="1116" y="1497"/>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9" name="Rectangle 165"/>
            <p:cNvSpPr>
              <a:spLocks noChangeArrowheads="1"/>
            </p:cNvSpPr>
            <p:nvPr/>
          </p:nvSpPr>
          <p:spPr bwMode="auto">
            <a:xfrm>
              <a:off x="1077" y="1827"/>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0" name="Rectangle 166"/>
            <p:cNvSpPr>
              <a:spLocks noChangeArrowheads="1"/>
            </p:cNvSpPr>
            <p:nvPr/>
          </p:nvSpPr>
          <p:spPr bwMode="auto">
            <a:xfrm>
              <a:off x="1047" y="2166"/>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grpSp>
      <p:grpSp>
        <p:nvGrpSpPr>
          <p:cNvPr id="7" name="Group 167"/>
          <p:cNvGrpSpPr>
            <a:grpSpLocks/>
          </p:cNvGrpSpPr>
          <p:nvPr/>
        </p:nvGrpSpPr>
        <p:grpSpPr bwMode="auto">
          <a:xfrm>
            <a:off x="2933700" y="1719263"/>
            <a:ext cx="876300" cy="2289175"/>
            <a:chOff x="1848" y="1083"/>
            <a:chExt cx="552" cy="1442"/>
          </a:xfrm>
        </p:grpSpPr>
        <p:sp>
          <p:nvSpPr>
            <p:cNvPr id="154792" name="Rectangle 168"/>
            <p:cNvSpPr>
              <a:spLocks noChangeArrowheads="1"/>
            </p:cNvSpPr>
            <p:nvPr/>
          </p:nvSpPr>
          <p:spPr bwMode="auto">
            <a:xfrm>
              <a:off x="1851" y="1326"/>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3" name="Rectangle 169"/>
            <p:cNvSpPr>
              <a:spLocks noChangeArrowheads="1"/>
            </p:cNvSpPr>
            <p:nvPr/>
          </p:nvSpPr>
          <p:spPr bwMode="auto">
            <a:xfrm>
              <a:off x="1848" y="1083"/>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4" name="Rectangle 170"/>
            <p:cNvSpPr>
              <a:spLocks noChangeArrowheads="1"/>
            </p:cNvSpPr>
            <p:nvPr/>
          </p:nvSpPr>
          <p:spPr bwMode="auto">
            <a:xfrm>
              <a:off x="2367" y="1086"/>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5" name="Rectangle 171"/>
            <p:cNvSpPr>
              <a:spLocks noChangeArrowheads="1"/>
            </p:cNvSpPr>
            <p:nvPr/>
          </p:nvSpPr>
          <p:spPr bwMode="auto">
            <a:xfrm>
              <a:off x="2373" y="1320"/>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6" name="Rectangle 172"/>
            <p:cNvSpPr>
              <a:spLocks noChangeArrowheads="1"/>
            </p:cNvSpPr>
            <p:nvPr/>
          </p:nvSpPr>
          <p:spPr bwMode="auto">
            <a:xfrm>
              <a:off x="2151" y="1632"/>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7" name="Rectangle 173"/>
            <p:cNvSpPr>
              <a:spLocks noChangeArrowheads="1"/>
            </p:cNvSpPr>
            <p:nvPr/>
          </p:nvSpPr>
          <p:spPr bwMode="auto">
            <a:xfrm>
              <a:off x="2367" y="1893"/>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8" name="Rectangle 174"/>
            <p:cNvSpPr>
              <a:spLocks noChangeArrowheads="1"/>
            </p:cNvSpPr>
            <p:nvPr/>
          </p:nvSpPr>
          <p:spPr bwMode="auto">
            <a:xfrm>
              <a:off x="2367" y="2250"/>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9" name="Rectangle 175"/>
            <p:cNvSpPr>
              <a:spLocks noChangeArrowheads="1"/>
            </p:cNvSpPr>
            <p:nvPr/>
          </p:nvSpPr>
          <p:spPr bwMode="auto">
            <a:xfrm>
              <a:off x="1848" y="2490"/>
              <a:ext cx="27" cy="35"/>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800" name="Rectangle 176"/>
            <p:cNvSpPr>
              <a:spLocks noChangeArrowheads="1"/>
            </p:cNvSpPr>
            <p:nvPr/>
          </p:nvSpPr>
          <p:spPr bwMode="auto">
            <a:xfrm>
              <a:off x="2367" y="2481"/>
              <a:ext cx="27" cy="35"/>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grpSp>
      <p:grpSp>
        <p:nvGrpSpPr>
          <p:cNvPr id="8" name="Group 177"/>
          <p:cNvGrpSpPr>
            <a:grpSpLocks/>
          </p:cNvGrpSpPr>
          <p:nvPr/>
        </p:nvGrpSpPr>
        <p:grpSpPr bwMode="auto">
          <a:xfrm>
            <a:off x="4884738" y="1757363"/>
            <a:ext cx="4030662" cy="2281237"/>
            <a:chOff x="2925" y="1053"/>
            <a:chExt cx="2539" cy="1437"/>
          </a:xfrm>
        </p:grpSpPr>
        <p:graphicFrame>
          <p:nvGraphicFramePr>
            <p:cNvPr id="154802" name="Object 178"/>
            <p:cNvGraphicFramePr>
              <a:graphicFrameLocks noChangeAspect="1"/>
            </p:cNvGraphicFramePr>
            <p:nvPr/>
          </p:nvGraphicFramePr>
          <p:xfrm>
            <a:off x="3498" y="1053"/>
            <a:ext cx="1966" cy="1437"/>
          </p:xfrm>
          <a:graphic>
            <a:graphicData uri="http://schemas.openxmlformats.org/presentationml/2006/ole">
              <mc:AlternateContent xmlns:mc="http://schemas.openxmlformats.org/markup-compatibility/2006">
                <mc:Choice xmlns:v="urn:schemas-microsoft-com:vml" Requires="v">
                  <p:oleObj spid="_x0000_s3506" name="VISIO" r:id="rId4" imgW="7073900" imgH="4876800" progId="">
                    <p:embed/>
                  </p:oleObj>
                </mc:Choice>
                <mc:Fallback>
                  <p:oleObj name="VISIO" r:id="rId4" imgW="7073900" imgH="487680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8" y="1053"/>
                          <a:ext cx="1966" cy="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4803" name="Object 179"/>
            <p:cNvGraphicFramePr>
              <a:graphicFrameLocks noChangeAspect="1"/>
            </p:cNvGraphicFramePr>
            <p:nvPr/>
          </p:nvGraphicFramePr>
          <p:xfrm>
            <a:off x="2925" y="1501"/>
            <a:ext cx="522" cy="285"/>
          </p:xfrm>
          <a:graphic>
            <a:graphicData uri="http://schemas.openxmlformats.org/presentationml/2006/ole">
              <mc:AlternateContent xmlns:mc="http://schemas.openxmlformats.org/markup-compatibility/2006">
                <mc:Choice xmlns:v="urn:schemas-microsoft-com:vml" Requires="v">
                  <p:oleObj spid="_x0000_s3507" name="VISIO" r:id="rId6" imgW="952500" imgH="495300" progId="">
                    <p:embed/>
                  </p:oleObj>
                </mc:Choice>
                <mc:Fallback>
                  <p:oleObj name="VISIO" r:id="rId6" imgW="952500" imgH="49530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5" y="1501"/>
                          <a:ext cx="522"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54804" name="Rectangle 180"/>
          <p:cNvSpPr>
            <a:spLocks noChangeArrowheads="1"/>
          </p:cNvSpPr>
          <p:nvPr/>
        </p:nvSpPr>
        <p:spPr bwMode="auto">
          <a:xfrm>
            <a:off x="228600" y="4724400"/>
            <a:ext cx="5257800"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90000"/>
              </a:lnSpc>
              <a:buClrTx/>
              <a:buFont typeface="Arial" panose="020B0604020202020204" pitchFamily="34" charset="0"/>
              <a:buChar char="•"/>
            </a:pPr>
            <a:r>
              <a:rPr lang="en-US" altLang="en-US" sz="1700" b="0" dirty="0">
                <a:solidFill>
                  <a:schemeClr val="tx1"/>
                </a:solidFill>
                <a:latin typeface="+mn-lt"/>
              </a:rPr>
              <a:t>Model the Digital Controller Architecture</a:t>
            </a:r>
          </a:p>
        </p:txBody>
      </p:sp>
      <p:sp>
        <p:nvSpPr>
          <p:cNvPr id="154805" name="Rectangle 181"/>
          <p:cNvSpPr>
            <a:spLocks noChangeArrowheads="1"/>
          </p:cNvSpPr>
          <p:nvPr/>
        </p:nvSpPr>
        <p:spPr bwMode="auto">
          <a:xfrm>
            <a:off x="254000" y="5861050"/>
            <a:ext cx="89027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90000"/>
              </a:lnSpc>
              <a:buClrTx/>
              <a:buFont typeface="Arial" panose="020B0604020202020204" pitchFamily="34" charset="0"/>
              <a:buChar char="•"/>
            </a:pPr>
            <a:r>
              <a:rPr lang="en-US" altLang="en-US" sz="1700" b="0" dirty="0">
                <a:solidFill>
                  <a:schemeClr val="tx1"/>
                </a:solidFill>
                <a:latin typeface="+mn-lt"/>
              </a:rPr>
              <a:t>Automation Enables “What-If” Consideration of System Designs</a:t>
            </a:r>
          </a:p>
          <a:p>
            <a:pPr>
              <a:lnSpc>
                <a:spcPct val="90000"/>
              </a:lnSpc>
              <a:buClrTx/>
              <a:buFont typeface="Arial" panose="020B0604020202020204" pitchFamily="34" charset="0"/>
              <a:buChar char="•"/>
            </a:pPr>
            <a:endParaRPr lang="en-US" altLang="en-US" sz="1700" b="0" dirty="0">
              <a:solidFill>
                <a:schemeClr val="tx1"/>
              </a:solidFill>
              <a:latin typeface="+mn-lt"/>
            </a:endParaRPr>
          </a:p>
        </p:txBody>
      </p:sp>
      <p:sp>
        <p:nvSpPr>
          <p:cNvPr id="154806" name="Rectangle 182"/>
          <p:cNvSpPr>
            <a:spLocks noChangeArrowheads="1"/>
          </p:cNvSpPr>
          <p:nvPr/>
        </p:nvSpPr>
        <p:spPr bwMode="auto">
          <a:xfrm>
            <a:off x="647700" y="5410200"/>
            <a:ext cx="84963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80000"/>
              </a:lnSpc>
              <a:buFont typeface="Wingdings" panose="05000000000000000000" pitchFamily="2" charset="2"/>
              <a:buNone/>
            </a:pPr>
            <a:endParaRPr lang="en-US" altLang="en-US" sz="1800" dirty="0"/>
          </a:p>
        </p:txBody>
      </p:sp>
      <p:sp>
        <p:nvSpPr>
          <p:cNvPr id="154807" name="Rectangle 183"/>
          <p:cNvSpPr>
            <a:spLocks noChangeArrowheads="1"/>
          </p:cNvSpPr>
          <p:nvPr/>
        </p:nvSpPr>
        <p:spPr bwMode="auto">
          <a:xfrm>
            <a:off x="4677459" y="5087938"/>
            <a:ext cx="3929281" cy="35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1700" dirty="0">
                <a:latin typeface="+mn-lt"/>
              </a:rPr>
              <a:t>and Digital Controller Architecture</a:t>
            </a:r>
          </a:p>
        </p:txBody>
      </p:sp>
      <p:sp>
        <p:nvSpPr>
          <p:cNvPr id="154808" name="Rectangle 184"/>
          <p:cNvSpPr>
            <a:spLocks noChangeArrowheads="1"/>
          </p:cNvSpPr>
          <p:nvPr/>
        </p:nvSpPr>
        <p:spPr bwMode="auto">
          <a:xfrm>
            <a:off x="254000" y="5467350"/>
            <a:ext cx="89027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90000"/>
              </a:lnSpc>
              <a:buClrTx/>
              <a:buFont typeface="Arial" panose="020B0604020202020204" pitchFamily="34" charset="0"/>
              <a:buChar char="•"/>
            </a:pPr>
            <a:r>
              <a:rPr lang="en-US" altLang="en-US" sz="1700" b="0" dirty="0">
                <a:solidFill>
                  <a:schemeClr val="tx1"/>
                </a:solidFill>
                <a:latin typeface="+mn-lt"/>
              </a:rPr>
              <a:t>Integrates System and Safety Engineering About a Common Model</a:t>
            </a:r>
          </a:p>
        </p:txBody>
      </p:sp>
      <p:sp>
        <p:nvSpPr>
          <p:cNvPr id="154809" name="Rectangle 185"/>
          <p:cNvSpPr>
            <a:spLocks noChangeArrowheads="1"/>
          </p:cNvSpPr>
          <p:nvPr/>
        </p:nvSpPr>
        <p:spPr bwMode="auto">
          <a:xfrm>
            <a:off x="5054600" y="4724400"/>
            <a:ext cx="4089400"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90000"/>
              </a:lnSpc>
              <a:buFont typeface="Wingdings" panose="05000000000000000000" pitchFamily="2" charset="2"/>
              <a:buNone/>
            </a:pPr>
            <a:r>
              <a:rPr lang="en-US" altLang="en-US" sz="1700" b="0" dirty="0">
                <a:solidFill>
                  <a:schemeClr val="tx1"/>
                </a:solidFill>
                <a:latin typeface="+mn-lt"/>
              </a:rPr>
              <a:t>and the Physical System</a:t>
            </a:r>
          </a:p>
        </p:txBody>
      </p:sp>
      <p:sp>
        <p:nvSpPr>
          <p:cNvPr id="3" name="Rectangle 2"/>
          <p:cNvSpPr/>
          <p:nvPr/>
        </p:nvSpPr>
        <p:spPr>
          <a:xfrm>
            <a:off x="6172200" y="582364"/>
            <a:ext cx="2971800" cy="108902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Wheel Braking System</a:t>
            </a:r>
          </a:p>
          <a:p>
            <a:pPr algn="ctr"/>
            <a:r>
              <a:rPr lang="en-US" dirty="0" smtClean="0"/>
              <a:t>AIR6110</a:t>
            </a:r>
          </a:p>
          <a:p>
            <a:pPr algn="ctr"/>
            <a:r>
              <a:rPr lang="en-US" sz="1200" dirty="0"/>
              <a:t>CONTIGUOUS AIRCRAFT/SYSTEM DEVELOPMENT PROCESS </a:t>
            </a:r>
            <a:r>
              <a:rPr lang="en-US" sz="1200" dirty="0" smtClean="0"/>
              <a:t>EXAMPLE</a:t>
            </a:r>
            <a:endParaRPr lang="en-US" sz="1200" dirty="0"/>
          </a:p>
        </p:txBody>
      </p:sp>
      <p:sp>
        <p:nvSpPr>
          <p:cNvPr id="187" name="TextBox 186"/>
          <p:cNvSpPr txBox="1"/>
          <p:nvPr/>
        </p:nvSpPr>
        <p:spPr>
          <a:xfrm>
            <a:off x="2209800" y="18288"/>
            <a:ext cx="6324600" cy="369332"/>
          </a:xfrm>
          <a:prstGeom prst="rect">
            <a:avLst/>
          </a:prstGeom>
          <a:noFill/>
        </p:spPr>
        <p:txBody>
          <a:bodyPr wrap="square" rtlCol="0">
            <a:spAutoFit/>
          </a:bodyPr>
          <a:lstStyle/>
          <a:p>
            <a:r>
              <a:rPr lang="en-US" b="1" dirty="0" smtClean="0">
                <a:solidFill>
                  <a:srgbClr val="FF0000"/>
                </a:solidFill>
              </a:rPr>
              <a:t>Keep?</a:t>
            </a:r>
          </a:p>
        </p:txBody>
      </p:sp>
      <p:sp>
        <p:nvSpPr>
          <p:cNvPr id="2" name="Slide Number Placeholder 1"/>
          <p:cNvSpPr>
            <a:spLocks noGrp="1"/>
          </p:cNvSpPr>
          <p:nvPr>
            <p:ph type="sldNum" sz="quarter" idx="10"/>
          </p:nvPr>
        </p:nvSpPr>
        <p:spPr/>
        <p:txBody>
          <a:bodyPr/>
          <a:lstStyle/>
          <a:p>
            <a:pPr>
              <a:defRPr/>
            </a:pPr>
            <a:fld id="{7486D9C8-0CDB-4BF0-99FF-D7490CE4EFA3}" type="slidenum">
              <a:rPr lang="en-US" smtClean="0"/>
              <a:pPr>
                <a:defRPr/>
              </a:pPr>
              <a:t>24</a:t>
            </a:fld>
            <a:endParaRPr lang="en-US"/>
          </a:p>
        </p:txBody>
      </p:sp>
    </p:spTree>
    <p:extLst>
      <p:ext uri="{BB962C8B-B14F-4D97-AF65-F5344CB8AC3E}">
        <p14:creationId xmlns:p14="http://schemas.microsoft.com/office/powerpoint/2010/main" val="13034417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1+#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54809"/>
                                        </p:tgtEl>
                                        <p:attrNameLst>
                                          <p:attrName>style.visibility</p:attrName>
                                        </p:attrNameLst>
                                      </p:cBhvr>
                                      <p:to>
                                        <p:strVal val="visible"/>
                                      </p:to>
                                    </p:set>
                                    <p:anim calcmode="lin" valueType="num">
                                      <p:cBhvr additive="base">
                                        <p:cTn id="11" dur="1000" fill="hold"/>
                                        <p:tgtEl>
                                          <p:spTgt spid="154809"/>
                                        </p:tgtEl>
                                        <p:attrNameLst>
                                          <p:attrName>ppt_x</p:attrName>
                                        </p:attrNameLst>
                                      </p:cBhvr>
                                      <p:tavLst>
                                        <p:tav tm="0">
                                          <p:val>
                                            <p:strVal val="1+#ppt_w/2"/>
                                          </p:val>
                                        </p:tav>
                                        <p:tav tm="100000">
                                          <p:val>
                                            <p:strVal val="#ppt_x"/>
                                          </p:val>
                                        </p:tav>
                                      </p:tavLst>
                                    </p:anim>
                                    <p:anim calcmode="lin" valueType="num">
                                      <p:cBhvr additive="base">
                                        <p:cTn id="12" dur="1000" fill="hold"/>
                                        <p:tgtEl>
                                          <p:spTgt spid="154809"/>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1+#ppt_w/2"/>
                                          </p:val>
                                        </p:tav>
                                        <p:tav tm="100000">
                                          <p:val>
                                            <p:strVal val="#ppt_x"/>
                                          </p:val>
                                        </p:tav>
                                      </p:tavLst>
                                    </p:anim>
                                    <p:anim calcmode="lin" valueType="num">
                                      <p:cBhvr additive="base">
                                        <p:cTn id="18" dur="1000" fill="hold"/>
                                        <p:tgtEl>
                                          <p:spTgt spid="7"/>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54627">
                                            <p:txEl>
                                              <p:pRg st="0" end="0"/>
                                            </p:txEl>
                                          </p:spTgt>
                                        </p:tgtEl>
                                        <p:attrNameLst>
                                          <p:attrName>style.visibility</p:attrName>
                                        </p:attrNameLst>
                                      </p:cBhvr>
                                      <p:to>
                                        <p:strVal val="visible"/>
                                      </p:to>
                                    </p:set>
                                    <p:anim calcmode="lin" valueType="num">
                                      <p:cBhvr additive="base">
                                        <p:cTn id="21" dur="1000" fill="hold"/>
                                        <p:tgtEl>
                                          <p:spTgt spid="154627">
                                            <p:txEl>
                                              <p:pRg st="0" end="0"/>
                                            </p:txEl>
                                          </p:spTgt>
                                        </p:tgtEl>
                                        <p:attrNameLst>
                                          <p:attrName>ppt_x</p:attrName>
                                        </p:attrNameLst>
                                      </p:cBhvr>
                                      <p:tavLst>
                                        <p:tav tm="0">
                                          <p:val>
                                            <p:strVal val="0-#ppt_w/2"/>
                                          </p:val>
                                        </p:tav>
                                        <p:tav tm="100000">
                                          <p:val>
                                            <p:strVal val="#ppt_x"/>
                                          </p:val>
                                        </p:tav>
                                      </p:tavLst>
                                    </p:anim>
                                    <p:anim calcmode="lin" valueType="num">
                                      <p:cBhvr additive="base">
                                        <p:cTn id="22" dur="1000" fill="hold"/>
                                        <p:tgtEl>
                                          <p:spTgt spid="154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000" fill="hold"/>
                                        <p:tgtEl>
                                          <p:spTgt spid="6"/>
                                        </p:tgtEl>
                                        <p:attrNameLst>
                                          <p:attrName>ppt_x</p:attrName>
                                        </p:attrNameLst>
                                      </p:cBhvr>
                                      <p:tavLst>
                                        <p:tav tm="0">
                                          <p:val>
                                            <p:strVal val="0-#ppt_w/2"/>
                                          </p:val>
                                        </p:tav>
                                        <p:tav tm="100000">
                                          <p:val>
                                            <p:strVal val="#ppt_x"/>
                                          </p:val>
                                        </p:tav>
                                      </p:tavLst>
                                    </p:anim>
                                    <p:anim calcmode="lin" valueType="num">
                                      <p:cBhvr additive="base">
                                        <p:cTn id="28" dur="1000" fill="hold"/>
                                        <p:tgtEl>
                                          <p:spTgt spid="6"/>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54807"/>
                                        </p:tgtEl>
                                        <p:attrNameLst>
                                          <p:attrName>style.visibility</p:attrName>
                                        </p:attrNameLst>
                                      </p:cBhvr>
                                      <p:to>
                                        <p:strVal val="visible"/>
                                      </p:to>
                                    </p:set>
                                    <p:anim calcmode="lin" valueType="num">
                                      <p:cBhvr additive="base">
                                        <p:cTn id="31" dur="1000" fill="hold"/>
                                        <p:tgtEl>
                                          <p:spTgt spid="154807"/>
                                        </p:tgtEl>
                                        <p:attrNameLst>
                                          <p:attrName>ppt_x</p:attrName>
                                        </p:attrNameLst>
                                      </p:cBhvr>
                                      <p:tavLst>
                                        <p:tav tm="0">
                                          <p:val>
                                            <p:strVal val="1+#ppt_w/2"/>
                                          </p:val>
                                        </p:tav>
                                        <p:tav tm="100000">
                                          <p:val>
                                            <p:strVal val="#ppt_x"/>
                                          </p:val>
                                        </p:tav>
                                      </p:tavLst>
                                    </p:anim>
                                    <p:anim calcmode="lin" valueType="num">
                                      <p:cBhvr additive="base">
                                        <p:cTn id="32" dur="1000" fill="hold"/>
                                        <p:tgtEl>
                                          <p:spTgt spid="154807"/>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480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48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p:bldP spid="154805" grpId="0"/>
      <p:bldP spid="154807" grpId="0"/>
      <p:bldP spid="154808" grpId="0"/>
      <p:bldP spid="15480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00200" y="2877879"/>
            <a:ext cx="5105400" cy="769441"/>
          </a:xfrm>
          <a:prstGeom prst="rect">
            <a:avLst/>
          </a:prstGeom>
          <a:noFill/>
        </p:spPr>
        <p:txBody>
          <a:bodyPr wrap="square" rtlCol="0">
            <a:spAutoFit/>
          </a:bodyPr>
          <a:lstStyle/>
          <a:p>
            <a:r>
              <a:rPr lang="de-DE" sz="4400" dirty="0" smtClean="0">
                <a:latin typeface="+mn-lt"/>
              </a:rPr>
              <a:t>Nominal Model</a:t>
            </a:r>
            <a:endParaRPr lang="en-US" sz="4400" dirty="0">
              <a:latin typeface="+mn-lt"/>
            </a:endParaRPr>
          </a:p>
        </p:txBody>
      </p:sp>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25</a:t>
            </a:fld>
            <a:endParaRPr lang="en-US"/>
          </a:p>
        </p:txBody>
      </p:sp>
    </p:spTree>
    <p:extLst>
      <p:ext uri="{BB962C8B-B14F-4D97-AF65-F5344CB8AC3E}">
        <p14:creationId xmlns:p14="http://schemas.microsoft.com/office/powerpoint/2010/main" val="35220929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28"/>
          <p:cNvGrpSpPr>
            <a:grpSpLocks/>
          </p:cNvGrpSpPr>
          <p:nvPr/>
        </p:nvGrpSpPr>
        <p:grpSpPr bwMode="auto">
          <a:xfrm>
            <a:off x="146051" y="1447800"/>
            <a:ext cx="3359150" cy="2819399"/>
            <a:chOff x="252" y="912"/>
            <a:chExt cx="2116" cy="1776"/>
          </a:xfrm>
        </p:grpSpPr>
        <p:grpSp>
          <p:nvGrpSpPr>
            <p:cNvPr id="5" name="Group 4"/>
            <p:cNvGrpSpPr>
              <a:grpSpLocks/>
            </p:cNvGrpSpPr>
            <p:nvPr/>
          </p:nvGrpSpPr>
          <p:grpSpPr bwMode="auto">
            <a:xfrm>
              <a:off x="432" y="1152"/>
              <a:ext cx="1005" cy="1536"/>
              <a:chOff x="175" y="1282"/>
              <a:chExt cx="1005" cy="1536"/>
            </a:xfrm>
          </p:grpSpPr>
          <p:sp>
            <p:nvSpPr>
              <p:cNvPr id="173061" name="Rectangle 5"/>
              <p:cNvSpPr>
                <a:spLocks noChangeArrowheads="1"/>
              </p:cNvSpPr>
              <p:nvPr/>
            </p:nvSpPr>
            <p:spPr bwMode="auto">
              <a:xfrm>
                <a:off x="548" y="1296"/>
                <a:ext cx="343" cy="11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062" name="Rectangle 6"/>
              <p:cNvSpPr>
                <a:spLocks noChangeArrowheads="1"/>
              </p:cNvSpPr>
              <p:nvPr/>
            </p:nvSpPr>
            <p:spPr bwMode="auto">
              <a:xfrm>
                <a:off x="548" y="1282"/>
                <a:ext cx="630" cy="1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063" name="Line 7"/>
              <p:cNvSpPr>
                <a:spLocks noChangeShapeType="1"/>
              </p:cNvSpPr>
              <p:nvPr/>
            </p:nvSpPr>
            <p:spPr bwMode="auto">
              <a:xfrm>
                <a:off x="396" y="1449"/>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064" name="Freeform 8"/>
              <p:cNvSpPr>
                <a:spLocks/>
              </p:cNvSpPr>
              <p:nvPr/>
            </p:nvSpPr>
            <p:spPr bwMode="auto">
              <a:xfrm>
                <a:off x="513" y="143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065" name="Line 9"/>
              <p:cNvSpPr>
                <a:spLocks noChangeShapeType="1"/>
              </p:cNvSpPr>
              <p:nvPr/>
            </p:nvSpPr>
            <p:spPr bwMode="auto">
              <a:xfrm>
                <a:off x="396" y="1644"/>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066" name="Freeform 10"/>
              <p:cNvSpPr>
                <a:spLocks/>
              </p:cNvSpPr>
              <p:nvPr/>
            </p:nvSpPr>
            <p:spPr bwMode="auto">
              <a:xfrm>
                <a:off x="513" y="1632"/>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067" name="Rectangle 11"/>
              <p:cNvSpPr>
                <a:spLocks noChangeArrowheads="1"/>
              </p:cNvSpPr>
              <p:nvPr/>
            </p:nvSpPr>
            <p:spPr bwMode="auto">
              <a:xfrm>
                <a:off x="257" y="1365"/>
                <a:ext cx="2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A</a:t>
                </a:r>
                <a:endParaRPr lang="en-US" altLang="en-US" dirty="0"/>
              </a:p>
            </p:txBody>
          </p:sp>
          <p:sp>
            <p:nvSpPr>
              <p:cNvPr id="173068" name="Rectangle 12"/>
              <p:cNvSpPr>
                <a:spLocks noChangeArrowheads="1"/>
              </p:cNvSpPr>
              <p:nvPr/>
            </p:nvSpPr>
            <p:spPr bwMode="auto">
              <a:xfrm>
                <a:off x="291" y="1560"/>
                <a:ext cx="22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1</a:t>
                </a:r>
                <a:endParaRPr lang="en-US" altLang="en-US" dirty="0"/>
              </a:p>
            </p:txBody>
          </p:sp>
          <p:sp>
            <p:nvSpPr>
              <p:cNvPr id="173069" name="Rectangle 13"/>
              <p:cNvSpPr>
                <a:spLocks noChangeArrowheads="1"/>
              </p:cNvSpPr>
              <p:nvPr/>
            </p:nvSpPr>
            <p:spPr bwMode="auto">
              <a:xfrm>
                <a:off x="175" y="1876"/>
                <a:ext cx="33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Feed back </a:t>
                </a:r>
                <a:endParaRPr lang="en-US" altLang="en-US" dirty="0"/>
              </a:p>
            </p:txBody>
          </p:sp>
          <p:sp>
            <p:nvSpPr>
              <p:cNvPr id="173070" name="Rectangle 14"/>
              <p:cNvSpPr>
                <a:spLocks noChangeArrowheads="1"/>
              </p:cNvSpPr>
              <p:nvPr/>
            </p:nvSpPr>
            <p:spPr bwMode="auto">
              <a:xfrm>
                <a:off x="312" y="1770"/>
                <a:ext cx="1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a:t>
                </a:r>
                <a:endParaRPr lang="en-US" altLang="en-US" dirty="0"/>
              </a:p>
            </p:txBody>
          </p:sp>
          <p:sp>
            <p:nvSpPr>
              <p:cNvPr id="173071" name="Rectangle 15"/>
              <p:cNvSpPr>
                <a:spLocks noChangeArrowheads="1"/>
              </p:cNvSpPr>
              <p:nvPr/>
            </p:nvSpPr>
            <p:spPr bwMode="auto">
              <a:xfrm>
                <a:off x="706" y="1913"/>
                <a:ext cx="326"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072" name="Rectangle 16"/>
              <p:cNvSpPr>
                <a:spLocks noChangeArrowheads="1"/>
              </p:cNvSpPr>
              <p:nvPr/>
            </p:nvSpPr>
            <p:spPr bwMode="auto">
              <a:xfrm>
                <a:off x="642" y="2460"/>
                <a:ext cx="44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Fault Tolerant </a:t>
                </a:r>
                <a:endParaRPr lang="en-US" altLang="en-US" dirty="0"/>
              </a:p>
            </p:txBody>
          </p:sp>
          <p:sp>
            <p:nvSpPr>
              <p:cNvPr id="173073" name="Rectangle 17"/>
              <p:cNvSpPr>
                <a:spLocks noChangeArrowheads="1"/>
              </p:cNvSpPr>
              <p:nvPr/>
            </p:nvSpPr>
            <p:spPr bwMode="auto">
              <a:xfrm>
                <a:off x="657" y="2628"/>
                <a:ext cx="38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Control Unit </a:t>
                </a:r>
                <a:endParaRPr lang="en-US" altLang="en-US" dirty="0"/>
              </a:p>
            </p:txBody>
          </p:sp>
          <p:sp>
            <p:nvSpPr>
              <p:cNvPr id="173074" name="Rectangle 18"/>
              <p:cNvSpPr>
                <a:spLocks noChangeArrowheads="1"/>
              </p:cNvSpPr>
              <p:nvPr/>
            </p:nvSpPr>
            <p:spPr bwMode="auto">
              <a:xfrm>
                <a:off x="729" y="2741"/>
                <a:ext cx="25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BSCU )</a:t>
                </a:r>
                <a:endParaRPr lang="en-US" altLang="en-US" dirty="0"/>
              </a:p>
            </p:txBody>
          </p:sp>
          <p:sp>
            <p:nvSpPr>
              <p:cNvPr id="173075" name="Rectangle 19"/>
              <p:cNvSpPr>
                <a:spLocks noChangeArrowheads="1"/>
              </p:cNvSpPr>
              <p:nvPr/>
            </p:nvSpPr>
            <p:spPr bwMode="auto">
              <a:xfrm>
                <a:off x="625" y="2542"/>
                <a:ext cx="504"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System </a:t>
                </a:r>
                <a:endParaRPr lang="en-US" altLang="en-US" dirty="0"/>
              </a:p>
            </p:txBody>
          </p:sp>
          <p:sp>
            <p:nvSpPr>
              <p:cNvPr id="173076" name="Rectangle 20"/>
              <p:cNvSpPr>
                <a:spLocks noChangeArrowheads="1"/>
              </p:cNvSpPr>
              <p:nvPr/>
            </p:nvSpPr>
            <p:spPr bwMode="auto">
              <a:xfrm>
                <a:off x="709" y="1365"/>
                <a:ext cx="327"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077" name="Rectangle 21"/>
              <p:cNvSpPr>
                <a:spLocks noChangeArrowheads="1"/>
              </p:cNvSpPr>
              <p:nvPr/>
            </p:nvSpPr>
            <p:spPr bwMode="auto">
              <a:xfrm>
                <a:off x="741" y="1492"/>
                <a:ext cx="256"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A</a:t>
                </a:r>
                <a:endParaRPr lang="en-US" altLang="en-US" sz="900" dirty="0"/>
              </a:p>
            </p:txBody>
          </p:sp>
          <p:sp>
            <p:nvSpPr>
              <p:cNvPr id="173078" name="Line 22"/>
              <p:cNvSpPr>
                <a:spLocks noChangeShapeType="1"/>
              </p:cNvSpPr>
              <p:nvPr/>
            </p:nvSpPr>
            <p:spPr bwMode="auto">
              <a:xfrm>
                <a:off x="391" y="2258"/>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079" name="Freeform 23"/>
              <p:cNvSpPr>
                <a:spLocks/>
              </p:cNvSpPr>
              <p:nvPr/>
            </p:nvSpPr>
            <p:spPr bwMode="auto">
              <a:xfrm>
                <a:off x="508" y="224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080" name="Rectangle 24"/>
              <p:cNvSpPr>
                <a:spLocks noChangeArrowheads="1"/>
              </p:cNvSpPr>
              <p:nvPr/>
            </p:nvSpPr>
            <p:spPr bwMode="auto">
              <a:xfrm>
                <a:off x="252" y="2174"/>
                <a:ext cx="2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B</a:t>
                </a:r>
                <a:endParaRPr lang="en-US" altLang="en-US" dirty="0"/>
              </a:p>
            </p:txBody>
          </p:sp>
          <p:sp>
            <p:nvSpPr>
              <p:cNvPr id="173081" name="Line 25"/>
              <p:cNvSpPr>
                <a:spLocks noChangeShapeType="1"/>
              </p:cNvSpPr>
              <p:nvPr/>
            </p:nvSpPr>
            <p:spPr bwMode="auto">
              <a:xfrm>
                <a:off x="556" y="144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82" name="Freeform 26"/>
              <p:cNvSpPr>
                <a:spLocks/>
              </p:cNvSpPr>
              <p:nvPr/>
            </p:nvSpPr>
            <p:spPr bwMode="auto">
              <a:xfrm>
                <a:off x="377" y="1816"/>
                <a:ext cx="171" cy="84"/>
              </a:xfrm>
              <a:custGeom>
                <a:avLst/>
                <a:gdLst>
                  <a:gd name="T0" fmla="*/ 171 w 171"/>
                  <a:gd name="T1" fmla="*/ 42 h 84"/>
                  <a:gd name="T2" fmla="*/ 133 w 171"/>
                  <a:gd name="T3" fmla="*/ 84 h 84"/>
                  <a:gd name="T4" fmla="*/ 133 w 171"/>
                  <a:gd name="T5" fmla="*/ 57 h 84"/>
                  <a:gd name="T6" fmla="*/ 0 w 171"/>
                  <a:gd name="T7" fmla="*/ 57 h 84"/>
                  <a:gd name="T8" fmla="*/ 0 w 171"/>
                  <a:gd name="T9" fmla="*/ 28 h 84"/>
                  <a:gd name="T10" fmla="*/ 133 w 171"/>
                  <a:gd name="T11" fmla="*/ 28 h 84"/>
                  <a:gd name="T12" fmla="*/ 133 w 171"/>
                  <a:gd name="T13" fmla="*/ 0 h 84"/>
                  <a:gd name="T14" fmla="*/ 171 w 171"/>
                  <a:gd name="T15" fmla="*/ 42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1" h="84">
                    <a:moveTo>
                      <a:pt x="171" y="42"/>
                    </a:moveTo>
                    <a:lnTo>
                      <a:pt x="133" y="84"/>
                    </a:lnTo>
                    <a:lnTo>
                      <a:pt x="133" y="57"/>
                    </a:lnTo>
                    <a:lnTo>
                      <a:pt x="0" y="57"/>
                    </a:lnTo>
                    <a:lnTo>
                      <a:pt x="0" y="28"/>
                    </a:lnTo>
                    <a:lnTo>
                      <a:pt x="133" y="28"/>
                    </a:lnTo>
                    <a:lnTo>
                      <a:pt x="133" y="0"/>
                    </a:lnTo>
                    <a:lnTo>
                      <a:pt x="171" y="42"/>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083" name="Line 27"/>
              <p:cNvSpPr>
                <a:spLocks noChangeShapeType="1"/>
              </p:cNvSpPr>
              <p:nvPr/>
            </p:nvSpPr>
            <p:spPr bwMode="auto">
              <a:xfrm>
                <a:off x="399" y="2121"/>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084" name="Freeform 28"/>
              <p:cNvSpPr>
                <a:spLocks/>
              </p:cNvSpPr>
              <p:nvPr/>
            </p:nvSpPr>
            <p:spPr bwMode="auto">
              <a:xfrm>
                <a:off x="516" y="2109"/>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085" name="Rectangle 29"/>
              <p:cNvSpPr>
                <a:spLocks noChangeArrowheads="1"/>
              </p:cNvSpPr>
              <p:nvPr/>
            </p:nvSpPr>
            <p:spPr bwMode="auto">
              <a:xfrm>
                <a:off x="294" y="2037"/>
                <a:ext cx="22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2</a:t>
                </a:r>
                <a:endParaRPr lang="en-US" altLang="en-US" dirty="0"/>
              </a:p>
            </p:txBody>
          </p:sp>
          <p:sp>
            <p:nvSpPr>
              <p:cNvPr id="173086" name="Line 30"/>
              <p:cNvSpPr>
                <a:spLocks noChangeShapeType="1"/>
              </p:cNvSpPr>
              <p:nvPr/>
            </p:nvSpPr>
            <p:spPr bwMode="auto">
              <a:xfrm>
                <a:off x="550" y="225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87" name="Line 31"/>
              <p:cNvSpPr>
                <a:spLocks noChangeShapeType="1"/>
              </p:cNvSpPr>
              <p:nvPr/>
            </p:nvSpPr>
            <p:spPr bwMode="auto">
              <a:xfrm>
                <a:off x="550" y="1643"/>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88" name="Line 32"/>
              <p:cNvSpPr>
                <a:spLocks noChangeShapeType="1"/>
              </p:cNvSpPr>
              <p:nvPr/>
            </p:nvSpPr>
            <p:spPr bwMode="auto">
              <a:xfrm>
                <a:off x="550" y="2120"/>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89" name="Line 33"/>
              <p:cNvSpPr>
                <a:spLocks noChangeShapeType="1"/>
              </p:cNvSpPr>
              <p:nvPr/>
            </p:nvSpPr>
            <p:spPr bwMode="auto">
              <a:xfrm>
                <a:off x="649" y="2069"/>
                <a:ext cx="57"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0" name="Line 34"/>
              <p:cNvSpPr>
                <a:spLocks noChangeShapeType="1"/>
              </p:cNvSpPr>
              <p:nvPr/>
            </p:nvSpPr>
            <p:spPr bwMode="auto">
              <a:xfrm>
                <a:off x="1057" y="1682"/>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1" name="Line 35"/>
              <p:cNvSpPr>
                <a:spLocks noChangeShapeType="1"/>
              </p:cNvSpPr>
              <p:nvPr/>
            </p:nvSpPr>
            <p:spPr bwMode="auto">
              <a:xfrm>
                <a:off x="610" y="1594"/>
                <a:ext cx="9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2" name="Line 36"/>
              <p:cNvSpPr>
                <a:spLocks noChangeShapeType="1"/>
              </p:cNvSpPr>
              <p:nvPr/>
            </p:nvSpPr>
            <p:spPr bwMode="auto">
              <a:xfrm flipH="1">
                <a:off x="610" y="1608"/>
                <a:ext cx="0" cy="513"/>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3" name="Line 37"/>
              <p:cNvSpPr>
                <a:spLocks noChangeShapeType="1"/>
              </p:cNvSpPr>
              <p:nvPr/>
            </p:nvSpPr>
            <p:spPr bwMode="auto">
              <a:xfrm>
                <a:off x="549" y="1859"/>
                <a:ext cx="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4" name="Line 38"/>
              <p:cNvSpPr>
                <a:spLocks noChangeShapeType="1"/>
              </p:cNvSpPr>
              <p:nvPr/>
            </p:nvSpPr>
            <p:spPr bwMode="auto">
              <a:xfrm flipH="1">
                <a:off x="579" y="1525"/>
                <a:ext cx="0" cy="666"/>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5" name="Line 39"/>
              <p:cNvSpPr>
                <a:spLocks noChangeShapeType="1"/>
              </p:cNvSpPr>
              <p:nvPr/>
            </p:nvSpPr>
            <p:spPr bwMode="auto">
              <a:xfrm>
                <a:off x="579" y="1524"/>
                <a:ext cx="1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6" name="Line 40"/>
              <p:cNvSpPr>
                <a:spLocks noChangeShapeType="1"/>
              </p:cNvSpPr>
              <p:nvPr/>
            </p:nvSpPr>
            <p:spPr bwMode="auto">
              <a:xfrm flipV="1">
                <a:off x="579" y="2189"/>
                <a:ext cx="12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7" name="Rectangle 41"/>
              <p:cNvSpPr>
                <a:spLocks noChangeArrowheads="1"/>
              </p:cNvSpPr>
              <p:nvPr/>
            </p:nvSpPr>
            <p:spPr bwMode="auto">
              <a:xfrm>
                <a:off x="729" y="2032"/>
                <a:ext cx="256"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B</a:t>
                </a:r>
                <a:endParaRPr lang="en-US" altLang="en-US" sz="900" dirty="0"/>
              </a:p>
            </p:txBody>
          </p:sp>
          <p:sp>
            <p:nvSpPr>
              <p:cNvPr id="173098" name="Line 42"/>
              <p:cNvSpPr>
                <a:spLocks noChangeShapeType="1"/>
              </p:cNvSpPr>
              <p:nvPr/>
            </p:nvSpPr>
            <p:spPr bwMode="auto">
              <a:xfrm flipV="1">
                <a:off x="1038" y="1445"/>
                <a:ext cx="100"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9" name="Line 43"/>
              <p:cNvSpPr>
                <a:spLocks noChangeShapeType="1"/>
              </p:cNvSpPr>
              <p:nvPr/>
            </p:nvSpPr>
            <p:spPr bwMode="auto">
              <a:xfrm flipV="1">
                <a:off x="1038" y="1555"/>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0" name="Line 44"/>
              <p:cNvSpPr>
                <a:spLocks noChangeShapeType="1"/>
              </p:cNvSpPr>
              <p:nvPr/>
            </p:nvSpPr>
            <p:spPr bwMode="auto">
              <a:xfrm>
                <a:off x="1036" y="1682"/>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1" name="Line 45"/>
              <p:cNvSpPr>
                <a:spLocks noChangeShapeType="1"/>
              </p:cNvSpPr>
              <p:nvPr/>
            </p:nvSpPr>
            <p:spPr bwMode="auto">
              <a:xfrm>
                <a:off x="1037" y="2001"/>
                <a:ext cx="90"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2" name="Line 46"/>
              <p:cNvSpPr>
                <a:spLocks noChangeShapeType="1"/>
              </p:cNvSpPr>
              <p:nvPr/>
            </p:nvSpPr>
            <p:spPr bwMode="auto">
              <a:xfrm flipV="1">
                <a:off x="1037" y="2111"/>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3" name="Line 47"/>
              <p:cNvSpPr>
                <a:spLocks noChangeShapeType="1"/>
              </p:cNvSpPr>
              <p:nvPr/>
            </p:nvSpPr>
            <p:spPr bwMode="auto">
              <a:xfrm flipV="1">
                <a:off x="1035" y="2237"/>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4" name="Line 48"/>
              <p:cNvSpPr>
                <a:spLocks noChangeShapeType="1"/>
              </p:cNvSpPr>
              <p:nvPr/>
            </p:nvSpPr>
            <p:spPr bwMode="auto">
              <a:xfrm>
                <a:off x="1089" y="1841"/>
                <a:ext cx="91"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5" name="Line 49"/>
              <p:cNvSpPr>
                <a:spLocks noChangeShapeType="1"/>
              </p:cNvSpPr>
              <p:nvPr/>
            </p:nvSpPr>
            <p:spPr bwMode="auto">
              <a:xfrm>
                <a:off x="646" y="1650"/>
                <a:ext cx="6" cy="41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6" name="Line 50"/>
              <p:cNvSpPr>
                <a:spLocks noChangeShapeType="1"/>
              </p:cNvSpPr>
              <p:nvPr/>
            </p:nvSpPr>
            <p:spPr bwMode="auto">
              <a:xfrm>
                <a:off x="1127" y="1444"/>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7" name="Line 51"/>
              <p:cNvSpPr>
                <a:spLocks noChangeShapeType="1"/>
              </p:cNvSpPr>
              <p:nvPr/>
            </p:nvSpPr>
            <p:spPr bwMode="auto">
              <a:xfrm flipV="1">
                <a:off x="1127" y="1515"/>
                <a:ext cx="5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8" name="Line 52"/>
              <p:cNvSpPr>
                <a:spLocks noChangeShapeType="1"/>
              </p:cNvSpPr>
              <p:nvPr/>
            </p:nvSpPr>
            <p:spPr bwMode="auto">
              <a:xfrm>
                <a:off x="1089" y="1554"/>
                <a:ext cx="3" cy="555"/>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9" name="Line 53"/>
              <p:cNvSpPr>
                <a:spLocks noChangeShapeType="1"/>
              </p:cNvSpPr>
              <p:nvPr/>
            </p:nvSpPr>
            <p:spPr bwMode="auto">
              <a:xfrm>
                <a:off x="1057" y="2177"/>
                <a:ext cx="12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sp>
          <p:nvSpPr>
            <p:cNvPr id="173110" name="Rectangle 54"/>
            <p:cNvSpPr>
              <a:spLocks noChangeArrowheads="1"/>
            </p:cNvSpPr>
            <p:nvPr/>
          </p:nvSpPr>
          <p:spPr bwMode="auto">
            <a:xfrm>
              <a:off x="252" y="912"/>
              <a:ext cx="2116"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1600" b="1" dirty="0">
                  <a:solidFill>
                    <a:schemeClr val="tx2"/>
                  </a:solidFill>
                  <a:latin typeface="+mn-lt"/>
                </a:rPr>
                <a:t>Model of the Digital System</a:t>
              </a:r>
            </a:p>
          </p:txBody>
        </p:sp>
      </p:grpSp>
      <p:grpSp>
        <p:nvGrpSpPr>
          <p:cNvPr id="7" name="Group 232"/>
          <p:cNvGrpSpPr>
            <a:grpSpLocks/>
          </p:cNvGrpSpPr>
          <p:nvPr/>
        </p:nvGrpSpPr>
        <p:grpSpPr bwMode="auto">
          <a:xfrm>
            <a:off x="2491961" y="2817782"/>
            <a:ext cx="4267200" cy="3732213"/>
            <a:chOff x="1488" y="1728"/>
            <a:chExt cx="2688" cy="2351"/>
          </a:xfrm>
        </p:grpSpPr>
        <p:sp>
          <p:nvSpPr>
            <p:cNvPr id="173114" name="AutoShape 58"/>
            <p:cNvSpPr>
              <a:spLocks noChangeArrowheads="1"/>
            </p:cNvSpPr>
            <p:nvPr/>
          </p:nvSpPr>
          <p:spPr bwMode="auto">
            <a:xfrm rot="2700000">
              <a:off x="1584" y="1872"/>
              <a:ext cx="480" cy="192"/>
            </a:xfrm>
            <a:prstGeom prst="rightArrow">
              <a:avLst>
                <a:gd name="adj1" fmla="val 50000"/>
                <a:gd name="adj2" fmla="val 62500"/>
              </a:avLst>
            </a:prstGeom>
            <a:solidFill>
              <a:srgbClr val="00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173118" name="AutoShape 62"/>
            <p:cNvSpPr>
              <a:spLocks noChangeArrowheads="1"/>
            </p:cNvSpPr>
            <p:nvPr/>
          </p:nvSpPr>
          <p:spPr bwMode="auto">
            <a:xfrm rot="8100000">
              <a:off x="3696" y="1920"/>
              <a:ext cx="480" cy="192"/>
            </a:xfrm>
            <a:prstGeom prst="rightArrow">
              <a:avLst>
                <a:gd name="adj1" fmla="val 50000"/>
                <a:gd name="adj2" fmla="val 62500"/>
              </a:avLst>
            </a:prstGeom>
            <a:solidFill>
              <a:srgbClr val="00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grpSp>
          <p:nvGrpSpPr>
            <p:cNvPr id="8" name="Group 68"/>
            <p:cNvGrpSpPr>
              <a:grpSpLocks/>
            </p:cNvGrpSpPr>
            <p:nvPr/>
          </p:nvGrpSpPr>
          <p:grpSpPr bwMode="auto">
            <a:xfrm>
              <a:off x="1488" y="1920"/>
              <a:ext cx="2484" cy="1779"/>
              <a:chOff x="519" y="1197"/>
              <a:chExt cx="2926" cy="2019"/>
            </a:xfrm>
          </p:grpSpPr>
          <p:grpSp>
            <p:nvGrpSpPr>
              <p:cNvPr id="9" name="Group 69"/>
              <p:cNvGrpSpPr>
                <a:grpSpLocks/>
              </p:cNvGrpSpPr>
              <p:nvPr/>
            </p:nvGrpSpPr>
            <p:grpSpPr bwMode="auto">
              <a:xfrm>
                <a:off x="1555" y="1197"/>
                <a:ext cx="1890" cy="2019"/>
                <a:chOff x="1176" y="890"/>
                <a:chExt cx="1890" cy="2019"/>
              </a:xfrm>
            </p:grpSpPr>
            <p:sp>
              <p:nvSpPr>
                <p:cNvPr id="173126" name="Rectangle 70"/>
                <p:cNvSpPr>
                  <a:spLocks noChangeArrowheads="1"/>
                </p:cNvSpPr>
                <p:nvPr/>
              </p:nvSpPr>
              <p:spPr bwMode="auto">
                <a:xfrm>
                  <a:off x="1780" y="1605"/>
                  <a:ext cx="748" cy="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27" name="Rectangle 71"/>
                <p:cNvSpPr>
                  <a:spLocks noChangeArrowheads="1"/>
                </p:cNvSpPr>
                <p:nvPr/>
              </p:nvSpPr>
              <p:spPr bwMode="auto">
                <a:xfrm>
                  <a:off x="1780" y="1605"/>
                  <a:ext cx="748" cy="84"/>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28" name="Line 72"/>
                <p:cNvSpPr>
                  <a:spLocks noChangeShapeType="1"/>
                </p:cNvSpPr>
                <p:nvPr/>
              </p:nvSpPr>
              <p:spPr bwMode="auto">
                <a:xfrm>
                  <a:off x="1889" y="1647"/>
                  <a:ext cx="549"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29" name="Freeform 73"/>
                <p:cNvSpPr>
                  <a:spLocks/>
                </p:cNvSpPr>
                <p:nvPr/>
              </p:nvSpPr>
              <p:spPr bwMode="auto">
                <a:xfrm>
                  <a:off x="1856" y="1634"/>
                  <a:ext cx="35" cy="26"/>
                </a:xfrm>
                <a:custGeom>
                  <a:avLst/>
                  <a:gdLst>
                    <a:gd name="T0" fmla="*/ 35 w 35"/>
                    <a:gd name="T1" fmla="*/ 26 h 26"/>
                    <a:gd name="T2" fmla="*/ 0 w 35"/>
                    <a:gd name="T3" fmla="*/ 13 h 26"/>
                    <a:gd name="T4" fmla="*/ 35 w 35"/>
                    <a:gd name="T5" fmla="*/ 0 h 26"/>
                    <a:gd name="T6" fmla="*/ 35 w 35"/>
                    <a:gd name="T7" fmla="*/ 26 h 26"/>
                  </a:gdLst>
                  <a:ahLst/>
                  <a:cxnLst>
                    <a:cxn ang="0">
                      <a:pos x="T0" y="T1"/>
                    </a:cxn>
                    <a:cxn ang="0">
                      <a:pos x="T2" y="T3"/>
                    </a:cxn>
                    <a:cxn ang="0">
                      <a:pos x="T4" y="T5"/>
                    </a:cxn>
                    <a:cxn ang="0">
                      <a:pos x="T6" y="T7"/>
                    </a:cxn>
                  </a:cxnLst>
                  <a:rect l="0" t="0" r="r" b="b"/>
                  <a:pathLst>
                    <a:path w="35" h="26">
                      <a:moveTo>
                        <a:pt x="35" y="26"/>
                      </a:moveTo>
                      <a:lnTo>
                        <a:pt x="0" y="13"/>
                      </a:lnTo>
                      <a:lnTo>
                        <a:pt x="35" y="0"/>
                      </a:lnTo>
                      <a:lnTo>
                        <a:pt x="35"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30" name="Freeform 74"/>
                <p:cNvSpPr>
                  <a:spLocks/>
                </p:cNvSpPr>
                <p:nvPr/>
              </p:nvSpPr>
              <p:spPr bwMode="auto">
                <a:xfrm>
                  <a:off x="2435" y="1634"/>
                  <a:ext cx="36" cy="26"/>
                </a:xfrm>
                <a:custGeom>
                  <a:avLst/>
                  <a:gdLst>
                    <a:gd name="T0" fmla="*/ 0 w 36"/>
                    <a:gd name="T1" fmla="*/ 0 h 26"/>
                    <a:gd name="T2" fmla="*/ 36 w 36"/>
                    <a:gd name="T3" fmla="*/ 13 h 26"/>
                    <a:gd name="T4" fmla="*/ 0 w 36"/>
                    <a:gd name="T5" fmla="*/ 26 h 26"/>
                    <a:gd name="T6" fmla="*/ 0 w 36"/>
                    <a:gd name="T7" fmla="*/ 0 h 26"/>
                  </a:gdLst>
                  <a:ahLst/>
                  <a:cxnLst>
                    <a:cxn ang="0">
                      <a:pos x="T0" y="T1"/>
                    </a:cxn>
                    <a:cxn ang="0">
                      <a:pos x="T2" y="T3"/>
                    </a:cxn>
                    <a:cxn ang="0">
                      <a:pos x="T4" y="T5"/>
                    </a:cxn>
                    <a:cxn ang="0">
                      <a:pos x="T6" y="T7"/>
                    </a:cxn>
                  </a:cxnLst>
                  <a:rect l="0" t="0" r="r" b="b"/>
                  <a:pathLst>
                    <a:path w="36" h="26">
                      <a:moveTo>
                        <a:pt x="0" y="0"/>
                      </a:moveTo>
                      <a:lnTo>
                        <a:pt x="36"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31" name="Rectangle 75"/>
                <p:cNvSpPr>
                  <a:spLocks noChangeArrowheads="1"/>
                </p:cNvSpPr>
                <p:nvPr/>
              </p:nvSpPr>
              <p:spPr bwMode="auto">
                <a:xfrm>
                  <a:off x="1742" y="974"/>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32" name="Rectangle 76"/>
                <p:cNvSpPr>
                  <a:spLocks noChangeArrowheads="1"/>
                </p:cNvSpPr>
                <p:nvPr/>
              </p:nvSpPr>
              <p:spPr bwMode="auto">
                <a:xfrm>
                  <a:off x="1742" y="974"/>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33" name="Freeform 77"/>
                <p:cNvSpPr>
                  <a:spLocks/>
                </p:cNvSpPr>
                <p:nvPr/>
              </p:nvSpPr>
              <p:spPr bwMode="auto">
                <a:xfrm>
                  <a:off x="1780" y="974"/>
                  <a:ext cx="153"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FF00"/>
                </a:solidFill>
                <a:ln w="0">
                  <a:solidFill>
                    <a:srgbClr val="000000"/>
                  </a:solidFill>
                  <a:prstDash val="solid"/>
                  <a:round/>
                  <a:headEnd/>
                  <a:tailEnd/>
                </a:ln>
              </p:spPr>
              <p:txBody>
                <a:bodyPr/>
                <a:lstStyle/>
                <a:p>
                  <a:endParaRPr lang="en-US" dirty="0"/>
                </a:p>
              </p:txBody>
            </p:sp>
            <p:sp>
              <p:nvSpPr>
                <p:cNvPr id="173134" name="Freeform 78"/>
                <p:cNvSpPr>
                  <a:spLocks/>
                </p:cNvSpPr>
                <p:nvPr/>
              </p:nvSpPr>
              <p:spPr bwMode="auto">
                <a:xfrm>
                  <a:off x="1780" y="974"/>
                  <a:ext cx="153" cy="169"/>
                </a:xfrm>
                <a:custGeom>
                  <a:avLst/>
                  <a:gdLst>
                    <a:gd name="T0" fmla="*/ 0 w 153"/>
                    <a:gd name="T1" fmla="*/ 84 h 169"/>
                    <a:gd name="T2" fmla="*/ 76 w 153"/>
                    <a:gd name="T3" fmla="*/ 0 h 169"/>
                    <a:gd name="T4" fmla="*/ 153 w 153"/>
                    <a:gd name="T5" fmla="*/ 84 h 169"/>
                    <a:gd name="T6" fmla="*/ 153 w 153"/>
                    <a:gd name="T7" fmla="*/ 84 h 169"/>
                    <a:gd name="T8" fmla="*/ 76 w 153"/>
                    <a:gd name="T9" fmla="*/ 169 h 169"/>
                    <a:gd name="T10" fmla="*/ 0 w 153"/>
                    <a:gd name="T11" fmla="*/ 84 h 169"/>
                  </a:gdLst>
                  <a:ahLst/>
                  <a:cxnLst>
                    <a:cxn ang="0">
                      <a:pos x="T0" y="T1"/>
                    </a:cxn>
                    <a:cxn ang="0">
                      <a:pos x="T2" y="T3"/>
                    </a:cxn>
                    <a:cxn ang="0">
                      <a:pos x="T4" y="T5"/>
                    </a:cxn>
                    <a:cxn ang="0">
                      <a:pos x="T6" y="T7"/>
                    </a:cxn>
                    <a:cxn ang="0">
                      <a:pos x="T8" y="T9"/>
                    </a:cxn>
                    <a:cxn ang="0">
                      <a:pos x="T10" y="T11"/>
                    </a:cxn>
                  </a:cxnLst>
                  <a:rect l="0" t="0" r="r" b="b"/>
                  <a:pathLst>
                    <a:path w="153" h="169">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35" name="Rectangle 79"/>
                <p:cNvSpPr>
                  <a:spLocks noChangeArrowheads="1"/>
                </p:cNvSpPr>
                <p:nvPr/>
              </p:nvSpPr>
              <p:spPr bwMode="auto">
                <a:xfrm>
                  <a:off x="2261" y="974"/>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36" name="Rectangle 80"/>
                <p:cNvSpPr>
                  <a:spLocks noChangeArrowheads="1"/>
                </p:cNvSpPr>
                <p:nvPr/>
              </p:nvSpPr>
              <p:spPr bwMode="auto">
                <a:xfrm>
                  <a:off x="2261" y="974"/>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37" name="Freeform 81"/>
                <p:cNvSpPr>
                  <a:spLocks/>
                </p:cNvSpPr>
                <p:nvPr/>
              </p:nvSpPr>
              <p:spPr bwMode="auto">
                <a:xfrm>
                  <a:off x="2299" y="974"/>
                  <a:ext cx="153"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00FF"/>
                </a:solidFill>
                <a:ln w="0">
                  <a:solidFill>
                    <a:srgbClr val="000000"/>
                  </a:solidFill>
                  <a:prstDash val="solid"/>
                  <a:round/>
                  <a:headEnd/>
                  <a:tailEnd/>
                </a:ln>
              </p:spPr>
              <p:txBody>
                <a:bodyPr/>
                <a:lstStyle/>
                <a:p>
                  <a:endParaRPr lang="en-US" dirty="0"/>
                </a:p>
              </p:txBody>
            </p:sp>
            <p:sp>
              <p:nvSpPr>
                <p:cNvPr id="173138" name="Freeform 82"/>
                <p:cNvSpPr>
                  <a:spLocks/>
                </p:cNvSpPr>
                <p:nvPr/>
              </p:nvSpPr>
              <p:spPr bwMode="auto">
                <a:xfrm>
                  <a:off x="2299" y="974"/>
                  <a:ext cx="153" cy="169"/>
                </a:xfrm>
                <a:custGeom>
                  <a:avLst/>
                  <a:gdLst>
                    <a:gd name="T0" fmla="*/ 0 w 153"/>
                    <a:gd name="T1" fmla="*/ 84 h 169"/>
                    <a:gd name="T2" fmla="*/ 76 w 153"/>
                    <a:gd name="T3" fmla="*/ 0 h 169"/>
                    <a:gd name="T4" fmla="*/ 153 w 153"/>
                    <a:gd name="T5" fmla="*/ 84 h 169"/>
                    <a:gd name="T6" fmla="*/ 153 w 153"/>
                    <a:gd name="T7" fmla="*/ 84 h 169"/>
                    <a:gd name="T8" fmla="*/ 76 w 153"/>
                    <a:gd name="T9" fmla="*/ 169 h 169"/>
                    <a:gd name="T10" fmla="*/ 0 w 153"/>
                    <a:gd name="T11" fmla="*/ 84 h 169"/>
                  </a:gdLst>
                  <a:ahLst/>
                  <a:cxnLst>
                    <a:cxn ang="0">
                      <a:pos x="T0" y="T1"/>
                    </a:cxn>
                    <a:cxn ang="0">
                      <a:pos x="T2" y="T3"/>
                    </a:cxn>
                    <a:cxn ang="0">
                      <a:pos x="T4" y="T5"/>
                    </a:cxn>
                    <a:cxn ang="0">
                      <a:pos x="T6" y="T7"/>
                    </a:cxn>
                    <a:cxn ang="0">
                      <a:pos x="T8" y="T9"/>
                    </a:cxn>
                    <a:cxn ang="0">
                      <a:pos x="T10" y="T11"/>
                    </a:cxn>
                  </a:cxnLst>
                  <a:rect l="0" t="0" r="r" b="b"/>
                  <a:pathLst>
                    <a:path w="153" h="169">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39" name="Rectangle 83"/>
                <p:cNvSpPr>
                  <a:spLocks noChangeArrowheads="1"/>
                </p:cNvSpPr>
                <p:nvPr/>
              </p:nvSpPr>
              <p:spPr bwMode="auto">
                <a:xfrm>
                  <a:off x="2680" y="1815"/>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40" name="Rectangle 84"/>
                <p:cNvSpPr>
                  <a:spLocks noChangeArrowheads="1"/>
                </p:cNvSpPr>
                <p:nvPr/>
              </p:nvSpPr>
              <p:spPr bwMode="auto">
                <a:xfrm>
                  <a:off x="2680" y="1815"/>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1" name="Freeform 85"/>
                <p:cNvSpPr>
                  <a:spLocks/>
                </p:cNvSpPr>
                <p:nvPr/>
              </p:nvSpPr>
              <p:spPr bwMode="auto">
                <a:xfrm>
                  <a:off x="2719" y="1815"/>
                  <a:ext cx="152"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FFFFFF"/>
                </a:solidFill>
                <a:ln w="0">
                  <a:solidFill>
                    <a:srgbClr val="000000"/>
                  </a:solidFill>
                  <a:prstDash val="solid"/>
                  <a:round/>
                  <a:headEnd/>
                  <a:tailEnd/>
                </a:ln>
              </p:spPr>
              <p:txBody>
                <a:bodyPr/>
                <a:lstStyle/>
                <a:p>
                  <a:endParaRPr lang="en-US" dirty="0"/>
                </a:p>
              </p:txBody>
            </p:sp>
            <p:sp>
              <p:nvSpPr>
                <p:cNvPr id="173142" name="Freeform 86"/>
                <p:cNvSpPr>
                  <a:spLocks/>
                </p:cNvSpPr>
                <p:nvPr/>
              </p:nvSpPr>
              <p:spPr bwMode="auto">
                <a:xfrm>
                  <a:off x="2719" y="1815"/>
                  <a:ext cx="152" cy="169"/>
                </a:xfrm>
                <a:custGeom>
                  <a:avLst/>
                  <a:gdLst>
                    <a:gd name="T0" fmla="*/ 0 w 152"/>
                    <a:gd name="T1" fmla="*/ 84 h 169"/>
                    <a:gd name="T2" fmla="*/ 76 w 152"/>
                    <a:gd name="T3" fmla="*/ 0 h 169"/>
                    <a:gd name="T4" fmla="*/ 152 w 152"/>
                    <a:gd name="T5" fmla="*/ 84 h 169"/>
                    <a:gd name="T6" fmla="*/ 152 w 152"/>
                    <a:gd name="T7" fmla="*/ 84 h 169"/>
                    <a:gd name="T8" fmla="*/ 76 w 152"/>
                    <a:gd name="T9" fmla="*/ 169 h 169"/>
                    <a:gd name="T10" fmla="*/ 0 w 152"/>
                    <a:gd name="T11" fmla="*/ 84 h 169"/>
                  </a:gdLst>
                  <a:ahLst/>
                  <a:cxnLst>
                    <a:cxn ang="0">
                      <a:pos x="T0" y="T1"/>
                    </a:cxn>
                    <a:cxn ang="0">
                      <a:pos x="T2" y="T3"/>
                    </a:cxn>
                    <a:cxn ang="0">
                      <a:pos x="T4" y="T5"/>
                    </a:cxn>
                    <a:cxn ang="0">
                      <a:pos x="T6" y="T7"/>
                    </a:cxn>
                    <a:cxn ang="0">
                      <a:pos x="T8" y="T9"/>
                    </a:cxn>
                    <a:cxn ang="0">
                      <a:pos x="T10" y="T11"/>
                    </a:cxn>
                  </a:cxnLst>
                  <a:rect l="0" t="0" r="r" b="b"/>
                  <a:pathLst>
                    <a:path w="152" h="169">
                      <a:moveTo>
                        <a:pt x="0" y="84"/>
                      </a:moveTo>
                      <a:cubicBezTo>
                        <a:pt x="0" y="38"/>
                        <a:pt x="34" y="0"/>
                        <a:pt x="76" y="0"/>
                      </a:cubicBezTo>
                      <a:cubicBezTo>
                        <a:pt x="118" y="0"/>
                        <a:pt x="152" y="38"/>
                        <a:pt x="152" y="84"/>
                      </a:cubicBezTo>
                      <a:cubicBezTo>
                        <a:pt x="152" y="84"/>
                        <a:pt x="152" y="84"/>
                        <a:pt x="152" y="84"/>
                      </a:cubicBezTo>
                      <a:cubicBezTo>
                        <a:pt x="152"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3" name="Rectangle 87"/>
                <p:cNvSpPr>
                  <a:spLocks noChangeArrowheads="1"/>
                </p:cNvSpPr>
                <p:nvPr/>
              </p:nvSpPr>
              <p:spPr bwMode="auto">
                <a:xfrm>
                  <a:off x="1809" y="1269"/>
                  <a:ext cx="114" cy="126"/>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44" name="Rectangle 88"/>
                <p:cNvSpPr>
                  <a:spLocks noChangeArrowheads="1"/>
                </p:cNvSpPr>
                <p:nvPr/>
              </p:nvSpPr>
              <p:spPr bwMode="auto">
                <a:xfrm>
                  <a:off x="1809" y="1269"/>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5" name="Rectangle 89"/>
                <p:cNvSpPr>
                  <a:spLocks noChangeArrowheads="1"/>
                </p:cNvSpPr>
                <p:nvPr/>
              </p:nvSpPr>
              <p:spPr bwMode="auto">
                <a:xfrm>
                  <a:off x="2328" y="1269"/>
                  <a:ext cx="114" cy="126"/>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46" name="Rectangle 90"/>
                <p:cNvSpPr>
                  <a:spLocks noChangeArrowheads="1"/>
                </p:cNvSpPr>
                <p:nvPr/>
              </p:nvSpPr>
              <p:spPr bwMode="auto">
                <a:xfrm>
                  <a:off x="2328" y="1269"/>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7" name="Rectangle 91"/>
                <p:cNvSpPr>
                  <a:spLocks noChangeArrowheads="1"/>
                </p:cNvSpPr>
                <p:nvPr/>
              </p:nvSpPr>
              <p:spPr bwMode="auto">
                <a:xfrm>
                  <a:off x="2299" y="1857"/>
                  <a:ext cx="114" cy="12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48" name="Rectangle 92"/>
                <p:cNvSpPr>
                  <a:spLocks noChangeArrowheads="1"/>
                </p:cNvSpPr>
                <p:nvPr/>
              </p:nvSpPr>
              <p:spPr bwMode="auto">
                <a:xfrm>
                  <a:off x="2299" y="1857"/>
                  <a:ext cx="114" cy="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9" name="Rectangle 93"/>
                <p:cNvSpPr>
                  <a:spLocks noChangeArrowheads="1"/>
                </p:cNvSpPr>
                <p:nvPr/>
              </p:nvSpPr>
              <p:spPr bwMode="auto">
                <a:xfrm>
                  <a:off x="1780" y="2446"/>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50" name="Rectangle 94"/>
                <p:cNvSpPr>
                  <a:spLocks noChangeArrowheads="1"/>
                </p:cNvSpPr>
                <p:nvPr/>
              </p:nvSpPr>
              <p:spPr bwMode="auto">
                <a:xfrm>
                  <a:off x="1780" y="2446"/>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51" name="Rectangle 95"/>
                <p:cNvSpPr>
                  <a:spLocks noChangeArrowheads="1"/>
                </p:cNvSpPr>
                <p:nvPr/>
              </p:nvSpPr>
              <p:spPr bwMode="auto">
                <a:xfrm>
                  <a:off x="2299" y="2194"/>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52" name="Rectangle 96"/>
                <p:cNvSpPr>
                  <a:spLocks noChangeArrowheads="1"/>
                </p:cNvSpPr>
                <p:nvPr/>
              </p:nvSpPr>
              <p:spPr bwMode="auto">
                <a:xfrm>
                  <a:off x="2299" y="2194"/>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53" name="Rectangle 97"/>
                <p:cNvSpPr>
                  <a:spLocks noChangeArrowheads="1"/>
                </p:cNvSpPr>
                <p:nvPr/>
              </p:nvSpPr>
              <p:spPr bwMode="auto">
                <a:xfrm>
                  <a:off x="2299" y="2446"/>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54" name="Rectangle 98"/>
                <p:cNvSpPr>
                  <a:spLocks noChangeArrowheads="1"/>
                </p:cNvSpPr>
                <p:nvPr/>
              </p:nvSpPr>
              <p:spPr bwMode="auto">
                <a:xfrm>
                  <a:off x="2299" y="2446"/>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55" name="Freeform 99"/>
                <p:cNvSpPr>
                  <a:spLocks/>
                </p:cNvSpPr>
                <p:nvPr/>
              </p:nvSpPr>
              <p:spPr bwMode="auto">
                <a:xfrm>
                  <a:off x="1180" y="1317"/>
                  <a:ext cx="603" cy="196"/>
                </a:xfrm>
                <a:custGeom>
                  <a:avLst/>
                  <a:gdLst>
                    <a:gd name="T0" fmla="*/ 0 w 426"/>
                    <a:gd name="T1" fmla="*/ 505 h 505"/>
                    <a:gd name="T2" fmla="*/ 229 w 426"/>
                    <a:gd name="T3" fmla="*/ 505 h 505"/>
                    <a:gd name="T4" fmla="*/ 229 w 426"/>
                    <a:gd name="T5" fmla="*/ 0 h 505"/>
                    <a:gd name="T6" fmla="*/ 426 w 426"/>
                    <a:gd name="T7" fmla="*/ 0 h 505"/>
                  </a:gdLst>
                  <a:ahLst/>
                  <a:cxnLst>
                    <a:cxn ang="0">
                      <a:pos x="T0" y="T1"/>
                    </a:cxn>
                    <a:cxn ang="0">
                      <a:pos x="T2" y="T3"/>
                    </a:cxn>
                    <a:cxn ang="0">
                      <a:pos x="T4" y="T5"/>
                    </a:cxn>
                    <a:cxn ang="0">
                      <a:pos x="T6" y="T7"/>
                    </a:cxn>
                  </a:cxnLst>
                  <a:rect l="0" t="0" r="r" b="b"/>
                  <a:pathLst>
                    <a:path w="426" h="505">
                      <a:moveTo>
                        <a:pt x="0" y="505"/>
                      </a:moveTo>
                      <a:lnTo>
                        <a:pt x="229" y="505"/>
                      </a:lnTo>
                      <a:lnTo>
                        <a:pt x="229" y="0"/>
                      </a:lnTo>
                      <a:lnTo>
                        <a:pt x="426" y="0"/>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56" name="Freeform 100"/>
                <p:cNvSpPr>
                  <a:spLocks/>
                </p:cNvSpPr>
                <p:nvPr/>
              </p:nvSpPr>
              <p:spPr bwMode="auto">
                <a:xfrm>
                  <a:off x="1783" y="1304"/>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57" name="Line 101"/>
                <p:cNvSpPr>
                  <a:spLocks noChangeShapeType="1"/>
                </p:cNvSpPr>
                <p:nvPr/>
              </p:nvSpPr>
              <p:spPr bwMode="auto">
                <a:xfrm>
                  <a:off x="1856" y="1143"/>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58" name="Line 102"/>
                <p:cNvSpPr>
                  <a:spLocks noChangeShapeType="1"/>
                </p:cNvSpPr>
                <p:nvPr/>
              </p:nvSpPr>
              <p:spPr bwMode="auto">
                <a:xfrm>
                  <a:off x="1856" y="1395"/>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59" name="Line 103"/>
                <p:cNvSpPr>
                  <a:spLocks noChangeShapeType="1"/>
                </p:cNvSpPr>
                <p:nvPr/>
              </p:nvSpPr>
              <p:spPr bwMode="auto">
                <a:xfrm>
                  <a:off x="2375" y="1143"/>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0" name="Line 104"/>
                <p:cNvSpPr>
                  <a:spLocks noChangeShapeType="1"/>
                </p:cNvSpPr>
                <p:nvPr/>
              </p:nvSpPr>
              <p:spPr bwMode="auto">
                <a:xfrm>
                  <a:off x="2375" y="1395"/>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1" name="Line 105"/>
                <p:cNvSpPr>
                  <a:spLocks noChangeShapeType="1"/>
                </p:cNvSpPr>
                <p:nvPr/>
              </p:nvSpPr>
              <p:spPr bwMode="auto">
                <a:xfrm>
                  <a:off x="2375" y="1689"/>
                  <a:ext cx="1" cy="168"/>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2" name="Line 106"/>
                <p:cNvSpPr>
                  <a:spLocks noChangeShapeType="1"/>
                </p:cNvSpPr>
                <p:nvPr/>
              </p:nvSpPr>
              <p:spPr bwMode="auto">
                <a:xfrm>
                  <a:off x="2375" y="1984"/>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3" name="Line 107"/>
                <p:cNvSpPr>
                  <a:spLocks noChangeShapeType="1"/>
                </p:cNvSpPr>
                <p:nvPr/>
              </p:nvSpPr>
              <p:spPr bwMode="auto">
                <a:xfrm>
                  <a:off x="1856" y="1689"/>
                  <a:ext cx="1" cy="757"/>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4" name="Freeform 108"/>
                <p:cNvSpPr>
                  <a:spLocks/>
                </p:cNvSpPr>
                <p:nvPr/>
              </p:nvSpPr>
              <p:spPr bwMode="auto">
                <a:xfrm>
                  <a:off x="1856" y="2572"/>
                  <a:ext cx="954" cy="211"/>
                </a:xfrm>
                <a:custGeom>
                  <a:avLst/>
                  <a:gdLst>
                    <a:gd name="T0" fmla="*/ 0 w 954"/>
                    <a:gd name="T1" fmla="*/ 0 h 211"/>
                    <a:gd name="T2" fmla="*/ 0 w 954"/>
                    <a:gd name="T3" fmla="*/ 211 h 211"/>
                    <a:gd name="T4" fmla="*/ 954 w 954"/>
                    <a:gd name="T5" fmla="*/ 211 h 211"/>
                  </a:gdLst>
                  <a:ahLst/>
                  <a:cxnLst>
                    <a:cxn ang="0">
                      <a:pos x="T0" y="T1"/>
                    </a:cxn>
                    <a:cxn ang="0">
                      <a:pos x="T2" y="T3"/>
                    </a:cxn>
                    <a:cxn ang="0">
                      <a:pos x="T4" y="T5"/>
                    </a:cxn>
                  </a:cxnLst>
                  <a:rect l="0" t="0" r="r" b="b"/>
                  <a:pathLst>
                    <a:path w="954" h="211">
                      <a:moveTo>
                        <a:pt x="0" y="0"/>
                      </a:moveTo>
                      <a:lnTo>
                        <a:pt x="0" y="211"/>
                      </a:lnTo>
                      <a:lnTo>
                        <a:pt x="954" y="211"/>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65" name="Freeform 109"/>
                <p:cNvSpPr>
                  <a:spLocks/>
                </p:cNvSpPr>
                <p:nvPr/>
              </p:nvSpPr>
              <p:spPr bwMode="auto">
                <a:xfrm>
                  <a:off x="2375" y="2572"/>
                  <a:ext cx="305" cy="126"/>
                </a:xfrm>
                <a:custGeom>
                  <a:avLst/>
                  <a:gdLst>
                    <a:gd name="T0" fmla="*/ 0 w 305"/>
                    <a:gd name="T1" fmla="*/ 0 h 126"/>
                    <a:gd name="T2" fmla="*/ 0 w 305"/>
                    <a:gd name="T3" fmla="*/ 126 h 126"/>
                    <a:gd name="T4" fmla="*/ 305 w 305"/>
                    <a:gd name="T5" fmla="*/ 126 h 126"/>
                  </a:gdLst>
                  <a:ahLst/>
                  <a:cxnLst>
                    <a:cxn ang="0">
                      <a:pos x="T0" y="T1"/>
                    </a:cxn>
                    <a:cxn ang="0">
                      <a:pos x="T2" y="T3"/>
                    </a:cxn>
                    <a:cxn ang="0">
                      <a:pos x="T4" y="T5"/>
                    </a:cxn>
                  </a:cxnLst>
                  <a:rect l="0" t="0" r="r" b="b"/>
                  <a:pathLst>
                    <a:path w="305" h="126">
                      <a:moveTo>
                        <a:pt x="0" y="0"/>
                      </a:moveTo>
                      <a:lnTo>
                        <a:pt x="0" y="126"/>
                      </a:lnTo>
                      <a:lnTo>
                        <a:pt x="305" y="126"/>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66" name="Line 110"/>
                <p:cNvSpPr>
                  <a:spLocks noChangeShapeType="1"/>
                </p:cNvSpPr>
                <p:nvPr/>
              </p:nvSpPr>
              <p:spPr bwMode="auto">
                <a:xfrm>
                  <a:off x="2642" y="2783"/>
                  <a:ext cx="38"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7" name="Freeform 111"/>
                <p:cNvSpPr>
                  <a:spLocks/>
                </p:cNvSpPr>
                <p:nvPr/>
              </p:nvSpPr>
              <p:spPr bwMode="auto">
                <a:xfrm>
                  <a:off x="2642" y="2572"/>
                  <a:ext cx="305" cy="337"/>
                </a:xfrm>
                <a:custGeom>
                  <a:avLst/>
                  <a:gdLst>
                    <a:gd name="T0" fmla="*/ 0 w 1536"/>
                    <a:gd name="T1" fmla="*/ 768 h 1536"/>
                    <a:gd name="T2" fmla="*/ 768 w 1536"/>
                    <a:gd name="T3" fmla="*/ 0 h 1536"/>
                    <a:gd name="T4" fmla="*/ 1536 w 1536"/>
                    <a:gd name="T5" fmla="*/ 768 h 1536"/>
                    <a:gd name="T6" fmla="*/ 1536 w 1536"/>
                    <a:gd name="T7" fmla="*/ 768 h 1536"/>
                    <a:gd name="T8" fmla="*/ 768 w 1536"/>
                    <a:gd name="T9" fmla="*/ 1536 h 1536"/>
                    <a:gd name="T10" fmla="*/ 0 w 1536"/>
                    <a:gd name="T11" fmla="*/ 768 h 1536"/>
                  </a:gdLst>
                  <a:ahLst/>
                  <a:cxnLst>
                    <a:cxn ang="0">
                      <a:pos x="T0" y="T1"/>
                    </a:cxn>
                    <a:cxn ang="0">
                      <a:pos x="T2" y="T3"/>
                    </a:cxn>
                    <a:cxn ang="0">
                      <a:pos x="T4" y="T5"/>
                    </a:cxn>
                    <a:cxn ang="0">
                      <a:pos x="T6" y="T7"/>
                    </a:cxn>
                    <a:cxn ang="0">
                      <a:pos x="T8" y="T9"/>
                    </a:cxn>
                    <a:cxn ang="0">
                      <a:pos x="T10" y="T11"/>
                    </a:cxn>
                  </a:cxnLst>
                  <a:rect l="0" t="0" r="r" b="b"/>
                  <a:pathLst>
                    <a:path w="1536" h="1536">
                      <a:moveTo>
                        <a:pt x="0" y="768"/>
                      </a:moveTo>
                      <a:cubicBezTo>
                        <a:pt x="0" y="344"/>
                        <a:pt x="344" y="0"/>
                        <a:pt x="768" y="0"/>
                      </a:cubicBezTo>
                      <a:cubicBezTo>
                        <a:pt x="1192" y="0"/>
                        <a:pt x="1536" y="344"/>
                        <a:pt x="1536" y="768"/>
                      </a:cubicBezTo>
                      <a:cubicBezTo>
                        <a:pt x="1536" y="768"/>
                        <a:pt x="1536" y="768"/>
                        <a:pt x="1536" y="768"/>
                      </a:cubicBezTo>
                      <a:cubicBezTo>
                        <a:pt x="1536" y="1192"/>
                        <a:pt x="1192" y="1536"/>
                        <a:pt x="768" y="1536"/>
                      </a:cubicBezTo>
                      <a:cubicBezTo>
                        <a:pt x="344" y="1536"/>
                        <a:pt x="0" y="1192"/>
                        <a:pt x="0" y="768"/>
                      </a:cubicBezTo>
                    </a:path>
                  </a:pathLst>
                </a:custGeom>
                <a:solidFill>
                  <a:srgbClr val="FFFFFF"/>
                </a:solidFill>
                <a:ln w="0">
                  <a:solidFill>
                    <a:srgbClr val="000000"/>
                  </a:solidFill>
                  <a:prstDash val="solid"/>
                  <a:round/>
                  <a:headEnd/>
                  <a:tailEnd/>
                </a:ln>
              </p:spPr>
              <p:txBody>
                <a:bodyPr/>
                <a:lstStyle/>
                <a:p>
                  <a:endParaRPr lang="en-US" dirty="0"/>
                </a:p>
              </p:txBody>
            </p:sp>
            <p:sp>
              <p:nvSpPr>
                <p:cNvPr id="173168" name="Freeform 112"/>
                <p:cNvSpPr>
                  <a:spLocks/>
                </p:cNvSpPr>
                <p:nvPr/>
              </p:nvSpPr>
              <p:spPr bwMode="auto">
                <a:xfrm>
                  <a:off x="2642" y="2572"/>
                  <a:ext cx="305" cy="337"/>
                </a:xfrm>
                <a:custGeom>
                  <a:avLst/>
                  <a:gdLst>
                    <a:gd name="T0" fmla="*/ 0 w 305"/>
                    <a:gd name="T1" fmla="*/ 168 h 337"/>
                    <a:gd name="T2" fmla="*/ 153 w 305"/>
                    <a:gd name="T3" fmla="*/ 0 h 337"/>
                    <a:gd name="T4" fmla="*/ 305 w 305"/>
                    <a:gd name="T5" fmla="*/ 168 h 337"/>
                    <a:gd name="T6" fmla="*/ 305 w 305"/>
                    <a:gd name="T7" fmla="*/ 168 h 337"/>
                    <a:gd name="T8" fmla="*/ 153 w 305"/>
                    <a:gd name="T9" fmla="*/ 337 h 337"/>
                    <a:gd name="T10" fmla="*/ 0 w 305"/>
                    <a:gd name="T11" fmla="*/ 168 h 337"/>
                  </a:gdLst>
                  <a:ahLst/>
                  <a:cxnLst>
                    <a:cxn ang="0">
                      <a:pos x="T0" y="T1"/>
                    </a:cxn>
                    <a:cxn ang="0">
                      <a:pos x="T2" y="T3"/>
                    </a:cxn>
                    <a:cxn ang="0">
                      <a:pos x="T4" y="T5"/>
                    </a:cxn>
                    <a:cxn ang="0">
                      <a:pos x="T6" y="T7"/>
                    </a:cxn>
                    <a:cxn ang="0">
                      <a:pos x="T8" y="T9"/>
                    </a:cxn>
                    <a:cxn ang="0">
                      <a:pos x="T10" y="T11"/>
                    </a:cxn>
                  </a:cxnLst>
                  <a:rect l="0" t="0" r="r" b="b"/>
                  <a:pathLst>
                    <a:path w="305" h="337">
                      <a:moveTo>
                        <a:pt x="0" y="168"/>
                      </a:moveTo>
                      <a:cubicBezTo>
                        <a:pt x="0" y="76"/>
                        <a:pt x="69" y="0"/>
                        <a:pt x="153" y="0"/>
                      </a:cubicBezTo>
                      <a:cubicBezTo>
                        <a:pt x="237" y="0"/>
                        <a:pt x="305" y="76"/>
                        <a:pt x="305" y="168"/>
                      </a:cubicBezTo>
                      <a:cubicBezTo>
                        <a:pt x="305" y="168"/>
                        <a:pt x="305" y="168"/>
                        <a:pt x="305" y="168"/>
                      </a:cubicBezTo>
                      <a:cubicBezTo>
                        <a:pt x="305" y="261"/>
                        <a:pt x="237" y="337"/>
                        <a:pt x="153" y="337"/>
                      </a:cubicBezTo>
                      <a:cubicBezTo>
                        <a:pt x="69" y="337"/>
                        <a:pt x="0" y="261"/>
                        <a:pt x="0" y="168"/>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69" name="Rectangle 113"/>
                <p:cNvSpPr>
                  <a:spLocks noChangeArrowheads="1"/>
                </p:cNvSpPr>
                <p:nvPr/>
              </p:nvSpPr>
              <p:spPr bwMode="auto">
                <a:xfrm>
                  <a:off x="2725" y="2659"/>
                  <a:ext cx="207"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 </a:t>
                  </a:r>
                  <a:endParaRPr lang="en-US" altLang="en-US" dirty="0"/>
                </a:p>
              </p:txBody>
            </p:sp>
            <p:sp>
              <p:nvSpPr>
                <p:cNvPr id="173170" name="Rectangle 114"/>
                <p:cNvSpPr>
                  <a:spLocks noChangeArrowheads="1"/>
                </p:cNvSpPr>
                <p:nvPr/>
              </p:nvSpPr>
              <p:spPr bwMode="auto">
                <a:xfrm>
                  <a:off x="2711" y="2736"/>
                  <a:ext cx="218"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Model</a:t>
                  </a:r>
                  <a:endParaRPr lang="en-US" altLang="en-US" dirty="0"/>
                </a:p>
              </p:txBody>
            </p:sp>
            <p:sp>
              <p:nvSpPr>
                <p:cNvPr id="173171" name="Line 115"/>
                <p:cNvSpPr>
                  <a:spLocks noChangeShapeType="1"/>
                </p:cNvSpPr>
                <p:nvPr/>
              </p:nvSpPr>
              <p:spPr bwMode="auto">
                <a:xfrm>
                  <a:off x="2375" y="2320"/>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72" name="Line 116"/>
                <p:cNvSpPr>
                  <a:spLocks noChangeShapeType="1"/>
                </p:cNvSpPr>
                <p:nvPr/>
              </p:nvSpPr>
              <p:spPr bwMode="auto">
                <a:xfrm>
                  <a:off x="2413" y="2488"/>
                  <a:ext cx="267"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73" name="Rectangle 117"/>
                <p:cNvSpPr>
                  <a:spLocks noChangeArrowheads="1"/>
                </p:cNvSpPr>
                <p:nvPr/>
              </p:nvSpPr>
              <p:spPr bwMode="auto">
                <a:xfrm>
                  <a:off x="2680" y="2446"/>
                  <a:ext cx="15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74" name="Rectangle 118"/>
                <p:cNvSpPr>
                  <a:spLocks noChangeArrowheads="1"/>
                </p:cNvSpPr>
                <p:nvPr/>
              </p:nvSpPr>
              <p:spPr bwMode="auto">
                <a:xfrm>
                  <a:off x="2680" y="2446"/>
                  <a:ext cx="153" cy="42"/>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75" name="Freeform 119"/>
                <p:cNvSpPr>
                  <a:spLocks/>
                </p:cNvSpPr>
                <p:nvPr/>
              </p:nvSpPr>
              <p:spPr bwMode="auto">
                <a:xfrm>
                  <a:off x="2413" y="1899"/>
                  <a:ext cx="267" cy="1"/>
                </a:xfrm>
                <a:custGeom>
                  <a:avLst/>
                  <a:gdLst>
                    <a:gd name="T0" fmla="*/ 0 w 267"/>
                    <a:gd name="T1" fmla="*/ 267 w 267"/>
                    <a:gd name="T2" fmla="*/ 0 w 267"/>
                  </a:gdLst>
                  <a:ahLst/>
                  <a:cxnLst>
                    <a:cxn ang="0">
                      <a:pos x="T0" y="0"/>
                    </a:cxn>
                    <a:cxn ang="0">
                      <a:pos x="T1" y="0"/>
                    </a:cxn>
                    <a:cxn ang="0">
                      <a:pos x="T2" y="0"/>
                    </a:cxn>
                  </a:cxnLst>
                  <a:rect l="0" t="0" r="r" b="b"/>
                  <a:pathLst>
                    <a:path w="267">
                      <a:moveTo>
                        <a:pt x="0" y="0"/>
                      </a:moveTo>
                      <a:lnTo>
                        <a:pt x="267" y="0"/>
                      </a:lnTo>
                      <a:lnTo>
                        <a:pt x="0" y="0"/>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76" name="Line 120"/>
                <p:cNvSpPr>
                  <a:spLocks noChangeShapeType="1"/>
                </p:cNvSpPr>
                <p:nvPr/>
              </p:nvSpPr>
              <p:spPr bwMode="auto">
                <a:xfrm flipV="1">
                  <a:off x="1262" y="2488"/>
                  <a:ext cx="486"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77" name="Freeform 121"/>
                <p:cNvSpPr>
                  <a:spLocks/>
                </p:cNvSpPr>
                <p:nvPr/>
              </p:nvSpPr>
              <p:spPr bwMode="auto">
                <a:xfrm>
                  <a:off x="1745" y="247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78" name="Line 122"/>
                <p:cNvSpPr>
                  <a:spLocks noChangeShapeType="1"/>
                </p:cNvSpPr>
                <p:nvPr/>
              </p:nvSpPr>
              <p:spPr bwMode="auto">
                <a:xfrm>
                  <a:off x="1346" y="2279"/>
                  <a:ext cx="921"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79" name="Freeform 123"/>
                <p:cNvSpPr>
                  <a:spLocks/>
                </p:cNvSpPr>
                <p:nvPr/>
              </p:nvSpPr>
              <p:spPr bwMode="auto">
                <a:xfrm>
                  <a:off x="2264" y="226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80" name="Line 124"/>
                <p:cNvSpPr>
                  <a:spLocks noChangeShapeType="1"/>
                </p:cNvSpPr>
                <p:nvPr/>
              </p:nvSpPr>
              <p:spPr bwMode="auto">
                <a:xfrm>
                  <a:off x="1509" y="1647"/>
                  <a:ext cx="239"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81" name="Freeform 125"/>
                <p:cNvSpPr>
                  <a:spLocks/>
                </p:cNvSpPr>
                <p:nvPr/>
              </p:nvSpPr>
              <p:spPr bwMode="auto">
                <a:xfrm>
                  <a:off x="1745" y="1634"/>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82" name="Rectangle 126"/>
                <p:cNvSpPr>
                  <a:spLocks noChangeArrowheads="1"/>
                </p:cNvSpPr>
                <p:nvPr/>
              </p:nvSpPr>
              <p:spPr bwMode="auto">
                <a:xfrm>
                  <a:off x="1448" y="2197"/>
                  <a:ext cx="328"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AntiSkid </a:t>
                  </a:r>
                  <a:endParaRPr lang="en-US" altLang="en-US" dirty="0"/>
                </a:p>
              </p:txBody>
            </p:sp>
            <p:sp>
              <p:nvSpPr>
                <p:cNvPr id="173183" name="Rectangle 127"/>
                <p:cNvSpPr>
                  <a:spLocks noChangeArrowheads="1"/>
                </p:cNvSpPr>
                <p:nvPr/>
              </p:nvSpPr>
              <p:spPr bwMode="auto">
                <a:xfrm>
                  <a:off x="1420" y="2273"/>
                  <a:ext cx="369"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Command</a:t>
                  </a:r>
                  <a:endParaRPr lang="en-US" altLang="en-US" dirty="0"/>
                </a:p>
              </p:txBody>
            </p:sp>
            <p:sp>
              <p:nvSpPr>
                <p:cNvPr id="173184" name="Rectangle 128"/>
                <p:cNvSpPr>
                  <a:spLocks noChangeArrowheads="1"/>
                </p:cNvSpPr>
                <p:nvPr/>
              </p:nvSpPr>
              <p:spPr bwMode="auto">
                <a:xfrm>
                  <a:off x="1433" y="2410"/>
                  <a:ext cx="303"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a:t>
                  </a:r>
                  <a:endParaRPr lang="en-US" altLang="en-US" dirty="0"/>
                </a:p>
              </p:txBody>
            </p:sp>
            <p:sp>
              <p:nvSpPr>
                <p:cNvPr id="173185" name="Rectangle 129"/>
                <p:cNvSpPr>
                  <a:spLocks noChangeArrowheads="1"/>
                </p:cNvSpPr>
                <p:nvPr/>
              </p:nvSpPr>
              <p:spPr bwMode="auto">
                <a:xfrm>
                  <a:off x="1684" y="2410"/>
                  <a:ext cx="6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a:t>
                  </a:r>
                  <a:endParaRPr lang="en-US" altLang="en-US" dirty="0"/>
                </a:p>
              </p:txBody>
            </p:sp>
            <p:sp>
              <p:nvSpPr>
                <p:cNvPr id="173186" name="Rectangle 130"/>
                <p:cNvSpPr>
                  <a:spLocks noChangeArrowheads="1"/>
                </p:cNvSpPr>
                <p:nvPr/>
              </p:nvSpPr>
              <p:spPr bwMode="auto">
                <a:xfrm>
                  <a:off x="1448" y="2488"/>
                  <a:ext cx="328"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AntiSkid </a:t>
                  </a:r>
                  <a:endParaRPr lang="en-US" altLang="en-US" dirty="0"/>
                </a:p>
              </p:txBody>
            </p:sp>
            <p:sp>
              <p:nvSpPr>
                <p:cNvPr id="173187" name="Rectangle 131"/>
                <p:cNvSpPr>
                  <a:spLocks noChangeArrowheads="1"/>
                </p:cNvSpPr>
                <p:nvPr/>
              </p:nvSpPr>
              <p:spPr bwMode="auto">
                <a:xfrm>
                  <a:off x="1420" y="2565"/>
                  <a:ext cx="369"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Command</a:t>
                  </a:r>
                  <a:endParaRPr lang="en-US" altLang="en-US" dirty="0"/>
                </a:p>
              </p:txBody>
            </p:sp>
            <p:sp>
              <p:nvSpPr>
                <p:cNvPr id="173188" name="Rectangle 132"/>
                <p:cNvSpPr>
                  <a:spLocks noChangeArrowheads="1"/>
                </p:cNvSpPr>
                <p:nvPr/>
              </p:nvSpPr>
              <p:spPr bwMode="auto">
                <a:xfrm>
                  <a:off x="1679" y="890"/>
                  <a:ext cx="45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Green Pump</a:t>
                  </a:r>
                  <a:endParaRPr lang="en-US" altLang="en-US" dirty="0"/>
                </a:p>
              </p:txBody>
            </p:sp>
            <p:sp>
              <p:nvSpPr>
                <p:cNvPr id="173189" name="Rectangle 133"/>
                <p:cNvSpPr>
                  <a:spLocks noChangeArrowheads="1"/>
                </p:cNvSpPr>
                <p:nvPr/>
              </p:nvSpPr>
              <p:spPr bwMode="auto">
                <a:xfrm>
                  <a:off x="2222" y="890"/>
                  <a:ext cx="39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Blue Pump</a:t>
                  </a:r>
                  <a:endParaRPr lang="en-US" altLang="en-US" dirty="0"/>
                </a:p>
              </p:txBody>
            </p:sp>
            <p:sp>
              <p:nvSpPr>
                <p:cNvPr id="173190" name="Rectangle 134"/>
                <p:cNvSpPr>
                  <a:spLocks noChangeArrowheads="1"/>
                </p:cNvSpPr>
                <p:nvPr/>
              </p:nvSpPr>
              <p:spPr bwMode="auto">
                <a:xfrm>
                  <a:off x="2125" y="1184"/>
                  <a:ext cx="53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Isolation Valve</a:t>
                  </a:r>
                  <a:endParaRPr lang="en-US" altLang="en-US" dirty="0"/>
                </a:p>
              </p:txBody>
            </p:sp>
            <p:sp>
              <p:nvSpPr>
                <p:cNvPr id="173191" name="Rectangle 135"/>
                <p:cNvSpPr>
                  <a:spLocks noChangeArrowheads="1"/>
                </p:cNvSpPr>
                <p:nvPr/>
              </p:nvSpPr>
              <p:spPr bwMode="auto">
                <a:xfrm>
                  <a:off x="1621" y="1184"/>
                  <a:ext cx="53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Isolation Valve</a:t>
                  </a:r>
                  <a:endParaRPr lang="en-US" altLang="en-US" dirty="0"/>
                </a:p>
              </p:txBody>
            </p:sp>
            <p:sp>
              <p:nvSpPr>
                <p:cNvPr id="173192" name="Rectangle 136"/>
                <p:cNvSpPr>
                  <a:spLocks noChangeArrowheads="1"/>
                </p:cNvSpPr>
                <p:nvPr/>
              </p:nvSpPr>
              <p:spPr bwMode="auto">
                <a:xfrm>
                  <a:off x="1423" y="1654"/>
                  <a:ext cx="189"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Shut </a:t>
                  </a:r>
                  <a:endParaRPr lang="en-US" altLang="en-US" dirty="0"/>
                </a:p>
              </p:txBody>
            </p:sp>
            <p:sp>
              <p:nvSpPr>
                <p:cNvPr id="173193" name="Rectangle 137"/>
                <p:cNvSpPr>
                  <a:spLocks noChangeArrowheads="1"/>
                </p:cNvSpPr>
                <p:nvPr/>
              </p:nvSpPr>
              <p:spPr bwMode="auto">
                <a:xfrm>
                  <a:off x="1383" y="1731"/>
                  <a:ext cx="28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Normal </a:t>
                  </a:r>
                  <a:endParaRPr lang="en-US" altLang="en-US" dirty="0"/>
                </a:p>
              </p:txBody>
            </p:sp>
            <p:sp>
              <p:nvSpPr>
                <p:cNvPr id="173194" name="Rectangle 138"/>
                <p:cNvSpPr>
                  <a:spLocks noChangeArrowheads="1"/>
                </p:cNvSpPr>
                <p:nvPr/>
              </p:nvSpPr>
              <p:spPr bwMode="auto">
                <a:xfrm>
                  <a:off x="1380" y="1808"/>
                  <a:ext cx="27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System</a:t>
                  </a:r>
                  <a:endParaRPr lang="en-US" altLang="en-US" dirty="0"/>
                </a:p>
              </p:txBody>
            </p:sp>
            <p:sp>
              <p:nvSpPr>
                <p:cNvPr id="173195" name="Rectangle 139"/>
                <p:cNvSpPr>
                  <a:spLocks noChangeArrowheads="1"/>
                </p:cNvSpPr>
                <p:nvPr/>
              </p:nvSpPr>
              <p:spPr bwMode="auto">
                <a:xfrm>
                  <a:off x="1804" y="1758"/>
                  <a:ext cx="47"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N</a:t>
                  </a:r>
                  <a:endParaRPr lang="en-US" altLang="en-US" dirty="0"/>
                </a:p>
              </p:txBody>
            </p:sp>
            <p:sp>
              <p:nvSpPr>
                <p:cNvPr id="173196" name="Rectangle 140"/>
                <p:cNvSpPr>
                  <a:spLocks noChangeArrowheads="1"/>
                </p:cNvSpPr>
                <p:nvPr/>
              </p:nvSpPr>
              <p:spPr bwMode="auto">
                <a:xfrm>
                  <a:off x="1803" y="1825"/>
                  <a:ext cx="52"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O</a:t>
                  </a:r>
                  <a:endParaRPr lang="en-US" altLang="en-US" dirty="0"/>
                </a:p>
              </p:txBody>
            </p:sp>
            <p:sp>
              <p:nvSpPr>
                <p:cNvPr id="173197" name="Rectangle 141"/>
                <p:cNvSpPr>
                  <a:spLocks noChangeArrowheads="1"/>
                </p:cNvSpPr>
                <p:nvPr/>
              </p:nvSpPr>
              <p:spPr bwMode="auto">
                <a:xfrm>
                  <a:off x="1804" y="1891"/>
                  <a:ext cx="47"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R</a:t>
                  </a:r>
                  <a:endParaRPr lang="en-US" altLang="en-US" dirty="0"/>
                </a:p>
              </p:txBody>
            </p:sp>
            <p:sp>
              <p:nvSpPr>
                <p:cNvPr id="173198" name="Rectangle 142"/>
                <p:cNvSpPr>
                  <a:spLocks noChangeArrowheads="1"/>
                </p:cNvSpPr>
                <p:nvPr/>
              </p:nvSpPr>
              <p:spPr bwMode="auto">
                <a:xfrm>
                  <a:off x="1803" y="1961"/>
                  <a:ext cx="55"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M</a:t>
                  </a:r>
                  <a:endParaRPr lang="en-US" altLang="en-US" dirty="0"/>
                </a:p>
              </p:txBody>
            </p:sp>
            <p:sp>
              <p:nvSpPr>
                <p:cNvPr id="173199" name="Rectangle 143"/>
                <p:cNvSpPr>
                  <a:spLocks noChangeArrowheads="1"/>
                </p:cNvSpPr>
                <p:nvPr/>
              </p:nvSpPr>
              <p:spPr bwMode="auto">
                <a:xfrm>
                  <a:off x="1804" y="2028"/>
                  <a:ext cx="47"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A</a:t>
                  </a:r>
                  <a:endParaRPr lang="en-US" altLang="en-US" dirty="0"/>
                </a:p>
              </p:txBody>
            </p:sp>
            <p:sp>
              <p:nvSpPr>
                <p:cNvPr id="173200" name="Rectangle 144"/>
                <p:cNvSpPr>
                  <a:spLocks noChangeArrowheads="1"/>
                </p:cNvSpPr>
                <p:nvPr/>
              </p:nvSpPr>
              <p:spPr bwMode="auto">
                <a:xfrm>
                  <a:off x="1804" y="2095"/>
                  <a:ext cx="40"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L</a:t>
                  </a:r>
                  <a:endParaRPr lang="en-US" altLang="en-US" dirty="0"/>
                </a:p>
              </p:txBody>
            </p:sp>
            <p:sp>
              <p:nvSpPr>
                <p:cNvPr id="173201" name="Rectangle 145"/>
                <p:cNvSpPr>
                  <a:spLocks noChangeArrowheads="1"/>
                </p:cNvSpPr>
                <p:nvPr/>
              </p:nvSpPr>
              <p:spPr bwMode="auto">
                <a:xfrm>
                  <a:off x="2241" y="1731"/>
                  <a:ext cx="5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A</a:t>
                  </a:r>
                  <a:endParaRPr lang="en-US" altLang="en-US" dirty="0"/>
                </a:p>
              </p:txBody>
            </p:sp>
            <p:sp>
              <p:nvSpPr>
                <p:cNvPr id="173202" name="Rectangle 146"/>
                <p:cNvSpPr>
                  <a:spLocks noChangeArrowheads="1"/>
                </p:cNvSpPr>
                <p:nvPr/>
              </p:nvSpPr>
              <p:spPr bwMode="auto">
                <a:xfrm>
                  <a:off x="2242" y="1812"/>
                  <a:ext cx="46"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L</a:t>
                  </a:r>
                  <a:endParaRPr lang="en-US" altLang="en-US" dirty="0"/>
                </a:p>
              </p:txBody>
            </p:sp>
            <p:sp>
              <p:nvSpPr>
                <p:cNvPr id="173203" name="Rectangle 147"/>
                <p:cNvSpPr>
                  <a:spLocks noChangeArrowheads="1"/>
                </p:cNvSpPr>
                <p:nvPr/>
              </p:nvSpPr>
              <p:spPr bwMode="auto">
                <a:xfrm>
                  <a:off x="2242" y="1888"/>
                  <a:ext cx="46"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T</a:t>
                  </a:r>
                  <a:endParaRPr lang="en-US" altLang="en-US" dirty="0"/>
                </a:p>
              </p:txBody>
            </p:sp>
            <p:sp>
              <p:nvSpPr>
                <p:cNvPr id="173204" name="Rectangle 148"/>
                <p:cNvSpPr>
                  <a:spLocks noChangeArrowheads="1"/>
                </p:cNvSpPr>
                <p:nvPr/>
              </p:nvSpPr>
              <p:spPr bwMode="auto">
                <a:xfrm>
                  <a:off x="2241" y="1965"/>
                  <a:ext cx="5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E</a:t>
                  </a:r>
                  <a:endParaRPr lang="en-US" altLang="en-US" dirty="0"/>
                </a:p>
              </p:txBody>
            </p:sp>
            <p:sp>
              <p:nvSpPr>
                <p:cNvPr id="173205" name="Rectangle 149"/>
                <p:cNvSpPr>
                  <a:spLocks noChangeArrowheads="1"/>
                </p:cNvSpPr>
                <p:nvPr/>
              </p:nvSpPr>
              <p:spPr bwMode="auto">
                <a:xfrm>
                  <a:off x="2241" y="2046"/>
                  <a:ext cx="54"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R</a:t>
                  </a:r>
                  <a:endParaRPr lang="en-US" altLang="en-US" dirty="0"/>
                </a:p>
              </p:txBody>
            </p:sp>
            <p:sp>
              <p:nvSpPr>
                <p:cNvPr id="173206" name="Rectangle 150"/>
                <p:cNvSpPr>
                  <a:spLocks noChangeArrowheads="1"/>
                </p:cNvSpPr>
                <p:nvPr/>
              </p:nvSpPr>
              <p:spPr bwMode="auto">
                <a:xfrm>
                  <a:off x="2241" y="2123"/>
                  <a:ext cx="5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N</a:t>
                  </a:r>
                  <a:endParaRPr lang="en-US" altLang="en-US" dirty="0"/>
                </a:p>
              </p:txBody>
            </p:sp>
            <p:sp>
              <p:nvSpPr>
                <p:cNvPr id="173207" name="Rectangle 151"/>
                <p:cNvSpPr>
                  <a:spLocks noChangeArrowheads="1"/>
                </p:cNvSpPr>
                <p:nvPr/>
              </p:nvSpPr>
              <p:spPr bwMode="auto">
                <a:xfrm>
                  <a:off x="2241" y="2204"/>
                  <a:ext cx="54"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A</a:t>
                  </a:r>
                  <a:endParaRPr lang="en-US" altLang="en-US" dirty="0"/>
                </a:p>
              </p:txBody>
            </p:sp>
            <p:sp>
              <p:nvSpPr>
                <p:cNvPr id="173208" name="Rectangle 152"/>
                <p:cNvSpPr>
                  <a:spLocks noChangeArrowheads="1"/>
                </p:cNvSpPr>
                <p:nvPr/>
              </p:nvSpPr>
              <p:spPr bwMode="auto">
                <a:xfrm>
                  <a:off x="2242" y="2281"/>
                  <a:ext cx="46"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T</a:t>
                  </a:r>
                  <a:endParaRPr lang="en-US" altLang="en-US" dirty="0"/>
                </a:p>
              </p:txBody>
            </p:sp>
            <p:sp>
              <p:nvSpPr>
                <p:cNvPr id="173209" name="Rectangle 153"/>
                <p:cNvSpPr>
                  <a:spLocks noChangeArrowheads="1"/>
                </p:cNvSpPr>
                <p:nvPr/>
              </p:nvSpPr>
              <p:spPr bwMode="auto">
                <a:xfrm>
                  <a:off x="2241" y="2357"/>
                  <a:ext cx="5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E</a:t>
                  </a:r>
                  <a:endParaRPr lang="en-US" altLang="en-US" dirty="0"/>
                </a:p>
              </p:txBody>
            </p:sp>
            <p:sp>
              <p:nvSpPr>
                <p:cNvPr id="173210" name="Rectangle 154"/>
                <p:cNvSpPr>
                  <a:spLocks noChangeArrowheads="1"/>
                </p:cNvSpPr>
                <p:nvPr/>
              </p:nvSpPr>
              <p:spPr bwMode="auto">
                <a:xfrm>
                  <a:off x="2583" y="2007"/>
                  <a:ext cx="483"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Accumulator </a:t>
                  </a:r>
                  <a:endParaRPr lang="en-US" altLang="en-US" dirty="0"/>
                </a:p>
              </p:txBody>
            </p:sp>
            <p:sp>
              <p:nvSpPr>
                <p:cNvPr id="173211" name="Rectangle 155"/>
                <p:cNvSpPr>
                  <a:spLocks noChangeArrowheads="1"/>
                </p:cNvSpPr>
                <p:nvPr/>
              </p:nvSpPr>
              <p:spPr bwMode="auto">
                <a:xfrm>
                  <a:off x="2697" y="2085"/>
                  <a:ext cx="209"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Pump</a:t>
                  </a:r>
                  <a:endParaRPr lang="en-US" altLang="en-US" dirty="0"/>
                </a:p>
              </p:txBody>
            </p:sp>
            <p:sp>
              <p:nvSpPr>
                <p:cNvPr id="173212" name="Rectangle 156"/>
                <p:cNvSpPr>
                  <a:spLocks noChangeArrowheads="1"/>
                </p:cNvSpPr>
                <p:nvPr/>
              </p:nvSpPr>
              <p:spPr bwMode="auto">
                <a:xfrm>
                  <a:off x="1937" y="2428"/>
                  <a:ext cx="223"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Meter </a:t>
                  </a:r>
                  <a:endParaRPr lang="en-US" altLang="en-US" dirty="0"/>
                </a:p>
              </p:txBody>
            </p:sp>
            <p:sp>
              <p:nvSpPr>
                <p:cNvPr id="173213" name="Rectangle 157"/>
                <p:cNvSpPr>
                  <a:spLocks noChangeArrowheads="1"/>
                </p:cNvSpPr>
                <p:nvPr/>
              </p:nvSpPr>
              <p:spPr bwMode="auto">
                <a:xfrm>
                  <a:off x="1941" y="2505"/>
                  <a:ext cx="199"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Valve</a:t>
                  </a:r>
                  <a:endParaRPr lang="en-US" altLang="en-US" dirty="0"/>
                </a:p>
              </p:txBody>
            </p:sp>
            <p:sp>
              <p:nvSpPr>
                <p:cNvPr id="173214" name="Rectangle 158"/>
                <p:cNvSpPr>
                  <a:spLocks noChangeArrowheads="1"/>
                </p:cNvSpPr>
                <p:nvPr/>
              </p:nvSpPr>
              <p:spPr bwMode="auto">
                <a:xfrm>
                  <a:off x="2308" y="2463"/>
                  <a:ext cx="132" cy="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Meter </a:t>
                  </a:r>
                  <a:endParaRPr lang="en-US" altLang="en-US" dirty="0"/>
                </a:p>
              </p:txBody>
            </p:sp>
            <p:sp>
              <p:nvSpPr>
                <p:cNvPr id="173215" name="Rectangle 159"/>
                <p:cNvSpPr>
                  <a:spLocks noChangeArrowheads="1"/>
                </p:cNvSpPr>
                <p:nvPr/>
              </p:nvSpPr>
              <p:spPr bwMode="auto">
                <a:xfrm>
                  <a:off x="2308" y="2510"/>
                  <a:ext cx="118" cy="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Valve</a:t>
                  </a:r>
                  <a:endParaRPr lang="en-US" altLang="en-US" dirty="0"/>
                </a:p>
              </p:txBody>
            </p:sp>
            <p:sp>
              <p:nvSpPr>
                <p:cNvPr id="173216" name="Rectangle 160"/>
                <p:cNvSpPr>
                  <a:spLocks noChangeArrowheads="1"/>
                </p:cNvSpPr>
                <p:nvPr/>
              </p:nvSpPr>
              <p:spPr bwMode="auto">
                <a:xfrm>
                  <a:off x="2308" y="2211"/>
                  <a:ext cx="132" cy="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Meter </a:t>
                  </a:r>
                  <a:endParaRPr lang="en-US" altLang="en-US" dirty="0"/>
                </a:p>
              </p:txBody>
            </p:sp>
            <p:sp>
              <p:nvSpPr>
                <p:cNvPr id="173217" name="Rectangle 161"/>
                <p:cNvSpPr>
                  <a:spLocks noChangeArrowheads="1"/>
                </p:cNvSpPr>
                <p:nvPr/>
              </p:nvSpPr>
              <p:spPr bwMode="auto">
                <a:xfrm>
                  <a:off x="2308" y="2256"/>
                  <a:ext cx="118" cy="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Valve</a:t>
                  </a:r>
                  <a:endParaRPr lang="en-US" altLang="en-US" dirty="0"/>
                </a:p>
              </p:txBody>
            </p:sp>
            <p:sp>
              <p:nvSpPr>
                <p:cNvPr id="173218" name="Rectangle 162"/>
                <p:cNvSpPr>
                  <a:spLocks noChangeArrowheads="1"/>
                </p:cNvSpPr>
                <p:nvPr/>
              </p:nvSpPr>
              <p:spPr bwMode="auto">
                <a:xfrm>
                  <a:off x="2315" y="1755"/>
                  <a:ext cx="483"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Accumulator </a:t>
                  </a:r>
                  <a:endParaRPr lang="en-US" altLang="en-US" dirty="0"/>
                </a:p>
              </p:txBody>
            </p:sp>
            <p:sp>
              <p:nvSpPr>
                <p:cNvPr id="173219" name="Rectangle 163"/>
                <p:cNvSpPr>
                  <a:spLocks noChangeArrowheads="1"/>
                </p:cNvSpPr>
                <p:nvPr/>
              </p:nvSpPr>
              <p:spPr bwMode="auto">
                <a:xfrm>
                  <a:off x="2436" y="1832"/>
                  <a:ext cx="20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Valve</a:t>
                  </a:r>
                  <a:endParaRPr lang="en-US" altLang="en-US" dirty="0"/>
                </a:p>
              </p:txBody>
            </p:sp>
            <p:sp>
              <p:nvSpPr>
                <p:cNvPr id="173220" name="Rectangle 164"/>
                <p:cNvSpPr>
                  <a:spLocks noChangeArrowheads="1"/>
                </p:cNvSpPr>
                <p:nvPr/>
              </p:nvSpPr>
              <p:spPr bwMode="auto">
                <a:xfrm>
                  <a:off x="2570" y="2270"/>
                  <a:ext cx="43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Mechanical </a:t>
                  </a:r>
                  <a:endParaRPr lang="en-US" altLang="en-US" dirty="0"/>
                </a:p>
              </p:txBody>
            </p:sp>
            <p:sp>
              <p:nvSpPr>
                <p:cNvPr id="173221" name="Rectangle 165"/>
                <p:cNvSpPr>
                  <a:spLocks noChangeArrowheads="1"/>
                </p:cNvSpPr>
                <p:nvPr/>
              </p:nvSpPr>
              <p:spPr bwMode="auto">
                <a:xfrm>
                  <a:off x="2661" y="2347"/>
                  <a:ext cx="203"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a:t>
                  </a:r>
                  <a:endParaRPr lang="en-US" altLang="en-US" dirty="0"/>
                </a:p>
              </p:txBody>
            </p:sp>
            <p:sp>
              <p:nvSpPr>
                <p:cNvPr id="173222" name="Rectangle 166"/>
                <p:cNvSpPr>
                  <a:spLocks noChangeArrowheads="1"/>
                </p:cNvSpPr>
                <p:nvPr/>
              </p:nvSpPr>
              <p:spPr bwMode="auto">
                <a:xfrm>
                  <a:off x="1972" y="1531"/>
                  <a:ext cx="52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Selector Valve</a:t>
                  </a:r>
                  <a:endParaRPr lang="en-US" altLang="en-US" dirty="0"/>
                </a:p>
              </p:txBody>
            </p:sp>
            <p:sp>
              <p:nvSpPr>
                <p:cNvPr id="173223" name="Line 167"/>
                <p:cNvSpPr>
                  <a:spLocks noChangeShapeType="1"/>
                </p:cNvSpPr>
                <p:nvPr/>
              </p:nvSpPr>
              <p:spPr bwMode="auto">
                <a:xfrm flipH="1" flipV="1">
                  <a:off x="1503" y="1506"/>
                  <a:ext cx="0" cy="141"/>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24" name="Line 168"/>
                <p:cNvSpPr>
                  <a:spLocks noChangeShapeType="1"/>
                </p:cNvSpPr>
                <p:nvPr/>
              </p:nvSpPr>
              <p:spPr bwMode="auto">
                <a:xfrm>
                  <a:off x="1176" y="1839"/>
                  <a:ext cx="162" cy="0"/>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25" name="Line 169"/>
                <p:cNvSpPr>
                  <a:spLocks noChangeShapeType="1"/>
                </p:cNvSpPr>
                <p:nvPr/>
              </p:nvSpPr>
              <p:spPr bwMode="auto">
                <a:xfrm flipH="1" flipV="1">
                  <a:off x="1341" y="1839"/>
                  <a:ext cx="0" cy="441"/>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26" name="Line 170"/>
                <p:cNvSpPr>
                  <a:spLocks noChangeShapeType="1"/>
                </p:cNvSpPr>
                <p:nvPr/>
              </p:nvSpPr>
              <p:spPr bwMode="auto">
                <a:xfrm>
                  <a:off x="1179" y="2178"/>
                  <a:ext cx="81" cy="0"/>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27" name="Line 171"/>
                <p:cNvSpPr>
                  <a:spLocks noChangeShapeType="1"/>
                </p:cNvSpPr>
                <p:nvPr/>
              </p:nvSpPr>
              <p:spPr bwMode="auto">
                <a:xfrm flipH="1" flipV="1">
                  <a:off x="1263" y="2178"/>
                  <a:ext cx="0" cy="309"/>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grpSp>
            <p:nvGrpSpPr>
              <p:cNvPr id="10" name="Group 172"/>
              <p:cNvGrpSpPr>
                <a:grpSpLocks/>
              </p:cNvGrpSpPr>
              <p:nvPr/>
            </p:nvGrpSpPr>
            <p:grpSpPr bwMode="auto">
              <a:xfrm>
                <a:off x="519" y="1589"/>
                <a:ext cx="1034" cy="1546"/>
                <a:chOff x="146" y="1282"/>
                <a:chExt cx="1034" cy="1546"/>
              </a:xfrm>
            </p:grpSpPr>
            <p:sp>
              <p:nvSpPr>
                <p:cNvPr id="173229" name="Rectangle 173"/>
                <p:cNvSpPr>
                  <a:spLocks noChangeArrowheads="1"/>
                </p:cNvSpPr>
                <p:nvPr/>
              </p:nvSpPr>
              <p:spPr bwMode="auto">
                <a:xfrm>
                  <a:off x="548" y="1296"/>
                  <a:ext cx="343" cy="11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230" name="Rectangle 174"/>
                <p:cNvSpPr>
                  <a:spLocks noChangeArrowheads="1"/>
                </p:cNvSpPr>
                <p:nvPr/>
              </p:nvSpPr>
              <p:spPr bwMode="auto">
                <a:xfrm>
                  <a:off x="548" y="1282"/>
                  <a:ext cx="630" cy="1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231" name="Line 175"/>
                <p:cNvSpPr>
                  <a:spLocks noChangeShapeType="1"/>
                </p:cNvSpPr>
                <p:nvPr/>
              </p:nvSpPr>
              <p:spPr bwMode="auto">
                <a:xfrm>
                  <a:off x="396" y="1449"/>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232" name="Freeform 176"/>
                <p:cNvSpPr>
                  <a:spLocks/>
                </p:cNvSpPr>
                <p:nvPr/>
              </p:nvSpPr>
              <p:spPr bwMode="auto">
                <a:xfrm>
                  <a:off x="513" y="143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233" name="Line 177"/>
                <p:cNvSpPr>
                  <a:spLocks noChangeShapeType="1"/>
                </p:cNvSpPr>
                <p:nvPr/>
              </p:nvSpPr>
              <p:spPr bwMode="auto">
                <a:xfrm>
                  <a:off x="396" y="1644"/>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234" name="Freeform 178"/>
                <p:cNvSpPr>
                  <a:spLocks/>
                </p:cNvSpPr>
                <p:nvPr/>
              </p:nvSpPr>
              <p:spPr bwMode="auto">
                <a:xfrm>
                  <a:off x="513" y="1632"/>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235" name="Rectangle 179"/>
                <p:cNvSpPr>
                  <a:spLocks noChangeArrowheads="1"/>
                </p:cNvSpPr>
                <p:nvPr/>
              </p:nvSpPr>
              <p:spPr bwMode="auto">
                <a:xfrm>
                  <a:off x="234" y="1365"/>
                  <a:ext cx="303"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A</a:t>
                  </a:r>
                  <a:endParaRPr lang="en-US" altLang="en-US" dirty="0"/>
                </a:p>
              </p:txBody>
            </p:sp>
            <p:sp>
              <p:nvSpPr>
                <p:cNvPr id="173236" name="Rectangle 180"/>
                <p:cNvSpPr>
                  <a:spLocks noChangeArrowheads="1"/>
                </p:cNvSpPr>
                <p:nvPr/>
              </p:nvSpPr>
              <p:spPr bwMode="auto">
                <a:xfrm>
                  <a:off x="271" y="1560"/>
                  <a:ext cx="266"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1</a:t>
                  </a:r>
                  <a:endParaRPr lang="en-US" altLang="en-US" dirty="0"/>
                </a:p>
              </p:txBody>
            </p:sp>
            <p:sp>
              <p:nvSpPr>
                <p:cNvPr id="173237" name="Rectangle 181"/>
                <p:cNvSpPr>
                  <a:spLocks noChangeArrowheads="1"/>
                </p:cNvSpPr>
                <p:nvPr/>
              </p:nvSpPr>
              <p:spPr bwMode="auto">
                <a:xfrm>
                  <a:off x="146" y="1876"/>
                  <a:ext cx="392"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Feed back </a:t>
                  </a:r>
                  <a:endParaRPr lang="en-US" altLang="en-US" dirty="0"/>
                </a:p>
              </p:txBody>
            </p:sp>
            <p:sp>
              <p:nvSpPr>
                <p:cNvPr id="173238" name="Rectangle 182"/>
                <p:cNvSpPr>
                  <a:spLocks noChangeArrowheads="1"/>
                </p:cNvSpPr>
                <p:nvPr/>
              </p:nvSpPr>
              <p:spPr bwMode="auto">
                <a:xfrm>
                  <a:off x="299" y="1770"/>
                  <a:ext cx="18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a:t>
                  </a:r>
                  <a:endParaRPr lang="en-US" altLang="en-US" dirty="0"/>
                </a:p>
              </p:txBody>
            </p:sp>
            <p:sp>
              <p:nvSpPr>
                <p:cNvPr id="173239" name="Rectangle 183"/>
                <p:cNvSpPr>
                  <a:spLocks noChangeArrowheads="1"/>
                </p:cNvSpPr>
                <p:nvPr/>
              </p:nvSpPr>
              <p:spPr bwMode="auto">
                <a:xfrm>
                  <a:off x="706" y="1913"/>
                  <a:ext cx="326"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240" name="Rectangle 184"/>
                <p:cNvSpPr>
                  <a:spLocks noChangeArrowheads="1"/>
                </p:cNvSpPr>
                <p:nvPr/>
              </p:nvSpPr>
              <p:spPr bwMode="auto">
                <a:xfrm>
                  <a:off x="603" y="2460"/>
                  <a:ext cx="52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Fault Tolerant </a:t>
                  </a:r>
                  <a:endParaRPr lang="en-US" altLang="en-US" dirty="0"/>
                </a:p>
              </p:txBody>
            </p:sp>
            <p:sp>
              <p:nvSpPr>
                <p:cNvPr id="173241" name="Rectangle 185"/>
                <p:cNvSpPr>
                  <a:spLocks noChangeArrowheads="1"/>
                </p:cNvSpPr>
                <p:nvPr/>
              </p:nvSpPr>
              <p:spPr bwMode="auto">
                <a:xfrm>
                  <a:off x="623" y="2628"/>
                  <a:ext cx="456"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Control Unit </a:t>
                  </a:r>
                  <a:endParaRPr lang="en-US" altLang="en-US" dirty="0"/>
                </a:p>
              </p:txBody>
            </p:sp>
            <p:sp>
              <p:nvSpPr>
                <p:cNvPr id="173242" name="Rectangle 186"/>
                <p:cNvSpPr>
                  <a:spLocks noChangeArrowheads="1"/>
                </p:cNvSpPr>
                <p:nvPr/>
              </p:nvSpPr>
              <p:spPr bwMode="auto">
                <a:xfrm>
                  <a:off x="706" y="2741"/>
                  <a:ext cx="306"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BSCU )</a:t>
                  </a:r>
                  <a:endParaRPr lang="en-US" altLang="en-US" dirty="0"/>
                </a:p>
              </p:txBody>
            </p:sp>
            <p:sp>
              <p:nvSpPr>
                <p:cNvPr id="173243" name="Rectangle 187"/>
                <p:cNvSpPr>
                  <a:spLocks noChangeArrowheads="1"/>
                </p:cNvSpPr>
                <p:nvPr/>
              </p:nvSpPr>
              <p:spPr bwMode="auto">
                <a:xfrm>
                  <a:off x="580" y="2542"/>
                  <a:ext cx="594"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System </a:t>
                  </a:r>
                  <a:endParaRPr lang="en-US" altLang="en-US" dirty="0"/>
                </a:p>
              </p:txBody>
            </p:sp>
            <p:sp>
              <p:nvSpPr>
                <p:cNvPr id="173244" name="Rectangle 188"/>
                <p:cNvSpPr>
                  <a:spLocks noChangeArrowheads="1"/>
                </p:cNvSpPr>
                <p:nvPr/>
              </p:nvSpPr>
              <p:spPr bwMode="auto">
                <a:xfrm>
                  <a:off x="709" y="1365"/>
                  <a:ext cx="327"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245" name="Rectangle 189"/>
                <p:cNvSpPr>
                  <a:spLocks noChangeArrowheads="1"/>
                </p:cNvSpPr>
                <p:nvPr/>
              </p:nvSpPr>
              <p:spPr bwMode="auto">
                <a:xfrm>
                  <a:off x="857" y="1492"/>
                  <a:ext cx="24"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 </a:t>
                  </a:r>
                  <a:endParaRPr lang="en-US" altLang="en-US" sz="900" dirty="0"/>
                </a:p>
              </p:txBody>
            </p:sp>
            <p:sp>
              <p:nvSpPr>
                <p:cNvPr id="173246" name="Line 190"/>
                <p:cNvSpPr>
                  <a:spLocks noChangeShapeType="1"/>
                </p:cNvSpPr>
                <p:nvPr/>
              </p:nvSpPr>
              <p:spPr bwMode="auto">
                <a:xfrm>
                  <a:off x="391" y="2258"/>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247" name="Freeform 191"/>
                <p:cNvSpPr>
                  <a:spLocks/>
                </p:cNvSpPr>
                <p:nvPr/>
              </p:nvSpPr>
              <p:spPr bwMode="auto">
                <a:xfrm>
                  <a:off x="508" y="224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248" name="Rectangle 192"/>
                <p:cNvSpPr>
                  <a:spLocks noChangeArrowheads="1"/>
                </p:cNvSpPr>
                <p:nvPr/>
              </p:nvSpPr>
              <p:spPr bwMode="auto">
                <a:xfrm>
                  <a:off x="229" y="2174"/>
                  <a:ext cx="303"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B</a:t>
                  </a:r>
                  <a:endParaRPr lang="en-US" altLang="en-US" dirty="0"/>
                </a:p>
              </p:txBody>
            </p:sp>
            <p:sp>
              <p:nvSpPr>
                <p:cNvPr id="173249" name="Line 193"/>
                <p:cNvSpPr>
                  <a:spLocks noChangeShapeType="1"/>
                </p:cNvSpPr>
                <p:nvPr/>
              </p:nvSpPr>
              <p:spPr bwMode="auto">
                <a:xfrm>
                  <a:off x="556" y="144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0" name="Freeform 194"/>
                <p:cNvSpPr>
                  <a:spLocks/>
                </p:cNvSpPr>
                <p:nvPr/>
              </p:nvSpPr>
              <p:spPr bwMode="auto">
                <a:xfrm>
                  <a:off x="377" y="1816"/>
                  <a:ext cx="171" cy="84"/>
                </a:xfrm>
                <a:custGeom>
                  <a:avLst/>
                  <a:gdLst>
                    <a:gd name="T0" fmla="*/ 171 w 171"/>
                    <a:gd name="T1" fmla="*/ 42 h 84"/>
                    <a:gd name="T2" fmla="*/ 133 w 171"/>
                    <a:gd name="T3" fmla="*/ 84 h 84"/>
                    <a:gd name="T4" fmla="*/ 133 w 171"/>
                    <a:gd name="T5" fmla="*/ 57 h 84"/>
                    <a:gd name="T6" fmla="*/ 0 w 171"/>
                    <a:gd name="T7" fmla="*/ 57 h 84"/>
                    <a:gd name="T8" fmla="*/ 0 w 171"/>
                    <a:gd name="T9" fmla="*/ 28 h 84"/>
                    <a:gd name="T10" fmla="*/ 133 w 171"/>
                    <a:gd name="T11" fmla="*/ 28 h 84"/>
                    <a:gd name="T12" fmla="*/ 133 w 171"/>
                    <a:gd name="T13" fmla="*/ 0 h 84"/>
                    <a:gd name="T14" fmla="*/ 171 w 171"/>
                    <a:gd name="T15" fmla="*/ 42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1" h="84">
                      <a:moveTo>
                        <a:pt x="171" y="42"/>
                      </a:moveTo>
                      <a:lnTo>
                        <a:pt x="133" y="84"/>
                      </a:lnTo>
                      <a:lnTo>
                        <a:pt x="133" y="57"/>
                      </a:lnTo>
                      <a:lnTo>
                        <a:pt x="0" y="57"/>
                      </a:lnTo>
                      <a:lnTo>
                        <a:pt x="0" y="28"/>
                      </a:lnTo>
                      <a:lnTo>
                        <a:pt x="133" y="28"/>
                      </a:lnTo>
                      <a:lnTo>
                        <a:pt x="133" y="0"/>
                      </a:lnTo>
                      <a:lnTo>
                        <a:pt x="171" y="42"/>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251" name="Line 195"/>
                <p:cNvSpPr>
                  <a:spLocks noChangeShapeType="1"/>
                </p:cNvSpPr>
                <p:nvPr/>
              </p:nvSpPr>
              <p:spPr bwMode="auto">
                <a:xfrm>
                  <a:off x="399" y="2121"/>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252" name="Freeform 196"/>
                <p:cNvSpPr>
                  <a:spLocks/>
                </p:cNvSpPr>
                <p:nvPr/>
              </p:nvSpPr>
              <p:spPr bwMode="auto">
                <a:xfrm>
                  <a:off x="516" y="2109"/>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253" name="Rectangle 197"/>
                <p:cNvSpPr>
                  <a:spLocks noChangeArrowheads="1"/>
                </p:cNvSpPr>
                <p:nvPr/>
              </p:nvSpPr>
              <p:spPr bwMode="auto">
                <a:xfrm>
                  <a:off x="274" y="2038"/>
                  <a:ext cx="266"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2</a:t>
                  </a:r>
                  <a:endParaRPr lang="en-US" altLang="en-US" dirty="0"/>
                </a:p>
              </p:txBody>
            </p:sp>
            <p:sp>
              <p:nvSpPr>
                <p:cNvPr id="173254" name="Line 198"/>
                <p:cNvSpPr>
                  <a:spLocks noChangeShapeType="1"/>
                </p:cNvSpPr>
                <p:nvPr/>
              </p:nvSpPr>
              <p:spPr bwMode="auto">
                <a:xfrm>
                  <a:off x="550" y="225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5" name="Line 199"/>
                <p:cNvSpPr>
                  <a:spLocks noChangeShapeType="1"/>
                </p:cNvSpPr>
                <p:nvPr/>
              </p:nvSpPr>
              <p:spPr bwMode="auto">
                <a:xfrm>
                  <a:off x="550" y="1643"/>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6" name="Line 200"/>
                <p:cNvSpPr>
                  <a:spLocks noChangeShapeType="1"/>
                </p:cNvSpPr>
                <p:nvPr/>
              </p:nvSpPr>
              <p:spPr bwMode="auto">
                <a:xfrm>
                  <a:off x="550" y="2120"/>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7" name="Line 201"/>
                <p:cNvSpPr>
                  <a:spLocks noChangeShapeType="1"/>
                </p:cNvSpPr>
                <p:nvPr/>
              </p:nvSpPr>
              <p:spPr bwMode="auto">
                <a:xfrm>
                  <a:off x="649" y="2069"/>
                  <a:ext cx="57"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8" name="Line 202"/>
                <p:cNvSpPr>
                  <a:spLocks noChangeShapeType="1"/>
                </p:cNvSpPr>
                <p:nvPr/>
              </p:nvSpPr>
              <p:spPr bwMode="auto">
                <a:xfrm>
                  <a:off x="1057" y="1682"/>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9" name="Line 203"/>
                <p:cNvSpPr>
                  <a:spLocks noChangeShapeType="1"/>
                </p:cNvSpPr>
                <p:nvPr/>
              </p:nvSpPr>
              <p:spPr bwMode="auto">
                <a:xfrm>
                  <a:off x="610" y="1594"/>
                  <a:ext cx="9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0" name="Line 204"/>
                <p:cNvSpPr>
                  <a:spLocks noChangeShapeType="1"/>
                </p:cNvSpPr>
                <p:nvPr/>
              </p:nvSpPr>
              <p:spPr bwMode="auto">
                <a:xfrm flipH="1">
                  <a:off x="610" y="1608"/>
                  <a:ext cx="0" cy="513"/>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1" name="Line 205"/>
                <p:cNvSpPr>
                  <a:spLocks noChangeShapeType="1"/>
                </p:cNvSpPr>
                <p:nvPr/>
              </p:nvSpPr>
              <p:spPr bwMode="auto">
                <a:xfrm>
                  <a:off x="549" y="1859"/>
                  <a:ext cx="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2" name="Line 206"/>
                <p:cNvSpPr>
                  <a:spLocks noChangeShapeType="1"/>
                </p:cNvSpPr>
                <p:nvPr/>
              </p:nvSpPr>
              <p:spPr bwMode="auto">
                <a:xfrm flipH="1">
                  <a:off x="579" y="1525"/>
                  <a:ext cx="0" cy="666"/>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3" name="Line 207"/>
                <p:cNvSpPr>
                  <a:spLocks noChangeShapeType="1"/>
                </p:cNvSpPr>
                <p:nvPr/>
              </p:nvSpPr>
              <p:spPr bwMode="auto">
                <a:xfrm>
                  <a:off x="579" y="1524"/>
                  <a:ext cx="1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4" name="Line 208"/>
                <p:cNvSpPr>
                  <a:spLocks noChangeShapeType="1"/>
                </p:cNvSpPr>
                <p:nvPr/>
              </p:nvSpPr>
              <p:spPr bwMode="auto">
                <a:xfrm flipV="1">
                  <a:off x="579" y="2189"/>
                  <a:ext cx="12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5" name="Rectangle 209"/>
                <p:cNvSpPr>
                  <a:spLocks noChangeArrowheads="1"/>
                </p:cNvSpPr>
                <p:nvPr/>
              </p:nvSpPr>
              <p:spPr bwMode="auto">
                <a:xfrm>
                  <a:off x="706" y="2032"/>
                  <a:ext cx="30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B</a:t>
                  </a:r>
                  <a:endParaRPr lang="en-US" altLang="en-US" sz="900" dirty="0"/>
                </a:p>
              </p:txBody>
            </p:sp>
            <p:sp>
              <p:nvSpPr>
                <p:cNvPr id="173266" name="Line 210"/>
                <p:cNvSpPr>
                  <a:spLocks noChangeShapeType="1"/>
                </p:cNvSpPr>
                <p:nvPr/>
              </p:nvSpPr>
              <p:spPr bwMode="auto">
                <a:xfrm flipV="1">
                  <a:off x="1038" y="1445"/>
                  <a:ext cx="100"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7" name="Line 211"/>
                <p:cNvSpPr>
                  <a:spLocks noChangeShapeType="1"/>
                </p:cNvSpPr>
                <p:nvPr/>
              </p:nvSpPr>
              <p:spPr bwMode="auto">
                <a:xfrm flipV="1">
                  <a:off x="1038" y="1555"/>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8" name="Line 212"/>
                <p:cNvSpPr>
                  <a:spLocks noChangeShapeType="1"/>
                </p:cNvSpPr>
                <p:nvPr/>
              </p:nvSpPr>
              <p:spPr bwMode="auto">
                <a:xfrm>
                  <a:off x="1036" y="1682"/>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9" name="Line 213"/>
                <p:cNvSpPr>
                  <a:spLocks noChangeShapeType="1"/>
                </p:cNvSpPr>
                <p:nvPr/>
              </p:nvSpPr>
              <p:spPr bwMode="auto">
                <a:xfrm>
                  <a:off x="1037" y="2001"/>
                  <a:ext cx="90"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0" name="Line 214"/>
                <p:cNvSpPr>
                  <a:spLocks noChangeShapeType="1"/>
                </p:cNvSpPr>
                <p:nvPr/>
              </p:nvSpPr>
              <p:spPr bwMode="auto">
                <a:xfrm flipV="1">
                  <a:off x="1037" y="2111"/>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1" name="Line 215"/>
                <p:cNvSpPr>
                  <a:spLocks noChangeShapeType="1"/>
                </p:cNvSpPr>
                <p:nvPr/>
              </p:nvSpPr>
              <p:spPr bwMode="auto">
                <a:xfrm flipV="1">
                  <a:off x="1035" y="2237"/>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2" name="Line 216"/>
                <p:cNvSpPr>
                  <a:spLocks noChangeShapeType="1"/>
                </p:cNvSpPr>
                <p:nvPr/>
              </p:nvSpPr>
              <p:spPr bwMode="auto">
                <a:xfrm>
                  <a:off x="1089" y="1841"/>
                  <a:ext cx="91"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3" name="Line 217"/>
                <p:cNvSpPr>
                  <a:spLocks noChangeShapeType="1"/>
                </p:cNvSpPr>
                <p:nvPr/>
              </p:nvSpPr>
              <p:spPr bwMode="auto">
                <a:xfrm>
                  <a:off x="646" y="1650"/>
                  <a:ext cx="6" cy="41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4" name="Line 218"/>
                <p:cNvSpPr>
                  <a:spLocks noChangeShapeType="1"/>
                </p:cNvSpPr>
                <p:nvPr/>
              </p:nvSpPr>
              <p:spPr bwMode="auto">
                <a:xfrm>
                  <a:off x="1127" y="1444"/>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5" name="Line 219"/>
                <p:cNvSpPr>
                  <a:spLocks noChangeShapeType="1"/>
                </p:cNvSpPr>
                <p:nvPr/>
              </p:nvSpPr>
              <p:spPr bwMode="auto">
                <a:xfrm flipV="1">
                  <a:off x="1127" y="1515"/>
                  <a:ext cx="5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6" name="Line 220"/>
                <p:cNvSpPr>
                  <a:spLocks noChangeShapeType="1"/>
                </p:cNvSpPr>
                <p:nvPr/>
              </p:nvSpPr>
              <p:spPr bwMode="auto">
                <a:xfrm>
                  <a:off x="1089" y="1554"/>
                  <a:ext cx="3" cy="555"/>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7" name="Line 221"/>
                <p:cNvSpPr>
                  <a:spLocks noChangeShapeType="1"/>
                </p:cNvSpPr>
                <p:nvPr/>
              </p:nvSpPr>
              <p:spPr bwMode="auto">
                <a:xfrm>
                  <a:off x="1057" y="2177"/>
                  <a:ext cx="12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grpSp>
        <p:sp>
          <p:nvSpPr>
            <p:cNvPr id="173278" name="Rectangle 222"/>
            <p:cNvSpPr>
              <a:spLocks noChangeArrowheads="1"/>
            </p:cNvSpPr>
            <p:nvPr/>
          </p:nvSpPr>
          <p:spPr bwMode="auto">
            <a:xfrm>
              <a:off x="1610" y="3711"/>
              <a:ext cx="2445"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1600" b="1" dirty="0">
                  <a:solidFill>
                    <a:schemeClr val="tx2"/>
                  </a:solidFill>
                  <a:latin typeface="+mn-lt"/>
                </a:rPr>
                <a:t>Model of the Digital System + </a:t>
              </a:r>
            </a:p>
            <a:p>
              <a:pPr algn="ctr"/>
              <a:r>
                <a:rPr lang="en-US" altLang="en-US" sz="1600" b="1" dirty="0">
                  <a:solidFill>
                    <a:schemeClr val="tx2"/>
                  </a:solidFill>
                  <a:latin typeface="+mn-lt"/>
                </a:rPr>
                <a:t>Model of the Mechanical System</a:t>
              </a:r>
            </a:p>
          </p:txBody>
        </p:sp>
      </p:grpSp>
      <p:sp>
        <p:nvSpPr>
          <p:cNvPr id="3" name="Rounded Rectangular Callout 2"/>
          <p:cNvSpPr/>
          <p:nvPr/>
        </p:nvSpPr>
        <p:spPr>
          <a:xfrm>
            <a:off x="2971800" y="1886952"/>
            <a:ext cx="1511955" cy="1008648"/>
          </a:xfrm>
          <a:prstGeom prst="wedgeRoundRectCallout">
            <a:avLst>
              <a:gd name="adj1" fmla="val -91177"/>
              <a:gd name="adj2" fmla="val 19643"/>
              <a:gd name="adj3" fmla="val 1666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spcBef>
                <a:spcPct val="20000"/>
              </a:spcBef>
              <a:buClr>
                <a:srgbClr val="FFD300"/>
              </a:buClr>
              <a:buSzPct val="59000"/>
              <a:buFont typeface="Monotype Sorts" pitchFamily="2" charset="2"/>
              <a:buNone/>
            </a:pPr>
            <a:r>
              <a:rPr lang="en-US" altLang="en-US" sz="1200" dirty="0">
                <a:solidFill>
                  <a:schemeClr val="accent2"/>
                </a:solidFill>
              </a:rPr>
              <a:t>Verify safety properties of the nominal digital system</a:t>
            </a:r>
          </a:p>
        </p:txBody>
      </p:sp>
      <p:sp>
        <p:nvSpPr>
          <p:cNvPr id="220" name="Rounded Rectangular Callout 219"/>
          <p:cNvSpPr/>
          <p:nvPr/>
        </p:nvSpPr>
        <p:spPr>
          <a:xfrm>
            <a:off x="7391400" y="4494680"/>
            <a:ext cx="1511955" cy="1008648"/>
          </a:xfrm>
          <a:prstGeom prst="wedgeRoundRectCallout">
            <a:avLst>
              <a:gd name="adj1" fmla="val -91177"/>
              <a:gd name="adj2" fmla="val 19643"/>
              <a:gd name="adj3" fmla="val 1666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spcBef>
                <a:spcPct val="20000"/>
              </a:spcBef>
              <a:buClr>
                <a:srgbClr val="FFD300"/>
              </a:buClr>
              <a:buSzPct val="59000"/>
              <a:buFont typeface="Monotype Sorts" pitchFamily="2" charset="2"/>
              <a:buNone/>
            </a:pPr>
            <a:r>
              <a:rPr lang="en-US" altLang="en-US" sz="1200" dirty="0">
                <a:solidFill>
                  <a:schemeClr val="accent2"/>
                </a:solidFill>
              </a:rPr>
              <a:t>Verify safety properties of the nominal</a:t>
            </a:r>
            <a:r>
              <a:rPr lang="en-US" altLang="en-US" sz="1200" dirty="0" smtClean="0">
                <a:solidFill>
                  <a:schemeClr val="accent2"/>
                </a:solidFill>
              </a:rPr>
              <a:t> mechanical system</a:t>
            </a:r>
            <a:endParaRPr lang="en-US" altLang="en-US" sz="1200" dirty="0">
              <a:solidFill>
                <a:schemeClr val="accent2"/>
              </a:solidFill>
            </a:endParaRPr>
          </a:p>
        </p:txBody>
      </p:sp>
      <p:sp>
        <p:nvSpPr>
          <p:cNvPr id="216" name="Titel 1"/>
          <p:cNvSpPr>
            <a:spLocks noGrp="1"/>
          </p:cNvSpPr>
          <p:nvPr>
            <p:ph type="title"/>
          </p:nvPr>
        </p:nvSpPr>
        <p:spPr>
          <a:xfrm>
            <a:off x="762000" y="609600"/>
            <a:ext cx="7772400" cy="503237"/>
          </a:xfrm>
        </p:spPr>
        <p:txBody>
          <a:bodyPr/>
          <a:lstStyle/>
          <a:p>
            <a:r>
              <a:rPr lang="de-DE" sz="2400" dirty="0" smtClean="0"/>
              <a:t>Nominal System Model</a:t>
            </a:r>
            <a:endParaRPr lang="de-DE" sz="2400" dirty="0"/>
          </a:p>
        </p:txBody>
      </p:sp>
      <p:sp>
        <p:nvSpPr>
          <p:cNvPr id="2" name="Slide Number Placeholder 1"/>
          <p:cNvSpPr>
            <a:spLocks noGrp="1"/>
          </p:cNvSpPr>
          <p:nvPr>
            <p:ph type="sldNum" sz="quarter" idx="10"/>
          </p:nvPr>
        </p:nvSpPr>
        <p:spPr/>
        <p:txBody>
          <a:bodyPr/>
          <a:lstStyle/>
          <a:p>
            <a:pPr>
              <a:defRPr/>
            </a:pPr>
            <a:fld id="{0913AD8B-6753-4D8D-9DCF-DBA38AAB592C}" type="slidenum">
              <a:rPr lang="en-US" smtClean="0"/>
              <a:pPr>
                <a:defRPr/>
              </a:pPr>
              <a:t>26</a:t>
            </a:fld>
            <a:endParaRPr lang="en-US"/>
          </a:p>
        </p:txBody>
      </p:sp>
    </p:spTree>
    <p:extLst>
      <p:ext uri="{BB962C8B-B14F-4D97-AF65-F5344CB8AC3E}">
        <p14:creationId xmlns:p14="http://schemas.microsoft.com/office/powerpoint/2010/main" val="22653298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2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38604"/>
          </a:xfrm>
        </p:spPr>
        <p:txBody>
          <a:bodyPr>
            <a:normAutofit/>
          </a:bodyPr>
          <a:lstStyle/>
          <a:p>
            <a:r>
              <a:rPr lang="en-US" dirty="0" smtClean="0"/>
              <a:t>Wheel Brake System</a:t>
            </a:r>
            <a:endParaRPr lang="en-US" dirty="0"/>
          </a:p>
        </p:txBody>
      </p:sp>
      <p:pic>
        <p:nvPicPr>
          <p:cNvPr id="4" name="Content Placeholder 3" descr="wbs_sae.ppm"/>
          <p:cNvPicPr>
            <a:picLocks noGrp="1" noChangeAspect="1"/>
          </p:cNvPicPr>
          <p:nvPr>
            <p:ph idx="1"/>
          </p:nvPr>
        </p:nvPicPr>
        <p:blipFill>
          <a:blip r:embed="rId3"/>
          <a:srcRect l="-25397" r="-25397"/>
          <a:stretch>
            <a:fillRect/>
          </a:stretch>
        </p:blipFill>
        <p:spPr>
          <a:xfrm>
            <a:off x="1" y="1127344"/>
            <a:ext cx="9317322" cy="5219106"/>
          </a:xfrm>
        </p:spPr>
      </p:pic>
      <p:sp>
        <p:nvSpPr>
          <p:cNvPr id="3" name="Slide Number Placeholder 2"/>
          <p:cNvSpPr>
            <a:spLocks noGrp="1"/>
          </p:cNvSpPr>
          <p:nvPr>
            <p:ph type="sldNum" sz="quarter" idx="10"/>
          </p:nvPr>
        </p:nvSpPr>
        <p:spPr/>
        <p:txBody>
          <a:bodyPr/>
          <a:lstStyle/>
          <a:p>
            <a:pPr>
              <a:defRPr/>
            </a:pPr>
            <a:fld id="{7486D9C8-0CDB-4BF0-99FF-D7490CE4EFA3}" type="slidenum">
              <a:rPr lang="en-US" smtClean="0"/>
              <a:pPr>
                <a:defRPr/>
              </a:pPr>
              <a:t>27</a:t>
            </a:fld>
            <a:endParaRPr lang="en-US"/>
          </a:p>
        </p:txBody>
      </p:sp>
    </p:spTree>
    <p:extLst>
      <p:ext uri="{BB962C8B-B14F-4D97-AF65-F5344CB8AC3E}">
        <p14:creationId xmlns:p14="http://schemas.microsoft.com/office/powerpoint/2010/main" val="34861354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4825"/>
            <a:ext cx="8305800" cy="503237"/>
          </a:xfrm>
        </p:spPr>
        <p:txBody>
          <a:bodyPr>
            <a:normAutofit/>
          </a:bodyPr>
          <a:lstStyle/>
          <a:p>
            <a:r>
              <a:rPr lang="en-US" dirty="0" smtClean="0"/>
              <a:t>Architecture Analysis and Design Language (AADL)</a:t>
            </a:r>
            <a:endParaRPr lang="en-US" dirty="0"/>
          </a:p>
        </p:txBody>
      </p:sp>
      <p:sp>
        <p:nvSpPr>
          <p:cNvPr id="19" name="Rectangle 18"/>
          <p:cNvSpPr/>
          <p:nvPr/>
        </p:nvSpPr>
        <p:spPr>
          <a:xfrm>
            <a:off x="1447800" y="4953000"/>
            <a:ext cx="6477000"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smtClean="0"/>
              <a:t>AADL = SAE AS5506 standard</a:t>
            </a:r>
          </a:p>
          <a:p>
            <a:pPr marL="285750" indent="-285750">
              <a:buFont typeface="Arial" panose="020B0604020202020204" pitchFamily="34" charset="0"/>
              <a:buChar char="•"/>
            </a:pPr>
            <a:r>
              <a:rPr lang="en-US" sz="1600" dirty="0" smtClean="0"/>
              <a:t>Target: Embedded, real-time, distributed systems</a:t>
            </a:r>
          </a:p>
          <a:p>
            <a:pPr marL="285750" indent="-285750">
              <a:buFont typeface="Arial" panose="020B0604020202020204" pitchFamily="34" charset="0"/>
              <a:buChar char="•"/>
            </a:pPr>
            <a:r>
              <a:rPr lang="en-US" sz="1600" dirty="0" smtClean="0"/>
              <a:t>Describes both hardware and software</a:t>
            </a:r>
          </a:p>
          <a:p>
            <a:pPr marL="285750" indent="-285750">
              <a:buFont typeface="Arial" panose="020B0604020202020204" pitchFamily="34" charset="0"/>
              <a:buChar char="•"/>
            </a:pPr>
            <a:r>
              <a:rPr lang="en-US" sz="1600" dirty="0" smtClean="0"/>
              <a:t>Extensible syntax (annex)</a:t>
            </a:r>
          </a:p>
          <a:p>
            <a:pPr marL="285750" indent="-285750">
              <a:buFont typeface="Arial" panose="020B0604020202020204" pitchFamily="34" charset="0"/>
              <a:buChar char="•"/>
            </a:pPr>
            <a:r>
              <a:rPr lang="en-US" sz="1600" dirty="0" smtClean="0"/>
              <a:t>Open source tools, supported by SEI</a:t>
            </a:r>
            <a:endParaRPr lang="en-US" sz="1600" dirty="0"/>
          </a:p>
        </p:txBody>
      </p:sp>
      <p:grpSp>
        <p:nvGrpSpPr>
          <p:cNvPr id="3" name="Group 3"/>
          <p:cNvGrpSpPr/>
          <p:nvPr/>
        </p:nvGrpSpPr>
        <p:grpSpPr>
          <a:xfrm>
            <a:off x="533400" y="1676400"/>
            <a:ext cx="5734646" cy="3030224"/>
            <a:chOff x="1371600" y="1389376"/>
            <a:chExt cx="6553200" cy="3462753"/>
          </a:xfrm>
        </p:grpSpPr>
        <p:pic>
          <p:nvPicPr>
            <p:cNvPr id="21"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1600" y="1389376"/>
              <a:ext cx="6553200" cy="3462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24" descr="pixhawk.jpg"/>
            <p:cNvPicPr>
              <a:picLocks noChangeAspect="1"/>
            </p:cNvPicPr>
            <p:nvPr/>
          </p:nvPicPr>
          <p:blipFill>
            <a:blip r:embed="rId4"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297057" y="3581400"/>
              <a:ext cx="838200" cy="838200"/>
            </a:xfrm>
            <a:prstGeom prst="rect">
              <a:avLst/>
            </a:prstGeom>
          </p:spPr>
        </p:pic>
        <p:pic>
          <p:nvPicPr>
            <p:cNvPr id="26" name="Picture 2" descr="http://dn.odroid.com/homebackup/ODROID-XU3.jpg"/>
            <p:cNvPicPr>
              <a:picLocks noChangeAspect="1" noChangeArrowheads="1"/>
            </p:cNvPicPr>
            <p:nvPr/>
          </p:nvPicPr>
          <p:blipFill>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724400" y="3581400"/>
              <a:ext cx="1161394" cy="67360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2049"/>
          <p:cNvGrpSpPr/>
          <p:nvPr/>
        </p:nvGrpSpPr>
        <p:grpSpPr>
          <a:xfrm>
            <a:off x="4343400" y="1371600"/>
            <a:ext cx="4595523" cy="2080852"/>
            <a:chOff x="4343400" y="1371600"/>
            <a:chExt cx="4595523" cy="2080852"/>
          </a:xfrm>
        </p:grpSpPr>
        <p:pic>
          <p:nvPicPr>
            <p:cNvPr id="27"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1371600"/>
              <a:ext cx="3604923" cy="2080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8" name="Straight Connector 27"/>
            <p:cNvCxnSpPr/>
            <p:nvPr/>
          </p:nvCxnSpPr>
          <p:spPr>
            <a:xfrm flipV="1">
              <a:off x="4343400" y="1381126"/>
              <a:ext cx="1511930" cy="447674"/>
            </a:xfrm>
            <a:prstGeom prst="line">
              <a:avLst/>
            </a:prstGeom>
            <a:ln w="57150">
              <a:solidFill>
                <a:srgbClr val="FFC000"/>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343400" y="2514600"/>
              <a:ext cx="1447800" cy="838200"/>
            </a:xfrm>
            <a:prstGeom prst="line">
              <a:avLst/>
            </a:prstGeom>
            <a:ln w="57150">
              <a:solidFill>
                <a:srgbClr val="FFC000"/>
              </a:solidFill>
              <a:prstDash val="sysDot"/>
            </a:ln>
          </p:spPr>
          <p:style>
            <a:lnRef idx="1">
              <a:schemeClr val="accent1"/>
            </a:lnRef>
            <a:fillRef idx="0">
              <a:schemeClr val="accent1"/>
            </a:fillRef>
            <a:effectRef idx="0">
              <a:schemeClr val="accent1"/>
            </a:effectRef>
            <a:fontRef idx="minor">
              <a:schemeClr val="tx1"/>
            </a:fontRef>
          </p:style>
        </p:cxnSp>
      </p:grpSp>
      <p:sp>
        <p:nvSpPr>
          <p:cNvPr id="5" name="Slide Number Placeholder 4"/>
          <p:cNvSpPr>
            <a:spLocks noGrp="1"/>
          </p:cNvSpPr>
          <p:nvPr>
            <p:ph type="sldNum" sz="quarter" idx="10"/>
          </p:nvPr>
        </p:nvSpPr>
        <p:spPr/>
        <p:txBody>
          <a:bodyPr/>
          <a:lstStyle/>
          <a:p>
            <a:pPr>
              <a:defRPr/>
            </a:pPr>
            <a:fld id="{7486D9C8-0CDB-4BF0-99FF-D7490CE4EFA3}" type="slidenum">
              <a:rPr lang="en-US" smtClean="0"/>
              <a:pPr>
                <a:defRPr/>
              </a:pPr>
              <a:t>28</a:t>
            </a:fld>
            <a:endParaRPr lang="en-US"/>
          </a:p>
        </p:txBody>
      </p:sp>
    </p:spTree>
    <p:extLst>
      <p:ext uri="{BB962C8B-B14F-4D97-AF65-F5344CB8AC3E}">
        <p14:creationId xmlns:p14="http://schemas.microsoft.com/office/powerpoint/2010/main" val="2081583261"/>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71600"/>
            <a:ext cx="1905000" cy="1066800"/>
          </a:xfrm>
        </p:spPr>
        <p:txBody>
          <a:bodyPr>
            <a:normAutofit fontScale="90000"/>
          </a:bodyPr>
          <a:lstStyle/>
          <a:p>
            <a:r>
              <a:rPr lang="en-US" dirty="0" smtClean="0"/>
              <a:t>WBS AADL Model (Overview)</a:t>
            </a:r>
            <a:endParaRPr lang="en-US" dirty="0"/>
          </a:p>
        </p:txBody>
      </p:sp>
      <p:pic>
        <p:nvPicPr>
          <p:cNvPr id="4" name="Content Placeholder 3" descr="wbs_aadl.png"/>
          <p:cNvPicPr>
            <a:picLocks noGrp="1" noChangeAspect="1"/>
          </p:cNvPicPr>
          <p:nvPr>
            <p:ph idx="1"/>
          </p:nvPr>
        </p:nvPicPr>
        <p:blipFill>
          <a:blip r:embed="rId3"/>
          <a:srcRect l="-46366" r="-46366"/>
          <a:stretch>
            <a:fillRect/>
          </a:stretch>
        </p:blipFill>
        <p:spPr>
          <a:xfrm>
            <a:off x="-606629" y="685800"/>
            <a:ext cx="10665029" cy="6012491"/>
          </a:xfrm>
        </p:spPr>
      </p:pic>
      <p:sp>
        <p:nvSpPr>
          <p:cNvPr id="3" name="Slide Number Placeholder 2"/>
          <p:cNvSpPr>
            <a:spLocks noGrp="1"/>
          </p:cNvSpPr>
          <p:nvPr>
            <p:ph type="sldNum" sz="quarter" idx="10"/>
          </p:nvPr>
        </p:nvSpPr>
        <p:spPr/>
        <p:txBody>
          <a:bodyPr/>
          <a:lstStyle/>
          <a:p>
            <a:pPr>
              <a:defRPr/>
            </a:pPr>
            <a:fld id="{7486D9C8-0CDB-4BF0-99FF-D7490CE4EFA3}" type="slidenum">
              <a:rPr lang="en-US" smtClean="0"/>
              <a:pPr>
                <a:defRPr/>
              </a:pPr>
              <a:t>29</a:t>
            </a:fld>
            <a:endParaRPr lang="en-US"/>
          </a:p>
        </p:txBody>
      </p:sp>
    </p:spTree>
    <p:extLst>
      <p:ext uri="{BB962C8B-B14F-4D97-AF65-F5344CB8AC3E}">
        <p14:creationId xmlns:p14="http://schemas.microsoft.com/office/powerpoint/2010/main" val="11534705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bs_aadl_bscu.png"/>
          <p:cNvPicPr>
            <a:picLocks noChangeAspect="1"/>
          </p:cNvPicPr>
          <p:nvPr/>
        </p:nvPicPr>
        <p:blipFill>
          <a:blip r:embed="rId2"/>
          <a:stretch>
            <a:fillRect/>
          </a:stretch>
        </p:blipFill>
        <p:spPr>
          <a:xfrm>
            <a:off x="1752600" y="609600"/>
            <a:ext cx="5638799" cy="6248400"/>
          </a:xfrm>
          <a:prstGeom prst="rect">
            <a:avLst/>
          </a:prstGeom>
        </p:spPr>
      </p:pic>
      <p:sp>
        <p:nvSpPr>
          <p:cNvPr id="3" name="Title 1"/>
          <p:cNvSpPr txBox="1">
            <a:spLocks/>
          </p:cNvSpPr>
          <p:nvPr/>
        </p:nvSpPr>
        <p:spPr>
          <a:xfrm>
            <a:off x="0" y="1371600"/>
            <a:ext cx="1905000" cy="1066800"/>
          </a:xfrm>
          <a:prstGeom prst="rect">
            <a:avLst/>
          </a:prstGeom>
        </p:spPr>
        <p:txBody>
          <a:bodyPr>
            <a:normAutofit lnSpcReduction="10000"/>
          </a:bodyPr>
          <a:lstStyle>
            <a:lvl1pPr algn="l" rtl="0" eaLnBrk="1" fontAlgn="base" hangingPunct="1">
              <a:spcBef>
                <a:spcPct val="0"/>
              </a:spcBef>
              <a:spcAft>
                <a:spcPct val="0"/>
              </a:spcAft>
              <a:defRPr sz="2200" b="1">
                <a:solidFill>
                  <a:srgbClr val="777777"/>
                </a:solidFill>
                <a:latin typeface="+mj-lt"/>
                <a:ea typeface="+mj-ea"/>
                <a:cs typeface="+mj-cs"/>
              </a:defRPr>
            </a:lvl1pPr>
            <a:lvl2pPr algn="l" rtl="0" eaLnBrk="1" fontAlgn="base" hangingPunct="1">
              <a:spcBef>
                <a:spcPct val="0"/>
              </a:spcBef>
              <a:spcAft>
                <a:spcPct val="0"/>
              </a:spcAft>
              <a:defRPr sz="2200" b="1">
                <a:solidFill>
                  <a:srgbClr val="777777"/>
                </a:solidFill>
                <a:latin typeface="Verdana" pitchFamily="34" charset="0"/>
                <a:cs typeface="Arial" charset="0"/>
              </a:defRPr>
            </a:lvl2pPr>
            <a:lvl3pPr algn="l" rtl="0" eaLnBrk="1" fontAlgn="base" hangingPunct="1">
              <a:spcBef>
                <a:spcPct val="0"/>
              </a:spcBef>
              <a:spcAft>
                <a:spcPct val="0"/>
              </a:spcAft>
              <a:defRPr sz="2200" b="1">
                <a:solidFill>
                  <a:srgbClr val="777777"/>
                </a:solidFill>
                <a:latin typeface="Verdana" pitchFamily="34" charset="0"/>
                <a:cs typeface="Arial" charset="0"/>
              </a:defRPr>
            </a:lvl3pPr>
            <a:lvl4pPr algn="l" rtl="0" eaLnBrk="1" fontAlgn="base" hangingPunct="1">
              <a:spcBef>
                <a:spcPct val="0"/>
              </a:spcBef>
              <a:spcAft>
                <a:spcPct val="0"/>
              </a:spcAft>
              <a:defRPr sz="2200" b="1">
                <a:solidFill>
                  <a:srgbClr val="777777"/>
                </a:solidFill>
                <a:latin typeface="Verdana" pitchFamily="34" charset="0"/>
                <a:cs typeface="Arial" charset="0"/>
              </a:defRPr>
            </a:lvl4pPr>
            <a:lvl5pPr algn="l" rtl="0" eaLnBrk="1" fontAlgn="base" hangingPunct="1">
              <a:spcBef>
                <a:spcPct val="0"/>
              </a:spcBef>
              <a:spcAft>
                <a:spcPct val="0"/>
              </a:spcAft>
              <a:defRPr sz="2200" b="1">
                <a:solidFill>
                  <a:srgbClr val="777777"/>
                </a:solidFill>
                <a:latin typeface="Verdana" pitchFamily="34" charset="0"/>
                <a:cs typeface="Arial" charset="0"/>
              </a:defRPr>
            </a:lvl5pPr>
            <a:lvl6pPr marL="457200" algn="l" rtl="0" eaLnBrk="1" fontAlgn="base" hangingPunct="1">
              <a:spcBef>
                <a:spcPct val="0"/>
              </a:spcBef>
              <a:spcAft>
                <a:spcPct val="0"/>
              </a:spcAft>
              <a:defRPr sz="2200" b="1">
                <a:solidFill>
                  <a:srgbClr val="777777"/>
                </a:solidFill>
                <a:latin typeface="Verdana" pitchFamily="34" charset="0"/>
                <a:cs typeface="Arial" charset="0"/>
              </a:defRPr>
            </a:lvl6pPr>
            <a:lvl7pPr marL="914400" algn="l" rtl="0" eaLnBrk="1" fontAlgn="base" hangingPunct="1">
              <a:spcBef>
                <a:spcPct val="0"/>
              </a:spcBef>
              <a:spcAft>
                <a:spcPct val="0"/>
              </a:spcAft>
              <a:defRPr sz="2200" b="1">
                <a:solidFill>
                  <a:srgbClr val="777777"/>
                </a:solidFill>
                <a:latin typeface="Verdana" pitchFamily="34" charset="0"/>
                <a:cs typeface="Arial" charset="0"/>
              </a:defRPr>
            </a:lvl7pPr>
            <a:lvl8pPr marL="1371600" algn="l" rtl="0" eaLnBrk="1" fontAlgn="base" hangingPunct="1">
              <a:spcBef>
                <a:spcPct val="0"/>
              </a:spcBef>
              <a:spcAft>
                <a:spcPct val="0"/>
              </a:spcAft>
              <a:defRPr sz="2200" b="1">
                <a:solidFill>
                  <a:srgbClr val="777777"/>
                </a:solidFill>
                <a:latin typeface="Verdana" pitchFamily="34" charset="0"/>
                <a:cs typeface="Arial" charset="0"/>
              </a:defRPr>
            </a:lvl8pPr>
            <a:lvl9pPr marL="1828800" algn="l" rtl="0" eaLnBrk="1" fontAlgn="base" hangingPunct="1">
              <a:spcBef>
                <a:spcPct val="0"/>
              </a:spcBef>
              <a:spcAft>
                <a:spcPct val="0"/>
              </a:spcAft>
              <a:defRPr sz="2200" b="1">
                <a:solidFill>
                  <a:srgbClr val="777777"/>
                </a:solidFill>
                <a:latin typeface="Verdana" pitchFamily="34" charset="0"/>
                <a:cs typeface="Arial" charset="0"/>
              </a:defRPr>
            </a:lvl9pPr>
          </a:lstStyle>
          <a:p>
            <a:r>
              <a:rPr lang="en-US" kern="0" dirty="0" smtClean="0"/>
              <a:t>WBS AADL Model</a:t>
            </a:r>
          </a:p>
          <a:p>
            <a:r>
              <a:rPr lang="en-US" kern="0" dirty="0" smtClean="0"/>
              <a:t>(BSCU)</a:t>
            </a:r>
            <a:endParaRPr lang="en-US" kern="0" dirty="0"/>
          </a:p>
        </p:txBody>
      </p:sp>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30</a:t>
            </a:fld>
            <a:endParaRPr lang="en-US"/>
          </a:p>
        </p:txBody>
      </p:sp>
    </p:spTree>
    <p:extLst>
      <p:ext uri="{BB962C8B-B14F-4D97-AF65-F5344CB8AC3E}">
        <p14:creationId xmlns:p14="http://schemas.microsoft.com/office/powerpoint/2010/main" val="12514531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Picture 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1524000"/>
            <a:ext cx="3048000" cy="1890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Group 94"/>
          <p:cNvGrpSpPr/>
          <p:nvPr/>
        </p:nvGrpSpPr>
        <p:grpSpPr>
          <a:xfrm>
            <a:off x="1836396" y="2628900"/>
            <a:ext cx="3661087" cy="3870187"/>
            <a:chOff x="1836396" y="2628900"/>
            <a:chExt cx="3661087" cy="3870187"/>
          </a:xfrm>
        </p:grpSpPr>
        <p:grpSp>
          <p:nvGrpSpPr>
            <p:cNvPr id="5" name="Group 95"/>
            <p:cNvGrpSpPr/>
            <p:nvPr/>
          </p:nvGrpSpPr>
          <p:grpSpPr>
            <a:xfrm>
              <a:off x="1873646" y="2628900"/>
              <a:ext cx="1110265" cy="533400"/>
              <a:chOff x="1129973" y="1950482"/>
              <a:chExt cx="1110265" cy="533400"/>
            </a:xfrm>
          </p:grpSpPr>
          <p:grpSp>
            <p:nvGrpSpPr>
              <p:cNvPr id="6" name="Group 102"/>
              <p:cNvGrpSpPr/>
              <p:nvPr/>
            </p:nvGrpSpPr>
            <p:grpSpPr>
              <a:xfrm flipH="1">
                <a:off x="1129973" y="1950482"/>
                <a:ext cx="1110265" cy="533400"/>
                <a:chOff x="6640902" y="1295400"/>
                <a:chExt cx="1110265" cy="533400"/>
              </a:xfrm>
            </p:grpSpPr>
            <p:sp>
              <p:nvSpPr>
                <p:cNvPr id="105" name="Rectangle 104"/>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06" name="Oval 105"/>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07" name="Rectangle 106"/>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08" name="Rectangle 107"/>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04" name="TextBox 103"/>
              <p:cNvSpPr txBox="1"/>
              <p:nvPr/>
            </p:nvSpPr>
            <p:spPr>
              <a:xfrm>
                <a:off x="1165880" y="1960662"/>
                <a:ext cx="947695" cy="523220"/>
              </a:xfrm>
              <a:prstGeom prst="rect">
                <a:avLst/>
              </a:prstGeom>
              <a:noFill/>
            </p:spPr>
            <p:txBody>
              <a:bodyPr wrap="non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smtClean="0">
                    <a:ln>
                      <a:noFill/>
                    </a:ln>
                    <a:solidFill>
                      <a:srgbClr val="000000"/>
                    </a:solidFill>
                    <a:effectLst/>
                    <a:uLnTx/>
                    <a:uFillTx/>
                    <a:latin typeface="Lucida Console" pitchFamily="49" charset="0"/>
                    <a:ea typeface="ＭＳ Ｐゴシック" pitchFamily="34" charset="-128"/>
                    <a:cs typeface="Times New Roman" pitchFamily="18" charset="0"/>
                  </a:rPr>
                  <a:t>Trusted</a:t>
                </a:r>
              </a:p>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smtClean="0">
                    <a:ln>
                      <a:noFill/>
                    </a:ln>
                    <a:solidFill>
                      <a:srgbClr val="000000"/>
                    </a:solidFill>
                    <a:effectLst/>
                    <a:uLnTx/>
                    <a:uFillTx/>
                    <a:latin typeface="Lucida Console" pitchFamily="49" charset="0"/>
                    <a:ea typeface="ＭＳ Ｐゴシック" pitchFamily="34" charset="-128"/>
                    <a:cs typeface="Times New Roman" pitchFamily="18" charset="0"/>
                  </a:rPr>
                  <a:t>Build</a:t>
                </a:r>
              </a:p>
            </p:txBody>
          </p:sp>
        </p:grpSp>
        <p:grpSp>
          <p:nvGrpSpPr>
            <p:cNvPr id="7" name="Group 96"/>
            <p:cNvGrpSpPr/>
            <p:nvPr/>
          </p:nvGrpSpPr>
          <p:grpSpPr>
            <a:xfrm>
              <a:off x="1836396" y="3000374"/>
              <a:ext cx="3661087" cy="3498713"/>
              <a:chOff x="1836396" y="3000374"/>
              <a:chExt cx="3661087" cy="3498713"/>
            </a:xfrm>
          </p:grpSpPr>
          <p:pic>
            <p:nvPicPr>
              <p:cNvPr id="98" name="Picture 3" descr="C:\Users\ddcofer\AppData\Local\Microsoft\Windows\Temporary Internet Files\Content.IE5\HWJ81UGS\MC900389552[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74805" y="4544457"/>
                <a:ext cx="900112" cy="930275"/>
              </a:xfrm>
              <a:prstGeom prst="rect">
                <a:avLst/>
              </a:prstGeom>
              <a:noFill/>
              <a:extLst>
                <a:ext uri="{909E8E84-426E-40DD-AFC4-6F175D3DCCD1}">
                  <a14:hiddenFill xmlns:a14="http://schemas.microsoft.com/office/drawing/2010/main">
                    <a:solidFill>
                      <a:srgbClr val="FFFFFF"/>
                    </a:solidFill>
                  </a14:hiddenFill>
                </a:ext>
              </a:extLst>
            </p:spPr>
          </p:pic>
          <p:sp>
            <p:nvSpPr>
              <p:cNvPr id="99" name="TextBox 98"/>
              <p:cNvSpPr txBox="1"/>
              <p:nvPr/>
            </p:nvSpPr>
            <p:spPr>
              <a:xfrm>
                <a:off x="2563025" y="4114800"/>
                <a:ext cx="293445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Verdana"/>
                    <a:ea typeface="ＭＳ Ｐゴシック" pitchFamily="34" charset="-128"/>
                    <a:cs typeface="Arial"/>
                  </a:rPr>
                  <a:t>Architecture Translation</a:t>
                </a:r>
              </a:p>
            </p:txBody>
          </p:sp>
          <p:sp>
            <p:nvSpPr>
              <p:cNvPr id="100" name="Freeform 99"/>
              <p:cNvSpPr/>
              <p:nvPr/>
            </p:nvSpPr>
            <p:spPr>
              <a:xfrm>
                <a:off x="1836396" y="3000374"/>
                <a:ext cx="1883808" cy="1082159"/>
              </a:xfrm>
              <a:custGeom>
                <a:avLst/>
                <a:gdLst>
                  <a:gd name="connsiteX0" fmla="*/ 105442 w 2210467"/>
                  <a:gd name="connsiteY0" fmla="*/ 0 h 866775"/>
                  <a:gd name="connsiteX1" fmla="*/ 191167 w 2210467"/>
                  <a:gd name="connsiteY1" fmla="*/ 333375 h 866775"/>
                  <a:gd name="connsiteX2" fmla="*/ 1858042 w 2210467"/>
                  <a:gd name="connsiteY2" fmla="*/ 609600 h 866775"/>
                  <a:gd name="connsiteX3" fmla="*/ 2210467 w 2210467"/>
                  <a:gd name="connsiteY3" fmla="*/ 866775 h 866775"/>
                  <a:gd name="connsiteX0" fmla="*/ 89354 w 2232479"/>
                  <a:gd name="connsiteY0" fmla="*/ 0 h 914400"/>
                  <a:gd name="connsiteX1" fmla="*/ 213179 w 2232479"/>
                  <a:gd name="connsiteY1" fmla="*/ 381000 h 914400"/>
                  <a:gd name="connsiteX2" fmla="*/ 1880054 w 2232479"/>
                  <a:gd name="connsiteY2" fmla="*/ 657225 h 914400"/>
                  <a:gd name="connsiteX3" fmla="*/ 2232479 w 2232479"/>
                  <a:gd name="connsiteY3" fmla="*/ 914400 h 914400"/>
                  <a:gd name="connsiteX0" fmla="*/ 74468 w 2217593"/>
                  <a:gd name="connsiteY0" fmla="*/ 0 h 914400"/>
                  <a:gd name="connsiteX1" fmla="*/ 198293 w 2217593"/>
                  <a:gd name="connsiteY1" fmla="*/ 381000 h 914400"/>
                  <a:gd name="connsiteX2" fmla="*/ 1865168 w 2217593"/>
                  <a:gd name="connsiteY2" fmla="*/ 657225 h 914400"/>
                  <a:gd name="connsiteX3" fmla="*/ 2217593 w 2217593"/>
                  <a:gd name="connsiteY3" fmla="*/ 914400 h 914400"/>
                  <a:gd name="connsiteX0" fmla="*/ 78130 w 2221255"/>
                  <a:gd name="connsiteY0" fmla="*/ 0 h 914400"/>
                  <a:gd name="connsiteX1" fmla="*/ 201955 w 2221255"/>
                  <a:gd name="connsiteY1" fmla="*/ 381000 h 914400"/>
                  <a:gd name="connsiteX2" fmla="*/ 1868830 w 2221255"/>
                  <a:gd name="connsiteY2" fmla="*/ 657225 h 914400"/>
                  <a:gd name="connsiteX3" fmla="*/ 2221255 w 222125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2221255" h="914400">
                    <a:moveTo>
                      <a:pt x="78130" y="0"/>
                    </a:moveTo>
                    <a:cubicBezTo>
                      <a:pt x="3517" y="77787"/>
                      <a:pt x="-96495" y="271463"/>
                      <a:pt x="201955" y="381000"/>
                    </a:cubicBezTo>
                    <a:cubicBezTo>
                      <a:pt x="500405" y="490538"/>
                      <a:pt x="1532280" y="568325"/>
                      <a:pt x="1868830" y="657225"/>
                    </a:cubicBezTo>
                    <a:cubicBezTo>
                      <a:pt x="2205380" y="746125"/>
                      <a:pt x="2213317" y="830262"/>
                      <a:pt x="2221255" y="914400"/>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01" name="TextBox 100"/>
              <p:cNvSpPr txBox="1"/>
              <p:nvPr/>
            </p:nvSpPr>
            <p:spPr>
              <a:xfrm>
                <a:off x="3225271" y="5486400"/>
                <a:ext cx="853119"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rgbClr val="000000"/>
                    </a:solidFill>
                    <a:effectLst/>
                    <a:uLnTx/>
                    <a:uFillTx/>
                    <a:latin typeface="Verdana"/>
                    <a:ea typeface="ＭＳ Ｐゴシック" pitchFamily="34" charset="-128"/>
                    <a:cs typeface="Arial"/>
                  </a:rPr>
                  <a:t>seL4</a:t>
                </a:r>
              </a:p>
            </p:txBody>
          </p:sp>
          <p:sp>
            <p:nvSpPr>
              <p:cNvPr id="102" name="TextBox 101"/>
              <p:cNvSpPr txBox="1"/>
              <p:nvPr/>
            </p:nvSpPr>
            <p:spPr>
              <a:xfrm>
                <a:off x="3200400" y="5791201"/>
                <a:ext cx="138371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rgbClr val="000000"/>
                    </a:solidFill>
                    <a:effectLst/>
                    <a:uLnTx/>
                    <a:uFillTx/>
                    <a:ea typeface="ＭＳ Ｐゴシック" pitchFamily="34" charset="-128"/>
                    <a:cs typeface="Arial"/>
                  </a:rPr>
                  <a:t>eChronos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rgbClr val="000000"/>
                    </a:solidFill>
                    <a:effectLst/>
                    <a:uLnTx/>
                    <a:uFillTx/>
                    <a:ea typeface="ＭＳ Ｐゴシック" pitchFamily="34" charset="-128"/>
                    <a:cs typeface="Arial"/>
                  </a:rPr>
                  <a:t>VxWorks</a:t>
                </a:r>
              </a:p>
            </p:txBody>
          </p:sp>
        </p:grpSp>
      </p:grpSp>
      <p:grpSp>
        <p:nvGrpSpPr>
          <p:cNvPr id="8" name="Group 108"/>
          <p:cNvGrpSpPr/>
          <p:nvPr/>
        </p:nvGrpSpPr>
        <p:grpSpPr>
          <a:xfrm>
            <a:off x="5035675" y="4126468"/>
            <a:ext cx="3651125" cy="2277770"/>
            <a:chOff x="5035675" y="4126468"/>
            <a:chExt cx="3651125" cy="2277770"/>
          </a:xfrm>
        </p:grpSpPr>
        <p:grpSp>
          <p:nvGrpSpPr>
            <p:cNvPr id="9" name="Group 109"/>
            <p:cNvGrpSpPr/>
            <p:nvPr/>
          </p:nvGrpSpPr>
          <p:grpSpPr>
            <a:xfrm>
              <a:off x="6028890" y="4474379"/>
              <a:ext cx="2657910" cy="1181292"/>
              <a:chOff x="4038600" y="3886200"/>
              <a:chExt cx="4800601" cy="2133600"/>
            </a:xfrm>
          </p:grpSpPr>
          <p:sp>
            <p:nvSpPr>
              <p:cNvPr id="113" name="Rectangle 112"/>
              <p:cNvSpPr/>
              <p:nvPr/>
            </p:nvSpPr>
            <p:spPr>
              <a:xfrm>
                <a:off x="4038600" y="3886200"/>
                <a:ext cx="4800599" cy="2133600"/>
              </a:xfrm>
              <a:prstGeom prst="rect">
                <a:avLst/>
              </a:prstGeom>
              <a:solidFill>
                <a:srgbClr val="F8F8F8"/>
              </a:solidFill>
              <a:ln w="25400" cap="flat" cmpd="sng" algn="ctr">
                <a:solidFill>
                  <a:schemeClr val="tx2"/>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0000"/>
                  </a:solidFill>
                  <a:effectLst/>
                  <a:uLnTx/>
                  <a:uFillTx/>
                  <a:latin typeface="Verdana"/>
                  <a:ea typeface="ＭＳ Ｐゴシック"/>
                  <a:cs typeface="Arial"/>
                </a:endParaRPr>
              </a:p>
            </p:txBody>
          </p:sp>
          <p:cxnSp>
            <p:nvCxnSpPr>
              <p:cNvPr id="114" name="Straight Connector 113"/>
              <p:cNvCxnSpPr>
                <a:stCxn id="127" idx="0"/>
                <a:endCxn id="136" idx="3"/>
              </p:cNvCxnSpPr>
              <p:nvPr/>
            </p:nvCxnSpPr>
            <p:spPr>
              <a:xfrm>
                <a:off x="4090988" y="4279900"/>
                <a:ext cx="357187" cy="3175"/>
              </a:xfrm>
              <a:prstGeom prst="line">
                <a:avLst/>
              </a:prstGeom>
              <a:noFill/>
              <a:ln w="9525" cap="flat" cmpd="sng" algn="ctr">
                <a:solidFill>
                  <a:srgbClr val="000000">
                    <a:shade val="95000"/>
                    <a:satMod val="105000"/>
                  </a:srgbClr>
                </a:solidFill>
                <a:prstDash val="solid"/>
              </a:ln>
              <a:effectLst/>
            </p:spPr>
          </p:cxnSp>
          <p:cxnSp>
            <p:nvCxnSpPr>
              <p:cNvPr id="115" name="Straight Connector 34"/>
              <p:cNvCxnSpPr>
                <a:stCxn id="137" idx="0"/>
                <a:endCxn id="133" idx="3"/>
              </p:cNvCxnSpPr>
              <p:nvPr/>
            </p:nvCxnSpPr>
            <p:spPr>
              <a:xfrm>
                <a:off x="5562601" y="4283075"/>
                <a:ext cx="333375" cy="1125538"/>
              </a:xfrm>
              <a:prstGeom prst="bentConnector3">
                <a:avLst>
                  <a:gd name="adj1" fmla="val 50000"/>
                </a:avLst>
              </a:prstGeom>
              <a:noFill/>
              <a:ln w="9525" cap="flat" cmpd="sng" algn="ctr">
                <a:solidFill>
                  <a:srgbClr val="000000">
                    <a:shade val="95000"/>
                    <a:satMod val="105000"/>
                  </a:srgbClr>
                </a:solidFill>
                <a:prstDash val="solid"/>
              </a:ln>
              <a:effectLst/>
            </p:spPr>
          </p:cxnSp>
          <p:cxnSp>
            <p:nvCxnSpPr>
              <p:cNvPr id="116" name="Straight Connector 36"/>
              <p:cNvCxnSpPr>
                <a:stCxn id="134" idx="0"/>
                <a:endCxn id="129" idx="3"/>
              </p:cNvCxnSpPr>
              <p:nvPr/>
            </p:nvCxnSpPr>
            <p:spPr>
              <a:xfrm flipV="1">
                <a:off x="7010401" y="4487069"/>
                <a:ext cx="380999" cy="921544"/>
              </a:xfrm>
              <a:prstGeom prst="bentConnector3">
                <a:avLst>
                  <a:gd name="adj1" fmla="val 50000"/>
                </a:avLst>
              </a:prstGeom>
              <a:noFill/>
              <a:ln w="9525" cap="flat" cmpd="sng" algn="ctr">
                <a:solidFill>
                  <a:srgbClr val="000000">
                    <a:shade val="95000"/>
                    <a:satMod val="105000"/>
                  </a:srgbClr>
                </a:solidFill>
                <a:prstDash val="solid"/>
              </a:ln>
              <a:effectLst/>
            </p:spPr>
          </p:cxnSp>
          <p:cxnSp>
            <p:nvCxnSpPr>
              <p:cNvPr id="117" name="Straight Connector 116"/>
              <p:cNvCxnSpPr>
                <a:stCxn id="137" idx="0"/>
                <a:endCxn id="130" idx="3"/>
              </p:cNvCxnSpPr>
              <p:nvPr/>
            </p:nvCxnSpPr>
            <p:spPr>
              <a:xfrm flipV="1">
                <a:off x="5562601" y="4282283"/>
                <a:ext cx="1828799" cy="792"/>
              </a:xfrm>
              <a:prstGeom prst="line">
                <a:avLst/>
              </a:prstGeom>
              <a:noFill/>
              <a:ln w="9525" cap="flat" cmpd="sng" algn="ctr">
                <a:solidFill>
                  <a:srgbClr val="000000">
                    <a:shade val="95000"/>
                    <a:satMod val="105000"/>
                  </a:srgbClr>
                </a:solidFill>
                <a:prstDash val="solid"/>
              </a:ln>
              <a:effectLst/>
            </p:spPr>
          </p:cxnSp>
          <p:cxnSp>
            <p:nvCxnSpPr>
              <p:cNvPr id="118" name="Straight Connector 117"/>
              <p:cNvCxnSpPr>
                <a:stCxn id="131" idx="0"/>
                <a:endCxn id="122" idx="3"/>
              </p:cNvCxnSpPr>
              <p:nvPr/>
            </p:nvCxnSpPr>
            <p:spPr>
              <a:xfrm>
                <a:off x="8504238" y="4384675"/>
                <a:ext cx="282576" cy="0"/>
              </a:xfrm>
              <a:prstGeom prst="line">
                <a:avLst/>
              </a:prstGeom>
              <a:noFill/>
              <a:ln w="9525" cap="flat" cmpd="sng" algn="ctr">
                <a:solidFill>
                  <a:srgbClr val="000000">
                    <a:shade val="95000"/>
                    <a:satMod val="105000"/>
                  </a:srgbClr>
                </a:solidFill>
                <a:prstDash val="solid"/>
              </a:ln>
              <a:effectLst/>
            </p:spPr>
          </p:cxnSp>
          <p:grpSp>
            <p:nvGrpSpPr>
              <p:cNvPr id="10" name="Group 118"/>
              <p:cNvGrpSpPr/>
              <p:nvPr/>
            </p:nvGrpSpPr>
            <p:grpSpPr>
              <a:xfrm>
                <a:off x="4448175" y="3975100"/>
                <a:ext cx="1114425" cy="614363"/>
                <a:chOff x="3800475" y="4076700"/>
                <a:chExt cx="1114425" cy="614363"/>
              </a:xfrm>
            </p:grpSpPr>
            <p:sp>
              <p:nvSpPr>
                <p:cNvPr id="135" name="Rectangle 134"/>
                <p:cNvSpPr>
                  <a:spLocks noChangeArrowheads="1"/>
                </p:cNvSpPr>
                <p:nvPr/>
              </p:nvSpPr>
              <p:spPr bwMode="auto">
                <a:xfrm>
                  <a:off x="3800475" y="4076700"/>
                  <a:ext cx="1114425" cy="614363"/>
                </a:xfrm>
                <a:prstGeom prst="rect">
                  <a:avLst/>
                </a:prstGeom>
                <a:solidFill>
                  <a:srgbClr val="EEB10F"/>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smtClean="0">
                      <a:ln>
                        <a:noFill/>
                      </a:ln>
                      <a:solidFill>
                        <a:srgbClr val="FFFFFF"/>
                      </a:solidFill>
                      <a:effectLst/>
                      <a:uLnTx/>
                      <a:uFillTx/>
                      <a:latin typeface="Verdana" pitchFamily="34" charset="0"/>
                      <a:ea typeface="ＭＳ Ｐゴシック" pitchFamily="34" charset="-128"/>
                      <a:cs typeface="Arial"/>
                    </a:rPr>
                    <a:t>A</a:t>
                  </a:r>
                </a:p>
              </p:txBody>
            </p:sp>
            <p:sp>
              <p:nvSpPr>
                <p:cNvPr id="136" name="Isosceles Triangle 135"/>
                <p:cNvSpPr>
                  <a:spLocks noChangeArrowheads="1"/>
                </p:cNvSpPr>
                <p:nvPr/>
              </p:nvSpPr>
              <p:spPr bwMode="auto">
                <a:xfrm rot="5400000">
                  <a:off x="3801269" y="4358481"/>
                  <a:ext cx="50800"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37" name="Isosceles Triangle 136"/>
                <p:cNvSpPr>
                  <a:spLocks noChangeArrowheads="1"/>
                </p:cNvSpPr>
                <p:nvPr/>
              </p:nvSpPr>
              <p:spPr bwMode="auto">
                <a:xfrm rot="5400000">
                  <a:off x="4862513" y="4357687"/>
                  <a:ext cx="50800" cy="53975"/>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grpSp>
          <p:grpSp>
            <p:nvGrpSpPr>
              <p:cNvPr id="11" name="Group 119"/>
              <p:cNvGrpSpPr/>
              <p:nvPr/>
            </p:nvGrpSpPr>
            <p:grpSpPr>
              <a:xfrm>
                <a:off x="5884862" y="5075238"/>
                <a:ext cx="1125538" cy="614362"/>
                <a:chOff x="5486400" y="5075238"/>
                <a:chExt cx="1125538" cy="614362"/>
              </a:xfrm>
            </p:grpSpPr>
            <p:sp>
              <p:nvSpPr>
                <p:cNvPr id="132" name="Rectangle 131"/>
                <p:cNvSpPr>
                  <a:spLocks noChangeArrowheads="1"/>
                </p:cNvSpPr>
                <p:nvPr/>
              </p:nvSpPr>
              <p:spPr bwMode="auto">
                <a:xfrm>
                  <a:off x="5486400" y="5075238"/>
                  <a:ext cx="1114425" cy="614362"/>
                </a:xfrm>
                <a:prstGeom prst="rect">
                  <a:avLst/>
                </a:prstGeom>
                <a:solidFill>
                  <a:srgbClr val="EEB10F"/>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smtClean="0">
                      <a:ln>
                        <a:noFill/>
                      </a:ln>
                      <a:solidFill>
                        <a:srgbClr val="FFFFFF"/>
                      </a:solidFill>
                      <a:effectLst/>
                      <a:uLnTx/>
                      <a:uFillTx/>
                      <a:latin typeface="Verdana" pitchFamily="34" charset="0"/>
                      <a:ea typeface="ＭＳ Ｐゴシック" pitchFamily="34" charset="-128"/>
                      <a:cs typeface="Arial"/>
                    </a:rPr>
                    <a:t>B</a:t>
                  </a:r>
                </a:p>
              </p:txBody>
            </p:sp>
            <p:sp>
              <p:nvSpPr>
                <p:cNvPr id="133" name="Isosceles Triangle 132"/>
                <p:cNvSpPr>
                  <a:spLocks noChangeArrowheads="1"/>
                </p:cNvSpPr>
                <p:nvPr/>
              </p:nvSpPr>
              <p:spPr bwMode="auto">
                <a:xfrm rot="5400000">
                  <a:off x="5498307" y="5382419"/>
                  <a:ext cx="50800" cy="52387"/>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34" name="Isosceles Triangle 133"/>
                <p:cNvSpPr>
                  <a:spLocks noChangeArrowheads="1"/>
                </p:cNvSpPr>
                <p:nvPr/>
              </p:nvSpPr>
              <p:spPr bwMode="auto">
                <a:xfrm rot="5400000">
                  <a:off x="6559551" y="5381625"/>
                  <a:ext cx="50800" cy="53975"/>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grpSp>
          <p:grpSp>
            <p:nvGrpSpPr>
              <p:cNvPr id="12" name="Group 120"/>
              <p:cNvGrpSpPr/>
              <p:nvPr/>
            </p:nvGrpSpPr>
            <p:grpSpPr>
              <a:xfrm>
                <a:off x="7391400" y="4051300"/>
                <a:ext cx="1112838" cy="614363"/>
                <a:chOff x="7248525" y="4051300"/>
                <a:chExt cx="1112838" cy="614363"/>
              </a:xfrm>
            </p:grpSpPr>
            <p:sp>
              <p:nvSpPr>
                <p:cNvPr id="128" name="Rectangle 127"/>
                <p:cNvSpPr>
                  <a:spLocks noChangeArrowheads="1"/>
                </p:cNvSpPr>
                <p:nvPr/>
              </p:nvSpPr>
              <p:spPr bwMode="auto">
                <a:xfrm>
                  <a:off x="7248525" y="4051300"/>
                  <a:ext cx="1112838" cy="614363"/>
                </a:xfrm>
                <a:prstGeom prst="rect">
                  <a:avLst/>
                </a:prstGeom>
                <a:solidFill>
                  <a:srgbClr val="EEB10F"/>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smtClean="0">
                      <a:ln>
                        <a:noFill/>
                      </a:ln>
                      <a:solidFill>
                        <a:srgbClr val="FFFFFF"/>
                      </a:solidFill>
                      <a:effectLst/>
                      <a:uLnTx/>
                      <a:uFillTx/>
                      <a:latin typeface="Verdana" pitchFamily="34" charset="0"/>
                      <a:ea typeface="ＭＳ Ｐゴシック" pitchFamily="34" charset="-128"/>
                      <a:cs typeface="Arial"/>
                    </a:rPr>
                    <a:t>C</a:t>
                  </a:r>
                </a:p>
              </p:txBody>
            </p:sp>
            <p:sp>
              <p:nvSpPr>
                <p:cNvPr id="129" name="Isosceles Triangle 128"/>
                <p:cNvSpPr>
                  <a:spLocks noChangeArrowheads="1"/>
                </p:cNvSpPr>
                <p:nvPr/>
              </p:nvSpPr>
              <p:spPr bwMode="auto">
                <a:xfrm rot="5400000">
                  <a:off x="7248525" y="4460875"/>
                  <a:ext cx="52388"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30" name="Isosceles Triangle 129"/>
                <p:cNvSpPr>
                  <a:spLocks noChangeArrowheads="1"/>
                </p:cNvSpPr>
                <p:nvPr/>
              </p:nvSpPr>
              <p:spPr bwMode="auto">
                <a:xfrm rot="5400000">
                  <a:off x="7248525" y="4256088"/>
                  <a:ext cx="52387"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31" name="Isosceles Triangle 130"/>
                <p:cNvSpPr>
                  <a:spLocks noChangeArrowheads="1"/>
                </p:cNvSpPr>
                <p:nvPr/>
              </p:nvSpPr>
              <p:spPr bwMode="auto">
                <a:xfrm rot="5400000">
                  <a:off x="8309769" y="4358481"/>
                  <a:ext cx="50800"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grpSp>
          <p:sp>
            <p:nvSpPr>
              <p:cNvPr id="122" name="Isosceles Triangle 121"/>
              <p:cNvSpPr>
                <a:spLocks noChangeArrowheads="1"/>
              </p:cNvSpPr>
              <p:nvPr/>
            </p:nvSpPr>
            <p:spPr bwMode="auto">
              <a:xfrm rot="5400000">
                <a:off x="8787607" y="4358481"/>
                <a:ext cx="50800" cy="52387"/>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23" name="TextBox 43"/>
              <p:cNvSpPr txBox="1">
                <a:spLocks noChangeArrowheads="1"/>
              </p:cNvSpPr>
              <p:nvPr/>
            </p:nvSpPr>
            <p:spPr bwMode="auto">
              <a:xfrm>
                <a:off x="4227513" y="4572000"/>
                <a:ext cx="1639889" cy="333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Assumption: Input &lt; 20</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Guarantee: Output &lt; 2*Input</a:t>
                </a:r>
              </a:p>
            </p:txBody>
          </p:sp>
          <p:sp>
            <p:nvSpPr>
              <p:cNvPr id="124" name="TextBox 44"/>
              <p:cNvSpPr txBox="1">
                <a:spLocks noChangeArrowheads="1"/>
              </p:cNvSpPr>
              <p:nvPr/>
            </p:nvSpPr>
            <p:spPr bwMode="auto">
              <a:xfrm>
                <a:off x="5724524" y="5654675"/>
                <a:ext cx="1743075" cy="333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Assumption: Input &lt; 20</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Guarantee: Output &lt; Input + 15</a:t>
                </a:r>
              </a:p>
            </p:txBody>
          </p:sp>
          <p:sp>
            <p:nvSpPr>
              <p:cNvPr id="125" name="TextBox 45"/>
              <p:cNvSpPr txBox="1">
                <a:spLocks noChangeArrowheads="1"/>
              </p:cNvSpPr>
              <p:nvPr/>
            </p:nvSpPr>
            <p:spPr bwMode="auto">
              <a:xfrm>
                <a:off x="7300912" y="4648200"/>
                <a:ext cx="1538287" cy="333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Assumption: none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Guarantee: Output = Input1 + Input2</a:t>
                </a:r>
              </a:p>
            </p:txBody>
          </p:sp>
          <p:sp>
            <p:nvSpPr>
              <p:cNvPr id="126" name="TextBox 46"/>
              <p:cNvSpPr txBox="1">
                <a:spLocks noChangeArrowheads="1"/>
              </p:cNvSpPr>
              <p:nvPr/>
            </p:nvSpPr>
            <p:spPr bwMode="auto">
              <a:xfrm>
                <a:off x="7443790" y="5650467"/>
                <a:ext cx="1395411" cy="333536"/>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Assumption: Input &lt; 10</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Guarantee: Output &lt; 50</a:t>
                </a:r>
              </a:p>
            </p:txBody>
          </p:sp>
          <p:sp>
            <p:nvSpPr>
              <p:cNvPr id="127" name="Isosceles Triangle 17"/>
              <p:cNvSpPr>
                <a:spLocks noChangeArrowheads="1"/>
              </p:cNvSpPr>
              <p:nvPr/>
            </p:nvSpPr>
            <p:spPr bwMode="auto">
              <a:xfrm rot="5400000">
                <a:off x="4039394" y="4253706"/>
                <a:ext cx="50800"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grpSp>
        <p:sp>
          <p:nvSpPr>
            <p:cNvPr id="111" name="TextBox 110"/>
            <p:cNvSpPr txBox="1"/>
            <p:nvPr/>
          </p:nvSpPr>
          <p:spPr>
            <a:xfrm>
              <a:off x="6019800" y="4126468"/>
              <a:ext cx="261962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Verdana"/>
                  <a:ea typeface="ＭＳ Ｐゴシック" pitchFamily="34" charset="-128"/>
                  <a:cs typeface="Arial"/>
                </a:rPr>
                <a:t>Architecture Analysis</a:t>
              </a:r>
            </a:p>
          </p:txBody>
        </p:sp>
        <p:pic>
          <p:nvPicPr>
            <p:cNvPr id="112" name="Picture 2" descr="C:\Users\ddcofer\Documents\Projects\hacms\svn_smaccm\meetings\2013-July-PI-meeting\slides\Rockwell\resolute_screen_shots\verbose_graph.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35675" y="5090293"/>
              <a:ext cx="1796847" cy="13139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37"/>
          <p:cNvGrpSpPr/>
          <p:nvPr/>
        </p:nvGrpSpPr>
        <p:grpSpPr>
          <a:xfrm>
            <a:off x="306132" y="1752600"/>
            <a:ext cx="2624822" cy="4304874"/>
            <a:chOff x="306132" y="1752600"/>
            <a:chExt cx="2624822" cy="4304874"/>
          </a:xfrm>
        </p:grpSpPr>
        <p:grpSp>
          <p:nvGrpSpPr>
            <p:cNvPr id="14" name="Group 138"/>
            <p:cNvGrpSpPr/>
            <p:nvPr/>
          </p:nvGrpSpPr>
          <p:grpSpPr>
            <a:xfrm>
              <a:off x="457200" y="1752600"/>
              <a:ext cx="2473754" cy="2895601"/>
              <a:chOff x="457200" y="1752600"/>
              <a:chExt cx="2473754" cy="2895601"/>
            </a:xfrm>
          </p:grpSpPr>
          <p:pic>
            <p:nvPicPr>
              <p:cNvPr id="141" name="Picture 2" descr="https://encrypted-tbn0.gstatic.com/images?q=tbn:ANd9GcQyR5lXe_e8Fx9HyDitWCJgBJAjBpV0KbUBCI4CfK9l44Rg0zi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267200"/>
                <a:ext cx="1476375" cy="381001"/>
              </a:xfrm>
              <a:prstGeom prst="rect">
                <a:avLst/>
              </a:prstGeom>
              <a:noFill/>
              <a:extLst>
                <a:ext uri="{909E8E84-426E-40DD-AFC4-6F175D3DCCD1}">
                  <a14:hiddenFill xmlns:a14="http://schemas.microsoft.com/office/drawing/2010/main">
                    <a:solidFill>
                      <a:srgbClr val="FFFFFF"/>
                    </a:solidFill>
                  </a14:hiddenFill>
                </a:ext>
              </a:extLst>
            </p:spPr>
          </p:pic>
          <p:sp>
            <p:nvSpPr>
              <p:cNvPr id="142" name="TextBox 141"/>
              <p:cNvSpPr txBox="1"/>
              <p:nvPr/>
            </p:nvSpPr>
            <p:spPr>
              <a:xfrm>
                <a:off x="457200" y="3810000"/>
                <a:ext cx="247375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Verdana"/>
                    <a:ea typeface="ＭＳ Ｐゴシック" pitchFamily="34" charset="-128"/>
                    <a:cs typeface="Arial"/>
                  </a:rPr>
                  <a:t>Architecture Models</a:t>
                </a:r>
              </a:p>
            </p:txBody>
          </p:sp>
          <p:grpSp>
            <p:nvGrpSpPr>
              <p:cNvPr id="15" name="Group 142"/>
              <p:cNvGrpSpPr/>
              <p:nvPr/>
            </p:nvGrpSpPr>
            <p:grpSpPr>
              <a:xfrm>
                <a:off x="1469873" y="1752600"/>
                <a:ext cx="1112138" cy="533400"/>
                <a:chOff x="1129973" y="1950482"/>
                <a:chExt cx="1112138" cy="533400"/>
              </a:xfrm>
            </p:grpSpPr>
            <p:grpSp>
              <p:nvGrpSpPr>
                <p:cNvPr id="16" name="Group 144"/>
                <p:cNvGrpSpPr/>
                <p:nvPr/>
              </p:nvGrpSpPr>
              <p:grpSpPr>
                <a:xfrm flipH="1">
                  <a:off x="1129973" y="1950482"/>
                  <a:ext cx="1112138" cy="533400"/>
                  <a:chOff x="6639029" y="1295400"/>
                  <a:chExt cx="1112138" cy="533400"/>
                </a:xfrm>
              </p:grpSpPr>
              <p:sp>
                <p:nvSpPr>
                  <p:cNvPr id="147" name="Rectangle 146"/>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48" name="Oval 147"/>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49" name="Rectangle 148"/>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50" name="Rectangle 149"/>
                  <p:cNvSpPr/>
                  <p:nvPr/>
                </p:nvSpPr>
                <p:spPr>
                  <a:xfrm>
                    <a:off x="6639029"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46" name="TextBox 145"/>
                <p:cNvSpPr txBox="1"/>
                <p:nvPr/>
              </p:nvSpPr>
              <p:spPr>
                <a:xfrm>
                  <a:off x="1245236" y="2017157"/>
                  <a:ext cx="863570"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rgbClr val="000000"/>
                      </a:solidFill>
                      <a:effectLst/>
                      <a:uLnTx/>
                      <a:uFillTx/>
                      <a:latin typeface="Calibri" pitchFamily="34" charset="0"/>
                      <a:ea typeface="ＭＳ Ｐゴシック" pitchFamily="34" charset="-128"/>
                      <a:cs typeface="Times New Roman" pitchFamily="18" charset="0"/>
                    </a:rPr>
                    <a:t>OSATE</a:t>
                  </a:r>
                  <a:endParaRPr kumimoji="0" lang="en-US" sz="2400" b="1" i="0" u="none" strike="noStrike" kern="0" cap="none" spc="0" normalizeH="0" baseline="0" noProof="0" dirty="0" smtClean="0">
                    <a:ln>
                      <a:noFill/>
                    </a:ln>
                    <a:solidFill>
                      <a:srgbClr val="000000"/>
                    </a:solidFill>
                    <a:effectLst/>
                    <a:uLnTx/>
                    <a:uFillTx/>
                    <a:latin typeface="Calibri" pitchFamily="34" charset="0"/>
                    <a:ea typeface="ＭＳ Ｐゴシック" pitchFamily="34" charset="-128"/>
                    <a:cs typeface="Times New Roman" pitchFamily="18" charset="0"/>
                  </a:endParaRPr>
                </a:p>
              </p:txBody>
            </p:sp>
          </p:grpSp>
          <p:sp>
            <p:nvSpPr>
              <p:cNvPr id="144" name="Freeform 143"/>
              <p:cNvSpPr/>
              <p:nvPr/>
            </p:nvSpPr>
            <p:spPr>
              <a:xfrm>
                <a:off x="1143000" y="2032517"/>
                <a:ext cx="403073" cy="1739384"/>
              </a:xfrm>
              <a:custGeom>
                <a:avLst/>
                <a:gdLst>
                  <a:gd name="connsiteX0" fmla="*/ 400072 w 400072"/>
                  <a:gd name="connsiteY0" fmla="*/ 55644 h 1179594"/>
                  <a:gd name="connsiteX1" fmla="*/ 22 w 400072"/>
                  <a:gd name="connsiteY1" fmla="*/ 84219 h 1179594"/>
                  <a:gd name="connsiteX2" fmla="*/ 381022 w 400072"/>
                  <a:gd name="connsiteY2" fmla="*/ 855744 h 1179594"/>
                  <a:gd name="connsiteX3" fmla="*/ 304822 w 400072"/>
                  <a:gd name="connsiteY3" fmla="*/ 1160544 h 1179594"/>
                  <a:gd name="connsiteX4" fmla="*/ 304822 w 400072"/>
                  <a:gd name="connsiteY4" fmla="*/ 1160544 h 1179594"/>
                  <a:gd name="connsiteX5" fmla="*/ 304822 w 400072"/>
                  <a:gd name="connsiteY5" fmla="*/ 1179594 h 1179594"/>
                  <a:gd name="connsiteX0" fmla="*/ 409597 w 409597"/>
                  <a:gd name="connsiteY0" fmla="*/ 14182 h 1138132"/>
                  <a:gd name="connsiteX1" fmla="*/ 22 w 409597"/>
                  <a:gd name="connsiteY1" fmla="*/ 195157 h 1138132"/>
                  <a:gd name="connsiteX2" fmla="*/ 390547 w 409597"/>
                  <a:gd name="connsiteY2" fmla="*/ 814282 h 1138132"/>
                  <a:gd name="connsiteX3" fmla="*/ 314347 w 409597"/>
                  <a:gd name="connsiteY3" fmla="*/ 1119082 h 1138132"/>
                  <a:gd name="connsiteX4" fmla="*/ 314347 w 409597"/>
                  <a:gd name="connsiteY4" fmla="*/ 1119082 h 1138132"/>
                  <a:gd name="connsiteX5" fmla="*/ 314347 w 409597"/>
                  <a:gd name="connsiteY5" fmla="*/ 1138132 h 1138132"/>
                  <a:gd name="connsiteX0" fmla="*/ 390525 w 403073"/>
                  <a:gd name="connsiteY0" fmla="*/ 11255 h 1182830"/>
                  <a:gd name="connsiteX1" fmla="*/ 0 w 403073"/>
                  <a:gd name="connsiteY1" fmla="*/ 239855 h 1182830"/>
                  <a:gd name="connsiteX2" fmla="*/ 390525 w 403073"/>
                  <a:gd name="connsiteY2" fmla="*/ 858980 h 1182830"/>
                  <a:gd name="connsiteX3" fmla="*/ 314325 w 403073"/>
                  <a:gd name="connsiteY3" fmla="*/ 1163780 h 1182830"/>
                  <a:gd name="connsiteX4" fmla="*/ 314325 w 403073"/>
                  <a:gd name="connsiteY4" fmla="*/ 1163780 h 1182830"/>
                  <a:gd name="connsiteX5" fmla="*/ 314325 w 403073"/>
                  <a:gd name="connsiteY5" fmla="*/ 1182830 h 1182830"/>
                  <a:gd name="connsiteX0" fmla="*/ 390525 w 403073"/>
                  <a:gd name="connsiteY0" fmla="*/ 0 h 1171575"/>
                  <a:gd name="connsiteX1" fmla="*/ 0 w 403073"/>
                  <a:gd name="connsiteY1" fmla="*/ 228600 h 1171575"/>
                  <a:gd name="connsiteX2" fmla="*/ 390525 w 403073"/>
                  <a:gd name="connsiteY2" fmla="*/ 847725 h 1171575"/>
                  <a:gd name="connsiteX3" fmla="*/ 314325 w 403073"/>
                  <a:gd name="connsiteY3" fmla="*/ 1152525 h 1171575"/>
                  <a:gd name="connsiteX4" fmla="*/ 314325 w 403073"/>
                  <a:gd name="connsiteY4" fmla="*/ 1152525 h 1171575"/>
                  <a:gd name="connsiteX5" fmla="*/ 314325 w 403073"/>
                  <a:gd name="connsiteY5" fmla="*/ 1171575 h 117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073" h="1171575">
                    <a:moveTo>
                      <a:pt x="390525" y="0"/>
                    </a:moveTo>
                    <a:cubicBezTo>
                      <a:pt x="201612" y="23812"/>
                      <a:pt x="0" y="87313"/>
                      <a:pt x="0" y="228600"/>
                    </a:cubicBezTo>
                    <a:cubicBezTo>
                      <a:pt x="0" y="369887"/>
                      <a:pt x="338137" y="693737"/>
                      <a:pt x="390525" y="847725"/>
                    </a:cubicBezTo>
                    <a:cubicBezTo>
                      <a:pt x="442913" y="1001713"/>
                      <a:pt x="314325" y="1152525"/>
                      <a:pt x="314325" y="1152525"/>
                    </a:cubicBezTo>
                    <a:lnTo>
                      <a:pt x="314325" y="1152525"/>
                    </a:lnTo>
                    <a:lnTo>
                      <a:pt x="314325" y="1171575"/>
                    </a:ln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pic>
          <p:nvPicPr>
            <p:cNvPr id="140" name="Picture 7"/>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6132" y="4807057"/>
              <a:ext cx="2166255" cy="1250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7" name="Group 150"/>
          <p:cNvGrpSpPr/>
          <p:nvPr/>
        </p:nvGrpSpPr>
        <p:grpSpPr>
          <a:xfrm>
            <a:off x="6497183" y="1381125"/>
            <a:ext cx="2099617" cy="2790825"/>
            <a:chOff x="6497183" y="1381125"/>
            <a:chExt cx="2099617" cy="2790825"/>
          </a:xfrm>
        </p:grpSpPr>
        <p:sp>
          <p:nvSpPr>
            <p:cNvPr id="152" name="Freeform 151"/>
            <p:cNvSpPr/>
            <p:nvPr/>
          </p:nvSpPr>
          <p:spPr>
            <a:xfrm>
              <a:off x="7580508" y="1647825"/>
              <a:ext cx="1016292" cy="2524125"/>
            </a:xfrm>
            <a:custGeom>
              <a:avLst/>
              <a:gdLst>
                <a:gd name="connsiteX0" fmla="*/ 0 w 586671"/>
                <a:gd name="connsiteY0" fmla="*/ 3888 h 1661238"/>
                <a:gd name="connsiteX1" fmla="*/ 581025 w 586671"/>
                <a:gd name="connsiteY1" fmla="*/ 203913 h 1661238"/>
                <a:gd name="connsiteX2" fmla="*/ 295275 w 586671"/>
                <a:gd name="connsiteY2" fmla="*/ 1318338 h 1661238"/>
                <a:gd name="connsiteX3" fmla="*/ 295275 w 586671"/>
                <a:gd name="connsiteY3" fmla="*/ 1661238 h 1661238"/>
                <a:gd name="connsiteX0" fmla="*/ 0 w 586671"/>
                <a:gd name="connsiteY0" fmla="*/ 0 h 1657350"/>
                <a:gd name="connsiteX1" fmla="*/ 581025 w 586671"/>
                <a:gd name="connsiteY1" fmla="*/ 200025 h 1657350"/>
                <a:gd name="connsiteX2" fmla="*/ 295275 w 586671"/>
                <a:gd name="connsiteY2" fmla="*/ 1314450 h 1657350"/>
                <a:gd name="connsiteX3" fmla="*/ 295275 w 586671"/>
                <a:gd name="connsiteY3" fmla="*/ 1657350 h 1657350"/>
                <a:gd name="connsiteX0" fmla="*/ 0 w 598001"/>
                <a:gd name="connsiteY0" fmla="*/ 0 h 1657350"/>
                <a:gd name="connsiteX1" fmla="*/ 581025 w 598001"/>
                <a:gd name="connsiteY1" fmla="*/ 200025 h 1657350"/>
                <a:gd name="connsiteX2" fmla="*/ 429787 w 598001"/>
                <a:gd name="connsiteY2" fmla="*/ 1301296 h 1657350"/>
                <a:gd name="connsiteX3" fmla="*/ 295275 w 598001"/>
                <a:gd name="connsiteY3" fmla="*/ 1657350 h 1657350"/>
                <a:gd name="connsiteX0" fmla="*/ 0 w 598001"/>
                <a:gd name="connsiteY0" fmla="*/ 0 h 1742848"/>
                <a:gd name="connsiteX1" fmla="*/ 581025 w 598001"/>
                <a:gd name="connsiteY1" fmla="*/ 200025 h 1742848"/>
                <a:gd name="connsiteX2" fmla="*/ 429787 w 598001"/>
                <a:gd name="connsiteY2" fmla="*/ 1301296 h 1742848"/>
                <a:gd name="connsiteX3" fmla="*/ 463415 w 598001"/>
                <a:gd name="connsiteY3" fmla="*/ 1742848 h 1742848"/>
              </a:gdLst>
              <a:ahLst/>
              <a:cxnLst>
                <a:cxn ang="0">
                  <a:pos x="connsiteX0" y="connsiteY0"/>
                </a:cxn>
                <a:cxn ang="0">
                  <a:pos x="connsiteX1" y="connsiteY1"/>
                </a:cxn>
                <a:cxn ang="0">
                  <a:pos x="connsiteX2" y="connsiteY2"/>
                </a:cxn>
                <a:cxn ang="0">
                  <a:pos x="connsiteX3" y="connsiteY3"/>
                </a:cxn>
              </a:cxnLst>
              <a:rect l="l" t="t" r="r" b="b"/>
              <a:pathLst>
                <a:path w="598001" h="1742848">
                  <a:moveTo>
                    <a:pt x="0" y="0"/>
                  </a:moveTo>
                  <a:cubicBezTo>
                    <a:pt x="265906" y="19050"/>
                    <a:pt x="509394" y="-16858"/>
                    <a:pt x="581025" y="200025"/>
                  </a:cubicBezTo>
                  <a:cubicBezTo>
                    <a:pt x="652656" y="416908"/>
                    <a:pt x="477412" y="1058409"/>
                    <a:pt x="429787" y="1301296"/>
                  </a:cubicBezTo>
                  <a:cubicBezTo>
                    <a:pt x="382162" y="1544184"/>
                    <a:pt x="439602" y="1692842"/>
                    <a:pt x="463415" y="1742848"/>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nvGrpSpPr>
            <p:cNvPr id="18" name="Group 152"/>
            <p:cNvGrpSpPr/>
            <p:nvPr/>
          </p:nvGrpSpPr>
          <p:grpSpPr>
            <a:xfrm>
              <a:off x="6497183" y="1381125"/>
              <a:ext cx="1503817" cy="533400"/>
              <a:chOff x="6640902" y="1295400"/>
              <a:chExt cx="1503817" cy="533400"/>
            </a:xfrm>
          </p:grpSpPr>
          <p:grpSp>
            <p:nvGrpSpPr>
              <p:cNvPr id="19" name="Group 153"/>
              <p:cNvGrpSpPr/>
              <p:nvPr/>
            </p:nvGrpSpPr>
            <p:grpSpPr>
              <a:xfrm>
                <a:off x="6640902" y="1295400"/>
                <a:ext cx="1503817" cy="533400"/>
                <a:chOff x="6640902" y="1295400"/>
                <a:chExt cx="1503817" cy="533400"/>
              </a:xfrm>
            </p:grpSpPr>
            <p:sp>
              <p:nvSpPr>
                <p:cNvPr id="156" name="Rectangle 155"/>
                <p:cNvSpPr/>
                <p:nvPr/>
              </p:nvSpPr>
              <p:spPr>
                <a:xfrm>
                  <a:off x="6783673" y="1295400"/>
                  <a:ext cx="1095567"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57" name="Oval 156"/>
                <p:cNvSpPr/>
                <p:nvPr/>
              </p:nvSpPr>
              <p:spPr>
                <a:xfrm>
                  <a:off x="7632552"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58" name="Rectangle 157"/>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59" name="Rectangle 158"/>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55" name="TextBox 154"/>
              <p:cNvSpPr txBox="1"/>
              <p:nvPr/>
            </p:nvSpPr>
            <p:spPr>
              <a:xfrm>
                <a:off x="6766755" y="1329035"/>
                <a:ext cx="1352875"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smtClean="0">
                    <a:ln>
                      <a:noFill/>
                    </a:ln>
                    <a:solidFill>
                      <a:srgbClr val="000000"/>
                    </a:solidFill>
                    <a:effectLst/>
                    <a:uLnTx/>
                    <a:uFillTx/>
                    <a:latin typeface="Tw Cen MT" pitchFamily="34" charset="0"/>
                    <a:ea typeface="ＭＳ Ｐゴシック" pitchFamily="34" charset="-128"/>
                    <a:cs typeface="Arial"/>
                  </a:rPr>
                  <a:t>Resolute</a:t>
                </a:r>
              </a:p>
            </p:txBody>
          </p:sp>
        </p:grpSp>
      </p:grpSp>
      <p:grpSp>
        <p:nvGrpSpPr>
          <p:cNvPr id="20" name="Group 159"/>
          <p:cNvGrpSpPr/>
          <p:nvPr/>
        </p:nvGrpSpPr>
        <p:grpSpPr>
          <a:xfrm>
            <a:off x="6477000" y="1981200"/>
            <a:ext cx="1807644" cy="2199650"/>
            <a:chOff x="6540793" y="2133600"/>
            <a:chExt cx="1807644" cy="2199650"/>
          </a:xfrm>
        </p:grpSpPr>
        <p:grpSp>
          <p:nvGrpSpPr>
            <p:cNvPr id="21" name="Group 160"/>
            <p:cNvGrpSpPr/>
            <p:nvPr/>
          </p:nvGrpSpPr>
          <p:grpSpPr>
            <a:xfrm>
              <a:off x="6540793" y="2133600"/>
              <a:ext cx="1110265" cy="533400"/>
              <a:chOff x="6640902" y="1295400"/>
              <a:chExt cx="1110265" cy="533400"/>
            </a:xfrm>
          </p:grpSpPr>
          <p:grpSp>
            <p:nvGrpSpPr>
              <p:cNvPr id="22" name="Group 162"/>
              <p:cNvGrpSpPr/>
              <p:nvPr/>
            </p:nvGrpSpPr>
            <p:grpSpPr>
              <a:xfrm>
                <a:off x="6640902" y="1295400"/>
                <a:ext cx="1110265" cy="533400"/>
                <a:chOff x="6640902" y="1295400"/>
                <a:chExt cx="1110265" cy="533400"/>
              </a:xfrm>
            </p:grpSpPr>
            <p:sp>
              <p:nvSpPr>
                <p:cNvPr id="165" name="Rectangle 164"/>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66" name="Oval 165"/>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67" name="Rectangle 166"/>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68" name="Rectangle 167"/>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64" name="TextBox 163"/>
              <p:cNvSpPr txBox="1"/>
              <p:nvPr/>
            </p:nvSpPr>
            <p:spPr>
              <a:xfrm>
                <a:off x="6766755" y="1371600"/>
                <a:ext cx="92525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entury Gothic" pitchFamily="34" charset="0"/>
                    <a:ea typeface="ＭＳ Ｐゴシック" pitchFamily="34" charset="-128"/>
                    <a:cs typeface="Arial"/>
                  </a:rPr>
                  <a:t>AGREE</a:t>
                </a:r>
                <a:endParaRPr kumimoji="0" lang="en-US" sz="2000" b="1" i="0" u="none" strike="noStrike" kern="0" cap="none" spc="0" normalizeH="0" baseline="0" noProof="0" dirty="0" smtClean="0">
                  <a:ln>
                    <a:noFill/>
                  </a:ln>
                  <a:solidFill>
                    <a:srgbClr val="000000"/>
                  </a:solidFill>
                  <a:effectLst/>
                  <a:uLnTx/>
                  <a:uFillTx/>
                  <a:latin typeface="Century Gothic" pitchFamily="34" charset="0"/>
                  <a:ea typeface="ＭＳ Ｐゴシック" pitchFamily="34" charset="-128"/>
                  <a:cs typeface="Arial"/>
                </a:endParaRPr>
              </a:p>
            </p:txBody>
          </p:sp>
        </p:grpSp>
        <p:sp>
          <p:nvSpPr>
            <p:cNvPr id="162" name="Freeform 161"/>
            <p:cNvSpPr/>
            <p:nvPr/>
          </p:nvSpPr>
          <p:spPr>
            <a:xfrm>
              <a:off x="7589076" y="2400299"/>
              <a:ext cx="759361" cy="1932951"/>
            </a:xfrm>
            <a:custGeom>
              <a:avLst/>
              <a:gdLst>
                <a:gd name="connsiteX0" fmla="*/ 0 w 586671"/>
                <a:gd name="connsiteY0" fmla="*/ 3888 h 1661238"/>
                <a:gd name="connsiteX1" fmla="*/ 581025 w 586671"/>
                <a:gd name="connsiteY1" fmla="*/ 203913 h 1661238"/>
                <a:gd name="connsiteX2" fmla="*/ 295275 w 586671"/>
                <a:gd name="connsiteY2" fmla="*/ 1318338 h 1661238"/>
                <a:gd name="connsiteX3" fmla="*/ 295275 w 586671"/>
                <a:gd name="connsiteY3" fmla="*/ 1661238 h 1661238"/>
                <a:gd name="connsiteX0" fmla="*/ 0 w 586671"/>
                <a:gd name="connsiteY0" fmla="*/ 0 h 1657350"/>
                <a:gd name="connsiteX1" fmla="*/ 581025 w 586671"/>
                <a:gd name="connsiteY1" fmla="*/ 200025 h 1657350"/>
                <a:gd name="connsiteX2" fmla="*/ 295275 w 586671"/>
                <a:gd name="connsiteY2" fmla="*/ 1314450 h 1657350"/>
                <a:gd name="connsiteX3" fmla="*/ 295275 w 586671"/>
                <a:gd name="connsiteY3" fmla="*/ 1657350 h 1657350"/>
                <a:gd name="connsiteX0" fmla="*/ 0 w 598294"/>
                <a:gd name="connsiteY0" fmla="*/ 0 h 1657350"/>
                <a:gd name="connsiteX1" fmla="*/ 581025 w 598294"/>
                <a:gd name="connsiteY1" fmla="*/ 200025 h 1657350"/>
                <a:gd name="connsiteX2" fmla="*/ 432001 w 598294"/>
                <a:gd name="connsiteY2" fmla="*/ 1287852 h 1657350"/>
                <a:gd name="connsiteX3" fmla="*/ 295275 w 598294"/>
                <a:gd name="connsiteY3" fmla="*/ 1657350 h 1657350"/>
                <a:gd name="connsiteX0" fmla="*/ 0 w 598294"/>
                <a:gd name="connsiteY0" fmla="*/ 0 h 1799205"/>
                <a:gd name="connsiteX1" fmla="*/ 581025 w 598294"/>
                <a:gd name="connsiteY1" fmla="*/ 200025 h 1799205"/>
                <a:gd name="connsiteX2" fmla="*/ 432001 w 598294"/>
                <a:gd name="connsiteY2" fmla="*/ 1287852 h 1799205"/>
                <a:gd name="connsiteX3" fmla="*/ 530746 w 598294"/>
                <a:gd name="connsiteY3" fmla="*/ 1799205 h 1799205"/>
                <a:gd name="connsiteX0" fmla="*/ 0 w 605563"/>
                <a:gd name="connsiteY0" fmla="*/ 0 h 1799205"/>
                <a:gd name="connsiteX1" fmla="*/ 581025 w 605563"/>
                <a:gd name="connsiteY1" fmla="*/ 200025 h 1799205"/>
                <a:gd name="connsiteX2" fmla="*/ 477576 w 605563"/>
                <a:gd name="connsiteY2" fmla="*/ 1287852 h 1799205"/>
                <a:gd name="connsiteX3" fmla="*/ 530746 w 605563"/>
                <a:gd name="connsiteY3" fmla="*/ 1799205 h 1799205"/>
              </a:gdLst>
              <a:ahLst/>
              <a:cxnLst>
                <a:cxn ang="0">
                  <a:pos x="connsiteX0" y="connsiteY0"/>
                </a:cxn>
                <a:cxn ang="0">
                  <a:pos x="connsiteX1" y="connsiteY1"/>
                </a:cxn>
                <a:cxn ang="0">
                  <a:pos x="connsiteX2" y="connsiteY2"/>
                </a:cxn>
                <a:cxn ang="0">
                  <a:pos x="connsiteX3" y="connsiteY3"/>
                </a:cxn>
              </a:cxnLst>
              <a:rect l="l" t="t" r="r" b="b"/>
              <a:pathLst>
                <a:path w="605563" h="1799205">
                  <a:moveTo>
                    <a:pt x="0" y="0"/>
                  </a:moveTo>
                  <a:cubicBezTo>
                    <a:pt x="265906" y="19050"/>
                    <a:pt x="501429" y="-14617"/>
                    <a:pt x="581025" y="200025"/>
                  </a:cubicBezTo>
                  <a:cubicBezTo>
                    <a:pt x="660621" y="414667"/>
                    <a:pt x="525201" y="1044965"/>
                    <a:pt x="477576" y="1287852"/>
                  </a:cubicBezTo>
                  <a:cubicBezTo>
                    <a:pt x="429951" y="1530740"/>
                    <a:pt x="506933" y="1749199"/>
                    <a:pt x="530746" y="1799205"/>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grpSp>
        <p:nvGrpSpPr>
          <p:cNvPr id="23" name="Group 168"/>
          <p:cNvGrpSpPr/>
          <p:nvPr/>
        </p:nvGrpSpPr>
        <p:grpSpPr>
          <a:xfrm>
            <a:off x="6477000" y="2590800"/>
            <a:ext cx="1504101" cy="1590675"/>
            <a:chOff x="6387559" y="2933700"/>
            <a:chExt cx="1504101" cy="1590675"/>
          </a:xfrm>
        </p:grpSpPr>
        <p:grpSp>
          <p:nvGrpSpPr>
            <p:cNvPr id="24" name="Group 169"/>
            <p:cNvGrpSpPr/>
            <p:nvPr/>
          </p:nvGrpSpPr>
          <p:grpSpPr>
            <a:xfrm>
              <a:off x="6387559" y="2933700"/>
              <a:ext cx="1110265" cy="533400"/>
              <a:chOff x="6640902" y="1295400"/>
              <a:chExt cx="1110265" cy="533400"/>
            </a:xfrm>
          </p:grpSpPr>
          <p:sp>
            <p:nvSpPr>
              <p:cNvPr id="172" name="Oval 171"/>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73" name="Rectangle 172"/>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74" name="Rectangle 173"/>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75" name="Rectangle 174"/>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Arial Black" panose="020B0A04020102020204" pitchFamily="34" charset="0"/>
                    <a:ea typeface="ＭＳ Ｐゴシック"/>
                    <a:cs typeface="Aharoni" panose="02010803020104030203" pitchFamily="2" charset="-79"/>
                  </a:rPr>
                  <a:t>SIM</a:t>
                </a:r>
              </a:p>
            </p:txBody>
          </p:sp>
        </p:grpSp>
        <p:sp>
          <p:nvSpPr>
            <p:cNvPr id="171" name="Freeform 170"/>
            <p:cNvSpPr/>
            <p:nvPr/>
          </p:nvSpPr>
          <p:spPr>
            <a:xfrm>
              <a:off x="7467017" y="3180070"/>
              <a:ext cx="424643" cy="1344305"/>
            </a:xfrm>
            <a:custGeom>
              <a:avLst/>
              <a:gdLst>
                <a:gd name="connsiteX0" fmla="*/ 0 w 302886"/>
                <a:gd name="connsiteY0" fmla="*/ 0 h 866775"/>
                <a:gd name="connsiteX1" fmla="*/ 295275 w 302886"/>
                <a:gd name="connsiteY1" fmla="*/ 247650 h 866775"/>
                <a:gd name="connsiteX2" fmla="*/ 219075 w 302886"/>
                <a:gd name="connsiteY2" fmla="*/ 638175 h 866775"/>
                <a:gd name="connsiteX3" fmla="*/ 257175 w 302886"/>
                <a:gd name="connsiteY3" fmla="*/ 866775 h 866775"/>
                <a:gd name="connsiteX0" fmla="*/ 0 w 267236"/>
                <a:gd name="connsiteY0" fmla="*/ 0 h 866775"/>
                <a:gd name="connsiteX1" fmla="*/ 257175 w 267236"/>
                <a:gd name="connsiteY1" fmla="*/ 133350 h 866775"/>
                <a:gd name="connsiteX2" fmla="*/ 219075 w 267236"/>
                <a:gd name="connsiteY2" fmla="*/ 638175 h 866775"/>
                <a:gd name="connsiteX3" fmla="*/ 257175 w 267236"/>
                <a:gd name="connsiteY3" fmla="*/ 866775 h 866775"/>
                <a:gd name="connsiteX0" fmla="*/ 0 w 267236"/>
                <a:gd name="connsiteY0" fmla="*/ 594 h 867369"/>
                <a:gd name="connsiteX1" fmla="*/ 257175 w 267236"/>
                <a:gd name="connsiteY1" fmla="*/ 133944 h 867369"/>
                <a:gd name="connsiteX2" fmla="*/ 219075 w 267236"/>
                <a:gd name="connsiteY2" fmla="*/ 638769 h 867369"/>
                <a:gd name="connsiteX3" fmla="*/ 257175 w 267236"/>
                <a:gd name="connsiteY3" fmla="*/ 867369 h 867369"/>
                <a:gd name="connsiteX0" fmla="*/ 0 w 413550"/>
                <a:gd name="connsiteY0" fmla="*/ 594 h 867369"/>
                <a:gd name="connsiteX1" fmla="*/ 409575 w 413550"/>
                <a:gd name="connsiteY1" fmla="*/ 133944 h 867369"/>
                <a:gd name="connsiteX2" fmla="*/ 219075 w 413550"/>
                <a:gd name="connsiteY2" fmla="*/ 638769 h 867369"/>
                <a:gd name="connsiteX3" fmla="*/ 257175 w 413550"/>
                <a:gd name="connsiteY3" fmla="*/ 867369 h 867369"/>
                <a:gd name="connsiteX0" fmla="*/ 0 w 434273"/>
                <a:gd name="connsiteY0" fmla="*/ 1280 h 868055"/>
                <a:gd name="connsiteX1" fmla="*/ 409575 w 434273"/>
                <a:gd name="connsiteY1" fmla="*/ 134630 h 868055"/>
                <a:gd name="connsiteX2" fmla="*/ 390525 w 434273"/>
                <a:gd name="connsiteY2" fmla="*/ 791855 h 868055"/>
                <a:gd name="connsiteX3" fmla="*/ 257175 w 434273"/>
                <a:gd name="connsiteY3" fmla="*/ 868055 h 868055"/>
                <a:gd name="connsiteX0" fmla="*/ 0 w 434273"/>
                <a:gd name="connsiteY0" fmla="*/ 1280 h 1344305"/>
                <a:gd name="connsiteX1" fmla="*/ 409575 w 434273"/>
                <a:gd name="connsiteY1" fmla="*/ 134630 h 1344305"/>
                <a:gd name="connsiteX2" fmla="*/ 390525 w 434273"/>
                <a:gd name="connsiteY2" fmla="*/ 791855 h 1344305"/>
                <a:gd name="connsiteX3" fmla="*/ 400050 w 434273"/>
                <a:gd name="connsiteY3" fmla="*/ 1344305 h 1344305"/>
                <a:gd name="connsiteX0" fmla="*/ 0 w 424643"/>
                <a:gd name="connsiteY0" fmla="*/ 1280 h 1344305"/>
                <a:gd name="connsiteX1" fmla="*/ 409575 w 424643"/>
                <a:gd name="connsiteY1" fmla="*/ 134630 h 1344305"/>
                <a:gd name="connsiteX2" fmla="*/ 342900 w 424643"/>
                <a:gd name="connsiteY2" fmla="*/ 791855 h 1344305"/>
                <a:gd name="connsiteX3" fmla="*/ 400050 w 424643"/>
                <a:gd name="connsiteY3" fmla="*/ 1344305 h 1344305"/>
              </a:gdLst>
              <a:ahLst/>
              <a:cxnLst>
                <a:cxn ang="0">
                  <a:pos x="connsiteX0" y="connsiteY0"/>
                </a:cxn>
                <a:cxn ang="0">
                  <a:pos x="connsiteX1" y="connsiteY1"/>
                </a:cxn>
                <a:cxn ang="0">
                  <a:pos x="connsiteX2" y="connsiteY2"/>
                </a:cxn>
                <a:cxn ang="0">
                  <a:pos x="connsiteX3" y="connsiteY3"/>
                </a:cxn>
              </a:cxnLst>
              <a:rect l="l" t="t" r="r" b="b"/>
              <a:pathLst>
                <a:path w="424643" h="1344305">
                  <a:moveTo>
                    <a:pt x="0" y="1280"/>
                  </a:moveTo>
                  <a:cubicBezTo>
                    <a:pt x="157956" y="-4276"/>
                    <a:pt x="352425" y="2868"/>
                    <a:pt x="409575" y="134630"/>
                  </a:cubicBezTo>
                  <a:cubicBezTo>
                    <a:pt x="466725" y="266392"/>
                    <a:pt x="342900" y="669618"/>
                    <a:pt x="342900" y="791855"/>
                  </a:cubicBezTo>
                  <a:cubicBezTo>
                    <a:pt x="342900" y="914092"/>
                    <a:pt x="377825" y="1281599"/>
                    <a:pt x="400050" y="1344305"/>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76" name="Rectangle 175"/>
          <p:cNvSpPr/>
          <p:nvPr/>
        </p:nvSpPr>
        <p:spPr>
          <a:xfrm>
            <a:off x="6985656" y="5747265"/>
            <a:ext cx="1701144" cy="656973"/>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F8F8F8"/>
                </a:solidFill>
                <a:effectLst/>
                <a:uLnTx/>
                <a:uFillTx/>
                <a:latin typeface="Verdana"/>
                <a:ea typeface="ＭＳ Ｐゴシック"/>
                <a:cs typeface="Arial"/>
              </a:rPr>
              <a:t>Kind/JKind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smtClean="0">
                <a:ln>
                  <a:noFill/>
                </a:ln>
                <a:solidFill>
                  <a:srgbClr val="F8F8F8"/>
                </a:solidFill>
                <a:effectLst/>
                <a:uLnTx/>
                <a:uFillTx/>
                <a:latin typeface="Verdana"/>
                <a:ea typeface="ＭＳ Ｐゴシック"/>
                <a:cs typeface="Arial"/>
              </a:rPr>
              <a:t>Model Checker</a:t>
            </a:r>
            <a:endParaRPr kumimoji="0" lang="en-US" sz="1800" b="1"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nvGrpSpPr>
          <p:cNvPr id="25" name="Group 176"/>
          <p:cNvGrpSpPr/>
          <p:nvPr/>
        </p:nvGrpSpPr>
        <p:grpSpPr>
          <a:xfrm>
            <a:off x="6477000" y="3200400"/>
            <a:ext cx="1288220" cy="1000126"/>
            <a:chOff x="6387559" y="2933700"/>
            <a:chExt cx="1288220" cy="1000126"/>
          </a:xfrm>
        </p:grpSpPr>
        <p:grpSp>
          <p:nvGrpSpPr>
            <p:cNvPr id="26" name="Group 177"/>
            <p:cNvGrpSpPr/>
            <p:nvPr/>
          </p:nvGrpSpPr>
          <p:grpSpPr>
            <a:xfrm>
              <a:off x="6387559" y="2933700"/>
              <a:ext cx="1110265" cy="533400"/>
              <a:chOff x="6640902" y="1295400"/>
              <a:chExt cx="1110265" cy="533400"/>
            </a:xfrm>
          </p:grpSpPr>
          <p:sp>
            <p:nvSpPr>
              <p:cNvPr id="180" name="Oval 179"/>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81" name="Rectangle 180"/>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82" name="Rectangle 181"/>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83" name="Rectangle 182"/>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srgbClr val="000000"/>
                    </a:solidFill>
                    <a:effectLst/>
                    <a:uLnTx/>
                    <a:uFillTx/>
                    <a:latin typeface="Tw Cen MT" panose="020B0602020104020603" pitchFamily="34" charset="0"/>
                    <a:ea typeface="ＭＳ Ｐゴシック"/>
                    <a:cs typeface="Arial"/>
                  </a:rPr>
                  <a:t>TCG</a:t>
                </a:r>
              </a:p>
            </p:txBody>
          </p:sp>
        </p:grpSp>
        <p:sp>
          <p:nvSpPr>
            <p:cNvPr id="179" name="Freeform 178"/>
            <p:cNvSpPr/>
            <p:nvPr/>
          </p:nvSpPr>
          <p:spPr>
            <a:xfrm>
              <a:off x="7467017" y="3180964"/>
              <a:ext cx="208762" cy="752862"/>
            </a:xfrm>
            <a:custGeom>
              <a:avLst/>
              <a:gdLst>
                <a:gd name="connsiteX0" fmla="*/ 0 w 302886"/>
                <a:gd name="connsiteY0" fmla="*/ 0 h 866775"/>
                <a:gd name="connsiteX1" fmla="*/ 295275 w 302886"/>
                <a:gd name="connsiteY1" fmla="*/ 247650 h 866775"/>
                <a:gd name="connsiteX2" fmla="*/ 219075 w 302886"/>
                <a:gd name="connsiteY2" fmla="*/ 638175 h 866775"/>
                <a:gd name="connsiteX3" fmla="*/ 257175 w 302886"/>
                <a:gd name="connsiteY3" fmla="*/ 866775 h 866775"/>
                <a:gd name="connsiteX0" fmla="*/ 0 w 267236"/>
                <a:gd name="connsiteY0" fmla="*/ 0 h 866775"/>
                <a:gd name="connsiteX1" fmla="*/ 257175 w 267236"/>
                <a:gd name="connsiteY1" fmla="*/ 133350 h 866775"/>
                <a:gd name="connsiteX2" fmla="*/ 219075 w 267236"/>
                <a:gd name="connsiteY2" fmla="*/ 638175 h 866775"/>
                <a:gd name="connsiteX3" fmla="*/ 257175 w 267236"/>
                <a:gd name="connsiteY3" fmla="*/ 866775 h 866775"/>
                <a:gd name="connsiteX0" fmla="*/ 0 w 267236"/>
                <a:gd name="connsiteY0" fmla="*/ 594 h 867369"/>
                <a:gd name="connsiteX1" fmla="*/ 257175 w 267236"/>
                <a:gd name="connsiteY1" fmla="*/ 133944 h 867369"/>
                <a:gd name="connsiteX2" fmla="*/ 219075 w 267236"/>
                <a:gd name="connsiteY2" fmla="*/ 638769 h 867369"/>
                <a:gd name="connsiteX3" fmla="*/ 257175 w 267236"/>
                <a:gd name="connsiteY3" fmla="*/ 867369 h 867369"/>
                <a:gd name="connsiteX0" fmla="*/ 0 w 262756"/>
                <a:gd name="connsiteY0" fmla="*/ 387 h 867162"/>
                <a:gd name="connsiteX1" fmla="*/ 257175 w 262756"/>
                <a:gd name="connsiteY1" fmla="*/ 133737 h 867162"/>
                <a:gd name="connsiteX2" fmla="*/ 183110 w 262756"/>
                <a:gd name="connsiteY2" fmla="*/ 505212 h 867162"/>
                <a:gd name="connsiteX3" fmla="*/ 257175 w 262756"/>
                <a:gd name="connsiteY3" fmla="*/ 867162 h 867162"/>
                <a:gd name="connsiteX0" fmla="*/ 0 w 262756"/>
                <a:gd name="connsiteY0" fmla="*/ 387 h 752862"/>
                <a:gd name="connsiteX1" fmla="*/ 257175 w 262756"/>
                <a:gd name="connsiteY1" fmla="*/ 133737 h 752862"/>
                <a:gd name="connsiteX2" fmla="*/ 183110 w 262756"/>
                <a:gd name="connsiteY2" fmla="*/ 505212 h 752862"/>
                <a:gd name="connsiteX3" fmla="*/ 197233 w 262756"/>
                <a:gd name="connsiteY3" fmla="*/ 752862 h 752862"/>
              </a:gdLst>
              <a:ahLst/>
              <a:cxnLst>
                <a:cxn ang="0">
                  <a:pos x="connsiteX0" y="connsiteY0"/>
                </a:cxn>
                <a:cxn ang="0">
                  <a:pos x="connsiteX1" y="connsiteY1"/>
                </a:cxn>
                <a:cxn ang="0">
                  <a:pos x="connsiteX2" y="connsiteY2"/>
                </a:cxn>
                <a:cxn ang="0">
                  <a:pos x="connsiteX3" y="connsiteY3"/>
                </a:cxn>
              </a:cxnLst>
              <a:rect l="l" t="t" r="r" b="b"/>
              <a:pathLst>
                <a:path w="262756" h="752862">
                  <a:moveTo>
                    <a:pt x="0" y="387"/>
                  </a:moveTo>
                  <a:cubicBezTo>
                    <a:pt x="157956" y="-5169"/>
                    <a:pt x="226657" y="49600"/>
                    <a:pt x="257175" y="133737"/>
                  </a:cubicBezTo>
                  <a:cubicBezTo>
                    <a:pt x="287693" y="217874"/>
                    <a:pt x="183110" y="382975"/>
                    <a:pt x="183110" y="505212"/>
                  </a:cubicBezTo>
                  <a:cubicBezTo>
                    <a:pt x="183110" y="627449"/>
                    <a:pt x="175008" y="690156"/>
                    <a:pt x="197233" y="752862"/>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95" name="Titel 1"/>
          <p:cNvSpPr>
            <a:spLocks noGrp="1"/>
          </p:cNvSpPr>
          <p:nvPr>
            <p:ph type="title"/>
          </p:nvPr>
        </p:nvSpPr>
        <p:spPr>
          <a:xfrm>
            <a:off x="762000" y="609600"/>
            <a:ext cx="7772400" cy="503237"/>
          </a:xfrm>
        </p:spPr>
        <p:txBody>
          <a:bodyPr/>
          <a:lstStyle/>
          <a:p>
            <a:r>
              <a:rPr lang="de-DE" sz="2400" dirty="0" err="1" smtClean="0"/>
              <a:t>Architecture</a:t>
            </a:r>
            <a:r>
              <a:rPr lang="de-DE" sz="2400" dirty="0" smtClean="0"/>
              <a:t> Analysis Tools</a:t>
            </a:r>
            <a:endParaRPr lang="de-DE" sz="2400" dirty="0"/>
          </a:p>
        </p:txBody>
      </p:sp>
      <p:sp>
        <p:nvSpPr>
          <p:cNvPr id="2" name="Slide Number Placeholder 1"/>
          <p:cNvSpPr>
            <a:spLocks noGrp="1"/>
          </p:cNvSpPr>
          <p:nvPr>
            <p:ph type="sldNum" sz="quarter" idx="10"/>
          </p:nvPr>
        </p:nvSpPr>
        <p:spPr/>
        <p:txBody>
          <a:bodyPr/>
          <a:lstStyle/>
          <a:p>
            <a:pPr>
              <a:defRPr/>
            </a:pPr>
            <a:fld id="{0913AD8B-6753-4D8D-9DCF-DBA38AAB592C}" type="slidenum">
              <a:rPr lang="en-US" smtClean="0"/>
              <a:pPr>
                <a:defRPr/>
              </a:pPr>
              <a:t>31</a:t>
            </a:fld>
            <a:endParaRPr lang="en-US"/>
          </a:p>
        </p:txBody>
      </p:sp>
    </p:spTree>
    <p:extLst>
      <p:ext uri="{BB962C8B-B14F-4D97-AF65-F5344CB8AC3E}">
        <p14:creationId xmlns:p14="http://schemas.microsoft.com/office/powerpoint/2010/main" val="2734230872"/>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4866"/>
          <a:stretch/>
        </p:blipFill>
        <p:spPr bwMode="auto">
          <a:xfrm>
            <a:off x="4728194" y="4879459"/>
            <a:ext cx="1901206" cy="160762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3" name="Content Placeholder 2"/>
          <p:cNvSpPr>
            <a:spLocks noGrp="1"/>
          </p:cNvSpPr>
          <p:nvPr>
            <p:ph idx="1"/>
          </p:nvPr>
        </p:nvSpPr>
        <p:spPr>
          <a:xfrm>
            <a:off x="457200" y="1828800"/>
            <a:ext cx="4419600" cy="4297363"/>
          </a:xfrm>
        </p:spPr>
        <p:txBody>
          <a:bodyPr>
            <a:normAutofit/>
          </a:bodyPr>
          <a:lstStyle/>
          <a:p>
            <a:r>
              <a:rPr lang="en-US" dirty="0"/>
              <a:t>Each component has a contract consisting of assumptions and guarantees</a:t>
            </a:r>
          </a:p>
          <a:p>
            <a:pPr lvl="1"/>
            <a:r>
              <a:rPr lang="en-US" dirty="0"/>
              <a:t>Assumptions: Constraints over what a component expects </a:t>
            </a:r>
            <a:r>
              <a:rPr lang="en-US" dirty="0" smtClean="0"/>
              <a:t>from </a:t>
            </a:r>
            <a:r>
              <a:rPr lang="en-US" dirty="0"/>
              <a:t>its environment</a:t>
            </a:r>
          </a:p>
          <a:p>
            <a:pPr lvl="1"/>
            <a:r>
              <a:rPr lang="en-US" dirty="0"/>
              <a:t>Guarantees: Constraints over how a component behaves in response to its </a:t>
            </a:r>
            <a:r>
              <a:rPr lang="en-US" dirty="0" smtClean="0"/>
              <a:t>environment (requirements)</a:t>
            </a:r>
            <a:endParaRPr lang="en-US" dirty="0"/>
          </a:p>
          <a:p>
            <a:r>
              <a:rPr lang="en-US" dirty="0"/>
              <a:t>The contract of a component abstracts the behavior of its </a:t>
            </a:r>
            <a:r>
              <a:rPr lang="en-US" dirty="0" smtClean="0"/>
              <a:t>implementation</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solidFill>
                  <a:srgbClr val="000000"/>
                </a:solidFill>
              </a:rPr>
              <a:pPr>
                <a:defRPr/>
              </a:pPr>
              <a:t>32</a:t>
            </a:fld>
            <a:endParaRPr lang="en-US" dirty="0">
              <a:solidFill>
                <a:srgbClr val="000000"/>
              </a:solidFill>
            </a:endParaRPr>
          </a:p>
        </p:txBody>
      </p:sp>
      <p:sp>
        <p:nvSpPr>
          <p:cNvPr id="5" name="Rounded Rectangle 4"/>
          <p:cNvSpPr/>
          <p:nvPr/>
        </p:nvSpPr>
        <p:spPr>
          <a:xfrm>
            <a:off x="6019800" y="2432304"/>
            <a:ext cx="2362200" cy="1066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 name="Flowchart: Data 5"/>
          <p:cNvSpPr/>
          <p:nvPr/>
        </p:nvSpPr>
        <p:spPr>
          <a:xfrm>
            <a:off x="6324600" y="2737104"/>
            <a:ext cx="952500" cy="533400"/>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7" name="Flowchart: Data 6"/>
          <p:cNvSpPr/>
          <p:nvPr/>
        </p:nvSpPr>
        <p:spPr>
          <a:xfrm>
            <a:off x="7200900" y="2737104"/>
            <a:ext cx="952500" cy="533400"/>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8" name="Flowchart: Data 7"/>
          <p:cNvSpPr/>
          <p:nvPr/>
        </p:nvSpPr>
        <p:spPr>
          <a:xfrm>
            <a:off x="6172200" y="3733800"/>
            <a:ext cx="1905000" cy="768096"/>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 name="Flowchart: Data 8"/>
          <p:cNvSpPr/>
          <p:nvPr/>
        </p:nvSpPr>
        <p:spPr>
          <a:xfrm>
            <a:off x="6362700" y="3962400"/>
            <a:ext cx="723900" cy="304800"/>
          </a:xfrm>
          <a:prstGeom prst="flowChartInputOutpu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Flowchart: Data 9"/>
          <p:cNvSpPr/>
          <p:nvPr/>
        </p:nvSpPr>
        <p:spPr>
          <a:xfrm>
            <a:off x="7086600" y="3962400"/>
            <a:ext cx="723900" cy="304800"/>
          </a:xfrm>
          <a:prstGeom prst="flowChartInputOutpu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pic>
        <p:nvPicPr>
          <p:cNvPr id="11" name="Picture 8"/>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8155" t="3514" r="8140" b="15359"/>
          <a:stretch/>
        </p:blipFill>
        <p:spPr bwMode="auto">
          <a:xfrm>
            <a:off x="6934583" y="4817685"/>
            <a:ext cx="1823258" cy="1702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ounded Rectangle 12"/>
          <p:cNvSpPr/>
          <p:nvPr/>
        </p:nvSpPr>
        <p:spPr>
          <a:xfrm>
            <a:off x="5945495" y="609600"/>
            <a:ext cx="2735861" cy="1447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ounded Rectangle 13"/>
          <p:cNvSpPr/>
          <p:nvPr/>
        </p:nvSpPr>
        <p:spPr>
          <a:xfrm>
            <a:off x="6170725" y="838200"/>
            <a:ext cx="839675" cy="53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5" name="Rounded Rectangle 14"/>
          <p:cNvSpPr/>
          <p:nvPr/>
        </p:nvSpPr>
        <p:spPr>
          <a:xfrm>
            <a:off x="7448550" y="762000"/>
            <a:ext cx="839675" cy="53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Rounded Rectangle 15"/>
          <p:cNvSpPr/>
          <p:nvPr/>
        </p:nvSpPr>
        <p:spPr>
          <a:xfrm>
            <a:off x="7057287" y="1447800"/>
            <a:ext cx="839675" cy="53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0" name="Down Arrow 19"/>
          <p:cNvSpPr/>
          <p:nvPr/>
        </p:nvSpPr>
        <p:spPr>
          <a:xfrm>
            <a:off x="7313425" y="1905000"/>
            <a:ext cx="363725" cy="52730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1" name="Down Arrow 20"/>
          <p:cNvSpPr/>
          <p:nvPr/>
        </p:nvSpPr>
        <p:spPr>
          <a:xfrm>
            <a:off x="7313425" y="3206496"/>
            <a:ext cx="363725" cy="52730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2" name="Down Arrow 21"/>
          <p:cNvSpPr/>
          <p:nvPr/>
        </p:nvSpPr>
        <p:spPr>
          <a:xfrm rot="1283352">
            <a:off x="6297084" y="4157770"/>
            <a:ext cx="363725" cy="6782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3" name="Down Arrow 22"/>
          <p:cNvSpPr/>
          <p:nvPr/>
        </p:nvSpPr>
        <p:spPr>
          <a:xfrm rot="20253590">
            <a:off x="7445405" y="4128815"/>
            <a:ext cx="363725" cy="6782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4" name="Freeform 23"/>
          <p:cNvSpPr/>
          <p:nvPr/>
        </p:nvSpPr>
        <p:spPr>
          <a:xfrm>
            <a:off x="5648325" y="600075"/>
            <a:ext cx="219075" cy="3876675"/>
          </a:xfrm>
          <a:custGeom>
            <a:avLst/>
            <a:gdLst>
              <a:gd name="connsiteX0" fmla="*/ 219075 w 219075"/>
              <a:gd name="connsiteY0" fmla="*/ 0 h 3876675"/>
              <a:gd name="connsiteX1" fmla="*/ 0 w 219075"/>
              <a:gd name="connsiteY1" fmla="*/ 0 h 3876675"/>
              <a:gd name="connsiteX2" fmla="*/ 9525 w 219075"/>
              <a:gd name="connsiteY2" fmla="*/ 3876675 h 3876675"/>
              <a:gd name="connsiteX3" fmla="*/ 200025 w 219075"/>
              <a:gd name="connsiteY3" fmla="*/ 3876675 h 3876675"/>
            </a:gdLst>
            <a:ahLst/>
            <a:cxnLst>
              <a:cxn ang="0">
                <a:pos x="connsiteX0" y="connsiteY0"/>
              </a:cxn>
              <a:cxn ang="0">
                <a:pos x="connsiteX1" y="connsiteY1"/>
              </a:cxn>
              <a:cxn ang="0">
                <a:pos x="connsiteX2" y="connsiteY2"/>
              </a:cxn>
              <a:cxn ang="0">
                <a:pos x="connsiteX3" y="connsiteY3"/>
              </a:cxn>
            </a:cxnLst>
            <a:rect l="l" t="t" r="r" b="b"/>
            <a:pathLst>
              <a:path w="219075" h="3876675">
                <a:moveTo>
                  <a:pt x="219075" y="0"/>
                </a:moveTo>
                <a:lnTo>
                  <a:pt x="0" y="0"/>
                </a:lnTo>
                <a:lnTo>
                  <a:pt x="9525" y="3876675"/>
                </a:lnTo>
                <a:lnTo>
                  <a:pt x="200025" y="3876675"/>
                </a:ln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5" name="TextBox 24"/>
          <p:cNvSpPr txBox="1"/>
          <p:nvPr/>
        </p:nvSpPr>
        <p:spPr>
          <a:xfrm rot="16200000">
            <a:off x="4353065" y="2286000"/>
            <a:ext cx="2178802" cy="369332"/>
          </a:xfrm>
          <a:prstGeom prst="rect">
            <a:avLst/>
          </a:prstGeom>
          <a:noFill/>
        </p:spPr>
        <p:txBody>
          <a:bodyPr wrap="none" rtlCol="0">
            <a:spAutoFit/>
          </a:bodyPr>
          <a:lstStyle/>
          <a:p>
            <a:r>
              <a:rPr lang="en-US" b="1" dirty="0">
                <a:solidFill>
                  <a:srgbClr val="ABB41D"/>
                </a:solidFill>
              </a:rPr>
              <a:t>AGREE analysis</a:t>
            </a:r>
          </a:p>
        </p:txBody>
      </p:sp>
      <p:sp>
        <p:nvSpPr>
          <p:cNvPr id="26" name="TextBox 25"/>
          <p:cNvSpPr txBox="1"/>
          <p:nvPr/>
        </p:nvSpPr>
        <p:spPr>
          <a:xfrm rot="16200000">
            <a:off x="3469810" y="5461933"/>
            <a:ext cx="1811714" cy="523220"/>
          </a:xfrm>
          <a:prstGeom prst="rect">
            <a:avLst/>
          </a:prstGeom>
          <a:noFill/>
        </p:spPr>
        <p:txBody>
          <a:bodyPr wrap="none" rtlCol="0">
            <a:spAutoFit/>
          </a:bodyPr>
          <a:lstStyle/>
          <a:p>
            <a:pPr algn="ctr"/>
            <a:r>
              <a:rPr lang="en-US" sz="1400" b="1" dirty="0">
                <a:solidFill>
                  <a:srgbClr val="ABB41D"/>
                </a:solidFill>
              </a:rPr>
              <a:t>Component</a:t>
            </a:r>
          </a:p>
          <a:p>
            <a:pPr algn="ctr"/>
            <a:r>
              <a:rPr lang="en-US" sz="1400" b="1" dirty="0">
                <a:solidFill>
                  <a:srgbClr val="ABB41D"/>
                </a:solidFill>
              </a:rPr>
              <a:t>Implementation</a:t>
            </a:r>
          </a:p>
        </p:txBody>
      </p:sp>
      <p:sp>
        <p:nvSpPr>
          <p:cNvPr id="27" name="TextBox 26"/>
          <p:cNvSpPr txBox="1"/>
          <p:nvPr/>
        </p:nvSpPr>
        <p:spPr>
          <a:xfrm>
            <a:off x="6214514" y="816918"/>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28" name="TextBox 27"/>
          <p:cNvSpPr txBox="1"/>
          <p:nvPr/>
        </p:nvSpPr>
        <p:spPr>
          <a:xfrm>
            <a:off x="7508352" y="762000"/>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29" name="TextBox 28"/>
          <p:cNvSpPr txBox="1"/>
          <p:nvPr/>
        </p:nvSpPr>
        <p:spPr>
          <a:xfrm>
            <a:off x="7088515" y="1447800"/>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30" name="TextBox 29"/>
          <p:cNvSpPr txBox="1"/>
          <p:nvPr/>
        </p:nvSpPr>
        <p:spPr>
          <a:xfrm>
            <a:off x="6477000" y="2734872"/>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31" name="TextBox 30"/>
          <p:cNvSpPr txBox="1"/>
          <p:nvPr/>
        </p:nvSpPr>
        <p:spPr>
          <a:xfrm>
            <a:off x="7365083" y="2747826"/>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32" name="TextBox 31"/>
          <p:cNvSpPr txBox="1"/>
          <p:nvPr/>
        </p:nvSpPr>
        <p:spPr>
          <a:xfrm>
            <a:off x="6403231" y="3943910"/>
            <a:ext cx="663964" cy="215444"/>
          </a:xfrm>
          <a:prstGeom prst="rect">
            <a:avLst/>
          </a:prstGeom>
          <a:noFill/>
        </p:spPr>
        <p:txBody>
          <a:bodyPr wrap="none" rtlCol="0">
            <a:spAutoFit/>
          </a:bodyPr>
          <a:lstStyle/>
          <a:p>
            <a:r>
              <a:rPr lang="en-US" sz="800" b="1" dirty="0" smtClean="0">
                <a:solidFill>
                  <a:schemeClr val="accent1"/>
                </a:solidFill>
                <a:latin typeface="+mn-lt"/>
              </a:rPr>
              <a:t>contract</a:t>
            </a:r>
            <a:endParaRPr lang="en-US" sz="800" b="1" dirty="0">
              <a:solidFill>
                <a:schemeClr val="accent1"/>
              </a:solidFill>
              <a:latin typeface="+mn-lt"/>
            </a:endParaRPr>
          </a:p>
        </p:txBody>
      </p:sp>
      <p:sp>
        <p:nvSpPr>
          <p:cNvPr id="33" name="TextBox 32"/>
          <p:cNvSpPr txBox="1"/>
          <p:nvPr/>
        </p:nvSpPr>
        <p:spPr>
          <a:xfrm>
            <a:off x="7134225" y="3943910"/>
            <a:ext cx="663964" cy="215444"/>
          </a:xfrm>
          <a:prstGeom prst="rect">
            <a:avLst/>
          </a:prstGeom>
          <a:noFill/>
        </p:spPr>
        <p:txBody>
          <a:bodyPr wrap="none" rtlCol="0">
            <a:spAutoFit/>
          </a:bodyPr>
          <a:lstStyle/>
          <a:p>
            <a:r>
              <a:rPr lang="en-US" sz="800" b="1" dirty="0" smtClean="0">
                <a:solidFill>
                  <a:schemeClr val="accent1"/>
                </a:solidFill>
                <a:latin typeface="+mn-lt"/>
              </a:rPr>
              <a:t>contract</a:t>
            </a:r>
            <a:endParaRPr lang="en-US" sz="800" b="1" dirty="0">
              <a:solidFill>
                <a:schemeClr val="accent1"/>
              </a:solidFill>
              <a:latin typeface="+mn-lt"/>
            </a:endParaRPr>
          </a:p>
        </p:txBody>
      </p:sp>
      <p:sp>
        <p:nvSpPr>
          <p:cNvPr id="35" name="Title 1"/>
          <p:cNvSpPr>
            <a:spLocks noGrp="1"/>
          </p:cNvSpPr>
          <p:nvPr>
            <p:ph type="title"/>
          </p:nvPr>
        </p:nvSpPr>
        <p:spPr>
          <a:xfrm>
            <a:off x="762000" y="609600"/>
            <a:ext cx="7772400" cy="1104899"/>
          </a:xfrm>
        </p:spPr>
        <p:txBody>
          <a:bodyPr>
            <a:noAutofit/>
          </a:bodyPr>
          <a:lstStyle/>
          <a:p>
            <a:pPr algn="l"/>
            <a:r>
              <a:rPr lang="en-US" sz="2400" b="1" dirty="0" smtClean="0">
                <a:solidFill>
                  <a:schemeClr val="bg1">
                    <a:lumMod val="50000"/>
                  </a:schemeClr>
                </a:solidFill>
              </a:rPr>
              <a:t>AGREE:</a:t>
            </a:r>
            <a:br>
              <a:rPr lang="en-US" sz="2400" b="1" dirty="0" smtClean="0">
                <a:solidFill>
                  <a:schemeClr val="bg1">
                    <a:lumMod val="50000"/>
                  </a:schemeClr>
                </a:solidFill>
              </a:rPr>
            </a:br>
            <a:r>
              <a:rPr lang="en-US" sz="2400" b="1" dirty="0" smtClean="0">
                <a:solidFill>
                  <a:schemeClr val="bg1">
                    <a:lumMod val="50000"/>
                  </a:schemeClr>
                </a:solidFill>
              </a:rPr>
              <a:t>Assume Guarantee</a:t>
            </a:r>
            <a:br>
              <a:rPr lang="en-US" sz="2400" b="1" dirty="0" smtClean="0">
                <a:solidFill>
                  <a:schemeClr val="bg1">
                    <a:lumMod val="50000"/>
                  </a:schemeClr>
                </a:solidFill>
              </a:rPr>
            </a:br>
            <a:r>
              <a:rPr lang="en-US" sz="2400" b="1" dirty="0" smtClean="0">
                <a:solidFill>
                  <a:schemeClr val="bg1">
                    <a:lumMod val="50000"/>
                  </a:schemeClr>
                </a:solidFill>
              </a:rPr>
              <a:t>Reasoning Environment</a:t>
            </a:r>
            <a:endParaRPr lang="en-US" sz="2400" b="1" dirty="0">
              <a:solidFill>
                <a:schemeClr val="bg1">
                  <a:lumMod val="50000"/>
                </a:schemeClr>
              </a:solidFill>
            </a:endParaRPr>
          </a:p>
        </p:txBody>
      </p:sp>
    </p:spTree>
    <p:extLst>
      <p:ext uri="{BB962C8B-B14F-4D97-AF65-F5344CB8AC3E}">
        <p14:creationId xmlns:p14="http://schemas.microsoft.com/office/powerpoint/2010/main" val="13704751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2" descr="http://www.geemap.stat.uiowa.edu/University_of_Iowa_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0630" y="2170176"/>
            <a:ext cx="1219200" cy="72542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0"/>
          </p:nvPr>
        </p:nvSpPr>
        <p:spPr/>
        <p:txBody>
          <a:bodyPr/>
          <a:lstStyle/>
          <a:p>
            <a:pPr>
              <a:defRPr/>
            </a:pPr>
            <a:fld id="{F66F1AAB-BFBA-4F53-B587-234CB35509C8}" type="slidenum">
              <a:rPr lang="en-US"/>
              <a:pPr>
                <a:defRPr/>
              </a:pPr>
              <a:t>33</a:t>
            </a:fld>
            <a:endParaRPr lang="en-US" dirty="0"/>
          </a:p>
        </p:txBody>
      </p:sp>
      <p:sp>
        <p:nvSpPr>
          <p:cNvPr id="9219" name="Rectangle 2"/>
          <p:cNvSpPr>
            <a:spLocks noGrp="1" noChangeArrowheads="1"/>
          </p:cNvSpPr>
          <p:nvPr>
            <p:ph type="body" idx="1"/>
          </p:nvPr>
        </p:nvSpPr>
        <p:spPr>
          <a:xfrm>
            <a:off x="748076" y="1563798"/>
            <a:ext cx="5301474" cy="3810000"/>
          </a:xfrm>
          <a:noFill/>
        </p:spPr>
        <p:txBody>
          <a:bodyPr/>
          <a:lstStyle/>
          <a:p>
            <a:r>
              <a:rPr lang="en-US" altLang="en-US" sz="1400" dirty="0" smtClean="0"/>
              <a:t>Compositional verification tool for analysis of AADL system models</a:t>
            </a:r>
          </a:p>
          <a:p>
            <a:r>
              <a:rPr lang="en-US" altLang="en-US" sz="1400" dirty="0" smtClean="0"/>
              <a:t>AGREE: Assume-Guarantee Reasoning Environment</a:t>
            </a:r>
          </a:p>
          <a:p>
            <a:r>
              <a:rPr lang="en-US" altLang="en-US" sz="1400" dirty="0" smtClean="0"/>
              <a:t>Focus on system safety properties</a:t>
            </a:r>
          </a:p>
          <a:p>
            <a:r>
              <a:rPr lang="en-US" altLang="en-US" sz="1400" dirty="0" smtClean="0"/>
              <a:t>Compositional approach scales model checking to larger systems</a:t>
            </a:r>
          </a:p>
        </p:txBody>
      </p:sp>
      <p:sp>
        <p:nvSpPr>
          <p:cNvPr id="9220" name="Rectangle 3"/>
          <p:cNvSpPr>
            <a:spLocks noChangeArrowheads="1"/>
          </p:cNvSpPr>
          <p:nvPr/>
        </p:nvSpPr>
        <p:spPr bwMode="auto">
          <a:xfrm>
            <a:off x="757238" y="8683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2000" b="1" dirty="0" smtClean="0">
                <a:solidFill>
                  <a:schemeClr val="bg1">
                    <a:lumMod val="50000"/>
                  </a:schemeClr>
                </a:solidFill>
                <a:latin typeface="Verdana" pitchFamily="34" charset="0"/>
              </a:rPr>
              <a:t>Compositional Verification of Critical Systems</a:t>
            </a:r>
            <a:endParaRPr lang="en-US" altLang="en-US" sz="2000" b="1" dirty="0">
              <a:solidFill>
                <a:schemeClr val="bg1">
                  <a:lumMod val="50000"/>
                </a:schemeClr>
              </a:solidFill>
              <a:latin typeface="Verdana" pitchFamily="34" charset="0"/>
            </a:endParaRPr>
          </a:p>
        </p:txBody>
      </p:sp>
      <p:pic>
        <p:nvPicPr>
          <p:cNvPr id="5" name="Picture 6" descr="http://upload.wikimedia.org/wikipedia/commons/thumb/e/e5/NASA_logo.svg/290px-NASA_logo.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32630" y="1371600"/>
            <a:ext cx="1306570" cy="111283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6"/>
          <p:cNvGrpSpPr/>
          <p:nvPr/>
        </p:nvGrpSpPr>
        <p:grpSpPr>
          <a:xfrm>
            <a:off x="1058541" y="4131785"/>
            <a:ext cx="3973458" cy="1771543"/>
            <a:chOff x="4038600" y="3886200"/>
            <a:chExt cx="4800601" cy="2140321"/>
          </a:xfrm>
        </p:grpSpPr>
        <p:sp>
          <p:nvSpPr>
            <p:cNvPr id="10" name="Rectangle 9"/>
            <p:cNvSpPr/>
            <p:nvPr/>
          </p:nvSpPr>
          <p:spPr>
            <a:xfrm>
              <a:off x="4038600" y="3886200"/>
              <a:ext cx="4800600" cy="213360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anchor="ctr"/>
            <a:lstStyle/>
            <a:p>
              <a:pPr algn="ctr" fontAlgn="auto">
                <a:spcBef>
                  <a:spcPts val="0"/>
                </a:spcBef>
                <a:spcAft>
                  <a:spcPts val="0"/>
                </a:spcAft>
                <a:defRPr/>
              </a:pPr>
              <a:endParaRPr lang="en-US" sz="1400" dirty="0"/>
            </a:p>
          </p:txBody>
        </p:sp>
        <p:cxnSp>
          <p:nvCxnSpPr>
            <p:cNvPr id="11" name="Straight Connector 10"/>
            <p:cNvCxnSpPr>
              <a:stCxn id="24" idx="0"/>
              <a:endCxn id="33" idx="3"/>
            </p:cNvCxnSpPr>
            <p:nvPr/>
          </p:nvCxnSpPr>
          <p:spPr>
            <a:xfrm>
              <a:off x="4090988" y="4279900"/>
              <a:ext cx="357187" cy="3175"/>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34"/>
            <p:cNvCxnSpPr>
              <a:stCxn id="34" idx="0"/>
              <a:endCxn id="30" idx="3"/>
            </p:cNvCxnSpPr>
            <p:nvPr/>
          </p:nvCxnSpPr>
          <p:spPr>
            <a:xfrm>
              <a:off x="5562601" y="4283075"/>
              <a:ext cx="333375" cy="1125538"/>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3" name="Straight Connector 36"/>
            <p:cNvCxnSpPr>
              <a:stCxn id="31" idx="0"/>
              <a:endCxn id="26" idx="3"/>
            </p:cNvCxnSpPr>
            <p:nvPr/>
          </p:nvCxnSpPr>
          <p:spPr>
            <a:xfrm flipV="1">
              <a:off x="7010401" y="4487069"/>
              <a:ext cx="380999" cy="921544"/>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a:stCxn id="34" idx="0"/>
              <a:endCxn id="27" idx="3"/>
            </p:cNvCxnSpPr>
            <p:nvPr/>
          </p:nvCxnSpPr>
          <p:spPr>
            <a:xfrm flipV="1">
              <a:off x="5562601" y="4282283"/>
              <a:ext cx="1828799" cy="792"/>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stCxn id="28" idx="0"/>
              <a:endCxn id="19" idx="3"/>
            </p:cNvCxnSpPr>
            <p:nvPr/>
          </p:nvCxnSpPr>
          <p:spPr>
            <a:xfrm>
              <a:off x="8504238" y="4384675"/>
              <a:ext cx="282576" cy="0"/>
            </a:xfrm>
            <a:prstGeom prst="line">
              <a:avLst/>
            </a:prstGeom>
          </p:spPr>
          <p:style>
            <a:lnRef idx="1">
              <a:schemeClr val="dk1"/>
            </a:lnRef>
            <a:fillRef idx="0">
              <a:schemeClr val="dk1"/>
            </a:fillRef>
            <a:effectRef idx="0">
              <a:schemeClr val="dk1"/>
            </a:effectRef>
            <a:fontRef idx="minor">
              <a:schemeClr val="tx1"/>
            </a:fontRef>
          </p:style>
        </p:cxnSp>
        <p:grpSp>
          <p:nvGrpSpPr>
            <p:cNvPr id="6" name="Group 15"/>
            <p:cNvGrpSpPr/>
            <p:nvPr/>
          </p:nvGrpSpPr>
          <p:grpSpPr>
            <a:xfrm>
              <a:off x="4448175" y="3975100"/>
              <a:ext cx="1114425" cy="614363"/>
              <a:chOff x="3800475" y="4076700"/>
              <a:chExt cx="1114425" cy="614363"/>
            </a:xfrm>
          </p:grpSpPr>
          <p:sp>
            <p:nvSpPr>
              <p:cNvPr id="32" name="Rectangle 31"/>
              <p:cNvSpPr>
                <a:spLocks noChangeArrowheads="1"/>
              </p:cNvSpPr>
              <p:nvPr/>
            </p:nvSpPr>
            <p:spPr bwMode="auto">
              <a:xfrm>
                <a:off x="3800475" y="4076700"/>
                <a:ext cx="1114425"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A</a:t>
                </a:r>
              </a:p>
            </p:txBody>
          </p:sp>
          <p:sp>
            <p:nvSpPr>
              <p:cNvPr id="33" name="Isosceles Triangle 32"/>
              <p:cNvSpPr>
                <a:spLocks noChangeArrowheads="1"/>
              </p:cNvSpPr>
              <p:nvPr/>
            </p:nvSpPr>
            <p:spPr bwMode="auto">
              <a:xfrm rot="5400000">
                <a:off x="38012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4" name="Isosceles Triangle 33"/>
              <p:cNvSpPr>
                <a:spLocks noChangeArrowheads="1"/>
              </p:cNvSpPr>
              <p:nvPr/>
            </p:nvSpPr>
            <p:spPr bwMode="auto">
              <a:xfrm rot="5400000">
                <a:off x="4862513" y="4357687"/>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7" name="Group 16"/>
            <p:cNvGrpSpPr/>
            <p:nvPr/>
          </p:nvGrpSpPr>
          <p:grpSpPr>
            <a:xfrm>
              <a:off x="5884862" y="5075238"/>
              <a:ext cx="1125538" cy="614362"/>
              <a:chOff x="5486400" y="5075238"/>
              <a:chExt cx="1125538" cy="614362"/>
            </a:xfrm>
          </p:grpSpPr>
          <p:sp>
            <p:nvSpPr>
              <p:cNvPr id="29" name="Rectangle 28"/>
              <p:cNvSpPr>
                <a:spLocks noChangeArrowheads="1"/>
              </p:cNvSpPr>
              <p:nvPr/>
            </p:nvSpPr>
            <p:spPr bwMode="auto">
              <a:xfrm>
                <a:off x="5486400" y="5075238"/>
                <a:ext cx="1114425" cy="614362"/>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B</a:t>
                </a:r>
              </a:p>
            </p:txBody>
          </p:sp>
          <p:sp>
            <p:nvSpPr>
              <p:cNvPr id="30" name="Isosceles Triangle 29"/>
              <p:cNvSpPr>
                <a:spLocks noChangeArrowheads="1"/>
              </p:cNvSpPr>
              <p:nvPr/>
            </p:nvSpPr>
            <p:spPr bwMode="auto">
              <a:xfrm rot="5400000">
                <a:off x="5498307" y="5382419"/>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1" name="Isosceles Triangle 30"/>
              <p:cNvSpPr>
                <a:spLocks noChangeArrowheads="1"/>
              </p:cNvSpPr>
              <p:nvPr/>
            </p:nvSpPr>
            <p:spPr bwMode="auto">
              <a:xfrm rot="5400000">
                <a:off x="6559551" y="5381625"/>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8" name="Group 17"/>
            <p:cNvGrpSpPr/>
            <p:nvPr/>
          </p:nvGrpSpPr>
          <p:grpSpPr>
            <a:xfrm>
              <a:off x="7391400" y="4051300"/>
              <a:ext cx="1112838" cy="614363"/>
              <a:chOff x="7248525" y="4051300"/>
              <a:chExt cx="1112838" cy="614363"/>
            </a:xfrm>
          </p:grpSpPr>
          <p:sp>
            <p:nvSpPr>
              <p:cNvPr id="25" name="Rectangle 24"/>
              <p:cNvSpPr>
                <a:spLocks noChangeArrowheads="1"/>
              </p:cNvSpPr>
              <p:nvPr/>
            </p:nvSpPr>
            <p:spPr bwMode="auto">
              <a:xfrm>
                <a:off x="7248525" y="4051300"/>
                <a:ext cx="1112838"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C</a:t>
                </a:r>
              </a:p>
            </p:txBody>
          </p:sp>
          <p:sp>
            <p:nvSpPr>
              <p:cNvPr id="26" name="Isosceles Triangle 25"/>
              <p:cNvSpPr>
                <a:spLocks noChangeArrowheads="1"/>
              </p:cNvSpPr>
              <p:nvPr/>
            </p:nvSpPr>
            <p:spPr bwMode="auto">
              <a:xfrm rot="5400000">
                <a:off x="7248525" y="4460875"/>
                <a:ext cx="52388"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7" name="Isosceles Triangle 26"/>
              <p:cNvSpPr>
                <a:spLocks noChangeArrowheads="1"/>
              </p:cNvSpPr>
              <p:nvPr/>
            </p:nvSpPr>
            <p:spPr bwMode="auto">
              <a:xfrm rot="5400000">
                <a:off x="7248525" y="4256088"/>
                <a:ext cx="52387"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8" name="Isosceles Triangle 27"/>
              <p:cNvSpPr>
                <a:spLocks noChangeArrowheads="1"/>
              </p:cNvSpPr>
              <p:nvPr/>
            </p:nvSpPr>
            <p:spPr bwMode="auto">
              <a:xfrm rot="5400000">
                <a:off x="83097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sp>
          <p:nvSpPr>
            <p:cNvPr id="19" name="Isosceles Triangle 18"/>
            <p:cNvSpPr>
              <a:spLocks noChangeArrowheads="1"/>
            </p:cNvSpPr>
            <p:nvPr/>
          </p:nvSpPr>
          <p:spPr bwMode="auto">
            <a:xfrm rot="5400000">
              <a:off x="8787607" y="4358481"/>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0" name="TextBox 43"/>
            <p:cNvSpPr txBox="1">
              <a:spLocks noChangeArrowheads="1"/>
            </p:cNvSpPr>
            <p:nvPr/>
          </p:nvSpPr>
          <p:spPr bwMode="auto">
            <a:xfrm>
              <a:off x="4227513" y="4571999"/>
              <a:ext cx="1639889"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2*Input</a:t>
              </a:r>
            </a:p>
          </p:txBody>
        </p:sp>
        <p:sp>
          <p:nvSpPr>
            <p:cNvPr id="21" name="TextBox 44"/>
            <p:cNvSpPr txBox="1">
              <a:spLocks noChangeArrowheads="1"/>
            </p:cNvSpPr>
            <p:nvPr/>
          </p:nvSpPr>
          <p:spPr bwMode="auto">
            <a:xfrm>
              <a:off x="5724523" y="5654675"/>
              <a:ext cx="1743075"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Input + 15</a:t>
              </a:r>
            </a:p>
          </p:txBody>
        </p:sp>
        <p:sp>
          <p:nvSpPr>
            <p:cNvPr id="22" name="TextBox 45"/>
            <p:cNvSpPr txBox="1">
              <a:spLocks noChangeArrowheads="1"/>
            </p:cNvSpPr>
            <p:nvPr/>
          </p:nvSpPr>
          <p:spPr bwMode="auto">
            <a:xfrm>
              <a:off x="7300913" y="4648200"/>
              <a:ext cx="1538287" cy="50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none</a:t>
              </a:r>
            </a:p>
            <a:p>
              <a:r>
                <a:rPr lang="en-US" sz="700" dirty="0">
                  <a:latin typeface="Calibri" pitchFamily="34" charset="0"/>
                </a:rPr>
                <a:t>Guarantee: Output = Input1 + Input2</a:t>
              </a:r>
            </a:p>
          </p:txBody>
        </p:sp>
        <p:sp>
          <p:nvSpPr>
            <p:cNvPr id="23" name="TextBox 46"/>
            <p:cNvSpPr txBox="1">
              <a:spLocks noChangeArrowheads="1"/>
            </p:cNvSpPr>
            <p:nvPr/>
          </p:nvSpPr>
          <p:spPr bwMode="auto">
            <a:xfrm>
              <a:off x="7443790" y="5650467"/>
              <a:ext cx="1395411" cy="371846"/>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10</a:t>
              </a:r>
            </a:p>
            <a:p>
              <a:r>
                <a:rPr lang="en-US" sz="700" dirty="0">
                  <a:latin typeface="Calibri" pitchFamily="34" charset="0"/>
                </a:rPr>
                <a:t>Guarantee: Output &lt; 50</a:t>
              </a:r>
            </a:p>
          </p:txBody>
        </p:sp>
        <p:sp>
          <p:nvSpPr>
            <p:cNvPr id="24" name="Isosceles Triangle 17"/>
            <p:cNvSpPr>
              <a:spLocks noChangeArrowheads="1"/>
            </p:cNvSpPr>
            <p:nvPr/>
          </p:nvSpPr>
          <p:spPr bwMode="auto">
            <a:xfrm rot="5400000">
              <a:off x="4039394" y="4253706"/>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9" name="Group 1"/>
          <p:cNvGrpSpPr/>
          <p:nvPr/>
        </p:nvGrpSpPr>
        <p:grpSpPr>
          <a:xfrm>
            <a:off x="5589511" y="3876422"/>
            <a:ext cx="3276637" cy="2265576"/>
            <a:chOff x="2145684" y="1306945"/>
            <a:chExt cx="4611948" cy="3188855"/>
          </a:xfrm>
        </p:grpSpPr>
        <p:grpSp>
          <p:nvGrpSpPr>
            <p:cNvPr id="16" name="Group 34"/>
            <p:cNvGrpSpPr/>
            <p:nvPr/>
          </p:nvGrpSpPr>
          <p:grpSpPr>
            <a:xfrm flipH="1">
              <a:off x="3200400" y="3152217"/>
              <a:ext cx="2590800" cy="855847"/>
              <a:chOff x="3333844" y="3295554"/>
              <a:chExt cx="2590800" cy="855847"/>
            </a:xfrm>
          </p:grpSpPr>
          <p:cxnSp>
            <p:nvCxnSpPr>
              <p:cNvPr id="36" name="Straight Arrow Connector 35"/>
              <p:cNvCxnSpPr/>
              <p:nvPr/>
            </p:nvCxnSpPr>
            <p:spPr>
              <a:xfrm flipH="1" flipV="1">
                <a:off x="3755871" y="3299408"/>
                <a:ext cx="2168773"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flipV="1">
                <a:off x="3581400" y="3299408"/>
                <a:ext cx="1438324" cy="76200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3457616" y="3299408"/>
                <a:ext cx="682370" cy="762001"/>
              </a:xfrm>
              <a:prstGeom prst="straightConnector1">
                <a:avLst/>
              </a:prstGeom>
              <a:ln>
                <a:solidFill>
                  <a:srgbClr val="FF0000"/>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3333844" y="3295554"/>
                <a:ext cx="0" cy="85584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grpSp>
        <p:cxnSp>
          <p:nvCxnSpPr>
            <p:cNvPr id="40" name="Straight Arrow Connector 39"/>
            <p:cNvCxnSpPr/>
            <p:nvPr/>
          </p:nvCxnSpPr>
          <p:spPr>
            <a:xfrm flipH="1" flipV="1">
              <a:off x="3603471" y="3147008"/>
              <a:ext cx="2168773"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H="1" flipV="1">
              <a:off x="3429000" y="3147008"/>
              <a:ext cx="1438324" cy="76200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H="1" flipV="1">
              <a:off x="3305216" y="3147008"/>
              <a:ext cx="682370" cy="762001"/>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V="1">
              <a:off x="3181444" y="3143154"/>
              <a:ext cx="0" cy="85584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2766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5" name="Freeform 44"/>
            <p:cNvSpPr/>
            <p:nvPr/>
          </p:nvSpPr>
          <p:spPr>
            <a:xfrm>
              <a:off x="44958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6" name="Freeform 45"/>
            <p:cNvSpPr/>
            <p:nvPr/>
          </p:nvSpPr>
          <p:spPr>
            <a:xfrm>
              <a:off x="2145684" y="1828800"/>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7" name="Freeform 46"/>
            <p:cNvSpPr/>
            <p:nvPr/>
          </p:nvSpPr>
          <p:spPr>
            <a:xfrm>
              <a:off x="5626716" y="1837961"/>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8" name="Freeform 47"/>
            <p:cNvSpPr/>
            <p:nvPr/>
          </p:nvSpPr>
          <p:spPr>
            <a:xfrm>
              <a:off x="2934678"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49" name="Freeform 48"/>
            <p:cNvSpPr/>
            <p:nvPr/>
          </p:nvSpPr>
          <p:spPr>
            <a:xfrm>
              <a:off x="3745884"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0" name="Freeform 49"/>
            <p:cNvSpPr/>
            <p:nvPr/>
          </p:nvSpPr>
          <p:spPr>
            <a:xfrm>
              <a:off x="4572000"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1" name="Freeform 50"/>
            <p:cNvSpPr/>
            <p:nvPr/>
          </p:nvSpPr>
          <p:spPr>
            <a:xfrm>
              <a:off x="5410200"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cxnSp>
          <p:nvCxnSpPr>
            <p:cNvPr id="52" name="Straight Arrow Connector 51"/>
            <p:cNvCxnSpPr/>
            <p:nvPr/>
          </p:nvCxnSpPr>
          <p:spPr>
            <a:xfrm>
              <a:off x="3276600" y="1981200"/>
              <a:ext cx="1784658"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3603471" y="1699208"/>
              <a:ext cx="1578129"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5257800" y="1699208"/>
              <a:ext cx="152400"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5626716" y="2221063"/>
              <a:ext cx="240684" cy="36606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3835186" y="1977346"/>
              <a:ext cx="1784658"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H="1">
              <a:off x="3714844" y="1695354"/>
              <a:ext cx="1578129" cy="88791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a:off x="3486244" y="1695354"/>
              <a:ext cx="152400" cy="887917"/>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a:off x="3029044" y="2217209"/>
              <a:ext cx="240684" cy="36606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60" name="Freeform 59"/>
            <p:cNvSpPr/>
            <p:nvPr/>
          </p:nvSpPr>
          <p:spPr>
            <a:xfrm>
              <a:off x="5061258"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sp>
          <p:nvSpPr>
            <p:cNvPr id="61" name="Freeform 60"/>
            <p:cNvSpPr/>
            <p:nvPr/>
          </p:nvSpPr>
          <p:spPr>
            <a:xfrm>
              <a:off x="2755284"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grpSp>
      <p:pic>
        <p:nvPicPr>
          <p:cNvPr id="63" name="Picture 7" descr="C:\Documents and Settings\ddcofer\My Documents\Projects\hacms\logos\UMN-v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75330" y="1752600"/>
            <a:ext cx="952500" cy="62430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181600" y="3200400"/>
            <a:ext cx="3657600" cy="533400"/>
          </a:xfrm>
          <a:prstGeom prst="rect">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Example system: Quad-redundant flight control system provided by NASA</a:t>
            </a:r>
            <a:endParaRPr lang="en-US" sz="1200" b="1" dirty="0"/>
          </a:p>
        </p:txBody>
      </p:sp>
      <p:sp>
        <p:nvSpPr>
          <p:cNvPr id="9217" name="Circular Arrow 9216"/>
          <p:cNvSpPr/>
          <p:nvPr/>
        </p:nvSpPr>
        <p:spPr>
          <a:xfrm rot="15419931" flipH="1">
            <a:off x="5834682" y="3083091"/>
            <a:ext cx="1116616" cy="1116616"/>
          </a:xfrm>
          <a:prstGeom prst="circularArrow">
            <a:avLst>
              <a:gd name="adj1" fmla="val 10171"/>
              <a:gd name="adj2" fmla="val 1142319"/>
              <a:gd name="adj3" fmla="val 18623744"/>
              <a:gd name="adj4" fmla="val 15645266"/>
              <a:gd name="adj5" fmla="val 13600"/>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530934397"/>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2" descr="http://www.geemap.stat.uiowa.edu/University_of_Iowa_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0630" y="2170176"/>
            <a:ext cx="1219200" cy="72542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0"/>
          </p:nvPr>
        </p:nvSpPr>
        <p:spPr/>
        <p:txBody>
          <a:bodyPr/>
          <a:lstStyle/>
          <a:p>
            <a:pPr>
              <a:defRPr/>
            </a:pPr>
            <a:fld id="{F66F1AAB-BFBA-4F53-B587-234CB35509C8}" type="slidenum">
              <a:rPr lang="en-US"/>
              <a:pPr>
                <a:defRPr/>
              </a:pPr>
              <a:t>34</a:t>
            </a:fld>
            <a:endParaRPr lang="en-US" dirty="0"/>
          </a:p>
        </p:txBody>
      </p:sp>
      <p:sp>
        <p:nvSpPr>
          <p:cNvPr id="9219" name="Rectangle 2"/>
          <p:cNvSpPr>
            <a:spLocks noGrp="1" noChangeArrowheads="1"/>
          </p:cNvSpPr>
          <p:nvPr>
            <p:ph type="body" idx="1"/>
          </p:nvPr>
        </p:nvSpPr>
        <p:spPr>
          <a:xfrm>
            <a:off x="748076" y="1563798"/>
            <a:ext cx="5301474" cy="3810000"/>
          </a:xfrm>
          <a:noFill/>
        </p:spPr>
        <p:txBody>
          <a:bodyPr/>
          <a:lstStyle/>
          <a:p>
            <a:r>
              <a:rPr lang="en-US" altLang="en-US" sz="1400" dirty="0" smtClean="0"/>
              <a:t>Compositional verification tool for analysis of AADL system models</a:t>
            </a:r>
          </a:p>
          <a:p>
            <a:r>
              <a:rPr lang="en-US" altLang="en-US" sz="1400" dirty="0" smtClean="0"/>
              <a:t>AGREE: Assume-Guarantee Reasoning Environment</a:t>
            </a:r>
          </a:p>
          <a:p>
            <a:r>
              <a:rPr lang="en-US" altLang="en-US" sz="1400" dirty="0" smtClean="0"/>
              <a:t>Focus on system safety properties</a:t>
            </a:r>
          </a:p>
          <a:p>
            <a:r>
              <a:rPr lang="en-US" altLang="en-US" sz="1400" dirty="0" smtClean="0"/>
              <a:t>Compositional approach scales model checking to larger systems</a:t>
            </a:r>
          </a:p>
        </p:txBody>
      </p:sp>
      <p:sp>
        <p:nvSpPr>
          <p:cNvPr id="9220" name="Rectangle 3"/>
          <p:cNvSpPr>
            <a:spLocks noChangeArrowheads="1"/>
          </p:cNvSpPr>
          <p:nvPr/>
        </p:nvSpPr>
        <p:spPr bwMode="auto">
          <a:xfrm>
            <a:off x="757238" y="8683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2000" b="1" dirty="0" smtClean="0">
                <a:solidFill>
                  <a:schemeClr val="bg1">
                    <a:lumMod val="50000"/>
                  </a:schemeClr>
                </a:solidFill>
                <a:latin typeface="Verdana" pitchFamily="34" charset="0"/>
              </a:rPr>
              <a:t>Compositional Verification of Critical Systems</a:t>
            </a:r>
            <a:endParaRPr lang="en-US" altLang="en-US" sz="2000" b="1" dirty="0">
              <a:solidFill>
                <a:schemeClr val="bg1">
                  <a:lumMod val="50000"/>
                </a:schemeClr>
              </a:solidFill>
              <a:latin typeface="Verdana" pitchFamily="34" charset="0"/>
            </a:endParaRPr>
          </a:p>
        </p:txBody>
      </p:sp>
      <p:pic>
        <p:nvPicPr>
          <p:cNvPr id="5" name="Picture 6" descr="http://upload.wikimedia.org/wikipedia/commons/thumb/e/e5/NASA_logo.svg/290px-NASA_logo.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32630" y="1371600"/>
            <a:ext cx="1306570" cy="111283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6"/>
          <p:cNvGrpSpPr/>
          <p:nvPr/>
        </p:nvGrpSpPr>
        <p:grpSpPr>
          <a:xfrm>
            <a:off x="1058541" y="4131785"/>
            <a:ext cx="3973458" cy="1771543"/>
            <a:chOff x="4038600" y="3886200"/>
            <a:chExt cx="4800601" cy="2140321"/>
          </a:xfrm>
        </p:grpSpPr>
        <p:sp>
          <p:nvSpPr>
            <p:cNvPr id="10" name="Rectangle 9"/>
            <p:cNvSpPr/>
            <p:nvPr/>
          </p:nvSpPr>
          <p:spPr>
            <a:xfrm>
              <a:off x="4038600" y="3886200"/>
              <a:ext cx="4800600" cy="213360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anchor="ctr"/>
            <a:lstStyle/>
            <a:p>
              <a:pPr algn="ctr" fontAlgn="auto">
                <a:spcBef>
                  <a:spcPts val="0"/>
                </a:spcBef>
                <a:spcAft>
                  <a:spcPts val="0"/>
                </a:spcAft>
                <a:defRPr/>
              </a:pPr>
              <a:endParaRPr lang="en-US" sz="1400" dirty="0"/>
            </a:p>
          </p:txBody>
        </p:sp>
        <p:cxnSp>
          <p:nvCxnSpPr>
            <p:cNvPr id="11" name="Straight Connector 10"/>
            <p:cNvCxnSpPr>
              <a:stCxn id="24" idx="0"/>
              <a:endCxn id="33" idx="3"/>
            </p:cNvCxnSpPr>
            <p:nvPr/>
          </p:nvCxnSpPr>
          <p:spPr>
            <a:xfrm>
              <a:off x="4090988" y="4279900"/>
              <a:ext cx="357187" cy="3175"/>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34"/>
            <p:cNvCxnSpPr>
              <a:stCxn id="34" idx="0"/>
              <a:endCxn id="30" idx="3"/>
            </p:cNvCxnSpPr>
            <p:nvPr/>
          </p:nvCxnSpPr>
          <p:spPr>
            <a:xfrm>
              <a:off x="5562601" y="4283075"/>
              <a:ext cx="333375" cy="1125538"/>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3" name="Straight Connector 36"/>
            <p:cNvCxnSpPr>
              <a:stCxn id="31" idx="0"/>
              <a:endCxn id="26" idx="3"/>
            </p:cNvCxnSpPr>
            <p:nvPr/>
          </p:nvCxnSpPr>
          <p:spPr>
            <a:xfrm flipV="1">
              <a:off x="7010401" y="4487069"/>
              <a:ext cx="380999" cy="921544"/>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a:stCxn id="34" idx="0"/>
              <a:endCxn id="27" idx="3"/>
            </p:cNvCxnSpPr>
            <p:nvPr/>
          </p:nvCxnSpPr>
          <p:spPr>
            <a:xfrm flipV="1">
              <a:off x="5562601" y="4282283"/>
              <a:ext cx="1828799" cy="792"/>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stCxn id="28" idx="0"/>
              <a:endCxn id="19" idx="3"/>
            </p:cNvCxnSpPr>
            <p:nvPr/>
          </p:nvCxnSpPr>
          <p:spPr>
            <a:xfrm>
              <a:off x="8504238" y="4384675"/>
              <a:ext cx="282576" cy="0"/>
            </a:xfrm>
            <a:prstGeom prst="line">
              <a:avLst/>
            </a:prstGeom>
          </p:spPr>
          <p:style>
            <a:lnRef idx="1">
              <a:schemeClr val="dk1"/>
            </a:lnRef>
            <a:fillRef idx="0">
              <a:schemeClr val="dk1"/>
            </a:fillRef>
            <a:effectRef idx="0">
              <a:schemeClr val="dk1"/>
            </a:effectRef>
            <a:fontRef idx="minor">
              <a:schemeClr val="tx1"/>
            </a:fontRef>
          </p:style>
        </p:cxnSp>
        <p:grpSp>
          <p:nvGrpSpPr>
            <p:cNvPr id="6" name="Group 15"/>
            <p:cNvGrpSpPr/>
            <p:nvPr/>
          </p:nvGrpSpPr>
          <p:grpSpPr>
            <a:xfrm>
              <a:off x="4448175" y="3975100"/>
              <a:ext cx="1114425" cy="614363"/>
              <a:chOff x="3800475" y="4076700"/>
              <a:chExt cx="1114425" cy="614363"/>
            </a:xfrm>
          </p:grpSpPr>
          <p:sp>
            <p:nvSpPr>
              <p:cNvPr id="32" name="Rectangle 31"/>
              <p:cNvSpPr>
                <a:spLocks noChangeArrowheads="1"/>
              </p:cNvSpPr>
              <p:nvPr/>
            </p:nvSpPr>
            <p:spPr bwMode="auto">
              <a:xfrm>
                <a:off x="3800475" y="4076700"/>
                <a:ext cx="1114425"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A</a:t>
                </a:r>
              </a:p>
            </p:txBody>
          </p:sp>
          <p:sp>
            <p:nvSpPr>
              <p:cNvPr id="33" name="Isosceles Triangle 32"/>
              <p:cNvSpPr>
                <a:spLocks noChangeArrowheads="1"/>
              </p:cNvSpPr>
              <p:nvPr/>
            </p:nvSpPr>
            <p:spPr bwMode="auto">
              <a:xfrm rot="5400000">
                <a:off x="38012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4" name="Isosceles Triangle 33"/>
              <p:cNvSpPr>
                <a:spLocks noChangeArrowheads="1"/>
              </p:cNvSpPr>
              <p:nvPr/>
            </p:nvSpPr>
            <p:spPr bwMode="auto">
              <a:xfrm rot="5400000">
                <a:off x="4862513" y="4357687"/>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7" name="Group 16"/>
            <p:cNvGrpSpPr/>
            <p:nvPr/>
          </p:nvGrpSpPr>
          <p:grpSpPr>
            <a:xfrm>
              <a:off x="5884862" y="5075238"/>
              <a:ext cx="1125538" cy="614362"/>
              <a:chOff x="5486400" y="5075238"/>
              <a:chExt cx="1125538" cy="614362"/>
            </a:xfrm>
          </p:grpSpPr>
          <p:sp>
            <p:nvSpPr>
              <p:cNvPr id="29" name="Rectangle 28"/>
              <p:cNvSpPr>
                <a:spLocks noChangeArrowheads="1"/>
              </p:cNvSpPr>
              <p:nvPr/>
            </p:nvSpPr>
            <p:spPr bwMode="auto">
              <a:xfrm>
                <a:off x="5486400" y="5075238"/>
                <a:ext cx="1114425" cy="614362"/>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B</a:t>
                </a:r>
              </a:p>
            </p:txBody>
          </p:sp>
          <p:sp>
            <p:nvSpPr>
              <p:cNvPr id="30" name="Isosceles Triangle 29"/>
              <p:cNvSpPr>
                <a:spLocks noChangeArrowheads="1"/>
              </p:cNvSpPr>
              <p:nvPr/>
            </p:nvSpPr>
            <p:spPr bwMode="auto">
              <a:xfrm rot="5400000">
                <a:off x="5498307" y="5382419"/>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1" name="Isosceles Triangle 30"/>
              <p:cNvSpPr>
                <a:spLocks noChangeArrowheads="1"/>
              </p:cNvSpPr>
              <p:nvPr/>
            </p:nvSpPr>
            <p:spPr bwMode="auto">
              <a:xfrm rot="5400000">
                <a:off x="6559551" y="5381625"/>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8" name="Group 17"/>
            <p:cNvGrpSpPr/>
            <p:nvPr/>
          </p:nvGrpSpPr>
          <p:grpSpPr>
            <a:xfrm>
              <a:off x="7391400" y="4051300"/>
              <a:ext cx="1112838" cy="614363"/>
              <a:chOff x="7248525" y="4051300"/>
              <a:chExt cx="1112838" cy="614363"/>
            </a:xfrm>
          </p:grpSpPr>
          <p:sp>
            <p:nvSpPr>
              <p:cNvPr id="25" name="Rectangle 24"/>
              <p:cNvSpPr>
                <a:spLocks noChangeArrowheads="1"/>
              </p:cNvSpPr>
              <p:nvPr/>
            </p:nvSpPr>
            <p:spPr bwMode="auto">
              <a:xfrm>
                <a:off x="7248525" y="4051300"/>
                <a:ext cx="1112838"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C</a:t>
                </a:r>
              </a:p>
            </p:txBody>
          </p:sp>
          <p:sp>
            <p:nvSpPr>
              <p:cNvPr id="26" name="Isosceles Triangle 25"/>
              <p:cNvSpPr>
                <a:spLocks noChangeArrowheads="1"/>
              </p:cNvSpPr>
              <p:nvPr/>
            </p:nvSpPr>
            <p:spPr bwMode="auto">
              <a:xfrm rot="5400000">
                <a:off x="7248525" y="4460875"/>
                <a:ext cx="52388"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7" name="Isosceles Triangle 26"/>
              <p:cNvSpPr>
                <a:spLocks noChangeArrowheads="1"/>
              </p:cNvSpPr>
              <p:nvPr/>
            </p:nvSpPr>
            <p:spPr bwMode="auto">
              <a:xfrm rot="5400000">
                <a:off x="7248525" y="4256088"/>
                <a:ext cx="52387"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8" name="Isosceles Triangle 27"/>
              <p:cNvSpPr>
                <a:spLocks noChangeArrowheads="1"/>
              </p:cNvSpPr>
              <p:nvPr/>
            </p:nvSpPr>
            <p:spPr bwMode="auto">
              <a:xfrm rot="5400000">
                <a:off x="83097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sp>
          <p:nvSpPr>
            <p:cNvPr id="19" name="Isosceles Triangle 18"/>
            <p:cNvSpPr>
              <a:spLocks noChangeArrowheads="1"/>
            </p:cNvSpPr>
            <p:nvPr/>
          </p:nvSpPr>
          <p:spPr bwMode="auto">
            <a:xfrm rot="5400000">
              <a:off x="8787607" y="4358481"/>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0" name="TextBox 43"/>
            <p:cNvSpPr txBox="1">
              <a:spLocks noChangeArrowheads="1"/>
            </p:cNvSpPr>
            <p:nvPr/>
          </p:nvSpPr>
          <p:spPr bwMode="auto">
            <a:xfrm>
              <a:off x="4227513" y="4571999"/>
              <a:ext cx="1639889"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2*Input</a:t>
              </a:r>
            </a:p>
          </p:txBody>
        </p:sp>
        <p:sp>
          <p:nvSpPr>
            <p:cNvPr id="21" name="TextBox 44"/>
            <p:cNvSpPr txBox="1">
              <a:spLocks noChangeArrowheads="1"/>
            </p:cNvSpPr>
            <p:nvPr/>
          </p:nvSpPr>
          <p:spPr bwMode="auto">
            <a:xfrm>
              <a:off x="5724523" y="5654675"/>
              <a:ext cx="1743075"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Input + 15</a:t>
              </a:r>
            </a:p>
          </p:txBody>
        </p:sp>
        <p:sp>
          <p:nvSpPr>
            <p:cNvPr id="22" name="TextBox 45"/>
            <p:cNvSpPr txBox="1">
              <a:spLocks noChangeArrowheads="1"/>
            </p:cNvSpPr>
            <p:nvPr/>
          </p:nvSpPr>
          <p:spPr bwMode="auto">
            <a:xfrm>
              <a:off x="7300913" y="4648200"/>
              <a:ext cx="1538287" cy="50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none</a:t>
              </a:r>
            </a:p>
            <a:p>
              <a:r>
                <a:rPr lang="en-US" sz="700" dirty="0">
                  <a:latin typeface="Calibri" pitchFamily="34" charset="0"/>
                </a:rPr>
                <a:t>Guarantee: Output = Input1 + Input2</a:t>
              </a:r>
            </a:p>
          </p:txBody>
        </p:sp>
        <p:sp>
          <p:nvSpPr>
            <p:cNvPr id="23" name="TextBox 46"/>
            <p:cNvSpPr txBox="1">
              <a:spLocks noChangeArrowheads="1"/>
            </p:cNvSpPr>
            <p:nvPr/>
          </p:nvSpPr>
          <p:spPr bwMode="auto">
            <a:xfrm>
              <a:off x="7443790" y="5650467"/>
              <a:ext cx="1395411" cy="371846"/>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10</a:t>
              </a:r>
            </a:p>
            <a:p>
              <a:r>
                <a:rPr lang="en-US" sz="700" dirty="0">
                  <a:latin typeface="Calibri" pitchFamily="34" charset="0"/>
                </a:rPr>
                <a:t>Guarantee: Output &lt; 50</a:t>
              </a:r>
            </a:p>
          </p:txBody>
        </p:sp>
        <p:sp>
          <p:nvSpPr>
            <p:cNvPr id="24" name="Isosceles Triangle 17"/>
            <p:cNvSpPr>
              <a:spLocks noChangeArrowheads="1"/>
            </p:cNvSpPr>
            <p:nvPr/>
          </p:nvSpPr>
          <p:spPr bwMode="auto">
            <a:xfrm rot="5400000">
              <a:off x="4039394" y="4253706"/>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9" name="Group 1"/>
          <p:cNvGrpSpPr/>
          <p:nvPr/>
        </p:nvGrpSpPr>
        <p:grpSpPr>
          <a:xfrm>
            <a:off x="5589511" y="3876422"/>
            <a:ext cx="3276637" cy="2265576"/>
            <a:chOff x="2145684" y="1306945"/>
            <a:chExt cx="4611948" cy="3188855"/>
          </a:xfrm>
        </p:grpSpPr>
        <p:grpSp>
          <p:nvGrpSpPr>
            <p:cNvPr id="16" name="Group 34"/>
            <p:cNvGrpSpPr/>
            <p:nvPr/>
          </p:nvGrpSpPr>
          <p:grpSpPr>
            <a:xfrm flipH="1">
              <a:off x="3200400" y="3152217"/>
              <a:ext cx="2590800" cy="855847"/>
              <a:chOff x="3333844" y="3295554"/>
              <a:chExt cx="2590800" cy="855847"/>
            </a:xfrm>
          </p:grpSpPr>
          <p:cxnSp>
            <p:nvCxnSpPr>
              <p:cNvPr id="36" name="Straight Arrow Connector 35"/>
              <p:cNvCxnSpPr/>
              <p:nvPr/>
            </p:nvCxnSpPr>
            <p:spPr>
              <a:xfrm flipH="1" flipV="1">
                <a:off x="3755871" y="3299408"/>
                <a:ext cx="2168773"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flipV="1">
                <a:off x="3581400" y="3299408"/>
                <a:ext cx="1438324" cy="76200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3457616" y="3299408"/>
                <a:ext cx="682370" cy="762001"/>
              </a:xfrm>
              <a:prstGeom prst="straightConnector1">
                <a:avLst/>
              </a:prstGeom>
              <a:ln>
                <a:solidFill>
                  <a:srgbClr val="FF0000"/>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3333844" y="3295554"/>
                <a:ext cx="0" cy="85584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grpSp>
        <p:cxnSp>
          <p:nvCxnSpPr>
            <p:cNvPr id="40" name="Straight Arrow Connector 39"/>
            <p:cNvCxnSpPr/>
            <p:nvPr/>
          </p:nvCxnSpPr>
          <p:spPr>
            <a:xfrm flipH="1" flipV="1">
              <a:off x="3603471" y="3147008"/>
              <a:ext cx="2168773"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H="1" flipV="1">
              <a:off x="3429000" y="3147008"/>
              <a:ext cx="1438324" cy="76200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H="1" flipV="1">
              <a:off x="3305216" y="3147008"/>
              <a:ext cx="682370" cy="762001"/>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V="1">
              <a:off x="3181444" y="3143154"/>
              <a:ext cx="0" cy="85584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2766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5" name="Freeform 44"/>
            <p:cNvSpPr/>
            <p:nvPr/>
          </p:nvSpPr>
          <p:spPr>
            <a:xfrm>
              <a:off x="44958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6" name="Freeform 45"/>
            <p:cNvSpPr/>
            <p:nvPr/>
          </p:nvSpPr>
          <p:spPr>
            <a:xfrm>
              <a:off x="2145684" y="1828800"/>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7" name="Freeform 46"/>
            <p:cNvSpPr/>
            <p:nvPr/>
          </p:nvSpPr>
          <p:spPr>
            <a:xfrm>
              <a:off x="5626716" y="1837961"/>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8" name="Freeform 47"/>
            <p:cNvSpPr/>
            <p:nvPr/>
          </p:nvSpPr>
          <p:spPr>
            <a:xfrm>
              <a:off x="2934678"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49" name="Freeform 48"/>
            <p:cNvSpPr/>
            <p:nvPr/>
          </p:nvSpPr>
          <p:spPr>
            <a:xfrm>
              <a:off x="3745884"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0" name="Freeform 49"/>
            <p:cNvSpPr/>
            <p:nvPr/>
          </p:nvSpPr>
          <p:spPr>
            <a:xfrm>
              <a:off x="4572000"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1" name="Freeform 50"/>
            <p:cNvSpPr/>
            <p:nvPr/>
          </p:nvSpPr>
          <p:spPr>
            <a:xfrm>
              <a:off x="5410200"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cxnSp>
          <p:nvCxnSpPr>
            <p:cNvPr id="52" name="Straight Arrow Connector 51"/>
            <p:cNvCxnSpPr/>
            <p:nvPr/>
          </p:nvCxnSpPr>
          <p:spPr>
            <a:xfrm>
              <a:off x="3276600" y="1981200"/>
              <a:ext cx="1784658"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3603471" y="1699208"/>
              <a:ext cx="1578129"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5257800" y="1699208"/>
              <a:ext cx="152400"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5626716" y="2221063"/>
              <a:ext cx="240684" cy="36606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3835186" y="1977346"/>
              <a:ext cx="1784658"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H="1">
              <a:off x="3714844" y="1695354"/>
              <a:ext cx="1578129" cy="88791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a:off x="3486244" y="1695354"/>
              <a:ext cx="152400" cy="887917"/>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a:off x="3029044" y="2217209"/>
              <a:ext cx="240684" cy="36606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60" name="Freeform 59"/>
            <p:cNvSpPr/>
            <p:nvPr/>
          </p:nvSpPr>
          <p:spPr>
            <a:xfrm>
              <a:off x="5061258"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sp>
          <p:nvSpPr>
            <p:cNvPr id="61" name="Freeform 60"/>
            <p:cNvSpPr/>
            <p:nvPr/>
          </p:nvSpPr>
          <p:spPr>
            <a:xfrm>
              <a:off x="2755284"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grpSp>
      <p:pic>
        <p:nvPicPr>
          <p:cNvPr id="63" name="Picture 7" descr="C:\Documents and Settings\ddcofer\My Documents\Projects\hacms\logos\UMN-v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75330" y="1752600"/>
            <a:ext cx="952500" cy="62430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181600" y="3200400"/>
            <a:ext cx="3657600" cy="533400"/>
          </a:xfrm>
          <a:prstGeom prst="rect">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Example system: Quad-redundant flight control system provided by NASA</a:t>
            </a:r>
            <a:endParaRPr lang="en-US" sz="1200" b="1" dirty="0"/>
          </a:p>
        </p:txBody>
      </p:sp>
      <p:sp>
        <p:nvSpPr>
          <p:cNvPr id="9217" name="Circular Arrow 9216"/>
          <p:cNvSpPr/>
          <p:nvPr/>
        </p:nvSpPr>
        <p:spPr>
          <a:xfrm rot="15419931" flipH="1">
            <a:off x="5834682" y="3083091"/>
            <a:ext cx="1116616" cy="1116616"/>
          </a:xfrm>
          <a:prstGeom prst="circularArrow">
            <a:avLst>
              <a:gd name="adj1" fmla="val 10171"/>
              <a:gd name="adj2" fmla="val 1142319"/>
              <a:gd name="adj3" fmla="val 18623744"/>
              <a:gd name="adj4" fmla="val 15645266"/>
              <a:gd name="adj5" fmla="val 13600"/>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5" name="Oval 64"/>
          <p:cNvSpPr/>
          <p:nvPr/>
        </p:nvSpPr>
        <p:spPr>
          <a:xfrm>
            <a:off x="457200" y="3733800"/>
            <a:ext cx="5132311" cy="2408198"/>
          </a:xfrm>
          <a:prstGeom prst="ellipse">
            <a:avLst/>
          </a:prstGeom>
          <a:noFill/>
          <a:ln w="38100" cap="flat" cmpd="sng" algn="ctr">
            <a:solidFill>
              <a:srgbClr val="FF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6689703"/>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2" descr="http://www.geemap.stat.uiowa.edu/University_of_Iowa_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0630" y="2170176"/>
            <a:ext cx="1219200" cy="72542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0"/>
          </p:nvPr>
        </p:nvSpPr>
        <p:spPr/>
        <p:txBody>
          <a:bodyPr/>
          <a:lstStyle/>
          <a:p>
            <a:pPr>
              <a:defRPr/>
            </a:pPr>
            <a:fld id="{F66F1AAB-BFBA-4F53-B587-234CB35509C8}" type="slidenum">
              <a:rPr lang="en-US"/>
              <a:pPr>
                <a:defRPr/>
              </a:pPr>
              <a:t>35</a:t>
            </a:fld>
            <a:endParaRPr lang="en-US" dirty="0"/>
          </a:p>
        </p:txBody>
      </p:sp>
      <p:sp>
        <p:nvSpPr>
          <p:cNvPr id="9219" name="Rectangle 2"/>
          <p:cNvSpPr>
            <a:spLocks noGrp="1" noChangeArrowheads="1"/>
          </p:cNvSpPr>
          <p:nvPr>
            <p:ph type="body" idx="1"/>
          </p:nvPr>
        </p:nvSpPr>
        <p:spPr>
          <a:xfrm>
            <a:off x="748076" y="1563798"/>
            <a:ext cx="5301474" cy="3810000"/>
          </a:xfrm>
          <a:noFill/>
        </p:spPr>
        <p:txBody>
          <a:bodyPr/>
          <a:lstStyle/>
          <a:p>
            <a:r>
              <a:rPr lang="en-US" altLang="en-US" sz="1400" dirty="0" smtClean="0"/>
              <a:t>Compositional verification tool for analysis of AADL system models</a:t>
            </a:r>
          </a:p>
          <a:p>
            <a:r>
              <a:rPr lang="en-US" altLang="en-US" sz="1400" dirty="0" smtClean="0"/>
              <a:t>AGREE: Assume-Guarantee Reasoning Environment</a:t>
            </a:r>
          </a:p>
          <a:p>
            <a:r>
              <a:rPr lang="en-US" altLang="en-US" sz="1400" dirty="0" smtClean="0"/>
              <a:t>Focus on system safety properties</a:t>
            </a:r>
          </a:p>
          <a:p>
            <a:r>
              <a:rPr lang="en-US" altLang="en-US" sz="1400" dirty="0" smtClean="0"/>
              <a:t>Compositional approach scales model checking to larger systems</a:t>
            </a:r>
          </a:p>
        </p:txBody>
      </p:sp>
      <p:sp>
        <p:nvSpPr>
          <p:cNvPr id="9220" name="Rectangle 3"/>
          <p:cNvSpPr>
            <a:spLocks noChangeArrowheads="1"/>
          </p:cNvSpPr>
          <p:nvPr/>
        </p:nvSpPr>
        <p:spPr bwMode="auto">
          <a:xfrm>
            <a:off x="757238" y="8683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2000" b="1" dirty="0" smtClean="0">
                <a:solidFill>
                  <a:schemeClr val="bg1">
                    <a:lumMod val="50000"/>
                  </a:schemeClr>
                </a:solidFill>
                <a:latin typeface="Verdana" pitchFamily="34" charset="0"/>
              </a:rPr>
              <a:t>Compositional Verification of Critical Systems</a:t>
            </a:r>
            <a:endParaRPr lang="en-US" altLang="en-US" sz="2000" b="1" dirty="0">
              <a:solidFill>
                <a:schemeClr val="bg1">
                  <a:lumMod val="50000"/>
                </a:schemeClr>
              </a:solidFill>
              <a:latin typeface="Verdana" pitchFamily="34" charset="0"/>
            </a:endParaRPr>
          </a:p>
        </p:txBody>
      </p:sp>
      <p:pic>
        <p:nvPicPr>
          <p:cNvPr id="5" name="Picture 6" descr="http://upload.wikimedia.org/wikipedia/commons/thumb/e/e5/NASA_logo.svg/290px-NASA_logo.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32630" y="1371600"/>
            <a:ext cx="1306570" cy="111283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6"/>
          <p:cNvGrpSpPr/>
          <p:nvPr/>
        </p:nvGrpSpPr>
        <p:grpSpPr>
          <a:xfrm>
            <a:off x="1058541" y="4131785"/>
            <a:ext cx="3973458" cy="1771543"/>
            <a:chOff x="4038600" y="3886200"/>
            <a:chExt cx="4800601" cy="2140321"/>
          </a:xfrm>
        </p:grpSpPr>
        <p:sp>
          <p:nvSpPr>
            <p:cNvPr id="10" name="Rectangle 9"/>
            <p:cNvSpPr/>
            <p:nvPr/>
          </p:nvSpPr>
          <p:spPr>
            <a:xfrm>
              <a:off x="4038600" y="3886200"/>
              <a:ext cx="4800600" cy="213360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anchor="ctr"/>
            <a:lstStyle/>
            <a:p>
              <a:pPr algn="ctr" fontAlgn="auto">
                <a:spcBef>
                  <a:spcPts val="0"/>
                </a:spcBef>
                <a:spcAft>
                  <a:spcPts val="0"/>
                </a:spcAft>
                <a:defRPr/>
              </a:pPr>
              <a:endParaRPr lang="en-US" sz="1400" dirty="0"/>
            </a:p>
          </p:txBody>
        </p:sp>
        <p:cxnSp>
          <p:nvCxnSpPr>
            <p:cNvPr id="11" name="Straight Connector 10"/>
            <p:cNvCxnSpPr>
              <a:stCxn id="24" idx="0"/>
              <a:endCxn id="33" idx="3"/>
            </p:cNvCxnSpPr>
            <p:nvPr/>
          </p:nvCxnSpPr>
          <p:spPr>
            <a:xfrm>
              <a:off x="4090988" y="4279900"/>
              <a:ext cx="357187" cy="3175"/>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34"/>
            <p:cNvCxnSpPr>
              <a:stCxn id="34" idx="0"/>
              <a:endCxn id="30" idx="3"/>
            </p:cNvCxnSpPr>
            <p:nvPr/>
          </p:nvCxnSpPr>
          <p:spPr>
            <a:xfrm>
              <a:off x="5562601" y="4283075"/>
              <a:ext cx="333375" cy="1125538"/>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3" name="Straight Connector 36"/>
            <p:cNvCxnSpPr>
              <a:stCxn id="31" idx="0"/>
              <a:endCxn id="26" idx="3"/>
            </p:cNvCxnSpPr>
            <p:nvPr/>
          </p:nvCxnSpPr>
          <p:spPr>
            <a:xfrm flipV="1">
              <a:off x="7010401" y="4487069"/>
              <a:ext cx="380999" cy="921544"/>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a:stCxn id="34" idx="0"/>
              <a:endCxn id="27" idx="3"/>
            </p:cNvCxnSpPr>
            <p:nvPr/>
          </p:nvCxnSpPr>
          <p:spPr>
            <a:xfrm flipV="1">
              <a:off x="5562601" y="4282283"/>
              <a:ext cx="1828799" cy="792"/>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stCxn id="28" idx="0"/>
              <a:endCxn id="19" idx="3"/>
            </p:cNvCxnSpPr>
            <p:nvPr/>
          </p:nvCxnSpPr>
          <p:spPr>
            <a:xfrm>
              <a:off x="8504238" y="4384675"/>
              <a:ext cx="282576" cy="0"/>
            </a:xfrm>
            <a:prstGeom prst="line">
              <a:avLst/>
            </a:prstGeom>
          </p:spPr>
          <p:style>
            <a:lnRef idx="1">
              <a:schemeClr val="dk1"/>
            </a:lnRef>
            <a:fillRef idx="0">
              <a:schemeClr val="dk1"/>
            </a:fillRef>
            <a:effectRef idx="0">
              <a:schemeClr val="dk1"/>
            </a:effectRef>
            <a:fontRef idx="minor">
              <a:schemeClr val="tx1"/>
            </a:fontRef>
          </p:style>
        </p:cxnSp>
        <p:grpSp>
          <p:nvGrpSpPr>
            <p:cNvPr id="6" name="Group 15"/>
            <p:cNvGrpSpPr/>
            <p:nvPr/>
          </p:nvGrpSpPr>
          <p:grpSpPr>
            <a:xfrm>
              <a:off x="4448175" y="3975100"/>
              <a:ext cx="1114425" cy="614363"/>
              <a:chOff x="3800475" y="4076700"/>
              <a:chExt cx="1114425" cy="614363"/>
            </a:xfrm>
          </p:grpSpPr>
          <p:sp>
            <p:nvSpPr>
              <p:cNvPr id="32" name="Rectangle 31"/>
              <p:cNvSpPr>
                <a:spLocks noChangeArrowheads="1"/>
              </p:cNvSpPr>
              <p:nvPr/>
            </p:nvSpPr>
            <p:spPr bwMode="auto">
              <a:xfrm>
                <a:off x="3800475" y="4076700"/>
                <a:ext cx="1114425"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A</a:t>
                </a:r>
              </a:p>
            </p:txBody>
          </p:sp>
          <p:sp>
            <p:nvSpPr>
              <p:cNvPr id="33" name="Isosceles Triangle 32"/>
              <p:cNvSpPr>
                <a:spLocks noChangeArrowheads="1"/>
              </p:cNvSpPr>
              <p:nvPr/>
            </p:nvSpPr>
            <p:spPr bwMode="auto">
              <a:xfrm rot="5400000">
                <a:off x="38012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4" name="Isosceles Triangle 33"/>
              <p:cNvSpPr>
                <a:spLocks noChangeArrowheads="1"/>
              </p:cNvSpPr>
              <p:nvPr/>
            </p:nvSpPr>
            <p:spPr bwMode="auto">
              <a:xfrm rot="5400000">
                <a:off x="4862513" y="4357687"/>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7" name="Group 16"/>
            <p:cNvGrpSpPr/>
            <p:nvPr/>
          </p:nvGrpSpPr>
          <p:grpSpPr>
            <a:xfrm>
              <a:off x="5884862" y="5075238"/>
              <a:ext cx="1125538" cy="614362"/>
              <a:chOff x="5486400" y="5075238"/>
              <a:chExt cx="1125538" cy="614362"/>
            </a:xfrm>
          </p:grpSpPr>
          <p:sp>
            <p:nvSpPr>
              <p:cNvPr id="29" name="Rectangle 28"/>
              <p:cNvSpPr>
                <a:spLocks noChangeArrowheads="1"/>
              </p:cNvSpPr>
              <p:nvPr/>
            </p:nvSpPr>
            <p:spPr bwMode="auto">
              <a:xfrm>
                <a:off x="5486400" y="5075238"/>
                <a:ext cx="1114425" cy="614362"/>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B</a:t>
                </a:r>
              </a:p>
            </p:txBody>
          </p:sp>
          <p:sp>
            <p:nvSpPr>
              <p:cNvPr id="30" name="Isosceles Triangle 29"/>
              <p:cNvSpPr>
                <a:spLocks noChangeArrowheads="1"/>
              </p:cNvSpPr>
              <p:nvPr/>
            </p:nvSpPr>
            <p:spPr bwMode="auto">
              <a:xfrm rot="5400000">
                <a:off x="5498307" y="5382419"/>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1" name="Isosceles Triangle 30"/>
              <p:cNvSpPr>
                <a:spLocks noChangeArrowheads="1"/>
              </p:cNvSpPr>
              <p:nvPr/>
            </p:nvSpPr>
            <p:spPr bwMode="auto">
              <a:xfrm rot="5400000">
                <a:off x="6559551" y="5381625"/>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8" name="Group 17"/>
            <p:cNvGrpSpPr/>
            <p:nvPr/>
          </p:nvGrpSpPr>
          <p:grpSpPr>
            <a:xfrm>
              <a:off x="7391400" y="4051300"/>
              <a:ext cx="1112838" cy="614363"/>
              <a:chOff x="7248525" y="4051300"/>
              <a:chExt cx="1112838" cy="614363"/>
            </a:xfrm>
          </p:grpSpPr>
          <p:sp>
            <p:nvSpPr>
              <p:cNvPr id="25" name="Rectangle 24"/>
              <p:cNvSpPr>
                <a:spLocks noChangeArrowheads="1"/>
              </p:cNvSpPr>
              <p:nvPr/>
            </p:nvSpPr>
            <p:spPr bwMode="auto">
              <a:xfrm>
                <a:off x="7248525" y="4051300"/>
                <a:ext cx="1112838"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C</a:t>
                </a:r>
              </a:p>
            </p:txBody>
          </p:sp>
          <p:sp>
            <p:nvSpPr>
              <p:cNvPr id="26" name="Isosceles Triangle 25"/>
              <p:cNvSpPr>
                <a:spLocks noChangeArrowheads="1"/>
              </p:cNvSpPr>
              <p:nvPr/>
            </p:nvSpPr>
            <p:spPr bwMode="auto">
              <a:xfrm rot="5400000">
                <a:off x="7248525" y="4460875"/>
                <a:ext cx="52388"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7" name="Isosceles Triangle 26"/>
              <p:cNvSpPr>
                <a:spLocks noChangeArrowheads="1"/>
              </p:cNvSpPr>
              <p:nvPr/>
            </p:nvSpPr>
            <p:spPr bwMode="auto">
              <a:xfrm rot="5400000">
                <a:off x="7248525" y="4256088"/>
                <a:ext cx="52387"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8" name="Isosceles Triangle 27"/>
              <p:cNvSpPr>
                <a:spLocks noChangeArrowheads="1"/>
              </p:cNvSpPr>
              <p:nvPr/>
            </p:nvSpPr>
            <p:spPr bwMode="auto">
              <a:xfrm rot="5400000">
                <a:off x="83097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sp>
          <p:nvSpPr>
            <p:cNvPr id="19" name="Isosceles Triangle 18"/>
            <p:cNvSpPr>
              <a:spLocks noChangeArrowheads="1"/>
            </p:cNvSpPr>
            <p:nvPr/>
          </p:nvSpPr>
          <p:spPr bwMode="auto">
            <a:xfrm rot="5400000">
              <a:off x="8787607" y="4358481"/>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0" name="TextBox 43"/>
            <p:cNvSpPr txBox="1">
              <a:spLocks noChangeArrowheads="1"/>
            </p:cNvSpPr>
            <p:nvPr/>
          </p:nvSpPr>
          <p:spPr bwMode="auto">
            <a:xfrm>
              <a:off x="4227513" y="4571999"/>
              <a:ext cx="1639889"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2*Input</a:t>
              </a:r>
            </a:p>
          </p:txBody>
        </p:sp>
        <p:sp>
          <p:nvSpPr>
            <p:cNvPr id="21" name="TextBox 44"/>
            <p:cNvSpPr txBox="1">
              <a:spLocks noChangeArrowheads="1"/>
            </p:cNvSpPr>
            <p:nvPr/>
          </p:nvSpPr>
          <p:spPr bwMode="auto">
            <a:xfrm>
              <a:off x="5724523" y="5654675"/>
              <a:ext cx="1743075"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Input + 15</a:t>
              </a:r>
            </a:p>
          </p:txBody>
        </p:sp>
        <p:sp>
          <p:nvSpPr>
            <p:cNvPr id="22" name="TextBox 45"/>
            <p:cNvSpPr txBox="1">
              <a:spLocks noChangeArrowheads="1"/>
            </p:cNvSpPr>
            <p:nvPr/>
          </p:nvSpPr>
          <p:spPr bwMode="auto">
            <a:xfrm>
              <a:off x="7300913" y="4648200"/>
              <a:ext cx="1538287" cy="50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none</a:t>
              </a:r>
            </a:p>
            <a:p>
              <a:r>
                <a:rPr lang="en-US" sz="700" dirty="0">
                  <a:latin typeface="Calibri" pitchFamily="34" charset="0"/>
                </a:rPr>
                <a:t>Guarantee: Output = Input1 + Input2</a:t>
              </a:r>
            </a:p>
          </p:txBody>
        </p:sp>
        <p:sp>
          <p:nvSpPr>
            <p:cNvPr id="23" name="TextBox 46"/>
            <p:cNvSpPr txBox="1">
              <a:spLocks noChangeArrowheads="1"/>
            </p:cNvSpPr>
            <p:nvPr/>
          </p:nvSpPr>
          <p:spPr bwMode="auto">
            <a:xfrm>
              <a:off x="7443790" y="5650467"/>
              <a:ext cx="1395411" cy="371846"/>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10</a:t>
              </a:r>
            </a:p>
            <a:p>
              <a:r>
                <a:rPr lang="en-US" sz="700" dirty="0">
                  <a:latin typeface="Calibri" pitchFamily="34" charset="0"/>
                </a:rPr>
                <a:t>Guarantee: Output &lt; 50</a:t>
              </a:r>
            </a:p>
          </p:txBody>
        </p:sp>
        <p:sp>
          <p:nvSpPr>
            <p:cNvPr id="24" name="Isosceles Triangle 17"/>
            <p:cNvSpPr>
              <a:spLocks noChangeArrowheads="1"/>
            </p:cNvSpPr>
            <p:nvPr/>
          </p:nvSpPr>
          <p:spPr bwMode="auto">
            <a:xfrm rot="5400000">
              <a:off x="4039394" y="4253706"/>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9" name="Group 1"/>
          <p:cNvGrpSpPr/>
          <p:nvPr/>
        </p:nvGrpSpPr>
        <p:grpSpPr>
          <a:xfrm>
            <a:off x="5589511" y="3876422"/>
            <a:ext cx="3276637" cy="2265576"/>
            <a:chOff x="2145684" y="1306945"/>
            <a:chExt cx="4611948" cy="3188855"/>
          </a:xfrm>
        </p:grpSpPr>
        <p:grpSp>
          <p:nvGrpSpPr>
            <p:cNvPr id="16" name="Group 34"/>
            <p:cNvGrpSpPr/>
            <p:nvPr/>
          </p:nvGrpSpPr>
          <p:grpSpPr>
            <a:xfrm flipH="1">
              <a:off x="3200400" y="3152217"/>
              <a:ext cx="2590800" cy="855847"/>
              <a:chOff x="3333844" y="3295554"/>
              <a:chExt cx="2590800" cy="855847"/>
            </a:xfrm>
          </p:grpSpPr>
          <p:cxnSp>
            <p:nvCxnSpPr>
              <p:cNvPr id="36" name="Straight Arrow Connector 35"/>
              <p:cNvCxnSpPr/>
              <p:nvPr/>
            </p:nvCxnSpPr>
            <p:spPr>
              <a:xfrm flipH="1" flipV="1">
                <a:off x="3755871" y="3299408"/>
                <a:ext cx="2168773"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flipV="1">
                <a:off x="3581400" y="3299408"/>
                <a:ext cx="1438324" cy="76200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3457616" y="3299408"/>
                <a:ext cx="682370" cy="762001"/>
              </a:xfrm>
              <a:prstGeom prst="straightConnector1">
                <a:avLst/>
              </a:prstGeom>
              <a:ln>
                <a:solidFill>
                  <a:srgbClr val="FF0000"/>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3333844" y="3295554"/>
                <a:ext cx="0" cy="85584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grpSp>
        <p:cxnSp>
          <p:nvCxnSpPr>
            <p:cNvPr id="40" name="Straight Arrow Connector 39"/>
            <p:cNvCxnSpPr/>
            <p:nvPr/>
          </p:nvCxnSpPr>
          <p:spPr>
            <a:xfrm flipH="1" flipV="1">
              <a:off x="3603471" y="3147008"/>
              <a:ext cx="2168773"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H="1" flipV="1">
              <a:off x="3429000" y="3147008"/>
              <a:ext cx="1438324" cy="76200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H="1" flipV="1">
              <a:off x="3305216" y="3147008"/>
              <a:ext cx="682370" cy="762001"/>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V="1">
              <a:off x="3181444" y="3143154"/>
              <a:ext cx="0" cy="85584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2766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5" name="Freeform 44"/>
            <p:cNvSpPr/>
            <p:nvPr/>
          </p:nvSpPr>
          <p:spPr>
            <a:xfrm>
              <a:off x="44958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6" name="Freeform 45"/>
            <p:cNvSpPr/>
            <p:nvPr/>
          </p:nvSpPr>
          <p:spPr>
            <a:xfrm>
              <a:off x="2145684" y="1828800"/>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7" name="Freeform 46"/>
            <p:cNvSpPr/>
            <p:nvPr/>
          </p:nvSpPr>
          <p:spPr>
            <a:xfrm>
              <a:off x="5626716" y="1837961"/>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8" name="Freeform 47"/>
            <p:cNvSpPr/>
            <p:nvPr/>
          </p:nvSpPr>
          <p:spPr>
            <a:xfrm>
              <a:off x="2934678"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49" name="Freeform 48"/>
            <p:cNvSpPr/>
            <p:nvPr/>
          </p:nvSpPr>
          <p:spPr>
            <a:xfrm>
              <a:off x="3745884"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0" name="Freeform 49"/>
            <p:cNvSpPr/>
            <p:nvPr/>
          </p:nvSpPr>
          <p:spPr>
            <a:xfrm>
              <a:off x="4572000"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1" name="Freeform 50"/>
            <p:cNvSpPr/>
            <p:nvPr/>
          </p:nvSpPr>
          <p:spPr>
            <a:xfrm>
              <a:off x="5410200"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cxnSp>
          <p:nvCxnSpPr>
            <p:cNvPr id="52" name="Straight Arrow Connector 51"/>
            <p:cNvCxnSpPr/>
            <p:nvPr/>
          </p:nvCxnSpPr>
          <p:spPr>
            <a:xfrm>
              <a:off x="3276600" y="1981200"/>
              <a:ext cx="1784658"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3603471" y="1699208"/>
              <a:ext cx="1578129"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5257800" y="1699208"/>
              <a:ext cx="152400"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5626716" y="2221063"/>
              <a:ext cx="240684" cy="36606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3835186" y="1977346"/>
              <a:ext cx="1784658"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H="1">
              <a:off x="3714844" y="1695354"/>
              <a:ext cx="1578129" cy="88791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a:off x="3486244" y="1695354"/>
              <a:ext cx="152400" cy="887917"/>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a:off x="3029044" y="2217209"/>
              <a:ext cx="240684" cy="36606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60" name="Freeform 59"/>
            <p:cNvSpPr/>
            <p:nvPr/>
          </p:nvSpPr>
          <p:spPr>
            <a:xfrm>
              <a:off x="5061258"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sp>
          <p:nvSpPr>
            <p:cNvPr id="61" name="Freeform 60"/>
            <p:cNvSpPr/>
            <p:nvPr/>
          </p:nvSpPr>
          <p:spPr>
            <a:xfrm>
              <a:off x="2755284"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grpSp>
      <p:pic>
        <p:nvPicPr>
          <p:cNvPr id="63" name="Picture 7" descr="C:\Documents and Settings\ddcofer\My Documents\Projects\hacms\logos\UMN-v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75330" y="1752600"/>
            <a:ext cx="952500" cy="62430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181600" y="3200400"/>
            <a:ext cx="3657600" cy="533400"/>
          </a:xfrm>
          <a:prstGeom prst="rect">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Example system: Quad-redundant flight control system provided by NASA</a:t>
            </a:r>
            <a:endParaRPr lang="en-US" sz="1200" b="1" dirty="0"/>
          </a:p>
        </p:txBody>
      </p:sp>
      <p:sp>
        <p:nvSpPr>
          <p:cNvPr id="9217" name="Circular Arrow 9216"/>
          <p:cNvSpPr/>
          <p:nvPr/>
        </p:nvSpPr>
        <p:spPr>
          <a:xfrm rot="15419931" flipH="1">
            <a:off x="5834682" y="3083091"/>
            <a:ext cx="1116616" cy="1116616"/>
          </a:xfrm>
          <a:prstGeom prst="circularArrow">
            <a:avLst>
              <a:gd name="adj1" fmla="val 10171"/>
              <a:gd name="adj2" fmla="val 1142319"/>
              <a:gd name="adj3" fmla="val 18623744"/>
              <a:gd name="adj4" fmla="val 15645266"/>
              <a:gd name="adj5" fmla="val 13600"/>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6" name="Oval 65"/>
          <p:cNvSpPr/>
          <p:nvPr/>
        </p:nvSpPr>
        <p:spPr>
          <a:xfrm>
            <a:off x="5181600" y="3200400"/>
            <a:ext cx="3962400" cy="3155950"/>
          </a:xfrm>
          <a:prstGeom prst="ellipse">
            <a:avLst/>
          </a:prstGeom>
          <a:noFill/>
          <a:ln w="38100" cap="flat" cmpd="sng" algn="ctr">
            <a:solidFill>
              <a:srgbClr val="FF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1870169"/>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70" y="1905000"/>
            <a:ext cx="9112130" cy="2719554"/>
          </a:xfrm>
          <a:prstGeom prst="rect">
            <a:avLst/>
          </a:prstGeom>
        </p:spPr>
      </p:pic>
      <p:sp>
        <p:nvSpPr>
          <p:cNvPr id="3" name="Slide Number Placeholder 2"/>
          <p:cNvSpPr>
            <a:spLocks noGrp="1"/>
          </p:cNvSpPr>
          <p:nvPr>
            <p:ph type="sldNum" sz="quarter" idx="10"/>
          </p:nvPr>
        </p:nvSpPr>
        <p:spPr/>
        <p:txBody>
          <a:bodyPr/>
          <a:lstStyle/>
          <a:p>
            <a:pPr>
              <a:defRPr/>
            </a:pPr>
            <a:fld id="{8A7DEF6D-193A-43B9-A88F-EFE847976AC6}" type="slidenum">
              <a:rPr lang="en-US" smtClean="0"/>
              <a:pPr>
                <a:defRPr/>
              </a:pPr>
              <a:t>36</a:t>
            </a:fld>
            <a:endParaRPr lang="en-US"/>
          </a:p>
        </p:txBody>
      </p:sp>
    </p:spTree>
    <p:extLst>
      <p:ext uri="{BB962C8B-B14F-4D97-AF65-F5344CB8AC3E}">
        <p14:creationId xmlns:p14="http://schemas.microsoft.com/office/powerpoint/2010/main" val="14228013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38604"/>
          </a:xfrm>
        </p:spPr>
        <p:txBody>
          <a:bodyPr>
            <a:normAutofit/>
          </a:bodyPr>
          <a:lstStyle/>
          <a:p>
            <a:r>
              <a:rPr lang="en-US" dirty="0" smtClean="0"/>
              <a:t>Wheel Brake System (Simple Version)</a:t>
            </a:r>
            <a:endParaRPr lang="en-US" dirty="0"/>
          </a:p>
        </p:txBody>
      </p:sp>
      <p:pic>
        <p:nvPicPr>
          <p:cNvPr id="4" name="Content Placeholder 3" descr="wbs_sae.ppm"/>
          <p:cNvPicPr>
            <a:picLocks noGrp="1" noChangeAspect="1"/>
          </p:cNvPicPr>
          <p:nvPr>
            <p:ph idx="1"/>
          </p:nvPr>
        </p:nvPicPr>
        <p:blipFill>
          <a:blip r:embed="rId2"/>
          <a:srcRect l="-25397" r="-25397"/>
          <a:stretch>
            <a:fillRect/>
          </a:stretch>
        </p:blipFill>
        <p:spPr>
          <a:xfrm>
            <a:off x="1" y="1127344"/>
            <a:ext cx="9317322" cy="5219106"/>
          </a:xfrm>
        </p:spPr>
      </p:pic>
      <p:sp>
        <p:nvSpPr>
          <p:cNvPr id="3" name="Slide Number Placeholder 2"/>
          <p:cNvSpPr>
            <a:spLocks noGrp="1"/>
          </p:cNvSpPr>
          <p:nvPr>
            <p:ph type="sldNum" sz="quarter" idx="10"/>
          </p:nvPr>
        </p:nvSpPr>
        <p:spPr/>
        <p:txBody>
          <a:bodyPr/>
          <a:lstStyle/>
          <a:p>
            <a:pPr>
              <a:defRPr/>
            </a:pPr>
            <a:fld id="{7486D9C8-0CDB-4BF0-99FF-D7490CE4EFA3}" type="slidenum">
              <a:rPr lang="en-US" smtClean="0"/>
              <a:pPr>
                <a:defRPr/>
              </a:pPr>
              <a:t>37</a:t>
            </a:fld>
            <a:endParaRPr lang="en-US"/>
          </a:p>
        </p:txBody>
      </p:sp>
    </p:spTree>
    <p:extLst>
      <p:ext uri="{BB962C8B-B14F-4D97-AF65-F5344CB8AC3E}">
        <p14:creationId xmlns:p14="http://schemas.microsoft.com/office/powerpoint/2010/main" val="30193542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descr="C:\Users\stew_da\Downloads\Unbenannt.PNG"/>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1735155" y="-677536"/>
            <a:ext cx="5816909" cy="9000781"/>
          </a:xfrm>
          <a:prstGeom prst="rect">
            <a:avLst/>
          </a:prstGeom>
          <a:noFill/>
          <a:ln>
            <a:noFill/>
          </a:ln>
        </p:spPr>
      </p:pic>
      <p:sp>
        <p:nvSpPr>
          <p:cNvPr id="5" name="Title 1"/>
          <p:cNvSpPr txBox="1">
            <a:spLocks/>
          </p:cNvSpPr>
          <p:nvPr/>
        </p:nvSpPr>
        <p:spPr>
          <a:xfrm>
            <a:off x="457200" y="457200"/>
            <a:ext cx="8229600" cy="738604"/>
          </a:xfrm>
          <a:prstGeom prst="rect">
            <a:avLst/>
          </a:prstGeom>
        </p:spPr>
        <p:txBody>
          <a:bodyPr>
            <a:normAutofit/>
          </a:bodyPr>
          <a:lstStyle>
            <a:lvl1pPr algn="l" rtl="0" eaLnBrk="1" fontAlgn="base" hangingPunct="1">
              <a:spcBef>
                <a:spcPct val="0"/>
              </a:spcBef>
              <a:spcAft>
                <a:spcPct val="0"/>
              </a:spcAft>
              <a:defRPr sz="2200" b="1">
                <a:solidFill>
                  <a:srgbClr val="777777"/>
                </a:solidFill>
                <a:latin typeface="+mj-lt"/>
                <a:ea typeface="+mj-ea"/>
                <a:cs typeface="+mj-cs"/>
              </a:defRPr>
            </a:lvl1pPr>
            <a:lvl2pPr algn="l" rtl="0" eaLnBrk="1" fontAlgn="base" hangingPunct="1">
              <a:spcBef>
                <a:spcPct val="0"/>
              </a:spcBef>
              <a:spcAft>
                <a:spcPct val="0"/>
              </a:spcAft>
              <a:defRPr sz="2200" b="1">
                <a:solidFill>
                  <a:srgbClr val="777777"/>
                </a:solidFill>
                <a:latin typeface="Verdana" pitchFamily="34" charset="0"/>
                <a:cs typeface="Arial" charset="0"/>
              </a:defRPr>
            </a:lvl2pPr>
            <a:lvl3pPr algn="l" rtl="0" eaLnBrk="1" fontAlgn="base" hangingPunct="1">
              <a:spcBef>
                <a:spcPct val="0"/>
              </a:spcBef>
              <a:spcAft>
                <a:spcPct val="0"/>
              </a:spcAft>
              <a:defRPr sz="2200" b="1">
                <a:solidFill>
                  <a:srgbClr val="777777"/>
                </a:solidFill>
                <a:latin typeface="Verdana" pitchFamily="34" charset="0"/>
                <a:cs typeface="Arial" charset="0"/>
              </a:defRPr>
            </a:lvl3pPr>
            <a:lvl4pPr algn="l" rtl="0" eaLnBrk="1" fontAlgn="base" hangingPunct="1">
              <a:spcBef>
                <a:spcPct val="0"/>
              </a:spcBef>
              <a:spcAft>
                <a:spcPct val="0"/>
              </a:spcAft>
              <a:defRPr sz="2200" b="1">
                <a:solidFill>
                  <a:srgbClr val="777777"/>
                </a:solidFill>
                <a:latin typeface="Verdana" pitchFamily="34" charset="0"/>
                <a:cs typeface="Arial" charset="0"/>
              </a:defRPr>
            </a:lvl4pPr>
            <a:lvl5pPr algn="l" rtl="0" eaLnBrk="1" fontAlgn="base" hangingPunct="1">
              <a:spcBef>
                <a:spcPct val="0"/>
              </a:spcBef>
              <a:spcAft>
                <a:spcPct val="0"/>
              </a:spcAft>
              <a:defRPr sz="2200" b="1">
                <a:solidFill>
                  <a:srgbClr val="777777"/>
                </a:solidFill>
                <a:latin typeface="Verdana" pitchFamily="34" charset="0"/>
                <a:cs typeface="Arial" charset="0"/>
              </a:defRPr>
            </a:lvl5pPr>
            <a:lvl6pPr marL="457200" algn="l" rtl="0" eaLnBrk="1" fontAlgn="base" hangingPunct="1">
              <a:spcBef>
                <a:spcPct val="0"/>
              </a:spcBef>
              <a:spcAft>
                <a:spcPct val="0"/>
              </a:spcAft>
              <a:defRPr sz="2200" b="1">
                <a:solidFill>
                  <a:srgbClr val="777777"/>
                </a:solidFill>
                <a:latin typeface="Verdana" pitchFamily="34" charset="0"/>
                <a:cs typeface="Arial" charset="0"/>
              </a:defRPr>
            </a:lvl6pPr>
            <a:lvl7pPr marL="914400" algn="l" rtl="0" eaLnBrk="1" fontAlgn="base" hangingPunct="1">
              <a:spcBef>
                <a:spcPct val="0"/>
              </a:spcBef>
              <a:spcAft>
                <a:spcPct val="0"/>
              </a:spcAft>
              <a:defRPr sz="2200" b="1">
                <a:solidFill>
                  <a:srgbClr val="777777"/>
                </a:solidFill>
                <a:latin typeface="Verdana" pitchFamily="34" charset="0"/>
                <a:cs typeface="Arial" charset="0"/>
              </a:defRPr>
            </a:lvl7pPr>
            <a:lvl8pPr marL="1371600" algn="l" rtl="0" eaLnBrk="1" fontAlgn="base" hangingPunct="1">
              <a:spcBef>
                <a:spcPct val="0"/>
              </a:spcBef>
              <a:spcAft>
                <a:spcPct val="0"/>
              </a:spcAft>
              <a:defRPr sz="2200" b="1">
                <a:solidFill>
                  <a:srgbClr val="777777"/>
                </a:solidFill>
                <a:latin typeface="Verdana" pitchFamily="34" charset="0"/>
                <a:cs typeface="Arial" charset="0"/>
              </a:defRPr>
            </a:lvl8pPr>
            <a:lvl9pPr marL="1828800" algn="l" rtl="0" eaLnBrk="1" fontAlgn="base" hangingPunct="1">
              <a:spcBef>
                <a:spcPct val="0"/>
              </a:spcBef>
              <a:spcAft>
                <a:spcPct val="0"/>
              </a:spcAft>
              <a:defRPr sz="2200" b="1">
                <a:solidFill>
                  <a:srgbClr val="777777"/>
                </a:solidFill>
                <a:latin typeface="Verdana" pitchFamily="34" charset="0"/>
                <a:cs typeface="Arial" charset="0"/>
              </a:defRPr>
            </a:lvl9pPr>
          </a:lstStyle>
          <a:p>
            <a:r>
              <a:rPr lang="en-US" kern="0" dirty="0" smtClean="0"/>
              <a:t>Wheel Brake System (Complex Version)</a:t>
            </a:r>
            <a:endParaRPr lang="en-US" kern="0" dirty="0"/>
          </a:p>
        </p:txBody>
      </p:sp>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38</a:t>
            </a:fld>
            <a:endParaRPr lang="en-US"/>
          </a:p>
        </p:txBody>
      </p:sp>
    </p:spTree>
    <p:extLst>
      <p:ext uri="{BB962C8B-B14F-4D97-AF65-F5344CB8AC3E}">
        <p14:creationId xmlns:p14="http://schemas.microsoft.com/office/powerpoint/2010/main" val="3095340872"/>
      </p:ext>
    </p:extLst>
  </p:cSld>
  <p:clrMapOvr>
    <a:masterClrMapping/>
  </p:clrMapOvr>
  <p:transition>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629798" y="616744"/>
            <a:ext cx="7772400" cy="503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Scalability: WBS Architecture Details</a:t>
            </a:r>
            <a:endParaRPr lang="en-US" sz="2400" b="1" dirty="0">
              <a:solidFill>
                <a:schemeClr val="bg1">
                  <a:lumMod val="50000"/>
                </a:schemeClr>
              </a:solidFill>
            </a:endParaRPr>
          </a:p>
        </p:txBody>
      </p:sp>
      <p:pic>
        <p:nvPicPr>
          <p:cNvPr id="49156" name="Picture 4" descr="C:\Users\stew_da\Desktop\Universität\arch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937" y="2324022"/>
            <a:ext cx="8272122" cy="1840353"/>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39</a:t>
            </a:fld>
            <a:endParaRPr lang="en-US"/>
          </a:p>
        </p:txBody>
      </p:sp>
    </p:spTree>
    <p:extLst>
      <p:ext uri="{BB962C8B-B14F-4D97-AF65-F5344CB8AC3E}">
        <p14:creationId xmlns:p14="http://schemas.microsoft.com/office/powerpoint/2010/main" val="1947193543"/>
      </p:ext>
    </p:extLst>
  </p:cSld>
  <p:clrMapOvr>
    <a:masterClrMapping/>
  </p:clrMapOvr>
  <p:transition>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629798" y="616744"/>
            <a:ext cx="7772400" cy="503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Scalability: WBS AGREE Contract Details</a:t>
            </a:r>
            <a:endParaRPr lang="en-US" sz="2400" b="1" dirty="0">
              <a:solidFill>
                <a:schemeClr val="bg1">
                  <a:lumMod val="50000"/>
                </a:schemeClr>
              </a:solidFill>
            </a:endParaRPr>
          </a:p>
        </p:txBody>
      </p:sp>
      <p:pic>
        <p:nvPicPr>
          <p:cNvPr id="52226" name="Picture 2" descr="C:\Users\stew_da\Desktop\Universität\agree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937" y="2420709"/>
            <a:ext cx="8022261" cy="1100196"/>
          </a:xfrm>
          <a:prstGeom prst="rect">
            <a:avLst/>
          </a:prstGeom>
          <a:noFill/>
          <a:extLst>
            <a:ext uri="{909E8E84-426E-40DD-AFC4-6F175D3DCCD1}">
              <a14:hiddenFill xmlns:a14="http://schemas.microsoft.com/office/drawing/2010/main">
                <a:solidFill>
                  <a:srgbClr val="FFFFFF"/>
                </a:solidFill>
              </a14:hiddenFill>
            </a:ext>
          </a:extLst>
        </p:spPr>
      </p:pic>
      <p:pic>
        <p:nvPicPr>
          <p:cNvPr id="59395" name="Picture 3" descr="C:\Users\stew_da\Desktop\Universität\Images for NASA Presentation\agree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937" y="4730750"/>
            <a:ext cx="8104287" cy="77768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40</a:t>
            </a:fld>
            <a:endParaRPr lang="en-US"/>
          </a:p>
        </p:txBody>
      </p:sp>
    </p:spTree>
    <p:extLst>
      <p:ext uri="{BB962C8B-B14F-4D97-AF65-F5344CB8AC3E}">
        <p14:creationId xmlns:p14="http://schemas.microsoft.com/office/powerpoint/2010/main" val="1237151915"/>
      </p:ext>
    </p:extLst>
  </p:cSld>
  <p:clrMapOvr>
    <a:masterClrMapping/>
  </p:clrMapOvr>
  <p:transition>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00200" y="2877879"/>
            <a:ext cx="5105400" cy="769441"/>
          </a:xfrm>
          <a:prstGeom prst="rect">
            <a:avLst/>
          </a:prstGeom>
          <a:noFill/>
        </p:spPr>
        <p:txBody>
          <a:bodyPr wrap="square" rtlCol="0">
            <a:spAutoFit/>
          </a:bodyPr>
          <a:lstStyle/>
          <a:p>
            <a:r>
              <a:rPr lang="de-DE" sz="4400" dirty="0" smtClean="0">
                <a:latin typeface="+mn-lt"/>
              </a:rPr>
              <a:t>Fault Model</a:t>
            </a:r>
            <a:endParaRPr lang="en-US" sz="4400" dirty="0">
              <a:latin typeface="+mn-lt"/>
            </a:endParaRPr>
          </a:p>
        </p:txBody>
      </p:sp>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41</a:t>
            </a:fld>
            <a:endParaRPr lang="en-US"/>
          </a:p>
        </p:txBody>
      </p:sp>
    </p:spTree>
    <p:extLst>
      <p:ext uri="{BB962C8B-B14F-4D97-AF65-F5344CB8AC3E}">
        <p14:creationId xmlns:p14="http://schemas.microsoft.com/office/powerpoint/2010/main" val="15044549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2349500"/>
            <a:ext cx="8229600" cy="3776663"/>
          </a:xfrm>
        </p:spPr>
        <p:txBody>
          <a:bodyPr/>
          <a:lstStyle/>
          <a:p>
            <a:r>
              <a:rPr lang="en-US" dirty="0" smtClean="0"/>
              <a:t>Wrap nominal component in fault</a:t>
            </a:r>
          </a:p>
          <a:p>
            <a:r>
              <a:rPr lang="en-US" dirty="0" smtClean="0"/>
              <a:t>Watch behavior of system through AGREE contracts</a:t>
            </a:r>
          </a:p>
          <a:p>
            <a:pPr>
              <a:buNone/>
            </a:pPr>
            <a:endParaRPr lang="en-US" dirty="0"/>
          </a:p>
        </p:txBody>
      </p:sp>
      <p:sp>
        <p:nvSpPr>
          <p:cNvPr id="4" name="Title 3"/>
          <p:cNvSpPr txBox="1">
            <a:spLocks/>
          </p:cNvSpPr>
          <p:nvPr/>
        </p:nvSpPr>
        <p:spPr>
          <a:xfrm>
            <a:off x="629798" y="616744"/>
            <a:ext cx="7772400" cy="503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Behavioral Failure Propagation</a:t>
            </a:r>
            <a:endParaRPr lang="en-US" sz="2400" b="1" dirty="0">
              <a:solidFill>
                <a:schemeClr val="bg1">
                  <a:lumMod val="50000"/>
                </a:schemeClr>
              </a:solidFill>
            </a:endParaRPr>
          </a:p>
        </p:txBody>
      </p:sp>
      <p:sp>
        <p:nvSpPr>
          <p:cNvPr id="2" name="Slide Number Placeholder 1"/>
          <p:cNvSpPr>
            <a:spLocks noGrp="1"/>
          </p:cNvSpPr>
          <p:nvPr>
            <p:ph type="sldNum" sz="quarter" idx="10"/>
          </p:nvPr>
        </p:nvSpPr>
        <p:spPr/>
        <p:txBody>
          <a:bodyPr/>
          <a:lstStyle/>
          <a:p>
            <a:pPr>
              <a:defRPr/>
            </a:pPr>
            <a:fld id="{7486D9C8-0CDB-4BF0-99FF-D7490CE4EFA3}" type="slidenum">
              <a:rPr lang="en-US" smtClean="0"/>
              <a:pPr>
                <a:defRPr/>
              </a:pPr>
              <a:t>42</a:t>
            </a:fld>
            <a:endParaRPr lang="en-US"/>
          </a:p>
        </p:txBody>
      </p:sp>
    </p:spTree>
    <p:extLst>
      <p:ext uri="{BB962C8B-B14F-4D97-AF65-F5344CB8AC3E}">
        <p14:creationId xmlns:p14="http://schemas.microsoft.com/office/powerpoint/2010/main" val="37120225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316" y="2119299"/>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6734875" y="2141688"/>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895600" y="1752600"/>
            <a:ext cx="1582549" cy="369332"/>
          </a:xfrm>
          <a:prstGeom prst="rect">
            <a:avLst/>
          </a:prstGeom>
          <a:noFill/>
        </p:spPr>
        <p:txBody>
          <a:bodyPr wrap="none" rtlCol="0">
            <a:spAutoFit/>
          </a:bodyPr>
          <a:lstStyle/>
          <a:p>
            <a:r>
              <a:rPr lang="en-US" dirty="0" smtClean="0"/>
              <a:t>Component A</a:t>
            </a:r>
            <a:endParaRPr lang="en-US" dirty="0"/>
          </a:p>
        </p:txBody>
      </p:sp>
      <p:sp>
        <p:nvSpPr>
          <p:cNvPr id="6" name="TextBox 5"/>
          <p:cNvSpPr txBox="1"/>
          <p:nvPr/>
        </p:nvSpPr>
        <p:spPr>
          <a:xfrm>
            <a:off x="6371525" y="1760688"/>
            <a:ext cx="1595309" cy="369332"/>
          </a:xfrm>
          <a:prstGeom prst="rect">
            <a:avLst/>
          </a:prstGeom>
          <a:noFill/>
        </p:spPr>
        <p:txBody>
          <a:bodyPr wrap="none" rtlCol="0">
            <a:spAutoFit/>
          </a:bodyPr>
          <a:lstStyle/>
          <a:p>
            <a:r>
              <a:rPr lang="en-US" dirty="0" smtClean="0"/>
              <a:t>Component B</a:t>
            </a:r>
            <a:endParaRPr lang="en-US" dirty="0"/>
          </a:p>
        </p:txBody>
      </p:sp>
      <p:cxnSp>
        <p:nvCxnSpPr>
          <p:cNvPr id="8" name="Straight Arrow Connector 7"/>
          <p:cNvCxnSpPr>
            <a:stCxn id="2" idx="3"/>
          </p:cNvCxnSpPr>
          <p:nvPr/>
        </p:nvCxnSpPr>
        <p:spPr>
          <a:xfrm>
            <a:off x="4149716" y="2576499"/>
            <a:ext cx="25908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149715" y="2240845"/>
            <a:ext cx="556563" cy="369332"/>
          </a:xfrm>
          <a:prstGeom prst="rect">
            <a:avLst/>
          </a:prstGeom>
          <a:noFill/>
        </p:spPr>
        <p:txBody>
          <a:bodyPr wrap="none" rtlCol="0">
            <a:spAutoFit/>
          </a:bodyPr>
          <a:lstStyle/>
          <a:p>
            <a:r>
              <a:rPr lang="en-US" dirty="0" smtClean="0"/>
              <a:t>Out</a:t>
            </a:r>
            <a:endParaRPr lang="en-US" dirty="0"/>
          </a:p>
        </p:txBody>
      </p:sp>
      <p:sp>
        <p:nvSpPr>
          <p:cNvPr id="11" name="TextBox 10"/>
          <p:cNvSpPr txBox="1"/>
          <p:nvPr/>
        </p:nvSpPr>
        <p:spPr>
          <a:xfrm>
            <a:off x="6357848" y="2240845"/>
            <a:ext cx="377026" cy="369332"/>
          </a:xfrm>
          <a:prstGeom prst="rect">
            <a:avLst/>
          </a:prstGeom>
          <a:noFill/>
        </p:spPr>
        <p:txBody>
          <a:bodyPr wrap="none" rtlCol="0">
            <a:spAutoFit/>
          </a:bodyPr>
          <a:lstStyle/>
          <a:p>
            <a:r>
              <a:rPr lang="en-US" dirty="0" smtClean="0"/>
              <a:t>In</a:t>
            </a:r>
            <a:endParaRPr lang="en-US" dirty="0"/>
          </a:p>
        </p:txBody>
      </p:sp>
      <p:sp>
        <p:nvSpPr>
          <p:cNvPr id="12" name="Rectangle 11"/>
          <p:cNvSpPr/>
          <p:nvPr/>
        </p:nvSpPr>
        <p:spPr>
          <a:xfrm>
            <a:off x="3240207" y="4427688"/>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6739766" y="4450077"/>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2900491" y="4060989"/>
            <a:ext cx="1582549" cy="369332"/>
          </a:xfrm>
          <a:prstGeom prst="rect">
            <a:avLst/>
          </a:prstGeom>
          <a:noFill/>
        </p:spPr>
        <p:txBody>
          <a:bodyPr wrap="none" rtlCol="0">
            <a:spAutoFit/>
          </a:bodyPr>
          <a:lstStyle/>
          <a:p>
            <a:r>
              <a:rPr lang="en-US" dirty="0" smtClean="0"/>
              <a:t>Component A</a:t>
            </a:r>
            <a:endParaRPr lang="en-US" dirty="0"/>
          </a:p>
        </p:txBody>
      </p:sp>
      <p:sp>
        <p:nvSpPr>
          <p:cNvPr id="15" name="TextBox 14"/>
          <p:cNvSpPr txBox="1"/>
          <p:nvPr/>
        </p:nvSpPr>
        <p:spPr>
          <a:xfrm>
            <a:off x="6405691" y="4069077"/>
            <a:ext cx="1595309" cy="369332"/>
          </a:xfrm>
          <a:prstGeom prst="rect">
            <a:avLst/>
          </a:prstGeom>
          <a:noFill/>
        </p:spPr>
        <p:txBody>
          <a:bodyPr wrap="none" rtlCol="0">
            <a:spAutoFit/>
          </a:bodyPr>
          <a:lstStyle/>
          <a:p>
            <a:r>
              <a:rPr lang="en-US" dirty="0" smtClean="0"/>
              <a:t>Component B</a:t>
            </a:r>
            <a:endParaRPr lang="en-US" dirty="0"/>
          </a:p>
        </p:txBody>
      </p:sp>
      <p:cxnSp>
        <p:nvCxnSpPr>
          <p:cNvPr id="16" name="Straight Arrow Connector 15"/>
          <p:cNvCxnSpPr>
            <a:stCxn id="12" idx="3"/>
          </p:cNvCxnSpPr>
          <p:nvPr/>
        </p:nvCxnSpPr>
        <p:spPr>
          <a:xfrm>
            <a:off x="4154607" y="4884888"/>
            <a:ext cx="25908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154606" y="4549234"/>
            <a:ext cx="556563" cy="369332"/>
          </a:xfrm>
          <a:prstGeom prst="rect">
            <a:avLst/>
          </a:prstGeom>
          <a:noFill/>
        </p:spPr>
        <p:txBody>
          <a:bodyPr wrap="none" rtlCol="0">
            <a:spAutoFit/>
          </a:bodyPr>
          <a:lstStyle/>
          <a:p>
            <a:r>
              <a:rPr lang="en-US" dirty="0" smtClean="0"/>
              <a:t>Out</a:t>
            </a:r>
            <a:endParaRPr lang="en-US" dirty="0"/>
          </a:p>
        </p:txBody>
      </p:sp>
      <p:sp>
        <p:nvSpPr>
          <p:cNvPr id="18" name="TextBox 17"/>
          <p:cNvSpPr txBox="1"/>
          <p:nvPr/>
        </p:nvSpPr>
        <p:spPr>
          <a:xfrm>
            <a:off x="6362739" y="4549234"/>
            <a:ext cx="377026" cy="369332"/>
          </a:xfrm>
          <a:prstGeom prst="rect">
            <a:avLst/>
          </a:prstGeom>
          <a:noFill/>
        </p:spPr>
        <p:txBody>
          <a:bodyPr wrap="none" rtlCol="0">
            <a:spAutoFit/>
          </a:bodyPr>
          <a:lstStyle/>
          <a:p>
            <a:r>
              <a:rPr lang="en-US" dirty="0" smtClean="0"/>
              <a:t>In</a:t>
            </a:r>
            <a:endParaRPr lang="en-US" dirty="0"/>
          </a:p>
        </p:txBody>
      </p:sp>
      <p:sp>
        <p:nvSpPr>
          <p:cNvPr id="19" name="TextBox 18"/>
          <p:cNvSpPr txBox="1"/>
          <p:nvPr/>
        </p:nvSpPr>
        <p:spPr>
          <a:xfrm>
            <a:off x="672735" y="2425511"/>
            <a:ext cx="2133918" cy="369332"/>
          </a:xfrm>
          <a:prstGeom prst="rect">
            <a:avLst/>
          </a:prstGeom>
          <a:noFill/>
        </p:spPr>
        <p:txBody>
          <a:bodyPr wrap="none" rtlCol="0">
            <a:spAutoFit/>
          </a:bodyPr>
          <a:lstStyle/>
          <a:p>
            <a:r>
              <a:rPr lang="en-US" dirty="0" smtClean="0"/>
              <a:t>Nominal Behavior: </a:t>
            </a:r>
            <a:endParaRPr lang="en-US" dirty="0"/>
          </a:p>
        </p:txBody>
      </p:sp>
      <p:sp>
        <p:nvSpPr>
          <p:cNvPr id="27" name="TextBox 26"/>
          <p:cNvSpPr txBox="1"/>
          <p:nvPr/>
        </p:nvSpPr>
        <p:spPr>
          <a:xfrm>
            <a:off x="685229" y="4733900"/>
            <a:ext cx="1800493" cy="369332"/>
          </a:xfrm>
          <a:prstGeom prst="rect">
            <a:avLst/>
          </a:prstGeom>
          <a:noFill/>
        </p:spPr>
        <p:txBody>
          <a:bodyPr wrap="none" rtlCol="0">
            <a:spAutoFit/>
          </a:bodyPr>
          <a:lstStyle/>
          <a:p>
            <a:r>
              <a:rPr lang="en-US" dirty="0" smtClean="0"/>
              <a:t>Fault Behavior: </a:t>
            </a:r>
            <a:endParaRPr lang="en-US" dirty="0"/>
          </a:p>
        </p:txBody>
      </p:sp>
      <p:sp>
        <p:nvSpPr>
          <p:cNvPr id="28" name="Oval 27"/>
          <p:cNvSpPr/>
          <p:nvPr/>
        </p:nvSpPr>
        <p:spPr>
          <a:xfrm>
            <a:off x="5034192" y="4461366"/>
            <a:ext cx="914400" cy="9144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Fault</a:t>
            </a:r>
            <a:endParaRPr lang="en-US" sz="1400" dirty="0"/>
          </a:p>
        </p:txBody>
      </p:sp>
      <p:sp>
        <p:nvSpPr>
          <p:cNvPr id="22" name="Title 3"/>
          <p:cNvSpPr txBox="1">
            <a:spLocks/>
          </p:cNvSpPr>
          <p:nvPr/>
        </p:nvSpPr>
        <p:spPr>
          <a:xfrm>
            <a:off x="629798" y="616744"/>
            <a:ext cx="7772400" cy="503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Behavioral Failure Propagation</a:t>
            </a:r>
            <a:endParaRPr lang="en-US" sz="2400" b="1" dirty="0">
              <a:solidFill>
                <a:schemeClr val="bg1">
                  <a:lumMod val="50000"/>
                </a:schemeClr>
              </a:solidFill>
            </a:endParaRPr>
          </a:p>
        </p:txBody>
      </p:sp>
      <p:sp>
        <p:nvSpPr>
          <p:cNvPr id="5" name="Slide Number Placeholder 4"/>
          <p:cNvSpPr>
            <a:spLocks noGrp="1"/>
          </p:cNvSpPr>
          <p:nvPr>
            <p:ph type="sldNum" sz="quarter" idx="10"/>
          </p:nvPr>
        </p:nvSpPr>
        <p:spPr/>
        <p:txBody>
          <a:bodyPr/>
          <a:lstStyle/>
          <a:p>
            <a:pPr>
              <a:defRPr/>
            </a:pPr>
            <a:fld id="{7486D9C8-0CDB-4BF0-99FF-D7490CE4EFA3}" type="slidenum">
              <a:rPr lang="en-US" smtClean="0"/>
              <a:pPr>
                <a:defRPr/>
              </a:pPr>
              <a:t>43</a:t>
            </a:fld>
            <a:endParaRPr lang="en-US"/>
          </a:p>
        </p:txBody>
      </p:sp>
    </p:spTree>
    <p:extLst>
      <p:ext uri="{BB962C8B-B14F-4D97-AF65-F5344CB8AC3E}">
        <p14:creationId xmlns:p14="http://schemas.microsoft.com/office/powerpoint/2010/main" val="2561644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p:nvPr/>
        </p:nvSpPr>
        <p:spPr>
          <a:xfrm>
            <a:off x="457199" y="1583324"/>
            <a:ext cx="8143876" cy="443230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154" name="Picture 2" descr="C:\Users\stew_da\Downloads\fault_senso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072" y="1924050"/>
            <a:ext cx="7784130" cy="3607717"/>
          </a:xfrm>
          <a:prstGeom prst="rect">
            <a:avLst/>
          </a:prstGeom>
          <a:noFill/>
          <a:extLst>
            <a:ext uri="{909E8E84-426E-40DD-AFC4-6F175D3DCCD1}">
              <a14:hiddenFill xmlns:a14="http://schemas.microsoft.com/office/drawing/2010/main">
                <a:solidFill>
                  <a:srgbClr val="FFFFFF"/>
                </a:solidFill>
              </a14:hiddenFill>
            </a:ext>
          </a:extLst>
        </p:spPr>
      </p:pic>
      <p:sp>
        <p:nvSpPr>
          <p:cNvPr id="10" name="Rechteck 9"/>
          <p:cNvSpPr/>
          <p:nvPr/>
        </p:nvSpPr>
        <p:spPr>
          <a:xfrm>
            <a:off x="828675" y="3945524"/>
            <a:ext cx="7505700" cy="1400175"/>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9" name="Title 3"/>
          <p:cNvSpPr txBox="1">
            <a:spLocks/>
          </p:cNvSpPr>
          <p:nvPr/>
        </p:nvSpPr>
        <p:spPr>
          <a:xfrm>
            <a:off x="629798" y="616744"/>
            <a:ext cx="7772400" cy="503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Safety Annex</a:t>
            </a:r>
            <a:endParaRPr lang="en-US" sz="2400" b="1" dirty="0">
              <a:solidFill>
                <a:schemeClr val="bg1">
                  <a:lumMod val="50000"/>
                </a:schemeClr>
              </a:solidFill>
            </a:endParaRPr>
          </a:p>
        </p:txBody>
      </p:sp>
      <p:sp>
        <p:nvSpPr>
          <p:cNvPr id="2" name="Slide Number Placeholder 1"/>
          <p:cNvSpPr>
            <a:spLocks noGrp="1"/>
          </p:cNvSpPr>
          <p:nvPr>
            <p:ph type="sldNum" sz="quarter" idx="10"/>
          </p:nvPr>
        </p:nvSpPr>
        <p:spPr/>
        <p:txBody>
          <a:bodyPr/>
          <a:lstStyle/>
          <a:p>
            <a:pPr>
              <a:defRPr/>
            </a:pPr>
            <a:fld id="{7486D9C8-0CDB-4BF0-99FF-D7490CE4EFA3}" type="slidenum">
              <a:rPr lang="en-US" smtClean="0"/>
              <a:pPr>
                <a:defRPr/>
              </a:pPr>
              <a:t>44</a:t>
            </a:fld>
            <a:endParaRPr lang="en-US"/>
          </a:p>
        </p:txBody>
      </p:sp>
    </p:spTree>
    <p:extLst>
      <p:ext uri="{BB962C8B-B14F-4D97-AF65-F5344CB8AC3E}">
        <p14:creationId xmlns:p14="http://schemas.microsoft.com/office/powerpoint/2010/main" val="4187768130"/>
      </p:ext>
    </p:extLst>
  </p:cSld>
  <p:clrMapOvr>
    <a:masterClrMapping/>
  </p:clrMapOvr>
  <p:transition>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600201"/>
            <a:ext cx="7924800" cy="1600200"/>
          </a:xfrm>
        </p:spPr>
        <p:txBody>
          <a:bodyPr>
            <a:normAutofit/>
          </a:bodyPr>
          <a:lstStyle/>
          <a:p>
            <a:pPr marL="0" indent="0">
              <a:buNone/>
            </a:pPr>
            <a:r>
              <a:rPr lang="en-US" dirty="0" smtClean="0"/>
              <a:t>Normal Operating Mode: </a:t>
            </a:r>
          </a:p>
          <a:p>
            <a:r>
              <a:rPr lang="en-US" dirty="0" smtClean="0"/>
              <a:t>Mechanical pedal pressed (brakes commanded)</a:t>
            </a:r>
          </a:p>
          <a:p>
            <a:r>
              <a:rPr lang="en-US" dirty="0" smtClean="0"/>
              <a:t>Sensor on pedal converts to electrical signal</a:t>
            </a:r>
          </a:p>
          <a:p>
            <a:r>
              <a:rPr lang="en-US" dirty="0" smtClean="0"/>
              <a:t>Signal sent to BSCU to command brakes</a:t>
            </a:r>
          </a:p>
          <a:p>
            <a:endParaRPr lang="en-US" dirty="0"/>
          </a:p>
        </p:txBody>
      </p:sp>
      <p:sp>
        <p:nvSpPr>
          <p:cNvPr id="5" name="Title 3"/>
          <p:cNvSpPr txBox="1">
            <a:spLocks/>
          </p:cNvSpPr>
          <p:nvPr/>
        </p:nvSpPr>
        <p:spPr>
          <a:xfrm>
            <a:off x="629798" y="616744"/>
            <a:ext cx="7772400" cy="503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Sensor Nominal Model</a:t>
            </a:r>
            <a:endParaRPr lang="en-US" sz="2400" b="1" dirty="0">
              <a:solidFill>
                <a:schemeClr val="bg1">
                  <a:lumMod val="50000"/>
                </a:schemeClr>
              </a:solidFill>
            </a:endParaRPr>
          </a:p>
        </p:txBody>
      </p:sp>
      <p:sp>
        <p:nvSpPr>
          <p:cNvPr id="2" name="Slide Number Placeholder 1"/>
          <p:cNvSpPr>
            <a:spLocks noGrp="1"/>
          </p:cNvSpPr>
          <p:nvPr>
            <p:ph type="sldNum" sz="quarter" idx="10"/>
          </p:nvPr>
        </p:nvSpPr>
        <p:spPr/>
        <p:txBody>
          <a:bodyPr/>
          <a:lstStyle/>
          <a:p>
            <a:pPr>
              <a:defRPr/>
            </a:pPr>
            <a:fld id="{7486D9C8-0CDB-4BF0-99FF-D7490CE4EFA3}" type="slidenum">
              <a:rPr lang="en-US" smtClean="0"/>
              <a:pPr>
                <a:defRPr/>
              </a:pPr>
              <a:t>45</a:t>
            </a:fld>
            <a:endParaRPr lang="en-US"/>
          </a:p>
        </p:txBody>
      </p:sp>
    </p:spTree>
    <p:extLst>
      <p:ext uri="{BB962C8B-B14F-4D97-AF65-F5344CB8AC3E}">
        <p14:creationId xmlns:p14="http://schemas.microsoft.com/office/powerpoint/2010/main" val="30630771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568" y="2590800"/>
            <a:ext cx="8815263" cy="1600200"/>
          </a:xfrm>
        </p:spPr>
      </p:pic>
      <p:sp>
        <p:nvSpPr>
          <p:cNvPr id="5" name="Title 3"/>
          <p:cNvSpPr txBox="1">
            <a:spLocks/>
          </p:cNvSpPr>
          <p:nvPr/>
        </p:nvSpPr>
        <p:spPr>
          <a:xfrm>
            <a:off x="629798" y="616744"/>
            <a:ext cx="7772400" cy="503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Sensor Fault Model</a:t>
            </a:r>
            <a:endParaRPr lang="en-US" sz="2400" b="1" dirty="0">
              <a:solidFill>
                <a:schemeClr val="bg1">
                  <a:lumMod val="50000"/>
                </a:schemeClr>
              </a:solidFill>
            </a:endParaRPr>
          </a:p>
        </p:txBody>
      </p:sp>
      <p:sp>
        <p:nvSpPr>
          <p:cNvPr id="2" name="Slide Number Placeholder 1"/>
          <p:cNvSpPr>
            <a:spLocks noGrp="1"/>
          </p:cNvSpPr>
          <p:nvPr>
            <p:ph type="sldNum" sz="quarter" idx="10"/>
          </p:nvPr>
        </p:nvSpPr>
        <p:spPr/>
        <p:txBody>
          <a:bodyPr/>
          <a:lstStyle/>
          <a:p>
            <a:pPr>
              <a:defRPr/>
            </a:pPr>
            <a:fld id="{7486D9C8-0CDB-4BF0-99FF-D7490CE4EFA3}" type="slidenum">
              <a:rPr lang="en-US" smtClean="0"/>
              <a:pPr>
                <a:defRPr/>
              </a:pPr>
              <a:t>46</a:t>
            </a:fld>
            <a:endParaRPr lang="en-US"/>
          </a:p>
        </p:txBody>
      </p:sp>
    </p:spTree>
    <p:extLst>
      <p:ext uri="{BB962C8B-B14F-4D97-AF65-F5344CB8AC3E}">
        <p14:creationId xmlns:p14="http://schemas.microsoft.com/office/powerpoint/2010/main" val="25644409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descr="C:\Users\stew_da\Desktop\DLR_presentations\current_work\images\SA_approach.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799" y="2057400"/>
            <a:ext cx="8458201" cy="3962400"/>
          </a:xfrm>
          <a:prstGeom prst="rect">
            <a:avLst/>
          </a:prstGeom>
          <a:noFill/>
          <a:extLst>
            <a:ext uri="{909E8E84-426E-40DD-AFC4-6F175D3DCCD1}">
              <a14:hiddenFill xmlns:a14="http://schemas.microsoft.com/office/drawing/2010/main">
                <a:solidFill>
                  <a:srgbClr val="FFFFFF"/>
                </a:solidFill>
              </a14:hiddenFill>
            </a:ext>
          </a:extLst>
        </p:spPr>
      </p:pic>
      <p:sp>
        <p:nvSpPr>
          <p:cNvPr id="6" name="Rechteck 5"/>
          <p:cNvSpPr/>
          <p:nvPr/>
        </p:nvSpPr>
        <p:spPr>
          <a:xfrm>
            <a:off x="304799" y="5715000"/>
            <a:ext cx="1905001"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itle 3"/>
          <p:cNvSpPr txBox="1">
            <a:spLocks/>
          </p:cNvSpPr>
          <p:nvPr/>
        </p:nvSpPr>
        <p:spPr>
          <a:xfrm>
            <a:off x="629798" y="616744"/>
            <a:ext cx="7772400" cy="503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Behavioral Fault Propagation</a:t>
            </a:r>
            <a:endParaRPr lang="en-US" sz="2400" b="1" dirty="0">
              <a:solidFill>
                <a:schemeClr val="bg1">
                  <a:lumMod val="50000"/>
                </a:schemeClr>
              </a:solidFill>
            </a:endParaRPr>
          </a:p>
        </p:txBody>
      </p:sp>
      <p:sp>
        <p:nvSpPr>
          <p:cNvPr id="2" name="Slide Number Placeholder 1"/>
          <p:cNvSpPr>
            <a:spLocks noGrp="1"/>
          </p:cNvSpPr>
          <p:nvPr>
            <p:ph type="sldNum" sz="quarter" idx="10"/>
          </p:nvPr>
        </p:nvSpPr>
        <p:spPr/>
        <p:txBody>
          <a:bodyPr/>
          <a:lstStyle/>
          <a:p>
            <a:pPr>
              <a:defRPr/>
            </a:pPr>
            <a:fld id="{7486D9C8-0CDB-4BF0-99FF-D7490CE4EFA3}" type="slidenum">
              <a:rPr lang="en-US" smtClean="0"/>
              <a:pPr>
                <a:defRPr/>
              </a:pPr>
              <a:t>47</a:t>
            </a:fld>
            <a:endParaRPr lang="en-US"/>
          </a:p>
        </p:txBody>
      </p:sp>
    </p:spTree>
    <p:extLst>
      <p:ext uri="{BB962C8B-B14F-4D97-AF65-F5344CB8AC3E}">
        <p14:creationId xmlns:p14="http://schemas.microsoft.com/office/powerpoint/2010/main" val="8437624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C:\Users\stew_da\Desktop\Universität\topLeve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417638"/>
            <a:ext cx="4305300" cy="3067050"/>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p:cNvSpPr txBox="1"/>
          <p:nvPr/>
        </p:nvSpPr>
        <p:spPr>
          <a:xfrm>
            <a:off x="1035586" y="4300022"/>
            <a:ext cx="463588" cy="369332"/>
          </a:xfrm>
          <a:prstGeom prst="rect">
            <a:avLst/>
          </a:prstGeom>
          <a:noFill/>
        </p:spPr>
        <p:txBody>
          <a:bodyPr wrap="none" rtlCol="0">
            <a:spAutoFit/>
          </a:bodyPr>
          <a:lstStyle/>
          <a:p>
            <a:r>
              <a:rPr lang="de-DE" dirty="0" smtClean="0"/>
              <a:t>. . .</a:t>
            </a:r>
            <a:endParaRPr lang="de-DE" dirty="0"/>
          </a:p>
        </p:txBody>
      </p:sp>
      <p:pic>
        <p:nvPicPr>
          <p:cNvPr id="54275" name="Picture 3" descr="C:\Users\stew_da\Desktop\Universität\agreecod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930" y="4856047"/>
            <a:ext cx="1104900" cy="1809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p:cNvSpPr txBox="1"/>
          <p:nvPr/>
        </p:nvSpPr>
        <p:spPr>
          <a:xfrm>
            <a:off x="1089714" y="4979277"/>
            <a:ext cx="463588" cy="369332"/>
          </a:xfrm>
          <a:prstGeom prst="rect">
            <a:avLst/>
          </a:prstGeom>
          <a:noFill/>
        </p:spPr>
        <p:txBody>
          <a:bodyPr wrap="none" rtlCol="0">
            <a:spAutoFit/>
          </a:bodyPr>
          <a:lstStyle/>
          <a:p>
            <a:r>
              <a:rPr lang="de-DE" dirty="0" smtClean="0"/>
              <a:t>. . .</a:t>
            </a:r>
            <a:endParaRPr lang="de-DE" dirty="0"/>
          </a:p>
        </p:txBody>
      </p:sp>
      <p:pic>
        <p:nvPicPr>
          <p:cNvPr id="54276" name="Picture 4" descr="C:\Users\stew_da\Desktop\Universität\sacode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4930" y="5264199"/>
            <a:ext cx="2152650" cy="1076325"/>
          </a:xfrm>
          <a:prstGeom prst="rect">
            <a:avLst/>
          </a:prstGeom>
          <a:noFill/>
          <a:extLst>
            <a:ext uri="{909E8E84-426E-40DD-AFC4-6F175D3DCCD1}">
              <a14:hiddenFill xmlns:a14="http://schemas.microsoft.com/office/drawing/2010/main">
                <a:solidFill>
                  <a:srgbClr val="FFFFFF"/>
                </a:solidFill>
              </a14:hiddenFill>
            </a:ext>
          </a:extLst>
        </p:spPr>
      </p:pic>
      <p:pic>
        <p:nvPicPr>
          <p:cNvPr id="54277" name="Picture 5" descr="C:\Users\stew_da\Desktop\Universität\endinst.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2177" y="6483350"/>
            <a:ext cx="952500" cy="209550"/>
          </a:xfrm>
          <a:prstGeom prst="rect">
            <a:avLst/>
          </a:prstGeom>
          <a:noFill/>
          <a:extLst>
            <a:ext uri="{909E8E84-426E-40DD-AFC4-6F175D3DCCD1}">
              <a14:hiddenFill xmlns:a14="http://schemas.microsoft.com/office/drawing/2010/main">
                <a:solidFill>
                  <a:srgbClr val="FFFFFF"/>
                </a:solidFill>
              </a14:hiddenFill>
            </a:ext>
          </a:extLst>
        </p:spPr>
      </p:pic>
      <p:sp>
        <p:nvSpPr>
          <p:cNvPr id="10" name="Abgerundetes Rechteck 9"/>
          <p:cNvSpPr/>
          <p:nvPr/>
        </p:nvSpPr>
        <p:spPr>
          <a:xfrm>
            <a:off x="176270" y="1222872"/>
            <a:ext cx="5277079" cy="3446482"/>
          </a:xfrm>
          <a:prstGeom prst="roundRect">
            <a:avLst/>
          </a:prstGeom>
          <a:noFill/>
          <a:ln w="3810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3"/>
          <p:cNvSpPr txBox="1">
            <a:spLocks/>
          </p:cNvSpPr>
          <p:nvPr/>
        </p:nvSpPr>
        <p:spPr>
          <a:xfrm>
            <a:off x="629798" y="616744"/>
            <a:ext cx="7772400" cy="503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Fault Hypothesis in System Implementation</a:t>
            </a:r>
            <a:endParaRPr lang="en-US" sz="2400" b="1" dirty="0">
              <a:solidFill>
                <a:schemeClr val="bg1">
                  <a:lumMod val="50000"/>
                </a:schemeClr>
              </a:solidFill>
            </a:endParaRPr>
          </a:p>
        </p:txBody>
      </p:sp>
      <p:sp>
        <p:nvSpPr>
          <p:cNvPr id="2" name="Slide Number Placeholder 1"/>
          <p:cNvSpPr>
            <a:spLocks noGrp="1"/>
          </p:cNvSpPr>
          <p:nvPr>
            <p:ph type="sldNum" sz="quarter" idx="10"/>
          </p:nvPr>
        </p:nvSpPr>
        <p:spPr/>
        <p:txBody>
          <a:bodyPr/>
          <a:lstStyle/>
          <a:p>
            <a:pPr>
              <a:defRPr/>
            </a:pPr>
            <a:fld id="{7486D9C8-0CDB-4BF0-99FF-D7490CE4EFA3}" type="slidenum">
              <a:rPr lang="en-US" smtClean="0"/>
              <a:pPr>
                <a:defRPr/>
              </a:pPr>
              <a:t>48</a:t>
            </a:fld>
            <a:endParaRPr lang="en-US"/>
          </a:p>
        </p:txBody>
      </p:sp>
    </p:spTree>
    <p:extLst>
      <p:ext uri="{BB962C8B-B14F-4D97-AF65-F5344CB8AC3E}">
        <p14:creationId xmlns:p14="http://schemas.microsoft.com/office/powerpoint/2010/main" val="36536518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C:\Users\stew_da\Desktop\Universität\topLeve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417638"/>
            <a:ext cx="4305300" cy="3067050"/>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p:cNvSpPr txBox="1"/>
          <p:nvPr/>
        </p:nvSpPr>
        <p:spPr>
          <a:xfrm>
            <a:off x="1035586" y="4300022"/>
            <a:ext cx="463588" cy="369332"/>
          </a:xfrm>
          <a:prstGeom prst="rect">
            <a:avLst/>
          </a:prstGeom>
          <a:noFill/>
        </p:spPr>
        <p:txBody>
          <a:bodyPr wrap="none" rtlCol="0">
            <a:spAutoFit/>
          </a:bodyPr>
          <a:lstStyle/>
          <a:p>
            <a:r>
              <a:rPr lang="de-DE" dirty="0" smtClean="0"/>
              <a:t>. . .</a:t>
            </a:r>
            <a:endParaRPr lang="de-DE" dirty="0"/>
          </a:p>
        </p:txBody>
      </p:sp>
      <p:pic>
        <p:nvPicPr>
          <p:cNvPr id="54275" name="Picture 3" descr="C:\Users\stew_da\Desktop\Universität\agreecod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930" y="4856047"/>
            <a:ext cx="1104900" cy="1809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p:cNvSpPr txBox="1"/>
          <p:nvPr/>
        </p:nvSpPr>
        <p:spPr>
          <a:xfrm>
            <a:off x="1089714" y="4979277"/>
            <a:ext cx="463588" cy="369332"/>
          </a:xfrm>
          <a:prstGeom prst="rect">
            <a:avLst/>
          </a:prstGeom>
          <a:noFill/>
        </p:spPr>
        <p:txBody>
          <a:bodyPr wrap="none" rtlCol="0">
            <a:spAutoFit/>
          </a:bodyPr>
          <a:lstStyle/>
          <a:p>
            <a:r>
              <a:rPr lang="de-DE" dirty="0" smtClean="0"/>
              <a:t>. . .</a:t>
            </a:r>
            <a:endParaRPr lang="de-DE" dirty="0"/>
          </a:p>
        </p:txBody>
      </p:sp>
      <p:pic>
        <p:nvPicPr>
          <p:cNvPr id="54276" name="Picture 4" descr="C:\Users\stew_da\Desktop\Universität\sacode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4930" y="5264199"/>
            <a:ext cx="2152650" cy="1076325"/>
          </a:xfrm>
          <a:prstGeom prst="rect">
            <a:avLst/>
          </a:prstGeom>
          <a:noFill/>
          <a:extLst>
            <a:ext uri="{909E8E84-426E-40DD-AFC4-6F175D3DCCD1}">
              <a14:hiddenFill xmlns:a14="http://schemas.microsoft.com/office/drawing/2010/main">
                <a:solidFill>
                  <a:srgbClr val="FFFFFF"/>
                </a:solidFill>
              </a14:hiddenFill>
            </a:ext>
          </a:extLst>
        </p:spPr>
      </p:pic>
      <p:pic>
        <p:nvPicPr>
          <p:cNvPr id="54277" name="Picture 5" descr="C:\Users\stew_da\Desktop\Universität\endinst.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2177" y="6483350"/>
            <a:ext cx="952500" cy="209550"/>
          </a:xfrm>
          <a:prstGeom prst="rect">
            <a:avLst/>
          </a:prstGeom>
          <a:noFill/>
          <a:extLst>
            <a:ext uri="{909E8E84-426E-40DD-AFC4-6F175D3DCCD1}">
              <a14:hiddenFill xmlns:a14="http://schemas.microsoft.com/office/drawing/2010/main">
                <a:solidFill>
                  <a:srgbClr val="FFFFFF"/>
                </a:solidFill>
              </a14:hiddenFill>
            </a:ext>
          </a:extLst>
        </p:spPr>
      </p:pic>
      <p:sp>
        <p:nvSpPr>
          <p:cNvPr id="10" name="Abgerundetes Rechteck 9"/>
          <p:cNvSpPr/>
          <p:nvPr/>
        </p:nvSpPr>
        <p:spPr>
          <a:xfrm>
            <a:off x="297457" y="4637137"/>
            <a:ext cx="3084721" cy="904348"/>
          </a:xfrm>
          <a:prstGeom prst="roundRect">
            <a:avLst/>
          </a:prstGeom>
          <a:noFill/>
          <a:ln w="3810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3"/>
          <p:cNvSpPr txBox="1">
            <a:spLocks/>
          </p:cNvSpPr>
          <p:nvPr/>
        </p:nvSpPr>
        <p:spPr>
          <a:xfrm>
            <a:off x="629798" y="616744"/>
            <a:ext cx="7772400" cy="503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Nominal Behavior in AGREE Annex</a:t>
            </a:r>
            <a:endParaRPr lang="en-US" sz="2400" b="1" dirty="0">
              <a:solidFill>
                <a:schemeClr val="bg1">
                  <a:lumMod val="50000"/>
                </a:schemeClr>
              </a:solidFill>
            </a:endParaRPr>
          </a:p>
        </p:txBody>
      </p:sp>
      <p:sp>
        <p:nvSpPr>
          <p:cNvPr id="2" name="Slide Number Placeholder 1"/>
          <p:cNvSpPr>
            <a:spLocks noGrp="1"/>
          </p:cNvSpPr>
          <p:nvPr>
            <p:ph type="sldNum" sz="quarter" idx="10"/>
          </p:nvPr>
        </p:nvSpPr>
        <p:spPr/>
        <p:txBody>
          <a:bodyPr/>
          <a:lstStyle/>
          <a:p>
            <a:pPr>
              <a:defRPr/>
            </a:pPr>
            <a:fld id="{7486D9C8-0CDB-4BF0-99FF-D7490CE4EFA3}" type="slidenum">
              <a:rPr lang="en-US" smtClean="0"/>
              <a:pPr>
                <a:defRPr/>
              </a:pPr>
              <a:t>49</a:t>
            </a:fld>
            <a:endParaRPr lang="en-US"/>
          </a:p>
        </p:txBody>
      </p:sp>
    </p:spTree>
    <p:extLst>
      <p:ext uri="{BB962C8B-B14F-4D97-AF65-F5344CB8AC3E}">
        <p14:creationId xmlns:p14="http://schemas.microsoft.com/office/powerpoint/2010/main" val="21583904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C:\Users\stew_da\Desktop\Universität\topLeve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417638"/>
            <a:ext cx="4305300" cy="3067050"/>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p:cNvSpPr txBox="1"/>
          <p:nvPr/>
        </p:nvSpPr>
        <p:spPr>
          <a:xfrm>
            <a:off x="1035586" y="4300022"/>
            <a:ext cx="463588" cy="369332"/>
          </a:xfrm>
          <a:prstGeom prst="rect">
            <a:avLst/>
          </a:prstGeom>
          <a:noFill/>
        </p:spPr>
        <p:txBody>
          <a:bodyPr wrap="none" rtlCol="0">
            <a:spAutoFit/>
          </a:bodyPr>
          <a:lstStyle/>
          <a:p>
            <a:r>
              <a:rPr lang="de-DE" dirty="0" smtClean="0"/>
              <a:t>. . .</a:t>
            </a:r>
            <a:endParaRPr lang="de-DE" dirty="0"/>
          </a:p>
        </p:txBody>
      </p:sp>
      <p:pic>
        <p:nvPicPr>
          <p:cNvPr id="54275" name="Picture 3" descr="C:\Users\stew_da\Desktop\Universität\agreecod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930" y="4856047"/>
            <a:ext cx="1104900" cy="1809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p:cNvSpPr txBox="1"/>
          <p:nvPr/>
        </p:nvSpPr>
        <p:spPr>
          <a:xfrm>
            <a:off x="1089714" y="4979277"/>
            <a:ext cx="463588" cy="369332"/>
          </a:xfrm>
          <a:prstGeom prst="rect">
            <a:avLst/>
          </a:prstGeom>
          <a:noFill/>
        </p:spPr>
        <p:txBody>
          <a:bodyPr wrap="none" rtlCol="0">
            <a:spAutoFit/>
          </a:bodyPr>
          <a:lstStyle/>
          <a:p>
            <a:r>
              <a:rPr lang="de-DE" dirty="0" smtClean="0"/>
              <a:t>. . .</a:t>
            </a:r>
            <a:endParaRPr lang="de-DE" dirty="0"/>
          </a:p>
        </p:txBody>
      </p:sp>
      <p:pic>
        <p:nvPicPr>
          <p:cNvPr id="54277" name="Picture 5" descr="C:\Users\stew_da\Desktop\Universität\endins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177" y="6483350"/>
            <a:ext cx="952500" cy="209550"/>
          </a:xfrm>
          <a:prstGeom prst="rect">
            <a:avLst/>
          </a:prstGeom>
          <a:noFill/>
          <a:extLst>
            <a:ext uri="{909E8E84-426E-40DD-AFC4-6F175D3DCCD1}">
              <a14:hiddenFill xmlns:a14="http://schemas.microsoft.com/office/drawing/2010/main">
                <a:solidFill>
                  <a:srgbClr val="FFFFFF"/>
                </a:solidFill>
              </a14:hiddenFill>
            </a:ext>
          </a:extLst>
        </p:spPr>
      </p:pic>
      <p:pic>
        <p:nvPicPr>
          <p:cNvPr id="55298" name="Picture 2" descr="C:\Users\stew_da\Desktop\Universität\sacode2.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0862" y="5316824"/>
            <a:ext cx="1714500" cy="1133475"/>
          </a:xfrm>
          <a:prstGeom prst="rect">
            <a:avLst/>
          </a:prstGeom>
          <a:noFill/>
          <a:extLst>
            <a:ext uri="{909E8E84-426E-40DD-AFC4-6F175D3DCCD1}">
              <a14:hiddenFill xmlns:a14="http://schemas.microsoft.com/office/drawing/2010/main">
                <a:solidFill>
                  <a:srgbClr val="FFFFFF"/>
                </a:solidFill>
              </a14:hiddenFill>
            </a:ext>
          </a:extLst>
        </p:spPr>
      </p:pic>
      <p:sp>
        <p:nvSpPr>
          <p:cNvPr id="13" name="Abgerundetes Rechteck 12"/>
          <p:cNvSpPr/>
          <p:nvPr/>
        </p:nvSpPr>
        <p:spPr>
          <a:xfrm>
            <a:off x="297457" y="5541485"/>
            <a:ext cx="3084721" cy="904348"/>
          </a:xfrm>
          <a:prstGeom prst="roundRect">
            <a:avLst/>
          </a:prstGeom>
          <a:noFill/>
          <a:ln w="3810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3"/>
          <p:cNvSpPr txBox="1">
            <a:spLocks/>
          </p:cNvSpPr>
          <p:nvPr/>
        </p:nvSpPr>
        <p:spPr>
          <a:xfrm>
            <a:off x="629798" y="616744"/>
            <a:ext cx="7772400" cy="503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Maximum No. of Faults Fault Hypothesis</a:t>
            </a:r>
            <a:endParaRPr lang="en-US" sz="2400" b="1" dirty="0">
              <a:solidFill>
                <a:schemeClr val="bg1">
                  <a:lumMod val="50000"/>
                </a:schemeClr>
              </a:solidFill>
            </a:endParaRPr>
          </a:p>
        </p:txBody>
      </p:sp>
      <p:sp>
        <p:nvSpPr>
          <p:cNvPr id="2" name="Slide Number Placeholder 1"/>
          <p:cNvSpPr>
            <a:spLocks noGrp="1"/>
          </p:cNvSpPr>
          <p:nvPr>
            <p:ph type="sldNum" sz="quarter" idx="10"/>
          </p:nvPr>
        </p:nvSpPr>
        <p:spPr/>
        <p:txBody>
          <a:bodyPr/>
          <a:lstStyle/>
          <a:p>
            <a:pPr>
              <a:defRPr/>
            </a:pPr>
            <a:fld id="{7486D9C8-0CDB-4BF0-99FF-D7490CE4EFA3}" type="slidenum">
              <a:rPr lang="en-US" smtClean="0"/>
              <a:pPr>
                <a:defRPr/>
              </a:pPr>
              <a:t>50</a:t>
            </a:fld>
            <a:endParaRPr lang="en-US"/>
          </a:p>
        </p:txBody>
      </p:sp>
    </p:spTree>
    <p:extLst>
      <p:ext uri="{BB962C8B-B14F-4D97-AF65-F5344CB8AC3E}">
        <p14:creationId xmlns:p14="http://schemas.microsoft.com/office/powerpoint/2010/main" val="21139267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C:\Users\stew_da\Desktop\Universität\topLeve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417638"/>
            <a:ext cx="4305300" cy="3067050"/>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p:cNvSpPr txBox="1"/>
          <p:nvPr/>
        </p:nvSpPr>
        <p:spPr>
          <a:xfrm>
            <a:off x="1035586" y="4300022"/>
            <a:ext cx="463588" cy="369332"/>
          </a:xfrm>
          <a:prstGeom prst="rect">
            <a:avLst/>
          </a:prstGeom>
          <a:noFill/>
        </p:spPr>
        <p:txBody>
          <a:bodyPr wrap="none" rtlCol="0">
            <a:spAutoFit/>
          </a:bodyPr>
          <a:lstStyle/>
          <a:p>
            <a:r>
              <a:rPr lang="de-DE" dirty="0" smtClean="0"/>
              <a:t>. . .</a:t>
            </a:r>
            <a:endParaRPr lang="de-DE" dirty="0"/>
          </a:p>
        </p:txBody>
      </p:sp>
      <p:pic>
        <p:nvPicPr>
          <p:cNvPr id="54275" name="Picture 3" descr="C:\Users\stew_da\Desktop\Universität\agreecod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930" y="4856047"/>
            <a:ext cx="1104900" cy="1809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p:cNvSpPr txBox="1"/>
          <p:nvPr/>
        </p:nvSpPr>
        <p:spPr>
          <a:xfrm>
            <a:off x="1089714" y="4979277"/>
            <a:ext cx="463588" cy="369332"/>
          </a:xfrm>
          <a:prstGeom prst="rect">
            <a:avLst/>
          </a:prstGeom>
          <a:noFill/>
        </p:spPr>
        <p:txBody>
          <a:bodyPr wrap="none" rtlCol="0">
            <a:spAutoFit/>
          </a:bodyPr>
          <a:lstStyle/>
          <a:p>
            <a:r>
              <a:rPr lang="de-DE" dirty="0" smtClean="0"/>
              <a:t>. . .</a:t>
            </a:r>
            <a:endParaRPr lang="de-DE" dirty="0"/>
          </a:p>
        </p:txBody>
      </p:sp>
      <p:pic>
        <p:nvPicPr>
          <p:cNvPr id="54276" name="Picture 4" descr="C:\Users\stew_da\Desktop\Universität\sacode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879" y="5341318"/>
            <a:ext cx="2152650" cy="1076325"/>
          </a:xfrm>
          <a:prstGeom prst="rect">
            <a:avLst/>
          </a:prstGeom>
          <a:noFill/>
          <a:extLst>
            <a:ext uri="{909E8E84-426E-40DD-AFC4-6F175D3DCCD1}">
              <a14:hiddenFill xmlns:a14="http://schemas.microsoft.com/office/drawing/2010/main">
                <a:solidFill>
                  <a:srgbClr val="FFFFFF"/>
                </a:solidFill>
              </a14:hiddenFill>
            </a:ext>
          </a:extLst>
        </p:spPr>
      </p:pic>
      <p:pic>
        <p:nvPicPr>
          <p:cNvPr id="54277" name="Picture 5" descr="C:\Users\stew_da\Desktop\Universität\endinst.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2177" y="6483350"/>
            <a:ext cx="952500" cy="209550"/>
          </a:xfrm>
          <a:prstGeom prst="rect">
            <a:avLst/>
          </a:prstGeom>
          <a:noFill/>
          <a:extLst>
            <a:ext uri="{909E8E84-426E-40DD-AFC4-6F175D3DCCD1}">
              <a14:hiddenFill xmlns:a14="http://schemas.microsoft.com/office/drawing/2010/main">
                <a:solidFill>
                  <a:srgbClr val="FFFFFF"/>
                </a:solidFill>
              </a14:hiddenFill>
            </a:ext>
          </a:extLst>
        </p:spPr>
      </p:pic>
      <p:sp>
        <p:nvSpPr>
          <p:cNvPr id="10" name="Abgerundetes Rechteck 9"/>
          <p:cNvSpPr/>
          <p:nvPr/>
        </p:nvSpPr>
        <p:spPr>
          <a:xfrm>
            <a:off x="297457" y="5541485"/>
            <a:ext cx="3084721" cy="904348"/>
          </a:xfrm>
          <a:prstGeom prst="roundRect">
            <a:avLst/>
          </a:prstGeom>
          <a:noFill/>
          <a:ln w="3810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3"/>
          <p:cNvSpPr txBox="1">
            <a:spLocks/>
          </p:cNvSpPr>
          <p:nvPr/>
        </p:nvSpPr>
        <p:spPr>
          <a:xfrm>
            <a:off x="629798" y="616744"/>
            <a:ext cx="7772400" cy="503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Probabilistic </a:t>
            </a:r>
            <a:r>
              <a:rPr lang="en-US" sz="2400" b="1" dirty="0">
                <a:solidFill>
                  <a:schemeClr val="bg1">
                    <a:lumMod val="50000"/>
                  </a:schemeClr>
                </a:solidFill>
              </a:rPr>
              <a:t>Fault </a:t>
            </a:r>
            <a:r>
              <a:rPr lang="en-US" sz="2400" b="1" dirty="0" smtClean="0">
                <a:solidFill>
                  <a:schemeClr val="bg1">
                    <a:lumMod val="50000"/>
                  </a:schemeClr>
                </a:solidFill>
              </a:rPr>
              <a:t>Hypothesis  </a:t>
            </a:r>
            <a:endParaRPr lang="en-US" sz="2400" b="1" dirty="0">
              <a:solidFill>
                <a:schemeClr val="bg1">
                  <a:lumMod val="50000"/>
                </a:schemeClr>
              </a:solidFill>
            </a:endParaRPr>
          </a:p>
        </p:txBody>
      </p:sp>
      <p:sp>
        <p:nvSpPr>
          <p:cNvPr id="2" name="Slide Number Placeholder 1"/>
          <p:cNvSpPr>
            <a:spLocks noGrp="1"/>
          </p:cNvSpPr>
          <p:nvPr>
            <p:ph type="sldNum" sz="quarter" idx="10"/>
          </p:nvPr>
        </p:nvSpPr>
        <p:spPr/>
        <p:txBody>
          <a:bodyPr/>
          <a:lstStyle/>
          <a:p>
            <a:pPr>
              <a:defRPr/>
            </a:pPr>
            <a:fld id="{7486D9C8-0CDB-4BF0-99FF-D7490CE4EFA3}" type="slidenum">
              <a:rPr lang="en-US" smtClean="0"/>
              <a:pPr>
                <a:defRPr/>
              </a:pPr>
              <a:t>51</a:t>
            </a:fld>
            <a:endParaRPr lang="en-US"/>
          </a:p>
        </p:txBody>
      </p:sp>
    </p:spTree>
    <p:extLst>
      <p:ext uri="{BB962C8B-B14F-4D97-AF65-F5344CB8AC3E}">
        <p14:creationId xmlns:p14="http://schemas.microsoft.com/office/powerpoint/2010/main" val="40279071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629798" y="616744"/>
            <a:ext cx="7772400" cy="503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WBS Fault Model Details</a:t>
            </a:r>
            <a:endParaRPr lang="en-US" sz="2400" b="1" dirty="0">
              <a:solidFill>
                <a:schemeClr val="bg1">
                  <a:lumMod val="50000"/>
                </a:schemeClr>
              </a:solidFill>
            </a:endParaRPr>
          </a:p>
        </p:txBody>
      </p:sp>
      <p:pic>
        <p:nvPicPr>
          <p:cNvPr id="6" name="Picture 2" descr="C:\Users\stew_da\Desktop\Universität\fm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936" y="2454161"/>
            <a:ext cx="8022261" cy="766567"/>
          </a:xfrm>
          <a:prstGeom prst="rect">
            <a:avLst/>
          </a:prstGeom>
          <a:noFill/>
          <a:extLst>
            <a:ext uri="{909E8E84-426E-40DD-AFC4-6F175D3DCCD1}">
              <a14:hiddenFill xmlns:a14="http://schemas.microsoft.com/office/drawing/2010/main">
                <a:solidFill>
                  <a:srgbClr val="FFFFFF"/>
                </a:solidFill>
              </a14:hiddenFill>
            </a:ext>
          </a:extLst>
        </p:spPr>
      </p:pic>
      <p:pic>
        <p:nvPicPr>
          <p:cNvPr id="60418" name="Picture 2" descr="C:\Users\stew_da\Desktop\Universität\Images for NASA Presentation\fault_analysis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935" y="4548273"/>
            <a:ext cx="8111139" cy="77965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52</a:t>
            </a:fld>
            <a:endParaRPr lang="en-US"/>
          </a:p>
        </p:txBody>
      </p:sp>
    </p:spTree>
    <p:extLst>
      <p:ext uri="{BB962C8B-B14F-4D97-AF65-F5344CB8AC3E}">
        <p14:creationId xmlns:p14="http://schemas.microsoft.com/office/powerpoint/2010/main" val="3825011072"/>
      </p:ext>
    </p:extLst>
  </p:cSld>
  <p:clrMapOvr>
    <a:masterClrMapping/>
  </p:clrMapOvr>
  <p:transition>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96736" y="2877879"/>
            <a:ext cx="5105400" cy="769441"/>
          </a:xfrm>
          <a:prstGeom prst="rect">
            <a:avLst/>
          </a:prstGeom>
          <a:noFill/>
        </p:spPr>
        <p:txBody>
          <a:bodyPr wrap="square" rtlCol="0">
            <a:spAutoFit/>
          </a:bodyPr>
          <a:lstStyle/>
          <a:p>
            <a:r>
              <a:rPr lang="de-DE" sz="4400" dirty="0" smtClean="0">
                <a:latin typeface="+mn-lt"/>
              </a:rPr>
              <a:t>Demo WBS</a:t>
            </a:r>
            <a:endParaRPr lang="en-US" sz="4400" dirty="0">
              <a:latin typeface="+mn-lt"/>
            </a:endParaRPr>
          </a:p>
        </p:txBody>
      </p:sp>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53</a:t>
            </a:fld>
            <a:endParaRPr lang="en-US"/>
          </a:p>
        </p:txBody>
      </p:sp>
    </p:spTree>
    <p:extLst>
      <p:ext uri="{BB962C8B-B14F-4D97-AF65-F5344CB8AC3E}">
        <p14:creationId xmlns:p14="http://schemas.microsoft.com/office/powerpoint/2010/main" val="14178707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00200" y="2877879"/>
            <a:ext cx="5867400" cy="2123658"/>
          </a:xfrm>
          <a:prstGeom prst="rect">
            <a:avLst/>
          </a:prstGeom>
          <a:noFill/>
        </p:spPr>
        <p:txBody>
          <a:bodyPr wrap="square" rtlCol="0">
            <a:spAutoFit/>
          </a:bodyPr>
          <a:lstStyle/>
          <a:p>
            <a:r>
              <a:rPr lang="de-DE" sz="4400" dirty="0" smtClean="0">
                <a:latin typeface="+mn-lt"/>
              </a:rPr>
              <a:t>Compositional</a:t>
            </a:r>
          </a:p>
          <a:p>
            <a:r>
              <a:rPr lang="de-DE" sz="4400" dirty="0" smtClean="0">
                <a:latin typeface="+mn-lt"/>
              </a:rPr>
              <a:t>Probablistic </a:t>
            </a:r>
          </a:p>
          <a:p>
            <a:r>
              <a:rPr lang="de-DE" sz="4400" dirty="0" smtClean="0">
                <a:latin typeface="+mn-lt"/>
              </a:rPr>
              <a:t>Fault Analysis</a:t>
            </a:r>
            <a:endParaRPr lang="en-US" sz="4400" dirty="0">
              <a:latin typeface="+mn-lt"/>
            </a:endParaRPr>
          </a:p>
        </p:txBody>
      </p:sp>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54</a:t>
            </a:fld>
            <a:endParaRPr lang="en-US"/>
          </a:p>
        </p:txBody>
      </p:sp>
    </p:spTree>
    <p:extLst>
      <p:ext uri="{BB962C8B-B14F-4D97-AF65-F5344CB8AC3E}">
        <p14:creationId xmlns:p14="http://schemas.microsoft.com/office/powerpoint/2010/main" val="22980400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en-US" sz="2400" dirty="0"/>
              <a:t>Motivation for </a:t>
            </a:r>
            <a:r>
              <a:rPr lang="en-US" sz="2400" dirty="0" smtClean="0"/>
              <a:t>Compositional Fault Analysis</a:t>
            </a:r>
            <a:r>
              <a:rPr lang="de-DE" sz="3600" dirty="0"/>
              <a:t/>
            </a:r>
            <a:br>
              <a:rPr lang="de-DE" sz="3600" dirty="0"/>
            </a:br>
            <a:endParaRPr lang="de-DE" sz="3600" b="1" dirty="0">
              <a:solidFill>
                <a:schemeClr val="bg1">
                  <a:lumMod val="50000"/>
                </a:schemeClr>
              </a:solidFill>
            </a:endParaRPr>
          </a:p>
        </p:txBody>
      </p:sp>
      <p:sp>
        <p:nvSpPr>
          <p:cNvPr id="3" name="Inhaltsplatzhalter 2"/>
          <p:cNvSpPr>
            <a:spLocks noGrp="1"/>
          </p:cNvSpPr>
          <p:nvPr>
            <p:ph idx="1"/>
          </p:nvPr>
        </p:nvSpPr>
        <p:spPr/>
        <p:txBody>
          <a:bodyPr/>
          <a:lstStyle/>
          <a:p>
            <a:r>
              <a:rPr lang="de-DE" dirty="0" err="1" smtClean="0"/>
              <a:t>Currently</a:t>
            </a:r>
            <a:r>
              <a:rPr lang="de-DE" dirty="0" smtClean="0"/>
              <a:t>: </a:t>
            </a:r>
            <a:r>
              <a:rPr lang="de-DE" dirty="0" err="1" smtClean="0"/>
              <a:t>Given</a:t>
            </a:r>
            <a:r>
              <a:rPr lang="de-DE" dirty="0" smtClean="0"/>
              <a:t> top </a:t>
            </a:r>
            <a:r>
              <a:rPr lang="de-DE" dirty="0" err="1" smtClean="0"/>
              <a:t>level</a:t>
            </a:r>
            <a:r>
              <a:rPr lang="de-DE" dirty="0" smtClean="0"/>
              <a:t> </a:t>
            </a:r>
            <a:r>
              <a:rPr lang="de-DE" dirty="0" err="1" smtClean="0"/>
              <a:t>threshold</a:t>
            </a:r>
            <a:r>
              <a:rPr lang="de-DE" dirty="0" smtClean="0"/>
              <a:t>, do </a:t>
            </a:r>
            <a:r>
              <a:rPr lang="de-DE" dirty="0" err="1" smtClean="0"/>
              <a:t>the</a:t>
            </a:r>
            <a:r>
              <a:rPr lang="de-DE" dirty="0" smtClean="0"/>
              <a:t> fault </a:t>
            </a:r>
            <a:r>
              <a:rPr lang="de-DE" dirty="0" err="1" smtClean="0"/>
              <a:t>combinations</a:t>
            </a:r>
            <a:r>
              <a:rPr lang="de-DE" dirty="0" smtClean="0"/>
              <a:t> </a:t>
            </a:r>
            <a:r>
              <a:rPr lang="de-DE" dirty="0" err="1" smtClean="0"/>
              <a:t>exceed</a:t>
            </a:r>
            <a:r>
              <a:rPr lang="de-DE" dirty="0" smtClean="0"/>
              <a:t> </a:t>
            </a:r>
            <a:r>
              <a:rPr lang="de-DE" dirty="0" err="1" smtClean="0"/>
              <a:t>it</a:t>
            </a:r>
            <a:r>
              <a:rPr lang="de-DE" dirty="0" smtClean="0"/>
              <a:t>?</a:t>
            </a:r>
          </a:p>
          <a:p>
            <a:r>
              <a:rPr lang="de-DE" dirty="0" err="1" smtClean="0"/>
              <a:t>Desire</a:t>
            </a:r>
            <a:r>
              <a:rPr lang="de-DE" dirty="0" smtClean="0"/>
              <a:t>: </a:t>
            </a:r>
            <a:r>
              <a:rPr lang="de-DE" dirty="0" err="1" smtClean="0"/>
              <a:t>Given</a:t>
            </a:r>
            <a:r>
              <a:rPr lang="de-DE" dirty="0" smtClean="0"/>
              <a:t> </a:t>
            </a:r>
            <a:r>
              <a:rPr lang="de-DE" dirty="0" err="1" smtClean="0"/>
              <a:t>faults</a:t>
            </a:r>
            <a:r>
              <a:rPr lang="de-DE" dirty="0" smtClean="0"/>
              <a:t> </a:t>
            </a:r>
            <a:r>
              <a:rPr lang="de-DE" dirty="0" err="1" smtClean="0"/>
              <a:t>and</a:t>
            </a:r>
            <a:r>
              <a:rPr lang="de-DE" dirty="0" smtClean="0"/>
              <a:t> </a:t>
            </a:r>
            <a:r>
              <a:rPr lang="de-DE" dirty="0" err="1" smtClean="0"/>
              <a:t>probabilities</a:t>
            </a:r>
            <a:r>
              <a:rPr lang="de-DE" dirty="0" smtClean="0"/>
              <a:t>, </a:t>
            </a:r>
            <a:r>
              <a:rPr lang="de-DE" dirty="0" err="1" smtClean="0"/>
              <a:t>what</a:t>
            </a:r>
            <a:r>
              <a:rPr lang="de-DE" dirty="0" smtClean="0"/>
              <a:t> </a:t>
            </a:r>
            <a:r>
              <a:rPr lang="de-DE" dirty="0" err="1" smtClean="0"/>
              <a:t>is</a:t>
            </a:r>
            <a:r>
              <a:rPr lang="de-DE" dirty="0" smtClean="0"/>
              <a:t> </a:t>
            </a:r>
            <a:r>
              <a:rPr lang="de-DE" dirty="0" err="1" smtClean="0"/>
              <a:t>the</a:t>
            </a:r>
            <a:r>
              <a:rPr lang="de-DE" dirty="0" smtClean="0"/>
              <a:t> </a:t>
            </a:r>
            <a:r>
              <a:rPr lang="de-DE" dirty="0" err="1" smtClean="0"/>
              <a:t>threshold</a:t>
            </a:r>
            <a:r>
              <a:rPr lang="de-DE" dirty="0" smtClean="0"/>
              <a:t> </a:t>
            </a:r>
            <a:r>
              <a:rPr lang="de-DE" dirty="0" err="1" smtClean="0"/>
              <a:t>of</a:t>
            </a:r>
            <a:r>
              <a:rPr lang="de-DE" dirty="0" smtClean="0"/>
              <a:t> </a:t>
            </a:r>
            <a:r>
              <a:rPr lang="de-DE" dirty="0" err="1" smtClean="0"/>
              <a:t>the</a:t>
            </a:r>
            <a:r>
              <a:rPr lang="de-DE" dirty="0" smtClean="0"/>
              <a:t> </a:t>
            </a:r>
            <a:r>
              <a:rPr lang="de-DE" dirty="0" err="1" smtClean="0"/>
              <a:t>system</a:t>
            </a:r>
            <a:r>
              <a:rPr lang="de-DE" dirty="0" smtClean="0"/>
              <a:t>?</a:t>
            </a:r>
          </a:p>
          <a:p>
            <a:endParaRPr lang="de-DE" dirty="0" smtClean="0"/>
          </a:p>
          <a:p>
            <a:r>
              <a:rPr lang="de-DE" dirty="0" err="1" smtClean="0"/>
              <a:t>Currently</a:t>
            </a:r>
            <a:r>
              <a:rPr lang="de-DE" dirty="0" smtClean="0"/>
              <a:t>: FT </a:t>
            </a:r>
            <a:r>
              <a:rPr lang="de-DE" dirty="0" err="1" smtClean="0"/>
              <a:t>analysis</a:t>
            </a:r>
            <a:r>
              <a:rPr lang="de-DE" dirty="0" smtClean="0"/>
              <a:t> </a:t>
            </a:r>
            <a:r>
              <a:rPr lang="de-DE" dirty="0" err="1" smtClean="0"/>
              <a:t>done</a:t>
            </a:r>
            <a:r>
              <a:rPr lang="de-DE" dirty="0" smtClean="0"/>
              <a:t> </a:t>
            </a:r>
            <a:r>
              <a:rPr lang="de-DE" dirty="0" err="1" smtClean="0"/>
              <a:t>monolithically</a:t>
            </a:r>
            <a:r>
              <a:rPr lang="de-DE" dirty="0" smtClean="0"/>
              <a:t>. </a:t>
            </a:r>
            <a:endParaRPr lang="de-DE" dirty="0"/>
          </a:p>
          <a:p>
            <a:r>
              <a:rPr lang="de-DE" dirty="0" err="1" smtClean="0"/>
              <a:t>Desire</a:t>
            </a:r>
            <a:r>
              <a:rPr lang="de-DE" dirty="0" smtClean="0"/>
              <a:t>: </a:t>
            </a:r>
            <a:r>
              <a:rPr lang="de-DE" dirty="0" err="1" smtClean="0"/>
              <a:t>Generate</a:t>
            </a:r>
            <a:r>
              <a:rPr lang="de-DE" dirty="0" smtClean="0"/>
              <a:t> informative FTs </a:t>
            </a:r>
            <a:r>
              <a:rPr lang="de-DE" dirty="0" err="1" smtClean="0"/>
              <a:t>containing</a:t>
            </a:r>
            <a:r>
              <a:rPr lang="de-DE" dirty="0" smtClean="0"/>
              <a:t> </a:t>
            </a:r>
            <a:r>
              <a:rPr lang="de-DE" dirty="0" err="1" smtClean="0"/>
              <a:t>both</a:t>
            </a:r>
            <a:r>
              <a:rPr lang="de-DE" dirty="0" smtClean="0"/>
              <a:t> fault </a:t>
            </a:r>
            <a:r>
              <a:rPr lang="de-DE" dirty="0" err="1" smtClean="0"/>
              <a:t>model</a:t>
            </a:r>
            <a:r>
              <a:rPr lang="de-DE" dirty="0" smtClean="0"/>
              <a:t> </a:t>
            </a:r>
            <a:r>
              <a:rPr lang="de-DE" dirty="0" err="1" smtClean="0"/>
              <a:t>information</a:t>
            </a:r>
            <a:r>
              <a:rPr lang="de-DE" dirty="0" smtClean="0"/>
              <a:t> </a:t>
            </a:r>
            <a:r>
              <a:rPr lang="de-DE" dirty="0" err="1" smtClean="0"/>
              <a:t>and</a:t>
            </a:r>
            <a:r>
              <a:rPr lang="de-DE" dirty="0" smtClean="0"/>
              <a:t> nominal </a:t>
            </a:r>
            <a:r>
              <a:rPr lang="de-DE" dirty="0" err="1" smtClean="0"/>
              <a:t>model</a:t>
            </a:r>
            <a:r>
              <a:rPr lang="de-DE" dirty="0" smtClean="0"/>
              <a:t> </a:t>
            </a:r>
            <a:r>
              <a:rPr lang="de-DE" dirty="0" err="1" smtClean="0"/>
              <a:t>architecture</a:t>
            </a:r>
            <a:r>
              <a:rPr lang="de-DE" dirty="0" smtClean="0"/>
              <a:t>. </a:t>
            </a:r>
          </a:p>
        </p:txBody>
      </p:sp>
      <p:sp>
        <p:nvSpPr>
          <p:cNvPr id="5" name="Slide Number Placeholder 4"/>
          <p:cNvSpPr>
            <a:spLocks noGrp="1"/>
          </p:cNvSpPr>
          <p:nvPr>
            <p:ph type="sldNum" sz="quarter" idx="10"/>
          </p:nvPr>
        </p:nvSpPr>
        <p:spPr/>
        <p:txBody>
          <a:bodyPr/>
          <a:lstStyle/>
          <a:p>
            <a:pPr>
              <a:defRPr/>
            </a:pPr>
            <a:fld id="{7486D9C8-0CDB-4BF0-99FF-D7490CE4EFA3}" type="slidenum">
              <a:rPr lang="en-US" smtClean="0"/>
              <a:pPr>
                <a:defRPr/>
              </a:pPr>
              <a:t>55</a:t>
            </a:fld>
            <a:endParaRPr lang="en-US"/>
          </a:p>
        </p:txBody>
      </p:sp>
    </p:spTree>
    <p:extLst>
      <p:ext uri="{BB962C8B-B14F-4D97-AF65-F5344CB8AC3E}">
        <p14:creationId xmlns:p14="http://schemas.microsoft.com/office/powerpoint/2010/main" val="2405570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pPr algn="l"/>
            <a:r>
              <a:rPr lang="de-DE" sz="2700" b="1" dirty="0" err="1" smtClean="0">
                <a:solidFill>
                  <a:schemeClr val="bg1">
                    <a:lumMod val="50000"/>
                  </a:schemeClr>
                </a:solidFill>
              </a:rPr>
              <a:t>Inductive</a:t>
            </a:r>
            <a:r>
              <a:rPr lang="de-DE" sz="2700" b="1" dirty="0" smtClean="0">
                <a:solidFill>
                  <a:schemeClr val="bg1">
                    <a:lumMod val="50000"/>
                  </a:schemeClr>
                </a:solidFill>
              </a:rPr>
              <a:t> </a:t>
            </a:r>
            <a:r>
              <a:rPr lang="de-DE" sz="2700" b="1" dirty="0" err="1" smtClean="0">
                <a:solidFill>
                  <a:schemeClr val="bg1">
                    <a:lumMod val="50000"/>
                  </a:schemeClr>
                </a:solidFill>
              </a:rPr>
              <a:t>Validity</a:t>
            </a:r>
            <a:r>
              <a:rPr lang="de-DE" sz="2700" b="1" dirty="0" smtClean="0">
                <a:solidFill>
                  <a:schemeClr val="bg1">
                    <a:lumMod val="50000"/>
                  </a:schemeClr>
                </a:solidFill>
              </a:rPr>
              <a:t> Cores</a:t>
            </a:r>
            <a:r>
              <a:rPr lang="de-DE" sz="3600" dirty="0"/>
              <a:t/>
            </a:r>
            <a:br>
              <a:rPr lang="de-DE" sz="3600" dirty="0"/>
            </a:br>
            <a:endParaRPr lang="de-DE" sz="3600" b="1" dirty="0">
              <a:solidFill>
                <a:schemeClr val="bg1">
                  <a:lumMod val="50000"/>
                </a:schemeClr>
              </a:solidFill>
            </a:endParaRPr>
          </a:p>
        </p:txBody>
      </p:sp>
      <p:sp>
        <p:nvSpPr>
          <p:cNvPr id="18" name="Rechteck 17"/>
          <p:cNvSpPr/>
          <p:nvPr/>
        </p:nvSpPr>
        <p:spPr>
          <a:xfrm>
            <a:off x="3198948" y="1763558"/>
            <a:ext cx="2402314" cy="585788"/>
          </a:xfrm>
          <a:prstGeom prst="rect">
            <a:avLst/>
          </a:prstGeom>
          <a:solidFill>
            <a:schemeClr val="accent2">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de-DE" dirty="0" err="1" smtClean="0"/>
              <a:t>Safety</a:t>
            </a:r>
            <a:r>
              <a:rPr lang="de-DE" dirty="0" smtClean="0"/>
              <a:t> Property</a:t>
            </a:r>
            <a:endParaRPr lang="de-DE" dirty="0"/>
          </a:p>
        </p:txBody>
      </p:sp>
      <p:sp>
        <p:nvSpPr>
          <p:cNvPr id="3" name="Slide Number Placeholder 2"/>
          <p:cNvSpPr>
            <a:spLocks noGrp="1"/>
          </p:cNvSpPr>
          <p:nvPr>
            <p:ph type="sldNum" sz="quarter" idx="10"/>
          </p:nvPr>
        </p:nvSpPr>
        <p:spPr/>
        <p:txBody>
          <a:bodyPr/>
          <a:lstStyle/>
          <a:p>
            <a:pPr>
              <a:defRPr/>
            </a:pPr>
            <a:fld id="{7486D9C8-0CDB-4BF0-99FF-D7490CE4EFA3}" type="slidenum">
              <a:rPr lang="en-US" smtClean="0"/>
              <a:pPr>
                <a:defRPr/>
              </a:pPr>
              <a:t>56</a:t>
            </a:fld>
            <a:endParaRPr lang="en-US"/>
          </a:p>
        </p:txBody>
      </p:sp>
    </p:spTree>
    <p:extLst>
      <p:ext uri="{BB962C8B-B14F-4D97-AF65-F5344CB8AC3E}">
        <p14:creationId xmlns:p14="http://schemas.microsoft.com/office/powerpoint/2010/main" val="31171588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pPr algn="l"/>
            <a:r>
              <a:rPr lang="de-DE" sz="2700" b="1" dirty="0" err="1" smtClean="0">
                <a:solidFill>
                  <a:schemeClr val="bg1">
                    <a:lumMod val="50000"/>
                  </a:schemeClr>
                </a:solidFill>
              </a:rPr>
              <a:t>Inductive</a:t>
            </a:r>
            <a:r>
              <a:rPr lang="de-DE" sz="2700" b="1" dirty="0" smtClean="0">
                <a:solidFill>
                  <a:schemeClr val="bg1">
                    <a:lumMod val="50000"/>
                  </a:schemeClr>
                </a:solidFill>
              </a:rPr>
              <a:t> </a:t>
            </a:r>
            <a:r>
              <a:rPr lang="de-DE" sz="2700" b="1" dirty="0" err="1" smtClean="0">
                <a:solidFill>
                  <a:schemeClr val="bg1">
                    <a:lumMod val="50000"/>
                  </a:schemeClr>
                </a:solidFill>
              </a:rPr>
              <a:t>Validity</a:t>
            </a:r>
            <a:r>
              <a:rPr lang="de-DE" sz="2700" b="1" dirty="0" smtClean="0">
                <a:solidFill>
                  <a:schemeClr val="bg1">
                    <a:lumMod val="50000"/>
                  </a:schemeClr>
                </a:solidFill>
              </a:rPr>
              <a:t> Cores</a:t>
            </a:r>
            <a:r>
              <a:rPr lang="de-DE" sz="3600" dirty="0"/>
              <a:t/>
            </a:r>
            <a:br>
              <a:rPr lang="de-DE" sz="3600" dirty="0"/>
            </a:br>
            <a:endParaRPr lang="de-DE" sz="3600" b="1" dirty="0">
              <a:solidFill>
                <a:schemeClr val="bg1">
                  <a:lumMod val="50000"/>
                </a:schemeClr>
              </a:solidFill>
            </a:endParaRPr>
          </a:p>
        </p:txBody>
      </p:sp>
      <p:sp>
        <p:nvSpPr>
          <p:cNvPr id="18" name="Rechteck 17"/>
          <p:cNvSpPr/>
          <p:nvPr/>
        </p:nvSpPr>
        <p:spPr>
          <a:xfrm>
            <a:off x="3198948" y="1763558"/>
            <a:ext cx="2402314" cy="585788"/>
          </a:xfrm>
          <a:prstGeom prst="rect">
            <a:avLst/>
          </a:prstGeom>
          <a:solidFill>
            <a:schemeClr val="accent2">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de-DE" dirty="0" err="1" smtClean="0"/>
              <a:t>Safety</a:t>
            </a:r>
            <a:r>
              <a:rPr lang="de-DE" dirty="0" smtClean="0"/>
              <a:t> Property</a:t>
            </a:r>
            <a:endParaRPr lang="de-DE" dirty="0"/>
          </a:p>
        </p:txBody>
      </p:sp>
      <mc:AlternateContent xmlns:mc="http://schemas.openxmlformats.org/markup-compatibility/2006" xmlns:a14="http://schemas.microsoft.com/office/drawing/2010/main">
        <mc:Choice Requires="a14">
          <p:sp>
            <p:nvSpPr>
              <p:cNvPr id="20" name="Ellipse 19"/>
              <p:cNvSpPr/>
              <p:nvPr/>
            </p:nvSpPr>
            <p:spPr>
              <a:xfrm>
                <a:off x="1975879" y="2765298"/>
                <a:ext cx="647815" cy="585788"/>
              </a:xfrm>
              <a:prstGeom prst="ellipse">
                <a:avLst/>
              </a:prstGeom>
              <a:solidFill>
                <a:schemeClr val="accent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𝑎</m:t>
                      </m:r>
                    </m:oMath>
                  </m:oMathPara>
                </a14:m>
                <a:endParaRPr lang="de-DE" dirty="0"/>
              </a:p>
            </p:txBody>
          </p:sp>
        </mc:Choice>
        <mc:Fallback xmlns="">
          <p:sp>
            <p:nvSpPr>
              <p:cNvPr id="20" name="Ellipse 19"/>
              <p:cNvSpPr>
                <a:spLocks noRot="1" noChangeAspect="1" noMove="1" noResize="1" noEditPoints="1" noAdjustHandles="1" noChangeArrowheads="1" noChangeShapeType="1" noTextEdit="1"/>
              </p:cNvSpPr>
              <p:nvPr/>
            </p:nvSpPr>
            <p:spPr>
              <a:xfrm>
                <a:off x="1975879" y="2765298"/>
                <a:ext cx="647815" cy="585788"/>
              </a:xfrm>
              <a:prstGeom prst="ellipse">
                <a:avLst/>
              </a:prstGeom>
              <a:blipFill rotWithShape="1">
                <a:blip r:embed="rId3"/>
                <a:stretch>
                  <a:fillRect/>
                </a:stretch>
              </a:blipFill>
              <a:ln>
                <a:solidFill>
                  <a:schemeClr val="tx2">
                    <a:lumMod val="60000"/>
                    <a:lumOff val="40000"/>
                  </a:schemeClr>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1" name="Ellipse 20"/>
              <p:cNvSpPr/>
              <p:nvPr/>
            </p:nvSpPr>
            <p:spPr>
              <a:xfrm>
                <a:off x="2864342" y="2765298"/>
                <a:ext cx="647815" cy="585788"/>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𝑏</m:t>
                      </m:r>
                    </m:oMath>
                  </m:oMathPara>
                </a14:m>
                <a:endParaRPr lang="de-DE" dirty="0"/>
              </a:p>
            </p:txBody>
          </p:sp>
        </mc:Choice>
        <mc:Fallback xmlns="">
          <p:sp>
            <p:nvSpPr>
              <p:cNvPr id="21" name="Ellipse 20"/>
              <p:cNvSpPr>
                <a:spLocks noRot="1" noChangeAspect="1" noMove="1" noResize="1" noEditPoints="1" noAdjustHandles="1" noChangeArrowheads="1" noChangeShapeType="1" noTextEdit="1"/>
              </p:cNvSpPr>
              <p:nvPr/>
            </p:nvSpPr>
            <p:spPr>
              <a:xfrm>
                <a:off x="2864342" y="2765298"/>
                <a:ext cx="647815" cy="585788"/>
              </a:xfrm>
              <a:prstGeom prst="ellipse">
                <a:avLst/>
              </a:prstGeom>
              <a:blipFill rotWithShape="1">
                <a:blip r:embed="rId4"/>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3" name="Ellipse 22"/>
              <p:cNvSpPr/>
              <p:nvPr/>
            </p:nvSpPr>
            <p:spPr>
              <a:xfrm>
                <a:off x="3738275" y="2788824"/>
                <a:ext cx="647815" cy="585788"/>
              </a:xfrm>
              <a:prstGeom prst="ellipse">
                <a:avLst/>
              </a:prstGeom>
              <a:solidFill>
                <a:schemeClr val="accent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𝑐</m:t>
                      </m:r>
                    </m:oMath>
                  </m:oMathPara>
                </a14:m>
                <a:endParaRPr lang="de-DE" dirty="0"/>
              </a:p>
            </p:txBody>
          </p:sp>
        </mc:Choice>
        <mc:Fallback xmlns="">
          <p:sp>
            <p:nvSpPr>
              <p:cNvPr id="23" name="Ellipse 22"/>
              <p:cNvSpPr>
                <a:spLocks noRot="1" noChangeAspect="1" noMove="1" noResize="1" noEditPoints="1" noAdjustHandles="1" noChangeArrowheads="1" noChangeShapeType="1" noTextEdit="1"/>
              </p:cNvSpPr>
              <p:nvPr/>
            </p:nvSpPr>
            <p:spPr>
              <a:xfrm>
                <a:off x="3738275" y="2788824"/>
                <a:ext cx="647815" cy="585788"/>
              </a:xfrm>
              <a:prstGeom prst="ellipse">
                <a:avLst/>
              </a:prstGeom>
              <a:blipFill rotWithShape="1">
                <a:blip r:embed="rId5"/>
                <a:stretch>
                  <a:fillRect/>
                </a:stretch>
              </a:blipFill>
              <a:ln>
                <a:solidFill>
                  <a:schemeClr val="tx2">
                    <a:lumMod val="60000"/>
                    <a:lumOff val="40000"/>
                  </a:schemeClr>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Ellipse 23"/>
              <p:cNvSpPr/>
              <p:nvPr/>
            </p:nvSpPr>
            <p:spPr>
              <a:xfrm>
                <a:off x="4651446" y="2743579"/>
                <a:ext cx="647815" cy="585788"/>
              </a:xfrm>
              <a:prstGeom prst="ellipse">
                <a:avLst/>
              </a:prstGeom>
              <a:solidFill>
                <a:schemeClr val="accent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𝑑</m:t>
                      </m:r>
                    </m:oMath>
                  </m:oMathPara>
                </a14:m>
                <a:endParaRPr lang="de-DE" dirty="0"/>
              </a:p>
            </p:txBody>
          </p:sp>
        </mc:Choice>
        <mc:Fallback xmlns="">
          <p:sp>
            <p:nvSpPr>
              <p:cNvPr id="24" name="Ellipse 23"/>
              <p:cNvSpPr>
                <a:spLocks noRot="1" noChangeAspect="1" noMove="1" noResize="1" noEditPoints="1" noAdjustHandles="1" noChangeArrowheads="1" noChangeShapeType="1" noTextEdit="1"/>
              </p:cNvSpPr>
              <p:nvPr/>
            </p:nvSpPr>
            <p:spPr>
              <a:xfrm>
                <a:off x="4651446" y="2743579"/>
                <a:ext cx="647815" cy="585788"/>
              </a:xfrm>
              <a:prstGeom prst="ellipse">
                <a:avLst/>
              </a:prstGeom>
              <a:blipFill rotWithShape="1">
                <a:blip r:embed="rId6"/>
                <a:stretch>
                  <a:fillRect/>
                </a:stretch>
              </a:blipFill>
              <a:ln>
                <a:solidFill>
                  <a:schemeClr val="tx2">
                    <a:lumMod val="60000"/>
                    <a:lumOff val="40000"/>
                  </a:schemeClr>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6" name="Ellipse 25"/>
              <p:cNvSpPr/>
              <p:nvPr/>
            </p:nvSpPr>
            <p:spPr>
              <a:xfrm>
                <a:off x="5528526" y="2743579"/>
                <a:ext cx="647815" cy="585788"/>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𝑒</m:t>
                      </m:r>
                    </m:oMath>
                  </m:oMathPara>
                </a14:m>
                <a:endParaRPr lang="de-DE" dirty="0"/>
              </a:p>
            </p:txBody>
          </p:sp>
        </mc:Choice>
        <mc:Fallback xmlns="">
          <p:sp>
            <p:nvSpPr>
              <p:cNvPr id="26" name="Ellipse 25"/>
              <p:cNvSpPr>
                <a:spLocks noRot="1" noChangeAspect="1" noMove="1" noResize="1" noEditPoints="1" noAdjustHandles="1" noChangeArrowheads="1" noChangeShapeType="1" noTextEdit="1"/>
              </p:cNvSpPr>
              <p:nvPr/>
            </p:nvSpPr>
            <p:spPr>
              <a:xfrm>
                <a:off x="5528526" y="2743579"/>
                <a:ext cx="647815" cy="585788"/>
              </a:xfrm>
              <a:prstGeom prst="ellipse">
                <a:avLst/>
              </a:prstGeom>
              <a:blipFill rotWithShape="1">
                <a:blip r:embed="rId7"/>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Ellipse 26"/>
              <p:cNvSpPr/>
              <p:nvPr/>
            </p:nvSpPr>
            <p:spPr>
              <a:xfrm>
                <a:off x="6430600" y="2741772"/>
                <a:ext cx="647815" cy="585788"/>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𝑓</m:t>
                      </m:r>
                    </m:oMath>
                  </m:oMathPara>
                </a14:m>
                <a:endParaRPr lang="de-DE" dirty="0"/>
              </a:p>
            </p:txBody>
          </p:sp>
        </mc:Choice>
        <mc:Fallback xmlns="">
          <p:sp>
            <p:nvSpPr>
              <p:cNvPr id="27" name="Ellipse 26"/>
              <p:cNvSpPr>
                <a:spLocks noRot="1" noChangeAspect="1" noMove="1" noResize="1" noEditPoints="1" noAdjustHandles="1" noChangeArrowheads="1" noChangeShapeType="1" noTextEdit="1"/>
              </p:cNvSpPr>
              <p:nvPr/>
            </p:nvSpPr>
            <p:spPr>
              <a:xfrm>
                <a:off x="6430600" y="2741772"/>
                <a:ext cx="647815" cy="585788"/>
              </a:xfrm>
              <a:prstGeom prst="ellipse">
                <a:avLst/>
              </a:prstGeom>
              <a:blipFill rotWithShape="1">
                <a:blip r:embed="rId8"/>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9" name="Textfeld 18"/>
              <p:cNvSpPr txBox="1"/>
              <p:nvPr/>
            </p:nvSpPr>
            <p:spPr>
              <a:xfrm>
                <a:off x="2358427" y="3859576"/>
                <a:ext cx="4344587" cy="461665"/>
              </a:xfrm>
              <a:prstGeom prst="rect">
                <a:avLst/>
              </a:prstGeom>
              <a:noFill/>
            </p:spPr>
            <p:txBody>
              <a:bodyPr wrap="none" rtlCol="0">
                <a:spAutoFit/>
              </a:bodyPr>
              <a:lstStyle/>
              <a:p>
                <a:r>
                  <a:rPr lang="de-DE" sz="2400" dirty="0" smtClean="0"/>
                  <a:t>Model Elements : </a:t>
                </a:r>
                <a14:m>
                  <m:oMath xmlns:m="http://schemas.openxmlformats.org/officeDocument/2006/math">
                    <m:r>
                      <a:rPr lang="de-DE" sz="2400" b="0" i="1" smtClean="0">
                        <a:latin typeface="Cambria Math"/>
                      </a:rPr>
                      <m:t>{</m:t>
                    </m:r>
                    <m:r>
                      <a:rPr lang="de-DE" sz="2400" b="0" i="1" smtClean="0">
                        <a:latin typeface="Cambria Math"/>
                      </a:rPr>
                      <m:t>𝑎</m:t>
                    </m:r>
                    <m:r>
                      <a:rPr lang="de-DE" sz="2400" b="0" i="1" smtClean="0">
                        <a:latin typeface="Cambria Math"/>
                      </a:rPr>
                      <m:t>, </m:t>
                    </m:r>
                    <m:r>
                      <a:rPr lang="de-DE" sz="2400" b="0" i="1" smtClean="0">
                        <a:latin typeface="Cambria Math"/>
                      </a:rPr>
                      <m:t>𝑏</m:t>
                    </m:r>
                    <m:r>
                      <a:rPr lang="de-DE" sz="2400" b="0" i="1" smtClean="0">
                        <a:latin typeface="Cambria Math"/>
                      </a:rPr>
                      <m:t>, </m:t>
                    </m:r>
                    <m:r>
                      <a:rPr lang="de-DE" sz="2400" b="0" i="1" smtClean="0">
                        <a:latin typeface="Cambria Math"/>
                      </a:rPr>
                      <m:t>𝑐</m:t>
                    </m:r>
                    <m:r>
                      <a:rPr lang="de-DE" sz="2400" b="0" i="1" smtClean="0">
                        <a:latin typeface="Cambria Math"/>
                      </a:rPr>
                      <m:t>, </m:t>
                    </m:r>
                    <m:r>
                      <a:rPr lang="de-DE" sz="2400" b="0" i="1" smtClean="0">
                        <a:latin typeface="Cambria Math"/>
                      </a:rPr>
                      <m:t>𝑑</m:t>
                    </m:r>
                    <m:r>
                      <a:rPr lang="de-DE" sz="2400" b="0" i="1" smtClean="0">
                        <a:latin typeface="Cambria Math"/>
                      </a:rPr>
                      <m:t>, </m:t>
                    </m:r>
                    <m:r>
                      <a:rPr lang="de-DE" sz="2400" b="0" i="1" smtClean="0">
                        <a:latin typeface="Cambria Math"/>
                      </a:rPr>
                      <m:t>𝑒</m:t>
                    </m:r>
                    <m:r>
                      <a:rPr lang="de-DE" sz="2400" b="0" i="1" smtClean="0">
                        <a:latin typeface="Cambria Math"/>
                      </a:rPr>
                      <m:t>, </m:t>
                    </m:r>
                    <m:r>
                      <a:rPr lang="de-DE" sz="2400" b="0" i="1" smtClean="0">
                        <a:latin typeface="Cambria Math"/>
                      </a:rPr>
                      <m:t>𝑓</m:t>
                    </m:r>
                    <m:r>
                      <a:rPr lang="de-DE" sz="2400" b="0" i="1" smtClean="0">
                        <a:latin typeface="Cambria Math"/>
                      </a:rPr>
                      <m:t>}</m:t>
                    </m:r>
                  </m:oMath>
                </a14:m>
                <a:r>
                  <a:rPr lang="de-DE" sz="2400" dirty="0" smtClean="0"/>
                  <a:t> </a:t>
                </a:r>
                <a:endParaRPr lang="de-DE" sz="2400" b="1" dirty="0"/>
              </a:p>
            </p:txBody>
          </p:sp>
        </mc:Choice>
        <mc:Fallback xmlns="">
          <p:sp>
            <p:nvSpPr>
              <p:cNvPr id="19" name="Textfeld 18"/>
              <p:cNvSpPr txBox="1">
                <a:spLocks noRot="1" noChangeAspect="1" noMove="1" noResize="1" noEditPoints="1" noAdjustHandles="1" noChangeArrowheads="1" noChangeShapeType="1" noTextEdit="1"/>
              </p:cNvSpPr>
              <p:nvPr/>
            </p:nvSpPr>
            <p:spPr>
              <a:xfrm>
                <a:off x="2358427" y="3859576"/>
                <a:ext cx="4344587" cy="461665"/>
              </a:xfrm>
              <a:prstGeom prst="rect">
                <a:avLst/>
              </a:prstGeom>
              <a:blipFill rotWithShape="1">
                <a:blip r:embed="rId9"/>
                <a:stretch>
                  <a:fillRect l="-2244" t="-10526" b="-28947"/>
                </a:stretch>
              </a:blipFill>
            </p:spPr>
            <p:txBody>
              <a:bodyPr/>
              <a:lstStyle/>
              <a:p>
                <a:r>
                  <a:rPr lang="de-DE">
                    <a:noFill/>
                  </a:rPr>
                  <a:t> </a:t>
                </a:r>
              </a:p>
            </p:txBody>
          </p:sp>
        </mc:Fallback>
      </mc:AlternateContent>
      <p:sp>
        <p:nvSpPr>
          <p:cNvPr id="3" name="Slide Number Placeholder 2"/>
          <p:cNvSpPr>
            <a:spLocks noGrp="1"/>
          </p:cNvSpPr>
          <p:nvPr>
            <p:ph type="sldNum" sz="quarter" idx="10"/>
          </p:nvPr>
        </p:nvSpPr>
        <p:spPr/>
        <p:txBody>
          <a:bodyPr/>
          <a:lstStyle/>
          <a:p>
            <a:pPr>
              <a:defRPr/>
            </a:pPr>
            <a:fld id="{7486D9C8-0CDB-4BF0-99FF-D7490CE4EFA3}" type="slidenum">
              <a:rPr lang="en-US" smtClean="0"/>
              <a:pPr>
                <a:defRPr/>
              </a:pPr>
              <a:t>57</a:t>
            </a:fld>
            <a:endParaRPr lang="en-US"/>
          </a:p>
        </p:txBody>
      </p:sp>
    </p:spTree>
    <p:extLst>
      <p:ext uri="{BB962C8B-B14F-4D97-AF65-F5344CB8AC3E}">
        <p14:creationId xmlns:p14="http://schemas.microsoft.com/office/powerpoint/2010/main" val="42409308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pPr algn="l"/>
            <a:r>
              <a:rPr lang="de-DE" sz="2700" b="1" dirty="0" err="1" smtClean="0">
                <a:solidFill>
                  <a:schemeClr val="bg1">
                    <a:lumMod val="50000"/>
                  </a:schemeClr>
                </a:solidFill>
              </a:rPr>
              <a:t>Inductive</a:t>
            </a:r>
            <a:r>
              <a:rPr lang="de-DE" sz="2700" b="1" dirty="0" smtClean="0">
                <a:solidFill>
                  <a:schemeClr val="bg1">
                    <a:lumMod val="50000"/>
                  </a:schemeClr>
                </a:solidFill>
              </a:rPr>
              <a:t> </a:t>
            </a:r>
            <a:r>
              <a:rPr lang="de-DE" sz="2700" b="1" dirty="0" err="1" smtClean="0">
                <a:solidFill>
                  <a:schemeClr val="bg1">
                    <a:lumMod val="50000"/>
                  </a:schemeClr>
                </a:solidFill>
              </a:rPr>
              <a:t>Validity</a:t>
            </a:r>
            <a:r>
              <a:rPr lang="de-DE" sz="2700" b="1" dirty="0" smtClean="0">
                <a:solidFill>
                  <a:schemeClr val="bg1">
                    <a:lumMod val="50000"/>
                  </a:schemeClr>
                </a:solidFill>
              </a:rPr>
              <a:t> Cores</a:t>
            </a:r>
            <a:r>
              <a:rPr lang="de-DE" sz="3600" dirty="0"/>
              <a:t/>
            </a:r>
            <a:br>
              <a:rPr lang="de-DE" sz="3600" dirty="0"/>
            </a:br>
            <a:endParaRPr lang="de-DE" sz="3600" b="1" dirty="0">
              <a:solidFill>
                <a:schemeClr val="bg1">
                  <a:lumMod val="50000"/>
                </a:schemeClr>
              </a:solidFill>
            </a:endParaRPr>
          </a:p>
        </p:txBody>
      </p:sp>
      <p:sp>
        <p:nvSpPr>
          <p:cNvPr id="18" name="Rechteck 17"/>
          <p:cNvSpPr/>
          <p:nvPr/>
        </p:nvSpPr>
        <p:spPr>
          <a:xfrm>
            <a:off x="3198948" y="1763558"/>
            <a:ext cx="2402314" cy="585788"/>
          </a:xfrm>
          <a:prstGeom prst="rect">
            <a:avLst/>
          </a:prstGeom>
          <a:solidFill>
            <a:schemeClr val="accent2">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de-DE" dirty="0" err="1" smtClean="0"/>
              <a:t>Safety</a:t>
            </a:r>
            <a:r>
              <a:rPr lang="de-DE" dirty="0" smtClean="0"/>
              <a:t> Property</a:t>
            </a:r>
            <a:endParaRPr lang="de-DE" dirty="0"/>
          </a:p>
        </p:txBody>
      </p:sp>
      <mc:AlternateContent xmlns:mc="http://schemas.openxmlformats.org/markup-compatibility/2006" xmlns:a14="http://schemas.microsoft.com/office/drawing/2010/main">
        <mc:Choice Requires="a14">
          <p:sp>
            <p:nvSpPr>
              <p:cNvPr id="20" name="Ellipse 19"/>
              <p:cNvSpPr/>
              <p:nvPr/>
            </p:nvSpPr>
            <p:spPr>
              <a:xfrm>
                <a:off x="1975879" y="2765298"/>
                <a:ext cx="647815" cy="585788"/>
              </a:xfrm>
              <a:prstGeom prst="ellipse">
                <a:avLst/>
              </a:prstGeom>
              <a:solidFill>
                <a:schemeClr val="accent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𝑎</m:t>
                      </m:r>
                    </m:oMath>
                  </m:oMathPara>
                </a14:m>
                <a:endParaRPr lang="de-DE" dirty="0"/>
              </a:p>
            </p:txBody>
          </p:sp>
        </mc:Choice>
        <mc:Fallback xmlns="">
          <p:sp>
            <p:nvSpPr>
              <p:cNvPr id="20" name="Ellipse 19"/>
              <p:cNvSpPr>
                <a:spLocks noRot="1" noChangeAspect="1" noMove="1" noResize="1" noEditPoints="1" noAdjustHandles="1" noChangeArrowheads="1" noChangeShapeType="1" noTextEdit="1"/>
              </p:cNvSpPr>
              <p:nvPr/>
            </p:nvSpPr>
            <p:spPr>
              <a:xfrm>
                <a:off x="1975879" y="2765298"/>
                <a:ext cx="647815" cy="585788"/>
              </a:xfrm>
              <a:prstGeom prst="ellipse">
                <a:avLst/>
              </a:prstGeom>
              <a:blipFill rotWithShape="1">
                <a:blip r:embed="rId2"/>
                <a:stretch>
                  <a:fillRect/>
                </a:stretch>
              </a:blipFill>
              <a:ln>
                <a:solidFill>
                  <a:schemeClr val="tx2">
                    <a:lumMod val="60000"/>
                    <a:lumOff val="40000"/>
                  </a:schemeClr>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1" name="Ellipse 20"/>
              <p:cNvSpPr/>
              <p:nvPr/>
            </p:nvSpPr>
            <p:spPr>
              <a:xfrm>
                <a:off x="2864342" y="2765298"/>
                <a:ext cx="647815" cy="585788"/>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𝑏</m:t>
                      </m:r>
                    </m:oMath>
                  </m:oMathPara>
                </a14:m>
                <a:endParaRPr lang="de-DE" dirty="0"/>
              </a:p>
            </p:txBody>
          </p:sp>
        </mc:Choice>
        <mc:Fallback xmlns="">
          <p:sp>
            <p:nvSpPr>
              <p:cNvPr id="21" name="Ellipse 20"/>
              <p:cNvSpPr>
                <a:spLocks noRot="1" noChangeAspect="1" noMove="1" noResize="1" noEditPoints="1" noAdjustHandles="1" noChangeArrowheads="1" noChangeShapeType="1" noTextEdit="1"/>
              </p:cNvSpPr>
              <p:nvPr/>
            </p:nvSpPr>
            <p:spPr>
              <a:xfrm>
                <a:off x="2864342" y="2765298"/>
                <a:ext cx="647815" cy="585788"/>
              </a:xfrm>
              <a:prstGeom prst="ellipse">
                <a:avLst/>
              </a:prstGeom>
              <a:blipFill rotWithShape="1">
                <a:blip r:embed="rId3"/>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3" name="Ellipse 22"/>
              <p:cNvSpPr/>
              <p:nvPr/>
            </p:nvSpPr>
            <p:spPr>
              <a:xfrm>
                <a:off x="3738275" y="2788824"/>
                <a:ext cx="647815" cy="585788"/>
              </a:xfrm>
              <a:prstGeom prst="ellipse">
                <a:avLst/>
              </a:prstGeom>
              <a:solidFill>
                <a:schemeClr val="accent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𝑐</m:t>
                      </m:r>
                    </m:oMath>
                  </m:oMathPara>
                </a14:m>
                <a:endParaRPr lang="de-DE" dirty="0"/>
              </a:p>
            </p:txBody>
          </p:sp>
        </mc:Choice>
        <mc:Fallback xmlns="">
          <p:sp>
            <p:nvSpPr>
              <p:cNvPr id="23" name="Ellipse 22"/>
              <p:cNvSpPr>
                <a:spLocks noRot="1" noChangeAspect="1" noMove="1" noResize="1" noEditPoints="1" noAdjustHandles="1" noChangeArrowheads="1" noChangeShapeType="1" noTextEdit="1"/>
              </p:cNvSpPr>
              <p:nvPr/>
            </p:nvSpPr>
            <p:spPr>
              <a:xfrm>
                <a:off x="3738275" y="2788824"/>
                <a:ext cx="647815" cy="585788"/>
              </a:xfrm>
              <a:prstGeom prst="ellipse">
                <a:avLst/>
              </a:prstGeom>
              <a:blipFill rotWithShape="1">
                <a:blip r:embed="rId4"/>
                <a:stretch>
                  <a:fillRect/>
                </a:stretch>
              </a:blipFill>
              <a:ln>
                <a:solidFill>
                  <a:schemeClr val="tx2">
                    <a:lumMod val="60000"/>
                    <a:lumOff val="40000"/>
                  </a:schemeClr>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Ellipse 23"/>
              <p:cNvSpPr/>
              <p:nvPr/>
            </p:nvSpPr>
            <p:spPr>
              <a:xfrm>
                <a:off x="4651446" y="2743579"/>
                <a:ext cx="647815" cy="585788"/>
              </a:xfrm>
              <a:prstGeom prst="ellipse">
                <a:avLst/>
              </a:prstGeom>
              <a:solidFill>
                <a:schemeClr val="accent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𝑑</m:t>
                      </m:r>
                    </m:oMath>
                  </m:oMathPara>
                </a14:m>
                <a:endParaRPr lang="de-DE" dirty="0"/>
              </a:p>
            </p:txBody>
          </p:sp>
        </mc:Choice>
        <mc:Fallback xmlns="">
          <p:sp>
            <p:nvSpPr>
              <p:cNvPr id="24" name="Ellipse 23"/>
              <p:cNvSpPr>
                <a:spLocks noRot="1" noChangeAspect="1" noMove="1" noResize="1" noEditPoints="1" noAdjustHandles="1" noChangeArrowheads="1" noChangeShapeType="1" noTextEdit="1"/>
              </p:cNvSpPr>
              <p:nvPr/>
            </p:nvSpPr>
            <p:spPr>
              <a:xfrm>
                <a:off x="4651446" y="2743579"/>
                <a:ext cx="647815" cy="585788"/>
              </a:xfrm>
              <a:prstGeom prst="ellipse">
                <a:avLst/>
              </a:prstGeom>
              <a:blipFill rotWithShape="1">
                <a:blip r:embed="rId5"/>
                <a:stretch>
                  <a:fillRect/>
                </a:stretch>
              </a:blipFill>
              <a:ln>
                <a:solidFill>
                  <a:schemeClr val="tx2">
                    <a:lumMod val="60000"/>
                    <a:lumOff val="40000"/>
                  </a:schemeClr>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6" name="Ellipse 25"/>
              <p:cNvSpPr/>
              <p:nvPr/>
            </p:nvSpPr>
            <p:spPr>
              <a:xfrm>
                <a:off x="5528526" y="2743579"/>
                <a:ext cx="647815" cy="585788"/>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𝑒</m:t>
                      </m:r>
                    </m:oMath>
                  </m:oMathPara>
                </a14:m>
                <a:endParaRPr lang="de-DE" dirty="0"/>
              </a:p>
            </p:txBody>
          </p:sp>
        </mc:Choice>
        <mc:Fallback xmlns="">
          <p:sp>
            <p:nvSpPr>
              <p:cNvPr id="26" name="Ellipse 25"/>
              <p:cNvSpPr>
                <a:spLocks noRot="1" noChangeAspect="1" noMove="1" noResize="1" noEditPoints="1" noAdjustHandles="1" noChangeArrowheads="1" noChangeShapeType="1" noTextEdit="1"/>
              </p:cNvSpPr>
              <p:nvPr/>
            </p:nvSpPr>
            <p:spPr>
              <a:xfrm>
                <a:off x="5528526" y="2743579"/>
                <a:ext cx="647815" cy="585788"/>
              </a:xfrm>
              <a:prstGeom prst="ellipse">
                <a:avLst/>
              </a:prstGeom>
              <a:blipFill rotWithShape="1">
                <a:blip r:embed="rId6"/>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Ellipse 26"/>
              <p:cNvSpPr/>
              <p:nvPr/>
            </p:nvSpPr>
            <p:spPr>
              <a:xfrm>
                <a:off x="6430600" y="2741772"/>
                <a:ext cx="647815" cy="585788"/>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𝑓</m:t>
                      </m:r>
                    </m:oMath>
                  </m:oMathPara>
                </a14:m>
                <a:endParaRPr lang="de-DE" dirty="0"/>
              </a:p>
            </p:txBody>
          </p:sp>
        </mc:Choice>
        <mc:Fallback xmlns="">
          <p:sp>
            <p:nvSpPr>
              <p:cNvPr id="27" name="Ellipse 26"/>
              <p:cNvSpPr>
                <a:spLocks noRot="1" noChangeAspect="1" noMove="1" noResize="1" noEditPoints="1" noAdjustHandles="1" noChangeArrowheads="1" noChangeShapeType="1" noTextEdit="1"/>
              </p:cNvSpPr>
              <p:nvPr/>
            </p:nvSpPr>
            <p:spPr>
              <a:xfrm>
                <a:off x="6430600" y="2741772"/>
                <a:ext cx="647815" cy="585788"/>
              </a:xfrm>
              <a:prstGeom prst="ellipse">
                <a:avLst/>
              </a:prstGeom>
              <a:blipFill rotWithShape="1">
                <a:blip r:embed="rId7"/>
                <a:stretch>
                  <a:fillRect/>
                </a:stretch>
              </a:blipFill>
            </p:spPr>
            <p:txBody>
              <a:bodyPr/>
              <a:lstStyle/>
              <a:p>
                <a:r>
                  <a:rPr lang="de-DE">
                    <a:noFill/>
                  </a:rPr>
                  <a:t> </a:t>
                </a:r>
              </a:p>
            </p:txBody>
          </p:sp>
        </mc:Fallback>
      </mc:AlternateContent>
      <p:cxnSp>
        <p:nvCxnSpPr>
          <p:cNvPr id="29" name="Gerade Verbindung mit Pfeil 28"/>
          <p:cNvCxnSpPr>
            <a:stCxn id="20" idx="0"/>
            <a:endCxn id="18" idx="2"/>
          </p:cNvCxnSpPr>
          <p:nvPr/>
        </p:nvCxnSpPr>
        <p:spPr>
          <a:xfrm flipV="1">
            <a:off x="2299787" y="2349346"/>
            <a:ext cx="2100318" cy="4159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Gerade Verbindung mit Pfeil 29"/>
          <p:cNvCxnSpPr>
            <a:stCxn id="21" idx="0"/>
            <a:endCxn id="18" idx="2"/>
          </p:cNvCxnSpPr>
          <p:nvPr/>
        </p:nvCxnSpPr>
        <p:spPr>
          <a:xfrm flipV="1">
            <a:off x="3188250" y="2349346"/>
            <a:ext cx="1211855" cy="4159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Gerade Verbindung mit Pfeil 30"/>
          <p:cNvCxnSpPr>
            <a:stCxn id="23" idx="0"/>
            <a:endCxn id="18" idx="2"/>
          </p:cNvCxnSpPr>
          <p:nvPr/>
        </p:nvCxnSpPr>
        <p:spPr>
          <a:xfrm flipV="1">
            <a:off x="4062183" y="2349346"/>
            <a:ext cx="337922" cy="43947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Gerade Verbindung mit Pfeil 31"/>
          <p:cNvCxnSpPr>
            <a:stCxn id="24" idx="0"/>
            <a:endCxn id="18" idx="2"/>
          </p:cNvCxnSpPr>
          <p:nvPr/>
        </p:nvCxnSpPr>
        <p:spPr>
          <a:xfrm flipH="1" flipV="1">
            <a:off x="4400105" y="2349346"/>
            <a:ext cx="575249" cy="3942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Gerade Verbindung mit Pfeil 32"/>
          <p:cNvCxnSpPr>
            <a:stCxn id="26" idx="0"/>
            <a:endCxn id="18" idx="2"/>
          </p:cNvCxnSpPr>
          <p:nvPr/>
        </p:nvCxnSpPr>
        <p:spPr>
          <a:xfrm flipH="1" flipV="1">
            <a:off x="4400105" y="2349346"/>
            <a:ext cx="1452329" cy="3942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Gerade Verbindung mit Pfeil 33"/>
          <p:cNvCxnSpPr>
            <a:stCxn id="27" idx="0"/>
            <a:endCxn id="18" idx="2"/>
          </p:cNvCxnSpPr>
          <p:nvPr/>
        </p:nvCxnSpPr>
        <p:spPr>
          <a:xfrm flipH="1" flipV="1">
            <a:off x="4400105" y="2349346"/>
            <a:ext cx="2354403" cy="39242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feld 18"/>
              <p:cNvSpPr txBox="1"/>
              <p:nvPr/>
            </p:nvSpPr>
            <p:spPr>
              <a:xfrm>
                <a:off x="2358427" y="3859576"/>
                <a:ext cx="4344587" cy="461665"/>
              </a:xfrm>
              <a:prstGeom prst="rect">
                <a:avLst/>
              </a:prstGeom>
              <a:noFill/>
            </p:spPr>
            <p:txBody>
              <a:bodyPr wrap="none" rtlCol="0">
                <a:spAutoFit/>
              </a:bodyPr>
              <a:lstStyle/>
              <a:p>
                <a:r>
                  <a:rPr lang="de-DE" sz="2400" dirty="0" smtClean="0"/>
                  <a:t>Model Elements : </a:t>
                </a:r>
                <a14:m>
                  <m:oMath xmlns:m="http://schemas.openxmlformats.org/officeDocument/2006/math">
                    <m:r>
                      <a:rPr lang="de-DE" sz="2400" b="0" i="1" smtClean="0">
                        <a:latin typeface="Cambria Math"/>
                      </a:rPr>
                      <m:t>{</m:t>
                    </m:r>
                    <m:r>
                      <a:rPr lang="de-DE" sz="2400" b="0" i="1" smtClean="0">
                        <a:latin typeface="Cambria Math"/>
                      </a:rPr>
                      <m:t>𝑎</m:t>
                    </m:r>
                    <m:r>
                      <a:rPr lang="de-DE" sz="2400" b="0" i="1" smtClean="0">
                        <a:latin typeface="Cambria Math"/>
                      </a:rPr>
                      <m:t>, </m:t>
                    </m:r>
                    <m:r>
                      <a:rPr lang="de-DE" sz="2400" b="0" i="1" smtClean="0">
                        <a:latin typeface="Cambria Math"/>
                      </a:rPr>
                      <m:t>𝑏</m:t>
                    </m:r>
                    <m:r>
                      <a:rPr lang="de-DE" sz="2400" b="0" i="1" smtClean="0">
                        <a:latin typeface="Cambria Math"/>
                      </a:rPr>
                      <m:t>, </m:t>
                    </m:r>
                    <m:r>
                      <a:rPr lang="de-DE" sz="2400" b="0" i="1" smtClean="0">
                        <a:latin typeface="Cambria Math"/>
                      </a:rPr>
                      <m:t>𝑐</m:t>
                    </m:r>
                    <m:r>
                      <a:rPr lang="de-DE" sz="2400" b="0" i="1" smtClean="0">
                        <a:latin typeface="Cambria Math"/>
                      </a:rPr>
                      <m:t>, </m:t>
                    </m:r>
                    <m:r>
                      <a:rPr lang="de-DE" sz="2400" b="0" i="1" smtClean="0">
                        <a:latin typeface="Cambria Math"/>
                      </a:rPr>
                      <m:t>𝑑</m:t>
                    </m:r>
                    <m:r>
                      <a:rPr lang="de-DE" sz="2400" b="0" i="1" smtClean="0">
                        <a:latin typeface="Cambria Math"/>
                      </a:rPr>
                      <m:t>, </m:t>
                    </m:r>
                    <m:r>
                      <a:rPr lang="de-DE" sz="2400" b="0" i="1" smtClean="0">
                        <a:latin typeface="Cambria Math"/>
                      </a:rPr>
                      <m:t>𝑒</m:t>
                    </m:r>
                    <m:r>
                      <a:rPr lang="de-DE" sz="2400" b="0" i="1" smtClean="0">
                        <a:latin typeface="Cambria Math"/>
                      </a:rPr>
                      <m:t>, </m:t>
                    </m:r>
                    <m:r>
                      <a:rPr lang="de-DE" sz="2400" b="0" i="1" smtClean="0">
                        <a:latin typeface="Cambria Math"/>
                      </a:rPr>
                      <m:t>𝑓</m:t>
                    </m:r>
                    <m:r>
                      <a:rPr lang="de-DE" sz="2400" b="0" i="1" smtClean="0">
                        <a:latin typeface="Cambria Math"/>
                      </a:rPr>
                      <m:t>}</m:t>
                    </m:r>
                  </m:oMath>
                </a14:m>
                <a:r>
                  <a:rPr lang="de-DE" sz="2400" dirty="0" smtClean="0"/>
                  <a:t> </a:t>
                </a:r>
                <a:endParaRPr lang="de-DE" sz="2400" b="1" dirty="0"/>
              </a:p>
            </p:txBody>
          </p:sp>
        </mc:Choice>
        <mc:Fallback xmlns="">
          <p:sp>
            <p:nvSpPr>
              <p:cNvPr id="19" name="Textfeld 18"/>
              <p:cNvSpPr txBox="1">
                <a:spLocks noRot="1" noChangeAspect="1" noMove="1" noResize="1" noEditPoints="1" noAdjustHandles="1" noChangeArrowheads="1" noChangeShapeType="1" noTextEdit="1"/>
              </p:cNvSpPr>
              <p:nvPr/>
            </p:nvSpPr>
            <p:spPr>
              <a:xfrm>
                <a:off x="2358427" y="3859576"/>
                <a:ext cx="4344587" cy="461665"/>
              </a:xfrm>
              <a:prstGeom prst="rect">
                <a:avLst/>
              </a:prstGeom>
              <a:blipFill rotWithShape="1">
                <a:blip r:embed="rId8"/>
                <a:stretch>
                  <a:fillRect l="-2244" t="-10526" b="-28947"/>
                </a:stretch>
              </a:blipFill>
            </p:spPr>
            <p:txBody>
              <a:bodyPr/>
              <a:lstStyle/>
              <a:p>
                <a:r>
                  <a:rPr lang="de-DE">
                    <a:noFill/>
                  </a:rPr>
                  <a:t> </a:t>
                </a:r>
              </a:p>
            </p:txBody>
          </p:sp>
        </mc:Fallback>
      </mc:AlternateContent>
      <p:sp>
        <p:nvSpPr>
          <p:cNvPr id="3" name="Slide Number Placeholder 2"/>
          <p:cNvSpPr>
            <a:spLocks noGrp="1"/>
          </p:cNvSpPr>
          <p:nvPr>
            <p:ph type="sldNum" sz="quarter" idx="10"/>
          </p:nvPr>
        </p:nvSpPr>
        <p:spPr/>
        <p:txBody>
          <a:bodyPr/>
          <a:lstStyle/>
          <a:p>
            <a:pPr>
              <a:defRPr/>
            </a:pPr>
            <a:fld id="{7486D9C8-0CDB-4BF0-99FF-D7490CE4EFA3}" type="slidenum">
              <a:rPr lang="en-US" smtClean="0"/>
              <a:pPr>
                <a:defRPr/>
              </a:pPr>
              <a:t>58</a:t>
            </a:fld>
            <a:endParaRPr lang="en-US"/>
          </a:p>
        </p:txBody>
      </p:sp>
    </p:spTree>
    <p:extLst>
      <p:ext uri="{BB962C8B-B14F-4D97-AF65-F5344CB8AC3E}">
        <p14:creationId xmlns:p14="http://schemas.microsoft.com/office/powerpoint/2010/main" val="6660381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pPr algn="l"/>
            <a:r>
              <a:rPr lang="de-DE" sz="2700" b="1" dirty="0" err="1" smtClean="0">
                <a:solidFill>
                  <a:schemeClr val="bg1">
                    <a:lumMod val="50000"/>
                  </a:schemeClr>
                </a:solidFill>
              </a:rPr>
              <a:t>Inductive</a:t>
            </a:r>
            <a:r>
              <a:rPr lang="de-DE" sz="2700" b="1" dirty="0" smtClean="0">
                <a:solidFill>
                  <a:schemeClr val="bg1">
                    <a:lumMod val="50000"/>
                  </a:schemeClr>
                </a:solidFill>
              </a:rPr>
              <a:t> </a:t>
            </a:r>
            <a:r>
              <a:rPr lang="de-DE" sz="2700" b="1" dirty="0" err="1" smtClean="0">
                <a:solidFill>
                  <a:schemeClr val="bg1">
                    <a:lumMod val="50000"/>
                  </a:schemeClr>
                </a:solidFill>
              </a:rPr>
              <a:t>Validity</a:t>
            </a:r>
            <a:r>
              <a:rPr lang="de-DE" sz="2700" b="1" dirty="0" smtClean="0">
                <a:solidFill>
                  <a:schemeClr val="bg1">
                    <a:lumMod val="50000"/>
                  </a:schemeClr>
                </a:solidFill>
              </a:rPr>
              <a:t> Cores</a:t>
            </a:r>
            <a:r>
              <a:rPr lang="de-DE" sz="3600" dirty="0"/>
              <a:t/>
            </a:r>
            <a:br>
              <a:rPr lang="de-DE" sz="3600" dirty="0"/>
            </a:br>
            <a:endParaRPr lang="de-DE" sz="3600" b="1" dirty="0">
              <a:solidFill>
                <a:schemeClr val="bg1">
                  <a:lumMod val="50000"/>
                </a:schemeClr>
              </a:solidFill>
            </a:endParaRPr>
          </a:p>
        </p:txBody>
      </p:sp>
      <p:sp>
        <p:nvSpPr>
          <p:cNvPr id="14" name="Textfeld 13"/>
          <p:cNvSpPr txBox="1"/>
          <p:nvPr/>
        </p:nvSpPr>
        <p:spPr>
          <a:xfrm>
            <a:off x="1975879" y="3809796"/>
            <a:ext cx="4828181" cy="1200329"/>
          </a:xfrm>
          <a:prstGeom prst="rect">
            <a:avLst/>
          </a:prstGeom>
          <a:noFill/>
        </p:spPr>
        <p:txBody>
          <a:bodyPr wrap="none" rtlCol="0">
            <a:spAutoFit/>
          </a:bodyPr>
          <a:lstStyle/>
          <a:p>
            <a:r>
              <a:rPr lang="de-DE" sz="2400" b="1" dirty="0"/>
              <a:t>IVC : A </a:t>
            </a:r>
            <a:r>
              <a:rPr lang="de-DE" sz="2400" b="1" dirty="0" smtClean="0"/>
              <a:t>minimal </a:t>
            </a:r>
            <a:r>
              <a:rPr lang="de-DE" sz="2400" b="1" dirty="0" err="1"/>
              <a:t>set</a:t>
            </a:r>
            <a:r>
              <a:rPr lang="de-DE" sz="2400" b="1" dirty="0"/>
              <a:t> </a:t>
            </a:r>
            <a:r>
              <a:rPr lang="de-DE" sz="2400" b="1" dirty="0" err="1"/>
              <a:t>of</a:t>
            </a:r>
            <a:r>
              <a:rPr lang="de-DE" sz="2400" b="1" dirty="0"/>
              <a:t> </a:t>
            </a:r>
            <a:r>
              <a:rPr lang="de-DE" sz="2400" b="1" dirty="0" err="1"/>
              <a:t>elements</a:t>
            </a:r>
            <a:r>
              <a:rPr lang="de-DE" sz="2400" b="1" dirty="0"/>
              <a:t> </a:t>
            </a:r>
          </a:p>
          <a:p>
            <a:r>
              <a:rPr lang="de-DE" sz="2400" b="1" dirty="0"/>
              <a:t>         </a:t>
            </a:r>
            <a:r>
              <a:rPr lang="de-DE" sz="2400" b="1" dirty="0" err="1"/>
              <a:t>needed</a:t>
            </a:r>
            <a:r>
              <a:rPr lang="de-DE" sz="2400" b="1" dirty="0"/>
              <a:t> </a:t>
            </a:r>
            <a:r>
              <a:rPr lang="de-DE" sz="2400" b="1" dirty="0" err="1"/>
              <a:t>to</a:t>
            </a:r>
            <a:r>
              <a:rPr lang="de-DE" sz="2400" b="1" dirty="0"/>
              <a:t> </a:t>
            </a:r>
            <a:r>
              <a:rPr lang="de-DE" sz="2400" b="1" dirty="0" err="1"/>
              <a:t>prove</a:t>
            </a:r>
            <a:r>
              <a:rPr lang="de-DE" sz="2400" b="1" dirty="0"/>
              <a:t> </a:t>
            </a:r>
            <a:r>
              <a:rPr lang="de-DE" sz="2400" b="1" dirty="0" err="1"/>
              <a:t>the</a:t>
            </a:r>
            <a:r>
              <a:rPr lang="de-DE" sz="2400" b="1" dirty="0"/>
              <a:t> </a:t>
            </a:r>
          </a:p>
          <a:p>
            <a:r>
              <a:rPr lang="de-DE" sz="2400" b="1" dirty="0"/>
              <a:t>         </a:t>
            </a:r>
            <a:r>
              <a:rPr lang="de-DE" sz="2400" b="1" dirty="0" err="1"/>
              <a:t>Safety</a:t>
            </a:r>
            <a:r>
              <a:rPr lang="de-DE" sz="2400" b="1" dirty="0"/>
              <a:t> </a:t>
            </a:r>
            <a:r>
              <a:rPr lang="de-DE" sz="2400" b="1" dirty="0" smtClean="0"/>
              <a:t>Property</a:t>
            </a:r>
            <a:endParaRPr lang="de-DE" sz="2400" b="1" dirty="0"/>
          </a:p>
        </p:txBody>
      </p:sp>
      <p:sp>
        <p:nvSpPr>
          <p:cNvPr id="18" name="Rechteck 17"/>
          <p:cNvSpPr/>
          <p:nvPr/>
        </p:nvSpPr>
        <p:spPr>
          <a:xfrm>
            <a:off x="3198948" y="1763558"/>
            <a:ext cx="2402314" cy="585788"/>
          </a:xfrm>
          <a:prstGeom prst="rect">
            <a:avLst/>
          </a:prstGeom>
          <a:solidFill>
            <a:schemeClr val="accent2">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de-DE" dirty="0" err="1" smtClean="0"/>
              <a:t>Safety</a:t>
            </a:r>
            <a:r>
              <a:rPr lang="de-DE" dirty="0" smtClean="0"/>
              <a:t> Property</a:t>
            </a:r>
            <a:endParaRPr lang="de-DE" dirty="0"/>
          </a:p>
        </p:txBody>
      </p:sp>
      <mc:AlternateContent xmlns:mc="http://schemas.openxmlformats.org/markup-compatibility/2006" xmlns:a14="http://schemas.microsoft.com/office/drawing/2010/main">
        <mc:Choice Requires="a14">
          <p:sp>
            <p:nvSpPr>
              <p:cNvPr id="20" name="Ellipse 19"/>
              <p:cNvSpPr/>
              <p:nvPr/>
            </p:nvSpPr>
            <p:spPr>
              <a:xfrm>
                <a:off x="1975879" y="2765298"/>
                <a:ext cx="647815" cy="585788"/>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𝑎</m:t>
                      </m:r>
                    </m:oMath>
                  </m:oMathPara>
                </a14:m>
                <a:endParaRPr lang="de-DE" dirty="0"/>
              </a:p>
            </p:txBody>
          </p:sp>
        </mc:Choice>
        <mc:Fallback xmlns="">
          <p:sp>
            <p:nvSpPr>
              <p:cNvPr id="20" name="Ellipse 19"/>
              <p:cNvSpPr>
                <a:spLocks noRot="1" noChangeAspect="1" noMove="1" noResize="1" noEditPoints="1" noAdjustHandles="1" noChangeArrowheads="1" noChangeShapeType="1" noTextEdit="1"/>
              </p:cNvSpPr>
              <p:nvPr/>
            </p:nvSpPr>
            <p:spPr>
              <a:xfrm>
                <a:off x="1975879" y="2765298"/>
                <a:ext cx="647815" cy="585788"/>
              </a:xfrm>
              <a:prstGeom prst="ellipse">
                <a:avLst/>
              </a:prstGeom>
              <a:blipFill rotWithShape="1">
                <a:blip r:embed="rId3"/>
                <a:stretch>
                  <a:fillRect/>
                </a:stretch>
              </a:blipFill>
              <a:ln>
                <a:solidFill>
                  <a:srgbClr val="FF0000"/>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1" name="Ellipse 20"/>
              <p:cNvSpPr/>
              <p:nvPr/>
            </p:nvSpPr>
            <p:spPr>
              <a:xfrm>
                <a:off x="2864342" y="2765298"/>
                <a:ext cx="647815" cy="585788"/>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𝑏</m:t>
                      </m:r>
                    </m:oMath>
                  </m:oMathPara>
                </a14:m>
                <a:endParaRPr lang="de-DE" dirty="0"/>
              </a:p>
            </p:txBody>
          </p:sp>
        </mc:Choice>
        <mc:Fallback xmlns="">
          <p:sp>
            <p:nvSpPr>
              <p:cNvPr id="21" name="Ellipse 20"/>
              <p:cNvSpPr>
                <a:spLocks noRot="1" noChangeAspect="1" noMove="1" noResize="1" noEditPoints="1" noAdjustHandles="1" noChangeArrowheads="1" noChangeShapeType="1" noTextEdit="1"/>
              </p:cNvSpPr>
              <p:nvPr/>
            </p:nvSpPr>
            <p:spPr>
              <a:xfrm>
                <a:off x="2864342" y="2765298"/>
                <a:ext cx="647815" cy="585788"/>
              </a:xfrm>
              <a:prstGeom prst="ellipse">
                <a:avLst/>
              </a:prstGeom>
              <a:blipFill rotWithShape="1">
                <a:blip r:embed="rId4"/>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3" name="Ellipse 22"/>
              <p:cNvSpPr/>
              <p:nvPr/>
            </p:nvSpPr>
            <p:spPr>
              <a:xfrm>
                <a:off x="3738275" y="2788824"/>
                <a:ext cx="647815" cy="585788"/>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𝑐</m:t>
                      </m:r>
                    </m:oMath>
                  </m:oMathPara>
                </a14:m>
                <a:endParaRPr lang="de-DE" dirty="0"/>
              </a:p>
            </p:txBody>
          </p:sp>
        </mc:Choice>
        <mc:Fallback xmlns="">
          <p:sp>
            <p:nvSpPr>
              <p:cNvPr id="23" name="Ellipse 22"/>
              <p:cNvSpPr>
                <a:spLocks noRot="1" noChangeAspect="1" noMove="1" noResize="1" noEditPoints="1" noAdjustHandles="1" noChangeArrowheads="1" noChangeShapeType="1" noTextEdit="1"/>
              </p:cNvSpPr>
              <p:nvPr/>
            </p:nvSpPr>
            <p:spPr>
              <a:xfrm>
                <a:off x="3738275" y="2788824"/>
                <a:ext cx="647815" cy="585788"/>
              </a:xfrm>
              <a:prstGeom prst="ellipse">
                <a:avLst/>
              </a:prstGeom>
              <a:blipFill rotWithShape="1">
                <a:blip r:embed="rId5"/>
                <a:stretch>
                  <a:fillRect/>
                </a:stretch>
              </a:blipFill>
              <a:ln>
                <a:solidFill>
                  <a:srgbClr val="FF0000"/>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Ellipse 23"/>
              <p:cNvSpPr/>
              <p:nvPr/>
            </p:nvSpPr>
            <p:spPr>
              <a:xfrm>
                <a:off x="4659037" y="2743579"/>
                <a:ext cx="647815" cy="585788"/>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𝑑</m:t>
                      </m:r>
                    </m:oMath>
                  </m:oMathPara>
                </a14:m>
                <a:endParaRPr lang="de-DE" dirty="0"/>
              </a:p>
            </p:txBody>
          </p:sp>
        </mc:Choice>
        <mc:Fallback xmlns="">
          <p:sp>
            <p:nvSpPr>
              <p:cNvPr id="24" name="Ellipse 23"/>
              <p:cNvSpPr>
                <a:spLocks noRot="1" noChangeAspect="1" noMove="1" noResize="1" noEditPoints="1" noAdjustHandles="1" noChangeArrowheads="1" noChangeShapeType="1" noTextEdit="1"/>
              </p:cNvSpPr>
              <p:nvPr/>
            </p:nvSpPr>
            <p:spPr>
              <a:xfrm>
                <a:off x="4659037" y="2743579"/>
                <a:ext cx="647815" cy="585788"/>
              </a:xfrm>
              <a:prstGeom prst="ellipse">
                <a:avLst/>
              </a:prstGeom>
              <a:blipFill rotWithShape="1">
                <a:blip r:embed="rId6"/>
                <a:stretch>
                  <a:fillRect/>
                </a:stretch>
              </a:blipFill>
              <a:ln>
                <a:solidFill>
                  <a:srgbClr val="FF0000"/>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6" name="Ellipse 25"/>
              <p:cNvSpPr/>
              <p:nvPr/>
            </p:nvSpPr>
            <p:spPr>
              <a:xfrm>
                <a:off x="5528526" y="2743579"/>
                <a:ext cx="647815" cy="585788"/>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𝑒</m:t>
                      </m:r>
                    </m:oMath>
                  </m:oMathPara>
                </a14:m>
                <a:endParaRPr lang="de-DE" dirty="0"/>
              </a:p>
            </p:txBody>
          </p:sp>
        </mc:Choice>
        <mc:Fallback xmlns="">
          <p:sp>
            <p:nvSpPr>
              <p:cNvPr id="26" name="Ellipse 25"/>
              <p:cNvSpPr>
                <a:spLocks noRot="1" noChangeAspect="1" noMove="1" noResize="1" noEditPoints="1" noAdjustHandles="1" noChangeArrowheads="1" noChangeShapeType="1" noTextEdit="1"/>
              </p:cNvSpPr>
              <p:nvPr/>
            </p:nvSpPr>
            <p:spPr>
              <a:xfrm>
                <a:off x="5528526" y="2743579"/>
                <a:ext cx="647815" cy="585788"/>
              </a:xfrm>
              <a:prstGeom prst="ellipse">
                <a:avLst/>
              </a:prstGeom>
              <a:blipFill rotWithShape="1">
                <a:blip r:embed="rId7"/>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Ellipse 26"/>
              <p:cNvSpPr/>
              <p:nvPr/>
            </p:nvSpPr>
            <p:spPr>
              <a:xfrm>
                <a:off x="6430600" y="2741772"/>
                <a:ext cx="647815" cy="585788"/>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𝑓</m:t>
                      </m:r>
                    </m:oMath>
                  </m:oMathPara>
                </a14:m>
                <a:endParaRPr lang="de-DE" dirty="0"/>
              </a:p>
            </p:txBody>
          </p:sp>
        </mc:Choice>
        <mc:Fallback xmlns="">
          <p:sp>
            <p:nvSpPr>
              <p:cNvPr id="27" name="Ellipse 26"/>
              <p:cNvSpPr>
                <a:spLocks noRot="1" noChangeAspect="1" noMove="1" noResize="1" noEditPoints="1" noAdjustHandles="1" noChangeArrowheads="1" noChangeShapeType="1" noTextEdit="1"/>
              </p:cNvSpPr>
              <p:nvPr/>
            </p:nvSpPr>
            <p:spPr>
              <a:xfrm>
                <a:off x="6430600" y="2741772"/>
                <a:ext cx="647815" cy="585788"/>
              </a:xfrm>
              <a:prstGeom prst="ellipse">
                <a:avLst/>
              </a:prstGeom>
              <a:blipFill rotWithShape="1">
                <a:blip r:embed="rId8"/>
                <a:stretch>
                  <a:fillRect/>
                </a:stretch>
              </a:blipFill>
            </p:spPr>
            <p:txBody>
              <a:bodyPr/>
              <a:lstStyle/>
              <a:p>
                <a:r>
                  <a:rPr lang="de-DE">
                    <a:noFill/>
                  </a:rPr>
                  <a:t> </a:t>
                </a:r>
              </a:p>
            </p:txBody>
          </p:sp>
        </mc:Fallback>
      </mc:AlternateContent>
      <p:cxnSp>
        <p:nvCxnSpPr>
          <p:cNvPr id="29" name="Gerade Verbindung mit Pfeil 28"/>
          <p:cNvCxnSpPr>
            <a:stCxn id="20" idx="0"/>
            <a:endCxn id="18" idx="2"/>
          </p:cNvCxnSpPr>
          <p:nvPr/>
        </p:nvCxnSpPr>
        <p:spPr>
          <a:xfrm flipV="1">
            <a:off x="2299787" y="2349346"/>
            <a:ext cx="2100318" cy="4159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Gerade Verbindung mit Pfeil 29"/>
          <p:cNvCxnSpPr>
            <a:stCxn id="21" idx="0"/>
            <a:endCxn id="18" idx="2"/>
          </p:cNvCxnSpPr>
          <p:nvPr/>
        </p:nvCxnSpPr>
        <p:spPr>
          <a:xfrm flipV="1">
            <a:off x="3188250" y="2349346"/>
            <a:ext cx="1211855" cy="4159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Gerade Verbindung mit Pfeil 30"/>
          <p:cNvCxnSpPr>
            <a:stCxn id="23" idx="0"/>
            <a:endCxn id="18" idx="2"/>
          </p:cNvCxnSpPr>
          <p:nvPr/>
        </p:nvCxnSpPr>
        <p:spPr>
          <a:xfrm flipV="1">
            <a:off x="4062183" y="2349346"/>
            <a:ext cx="337922" cy="43947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Gerade Verbindung mit Pfeil 31"/>
          <p:cNvCxnSpPr>
            <a:stCxn id="24" idx="0"/>
            <a:endCxn id="18" idx="2"/>
          </p:cNvCxnSpPr>
          <p:nvPr/>
        </p:nvCxnSpPr>
        <p:spPr>
          <a:xfrm flipH="1" flipV="1">
            <a:off x="4400105" y="2349346"/>
            <a:ext cx="582840" cy="3942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Gerade Verbindung mit Pfeil 32"/>
          <p:cNvCxnSpPr>
            <a:stCxn id="26" idx="0"/>
            <a:endCxn id="18" idx="2"/>
          </p:cNvCxnSpPr>
          <p:nvPr/>
        </p:nvCxnSpPr>
        <p:spPr>
          <a:xfrm flipH="1" flipV="1">
            <a:off x="4400105" y="2349346"/>
            <a:ext cx="1452329" cy="3942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Gerade Verbindung mit Pfeil 33"/>
          <p:cNvCxnSpPr>
            <a:stCxn id="27" idx="0"/>
            <a:endCxn id="18" idx="2"/>
          </p:cNvCxnSpPr>
          <p:nvPr/>
        </p:nvCxnSpPr>
        <p:spPr>
          <a:xfrm flipH="1" flipV="1">
            <a:off x="4400105" y="2349346"/>
            <a:ext cx="2354403" cy="39242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Textfeld 21"/>
              <p:cNvSpPr txBox="1"/>
              <p:nvPr/>
            </p:nvSpPr>
            <p:spPr>
              <a:xfrm>
                <a:off x="2623694" y="5131324"/>
                <a:ext cx="9775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de-DE" b="0" i="1" smtClean="0">
                          <a:latin typeface="Cambria Math"/>
                        </a:rPr>
                        <m:t>{</m:t>
                      </m:r>
                      <m:r>
                        <a:rPr lang="de-DE" b="0" i="1" smtClean="0">
                          <a:latin typeface="Cambria Math"/>
                        </a:rPr>
                        <m:t>𝑎</m:t>
                      </m:r>
                      <m:r>
                        <a:rPr lang="de-DE" b="0" i="1" smtClean="0">
                          <a:latin typeface="Cambria Math"/>
                        </a:rPr>
                        <m:t>, </m:t>
                      </m:r>
                      <m:r>
                        <a:rPr lang="de-DE" b="0" i="1" smtClean="0">
                          <a:latin typeface="Cambria Math"/>
                        </a:rPr>
                        <m:t>𝑐</m:t>
                      </m:r>
                      <m:r>
                        <a:rPr lang="de-DE" b="0" i="1" smtClean="0">
                          <a:latin typeface="Cambria Math"/>
                        </a:rPr>
                        <m:t>, </m:t>
                      </m:r>
                      <m:r>
                        <a:rPr lang="de-DE" b="0" i="1" smtClean="0">
                          <a:latin typeface="Cambria Math"/>
                        </a:rPr>
                        <m:t>𝑑</m:t>
                      </m:r>
                      <m:r>
                        <a:rPr lang="de-DE" b="0" i="1" dirty="0" smtClean="0">
                          <a:latin typeface="Cambria Math"/>
                        </a:rPr>
                        <m:t>}</m:t>
                      </m:r>
                    </m:oMath>
                  </m:oMathPara>
                </a14:m>
                <a:endParaRPr lang="de-DE" dirty="0"/>
              </a:p>
            </p:txBody>
          </p:sp>
        </mc:Choice>
        <mc:Fallback xmlns="">
          <p:sp>
            <p:nvSpPr>
              <p:cNvPr id="22" name="Textfeld 21"/>
              <p:cNvSpPr txBox="1">
                <a:spLocks noRot="1" noChangeAspect="1" noMove="1" noResize="1" noEditPoints="1" noAdjustHandles="1" noChangeArrowheads="1" noChangeShapeType="1" noTextEdit="1"/>
              </p:cNvSpPr>
              <p:nvPr/>
            </p:nvSpPr>
            <p:spPr>
              <a:xfrm>
                <a:off x="2623694" y="5131324"/>
                <a:ext cx="977575" cy="369332"/>
              </a:xfrm>
              <a:prstGeom prst="rect">
                <a:avLst/>
              </a:prstGeom>
              <a:blipFill rotWithShape="1">
                <a:blip r:embed="rId9"/>
                <a:stretch>
                  <a:fillRect b="-16667"/>
                </a:stretch>
              </a:blipFill>
            </p:spPr>
            <p:txBody>
              <a:bodyPr/>
              <a:lstStyle/>
              <a:p>
                <a:r>
                  <a:rPr lang="de-DE">
                    <a:noFill/>
                  </a:rPr>
                  <a:t> </a:t>
                </a:r>
              </a:p>
            </p:txBody>
          </p:sp>
        </mc:Fallback>
      </mc:AlternateContent>
      <p:sp>
        <p:nvSpPr>
          <p:cNvPr id="3" name="Slide Number Placeholder 2"/>
          <p:cNvSpPr>
            <a:spLocks noGrp="1"/>
          </p:cNvSpPr>
          <p:nvPr>
            <p:ph type="sldNum" sz="quarter" idx="10"/>
          </p:nvPr>
        </p:nvSpPr>
        <p:spPr/>
        <p:txBody>
          <a:bodyPr/>
          <a:lstStyle/>
          <a:p>
            <a:pPr>
              <a:defRPr/>
            </a:pPr>
            <a:fld id="{7486D9C8-0CDB-4BF0-99FF-D7490CE4EFA3}" type="slidenum">
              <a:rPr lang="en-US" smtClean="0"/>
              <a:pPr>
                <a:defRPr/>
              </a:pPr>
              <a:t>59</a:t>
            </a:fld>
            <a:endParaRPr lang="en-US"/>
          </a:p>
        </p:txBody>
      </p:sp>
    </p:spTree>
    <p:extLst>
      <p:ext uri="{BB962C8B-B14F-4D97-AF65-F5344CB8AC3E}">
        <p14:creationId xmlns:p14="http://schemas.microsoft.com/office/powerpoint/2010/main" val="31294227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pPr algn="l"/>
            <a:r>
              <a:rPr lang="de-DE" sz="2700" b="1" dirty="0" err="1" smtClean="0">
                <a:solidFill>
                  <a:schemeClr val="bg1">
                    <a:lumMod val="50000"/>
                  </a:schemeClr>
                </a:solidFill>
              </a:rPr>
              <a:t>Inductive</a:t>
            </a:r>
            <a:r>
              <a:rPr lang="de-DE" sz="2700" b="1" dirty="0" smtClean="0">
                <a:solidFill>
                  <a:schemeClr val="bg1">
                    <a:lumMod val="50000"/>
                  </a:schemeClr>
                </a:solidFill>
              </a:rPr>
              <a:t> </a:t>
            </a:r>
            <a:r>
              <a:rPr lang="de-DE" sz="2700" b="1" dirty="0" err="1" smtClean="0">
                <a:solidFill>
                  <a:schemeClr val="bg1">
                    <a:lumMod val="50000"/>
                  </a:schemeClr>
                </a:solidFill>
              </a:rPr>
              <a:t>Validity</a:t>
            </a:r>
            <a:r>
              <a:rPr lang="de-DE" sz="2700" b="1" dirty="0" smtClean="0">
                <a:solidFill>
                  <a:schemeClr val="bg1">
                    <a:lumMod val="50000"/>
                  </a:schemeClr>
                </a:solidFill>
              </a:rPr>
              <a:t> Cores</a:t>
            </a:r>
            <a:r>
              <a:rPr lang="de-DE" sz="3600" dirty="0"/>
              <a:t/>
            </a:r>
            <a:br>
              <a:rPr lang="de-DE" sz="3600" dirty="0"/>
            </a:br>
            <a:endParaRPr lang="de-DE" sz="3600" b="1" dirty="0">
              <a:solidFill>
                <a:schemeClr val="bg1">
                  <a:lumMod val="50000"/>
                </a:schemeClr>
              </a:solidFill>
            </a:endParaRPr>
          </a:p>
        </p:txBody>
      </p:sp>
      <p:sp>
        <p:nvSpPr>
          <p:cNvPr id="14" name="Textfeld 13"/>
          <p:cNvSpPr txBox="1"/>
          <p:nvPr/>
        </p:nvSpPr>
        <p:spPr>
          <a:xfrm>
            <a:off x="1975879" y="3848100"/>
            <a:ext cx="5039841" cy="1200329"/>
          </a:xfrm>
          <a:prstGeom prst="rect">
            <a:avLst/>
          </a:prstGeom>
          <a:noFill/>
        </p:spPr>
        <p:txBody>
          <a:bodyPr wrap="none" rtlCol="0">
            <a:spAutoFit/>
          </a:bodyPr>
          <a:lstStyle/>
          <a:p>
            <a:r>
              <a:rPr lang="de-DE" sz="2400" b="1" dirty="0"/>
              <a:t>All IVCs : All minimal </a:t>
            </a:r>
            <a:r>
              <a:rPr lang="de-DE" sz="2400" b="1" dirty="0" err="1"/>
              <a:t>sets</a:t>
            </a:r>
            <a:r>
              <a:rPr lang="de-DE" sz="2400" b="1" dirty="0"/>
              <a:t> </a:t>
            </a:r>
            <a:r>
              <a:rPr lang="de-DE" sz="2400" b="1" dirty="0" err="1"/>
              <a:t>of</a:t>
            </a:r>
            <a:r>
              <a:rPr lang="de-DE" sz="2400" b="1" dirty="0"/>
              <a:t> </a:t>
            </a:r>
            <a:r>
              <a:rPr lang="de-DE" sz="2400" b="1" dirty="0" err="1"/>
              <a:t>elements</a:t>
            </a:r>
            <a:r>
              <a:rPr lang="de-DE" sz="2400" b="1" dirty="0"/>
              <a:t> </a:t>
            </a:r>
          </a:p>
          <a:p>
            <a:r>
              <a:rPr lang="de-DE" sz="2400" b="1" dirty="0"/>
              <a:t>        </a:t>
            </a:r>
            <a:r>
              <a:rPr lang="de-DE" sz="2400" b="1" dirty="0" err="1"/>
              <a:t>needed</a:t>
            </a:r>
            <a:r>
              <a:rPr lang="de-DE" sz="2400" b="1" dirty="0"/>
              <a:t> </a:t>
            </a:r>
            <a:r>
              <a:rPr lang="de-DE" sz="2400" b="1" dirty="0" err="1"/>
              <a:t>to</a:t>
            </a:r>
            <a:r>
              <a:rPr lang="de-DE" sz="2400" b="1" dirty="0"/>
              <a:t> </a:t>
            </a:r>
            <a:r>
              <a:rPr lang="de-DE" sz="2400" b="1" dirty="0" err="1"/>
              <a:t>prove</a:t>
            </a:r>
            <a:r>
              <a:rPr lang="de-DE" sz="2400" b="1" dirty="0"/>
              <a:t> </a:t>
            </a:r>
            <a:r>
              <a:rPr lang="de-DE" sz="2400" b="1" dirty="0" err="1"/>
              <a:t>the</a:t>
            </a:r>
            <a:r>
              <a:rPr lang="de-DE" sz="2400" b="1" dirty="0"/>
              <a:t> </a:t>
            </a:r>
          </a:p>
          <a:p>
            <a:r>
              <a:rPr lang="de-DE" sz="2400" b="1" dirty="0"/>
              <a:t>        </a:t>
            </a:r>
            <a:r>
              <a:rPr lang="de-DE" sz="2400" b="1" dirty="0" err="1"/>
              <a:t>Safety</a:t>
            </a:r>
            <a:r>
              <a:rPr lang="de-DE" sz="2400" b="1" dirty="0"/>
              <a:t> </a:t>
            </a:r>
            <a:r>
              <a:rPr lang="de-DE" sz="2400" b="1" dirty="0" smtClean="0"/>
              <a:t>Property</a:t>
            </a:r>
            <a:endParaRPr lang="de-DE" sz="2400" b="1" dirty="0"/>
          </a:p>
        </p:txBody>
      </p:sp>
      <p:sp>
        <p:nvSpPr>
          <p:cNvPr id="18" name="Rechteck 17"/>
          <p:cNvSpPr/>
          <p:nvPr/>
        </p:nvSpPr>
        <p:spPr>
          <a:xfrm>
            <a:off x="3198948" y="1763558"/>
            <a:ext cx="2402314" cy="585788"/>
          </a:xfrm>
          <a:prstGeom prst="rect">
            <a:avLst/>
          </a:prstGeom>
          <a:solidFill>
            <a:schemeClr val="accent2">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de-DE" dirty="0" err="1" smtClean="0"/>
              <a:t>Safety</a:t>
            </a:r>
            <a:r>
              <a:rPr lang="de-DE" dirty="0" smtClean="0"/>
              <a:t> Property</a:t>
            </a:r>
            <a:endParaRPr lang="de-DE" dirty="0"/>
          </a:p>
        </p:txBody>
      </p:sp>
      <mc:AlternateContent xmlns:mc="http://schemas.openxmlformats.org/markup-compatibility/2006" xmlns:a14="http://schemas.microsoft.com/office/drawing/2010/main">
        <mc:Choice Requires="a14">
          <p:sp>
            <p:nvSpPr>
              <p:cNvPr id="20" name="Ellipse 19"/>
              <p:cNvSpPr/>
              <p:nvPr/>
            </p:nvSpPr>
            <p:spPr>
              <a:xfrm>
                <a:off x="1975879" y="2765298"/>
                <a:ext cx="647815" cy="585788"/>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𝑎</m:t>
                      </m:r>
                    </m:oMath>
                  </m:oMathPara>
                </a14:m>
                <a:endParaRPr lang="de-DE" dirty="0"/>
              </a:p>
            </p:txBody>
          </p:sp>
        </mc:Choice>
        <mc:Fallback xmlns="">
          <p:sp>
            <p:nvSpPr>
              <p:cNvPr id="20" name="Ellipse 19"/>
              <p:cNvSpPr>
                <a:spLocks noRot="1" noChangeAspect="1" noMove="1" noResize="1" noEditPoints="1" noAdjustHandles="1" noChangeArrowheads="1" noChangeShapeType="1" noTextEdit="1"/>
              </p:cNvSpPr>
              <p:nvPr/>
            </p:nvSpPr>
            <p:spPr>
              <a:xfrm>
                <a:off x="1975879" y="2765298"/>
                <a:ext cx="647815" cy="585788"/>
              </a:xfrm>
              <a:prstGeom prst="ellipse">
                <a:avLst/>
              </a:prstGeom>
              <a:blipFill rotWithShape="1">
                <a:blip r:embed="rId3"/>
                <a:stretch>
                  <a:fillRect/>
                </a:stretch>
              </a:blipFill>
              <a:ln>
                <a:solidFill>
                  <a:srgbClr val="FF0000"/>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1" name="Ellipse 20"/>
              <p:cNvSpPr/>
              <p:nvPr/>
            </p:nvSpPr>
            <p:spPr>
              <a:xfrm>
                <a:off x="2864342" y="2765298"/>
                <a:ext cx="647815" cy="585788"/>
              </a:xfrm>
              <a:prstGeom prst="ellipse">
                <a:avLst/>
              </a:prstGeom>
              <a:solidFill>
                <a:srgbClr val="0070C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𝑏</m:t>
                      </m:r>
                    </m:oMath>
                  </m:oMathPara>
                </a14:m>
                <a:endParaRPr lang="de-DE" dirty="0"/>
              </a:p>
            </p:txBody>
          </p:sp>
        </mc:Choice>
        <mc:Fallback xmlns="">
          <p:sp>
            <p:nvSpPr>
              <p:cNvPr id="21" name="Ellipse 20"/>
              <p:cNvSpPr>
                <a:spLocks noRot="1" noChangeAspect="1" noMove="1" noResize="1" noEditPoints="1" noAdjustHandles="1" noChangeArrowheads="1" noChangeShapeType="1" noTextEdit="1"/>
              </p:cNvSpPr>
              <p:nvPr/>
            </p:nvSpPr>
            <p:spPr>
              <a:xfrm>
                <a:off x="2864342" y="2765298"/>
                <a:ext cx="647815" cy="585788"/>
              </a:xfrm>
              <a:prstGeom prst="ellipse">
                <a:avLst/>
              </a:prstGeom>
              <a:blipFill rotWithShape="1">
                <a:blip r:embed="rId4"/>
                <a:stretch>
                  <a:fillRect/>
                </a:stretch>
              </a:blipFill>
              <a:ln>
                <a:solidFill>
                  <a:srgbClr val="00B050"/>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3" name="Ellipse 22"/>
              <p:cNvSpPr/>
              <p:nvPr/>
            </p:nvSpPr>
            <p:spPr>
              <a:xfrm>
                <a:off x="3738275" y="2788824"/>
                <a:ext cx="647815" cy="585788"/>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𝑐</m:t>
                      </m:r>
                    </m:oMath>
                  </m:oMathPara>
                </a14:m>
                <a:endParaRPr lang="de-DE" dirty="0"/>
              </a:p>
            </p:txBody>
          </p:sp>
        </mc:Choice>
        <mc:Fallback xmlns="">
          <p:sp>
            <p:nvSpPr>
              <p:cNvPr id="23" name="Ellipse 22"/>
              <p:cNvSpPr>
                <a:spLocks noRot="1" noChangeAspect="1" noMove="1" noResize="1" noEditPoints="1" noAdjustHandles="1" noChangeArrowheads="1" noChangeShapeType="1" noTextEdit="1"/>
              </p:cNvSpPr>
              <p:nvPr/>
            </p:nvSpPr>
            <p:spPr>
              <a:xfrm>
                <a:off x="3738275" y="2788824"/>
                <a:ext cx="647815" cy="585788"/>
              </a:xfrm>
              <a:prstGeom prst="ellipse">
                <a:avLst/>
              </a:prstGeom>
              <a:blipFill rotWithShape="1">
                <a:blip r:embed="rId5"/>
                <a:stretch>
                  <a:fillRect/>
                </a:stretch>
              </a:blipFill>
              <a:ln>
                <a:solidFill>
                  <a:srgbClr val="FF0000"/>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Ellipse 23"/>
              <p:cNvSpPr/>
              <p:nvPr/>
            </p:nvSpPr>
            <p:spPr>
              <a:xfrm>
                <a:off x="4659037" y="2743579"/>
                <a:ext cx="647815" cy="585788"/>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𝑑</m:t>
                      </m:r>
                    </m:oMath>
                  </m:oMathPara>
                </a14:m>
                <a:endParaRPr lang="de-DE" dirty="0"/>
              </a:p>
            </p:txBody>
          </p:sp>
        </mc:Choice>
        <mc:Fallback xmlns="">
          <p:sp>
            <p:nvSpPr>
              <p:cNvPr id="24" name="Ellipse 23"/>
              <p:cNvSpPr>
                <a:spLocks noRot="1" noChangeAspect="1" noMove="1" noResize="1" noEditPoints="1" noAdjustHandles="1" noChangeArrowheads="1" noChangeShapeType="1" noTextEdit="1"/>
              </p:cNvSpPr>
              <p:nvPr/>
            </p:nvSpPr>
            <p:spPr>
              <a:xfrm>
                <a:off x="4659037" y="2743579"/>
                <a:ext cx="647815" cy="585788"/>
              </a:xfrm>
              <a:prstGeom prst="ellipse">
                <a:avLst/>
              </a:prstGeom>
              <a:blipFill rotWithShape="1">
                <a:blip r:embed="rId6"/>
                <a:stretch>
                  <a:fillRect/>
                </a:stretch>
              </a:blipFill>
              <a:ln>
                <a:solidFill>
                  <a:srgbClr val="FF0000"/>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6" name="Ellipse 25"/>
              <p:cNvSpPr/>
              <p:nvPr/>
            </p:nvSpPr>
            <p:spPr>
              <a:xfrm>
                <a:off x="5528526" y="2743579"/>
                <a:ext cx="647815" cy="585788"/>
              </a:xfrm>
              <a:prstGeom prst="ellipse">
                <a:avLst/>
              </a:prstGeom>
              <a:solidFill>
                <a:srgbClr val="0070C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𝑒</m:t>
                      </m:r>
                    </m:oMath>
                  </m:oMathPara>
                </a14:m>
                <a:endParaRPr lang="de-DE" dirty="0"/>
              </a:p>
            </p:txBody>
          </p:sp>
        </mc:Choice>
        <mc:Fallback xmlns="">
          <p:sp>
            <p:nvSpPr>
              <p:cNvPr id="26" name="Ellipse 25"/>
              <p:cNvSpPr>
                <a:spLocks noRot="1" noChangeAspect="1" noMove="1" noResize="1" noEditPoints="1" noAdjustHandles="1" noChangeArrowheads="1" noChangeShapeType="1" noTextEdit="1"/>
              </p:cNvSpPr>
              <p:nvPr/>
            </p:nvSpPr>
            <p:spPr>
              <a:xfrm>
                <a:off x="5528526" y="2743579"/>
                <a:ext cx="647815" cy="585788"/>
              </a:xfrm>
              <a:prstGeom prst="ellipse">
                <a:avLst/>
              </a:prstGeom>
              <a:blipFill rotWithShape="1">
                <a:blip r:embed="rId7"/>
                <a:stretch>
                  <a:fillRect/>
                </a:stretch>
              </a:blipFill>
              <a:ln>
                <a:solidFill>
                  <a:srgbClr val="00B050"/>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Ellipse 26"/>
              <p:cNvSpPr/>
              <p:nvPr/>
            </p:nvSpPr>
            <p:spPr>
              <a:xfrm>
                <a:off x="6430600" y="2741772"/>
                <a:ext cx="647815" cy="585788"/>
              </a:xfrm>
              <a:prstGeom prst="ellipse">
                <a:avLst/>
              </a:prstGeom>
              <a:solidFill>
                <a:srgbClr val="0070C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de-DE" i="1" smtClean="0">
                          <a:latin typeface="Cambria Math"/>
                        </a:rPr>
                        <m:t>𝑓</m:t>
                      </m:r>
                    </m:oMath>
                  </m:oMathPara>
                </a14:m>
                <a:endParaRPr lang="de-DE" dirty="0"/>
              </a:p>
            </p:txBody>
          </p:sp>
        </mc:Choice>
        <mc:Fallback xmlns="">
          <p:sp>
            <p:nvSpPr>
              <p:cNvPr id="27" name="Ellipse 26"/>
              <p:cNvSpPr>
                <a:spLocks noRot="1" noChangeAspect="1" noMove="1" noResize="1" noEditPoints="1" noAdjustHandles="1" noChangeArrowheads="1" noChangeShapeType="1" noTextEdit="1"/>
              </p:cNvSpPr>
              <p:nvPr/>
            </p:nvSpPr>
            <p:spPr>
              <a:xfrm>
                <a:off x="6430600" y="2741772"/>
                <a:ext cx="647815" cy="585788"/>
              </a:xfrm>
              <a:prstGeom prst="ellipse">
                <a:avLst/>
              </a:prstGeom>
              <a:blipFill rotWithShape="1">
                <a:blip r:embed="rId8"/>
                <a:stretch>
                  <a:fillRect/>
                </a:stretch>
              </a:blipFill>
              <a:ln>
                <a:solidFill>
                  <a:srgbClr val="00B050"/>
                </a:solidFill>
              </a:ln>
            </p:spPr>
            <p:txBody>
              <a:bodyPr/>
              <a:lstStyle/>
              <a:p>
                <a:r>
                  <a:rPr lang="de-DE">
                    <a:noFill/>
                  </a:rPr>
                  <a:t> </a:t>
                </a:r>
              </a:p>
            </p:txBody>
          </p:sp>
        </mc:Fallback>
      </mc:AlternateContent>
      <p:cxnSp>
        <p:nvCxnSpPr>
          <p:cNvPr id="29" name="Gerade Verbindung mit Pfeil 28"/>
          <p:cNvCxnSpPr>
            <a:stCxn id="20" idx="0"/>
            <a:endCxn id="18" idx="2"/>
          </p:cNvCxnSpPr>
          <p:nvPr/>
        </p:nvCxnSpPr>
        <p:spPr>
          <a:xfrm flipV="1">
            <a:off x="2299787" y="2349346"/>
            <a:ext cx="2100318" cy="4159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Gerade Verbindung mit Pfeil 29"/>
          <p:cNvCxnSpPr>
            <a:stCxn id="21" idx="0"/>
            <a:endCxn id="18" idx="2"/>
          </p:cNvCxnSpPr>
          <p:nvPr/>
        </p:nvCxnSpPr>
        <p:spPr>
          <a:xfrm flipV="1">
            <a:off x="3188250" y="2349346"/>
            <a:ext cx="1211855" cy="4159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Gerade Verbindung mit Pfeil 30"/>
          <p:cNvCxnSpPr>
            <a:stCxn id="23" idx="0"/>
            <a:endCxn id="18" idx="2"/>
          </p:cNvCxnSpPr>
          <p:nvPr/>
        </p:nvCxnSpPr>
        <p:spPr>
          <a:xfrm flipV="1">
            <a:off x="4062183" y="2349346"/>
            <a:ext cx="337922" cy="43947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Gerade Verbindung mit Pfeil 31"/>
          <p:cNvCxnSpPr>
            <a:stCxn id="24" idx="0"/>
            <a:endCxn id="18" idx="2"/>
          </p:cNvCxnSpPr>
          <p:nvPr/>
        </p:nvCxnSpPr>
        <p:spPr>
          <a:xfrm flipH="1" flipV="1">
            <a:off x="4400105" y="2349346"/>
            <a:ext cx="582840" cy="3942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Gerade Verbindung mit Pfeil 32"/>
          <p:cNvCxnSpPr>
            <a:stCxn id="26" idx="0"/>
            <a:endCxn id="18" idx="2"/>
          </p:cNvCxnSpPr>
          <p:nvPr/>
        </p:nvCxnSpPr>
        <p:spPr>
          <a:xfrm flipH="1" flipV="1">
            <a:off x="4400105" y="2349346"/>
            <a:ext cx="1452329" cy="3942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Gerade Verbindung mit Pfeil 33"/>
          <p:cNvCxnSpPr>
            <a:stCxn id="27" idx="0"/>
            <a:endCxn id="18" idx="2"/>
          </p:cNvCxnSpPr>
          <p:nvPr/>
        </p:nvCxnSpPr>
        <p:spPr>
          <a:xfrm flipH="1" flipV="1">
            <a:off x="4400105" y="2349346"/>
            <a:ext cx="2354403" cy="39242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 name="Textfeld 2"/>
              <p:cNvSpPr txBox="1"/>
              <p:nvPr/>
            </p:nvSpPr>
            <p:spPr>
              <a:xfrm>
                <a:off x="2570766" y="5233012"/>
                <a:ext cx="1884940" cy="369332"/>
              </a:xfrm>
              <a:prstGeom prst="rect">
                <a:avLst/>
              </a:prstGeom>
              <a:noFill/>
            </p:spPr>
            <p:txBody>
              <a:bodyPr wrap="none" rtlCol="0">
                <a:spAutoFit/>
              </a:bodyPr>
              <a:lstStyle/>
              <a:p>
                <a14:m>
                  <m:oMath xmlns:m="http://schemas.openxmlformats.org/officeDocument/2006/math">
                    <m:r>
                      <a:rPr lang="de-DE" b="0" i="1" smtClean="0">
                        <a:latin typeface="Cambria Math"/>
                      </a:rPr>
                      <m:t>{</m:t>
                    </m:r>
                    <m:d>
                      <m:dPr>
                        <m:begChr m:val="{"/>
                        <m:endChr m:val="}"/>
                        <m:ctrlPr>
                          <a:rPr lang="de-DE" b="0" i="1" smtClean="0">
                            <a:latin typeface="Cambria Math"/>
                          </a:rPr>
                        </m:ctrlPr>
                      </m:dPr>
                      <m:e>
                        <m:r>
                          <a:rPr lang="de-DE" b="0" i="1" smtClean="0">
                            <a:latin typeface="Cambria Math"/>
                          </a:rPr>
                          <m:t>𝑎</m:t>
                        </m:r>
                        <m:r>
                          <a:rPr lang="de-DE" b="0" i="1" smtClean="0">
                            <a:latin typeface="Cambria Math"/>
                          </a:rPr>
                          <m:t>, </m:t>
                        </m:r>
                        <m:r>
                          <a:rPr lang="de-DE" b="0" i="1" smtClean="0">
                            <a:latin typeface="Cambria Math"/>
                          </a:rPr>
                          <m:t>𝑐</m:t>
                        </m:r>
                        <m:r>
                          <a:rPr lang="de-DE" b="0" i="1" smtClean="0">
                            <a:latin typeface="Cambria Math"/>
                          </a:rPr>
                          <m:t>, </m:t>
                        </m:r>
                        <m:r>
                          <a:rPr lang="de-DE" b="0" i="1" smtClean="0">
                            <a:latin typeface="Cambria Math"/>
                          </a:rPr>
                          <m:t>𝑑</m:t>
                        </m:r>
                      </m:e>
                    </m:d>
                    <m:r>
                      <a:rPr lang="de-DE" b="0" i="1" smtClean="0">
                        <a:latin typeface="Cambria Math"/>
                      </a:rPr>
                      <m:t>, </m:t>
                    </m:r>
                  </m:oMath>
                </a14:m>
                <a:r>
                  <a:rPr lang="de-DE" dirty="0" smtClean="0"/>
                  <a:t>{</a:t>
                </a:r>
                <a14:m>
                  <m:oMath xmlns:m="http://schemas.openxmlformats.org/officeDocument/2006/math">
                    <m:r>
                      <a:rPr lang="de-DE" b="0" i="1" dirty="0" smtClean="0">
                        <a:latin typeface="Cambria Math"/>
                      </a:rPr>
                      <m:t>𝑏</m:t>
                    </m:r>
                    <m:r>
                      <a:rPr lang="de-DE" b="0" i="1" dirty="0" smtClean="0">
                        <a:latin typeface="Cambria Math"/>
                      </a:rPr>
                      <m:t>, </m:t>
                    </m:r>
                    <m:r>
                      <a:rPr lang="de-DE" b="0" i="1" dirty="0" smtClean="0">
                        <a:latin typeface="Cambria Math"/>
                      </a:rPr>
                      <m:t>𝑒</m:t>
                    </m:r>
                    <m:r>
                      <a:rPr lang="de-DE" b="0" i="1" dirty="0" smtClean="0">
                        <a:latin typeface="Cambria Math"/>
                      </a:rPr>
                      <m:t>, </m:t>
                    </m:r>
                    <m:r>
                      <a:rPr lang="de-DE" b="0" i="1" dirty="0" smtClean="0">
                        <a:latin typeface="Cambria Math"/>
                      </a:rPr>
                      <m:t>𝑓</m:t>
                    </m:r>
                  </m:oMath>
                </a14:m>
                <a:r>
                  <a:rPr lang="de-DE" dirty="0" smtClean="0"/>
                  <a:t>}}</a:t>
                </a:r>
                <a:endParaRPr lang="de-DE" dirty="0"/>
              </a:p>
            </p:txBody>
          </p:sp>
        </mc:Choice>
        <mc:Fallback xmlns="">
          <p:sp>
            <p:nvSpPr>
              <p:cNvPr id="3" name="Textfeld 2"/>
              <p:cNvSpPr txBox="1">
                <a:spLocks noRot="1" noChangeAspect="1" noMove="1" noResize="1" noEditPoints="1" noAdjustHandles="1" noChangeArrowheads="1" noChangeShapeType="1" noTextEdit="1"/>
              </p:cNvSpPr>
              <p:nvPr/>
            </p:nvSpPr>
            <p:spPr>
              <a:xfrm>
                <a:off x="2570766" y="5233012"/>
                <a:ext cx="1884940" cy="369332"/>
              </a:xfrm>
              <a:prstGeom prst="rect">
                <a:avLst/>
              </a:prstGeom>
              <a:blipFill rotWithShape="1">
                <a:blip r:embed="rId9"/>
                <a:stretch>
                  <a:fillRect l="-1294" t="-8197" r="-1942" b="-24590"/>
                </a:stretch>
              </a:blipFill>
            </p:spPr>
            <p:txBody>
              <a:bodyPr/>
              <a:lstStyle/>
              <a:p>
                <a:r>
                  <a:rPr lang="de-DE">
                    <a:noFill/>
                  </a:rPr>
                  <a:t> </a:t>
                </a:r>
              </a:p>
            </p:txBody>
          </p:sp>
        </mc:Fallback>
      </mc:AlternateContent>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60</a:t>
            </a:fld>
            <a:endParaRPr lang="en-US"/>
          </a:p>
        </p:txBody>
      </p:sp>
    </p:spTree>
    <p:extLst>
      <p:ext uri="{BB962C8B-B14F-4D97-AF65-F5344CB8AC3E}">
        <p14:creationId xmlns:p14="http://schemas.microsoft.com/office/powerpoint/2010/main" val="26656215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pPr algn="l"/>
            <a:r>
              <a:rPr lang="de-DE" sz="2700" b="1" dirty="0" err="1">
                <a:solidFill>
                  <a:schemeClr val="bg1">
                    <a:lumMod val="50000"/>
                  </a:schemeClr>
                </a:solidFill>
              </a:rPr>
              <a:t>Inductive</a:t>
            </a:r>
            <a:r>
              <a:rPr lang="de-DE" sz="2700" b="1" dirty="0">
                <a:solidFill>
                  <a:schemeClr val="bg1">
                    <a:lumMod val="50000"/>
                  </a:schemeClr>
                </a:solidFill>
              </a:rPr>
              <a:t> </a:t>
            </a:r>
            <a:r>
              <a:rPr lang="de-DE" sz="2700" b="1" dirty="0" err="1">
                <a:solidFill>
                  <a:schemeClr val="bg1">
                    <a:lumMod val="50000"/>
                  </a:schemeClr>
                </a:solidFill>
              </a:rPr>
              <a:t>Validity</a:t>
            </a:r>
            <a:r>
              <a:rPr lang="de-DE" sz="2700" b="1" dirty="0">
                <a:solidFill>
                  <a:schemeClr val="bg1">
                    <a:lumMod val="50000"/>
                  </a:schemeClr>
                </a:solidFill>
              </a:rPr>
              <a:t> Cores </a:t>
            </a:r>
            <a:r>
              <a:rPr lang="de-DE" sz="2700" b="1" dirty="0" err="1">
                <a:solidFill>
                  <a:schemeClr val="bg1">
                    <a:lumMod val="50000"/>
                  </a:schemeClr>
                </a:solidFill>
              </a:rPr>
              <a:t>with</a:t>
            </a:r>
            <a:r>
              <a:rPr lang="de-DE" sz="2700" b="1" dirty="0">
                <a:solidFill>
                  <a:schemeClr val="bg1">
                    <a:lumMod val="50000"/>
                  </a:schemeClr>
                </a:solidFill>
              </a:rPr>
              <a:t> </a:t>
            </a:r>
            <a:r>
              <a:rPr lang="de-DE" sz="2700" b="1" dirty="0" err="1">
                <a:solidFill>
                  <a:schemeClr val="bg1">
                    <a:lumMod val="50000"/>
                  </a:schemeClr>
                </a:solidFill>
              </a:rPr>
              <a:t>Faults</a:t>
            </a:r>
            <a:r>
              <a:rPr lang="de-DE" sz="3600" dirty="0"/>
              <a:t/>
            </a:r>
            <a:br>
              <a:rPr lang="de-DE" sz="3600" dirty="0"/>
            </a:br>
            <a:endParaRPr lang="de-DE" sz="3600" b="1" dirty="0">
              <a:solidFill>
                <a:schemeClr val="bg1">
                  <a:lumMod val="50000"/>
                </a:schemeClr>
              </a:solidFill>
            </a:endParaRPr>
          </a:p>
        </p:txBody>
      </p:sp>
      <mc:AlternateContent xmlns:mc="http://schemas.openxmlformats.org/markup-compatibility/2006" xmlns:a14="http://schemas.microsoft.com/office/drawing/2010/main">
        <mc:Choice Requires="a14">
          <p:sp>
            <p:nvSpPr>
              <p:cNvPr id="14" name="Textfeld 13"/>
              <p:cNvSpPr txBox="1"/>
              <p:nvPr/>
            </p:nvSpPr>
            <p:spPr>
              <a:xfrm>
                <a:off x="1346538" y="3846723"/>
                <a:ext cx="6689973" cy="461665"/>
              </a:xfrm>
              <a:prstGeom prst="rect">
                <a:avLst/>
              </a:prstGeom>
              <a:noFill/>
            </p:spPr>
            <p:txBody>
              <a:bodyPr wrap="none" rtlCol="0">
                <a:spAutoFit/>
              </a:bodyPr>
              <a:lstStyle/>
              <a:p>
                <a:r>
                  <a:rPr lang="de-DE" sz="2400" dirty="0" smtClean="0"/>
                  <a:t>Model Elements : </a:t>
                </a:r>
                <a14:m>
                  <m:oMath xmlns:m="http://schemas.openxmlformats.org/officeDocument/2006/math">
                    <m:r>
                      <a:rPr lang="de-DE" sz="2400" b="0" i="1" smtClean="0">
                        <a:latin typeface="Cambria Math"/>
                      </a:rPr>
                      <m:t>{</m:t>
                    </m:r>
                    <m:r>
                      <a:rPr lang="de-DE" sz="2400" b="0" i="1" smtClean="0">
                        <a:latin typeface="Cambria Math"/>
                      </a:rPr>
                      <m:t>𝐹𝑎𝑢𝑙𝑡𝑠</m:t>
                    </m:r>
                    <m:r>
                      <a:rPr lang="de-DE" sz="2400" b="0" i="1" smtClean="0">
                        <a:latin typeface="Cambria Math"/>
                      </a:rPr>
                      <m:t>=</m:t>
                    </m:r>
                    <m:r>
                      <a:rPr lang="de-DE" sz="2400" b="0" i="1" smtClean="0">
                        <a:latin typeface="Cambria Math"/>
                      </a:rPr>
                      <m:t>𝐹𝐴𝐿𝑆𝐸</m:t>
                    </m:r>
                    <m:r>
                      <a:rPr lang="de-DE" sz="2400" b="0" i="1" smtClean="0">
                        <a:latin typeface="Cambria Math"/>
                      </a:rPr>
                      <m:t>, </m:t>
                    </m:r>
                    <m:r>
                      <a:rPr lang="de-DE" sz="2400" b="0" i="1" smtClean="0">
                        <a:latin typeface="Cambria Math"/>
                      </a:rPr>
                      <m:t>𝐺𝑢𝑎𝑟𝑎𝑛𝑡𝑒𝑒𝑠</m:t>
                    </m:r>
                    <m:r>
                      <a:rPr lang="de-DE" sz="2400" b="0" i="1" smtClean="0">
                        <a:latin typeface="Cambria Math"/>
                      </a:rPr>
                      <m:t>}</m:t>
                    </m:r>
                  </m:oMath>
                </a14:m>
                <a:r>
                  <a:rPr lang="de-DE" sz="2400" dirty="0" smtClean="0"/>
                  <a:t> </a:t>
                </a:r>
                <a:endParaRPr lang="de-DE" sz="2400" b="1" dirty="0"/>
              </a:p>
            </p:txBody>
          </p:sp>
        </mc:Choice>
        <mc:Fallback xmlns="">
          <p:sp>
            <p:nvSpPr>
              <p:cNvPr id="14" name="Textfeld 13"/>
              <p:cNvSpPr txBox="1">
                <a:spLocks noRot="1" noChangeAspect="1" noMove="1" noResize="1" noEditPoints="1" noAdjustHandles="1" noChangeArrowheads="1" noChangeShapeType="1" noTextEdit="1"/>
              </p:cNvSpPr>
              <p:nvPr/>
            </p:nvSpPr>
            <p:spPr>
              <a:xfrm>
                <a:off x="1346538" y="3846723"/>
                <a:ext cx="6689973" cy="461665"/>
              </a:xfrm>
              <a:prstGeom prst="rect">
                <a:avLst/>
              </a:prstGeom>
              <a:blipFill rotWithShape="1">
                <a:blip r:embed="rId3"/>
                <a:stretch>
                  <a:fillRect l="-1459" t="-10526" b="-28947"/>
                </a:stretch>
              </a:blipFill>
            </p:spPr>
            <p:txBody>
              <a:bodyPr/>
              <a:lstStyle/>
              <a:p>
                <a:r>
                  <a:rPr lang="de-DE">
                    <a:noFill/>
                  </a:rPr>
                  <a:t> </a:t>
                </a:r>
              </a:p>
            </p:txBody>
          </p:sp>
        </mc:Fallback>
      </mc:AlternateContent>
      <p:sp>
        <p:nvSpPr>
          <p:cNvPr id="18" name="Rechteck 17"/>
          <p:cNvSpPr/>
          <p:nvPr/>
        </p:nvSpPr>
        <p:spPr>
          <a:xfrm>
            <a:off x="3198948" y="1763558"/>
            <a:ext cx="2402314" cy="585788"/>
          </a:xfrm>
          <a:prstGeom prst="rect">
            <a:avLst/>
          </a:prstGeom>
          <a:solidFill>
            <a:schemeClr val="accent2">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de-DE" dirty="0" err="1" smtClean="0"/>
              <a:t>Safety</a:t>
            </a:r>
            <a:r>
              <a:rPr lang="de-DE" dirty="0" smtClean="0"/>
              <a:t> Property</a:t>
            </a:r>
            <a:endParaRPr lang="de-DE" dirty="0"/>
          </a:p>
        </p:txBody>
      </p:sp>
      <mc:AlternateContent xmlns:mc="http://schemas.openxmlformats.org/markup-compatibility/2006" xmlns:a14="http://schemas.microsoft.com/office/drawing/2010/main">
        <mc:Choice Requires="a14">
          <p:sp>
            <p:nvSpPr>
              <p:cNvPr id="20" name="Ellipse 19"/>
              <p:cNvSpPr/>
              <p:nvPr/>
            </p:nvSpPr>
            <p:spPr>
              <a:xfrm>
                <a:off x="1975879" y="2765298"/>
                <a:ext cx="647815" cy="585788"/>
              </a:xfrm>
              <a:prstGeom prst="ellipse">
                <a:avLst/>
              </a:prstGeom>
              <a:solidFill>
                <a:schemeClr val="accent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de-DE" i="1" smtClean="0">
                              <a:latin typeface="Cambria Math"/>
                            </a:rPr>
                          </m:ctrlPr>
                        </m:sSubPr>
                        <m:e>
                          <m:r>
                            <a:rPr lang="de-DE" b="0" i="1" smtClean="0">
                              <a:latin typeface="Cambria Math"/>
                            </a:rPr>
                            <m:t>!</m:t>
                          </m:r>
                          <m:r>
                            <a:rPr lang="de-DE" b="0" i="1" smtClean="0">
                              <a:latin typeface="Cambria Math"/>
                            </a:rPr>
                            <m:t>𝑓</m:t>
                          </m:r>
                        </m:e>
                        <m:sub>
                          <m:r>
                            <a:rPr lang="de-DE" b="0" i="1" smtClean="0">
                              <a:latin typeface="Cambria Math"/>
                            </a:rPr>
                            <m:t>1</m:t>
                          </m:r>
                        </m:sub>
                      </m:sSub>
                    </m:oMath>
                  </m:oMathPara>
                </a14:m>
                <a:endParaRPr lang="de-DE" dirty="0"/>
              </a:p>
            </p:txBody>
          </p:sp>
        </mc:Choice>
        <mc:Fallback xmlns="">
          <p:sp>
            <p:nvSpPr>
              <p:cNvPr id="20" name="Ellipse 19"/>
              <p:cNvSpPr>
                <a:spLocks noRot="1" noChangeAspect="1" noMove="1" noResize="1" noEditPoints="1" noAdjustHandles="1" noChangeArrowheads="1" noChangeShapeType="1" noTextEdit="1"/>
              </p:cNvSpPr>
              <p:nvPr/>
            </p:nvSpPr>
            <p:spPr>
              <a:xfrm>
                <a:off x="1975879" y="2765298"/>
                <a:ext cx="647815" cy="585788"/>
              </a:xfrm>
              <a:prstGeom prst="ellipse">
                <a:avLst/>
              </a:prstGeom>
              <a:blipFill rotWithShape="1">
                <a:blip r:embed="rId4"/>
                <a:stretch>
                  <a:fillRect/>
                </a:stretch>
              </a:blipFill>
              <a:ln>
                <a:solidFill>
                  <a:schemeClr val="tx2">
                    <a:lumMod val="60000"/>
                    <a:lumOff val="40000"/>
                  </a:schemeClr>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1" name="Ellipse 20"/>
              <p:cNvSpPr/>
              <p:nvPr/>
            </p:nvSpPr>
            <p:spPr>
              <a:xfrm>
                <a:off x="2864342" y="2765298"/>
                <a:ext cx="647815" cy="585788"/>
              </a:xfrm>
              <a:prstGeom prst="ellipse">
                <a:avLst/>
              </a:prstGeom>
              <a:solidFill>
                <a:schemeClr val="accent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de-DE" i="1" smtClean="0">
                              <a:latin typeface="Cambria Math"/>
                            </a:rPr>
                          </m:ctrlPr>
                        </m:sSubPr>
                        <m:e>
                          <m:r>
                            <a:rPr lang="de-DE" b="0" i="1" smtClean="0">
                              <a:latin typeface="Cambria Math"/>
                            </a:rPr>
                            <m:t>!</m:t>
                          </m:r>
                          <m:r>
                            <a:rPr lang="de-DE" i="1">
                              <a:latin typeface="Cambria Math"/>
                            </a:rPr>
                            <m:t>𝑓</m:t>
                          </m:r>
                        </m:e>
                        <m:sub>
                          <m:r>
                            <a:rPr lang="de-DE" b="0" i="1" smtClean="0">
                              <a:latin typeface="Cambria Math"/>
                            </a:rPr>
                            <m:t>2</m:t>
                          </m:r>
                        </m:sub>
                      </m:sSub>
                    </m:oMath>
                  </m:oMathPara>
                </a14:m>
                <a:endParaRPr lang="de-DE" dirty="0"/>
              </a:p>
            </p:txBody>
          </p:sp>
        </mc:Choice>
        <mc:Fallback xmlns="">
          <p:sp>
            <p:nvSpPr>
              <p:cNvPr id="21" name="Ellipse 20"/>
              <p:cNvSpPr>
                <a:spLocks noRot="1" noChangeAspect="1" noMove="1" noResize="1" noEditPoints="1" noAdjustHandles="1" noChangeArrowheads="1" noChangeShapeType="1" noTextEdit="1"/>
              </p:cNvSpPr>
              <p:nvPr/>
            </p:nvSpPr>
            <p:spPr>
              <a:xfrm>
                <a:off x="2864342" y="2765298"/>
                <a:ext cx="647815" cy="585788"/>
              </a:xfrm>
              <a:prstGeom prst="ellipse">
                <a:avLst/>
              </a:prstGeom>
              <a:blipFill rotWithShape="1">
                <a:blip r:embed="rId5"/>
                <a:stretch>
                  <a:fillRect/>
                </a:stretch>
              </a:blipFill>
              <a:ln>
                <a:solidFill>
                  <a:schemeClr val="tx2">
                    <a:lumMod val="60000"/>
                    <a:lumOff val="40000"/>
                  </a:schemeClr>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3" name="Ellipse 22"/>
              <p:cNvSpPr/>
              <p:nvPr/>
            </p:nvSpPr>
            <p:spPr>
              <a:xfrm>
                <a:off x="3738275" y="2788824"/>
                <a:ext cx="647815" cy="585788"/>
              </a:xfrm>
              <a:prstGeom prst="ellipse">
                <a:avLst/>
              </a:prstGeom>
              <a:solidFill>
                <a:schemeClr val="accent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de-DE" i="1" smtClean="0">
                              <a:latin typeface="Cambria Math"/>
                            </a:rPr>
                          </m:ctrlPr>
                        </m:sSubPr>
                        <m:e>
                          <m:r>
                            <a:rPr lang="de-DE" b="0" i="1" smtClean="0">
                              <a:latin typeface="Cambria Math"/>
                            </a:rPr>
                            <m:t>!</m:t>
                          </m:r>
                          <m:r>
                            <a:rPr lang="de-DE" i="1">
                              <a:latin typeface="Cambria Math"/>
                            </a:rPr>
                            <m:t>𝑓</m:t>
                          </m:r>
                        </m:e>
                        <m:sub>
                          <m:r>
                            <a:rPr lang="de-DE" b="0" i="1" smtClean="0">
                              <a:latin typeface="Cambria Math"/>
                            </a:rPr>
                            <m:t>3</m:t>
                          </m:r>
                        </m:sub>
                      </m:sSub>
                    </m:oMath>
                  </m:oMathPara>
                </a14:m>
                <a:endParaRPr lang="de-DE" dirty="0"/>
              </a:p>
            </p:txBody>
          </p:sp>
        </mc:Choice>
        <mc:Fallback xmlns="">
          <p:sp>
            <p:nvSpPr>
              <p:cNvPr id="23" name="Ellipse 22"/>
              <p:cNvSpPr>
                <a:spLocks noRot="1" noChangeAspect="1" noMove="1" noResize="1" noEditPoints="1" noAdjustHandles="1" noChangeArrowheads="1" noChangeShapeType="1" noTextEdit="1"/>
              </p:cNvSpPr>
              <p:nvPr/>
            </p:nvSpPr>
            <p:spPr>
              <a:xfrm>
                <a:off x="3738275" y="2788824"/>
                <a:ext cx="647815" cy="585788"/>
              </a:xfrm>
              <a:prstGeom prst="ellipse">
                <a:avLst/>
              </a:prstGeom>
              <a:blipFill rotWithShape="1">
                <a:blip r:embed="rId6"/>
                <a:stretch>
                  <a:fillRect/>
                </a:stretch>
              </a:blipFill>
              <a:ln>
                <a:solidFill>
                  <a:schemeClr val="tx2">
                    <a:lumMod val="60000"/>
                    <a:lumOff val="40000"/>
                  </a:schemeClr>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Ellipse 23"/>
              <p:cNvSpPr/>
              <p:nvPr/>
            </p:nvSpPr>
            <p:spPr>
              <a:xfrm>
                <a:off x="4659037" y="2743579"/>
                <a:ext cx="647815" cy="585788"/>
              </a:xfrm>
              <a:prstGeom prst="ellipse">
                <a:avLst/>
              </a:prstGeom>
              <a:solidFill>
                <a:schemeClr val="accent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de-DE" i="1" smtClean="0">
                              <a:latin typeface="Cambria Math"/>
                            </a:rPr>
                          </m:ctrlPr>
                        </m:sSubPr>
                        <m:e>
                          <m:r>
                            <a:rPr lang="de-DE" b="0" i="1" smtClean="0">
                              <a:latin typeface="Cambria Math"/>
                            </a:rPr>
                            <m:t>𝑔</m:t>
                          </m:r>
                        </m:e>
                        <m:sub>
                          <m:r>
                            <a:rPr lang="de-DE" b="0" i="1" smtClean="0">
                              <a:latin typeface="Cambria Math"/>
                            </a:rPr>
                            <m:t>1</m:t>
                          </m:r>
                        </m:sub>
                      </m:sSub>
                    </m:oMath>
                  </m:oMathPara>
                </a14:m>
                <a:endParaRPr lang="de-DE" dirty="0"/>
              </a:p>
            </p:txBody>
          </p:sp>
        </mc:Choice>
        <mc:Fallback xmlns="">
          <p:sp>
            <p:nvSpPr>
              <p:cNvPr id="24" name="Ellipse 23"/>
              <p:cNvSpPr>
                <a:spLocks noRot="1" noChangeAspect="1" noMove="1" noResize="1" noEditPoints="1" noAdjustHandles="1" noChangeArrowheads="1" noChangeShapeType="1" noTextEdit="1"/>
              </p:cNvSpPr>
              <p:nvPr/>
            </p:nvSpPr>
            <p:spPr>
              <a:xfrm>
                <a:off x="4659037" y="2743579"/>
                <a:ext cx="647815" cy="585788"/>
              </a:xfrm>
              <a:prstGeom prst="ellipse">
                <a:avLst/>
              </a:prstGeom>
              <a:blipFill rotWithShape="1">
                <a:blip r:embed="rId7"/>
                <a:stretch>
                  <a:fillRect/>
                </a:stretch>
              </a:blipFill>
              <a:ln>
                <a:solidFill>
                  <a:schemeClr val="tx2">
                    <a:lumMod val="60000"/>
                    <a:lumOff val="40000"/>
                  </a:schemeClr>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6" name="Ellipse 25"/>
              <p:cNvSpPr/>
              <p:nvPr/>
            </p:nvSpPr>
            <p:spPr>
              <a:xfrm>
                <a:off x="5528526" y="2743579"/>
                <a:ext cx="647815" cy="585788"/>
              </a:xfrm>
              <a:prstGeom prst="ellipse">
                <a:avLst/>
              </a:prstGeom>
              <a:solidFill>
                <a:schemeClr val="accent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de-DE" i="1" smtClean="0">
                              <a:latin typeface="Cambria Math"/>
                            </a:rPr>
                          </m:ctrlPr>
                        </m:sSubPr>
                        <m:e>
                          <m:r>
                            <a:rPr lang="de-DE" i="1">
                              <a:latin typeface="Cambria Math"/>
                            </a:rPr>
                            <m:t>𝑔</m:t>
                          </m:r>
                        </m:e>
                        <m:sub>
                          <m:r>
                            <a:rPr lang="de-DE" b="0" i="1" smtClean="0">
                              <a:latin typeface="Cambria Math"/>
                            </a:rPr>
                            <m:t>2</m:t>
                          </m:r>
                        </m:sub>
                      </m:sSub>
                    </m:oMath>
                  </m:oMathPara>
                </a14:m>
                <a:endParaRPr lang="de-DE" dirty="0"/>
              </a:p>
            </p:txBody>
          </p:sp>
        </mc:Choice>
        <mc:Fallback xmlns="">
          <p:sp>
            <p:nvSpPr>
              <p:cNvPr id="26" name="Ellipse 25"/>
              <p:cNvSpPr>
                <a:spLocks noRot="1" noChangeAspect="1" noMove="1" noResize="1" noEditPoints="1" noAdjustHandles="1" noChangeArrowheads="1" noChangeShapeType="1" noTextEdit="1"/>
              </p:cNvSpPr>
              <p:nvPr/>
            </p:nvSpPr>
            <p:spPr>
              <a:xfrm>
                <a:off x="5528526" y="2743579"/>
                <a:ext cx="647815" cy="585788"/>
              </a:xfrm>
              <a:prstGeom prst="ellipse">
                <a:avLst/>
              </a:prstGeom>
              <a:blipFill rotWithShape="1">
                <a:blip r:embed="rId8"/>
                <a:stretch>
                  <a:fillRect/>
                </a:stretch>
              </a:blipFill>
              <a:ln>
                <a:solidFill>
                  <a:schemeClr val="tx2">
                    <a:lumMod val="60000"/>
                    <a:lumOff val="40000"/>
                  </a:schemeClr>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Ellipse 26"/>
              <p:cNvSpPr/>
              <p:nvPr/>
            </p:nvSpPr>
            <p:spPr>
              <a:xfrm>
                <a:off x="6430600" y="2741772"/>
                <a:ext cx="647815" cy="585788"/>
              </a:xfrm>
              <a:prstGeom prst="ellipse">
                <a:avLst/>
              </a:prstGeom>
              <a:solidFill>
                <a:schemeClr val="accent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de-DE" i="1" smtClean="0">
                              <a:latin typeface="Cambria Math"/>
                            </a:rPr>
                          </m:ctrlPr>
                        </m:sSubPr>
                        <m:e>
                          <m:r>
                            <a:rPr lang="de-DE" i="1">
                              <a:latin typeface="Cambria Math"/>
                            </a:rPr>
                            <m:t>𝑔</m:t>
                          </m:r>
                        </m:e>
                        <m:sub>
                          <m:r>
                            <a:rPr lang="de-DE" b="0" i="1" smtClean="0">
                              <a:latin typeface="Cambria Math"/>
                            </a:rPr>
                            <m:t>3</m:t>
                          </m:r>
                        </m:sub>
                      </m:sSub>
                    </m:oMath>
                  </m:oMathPara>
                </a14:m>
                <a:endParaRPr lang="de-DE" dirty="0"/>
              </a:p>
            </p:txBody>
          </p:sp>
        </mc:Choice>
        <mc:Fallback xmlns="">
          <p:sp>
            <p:nvSpPr>
              <p:cNvPr id="27" name="Ellipse 26"/>
              <p:cNvSpPr>
                <a:spLocks noRot="1" noChangeAspect="1" noMove="1" noResize="1" noEditPoints="1" noAdjustHandles="1" noChangeArrowheads="1" noChangeShapeType="1" noTextEdit="1"/>
              </p:cNvSpPr>
              <p:nvPr/>
            </p:nvSpPr>
            <p:spPr>
              <a:xfrm>
                <a:off x="6430600" y="2741772"/>
                <a:ext cx="647815" cy="585788"/>
              </a:xfrm>
              <a:prstGeom prst="ellipse">
                <a:avLst/>
              </a:prstGeom>
              <a:blipFill rotWithShape="1">
                <a:blip r:embed="rId9"/>
                <a:stretch>
                  <a:fillRect/>
                </a:stretch>
              </a:blipFill>
              <a:ln>
                <a:solidFill>
                  <a:schemeClr val="tx2">
                    <a:lumMod val="60000"/>
                    <a:lumOff val="40000"/>
                  </a:schemeClr>
                </a:solidFill>
              </a:ln>
            </p:spPr>
            <p:txBody>
              <a:bodyPr/>
              <a:lstStyle/>
              <a:p>
                <a:r>
                  <a:rPr lang="de-DE">
                    <a:noFill/>
                  </a:rPr>
                  <a:t> </a:t>
                </a:r>
              </a:p>
            </p:txBody>
          </p:sp>
        </mc:Fallback>
      </mc:AlternateContent>
      <p:cxnSp>
        <p:nvCxnSpPr>
          <p:cNvPr id="29" name="Gerade Verbindung mit Pfeil 28"/>
          <p:cNvCxnSpPr>
            <a:stCxn id="20" idx="0"/>
            <a:endCxn id="18" idx="2"/>
          </p:cNvCxnSpPr>
          <p:nvPr/>
        </p:nvCxnSpPr>
        <p:spPr>
          <a:xfrm flipV="1">
            <a:off x="2299787" y="2349346"/>
            <a:ext cx="2100318" cy="4159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Gerade Verbindung mit Pfeil 29"/>
          <p:cNvCxnSpPr>
            <a:stCxn id="21" idx="0"/>
            <a:endCxn id="18" idx="2"/>
          </p:cNvCxnSpPr>
          <p:nvPr/>
        </p:nvCxnSpPr>
        <p:spPr>
          <a:xfrm flipV="1">
            <a:off x="3188250" y="2349346"/>
            <a:ext cx="1211855" cy="4159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Gerade Verbindung mit Pfeil 30"/>
          <p:cNvCxnSpPr>
            <a:stCxn id="23" idx="0"/>
            <a:endCxn id="18" idx="2"/>
          </p:cNvCxnSpPr>
          <p:nvPr/>
        </p:nvCxnSpPr>
        <p:spPr>
          <a:xfrm flipV="1">
            <a:off x="4062183" y="2349346"/>
            <a:ext cx="337922" cy="43947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Gerade Verbindung mit Pfeil 31"/>
          <p:cNvCxnSpPr>
            <a:stCxn id="24" idx="0"/>
            <a:endCxn id="18" idx="2"/>
          </p:cNvCxnSpPr>
          <p:nvPr/>
        </p:nvCxnSpPr>
        <p:spPr>
          <a:xfrm flipH="1" flipV="1">
            <a:off x="4400105" y="2349346"/>
            <a:ext cx="582840" cy="3942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Gerade Verbindung mit Pfeil 32"/>
          <p:cNvCxnSpPr>
            <a:stCxn id="26" idx="0"/>
            <a:endCxn id="18" idx="2"/>
          </p:cNvCxnSpPr>
          <p:nvPr/>
        </p:nvCxnSpPr>
        <p:spPr>
          <a:xfrm flipH="1" flipV="1">
            <a:off x="4400105" y="2349346"/>
            <a:ext cx="1452329" cy="3942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Gerade Verbindung mit Pfeil 33"/>
          <p:cNvCxnSpPr>
            <a:stCxn id="27" idx="0"/>
            <a:endCxn id="18" idx="2"/>
          </p:cNvCxnSpPr>
          <p:nvPr/>
        </p:nvCxnSpPr>
        <p:spPr>
          <a:xfrm flipH="1" flipV="1">
            <a:off x="4400105" y="2349346"/>
            <a:ext cx="2354403" cy="39242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 name="Slide Number Placeholder 2"/>
          <p:cNvSpPr>
            <a:spLocks noGrp="1"/>
          </p:cNvSpPr>
          <p:nvPr>
            <p:ph type="sldNum" sz="quarter" idx="10"/>
          </p:nvPr>
        </p:nvSpPr>
        <p:spPr/>
        <p:txBody>
          <a:bodyPr/>
          <a:lstStyle/>
          <a:p>
            <a:pPr>
              <a:defRPr/>
            </a:pPr>
            <a:fld id="{7486D9C8-0CDB-4BF0-99FF-D7490CE4EFA3}" type="slidenum">
              <a:rPr lang="en-US" smtClean="0"/>
              <a:pPr>
                <a:defRPr/>
              </a:pPr>
              <a:t>61</a:t>
            </a:fld>
            <a:endParaRPr lang="en-US"/>
          </a:p>
        </p:txBody>
      </p:sp>
    </p:spTree>
    <p:extLst>
      <p:ext uri="{BB962C8B-B14F-4D97-AF65-F5344CB8AC3E}">
        <p14:creationId xmlns:p14="http://schemas.microsoft.com/office/powerpoint/2010/main" val="17983457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feld 13"/>
          <p:cNvSpPr txBox="1"/>
          <p:nvPr/>
        </p:nvSpPr>
        <p:spPr>
          <a:xfrm>
            <a:off x="1975879" y="3848100"/>
            <a:ext cx="5039841" cy="1200329"/>
          </a:xfrm>
          <a:prstGeom prst="rect">
            <a:avLst/>
          </a:prstGeom>
          <a:noFill/>
        </p:spPr>
        <p:txBody>
          <a:bodyPr wrap="none" rtlCol="0">
            <a:spAutoFit/>
          </a:bodyPr>
          <a:lstStyle/>
          <a:p>
            <a:r>
              <a:rPr lang="de-DE" sz="2400" b="1" dirty="0"/>
              <a:t>All IVCs : All minimal </a:t>
            </a:r>
            <a:r>
              <a:rPr lang="de-DE" sz="2400" b="1" dirty="0" err="1"/>
              <a:t>sets</a:t>
            </a:r>
            <a:r>
              <a:rPr lang="de-DE" sz="2400" b="1" dirty="0"/>
              <a:t> </a:t>
            </a:r>
            <a:r>
              <a:rPr lang="de-DE" sz="2400" b="1" dirty="0" err="1"/>
              <a:t>of</a:t>
            </a:r>
            <a:r>
              <a:rPr lang="de-DE" sz="2400" b="1" dirty="0"/>
              <a:t> </a:t>
            </a:r>
            <a:r>
              <a:rPr lang="de-DE" sz="2400" b="1" dirty="0" err="1"/>
              <a:t>elements</a:t>
            </a:r>
            <a:r>
              <a:rPr lang="de-DE" sz="2400" b="1" dirty="0"/>
              <a:t> </a:t>
            </a:r>
          </a:p>
          <a:p>
            <a:r>
              <a:rPr lang="de-DE" sz="2400" b="1" dirty="0"/>
              <a:t>        </a:t>
            </a:r>
            <a:r>
              <a:rPr lang="de-DE" sz="2400" b="1" dirty="0" err="1"/>
              <a:t>needed</a:t>
            </a:r>
            <a:r>
              <a:rPr lang="de-DE" sz="2400" b="1" dirty="0"/>
              <a:t> </a:t>
            </a:r>
            <a:r>
              <a:rPr lang="de-DE" sz="2400" b="1" dirty="0" err="1"/>
              <a:t>to</a:t>
            </a:r>
            <a:r>
              <a:rPr lang="de-DE" sz="2400" b="1" dirty="0"/>
              <a:t> </a:t>
            </a:r>
            <a:r>
              <a:rPr lang="de-DE" sz="2400" b="1" dirty="0" err="1"/>
              <a:t>prove</a:t>
            </a:r>
            <a:r>
              <a:rPr lang="de-DE" sz="2400" b="1" dirty="0"/>
              <a:t> </a:t>
            </a:r>
            <a:r>
              <a:rPr lang="de-DE" sz="2400" b="1" dirty="0" err="1"/>
              <a:t>the</a:t>
            </a:r>
            <a:r>
              <a:rPr lang="de-DE" sz="2400" b="1" dirty="0"/>
              <a:t> </a:t>
            </a:r>
          </a:p>
          <a:p>
            <a:r>
              <a:rPr lang="de-DE" sz="2400" b="1" dirty="0"/>
              <a:t>        </a:t>
            </a:r>
            <a:r>
              <a:rPr lang="de-DE" sz="2400" b="1" dirty="0" err="1"/>
              <a:t>Safety</a:t>
            </a:r>
            <a:r>
              <a:rPr lang="de-DE" sz="2400" b="1" dirty="0"/>
              <a:t> </a:t>
            </a:r>
            <a:r>
              <a:rPr lang="de-DE" sz="2400" b="1" dirty="0" smtClean="0"/>
              <a:t>Property</a:t>
            </a:r>
            <a:endParaRPr lang="de-DE" sz="2400" b="1" dirty="0"/>
          </a:p>
        </p:txBody>
      </p:sp>
      <p:sp>
        <p:nvSpPr>
          <p:cNvPr id="18" name="Rechteck 17"/>
          <p:cNvSpPr/>
          <p:nvPr/>
        </p:nvSpPr>
        <p:spPr>
          <a:xfrm>
            <a:off x="3198948" y="1763558"/>
            <a:ext cx="2402314" cy="585788"/>
          </a:xfrm>
          <a:prstGeom prst="rect">
            <a:avLst/>
          </a:prstGeom>
          <a:solidFill>
            <a:schemeClr val="accent2">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de-DE" dirty="0" err="1" smtClean="0"/>
              <a:t>Safety</a:t>
            </a:r>
            <a:r>
              <a:rPr lang="de-DE" dirty="0" smtClean="0"/>
              <a:t> Property</a:t>
            </a:r>
            <a:endParaRPr lang="de-DE" dirty="0"/>
          </a:p>
        </p:txBody>
      </p:sp>
      <mc:AlternateContent xmlns:mc="http://schemas.openxmlformats.org/markup-compatibility/2006" xmlns:a14="http://schemas.microsoft.com/office/drawing/2010/main">
        <mc:Choice Requires="a14">
          <p:sp>
            <p:nvSpPr>
              <p:cNvPr id="20" name="Ellipse 19"/>
              <p:cNvSpPr/>
              <p:nvPr/>
            </p:nvSpPr>
            <p:spPr>
              <a:xfrm>
                <a:off x="1975879" y="2765298"/>
                <a:ext cx="647815" cy="585788"/>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de-DE" i="1" smtClean="0">
                              <a:latin typeface="Cambria Math"/>
                            </a:rPr>
                          </m:ctrlPr>
                        </m:sSubPr>
                        <m:e>
                          <m:r>
                            <a:rPr lang="de-DE" b="0" i="1" smtClean="0">
                              <a:latin typeface="Cambria Math"/>
                            </a:rPr>
                            <m:t>!</m:t>
                          </m:r>
                          <m:r>
                            <a:rPr lang="de-DE" b="0" i="1" smtClean="0">
                              <a:latin typeface="Cambria Math"/>
                            </a:rPr>
                            <m:t>𝑓</m:t>
                          </m:r>
                        </m:e>
                        <m:sub>
                          <m:r>
                            <a:rPr lang="de-DE" b="0" i="1" smtClean="0">
                              <a:latin typeface="Cambria Math"/>
                            </a:rPr>
                            <m:t>1</m:t>
                          </m:r>
                        </m:sub>
                      </m:sSub>
                    </m:oMath>
                  </m:oMathPara>
                </a14:m>
                <a:endParaRPr lang="de-DE" dirty="0"/>
              </a:p>
            </p:txBody>
          </p:sp>
        </mc:Choice>
        <mc:Fallback xmlns="">
          <p:sp>
            <p:nvSpPr>
              <p:cNvPr id="20" name="Ellipse 19"/>
              <p:cNvSpPr>
                <a:spLocks noRot="1" noChangeAspect="1" noMove="1" noResize="1" noEditPoints="1" noAdjustHandles="1" noChangeArrowheads="1" noChangeShapeType="1" noTextEdit="1"/>
              </p:cNvSpPr>
              <p:nvPr/>
            </p:nvSpPr>
            <p:spPr>
              <a:xfrm>
                <a:off x="1975879" y="2765298"/>
                <a:ext cx="647815" cy="585788"/>
              </a:xfrm>
              <a:prstGeom prst="ellipse">
                <a:avLst/>
              </a:prstGeom>
              <a:blipFill rotWithShape="1">
                <a:blip r:embed="rId3"/>
                <a:stretch>
                  <a:fillRect/>
                </a:stretch>
              </a:blipFill>
              <a:ln>
                <a:solidFill>
                  <a:srgbClr val="FF0000"/>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1" name="Ellipse 20"/>
              <p:cNvSpPr/>
              <p:nvPr/>
            </p:nvSpPr>
            <p:spPr>
              <a:xfrm>
                <a:off x="2864342" y="2765298"/>
                <a:ext cx="647815" cy="585788"/>
              </a:xfrm>
              <a:prstGeom prst="ellipse">
                <a:avLst/>
              </a:prstGeom>
              <a:solidFill>
                <a:srgbClr val="0070C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de-DE" i="1" smtClean="0">
                              <a:latin typeface="Cambria Math"/>
                            </a:rPr>
                          </m:ctrlPr>
                        </m:sSubPr>
                        <m:e>
                          <m:r>
                            <a:rPr lang="de-DE" b="0" i="1" smtClean="0">
                              <a:latin typeface="Cambria Math"/>
                            </a:rPr>
                            <m:t>!</m:t>
                          </m:r>
                          <m:r>
                            <a:rPr lang="de-DE" i="1">
                              <a:latin typeface="Cambria Math"/>
                            </a:rPr>
                            <m:t>𝑓</m:t>
                          </m:r>
                        </m:e>
                        <m:sub>
                          <m:r>
                            <a:rPr lang="de-DE" b="0" i="1" smtClean="0">
                              <a:latin typeface="Cambria Math"/>
                            </a:rPr>
                            <m:t>2</m:t>
                          </m:r>
                        </m:sub>
                      </m:sSub>
                    </m:oMath>
                  </m:oMathPara>
                </a14:m>
                <a:endParaRPr lang="de-DE" dirty="0"/>
              </a:p>
            </p:txBody>
          </p:sp>
        </mc:Choice>
        <mc:Fallback xmlns="">
          <p:sp>
            <p:nvSpPr>
              <p:cNvPr id="21" name="Ellipse 20"/>
              <p:cNvSpPr>
                <a:spLocks noRot="1" noChangeAspect="1" noMove="1" noResize="1" noEditPoints="1" noAdjustHandles="1" noChangeArrowheads="1" noChangeShapeType="1" noTextEdit="1"/>
              </p:cNvSpPr>
              <p:nvPr/>
            </p:nvSpPr>
            <p:spPr>
              <a:xfrm>
                <a:off x="2864342" y="2765298"/>
                <a:ext cx="647815" cy="585788"/>
              </a:xfrm>
              <a:prstGeom prst="ellipse">
                <a:avLst/>
              </a:prstGeom>
              <a:blipFill rotWithShape="1">
                <a:blip r:embed="rId4"/>
                <a:stretch>
                  <a:fillRect/>
                </a:stretch>
              </a:blipFill>
              <a:ln>
                <a:solidFill>
                  <a:srgbClr val="00B050"/>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3" name="Ellipse 22"/>
              <p:cNvSpPr/>
              <p:nvPr/>
            </p:nvSpPr>
            <p:spPr>
              <a:xfrm>
                <a:off x="3738275" y="2788824"/>
                <a:ext cx="647815" cy="585788"/>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de-DE" i="1" smtClean="0">
                              <a:latin typeface="Cambria Math"/>
                            </a:rPr>
                          </m:ctrlPr>
                        </m:sSubPr>
                        <m:e>
                          <m:r>
                            <a:rPr lang="de-DE" b="0" i="1" smtClean="0">
                              <a:latin typeface="Cambria Math"/>
                            </a:rPr>
                            <m:t>!</m:t>
                          </m:r>
                          <m:r>
                            <a:rPr lang="de-DE" i="1">
                              <a:latin typeface="Cambria Math"/>
                            </a:rPr>
                            <m:t>𝑓</m:t>
                          </m:r>
                        </m:e>
                        <m:sub>
                          <m:r>
                            <a:rPr lang="de-DE" b="0" i="1" smtClean="0">
                              <a:latin typeface="Cambria Math"/>
                            </a:rPr>
                            <m:t>3</m:t>
                          </m:r>
                        </m:sub>
                      </m:sSub>
                    </m:oMath>
                  </m:oMathPara>
                </a14:m>
                <a:endParaRPr lang="de-DE" dirty="0"/>
              </a:p>
            </p:txBody>
          </p:sp>
        </mc:Choice>
        <mc:Fallback xmlns="">
          <p:sp>
            <p:nvSpPr>
              <p:cNvPr id="23" name="Ellipse 22"/>
              <p:cNvSpPr>
                <a:spLocks noRot="1" noChangeAspect="1" noMove="1" noResize="1" noEditPoints="1" noAdjustHandles="1" noChangeArrowheads="1" noChangeShapeType="1" noTextEdit="1"/>
              </p:cNvSpPr>
              <p:nvPr/>
            </p:nvSpPr>
            <p:spPr>
              <a:xfrm>
                <a:off x="3738275" y="2788824"/>
                <a:ext cx="647815" cy="585788"/>
              </a:xfrm>
              <a:prstGeom prst="ellipse">
                <a:avLst/>
              </a:prstGeom>
              <a:blipFill rotWithShape="1">
                <a:blip r:embed="rId5"/>
                <a:stretch>
                  <a:fillRect/>
                </a:stretch>
              </a:blipFill>
              <a:ln>
                <a:solidFill>
                  <a:srgbClr val="FF0000"/>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Ellipse 23"/>
              <p:cNvSpPr/>
              <p:nvPr/>
            </p:nvSpPr>
            <p:spPr>
              <a:xfrm>
                <a:off x="4659037" y="2743579"/>
                <a:ext cx="647815" cy="585788"/>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de-DE" i="1" smtClean="0">
                              <a:latin typeface="Cambria Math"/>
                            </a:rPr>
                          </m:ctrlPr>
                        </m:sSubPr>
                        <m:e>
                          <m:r>
                            <a:rPr lang="de-DE" b="0" i="1" smtClean="0">
                              <a:latin typeface="Cambria Math"/>
                            </a:rPr>
                            <m:t>𝑔</m:t>
                          </m:r>
                        </m:e>
                        <m:sub>
                          <m:r>
                            <a:rPr lang="de-DE" b="0" i="1" smtClean="0">
                              <a:latin typeface="Cambria Math"/>
                            </a:rPr>
                            <m:t>1</m:t>
                          </m:r>
                        </m:sub>
                      </m:sSub>
                    </m:oMath>
                  </m:oMathPara>
                </a14:m>
                <a:endParaRPr lang="de-DE" dirty="0"/>
              </a:p>
            </p:txBody>
          </p:sp>
        </mc:Choice>
        <mc:Fallback xmlns="">
          <p:sp>
            <p:nvSpPr>
              <p:cNvPr id="24" name="Ellipse 23"/>
              <p:cNvSpPr>
                <a:spLocks noRot="1" noChangeAspect="1" noMove="1" noResize="1" noEditPoints="1" noAdjustHandles="1" noChangeArrowheads="1" noChangeShapeType="1" noTextEdit="1"/>
              </p:cNvSpPr>
              <p:nvPr/>
            </p:nvSpPr>
            <p:spPr>
              <a:xfrm>
                <a:off x="4659037" y="2743579"/>
                <a:ext cx="647815" cy="585788"/>
              </a:xfrm>
              <a:prstGeom prst="ellipse">
                <a:avLst/>
              </a:prstGeom>
              <a:blipFill rotWithShape="1">
                <a:blip r:embed="rId6"/>
                <a:stretch>
                  <a:fillRect/>
                </a:stretch>
              </a:blipFill>
              <a:ln>
                <a:solidFill>
                  <a:srgbClr val="FF0000"/>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6" name="Ellipse 25"/>
              <p:cNvSpPr/>
              <p:nvPr/>
            </p:nvSpPr>
            <p:spPr>
              <a:xfrm>
                <a:off x="5528526" y="2743579"/>
                <a:ext cx="647815" cy="585788"/>
              </a:xfrm>
              <a:prstGeom prst="ellipse">
                <a:avLst/>
              </a:prstGeom>
              <a:solidFill>
                <a:srgbClr val="0070C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de-DE" i="1" smtClean="0">
                              <a:latin typeface="Cambria Math"/>
                            </a:rPr>
                          </m:ctrlPr>
                        </m:sSubPr>
                        <m:e>
                          <m:r>
                            <a:rPr lang="de-DE" i="1">
                              <a:latin typeface="Cambria Math"/>
                            </a:rPr>
                            <m:t>𝑔</m:t>
                          </m:r>
                        </m:e>
                        <m:sub>
                          <m:r>
                            <a:rPr lang="de-DE" b="0" i="1" smtClean="0">
                              <a:latin typeface="Cambria Math"/>
                            </a:rPr>
                            <m:t>2</m:t>
                          </m:r>
                        </m:sub>
                      </m:sSub>
                    </m:oMath>
                  </m:oMathPara>
                </a14:m>
                <a:endParaRPr lang="de-DE" dirty="0"/>
              </a:p>
            </p:txBody>
          </p:sp>
        </mc:Choice>
        <mc:Fallback xmlns="">
          <p:sp>
            <p:nvSpPr>
              <p:cNvPr id="26" name="Ellipse 25"/>
              <p:cNvSpPr>
                <a:spLocks noRot="1" noChangeAspect="1" noMove="1" noResize="1" noEditPoints="1" noAdjustHandles="1" noChangeArrowheads="1" noChangeShapeType="1" noTextEdit="1"/>
              </p:cNvSpPr>
              <p:nvPr/>
            </p:nvSpPr>
            <p:spPr>
              <a:xfrm>
                <a:off x="5528526" y="2743579"/>
                <a:ext cx="647815" cy="585788"/>
              </a:xfrm>
              <a:prstGeom prst="ellipse">
                <a:avLst/>
              </a:prstGeom>
              <a:blipFill rotWithShape="1">
                <a:blip r:embed="rId7"/>
                <a:stretch>
                  <a:fillRect/>
                </a:stretch>
              </a:blipFill>
              <a:ln>
                <a:solidFill>
                  <a:srgbClr val="00B050"/>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Ellipse 26"/>
              <p:cNvSpPr/>
              <p:nvPr/>
            </p:nvSpPr>
            <p:spPr>
              <a:xfrm>
                <a:off x="6430600" y="2741772"/>
                <a:ext cx="647815" cy="585788"/>
              </a:xfrm>
              <a:prstGeom prst="ellipse">
                <a:avLst/>
              </a:prstGeom>
              <a:solidFill>
                <a:srgbClr val="0070C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de-DE" i="1" smtClean="0">
                              <a:latin typeface="Cambria Math"/>
                            </a:rPr>
                          </m:ctrlPr>
                        </m:sSubPr>
                        <m:e>
                          <m:r>
                            <a:rPr lang="de-DE" i="1">
                              <a:latin typeface="Cambria Math"/>
                            </a:rPr>
                            <m:t>𝑔</m:t>
                          </m:r>
                        </m:e>
                        <m:sub>
                          <m:r>
                            <a:rPr lang="de-DE" b="0" i="1" smtClean="0">
                              <a:latin typeface="Cambria Math"/>
                            </a:rPr>
                            <m:t>3</m:t>
                          </m:r>
                        </m:sub>
                      </m:sSub>
                    </m:oMath>
                  </m:oMathPara>
                </a14:m>
                <a:endParaRPr lang="de-DE" dirty="0"/>
              </a:p>
            </p:txBody>
          </p:sp>
        </mc:Choice>
        <mc:Fallback xmlns="">
          <p:sp>
            <p:nvSpPr>
              <p:cNvPr id="27" name="Ellipse 26"/>
              <p:cNvSpPr>
                <a:spLocks noRot="1" noChangeAspect="1" noMove="1" noResize="1" noEditPoints="1" noAdjustHandles="1" noChangeArrowheads="1" noChangeShapeType="1" noTextEdit="1"/>
              </p:cNvSpPr>
              <p:nvPr/>
            </p:nvSpPr>
            <p:spPr>
              <a:xfrm>
                <a:off x="6430600" y="2741772"/>
                <a:ext cx="647815" cy="585788"/>
              </a:xfrm>
              <a:prstGeom prst="ellipse">
                <a:avLst/>
              </a:prstGeom>
              <a:blipFill rotWithShape="1">
                <a:blip r:embed="rId8"/>
                <a:stretch>
                  <a:fillRect/>
                </a:stretch>
              </a:blipFill>
              <a:ln>
                <a:solidFill>
                  <a:srgbClr val="00B050"/>
                </a:solidFill>
              </a:ln>
            </p:spPr>
            <p:txBody>
              <a:bodyPr/>
              <a:lstStyle/>
              <a:p>
                <a:r>
                  <a:rPr lang="de-DE">
                    <a:noFill/>
                  </a:rPr>
                  <a:t> </a:t>
                </a:r>
              </a:p>
            </p:txBody>
          </p:sp>
        </mc:Fallback>
      </mc:AlternateContent>
      <p:cxnSp>
        <p:nvCxnSpPr>
          <p:cNvPr id="29" name="Gerade Verbindung mit Pfeil 28"/>
          <p:cNvCxnSpPr>
            <a:stCxn id="20" idx="0"/>
            <a:endCxn id="18" idx="2"/>
          </p:cNvCxnSpPr>
          <p:nvPr/>
        </p:nvCxnSpPr>
        <p:spPr>
          <a:xfrm flipV="1">
            <a:off x="2299787" y="2349346"/>
            <a:ext cx="2100318" cy="4159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Gerade Verbindung mit Pfeil 29"/>
          <p:cNvCxnSpPr>
            <a:stCxn id="21" idx="0"/>
            <a:endCxn id="18" idx="2"/>
          </p:cNvCxnSpPr>
          <p:nvPr/>
        </p:nvCxnSpPr>
        <p:spPr>
          <a:xfrm flipV="1">
            <a:off x="3188250" y="2349346"/>
            <a:ext cx="1211855" cy="4159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Gerade Verbindung mit Pfeil 30"/>
          <p:cNvCxnSpPr>
            <a:stCxn id="23" idx="0"/>
            <a:endCxn id="18" idx="2"/>
          </p:cNvCxnSpPr>
          <p:nvPr/>
        </p:nvCxnSpPr>
        <p:spPr>
          <a:xfrm flipV="1">
            <a:off x="4062183" y="2349346"/>
            <a:ext cx="337922" cy="43947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Gerade Verbindung mit Pfeil 31"/>
          <p:cNvCxnSpPr>
            <a:stCxn id="24" idx="0"/>
            <a:endCxn id="18" idx="2"/>
          </p:cNvCxnSpPr>
          <p:nvPr/>
        </p:nvCxnSpPr>
        <p:spPr>
          <a:xfrm flipH="1" flipV="1">
            <a:off x="4400105" y="2349346"/>
            <a:ext cx="582840" cy="3942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Gerade Verbindung mit Pfeil 32"/>
          <p:cNvCxnSpPr>
            <a:stCxn id="26" idx="0"/>
            <a:endCxn id="18" idx="2"/>
          </p:cNvCxnSpPr>
          <p:nvPr/>
        </p:nvCxnSpPr>
        <p:spPr>
          <a:xfrm flipH="1" flipV="1">
            <a:off x="4400105" y="2349346"/>
            <a:ext cx="1452329" cy="3942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Gerade Verbindung mit Pfeil 33"/>
          <p:cNvCxnSpPr>
            <a:stCxn id="27" idx="0"/>
            <a:endCxn id="18" idx="2"/>
          </p:cNvCxnSpPr>
          <p:nvPr/>
        </p:nvCxnSpPr>
        <p:spPr>
          <a:xfrm flipH="1" flipV="1">
            <a:off x="4400105" y="2349346"/>
            <a:ext cx="2354403" cy="39242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 name="Textfeld 2"/>
              <p:cNvSpPr txBox="1"/>
              <p:nvPr/>
            </p:nvSpPr>
            <p:spPr>
              <a:xfrm>
                <a:off x="2570766" y="5233012"/>
                <a:ext cx="2847126" cy="369332"/>
              </a:xfrm>
              <a:prstGeom prst="rect">
                <a:avLst/>
              </a:prstGeom>
              <a:noFill/>
            </p:spPr>
            <p:txBody>
              <a:bodyPr wrap="none" rtlCol="0">
                <a:spAutoFit/>
              </a:bodyPr>
              <a:lstStyle/>
              <a:p>
                <a14:m>
                  <m:oMath xmlns:m="http://schemas.openxmlformats.org/officeDocument/2006/math">
                    <m:r>
                      <a:rPr lang="de-DE" b="0" i="1" smtClean="0">
                        <a:latin typeface="Cambria Math"/>
                      </a:rPr>
                      <m:t>{{!</m:t>
                    </m:r>
                    <m:sSub>
                      <m:sSubPr>
                        <m:ctrlPr>
                          <a:rPr lang="de-DE" b="0" i="1" smtClean="0">
                            <a:latin typeface="Cambria Math"/>
                          </a:rPr>
                        </m:ctrlPr>
                      </m:sSubPr>
                      <m:e>
                        <m:r>
                          <a:rPr lang="de-DE" b="0" i="1" smtClean="0">
                            <a:latin typeface="Cambria Math"/>
                          </a:rPr>
                          <m:t>𝑓</m:t>
                        </m:r>
                      </m:e>
                      <m:sub>
                        <m:r>
                          <a:rPr lang="de-DE" b="0" i="1" smtClean="0">
                            <a:latin typeface="Cambria Math"/>
                          </a:rPr>
                          <m:t>1</m:t>
                        </m:r>
                      </m:sub>
                    </m:sSub>
                  </m:oMath>
                </a14:m>
                <a:r>
                  <a:rPr lang="de-DE" dirty="0" smtClean="0"/>
                  <a:t>, !</a:t>
                </a:r>
                <a14:m>
                  <m:oMath xmlns:m="http://schemas.openxmlformats.org/officeDocument/2006/math">
                    <m:sSub>
                      <m:sSubPr>
                        <m:ctrlPr>
                          <a:rPr lang="de-DE" i="1" dirty="0" smtClean="0">
                            <a:latin typeface="Cambria Math"/>
                          </a:rPr>
                        </m:ctrlPr>
                      </m:sSubPr>
                      <m:e>
                        <m:r>
                          <a:rPr lang="de-DE" b="0" i="1" dirty="0" smtClean="0">
                            <a:latin typeface="Cambria Math"/>
                          </a:rPr>
                          <m:t>𝑓</m:t>
                        </m:r>
                      </m:e>
                      <m:sub>
                        <m:r>
                          <a:rPr lang="de-DE" b="0" i="1" dirty="0" smtClean="0">
                            <a:latin typeface="Cambria Math"/>
                          </a:rPr>
                          <m:t>3</m:t>
                        </m:r>
                      </m:sub>
                    </m:sSub>
                  </m:oMath>
                </a14:m>
                <a:r>
                  <a:rPr lang="de-DE" dirty="0" smtClean="0"/>
                  <a:t>, </a:t>
                </a:r>
                <a14:m>
                  <m:oMath xmlns:m="http://schemas.openxmlformats.org/officeDocument/2006/math">
                    <m:sSub>
                      <m:sSubPr>
                        <m:ctrlPr>
                          <a:rPr lang="de-DE" i="1" dirty="0" smtClean="0">
                            <a:latin typeface="Cambria Math"/>
                          </a:rPr>
                        </m:ctrlPr>
                      </m:sSubPr>
                      <m:e>
                        <m:r>
                          <a:rPr lang="de-DE" b="0" i="1" dirty="0" smtClean="0">
                            <a:latin typeface="Cambria Math"/>
                          </a:rPr>
                          <m:t>𝑔</m:t>
                        </m:r>
                      </m:e>
                      <m:sub>
                        <m:r>
                          <a:rPr lang="de-DE" b="0" i="1" dirty="0" smtClean="0">
                            <a:latin typeface="Cambria Math"/>
                          </a:rPr>
                          <m:t>1</m:t>
                        </m:r>
                      </m:sub>
                    </m:sSub>
                    <m:r>
                      <a:rPr lang="de-DE" b="0" i="1" dirty="0" smtClean="0">
                        <a:latin typeface="Cambria Math"/>
                      </a:rPr>
                      <m:t>}</m:t>
                    </m:r>
                  </m:oMath>
                </a14:m>
                <a:r>
                  <a:rPr lang="de-DE" dirty="0" smtClean="0"/>
                  <a:t>, {</a:t>
                </a:r>
                <a14:m>
                  <m:oMath xmlns:m="http://schemas.openxmlformats.org/officeDocument/2006/math">
                    <m:r>
                      <a:rPr lang="de-DE" i="1">
                        <a:latin typeface="Cambria Math"/>
                      </a:rPr>
                      <m:t>!</m:t>
                    </m:r>
                    <m:sSub>
                      <m:sSubPr>
                        <m:ctrlPr>
                          <a:rPr lang="de-DE" i="1">
                            <a:latin typeface="Cambria Math"/>
                          </a:rPr>
                        </m:ctrlPr>
                      </m:sSubPr>
                      <m:e>
                        <m:r>
                          <a:rPr lang="de-DE" i="1">
                            <a:latin typeface="Cambria Math"/>
                          </a:rPr>
                          <m:t>𝑓</m:t>
                        </m:r>
                      </m:e>
                      <m:sub>
                        <m:r>
                          <a:rPr lang="de-DE" b="0" i="1" smtClean="0">
                            <a:latin typeface="Cambria Math"/>
                          </a:rPr>
                          <m:t>2</m:t>
                        </m:r>
                      </m:sub>
                    </m:sSub>
                  </m:oMath>
                </a14:m>
                <a:r>
                  <a:rPr lang="de-DE" dirty="0"/>
                  <a:t>, </a:t>
                </a:r>
                <a14:m>
                  <m:oMath xmlns:m="http://schemas.openxmlformats.org/officeDocument/2006/math">
                    <m:sSub>
                      <m:sSubPr>
                        <m:ctrlPr>
                          <a:rPr lang="de-DE" i="1" dirty="0">
                            <a:latin typeface="Cambria Math"/>
                          </a:rPr>
                        </m:ctrlPr>
                      </m:sSubPr>
                      <m:e>
                        <m:r>
                          <a:rPr lang="de-DE" b="0" i="1" dirty="0" smtClean="0">
                            <a:latin typeface="Cambria Math"/>
                          </a:rPr>
                          <m:t>𝑔</m:t>
                        </m:r>
                      </m:e>
                      <m:sub>
                        <m:r>
                          <a:rPr lang="de-DE" b="0" i="1" dirty="0" smtClean="0">
                            <a:latin typeface="Cambria Math"/>
                          </a:rPr>
                          <m:t>2</m:t>
                        </m:r>
                      </m:sub>
                    </m:sSub>
                  </m:oMath>
                </a14:m>
                <a:r>
                  <a:rPr lang="de-DE" dirty="0"/>
                  <a:t>, </a:t>
                </a:r>
                <a14:m>
                  <m:oMath xmlns:m="http://schemas.openxmlformats.org/officeDocument/2006/math">
                    <m:sSub>
                      <m:sSubPr>
                        <m:ctrlPr>
                          <a:rPr lang="de-DE" i="1" dirty="0">
                            <a:latin typeface="Cambria Math"/>
                          </a:rPr>
                        </m:ctrlPr>
                      </m:sSubPr>
                      <m:e>
                        <m:r>
                          <a:rPr lang="de-DE" i="1" dirty="0">
                            <a:latin typeface="Cambria Math"/>
                          </a:rPr>
                          <m:t>𝑔</m:t>
                        </m:r>
                      </m:e>
                      <m:sub>
                        <m:r>
                          <a:rPr lang="de-DE" b="0" i="1" dirty="0" smtClean="0">
                            <a:latin typeface="Cambria Math"/>
                          </a:rPr>
                          <m:t>3</m:t>
                        </m:r>
                      </m:sub>
                    </m:sSub>
                    <m:r>
                      <a:rPr lang="de-DE" i="1" dirty="0">
                        <a:latin typeface="Cambria Math"/>
                      </a:rPr>
                      <m:t>}</m:t>
                    </m:r>
                    <m:r>
                      <a:rPr lang="de-DE" b="0" i="0" dirty="0" smtClean="0">
                        <a:latin typeface="Cambria Math"/>
                      </a:rPr>
                      <m:t>}</m:t>
                    </m:r>
                  </m:oMath>
                </a14:m>
                <a:endParaRPr lang="de-DE" dirty="0"/>
              </a:p>
            </p:txBody>
          </p:sp>
        </mc:Choice>
        <mc:Fallback xmlns="">
          <p:sp>
            <p:nvSpPr>
              <p:cNvPr id="3" name="Textfeld 2"/>
              <p:cNvSpPr txBox="1">
                <a:spLocks noRot="1" noChangeAspect="1" noMove="1" noResize="1" noEditPoints="1" noAdjustHandles="1" noChangeArrowheads="1" noChangeShapeType="1" noTextEdit="1"/>
              </p:cNvSpPr>
              <p:nvPr/>
            </p:nvSpPr>
            <p:spPr>
              <a:xfrm>
                <a:off x="2570766" y="5233012"/>
                <a:ext cx="2847126" cy="369332"/>
              </a:xfrm>
              <a:prstGeom prst="rect">
                <a:avLst/>
              </a:prstGeom>
              <a:blipFill rotWithShape="1">
                <a:blip r:embed="rId9"/>
                <a:stretch>
                  <a:fillRect l="-857" t="-8197" b="-24590"/>
                </a:stretch>
              </a:blipFill>
            </p:spPr>
            <p:txBody>
              <a:bodyPr/>
              <a:lstStyle/>
              <a:p>
                <a:r>
                  <a:rPr lang="de-DE">
                    <a:noFill/>
                  </a:rPr>
                  <a:t> </a:t>
                </a:r>
              </a:p>
            </p:txBody>
          </p:sp>
        </mc:Fallback>
      </mc:AlternateContent>
      <p:sp>
        <p:nvSpPr>
          <p:cNvPr id="19" name="Titel 1"/>
          <p:cNvSpPr>
            <a:spLocks noGrp="1"/>
          </p:cNvSpPr>
          <p:nvPr>
            <p:ph type="title"/>
          </p:nvPr>
        </p:nvSpPr>
        <p:spPr>
          <a:xfrm>
            <a:off x="762000" y="868363"/>
            <a:ext cx="7772400" cy="503237"/>
          </a:xfrm>
        </p:spPr>
        <p:txBody>
          <a:bodyPr>
            <a:normAutofit fontScale="90000"/>
          </a:bodyPr>
          <a:lstStyle/>
          <a:p>
            <a:pPr algn="l"/>
            <a:r>
              <a:rPr lang="de-DE" sz="2700" b="1" dirty="0" err="1">
                <a:solidFill>
                  <a:schemeClr val="bg1">
                    <a:lumMod val="50000"/>
                  </a:schemeClr>
                </a:solidFill>
              </a:rPr>
              <a:t>Inductive</a:t>
            </a:r>
            <a:r>
              <a:rPr lang="de-DE" sz="2700" b="1" dirty="0">
                <a:solidFill>
                  <a:schemeClr val="bg1">
                    <a:lumMod val="50000"/>
                  </a:schemeClr>
                </a:solidFill>
              </a:rPr>
              <a:t> </a:t>
            </a:r>
            <a:r>
              <a:rPr lang="de-DE" sz="2700" b="1" dirty="0" err="1">
                <a:solidFill>
                  <a:schemeClr val="bg1">
                    <a:lumMod val="50000"/>
                  </a:schemeClr>
                </a:solidFill>
              </a:rPr>
              <a:t>Validity</a:t>
            </a:r>
            <a:r>
              <a:rPr lang="de-DE" sz="2700" b="1" dirty="0">
                <a:solidFill>
                  <a:schemeClr val="bg1">
                    <a:lumMod val="50000"/>
                  </a:schemeClr>
                </a:solidFill>
              </a:rPr>
              <a:t> Cores </a:t>
            </a:r>
            <a:r>
              <a:rPr lang="de-DE" sz="2700" b="1" dirty="0" err="1">
                <a:solidFill>
                  <a:schemeClr val="bg1">
                    <a:lumMod val="50000"/>
                  </a:schemeClr>
                </a:solidFill>
              </a:rPr>
              <a:t>with</a:t>
            </a:r>
            <a:r>
              <a:rPr lang="de-DE" sz="2700" b="1" dirty="0">
                <a:solidFill>
                  <a:schemeClr val="bg1">
                    <a:lumMod val="50000"/>
                  </a:schemeClr>
                </a:solidFill>
              </a:rPr>
              <a:t> </a:t>
            </a:r>
            <a:r>
              <a:rPr lang="de-DE" sz="2700" b="1" dirty="0" err="1">
                <a:solidFill>
                  <a:schemeClr val="bg1">
                    <a:lumMod val="50000"/>
                  </a:schemeClr>
                </a:solidFill>
              </a:rPr>
              <a:t>Faults</a:t>
            </a:r>
            <a:r>
              <a:rPr lang="de-DE" sz="3600" dirty="0"/>
              <a:t/>
            </a:r>
            <a:br>
              <a:rPr lang="de-DE" sz="3600" dirty="0"/>
            </a:br>
            <a:endParaRPr lang="de-DE" sz="3600" b="1" dirty="0">
              <a:solidFill>
                <a:schemeClr val="bg1">
                  <a:lumMod val="50000"/>
                </a:schemeClr>
              </a:solidFill>
            </a:endParaRPr>
          </a:p>
        </p:txBody>
      </p:sp>
      <p:sp>
        <p:nvSpPr>
          <p:cNvPr id="2" name="Slide Number Placeholder 1"/>
          <p:cNvSpPr>
            <a:spLocks noGrp="1"/>
          </p:cNvSpPr>
          <p:nvPr>
            <p:ph type="sldNum" sz="quarter" idx="10"/>
          </p:nvPr>
        </p:nvSpPr>
        <p:spPr/>
        <p:txBody>
          <a:bodyPr/>
          <a:lstStyle/>
          <a:p>
            <a:pPr>
              <a:defRPr/>
            </a:pPr>
            <a:fld id="{7486D9C8-0CDB-4BF0-99FF-D7490CE4EFA3}" type="slidenum">
              <a:rPr lang="en-US" smtClean="0"/>
              <a:pPr>
                <a:defRPr/>
              </a:pPr>
              <a:t>62</a:t>
            </a:fld>
            <a:endParaRPr lang="en-US"/>
          </a:p>
        </p:txBody>
      </p:sp>
    </p:spTree>
    <p:extLst>
      <p:ext uri="{BB962C8B-B14F-4D97-AF65-F5344CB8AC3E}">
        <p14:creationId xmlns:p14="http://schemas.microsoft.com/office/powerpoint/2010/main" val="7207918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62000" y="609600"/>
            <a:ext cx="7772400" cy="503237"/>
          </a:xfrm>
        </p:spPr>
        <p:txBody>
          <a:bodyPr/>
          <a:lstStyle/>
          <a:p>
            <a:r>
              <a:rPr lang="de-DE" sz="2400" dirty="0" smtClean="0"/>
              <a:t>Proof Tree</a:t>
            </a:r>
            <a:endParaRPr lang="de-DE" sz="2400" dirty="0"/>
          </a:p>
        </p:txBody>
      </p:sp>
      <mc:AlternateContent xmlns:mc="http://schemas.openxmlformats.org/markup-compatibility/2006" xmlns:a14="http://schemas.microsoft.com/office/drawing/2010/main">
        <mc:Choice Requires="a14">
          <p:sp>
            <p:nvSpPr>
              <p:cNvPr id="5" name="Textfeld 4"/>
              <p:cNvSpPr txBox="1"/>
              <p:nvPr/>
            </p:nvSpPr>
            <p:spPr>
              <a:xfrm>
                <a:off x="1752600" y="5334000"/>
                <a:ext cx="56388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de-DE" b="0" i="1" smtClean="0">
                              <a:latin typeface="Cambria Math"/>
                            </a:rPr>
                          </m:ctrlPr>
                        </m:dPr>
                        <m:e>
                          <m:r>
                            <a:rPr lang="de-DE" b="0" i="1" smtClean="0">
                              <a:latin typeface="Cambria Math"/>
                            </a:rPr>
                            <m:t>!</m:t>
                          </m:r>
                          <m:r>
                            <a:rPr lang="de-DE" b="0" i="1" smtClean="0">
                              <a:latin typeface="Cambria Math"/>
                            </a:rPr>
                            <m:t>𝑓</m:t>
                          </m:r>
                          <m:r>
                            <a:rPr lang="de-DE" b="0" i="1" smtClean="0">
                              <a:latin typeface="Cambria Math"/>
                            </a:rPr>
                            <m:t>1 ∧!</m:t>
                          </m:r>
                          <m:r>
                            <a:rPr lang="de-DE" b="0" i="1" smtClean="0">
                              <a:latin typeface="Cambria Math"/>
                              <a:ea typeface="Cambria Math"/>
                            </a:rPr>
                            <m:t>𝑓</m:t>
                          </m:r>
                          <m:r>
                            <a:rPr lang="de-DE" b="0" i="1" smtClean="0">
                              <a:latin typeface="Cambria Math"/>
                              <a:ea typeface="Cambria Math"/>
                            </a:rPr>
                            <m:t>2</m:t>
                          </m:r>
                        </m:e>
                      </m:d>
                      <m:r>
                        <a:rPr lang="de-DE" b="0" i="1" smtClean="0">
                          <a:latin typeface="Cambria Math"/>
                          <a:ea typeface="Cambria Math"/>
                        </a:rPr>
                        <m:t> ∨</m:t>
                      </m:r>
                      <m:d>
                        <m:dPr>
                          <m:ctrlPr>
                            <a:rPr lang="de-DE" b="0" i="1" smtClean="0">
                              <a:latin typeface="Cambria Math"/>
                              <a:ea typeface="Cambria Math"/>
                            </a:rPr>
                          </m:ctrlPr>
                        </m:dPr>
                        <m:e>
                          <m:r>
                            <a:rPr lang="de-DE" i="1">
                              <a:latin typeface="Cambria Math"/>
                              <a:ea typeface="Cambria Math"/>
                            </a:rPr>
                            <m:t>!</m:t>
                          </m:r>
                          <m:r>
                            <a:rPr lang="de-DE" i="1">
                              <a:latin typeface="Cambria Math"/>
                              <a:ea typeface="Cambria Math"/>
                            </a:rPr>
                            <m:t>𝑓</m:t>
                          </m:r>
                          <m:r>
                            <a:rPr lang="de-DE" b="0" i="1" smtClean="0">
                              <a:latin typeface="Cambria Math"/>
                              <a:ea typeface="Cambria Math"/>
                            </a:rPr>
                            <m:t>1∧!</m:t>
                          </m:r>
                          <m:r>
                            <a:rPr lang="de-DE" b="0" i="1" smtClean="0">
                              <a:latin typeface="Cambria Math"/>
                              <a:ea typeface="Cambria Math"/>
                            </a:rPr>
                            <m:t>𝑓</m:t>
                          </m:r>
                          <m:r>
                            <a:rPr lang="de-DE" b="0" i="1" smtClean="0">
                              <a:latin typeface="Cambria Math"/>
                              <a:ea typeface="Cambria Math"/>
                            </a:rPr>
                            <m:t>3</m:t>
                          </m:r>
                        </m:e>
                      </m:d>
                      <m:r>
                        <a:rPr lang="de-DE" b="0" i="1" smtClean="0">
                          <a:latin typeface="Cambria Math"/>
                          <a:ea typeface="Cambria Math"/>
                        </a:rPr>
                        <m:t> ⊢</m:t>
                      </m:r>
                      <m:r>
                        <a:rPr lang="de-DE" b="0" i="1" smtClean="0">
                          <a:latin typeface="Cambria Math"/>
                          <a:ea typeface="Cambria Math"/>
                        </a:rPr>
                        <m:t>𝑆𝑃</m:t>
                      </m:r>
                    </m:oMath>
                  </m:oMathPara>
                </a14:m>
                <a:endParaRPr lang="de-DE" dirty="0"/>
              </a:p>
            </p:txBody>
          </p:sp>
        </mc:Choice>
        <mc:Fallback xmlns="">
          <p:sp>
            <p:nvSpPr>
              <p:cNvPr id="5" name="Textfeld 4"/>
              <p:cNvSpPr txBox="1">
                <a:spLocks noRot="1" noChangeAspect="1" noMove="1" noResize="1" noEditPoints="1" noAdjustHandles="1" noChangeArrowheads="1" noChangeShapeType="1" noTextEdit="1"/>
              </p:cNvSpPr>
              <p:nvPr/>
            </p:nvSpPr>
            <p:spPr>
              <a:xfrm>
                <a:off x="1752600" y="5334000"/>
                <a:ext cx="5638800" cy="369332"/>
              </a:xfrm>
              <a:prstGeom prst="rect">
                <a:avLst/>
              </a:prstGeom>
              <a:blipFill rotWithShape="1">
                <a:blip r:embed="rId4"/>
                <a:stretch>
                  <a:fillRect b="-13115"/>
                </a:stretch>
              </a:blipFill>
            </p:spPr>
            <p:txBody>
              <a:bodyPr/>
              <a:lstStyle/>
              <a:p>
                <a:r>
                  <a:rPr lang="de-DE">
                    <a:noFill/>
                  </a:rPr>
                  <a:t> </a:t>
                </a:r>
              </a:p>
            </p:txBody>
          </p:sp>
        </mc:Fallback>
      </mc:AlternateContent>
      <p:graphicFrame>
        <p:nvGraphicFramePr>
          <p:cNvPr id="4" name="Objekt 3"/>
          <p:cNvGraphicFramePr>
            <a:graphicFrameLocks noChangeAspect="1"/>
          </p:cNvGraphicFramePr>
          <p:nvPr>
            <p:extLst>
              <p:ext uri="{D42A27DB-BD31-4B8C-83A1-F6EECF244321}">
                <p14:modId xmlns:p14="http://schemas.microsoft.com/office/powerpoint/2010/main" val="2110013028"/>
              </p:ext>
            </p:extLst>
          </p:nvPr>
        </p:nvGraphicFramePr>
        <p:xfrm>
          <a:off x="1722483" y="1600200"/>
          <a:ext cx="5800751" cy="3352800"/>
        </p:xfrm>
        <a:graphic>
          <a:graphicData uri="http://schemas.openxmlformats.org/presentationml/2006/ole">
            <mc:AlternateContent xmlns:mc="http://schemas.openxmlformats.org/markup-compatibility/2006">
              <mc:Choice xmlns:v="urn:schemas-microsoft-com:vml" Requires="v">
                <p:oleObj spid="_x0000_s4269" name="Visio" r:id="rId5" imgW="4732598" imgH="2734666" progId="Visio.Drawing.11">
                  <p:embed/>
                </p:oleObj>
              </mc:Choice>
              <mc:Fallback>
                <p:oleObj name="Visio" r:id="rId5" imgW="4732598" imgH="2734666" progId="Visio.Drawing.11">
                  <p:embed/>
                  <p:pic>
                    <p:nvPicPr>
                      <p:cNvPr id="0" name=""/>
                      <p:cNvPicPr/>
                      <p:nvPr/>
                    </p:nvPicPr>
                    <p:blipFill>
                      <a:blip r:embed="rId6"/>
                      <a:stretch>
                        <a:fillRect/>
                      </a:stretch>
                    </p:blipFill>
                    <p:spPr>
                      <a:xfrm>
                        <a:off x="1722483" y="1600200"/>
                        <a:ext cx="5800751" cy="3352800"/>
                      </a:xfrm>
                      <a:prstGeom prst="rect">
                        <a:avLst/>
                      </a:prstGeom>
                    </p:spPr>
                  </p:pic>
                </p:oleObj>
              </mc:Fallback>
            </mc:AlternateContent>
          </a:graphicData>
        </a:graphic>
      </p:graphicFrame>
      <p:sp>
        <p:nvSpPr>
          <p:cNvPr id="3" name="Slide Number Placeholder 2"/>
          <p:cNvSpPr>
            <a:spLocks noGrp="1"/>
          </p:cNvSpPr>
          <p:nvPr>
            <p:ph type="sldNum" sz="quarter" idx="10"/>
          </p:nvPr>
        </p:nvSpPr>
        <p:spPr/>
        <p:txBody>
          <a:bodyPr/>
          <a:lstStyle/>
          <a:p>
            <a:pPr>
              <a:defRPr/>
            </a:pPr>
            <a:fld id="{7486D9C8-0CDB-4BF0-99FF-D7490CE4EFA3}" type="slidenum">
              <a:rPr lang="en-US" smtClean="0"/>
              <a:pPr>
                <a:defRPr/>
              </a:pPr>
              <a:t>63</a:t>
            </a:fld>
            <a:endParaRPr lang="en-US"/>
          </a:p>
        </p:txBody>
      </p:sp>
    </p:spTree>
    <p:extLst>
      <p:ext uri="{BB962C8B-B14F-4D97-AF65-F5344CB8AC3E}">
        <p14:creationId xmlns:p14="http://schemas.microsoft.com/office/powerpoint/2010/main" val="130303740"/>
      </p:ext>
    </p:extLst>
  </p:cSld>
  <p:clrMapOvr>
    <a:masterClrMapping/>
  </p:clrMapOvr>
  <p:transition>
    <p:wipe dir="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feld 4"/>
              <p:cNvSpPr txBox="1"/>
              <p:nvPr/>
            </p:nvSpPr>
            <p:spPr>
              <a:xfrm>
                <a:off x="1752600" y="5334000"/>
                <a:ext cx="56388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de-DE" b="0" i="1" smtClean="0">
                              <a:latin typeface="Cambria Math"/>
                            </a:rPr>
                          </m:ctrlPr>
                        </m:dPr>
                        <m:e>
                          <m:r>
                            <a:rPr lang="de-DE" b="0" i="1" smtClean="0">
                              <a:latin typeface="Cambria Math"/>
                            </a:rPr>
                            <m:t>𝑓</m:t>
                          </m:r>
                          <m:r>
                            <a:rPr lang="de-DE" b="0" i="1" smtClean="0">
                              <a:latin typeface="Cambria Math"/>
                            </a:rPr>
                            <m:t>1 ∨ </m:t>
                          </m:r>
                          <m:r>
                            <a:rPr lang="de-DE" b="0" i="1" smtClean="0">
                              <a:latin typeface="Cambria Math"/>
                              <a:ea typeface="Cambria Math"/>
                            </a:rPr>
                            <m:t>𝑓</m:t>
                          </m:r>
                          <m:r>
                            <a:rPr lang="de-DE" b="0" i="1" smtClean="0">
                              <a:latin typeface="Cambria Math"/>
                              <a:ea typeface="Cambria Math"/>
                            </a:rPr>
                            <m:t>2</m:t>
                          </m:r>
                        </m:e>
                      </m:d>
                      <m:r>
                        <a:rPr lang="de-DE" i="1">
                          <a:latin typeface="Cambria Math"/>
                          <a:ea typeface="Cambria Math"/>
                        </a:rPr>
                        <m:t>∧</m:t>
                      </m:r>
                      <m:d>
                        <m:dPr>
                          <m:ctrlPr>
                            <a:rPr lang="de-DE" b="0" i="1" smtClean="0">
                              <a:latin typeface="Cambria Math"/>
                              <a:ea typeface="Cambria Math"/>
                            </a:rPr>
                          </m:ctrlPr>
                        </m:dPr>
                        <m:e>
                          <m:r>
                            <a:rPr lang="de-DE" i="1">
                              <a:latin typeface="Cambria Math"/>
                              <a:ea typeface="Cambria Math"/>
                            </a:rPr>
                            <m:t>𝑓</m:t>
                          </m:r>
                          <m:r>
                            <a:rPr lang="de-DE" b="0" i="1" smtClean="0">
                              <a:latin typeface="Cambria Math"/>
                              <a:ea typeface="Cambria Math"/>
                            </a:rPr>
                            <m:t>1∨ </m:t>
                          </m:r>
                          <m:r>
                            <a:rPr lang="de-DE" b="0" i="1" smtClean="0">
                              <a:latin typeface="Cambria Math"/>
                              <a:ea typeface="Cambria Math"/>
                            </a:rPr>
                            <m:t>𝑓</m:t>
                          </m:r>
                          <m:r>
                            <a:rPr lang="de-DE" b="0" i="1" smtClean="0">
                              <a:latin typeface="Cambria Math"/>
                              <a:ea typeface="Cambria Math"/>
                            </a:rPr>
                            <m:t>3</m:t>
                          </m:r>
                        </m:e>
                      </m:d>
                      <m:r>
                        <a:rPr lang="de-DE" b="0" i="1" smtClean="0">
                          <a:latin typeface="Cambria Math"/>
                          <a:ea typeface="Cambria Math"/>
                        </a:rPr>
                        <m:t> ⊢! </m:t>
                      </m:r>
                      <m:r>
                        <a:rPr lang="de-DE" b="0" i="1" smtClean="0">
                          <a:latin typeface="Cambria Math"/>
                          <a:ea typeface="Cambria Math"/>
                        </a:rPr>
                        <m:t>𝑆𝑃</m:t>
                      </m:r>
                      <m:r>
                        <a:rPr lang="de-DE" b="0" i="1" smtClean="0">
                          <a:latin typeface="Cambria Math"/>
                          <a:ea typeface="Cambria Math"/>
                        </a:rPr>
                        <m:t>=</m:t>
                      </m:r>
                      <m:r>
                        <a:rPr lang="de-DE" b="0" i="1" smtClean="0">
                          <a:latin typeface="Cambria Math"/>
                          <a:ea typeface="Cambria Math"/>
                        </a:rPr>
                        <m:t>𝑇𝐿𝐸</m:t>
                      </m:r>
                    </m:oMath>
                  </m:oMathPara>
                </a14:m>
                <a:endParaRPr lang="de-DE" dirty="0"/>
              </a:p>
            </p:txBody>
          </p:sp>
        </mc:Choice>
        <mc:Fallback xmlns="">
          <p:sp>
            <p:nvSpPr>
              <p:cNvPr id="5" name="Textfeld 4"/>
              <p:cNvSpPr txBox="1">
                <a:spLocks noRot="1" noChangeAspect="1" noMove="1" noResize="1" noEditPoints="1" noAdjustHandles="1" noChangeArrowheads="1" noChangeShapeType="1" noTextEdit="1"/>
              </p:cNvSpPr>
              <p:nvPr/>
            </p:nvSpPr>
            <p:spPr>
              <a:xfrm>
                <a:off x="1752600" y="5334000"/>
                <a:ext cx="5638800" cy="369332"/>
              </a:xfrm>
              <a:prstGeom prst="rect">
                <a:avLst/>
              </a:prstGeom>
              <a:blipFill rotWithShape="1">
                <a:blip r:embed="rId4"/>
                <a:stretch>
                  <a:fillRect b="-13115"/>
                </a:stretch>
              </a:blipFill>
            </p:spPr>
            <p:txBody>
              <a:bodyPr/>
              <a:lstStyle/>
              <a:p>
                <a:r>
                  <a:rPr lang="de-DE">
                    <a:noFill/>
                  </a:rPr>
                  <a:t> </a:t>
                </a:r>
              </a:p>
            </p:txBody>
          </p:sp>
        </mc:Fallback>
      </mc:AlternateContent>
      <p:graphicFrame>
        <p:nvGraphicFramePr>
          <p:cNvPr id="3" name="Objekt 2"/>
          <p:cNvGraphicFramePr>
            <a:graphicFrameLocks noChangeAspect="1"/>
          </p:cNvGraphicFramePr>
          <p:nvPr>
            <p:extLst>
              <p:ext uri="{D42A27DB-BD31-4B8C-83A1-F6EECF244321}">
                <p14:modId xmlns:p14="http://schemas.microsoft.com/office/powerpoint/2010/main" val="3374648588"/>
              </p:ext>
            </p:extLst>
          </p:nvPr>
        </p:nvGraphicFramePr>
        <p:xfrm>
          <a:off x="1728355" y="1600200"/>
          <a:ext cx="5779347" cy="3352800"/>
        </p:xfrm>
        <a:graphic>
          <a:graphicData uri="http://schemas.openxmlformats.org/presentationml/2006/ole">
            <mc:AlternateContent xmlns:mc="http://schemas.openxmlformats.org/markup-compatibility/2006">
              <mc:Choice xmlns:v="urn:schemas-microsoft-com:vml" Requires="v">
                <p:oleObj spid="_x0000_s5292" name="Visio" r:id="rId5" imgW="4714788" imgH="2734666" progId="Visio.Drawing.11">
                  <p:embed/>
                </p:oleObj>
              </mc:Choice>
              <mc:Fallback>
                <p:oleObj name="Visio" r:id="rId5" imgW="4714788" imgH="2734666" progId="Visio.Drawing.11">
                  <p:embed/>
                  <p:pic>
                    <p:nvPicPr>
                      <p:cNvPr id="0" name=""/>
                      <p:cNvPicPr/>
                      <p:nvPr/>
                    </p:nvPicPr>
                    <p:blipFill>
                      <a:blip r:embed="rId6"/>
                      <a:stretch>
                        <a:fillRect/>
                      </a:stretch>
                    </p:blipFill>
                    <p:spPr>
                      <a:xfrm>
                        <a:off x="1728355" y="1600200"/>
                        <a:ext cx="5779347" cy="3352800"/>
                      </a:xfrm>
                      <a:prstGeom prst="rect">
                        <a:avLst/>
                      </a:prstGeom>
                    </p:spPr>
                  </p:pic>
                </p:oleObj>
              </mc:Fallback>
            </mc:AlternateContent>
          </a:graphicData>
        </a:graphic>
      </p:graphicFrame>
      <p:sp>
        <p:nvSpPr>
          <p:cNvPr id="7" name="Titel 1"/>
          <p:cNvSpPr>
            <a:spLocks noGrp="1"/>
          </p:cNvSpPr>
          <p:nvPr>
            <p:ph type="title"/>
          </p:nvPr>
        </p:nvSpPr>
        <p:spPr>
          <a:xfrm>
            <a:off x="762000" y="609600"/>
            <a:ext cx="7772400" cy="503237"/>
          </a:xfrm>
        </p:spPr>
        <p:txBody>
          <a:bodyPr/>
          <a:lstStyle/>
          <a:p>
            <a:r>
              <a:rPr lang="de-DE" sz="2400" dirty="0" smtClean="0"/>
              <a:t>Negation of the Proof Tree</a:t>
            </a:r>
            <a:endParaRPr lang="de-DE" sz="2400" dirty="0"/>
          </a:p>
        </p:txBody>
      </p:sp>
      <p:sp>
        <p:nvSpPr>
          <p:cNvPr id="2" name="Slide Number Placeholder 1"/>
          <p:cNvSpPr>
            <a:spLocks noGrp="1"/>
          </p:cNvSpPr>
          <p:nvPr>
            <p:ph type="sldNum" sz="quarter" idx="10"/>
          </p:nvPr>
        </p:nvSpPr>
        <p:spPr/>
        <p:txBody>
          <a:bodyPr/>
          <a:lstStyle/>
          <a:p>
            <a:pPr>
              <a:defRPr/>
            </a:pPr>
            <a:fld id="{7486D9C8-0CDB-4BF0-99FF-D7490CE4EFA3}" type="slidenum">
              <a:rPr lang="en-US" smtClean="0"/>
              <a:pPr>
                <a:defRPr/>
              </a:pPr>
              <a:t>64</a:t>
            </a:fld>
            <a:endParaRPr lang="en-US"/>
          </a:p>
        </p:txBody>
      </p:sp>
    </p:spTree>
    <p:extLst>
      <p:ext uri="{BB962C8B-B14F-4D97-AF65-F5344CB8AC3E}">
        <p14:creationId xmlns:p14="http://schemas.microsoft.com/office/powerpoint/2010/main" val="1023458172"/>
      </p:ext>
    </p:extLst>
  </p:cSld>
  <p:clrMapOvr>
    <a:masterClrMapping/>
  </p:clrMapOvr>
  <p:transition>
    <p:wipe dir="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
          </p:nvPr>
        </p:nvSpPr>
        <p:spPr/>
        <p:txBody>
          <a:bodyPr/>
          <a:lstStyle/>
          <a:p>
            <a:r>
              <a:rPr lang="de-DE" dirty="0" err="1" smtClean="0"/>
              <a:t>Using</a:t>
            </a:r>
            <a:r>
              <a:rPr lang="de-DE" dirty="0" smtClean="0"/>
              <a:t> Boolean </a:t>
            </a:r>
            <a:r>
              <a:rPr lang="de-DE" dirty="0" err="1" smtClean="0"/>
              <a:t>logic</a:t>
            </a:r>
            <a:r>
              <a:rPr lang="de-DE" dirty="0" smtClean="0"/>
              <a:t>, </a:t>
            </a:r>
            <a:r>
              <a:rPr lang="de-DE" dirty="0" err="1" smtClean="0"/>
              <a:t>this</a:t>
            </a:r>
            <a:r>
              <a:rPr lang="de-DE" dirty="0" smtClean="0"/>
              <a:t> </a:t>
            </a:r>
            <a:r>
              <a:rPr lang="de-DE" dirty="0" err="1" smtClean="0"/>
              <a:t>equation</a:t>
            </a:r>
            <a:r>
              <a:rPr lang="de-DE" dirty="0" smtClean="0"/>
              <a:t> </a:t>
            </a:r>
            <a:r>
              <a:rPr lang="de-DE" dirty="0" err="1" smtClean="0"/>
              <a:t>can</a:t>
            </a:r>
            <a:r>
              <a:rPr lang="de-DE" dirty="0" smtClean="0"/>
              <a:t> </a:t>
            </a:r>
            <a:r>
              <a:rPr lang="de-DE" dirty="0" err="1" smtClean="0"/>
              <a:t>be</a:t>
            </a:r>
            <a:r>
              <a:rPr lang="de-DE" dirty="0" smtClean="0"/>
              <a:t> </a:t>
            </a:r>
            <a:r>
              <a:rPr lang="de-DE" dirty="0" err="1" smtClean="0"/>
              <a:t>rearranged</a:t>
            </a:r>
            <a:r>
              <a:rPr lang="de-DE" dirty="0" smtClean="0"/>
              <a:t> </a:t>
            </a:r>
            <a:r>
              <a:rPr lang="de-DE" dirty="0" err="1" smtClean="0"/>
              <a:t>to</a:t>
            </a:r>
            <a:r>
              <a:rPr lang="de-DE" dirty="0" smtClean="0"/>
              <a:t> find Minimal Cut Sets </a:t>
            </a:r>
            <a:r>
              <a:rPr lang="de-DE" dirty="0" err="1" smtClean="0"/>
              <a:t>and</a:t>
            </a:r>
            <a:r>
              <a:rPr lang="de-DE" dirty="0" smtClean="0"/>
              <a:t> </a:t>
            </a:r>
            <a:r>
              <a:rPr lang="de-DE" dirty="0" err="1" smtClean="0"/>
              <a:t>calculate</a:t>
            </a:r>
            <a:r>
              <a:rPr lang="de-DE" dirty="0" smtClean="0"/>
              <a:t> top </a:t>
            </a:r>
            <a:r>
              <a:rPr lang="de-DE" dirty="0" err="1" smtClean="0"/>
              <a:t>level</a:t>
            </a:r>
            <a:r>
              <a:rPr lang="de-DE" dirty="0" smtClean="0"/>
              <a:t> </a:t>
            </a:r>
            <a:r>
              <a:rPr lang="de-DE" dirty="0" err="1" smtClean="0"/>
              <a:t>probability</a:t>
            </a:r>
            <a:r>
              <a:rPr lang="de-DE" dirty="0" smtClean="0"/>
              <a:t> </a:t>
            </a:r>
            <a:r>
              <a:rPr lang="de-DE" dirty="0" err="1" smtClean="0"/>
              <a:t>threshold</a:t>
            </a:r>
            <a:r>
              <a:rPr lang="de-DE" dirty="0" smtClean="0"/>
              <a:t>.</a:t>
            </a:r>
          </a:p>
          <a:p>
            <a:endParaRPr lang="de-DE" dirty="0"/>
          </a:p>
          <a:p>
            <a:endParaRPr lang="de-DE" dirty="0" smtClean="0"/>
          </a:p>
          <a:p>
            <a:endParaRPr lang="de-DE" dirty="0"/>
          </a:p>
          <a:p>
            <a:endParaRPr lang="de-DE" dirty="0" smtClean="0"/>
          </a:p>
          <a:p>
            <a:endParaRPr lang="de-DE" dirty="0"/>
          </a:p>
          <a:p>
            <a:endParaRPr lang="de-DE" dirty="0" smtClean="0"/>
          </a:p>
          <a:p>
            <a:pPr marL="0" indent="0">
              <a:buNone/>
            </a:pPr>
            <a:endParaRPr lang="de-DE" dirty="0"/>
          </a:p>
        </p:txBody>
      </p:sp>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65</a:t>
            </a:fld>
            <a:endParaRPr lang="en-US" dirty="0"/>
          </a:p>
        </p:txBody>
      </p:sp>
      <mc:AlternateContent xmlns:mc="http://schemas.openxmlformats.org/markup-compatibility/2006" xmlns:a14="http://schemas.microsoft.com/office/drawing/2010/main">
        <mc:Choice Requires="a14">
          <p:sp>
            <p:nvSpPr>
              <p:cNvPr id="5" name="Textfeld 4"/>
              <p:cNvSpPr txBox="1"/>
              <p:nvPr/>
            </p:nvSpPr>
            <p:spPr>
              <a:xfrm>
                <a:off x="1555173" y="2514600"/>
                <a:ext cx="5638800"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de-DE" b="0" i="1" smtClean="0">
                              <a:latin typeface="Cambria Math"/>
                            </a:rPr>
                          </m:ctrlPr>
                        </m:dPr>
                        <m:e>
                          <m:r>
                            <a:rPr lang="de-DE" b="0" i="1" smtClean="0">
                              <a:latin typeface="Cambria Math"/>
                            </a:rPr>
                            <m:t>𝑓</m:t>
                          </m:r>
                          <m:r>
                            <a:rPr lang="de-DE" b="0" i="1" smtClean="0">
                              <a:latin typeface="Cambria Math"/>
                            </a:rPr>
                            <m:t>1 ∨ </m:t>
                          </m:r>
                          <m:r>
                            <a:rPr lang="de-DE" b="0" i="1" smtClean="0">
                              <a:latin typeface="Cambria Math"/>
                              <a:ea typeface="Cambria Math"/>
                            </a:rPr>
                            <m:t>𝑓</m:t>
                          </m:r>
                          <m:r>
                            <a:rPr lang="de-DE" b="0" i="1" smtClean="0">
                              <a:latin typeface="Cambria Math"/>
                              <a:ea typeface="Cambria Math"/>
                            </a:rPr>
                            <m:t>2</m:t>
                          </m:r>
                        </m:e>
                      </m:d>
                      <m:r>
                        <a:rPr lang="de-DE" i="1">
                          <a:latin typeface="Cambria Math"/>
                          <a:ea typeface="Cambria Math"/>
                        </a:rPr>
                        <m:t>∧</m:t>
                      </m:r>
                      <m:d>
                        <m:dPr>
                          <m:ctrlPr>
                            <a:rPr lang="de-DE" b="0" i="1" smtClean="0">
                              <a:latin typeface="Cambria Math"/>
                              <a:ea typeface="Cambria Math"/>
                            </a:rPr>
                          </m:ctrlPr>
                        </m:dPr>
                        <m:e>
                          <m:r>
                            <a:rPr lang="de-DE" b="0" i="1" smtClean="0">
                              <a:latin typeface="Cambria Math"/>
                              <a:ea typeface="Cambria Math"/>
                            </a:rPr>
                            <m:t>𝑓</m:t>
                          </m:r>
                          <m:r>
                            <a:rPr lang="de-DE" b="0" i="1" smtClean="0">
                              <a:latin typeface="Cambria Math"/>
                              <a:ea typeface="Cambria Math"/>
                            </a:rPr>
                            <m:t>3 ∨ </m:t>
                          </m:r>
                          <m:r>
                            <a:rPr lang="de-DE" b="0" i="1" smtClean="0">
                              <a:latin typeface="Cambria Math"/>
                              <a:ea typeface="Cambria Math"/>
                            </a:rPr>
                            <m:t>𝑓</m:t>
                          </m:r>
                          <m:r>
                            <a:rPr lang="de-DE" b="0" i="1" smtClean="0">
                              <a:latin typeface="Cambria Math"/>
                              <a:ea typeface="Cambria Math"/>
                            </a:rPr>
                            <m:t>1</m:t>
                          </m:r>
                        </m:e>
                      </m:d>
                      <m:r>
                        <a:rPr lang="de-DE" b="0" i="1" smtClean="0">
                          <a:latin typeface="Cambria Math"/>
                          <a:ea typeface="Cambria Math"/>
                        </a:rPr>
                        <m:t> ⊢! </m:t>
                      </m:r>
                      <m:r>
                        <a:rPr lang="de-DE" b="0" i="1" smtClean="0">
                          <a:latin typeface="Cambria Math"/>
                          <a:ea typeface="Cambria Math"/>
                        </a:rPr>
                        <m:t>𝑆𝑃</m:t>
                      </m:r>
                      <m:r>
                        <a:rPr lang="de-DE" b="0" i="1" smtClean="0">
                          <a:latin typeface="Cambria Math"/>
                          <a:ea typeface="Cambria Math"/>
                        </a:rPr>
                        <m:t>=</m:t>
                      </m:r>
                      <m:r>
                        <a:rPr lang="de-DE" b="0" i="1" smtClean="0">
                          <a:latin typeface="Cambria Math"/>
                          <a:ea typeface="Cambria Math"/>
                        </a:rPr>
                        <m:t>𝑇𝐿𝐸</m:t>
                      </m:r>
                    </m:oMath>
                  </m:oMathPara>
                </a14:m>
                <a:endParaRPr lang="de-DE" b="0" dirty="0" smtClean="0">
                  <a:ea typeface="Cambria Math"/>
                </a:endParaRPr>
              </a:p>
              <a:p>
                <a:endParaRPr lang="de-DE" dirty="0" smtClean="0"/>
              </a:p>
              <a:p>
                <a:pPr/>
                <a14:m>
                  <m:oMathPara xmlns:m="http://schemas.openxmlformats.org/officeDocument/2006/math">
                    <m:oMathParaPr>
                      <m:jc m:val="centerGroup"/>
                    </m:oMathParaPr>
                    <m:oMath xmlns:m="http://schemas.openxmlformats.org/officeDocument/2006/math">
                      <m:r>
                        <a:rPr lang="de-DE" b="0" i="1" smtClean="0">
                          <a:latin typeface="Cambria Math"/>
                        </a:rPr>
                        <m:t>= </m:t>
                      </m:r>
                      <m:r>
                        <a:rPr lang="de-DE" i="1">
                          <a:latin typeface="Cambria Math"/>
                        </a:rPr>
                        <m:t>𝑓</m:t>
                      </m:r>
                      <m:r>
                        <a:rPr lang="de-DE" i="1">
                          <a:latin typeface="Cambria Math"/>
                        </a:rPr>
                        <m:t>1∨</m:t>
                      </m:r>
                      <m:r>
                        <a:rPr lang="de-DE" b="0" i="0" smtClean="0">
                          <a:latin typeface="Cambria Math"/>
                        </a:rPr>
                        <m:t>(</m:t>
                      </m:r>
                      <m:r>
                        <a:rPr lang="de-DE" i="1">
                          <a:latin typeface="Cambria Math"/>
                          <a:ea typeface="Cambria Math"/>
                        </a:rPr>
                        <m:t>𝑓</m:t>
                      </m:r>
                      <m:r>
                        <a:rPr lang="de-DE" i="1">
                          <a:latin typeface="Cambria Math"/>
                          <a:ea typeface="Cambria Math"/>
                        </a:rPr>
                        <m:t>2∧</m:t>
                      </m:r>
                      <m:r>
                        <a:rPr lang="de-DE" i="1">
                          <a:latin typeface="Cambria Math"/>
                          <a:ea typeface="Cambria Math"/>
                        </a:rPr>
                        <m:t>𝑓</m:t>
                      </m:r>
                      <m:r>
                        <a:rPr lang="de-DE" i="1">
                          <a:latin typeface="Cambria Math"/>
                          <a:ea typeface="Cambria Math"/>
                        </a:rPr>
                        <m:t>3</m:t>
                      </m:r>
                      <m:r>
                        <a:rPr lang="de-DE" b="0" i="0" smtClean="0">
                          <a:latin typeface="Cambria Math"/>
                          <a:ea typeface="Cambria Math"/>
                        </a:rPr>
                        <m:t>)</m:t>
                      </m:r>
                    </m:oMath>
                  </m:oMathPara>
                </a14:m>
                <a:endParaRPr lang="de-DE" dirty="0"/>
              </a:p>
            </p:txBody>
          </p:sp>
        </mc:Choice>
        <mc:Fallback xmlns="">
          <p:sp>
            <p:nvSpPr>
              <p:cNvPr id="5" name="Textfeld 4"/>
              <p:cNvSpPr txBox="1">
                <a:spLocks noRot="1" noChangeAspect="1" noMove="1" noResize="1" noEditPoints="1" noAdjustHandles="1" noChangeArrowheads="1" noChangeShapeType="1" noTextEdit="1"/>
              </p:cNvSpPr>
              <p:nvPr/>
            </p:nvSpPr>
            <p:spPr>
              <a:xfrm>
                <a:off x="1555173" y="2514600"/>
                <a:ext cx="5638800" cy="923330"/>
              </a:xfrm>
              <a:prstGeom prst="rect">
                <a:avLst/>
              </a:prstGeom>
              <a:blipFill rotWithShape="1">
                <a:blip r:embed="rId2"/>
                <a:stretch>
                  <a:fillRect b="-4636"/>
                </a:stretch>
              </a:blipFill>
            </p:spPr>
            <p:txBody>
              <a:bodyPr/>
              <a:lstStyle/>
              <a:p>
                <a:r>
                  <a:rPr lang="de-DE">
                    <a:noFill/>
                  </a:rPr>
                  <a:t> </a:t>
                </a:r>
              </a:p>
            </p:txBody>
          </p:sp>
        </mc:Fallback>
      </mc:AlternateContent>
      <p:sp>
        <p:nvSpPr>
          <p:cNvPr id="7" name="Titel 1"/>
          <p:cNvSpPr>
            <a:spLocks noGrp="1"/>
          </p:cNvSpPr>
          <p:nvPr>
            <p:ph type="title"/>
          </p:nvPr>
        </p:nvSpPr>
        <p:spPr>
          <a:xfrm>
            <a:off x="762000" y="609600"/>
            <a:ext cx="7772400" cy="503237"/>
          </a:xfrm>
        </p:spPr>
        <p:txBody>
          <a:bodyPr/>
          <a:lstStyle/>
          <a:p>
            <a:r>
              <a:rPr lang="de-DE" sz="2400" dirty="0" err="1" smtClean="0"/>
              <a:t>Perform</a:t>
            </a:r>
            <a:r>
              <a:rPr lang="de-DE" sz="2400" dirty="0" smtClean="0"/>
              <a:t> Analysis</a:t>
            </a:r>
            <a:endParaRPr lang="de-DE" sz="2400" dirty="0"/>
          </a:p>
        </p:txBody>
      </p:sp>
    </p:spTree>
    <p:extLst>
      <p:ext uri="{BB962C8B-B14F-4D97-AF65-F5344CB8AC3E}">
        <p14:creationId xmlns:p14="http://schemas.microsoft.com/office/powerpoint/2010/main" val="3050741181"/>
      </p:ext>
    </p:extLst>
  </p:cSld>
  <p:clrMapOvr>
    <a:masterClrMapping/>
  </p:clrMapOvr>
  <p:transition>
    <p:wipe dir="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
          </p:nvPr>
        </p:nvSpPr>
        <p:spPr/>
        <p:txBody>
          <a:bodyPr/>
          <a:lstStyle/>
          <a:p>
            <a:r>
              <a:rPr lang="de-DE" dirty="0" err="1" smtClean="0"/>
              <a:t>Using</a:t>
            </a:r>
            <a:r>
              <a:rPr lang="de-DE" dirty="0" smtClean="0"/>
              <a:t> Boolean </a:t>
            </a:r>
            <a:r>
              <a:rPr lang="de-DE" dirty="0" err="1" smtClean="0"/>
              <a:t>logic</a:t>
            </a:r>
            <a:r>
              <a:rPr lang="de-DE" dirty="0" smtClean="0"/>
              <a:t>, </a:t>
            </a:r>
            <a:r>
              <a:rPr lang="de-DE" dirty="0" err="1" smtClean="0"/>
              <a:t>this</a:t>
            </a:r>
            <a:r>
              <a:rPr lang="de-DE" dirty="0" smtClean="0"/>
              <a:t> </a:t>
            </a:r>
            <a:r>
              <a:rPr lang="de-DE" dirty="0" err="1" smtClean="0"/>
              <a:t>equation</a:t>
            </a:r>
            <a:r>
              <a:rPr lang="de-DE" dirty="0" smtClean="0"/>
              <a:t> </a:t>
            </a:r>
            <a:r>
              <a:rPr lang="de-DE" dirty="0" err="1" smtClean="0"/>
              <a:t>can</a:t>
            </a:r>
            <a:r>
              <a:rPr lang="de-DE" dirty="0" smtClean="0"/>
              <a:t> </a:t>
            </a:r>
            <a:r>
              <a:rPr lang="de-DE" dirty="0" err="1" smtClean="0"/>
              <a:t>be</a:t>
            </a:r>
            <a:r>
              <a:rPr lang="de-DE" dirty="0" smtClean="0"/>
              <a:t> </a:t>
            </a:r>
            <a:r>
              <a:rPr lang="de-DE" dirty="0" err="1" smtClean="0"/>
              <a:t>rearranged</a:t>
            </a:r>
            <a:r>
              <a:rPr lang="de-DE" dirty="0" smtClean="0"/>
              <a:t> </a:t>
            </a:r>
            <a:r>
              <a:rPr lang="de-DE" dirty="0" err="1" smtClean="0"/>
              <a:t>to</a:t>
            </a:r>
            <a:r>
              <a:rPr lang="de-DE" dirty="0" smtClean="0"/>
              <a:t> find Minimal Cut Sets </a:t>
            </a:r>
            <a:r>
              <a:rPr lang="de-DE" dirty="0" err="1" smtClean="0"/>
              <a:t>and</a:t>
            </a:r>
            <a:r>
              <a:rPr lang="de-DE" dirty="0" smtClean="0"/>
              <a:t> </a:t>
            </a:r>
            <a:r>
              <a:rPr lang="de-DE" dirty="0" err="1" smtClean="0"/>
              <a:t>calculate</a:t>
            </a:r>
            <a:r>
              <a:rPr lang="de-DE" dirty="0" smtClean="0"/>
              <a:t> top </a:t>
            </a:r>
            <a:r>
              <a:rPr lang="de-DE" dirty="0" err="1" smtClean="0"/>
              <a:t>level</a:t>
            </a:r>
            <a:r>
              <a:rPr lang="de-DE" dirty="0" smtClean="0"/>
              <a:t> </a:t>
            </a:r>
            <a:r>
              <a:rPr lang="de-DE" dirty="0" err="1" smtClean="0"/>
              <a:t>probability</a:t>
            </a:r>
            <a:r>
              <a:rPr lang="de-DE" dirty="0" smtClean="0"/>
              <a:t> </a:t>
            </a:r>
            <a:r>
              <a:rPr lang="de-DE" dirty="0" err="1" smtClean="0"/>
              <a:t>threshold</a:t>
            </a:r>
            <a:r>
              <a:rPr lang="de-DE" dirty="0" smtClean="0"/>
              <a:t>.</a:t>
            </a:r>
          </a:p>
          <a:p>
            <a:endParaRPr lang="de-DE" dirty="0"/>
          </a:p>
          <a:p>
            <a:endParaRPr lang="de-DE" dirty="0" smtClean="0"/>
          </a:p>
          <a:p>
            <a:endParaRPr lang="de-DE" dirty="0"/>
          </a:p>
          <a:p>
            <a:endParaRPr lang="de-DE" dirty="0" smtClean="0"/>
          </a:p>
          <a:p>
            <a:endParaRPr lang="de-DE" dirty="0"/>
          </a:p>
          <a:p>
            <a:endParaRPr lang="de-DE" dirty="0" smtClean="0"/>
          </a:p>
          <a:p>
            <a:pPr marL="0" indent="0">
              <a:buNone/>
            </a:pPr>
            <a:endParaRPr lang="de-DE" dirty="0"/>
          </a:p>
        </p:txBody>
      </p:sp>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66</a:t>
            </a:fld>
            <a:endParaRPr lang="en-US" dirty="0"/>
          </a:p>
        </p:txBody>
      </p:sp>
      <mc:AlternateContent xmlns:mc="http://schemas.openxmlformats.org/markup-compatibility/2006" xmlns:a14="http://schemas.microsoft.com/office/drawing/2010/main">
        <mc:Choice Requires="a14">
          <p:sp>
            <p:nvSpPr>
              <p:cNvPr id="5" name="Textfeld 4"/>
              <p:cNvSpPr txBox="1"/>
              <p:nvPr/>
            </p:nvSpPr>
            <p:spPr>
              <a:xfrm>
                <a:off x="1555173" y="2514600"/>
                <a:ext cx="5638800"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de-DE" b="0" i="1" smtClean="0">
                              <a:latin typeface="Cambria Math"/>
                            </a:rPr>
                          </m:ctrlPr>
                        </m:dPr>
                        <m:e>
                          <m:r>
                            <a:rPr lang="de-DE" b="0" i="1" smtClean="0">
                              <a:latin typeface="Cambria Math"/>
                            </a:rPr>
                            <m:t>𝑓</m:t>
                          </m:r>
                          <m:r>
                            <a:rPr lang="de-DE" b="0" i="1" smtClean="0">
                              <a:latin typeface="Cambria Math"/>
                            </a:rPr>
                            <m:t>1 ∨ </m:t>
                          </m:r>
                          <m:r>
                            <a:rPr lang="de-DE" b="0" i="1" smtClean="0">
                              <a:latin typeface="Cambria Math"/>
                              <a:ea typeface="Cambria Math"/>
                            </a:rPr>
                            <m:t>𝑓</m:t>
                          </m:r>
                          <m:r>
                            <a:rPr lang="de-DE" b="0" i="1" smtClean="0">
                              <a:latin typeface="Cambria Math"/>
                              <a:ea typeface="Cambria Math"/>
                            </a:rPr>
                            <m:t>2</m:t>
                          </m:r>
                        </m:e>
                      </m:d>
                      <m:r>
                        <a:rPr lang="de-DE" i="1">
                          <a:latin typeface="Cambria Math"/>
                          <a:ea typeface="Cambria Math"/>
                        </a:rPr>
                        <m:t>∧</m:t>
                      </m:r>
                      <m:d>
                        <m:dPr>
                          <m:ctrlPr>
                            <a:rPr lang="de-DE" b="0" i="1" smtClean="0">
                              <a:latin typeface="Cambria Math"/>
                              <a:ea typeface="Cambria Math"/>
                            </a:rPr>
                          </m:ctrlPr>
                        </m:dPr>
                        <m:e>
                          <m:r>
                            <a:rPr lang="de-DE" b="0" i="1" smtClean="0">
                              <a:latin typeface="Cambria Math"/>
                              <a:ea typeface="Cambria Math"/>
                            </a:rPr>
                            <m:t>𝑓</m:t>
                          </m:r>
                          <m:r>
                            <a:rPr lang="de-DE" b="0" i="1" smtClean="0">
                              <a:latin typeface="Cambria Math"/>
                              <a:ea typeface="Cambria Math"/>
                            </a:rPr>
                            <m:t>3 ∨ </m:t>
                          </m:r>
                          <m:r>
                            <a:rPr lang="de-DE" b="0" i="1" smtClean="0">
                              <a:latin typeface="Cambria Math"/>
                              <a:ea typeface="Cambria Math"/>
                            </a:rPr>
                            <m:t>𝑓</m:t>
                          </m:r>
                          <m:r>
                            <a:rPr lang="de-DE" b="0" i="1" smtClean="0">
                              <a:latin typeface="Cambria Math"/>
                              <a:ea typeface="Cambria Math"/>
                            </a:rPr>
                            <m:t>1</m:t>
                          </m:r>
                        </m:e>
                      </m:d>
                      <m:r>
                        <a:rPr lang="de-DE" b="0" i="1" smtClean="0">
                          <a:latin typeface="Cambria Math"/>
                          <a:ea typeface="Cambria Math"/>
                        </a:rPr>
                        <m:t> ⊢! </m:t>
                      </m:r>
                      <m:r>
                        <a:rPr lang="de-DE" b="0" i="1" smtClean="0">
                          <a:latin typeface="Cambria Math"/>
                          <a:ea typeface="Cambria Math"/>
                        </a:rPr>
                        <m:t>𝑆𝑃</m:t>
                      </m:r>
                      <m:r>
                        <a:rPr lang="de-DE" b="0" i="1" smtClean="0">
                          <a:latin typeface="Cambria Math"/>
                          <a:ea typeface="Cambria Math"/>
                        </a:rPr>
                        <m:t>=</m:t>
                      </m:r>
                      <m:r>
                        <a:rPr lang="de-DE" b="0" i="1" smtClean="0">
                          <a:latin typeface="Cambria Math"/>
                          <a:ea typeface="Cambria Math"/>
                        </a:rPr>
                        <m:t>𝑇𝐿𝐸</m:t>
                      </m:r>
                    </m:oMath>
                  </m:oMathPara>
                </a14:m>
                <a:endParaRPr lang="de-DE" b="0" dirty="0" smtClean="0">
                  <a:ea typeface="Cambria Math"/>
                </a:endParaRPr>
              </a:p>
              <a:p>
                <a:endParaRPr lang="de-DE" dirty="0" smtClean="0"/>
              </a:p>
              <a:p>
                <a:pPr/>
                <a14:m>
                  <m:oMathPara xmlns:m="http://schemas.openxmlformats.org/officeDocument/2006/math">
                    <m:oMathParaPr>
                      <m:jc m:val="centerGroup"/>
                    </m:oMathParaPr>
                    <m:oMath xmlns:m="http://schemas.openxmlformats.org/officeDocument/2006/math">
                      <m:r>
                        <a:rPr lang="de-DE" b="0" i="1" smtClean="0">
                          <a:latin typeface="Cambria Math"/>
                        </a:rPr>
                        <m:t>= </m:t>
                      </m:r>
                      <m:r>
                        <a:rPr lang="de-DE" i="1">
                          <a:latin typeface="Cambria Math"/>
                        </a:rPr>
                        <m:t>𝑓</m:t>
                      </m:r>
                      <m:r>
                        <a:rPr lang="de-DE" i="1">
                          <a:latin typeface="Cambria Math"/>
                        </a:rPr>
                        <m:t>1∨</m:t>
                      </m:r>
                      <m:r>
                        <a:rPr lang="de-DE" b="0" i="0" smtClean="0">
                          <a:latin typeface="Cambria Math"/>
                        </a:rPr>
                        <m:t>(</m:t>
                      </m:r>
                      <m:r>
                        <a:rPr lang="de-DE" i="1">
                          <a:latin typeface="Cambria Math"/>
                          <a:ea typeface="Cambria Math"/>
                        </a:rPr>
                        <m:t>𝑓</m:t>
                      </m:r>
                      <m:r>
                        <a:rPr lang="de-DE" i="1">
                          <a:latin typeface="Cambria Math"/>
                          <a:ea typeface="Cambria Math"/>
                        </a:rPr>
                        <m:t>2∧</m:t>
                      </m:r>
                      <m:r>
                        <a:rPr lang="de-DE" i="1">
                          <a:latin typeface="Cambria Math"/>
                          <a:ea typeface="Cambria Math"/>
                        </a:rPr>
                        <m:t>𝑓</m:t>
                      </m:r>
                      <m:r>
                        <a:rPr lang="de-DE" i="1">
                          <a:latin typeface="Cambria Math"/>
                          <a:ea typeface="Cambria Math"/>
                        </a:rPr>
                        <m:t>3</m:t>
                      </m:r>
                      <m:r>
                        <a:rPr lang="de-DE" b="0" i="0" smtClean="0">
                          <a:latin typeface="Cambria Math"/>
                          <a:ea typeface="Cambria Math"/>
                        </a:rPr>
                        <m:t>)</m:t>
                      </m:r>
                    </m:oMath>
                  </m:oMathPara>
                </a14:m>
                <a:endParaRPr lang="de-DE" dirty="0"/>
              </a:p>
            </p:txBody>
          </p:sp>
        </mc:Choice>
        <mc:Fallback xmlns="">
          <p:sp>
            <p:nvSpPr>
              <p:cNvPr id="5" name="Textfeld 4"/>
              <p:cNvSpPr txBox="1">
                <a:spLocks noRot="1" noChangeAspect="1" noMove="1" noResize="1" noEditPoints="1" noAdjustHandles="1" noChangeArrowheads="1" noChangeShapeType="1" noTextEdit="1"/>
              </p:cNvSpPr>
              <p:nvPr/>
            </p:nvSpPr>
            <p:spPr>
              <a:xfrm>
                <a:off x="1555173" y="2514600"/>
                <a:ext cx="5638800" cy="923330"/>
              </a:xfrm>
              <a:prstGeom prst="rect">
                <a:avLst/>
              </a:prstGeom>
              <a:blipFill rotWithShape="1">
                <a:blip r:embed="rId2"/>
                <a:stretch>
                  <a:fillRect b="-4636"/>
                </a:stretch>
              </a:blipFill>
            </p:spPr>
            <p:txBody>
              <a:bodyPr/>
              <a:lstStyle/>
              <a:p>
                <a:r>
                  <a:rPr lang="de-DE">
                    <a:noFill/>
                  </a:rPr>
                  <a:t> </a:t>
                </a:r>
              </a:p>
            </p:txBody>
          </p:sp>
        </mc:Fallback>
      </mc:AlternateContent>
      <p:pic>
        <p:nvPicPr>
          <p:cNvPr id="6146" name="Picture 2" descr="D:\stew_da\Pictures\temp\faultTree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430" y="3991841"/>
            <a:ext cx="3971925" cy="2381250"/>
          </a:xfrm>
          <a:prstGeom prst="rect">
            <a:avLst/>
          </a:prstGeom>
          <a:noFill/>
          <a:extLst>
            <a:ext uri="{909E8E84-426E-40DD-AFC4-6F175D3DCCD1}">
              <a14:hiddenFill xmlns:a14="http://schemas.microsoft.com/office/drawing/2010/main">
                <a:solidFill>
                  <a:srgbClr val="FFFFFF"/>
                </a:solidFill>
              </a14:hiddenFill>
            </a:ext>
          </a:extLst>
        </p:spPr>
      </p:pic>
      <p:sp>
        <p:nvSpPr>
          <p:cNvPr id="7" name="Rechteck 6"/>
          <p:cNvSpPr/>
          <p:nvPr/>
        </p:nvSpPr>
        <p:spPr>
          <a:xfrm>
            <a:off x="152400" y="3437930"/>
            <a:ext cx="4343400" cy="296287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4651664" y="3437930"/>
            <a:ext cx="4343400" cy="296287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mc:AlternateContent xmlns:mc="http://schemas.openxmlformats.org/markup-compatibility/2006" xmlns:a14="http://schemas.microsoft.com/office/drawing/2010/main">
        <mc:Choice Requires="a14">
          <p:sp>
            <p:nvSpPr>
              <p:cNvPr id="10" name="Textfeld 9"/>
              <p:cNvSpPr txBox="1"/>
              <p:nvPr/>
            </p:nvSpPr>
            <p:spPr>
              <a:xfrm>
                <a:off x="5119845" y="4736068"/>
                <a:ext cx="336547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de-DE" b="0" i="1" smtClean="0">
                          <a:latin typeface="Cambria Math"/>
                        </a:rPr>
                        <m:t>𝑃</m:t>
                      </m:r>
                      <m:d>
                        <m:dPr>
                          <m:ctrlPr>
                            <a:rPr lang="de-DE" b="0" i="1" smtClean="0">
                              <a:latin typeface="Cambria Math"/>
                            </a:rPr>
                          </m:ctrlPr>
                        </m:dPr>
                        <m:e>
                          <m:r>
                            <a:rPr lang="de-DE" b="0" i="1" smtClean="0">
                              <a:latin typeface="Cambria Math"/>
                            </a:rPr>
                            <m:t>𝑇𝐿𝐸</m:t>
                          </m:r>
                        </m:e>
                      </m:d>
                      <m:r>
                        <a:rPr lang="de-DE" b="0" i="1" smtClean="0">
                          <a:latin typeface="Cambria Math"/>
                        </a:rPr>
                        <m:t>=</m:t>
                      </m:r>
                      <m:r>
                        <a:rPr lang="de-DE" b="0" i="1" smtClean="0">
                          <a:latin typeface="Cambria Math"/>
                        </a:rPr>
                        <m:t>𝑃</m:t>
                      </m:r>
                      <m:d>
                        <m:dPr>
                          <m:ctrlPr>
                            <a:rPr lang="de-DE" b="0" i="1" smtClean="0">
                              <a:latin typeface="Cambria Math"/>
                            </a:rPr>
                          </m:ctrlPr>
                        </m:dPr>
                        <m:e>
                          <m:r>
                            <a:rPr lang="de-DE" b="0" i="1" smtClean="0">
                              <a:latin typeface="Cambria Math"/>
                            </a:rPr>
                            <m:t>𝑓</m:t>
                          </m:r>
                          <m:r>
                            <a:rPr lang="de-DE" b="0" i="1" smtClean="0">
                              <a:latin typeface="Cambria Math"/>
                            </a:rPr>
                            <m:t>1</m:t>
                          </m:r>
                        </m:e>
                      </m:d>
                      <m:r>
                        <a:rPr lang="de-DE" b="0" i="1" smtClean="0">
                          <a:latin typeface="Cambria Math"/>
                        </a:rPr>
                        <m:t>+</m:t>
                      </m:r>
                      <m:r>
                        <a:rPr lang="de-DE" b="0" i="1" smtClean="0">
                          <a:latin typeface="Cambria Math"/>
                        </a:rPr>
                        <m:t>𝑃</m:t>
                      </m:r>
                      <m:d>
                        <m:dPr>
                          <m:ctrlPr>
                            <a:rPr lang="de-DE" b="0" i="1" smtClean="0">
                              <a:latin typeface="Cambria Math"/>
                            </a:rPr>
                          </m:ctrlPr>
                        </m:dPr>
                        <m:e>
                          <m:r>
                            <a:rPr lang="de-DE" b="0" i="1" smtClean="0">
                              <a:latin typeface="Cambria Math"/>
                            </a:rPr>
                            <m:t>𝑓</m:t>
                          </m:r>
                          <m:r>
                            <a:rPr lang="de-DE" b="0" i="1" smtClean="0">
                              <a:latin typeface="Cambria Math"/>
                            </a:rPr>
                            <m:t>2</m:t>
                          </m:r>
                        </m:e>
                      </m:d>
                      <m:r>
                        <a:rPr lang="de-DE" b="0" i="1" smtClean="0">
                          <a:latin typeface="Cambria Math"/>
                        </a:rPr>
                        <m:t>𝑃</m:t>
                      </m:r>
                      <m:r>
                        <a:rPr lang="de-DE" b="0" i="1" smtClean="0">
                          <a:latin typeface="Cambria Math"/>
                        </a:rPr>
                        <m:t>(</m:t>
                      </m:r>
                      <m:r>
                        <a:rPr lang="de-DE" b="0" i="1" smtClean="0">
                          <a:latin typeface="Cambria Math"/>
                        </a:rPr>
                        <m:t>𝑓</m:t>
                      </m:r>
                      <m:r>
                        <a:rPr lang="de-DE" b="0" i="1" smtClean="0">
                          <a:latin typeface="Cambria Math"/>
                        </a:rPr>
                        <m:t>3)</m:t>
                      </m:r>
                    </m:oMath>
                  </m:oMathPara>
                </a14:m>
                <a:endParaRPr lang="de-DE" dirty="0"/>
              </a:p>
            </p:txBody>
          </p:sp>
        </mc:Choice>
        <mc:Fallback xmlns="">
          <p:sp>
            <p:nvSpPr>
              <p:cNvPr id="10" name="Textfeld 9"/>
              <p:cNvSpPr txBox="1">
                <a:spLocks noRot="1" noChangeAspect="1" noMove="1" noResize="1" noEditPoints="1" noAdjustHandles="1" noChangeArrowheads="1" noChangeShapeType="1" noTextEdit="1"/>
              </p:cNvSpPr>
              <p:nvPr/>
            </p:nvSpPr>
            <p:spPr>
              <a:xfrm>
                <a:off x="5119845" y="4736068"/>
                <a:ext cx="3365473" cy="369332"/>
              </a:xfrm>
              <a:prstGeom prst="rect">
                <a:avLst/>
              </a:prstGeom>
              <a:blipFill rotWithShape="1">
                <a:blip r:embed="rId4"/>
                <a:stretch>
                  <a:fillRect b="-13115"/>
                </a:stretch>
              </a:blipFill>
            </p:spPr>
            <p:txBody>
              <a:bodyPr/>
              <a:lstStyle/>
              <a:p>
                <a:r>
                  <a:rPr lang="de-DE">
                    <a:noFill/>
                  </a:rPr>
                  <a:t> </a:t>
                </a:r>
              </a:p>
            </p:txBody>
          </p:sp>
        </mc:Fallback>
      </mc:AlternateContent>
      <p:sp>
        <p:nvSpPr>
          <p:cNvPr id="8" name="Textfeld 7"/>
          <p:cNvSpPr txBox="1"/>
          <p:nvPr/>
        </p:nvSpPr>
        <p:spPr>
          <a:xfrm>
            <a:off x="5669973" y="3437930"/>
            <a:ext cx="2343334" cy="369332"/>
          </a:xfrm>
          <a:prstGeom prst="rect">
            <a:avLst/>
          </a:prstGeom>
          <a:noFill/>
        </p:spPr>
        <p:txBody>
          <a:bodyPr wrap="none" rtlCol="0">
            <a:spAutoFit/>
          </a:bodyPr>
          <a:lstStyle/>
          <a:p>
            <a:r>
              <a:rPr lang="de-DE" i="1" u="sng" dirty="0" err="1" smtClean="0"/>
              <a:t>Probabilistic</a:t>
            </a:r>
            <a:r>
              <a:rPr lang="de-DE" i="1" u="sng" dirty="0" smtClean="0"/>
              <a:t> Analysis</a:t>
            </a:r>
            <a:endParaRPr lang="de-DE" i="1" u="sng" dirty="0"/>
          </a:p>
        </p:txBody>
      </p:sp>
      <p:sp>
        <p:nvSpPr>
          <p:cNvPr id="12" name="Textfeld 11"/>
          <p:cNvSpPr txBox="1"/>
          <p:nvPr/>
        </p:nvSpPr>
        <p:spPr>
          <a:xfrm>
            <a:off x="990600" y="3446502"/>
            <a:ext cx="2133854" cy="369332"/>
          </a:xfrm>
          <a:prstGeom prst="rect">
            <a:avLst/>
          </a:prstGeom>
          <a:noFill/>
        </p:spPr>
        <p:txBody>
          <a:bodyPr wrap="none" rtlCol="0">
            <a:spAutoFit/>
          </a:bodyPr>
          <a:lstStyle/>
          <a:p>
            <a:r>
              <a:rPr lang="de-DE" i="1" u="sng" dirty="0" smtClean="0"/>
              <a:t>Fault </a:t>
            </a:r>
            <a:r>
              <a:rPr lang="de-DE" i="1" u="sng" dirty="0" err="1" smtClean="0"/>
              <a:t>Tree</a:t>
            </a:r>
            <a:r>
              <a:rPr lang="de-DE" i="1" u="sng" dirty="0" smtClean="0"/>
              <a:t> Analysis</a:t>
            </a:r>
            <a:endParaRPr lang="de-DE" i="1" u="sng" dirty="0"/>
          </a:p>
        </p:txBody>
      </p:sp>
      <p:sp>
        <p:nvSpPr>
          <p:cNvPr id="14" name="Titel 1"/>
          <p:cNvSpPr>
            <a:spLocks noGrp="1"/>
          </p:cNvSpPr>
          <p:nvPr>
            <p:ph type="title"/>
          </p:nvPr>
        </p:nvSpPr>
        <p:spPr>
          <a:xfrm>
            <a:off x="762000" y="609600"/>
            <a:ext cx="7772400" cy="503237"/>
          </a:xfrm>
        </p:spPr>
        <p:txBody>
          <a:bodyPr/>
          <a:lstStyle/>
          <a:p>
            <a:r>
              <a:rPr lang="de-DE" sz="2400" dirty="0" err="1" smtClean="0"/>
              <a:t>Perform</a:t>
            </a:r>
            <a:r>
              <a:rPr lang="de-DE" sz="2400" dirty="0" smtClean="0"/>
              <a:t> Analysis</a:t>
            </a:r>
            <a:endParaRPr lang="de-DE" sz="2400" dirty="0"/>
          </a:p>
        </p:txBody>
      </p:sp>
    </p:spTree>
    <p:extLst>
      <p:ext uri="{BB962C8B-B14F-4D97-AF65-F5344CB8AC3E}">
        <p14:creationId xmlns:p14="http://schemas.microsoft.com/office/powerpoint/2010/main" val="4074568652"/>
      </p:ext>
    </p:extLst>
  </p:cSld>
  <p:clrMapOvr>
    <a:masterClrMapping/>
  </p:clrMapOvr>
  <p:transition>
    <p:wipe dir="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
          </p:nvPr>
        </p:nvSpPr>
        <p:spPr/>
        <p:txBody>
          <a:bodyPr/>
          <a:lstStyle/>
          <a:p>
            <a:r>
              <a:rPr lang="de-DE" dirty="0" err="1" smtClean="0"/>
              <a:t>Automatically</a:t>
            </a:r>
            <a:r>
              <a:rPr lang="de-DE" dirty="0" smtClean="0"/>
              <a:t> </a:t>
            </a:r>
            <a:r>
              <a:rPr lang="de-DE" dirty="0" err="1" smtClean="0"/>
              <a:t>generate</a:t>
            </a:r>
            <a:r>
              <a:rPr lang="de-DE" dirty="0" smtClean="0"/>
              <a:t> SOTERIA </a:t>
            </a:r>
            <a:r>
              <a:rPr lang="de-DE" dirty="0" err="1" smtClean="0"/>
              <a:t>model</a:t>
            </a:r>
            <a:endParaRPr lang="de-DE" dirty="0" smtClean="0"/>
          </a:p>
          <a:p>
            <a:pPr marL="0" indent="0">
              <a:buNone/>
            </a:pPr>
            <a:endParaRPr lang="de-DE" dirty="0"/>
          </a:p>
          <a:p>
            <a:endParaRPr lang="de-DE" dirty="0" smtClean="0"/>
          </a:p>
          <a:p>
            <a:endParaRPr lang="de-DE" dirty="0"/>
          </a:p>
          <a:p>
            <a:endParaRPr lang="de-DE" dirty="0" smtClean="0"/>
          </a:p>
          <a:p>
            <a:endParaRPr lang="de-DE" dirty="0"/>
          </a:p>
          <a:p>
            <a:endParaRPr lang="de-DE" dirty="0" smtClean="0"/>
          </a:p>
          <a:p>
            <a:pPr marL="0" indent="0">
              <a:buNone/>
            </a:pPr>
            <a:endParaRPr lang="de-DE" dirty="0"/>
          </a:p>
        </p:txBody>
      </p:sp>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67</a:t>
            </a:fld>
            <a:endParaRPr lang="en-US" dirty="0"/>
          </a:p>
        </p:txBody>
      </p:sp>
      <p:pic>
        <p:nvPicPr>
          <p:cNvPr id="9" name="Picture 3" descr="D:\stew_da\Pictures\temp\p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886201"/>
            <a:ext cx="1977930" cy="21336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feld 9"/>
          <p:cNvSpPr txBox="1"/>
          <p:nvPr/>
        </p:nvSpPr>
        <p:spPr>
          <a:xfrm>
            <a:off x="1067089" y="4648200"/>
            <a:ext cx="902811" cy="369332"/>
          </a:xfrm>
          <a:prstGeom prst="rect">
            <a:avLst/>
          </a:prstGeom>
          <a:noFill/>
        </p:spPr>
        <p:txBody>
          <a:bodyPr wrap="none" rtlCol="0">
            <a:spAutoFit/>
          </a:bodyPr>
          <a:lstStyle/>
          <a:p>
            <a:r>
              <a:rPr lang="de-DE" dirty="0" err="1" smtClean="0"/>
              <a:t>OCaml</a:t>
            </a:r>
            <a:endParaRPr lang="de-DE" dirty="0"/>
          </a:p>
        </p:txBody>
      </p:sp>
      <p:sp>
        <p:nvSpPr>
          <p:cNvPr id="20" name="Titel 1"/>
          <p:cNvSpPr>
            <a:spLocks noGrp="1"/>
          </p:cNvSpPr>
          <p:nvPr>
            <p:ph type="title"/>
          </p:nvPr>
        </p:nvSpPr>
        <p:spPr>
          <a:xfrm>
            <a:off x="762000" y="609600"/>
            <a:ext cx="7772400" cy="503237"/>
          </a:xfrm>
        </p:spPr>
        <p:txBody>
          <a:bodyPr/>
          <a:lstStyle/>
          <a:p>
            <a:r>
              <a:rPr lang="de-DE" sz="2400" dirty="0" err="1" smtClean="0"/>
              <a:t>Perform</a:t>
            </a:r>
            <a:r>
              <a:rPr lang="de-DE" sz="2400" dirty="0" smtClean="0"/>
              <a:t> Analysis</a:t>
            </a:r>
            <a:endParaRPr lang="de-DE" sz="2400" dirty="0"/>
          </a:p>
        </p:txBody>
      </p:sp>
    </p:spTree>
    <p:extLst>
      <p:ext uri="{BB962C8B-B14F-4D97-AF65-F5344CB8AC3E}">
        <p14:creationId xmlns:p14="http://schemas.microsoft.com/office/powerpoint/2010/main" val="1769893724"/>
      </p:ext>
    </p:extLst>
  </p:cSld>
  <p:clrMapOvr>
    <a:masterClrMapping/>
  </p:clrMapOvr>
  <p:transition>
    <p:wipe dir="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
          </p:nvPr>
        </p:nvSpPr>
        <p:spPr/>
        <p:txBody>
          <a:bodyPr/>
          <a:lstStyle/>
          <a:p>
            <a:r>
              <a:rPr lang="de-DE" dirty="0" err="1" smtClean="0"/>
              <a:t>Automatically</a:t>
            </a:r>
            <a:r>
              <a:rPr lang="de-DE" dirty="0" smtClean="0"/>
              <a:t> </a:t>
            </a:r>
            <a:r>
              <a:rPr lang="de-DE" dirty="0" err="1" smtClean="0"/>
              <a:t>generate</a:t>
            </a:r>
            <a:r>
              <a:rPr lang="de-DE" dirty="0" smtClean="0"/>
              <a:t> SOTERIA </a:t>
            </a:r>
            <a:r>
              <a:rPr lang="de-DE" dirty="0" err="1" smtClean="0"/>
              <a:t>model</a:t>
            </a:r>
            <a:endParaRPr lang="de-DE" dirty="0" smtClean="0"/>
          </a:p>
          <a:p>
            <a:r>
              <a:rPr lang="de-DE" dirty="0" smtClean="0"/>
              <a:t>Feed </a:t>
            </a:r>
            <a:r>
              <a:rPr lang="de-DE" dirty="0" err="1" smtClean="0"/>
              <a:t>model</a:t>
            </a:r>
            <a:r>
              <a:rPr lang="de-DE" dirty="0" smtClean="0"/>
              <a:t> </a:t>
            </a:r>
            <a:r>
              <a:rPr lang="de-DE" dirty="0" err="1" smtClean="0"/>
              <a:t>into</a:t>
            </a:r>
            <a:r>
              <a:rPr lang="de-DE" dirty="0" smtClean="0"/>
              <a:t> SOTERIA </a:t>
            </a:r>
            <a:r>
              <a:rPr lang="de-DE" dirty="0" err="1" smtClean="0"/>
              <a:t>tool</a:t>
            </a:r>
            <a:endParaRPr lang="de-DE" dirty="0"/>
          </a:p>
          <a:p>
            <a:endParaRPr lang="de-DE" dirty="0" smtClean="0"/>
          </a:p>
          <a:p>
            <a:endParaRPr lang="de-DE" dirty="0"/>
          </a:p>
          <a:p>
            <a:endParaRPr lang="de-DE" dirty="0" smtClean="0"/>
          </a:p>
          <a:p>
            <a:endParaRPr lang="de-DE" dirty="0"/>
          </a:p>
          <a:p>
            <a:endParaRPr lang="de-DE" dirty="0" smtClean="0"/>
          </a:p>
          <a:p>
            <a:pPr marL="0" indent="0">
              <a:buNone/>
            </a:pPr>
            <a:endParaRPr lang="de-DE" dirty="0"/>
          </a:p>
        </p:txBody>
      </p:sp>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68</a:t>
            </a:fld>
            <a:endParaRPr lang="en-US" dirty="0"/>
          </a:p>
        </p:txBody>
      </p:sp>
      <p:pic>
        <p:nvPicPr>
          <p:cNvPr id="10" name="Picture 3" descr="D:\stew_da\Pictures\temp\p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886201"/>
            <a:ext cx="1977930" cy="21336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feld 10"/>
          <p:cNvSpPr txBox="1"/>
          <p:nvPr/>
        </p:nvSpPr>
        <p:spPr>
          <a:xfrm>
            <a:off x="1067089" y="4648200"/>
            <a:ext cx="902811" cy="369332"/>
          </a:xfrm>
          <a:prstGeom prst="rect">
            <a:avLst/>
          </a:prstGeom>
          <a:noFill/>
        </p:spPr>
        <p:txBody>
          <a:bodyPr wrap="none" rtlCol="0">
            <a:spAutoFit/>
          </a:bodyPr>
          <a:lstStyle/>
          <a:p>
            <a:r>
              <a:rPr lang="de-DE" dirty="0" err="1" smtClean="0"/>
              <a:t>OCaml</a:t>
            </a:r>
            <a:endParaRPr lang="de-DE" dirty="0"/>
          </a:p>
        </p:txBody>
      </p:sp>
      <p:sp>
        <p:nvSpPr>
          <p:cNvPr id="12" name="Pfeil nach rechts 11"/>
          <p:cNvSpPr/>
          <p:nvPr/>
        </p:nvSpPr>
        <p:spPr>
          <a:xfrm>
            <a:off x="2755681" y="4590550"/>
            <a:ext cx="978408" cy="48463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p:cNvSpPr/>
          <p:nvPr/>
        </p:nvSpPr>
        <p:spPr>
          <a:xfrm>
            <a:off x="3962689" y="3886201"/>
            <a:ext cx="1524000" cy="186106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extfeld 13"/>
          <p:cNvSpPr txBox="1"/>
          <p:nvPr/>
        </p:nvSpPr>
        <p:spPr>
          <a:xfrm>
            <a:off x="4125807" y="4643551"/>
            <a:ext cx="1197764" cy="369332"/>
          </a:xfrm>
          <a:prstGeom prst="rect">
            <a:avLst/>
          </a:prstGeom>
          <a:noFill/>
        </p:spPr>
        <p:txBody>
          <a:bodyPr wrap="none" rtlCol="0">
            <a:spAutoFit/>
          </a:bodyPr>
          <a:lstStyle/>
          <a:p>
            <a:r>
              <a:rPr lang="de-DE" dirty="0" smtClean="0"/>
              <a:t>SOTERIA</a:t>
            </a:r>
            <a:endParaRPr lang="de-DE" dirty="0"/>
          </a:p>
        </p:txBody>
      </p:sp>
      <p:sp>
        <p:nvSpPr>
          <p:cNvPr id="21" name="Titel 1"/>
          <p:cNvSpPr>
            <a:spLocks noGrp="1"/>
          </p:cNvSpPr>
          <p:nvPr>
            <p:ph type="title"/>
          </p:nvPr>
        </p:nvSpPr>
        <p:spPr>
          <a:xfrm>
            <a:off x="762000" y="609600"/>
            <a:ext cx="7772400" cy="503237"/>
          </a:xfrm>
        </p:spPr>
        <p:txBody>
          <a:bodyPr/>
          <a:lstStyle/>
          <a:p>
            <a:r>
              <a:rPr lang="de-DE" sz="2400" dirty="0" err="1" smtClean="0"/>
              <a:t>Perform</a:t>
            </a:r>
            <a:r>
              <a:rPr lang="de-DE" sz="2400" dirty="0" smtClean="0"/>
              <a:t> Analysis</a:t>
            </a:r>
            <a:endParaRPr lang="de-DE" sz="2400" dirty="0"/>
          </a:p>
        </p:txBody>
      </p:sp>
    </p:spTree>
    <p:extLst>
      <p:ext uri="{BB962C8B-B14F-4D97-AF65-F5344CB8AC3E}">
        <p14:creationId xmlns:p14="http://schemas.microsoft.com/office/powerpoint/2010/main" val="1683938693"/>
      </p:ext>
    </p:extLst>
  </p:cSld>
  <p:clrMapOvr>
    <a:masterClrMapping/>
  </p:clrMapOvr>
  <p:transition>
    <p:wipe dir="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
          </p:nvPr>
        </p:nvSpPr>
        <p:spPr/>
        <p:txBody>
          <a:bodyPr/>
          <a:lstStyle/>
          <a:p>
            <a:r>
              <a:rPr lang="de-DE" dirty="0" err="1" smtClean="0"/>
              <a:t>Automatically</a:t>
            </a:r>
            <a:r>
              <a:rPr lang="de-DE" dirty="0" smtClean="0"/>
              <a:t> </a:t>
            </a:r>
            <a:r>
              <a:rPr lang="de-DE" dirty="0" err="1" smtClean="0"/>
              <a:t>generate</a:t>
            </a:r>
            <a:r>
              <a:rPr lang="de-DE" dirty="0" smtClean="0"/>
              <a:t> SOTERIA </a:t>
            </a:r>
            <a:r>
              <a:rPr lang="de-DE" dirty="0" err="1" smtClean="0"/>
              <a:t>model</a:t>
            </a:r>
            <a:endParaRPr lang="de-DE" dirty="0" smtClean="0"/>
          </a:p>
          <a:p>
            <a:r>
              <a:rPr lang="de-DE" dirty="0" smtClean="0"/>
              <a:t>Feed </a:t>
            </a:r>
            <a:r>
              <a:rPr lang="de-DE" dirty="0" err="1" smtClean="0"/>
              <a:t>model</a:t>
            </a:r>
            <a:r>
              <a:rPr lang="de-DE" dirty="0" smtClean="0"/>
              <a:t> </a:t>
            </a:r>
            <a:r>
              <a:rPr lang="de-DE" dirty="0" err="1" smtClean="0"/>
              <a:t>into</a:t>
            </a:r>
            <a:r>
              <a:rPr lang="de-DE" dirty="0" smtClean="0"/>
              <a:t> SOTERIA </a:t>
            </a:r>
            <a:r>
              <a:rPr lang="de-DE" dirty="0" err="1" smtClean="0"/>
              <a:t>tool</a:t>
            </a:r>
            <a:endParaRPr lang="de-DE" dirty="0" smtClean="0"/>
          </a:p>
          <a:p>
            <a:r>
              <a:rPr lang="de-DE" dirty="0" smtClean="0"/>
              <a:t>SOTERIA </a:t>
            </a:r>
            <a:r>
              <a:rPr lang="de-DE" dirty="0" err="1" smtClean="0"/>
              <a:t>performs</a:t>
            </a:r>
            <a:r>
              <a:rPr lang="de-DE" dirty="0" smtClean="0"/>
              <a:t> </a:t>
            </a:r>
            <a:r>
              <a:rPr lang="de-DE" dirty="0" err="1" smtClean="0"/>
              <a:t>boolean</a:t>
            </a:r>
            <a:r>
              <a:rPr lang="de-DE" dirty="0" smtClean="0"/>
              <a:t> </a:t>
            </a:r>
            <a:r>
              <a:rPr lang="de-DE" dirty="0" err="1" smtClean="0"/>
              <a:t>algebra</a:t>
            </a:r>
            <a:r>
              <a:rPr lang="de-DE" dirty="0" smtClean="0"/>
              <a:t> </a:t>
            </a:r>
            <a:r>
              <a:rPr lang="de-DE" dirty="0" err="1" smtClean="0"/>
              <a:t>and</a:t>
            </a:r>
            <a:r>
              <a:rPr lang="de-DE" dirty="0" smtClean="0"/>
              <a:t> </a:t>
            </a:r>
            <a:r>
              <a:rPr lang="de-DE" dirty="0" err="1" smtClean="0"/>
              <a:t>probabilistic</a:t>
            </a:r>
            <a:r>
              <a:rPr lang="de-DE" dirty="0" smtClean="0"/>
              <a:t> </a:t>
            </a:r>
            <a:r>
              <a:rPr lang="de-DE" dirty="0" err="1" smtClean="0"/>
              <a:t>calculations</a:t>
            </a:r>
            <a:endParaRPr lang="de-DE" dirty="0" smtClean="0"/>
          </a:p>
          <a:p>
            <a:r>
              <a:rPr lang="de-DE" dirty="0" smtClean="0"/>
              <a:t>Output </a:t>
            </a:r>
            <a:r>
              <a:rPr lang="de-DE" dirty="0" err="1" smtClean="0"/>
              <a:t>includes</a:t>
            </a:r>
            <a:r>
              <a:rPr lang="de-DE" dirty="0" smtClean="0"/>
              <a:t> </a:t>
            </a:r>
            <a:r>
              <a:rPr lang="de-DE" dirty="0" err="1" smtClean="0"/>
              <a:t>behavior</a:t>
            </a:r>
            <a:r>
              <a:rPr lang="de-DE" dirty="0" smtClean="0"/>
              <a:t> </a:t>
            </a:r>
            <a:r>
              <a:rPr lang="de-DE" dirty="0" err="1" smtClean="0"/>
              <a:t>propagation</a:t>
            </a:r>
            <a:r>
              <a:rPr lang="de-DE" dirty="0" smtClean="0"/>
              <a:t>, fault </a:t>
            </a:r>
            <a:r>
              <a:rPr lang="de-DE" dirty="0" err="1" smtClean="0"/>
              <a:t>trees</a:t>
            </a:r>
            <a:r>
              <a:rPr lang="de-DE" dirty="0" smtClean="0"/>
              <a:t>, </a:t>
            </a:r>
            <a:r>
              <a:rPr lang="de-DE" dirty="0" err="1" smtClean="0"/>
              <a:t>probabilities</a:t>
            </a:r>
            <a:r>
              <a:rPr lang="de-DE" dirty="0" smtClean="0"/>
              <a:t>, etc.</a:t>
            </a:r>
          </a:p>
          <a:p>
            <a:endParaRPr lang="de-DE" dirty="0"/>
          </a:p>
          <a:p>
            <a:endParaRPr lang="de-DE" dirty="0" smtClean="0"/>
          </a:p>
          <a:p>
            <a:endParaRPr lang="de-DE" dirty="0"/>
          </a:p>
          <a:p>
            <a:endParaRPr lang="de-DE" dirty="0" smtClean="0"/>
          </a:p>
          <a:p>
            <a:endParaRPr lang="de-DE" dirty="0"/>
          </a:p>
          <a:p>
            <a:endParaRPr lang="de-DE" dirty="0" smtClean="0"/>
          </a:p>
          <a:p>
            <a:pPr marL="0" indent="0">
              <a:buNone/>
            </a:pPr>
            <a:endParaRPr lang="de-DE" dirty="0"/>
          </a:p>
        </p:txBody>
      </p:sp>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69</a:t>
            </a:fld>
            <a:endParaRPr lang="en-US" dirty="0"/>
          </a:p>
        </p:txBody>
      </p:sp>
      <p:pic>
        <p:nvPicPr>
          <p:cNvPr id="5" name="Picture 3" descr="D:\stew_da\Pictures\temp\pag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886201"/>
            <a:ext cx="1977930" cy="2133600"/>
          </a:xfrm>
          <a:prstGeom prst="rect">
            <a:avLst/>
          </a:prstGeom>
          <a:noFill/>
          <a:extLst>
            <a:ext uri="{909E8E84-426E-40DD-AFC4-6F175D3DCCD1}">
              <a14:hiddenFill xmlns:a14="http://schemas.microsoft.com/office/drawing/2010/main">
                <a:solidFill>
                  <a:srgbClr val="FFFFFF"/>
                </a:solidFill>
              </a14:hiddenFill>
            </a:ext>
          </a:extLst>
        </p:spPr>
      </p:pic>
      <p:sp>
        <p:nvSpPr>
          <p:cNvPr id="6" name="Textfeld 5"/>
          <p:cNvSpPr txBox="1"/>
          <p:nvPr/>
        </p:nvSpPr>
        <p:spPr>
          <a:xfrm>
            <a:off x="1067089" y="4648200"/>
            <a:ext cx="902811" cy="369332"/>
          </a:xfrm>
          <a:prstGeom prst="rect">
            <a:avLst/>
          </a:prstGeom>
          <a:noFill/>
        </p:spPr>
        <p:txBody>
          <a:bodyPr wrap="none" rtlCol="0">
            <a:spAutoFit/>
          </a:bodyPr>
          <a:lstStyle/>
          <a:p>
            <a:r>
              <a:rPr lang="de-DE" dirty="0" err="1" smtClean="0"/>
              <a:t>OCaml</a:t>
            </a:r>
            <a:endParaRPr lang="de-DE" dirty="0"/>
          </a:p>
        </p:txBody>
      </p:sp>
      <p:sp>
        <p:nvSpPr>
          <p:cNvPr id="7" name="Pfeil nach rechts 6"/>
          <p:cNvSpPr/>
          <p:nvPr/>
        </p:nvSpPr>
        <p:spPr>
          <a:xfrm>
            <a:off x="2755681" y="4590550"/>
            <a:ext cx="978408" cy="48463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Ellipse 7"/>
          <p:cNvSpPr/>
          <p:nvPr/>
        </p:nvSpPr>
        <p:spPr>
          <a:xfrm>
            <a:off x="3962689" y="3886201"/>
            <a:ext cx="1524000" cy="186106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feld 8"/>
          <p:cNvSpPr txBox="1"/>
          <p:nvPr/>
        </p:nvSpPr>
        <p:spPr>
          <a:xfrm>
            <a:off x="4125807" y="4643551"/>
            <a:ext cx="1197764" cy="369332"/>
          </a:xfrm>
          <a:prstGeom prst="rect">
            <a:avLst/>
          </a:prstGeom>
          <a:noFill/>
        </p:spPr>
        <p:txBody>
          <a:bodyPr wrap="none" rtlCol="0">
            <a:spAutoFit/>
          </a:bodyPr>
          <a:lstStyle/>
          <a:p>
            <a:r>
              <a:rPr lang="de-DE" dirty="0" smtClean="0"/>
              <a:t>SOTERIA</a:t>
            </a:r>
            <a:endParaRPr lang="de-DE" dirty="0"/>
          </a:p>
        </p:txBody>
      </p:sp>
      <p:sp>
        <p:nvSpPr>
          <p:cNvPr id="10" name="Pfeil nach rechts 9"/>
          <p:cNvSpPr/>
          <p:nvPr/>
        </p:nvSpPr>
        <p:spPr>
          <a:xfrm>
            <a:off x="5639089" y="4544568"/>
            <a:ext cx="978408" cy="48463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Picture 3" descr="D:\stew_da\Pictures\temp\pag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2089" y="3886201"/>
            <a:ext cx="197793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66619" y="4121504"/>
            <a:ext cx="1408869" cy="400050"/>
          </a:xfrm>
          <a:prstGeom prst="rect">
            <a:avLst/>
          </a:prstGeom>
          <a:noFill/>
          <a:ln>
            <a:noFill/>
          </a:ln>
        </p:spPr>
      </p:pic>
      <p:graphicFrame>
        <p:nvGraphicFramePr>
          <p:cNvPr id="13" name="Objekt 12"/>
          <p:cNvGraphicFramePr>
            <a:graphicFrameLocks noChangeAspect="1"/>
          </p:cNvGraphicFramePr>
          <p:nvPr>
            <p:extLst>
              <p:ext uri="{D42A27DB-BD31-4B8C-83A1-F6EECF244321}">
                <p14:modId xmlns:p14="http://schemas.microsoft.com/office/powerpoint/2010/main" val="691568513"/>
              </p:ext>
            </p:extLst>
          </p:nvPr>
        </p:nvGraphicFramePr>
        <p:xfrm>
          <a:off x="7521772" y="4643551"/>
          <a:ext cx="953716" cy="573897"/>
        </p:xfrm>
        <a:graphic>
          <a:graphicData uri="http://schemas.openxmlformats.org/presentationml/2006/ole">
            <mc:AlternateContent xmlns:mc="http://schemas.openxmlformats.org/markup-compatibility/2006">
              <mc:Choice xmlns:v="urn:schemas-microsoft-com:vml" Requires="v">
                <p:oleObj spid="_x0000_s8360" name="Visio" r:id="rId5" imgW="3994563" imgH="2403544" progId="Visio.Drawing.11">
                  <p:embed/>
                </p:oleObj>
              </mc:Choice>
              <mc:Fallback>
                <p:oleObj name="Visio" r:id="rId5" imgW="3994563" imgH="2403544" progId="Visio.Drawing.11">
                  <p:embed/>
                  <p:pic>
                    <p:nvPicPr>
                      <p:cNvPr id="0" name=""/>
                      <p:cNvPicPr/>
                      <p:nvPr/>
                    </p:nvPicPr>
                    <p:blipFill>
                      <a:blip r:embed="rId6"/>
                      <a:stretch>
                        <a:fillRect/>
                      </a:stretch>
                    </p:blipFill>
                    <p:spPr>
                      <a:xfrm>
                        <a:off x="7521772" y="4643551"/>
                        <a:ext cx="953716" cy="573897"/>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4" name="Textfeld 13"/>
              <p:cNvSpPr txBox="1"/>
              <p:nvPr/>
            </p:nvSpPr>
            <p:spPr>
              <a:xfrm>
                <a:off x="7066619" y="5257800"/>
                <a:ext cx="704435" cy="5014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de-DE" sz="900" b="0" i="1" smtClean="0">
                          <a:latin typeface="Cambria Math"/>
                        </a:rPr>
                        <m:t>𝑃</m:t>
                      </m:r>
                      <m:d>
                        <m:dPr>
                          <m:ctrlPr>
                            <a:rPr lang="de-DE" sz="900" b="0" i="1" smtClean="0">
                              <a:latin typeface="Cambria Math"/>
                            </a:rPr>
                          </m:ctrlPr>
                        </m:dPr>
                        <m:e>
                          <m:r>
                            <a:rPr lang="de-DE" sz="900" b="0" i="1" smtClean="0">
                              <a:latin typeface="Cambria Math"/>
                            </a:rPr>
                            <m:t>𝑇𝐿𝐸</m:t>
                          </m:r>
                        </m:e>
                      </m:d>
                      <m:r>
                        <a:rPr lang="de-DE" sz="900" b="0" i="1" smtClean="0">
                          <a:latin typeface="Cambria Math"/>
                        </a:rPr>
                        <m:t>=</m:t>
                      </m:r>
                      <m:r>
                        <a:rPr lang="de-DE" sz="900" b="0" i="1" smtClean="0">
                          <a:latin typeface="Cambria Math"/>
                        </a:rPr>
                        <m:t>𝑃</m:t>
                      </m:r>
                      <m:d>
                        <m:dPr>
                          <m:ctrlPr>
                            <a:rPr lang="de-DE" sz="900" b="0" i="1" smtClean="0">
                              <a:latin typeface="Cambria Math"/>
                            </a:rPr>
                          </m:ctrlPr>
                        </m:dPr>
                        <m:e>
                          <m:r>
                            <a:rPr lang="de-DE" sz="900" b="0" i="1" smtClean="0">
                              <a:latin typeface="Cambria Math"/>
                            </a:rPr>
                            <m:t>𝑓</m:t>
                          </m:r>
                          <m:r>
                            <a:rPr lang="de-DE" sz="900" b="0" i="1" smtClean="0">
                              <a:latin typeface="Cambria Math"/>
                            </a:rPr>
                            <m:t>1</m:t>
                          </m:r>
                        </m:e>
                      </m:d>
                      <m:r>
                        <a:rPr lang="de-DE" sz="900" b="0" i="1" smtClean="0">
                          <a:latin typeface="Cambria Math"/>
                        </a:rPr>
                        <m:t>+</m:t>
                      </m:r>
                      <m:r>
                        <a:rPr lang="de-DE" sz="900" b="0" i="1" smtClean="0">
                          <a:latin typeface="Cambria Math"/>
                        </a:rPr>
                        <m:t>𝑃</m:t>
                      </m:r>
                      <m:d>
                        <m:dPr>
                          <m:ctrlPr>
                            <a:rPr lang="de-DE" sz="900" b="0" i="1" smtClean="0">
                              <a:latin typeface="Cambria Math"/>
                            </a:rPr>
                          </m:ctrlPr>
                        </m:dPr>
                        <m:e>
                          <m:r>
                            <a:rPr lang="de-DE" sz="900" b="0" i="1" smtClean="0">
                              <a:latin typeface="Cambria Math"/>
                            </a:rPr>
                            <m:t>𝑓</m:t>
                          </m:r>
                          <m:r>
                            <a:rPr lang="de-DE" sz="900" b="0" i="1" smtClean="0">
                              <a:latin typeface="Cambria Math"/>
                            </a:rPr>
                            <m:t>2</m:t>
                          </m:r>
                        </m:e>
                      </m:d>
                      <m:r>
                        <a:rPr lang="de-DE" sz="900" b="0" i="1" smtClean="0">
                          <a:latin typeface="Cambria Math"/>
                        </a:rPr>
                        <m:t>𝑃</m:t>
                      </m:r>
                      <m:r>
                        <a:rPr lang="de-DE" sz="900" b="0" i="1" smtClean="0">
                          <a:latin typeface="Cambria Math"/>
                        </a:rPr>
                        <m:t>(</m:t>
                      </m:r>
                      <m:r>
                        <a:rPr lang="de-DE" sz="900" b="0" i="1" smtClean="0">
                          <a:latin typeface="Cambria Math"/>
                        </a:rPr>
                        <m:t>𝑓</m:t>
                      </m:r>
                      <m:r>
                        <a:rPr lang="de-DE" sz="900" b="0" i="1" smtClean="0">
                          <a:latin typeface="Cambria Math"/>
                        </a:rPr>
                        <m:t>3)</m:t>
                      </m:r>
                    </m:oMath>
                  </m:oMathPara>
                </a14:m>
                <a:endParaRPr lang="de-DE" sz="900" dirty="0"/>
              </a:p>
            </p:txBody>
          </p:sp>
        </mc:Choice>
        <mc:Fallback xmlns="">
          <p:sp>
            <p:nvSpPr>
              <p:cNvPr id="14" name="Textfeld 13"/>
              <p:cNvSpPr txBox="1">
                <a:spLocks noRot="1" noChangeAspect="1" noMove="1" noResize="1" noEditPoints="1" noAdjustHandles="1" noChangeArrowheads="1" noChangeShapeType="1" noTextEdit="1"/>
              </p:cNvSpPr>
              <p:nvPr/>
            </p:nvSpPr>
            <p:spPr>
              <a:xfrm>
                <a:off x="7066619" y="5257800"/>
                <a:ext cx="704435" cy="501419"/>
              </a:xfrm>
              <a:prstGeom prst="rect">
                <a:avLst/>
              </a:prstGeom>
              <a:blipFill rotWithShape="1">
                <a:blip r:embed="rId7"/>
                <a:stretch>
                  <a:fillRect r="-21552"/>
                </a:stretch>
              </a:blipFill>
            </p:spPr>
            <p:txBody>
              <a:bodyPr/>
              <a:lstStyle/>
              <a:p>
                <a:r>
                  <a:rPr lang="de-DE">
                    <a:noFill/>
                  </a:rPr>
                  <a:t> </a:t>
                </a:r>
              </a:p>
            </p:txBody>
          </p:sp>
        </mc:Fallback>
      </mc:AlternateContent>
      <p:sp>
        <p:nvSpPr>
          <p:cNvPr id="16" name="Titel 1"/>
          <p:cNvSpPr>
            <a:spLocks noGrp="1"/>
          </p:cNvSpPr>
          <p:nvPr>
            <p:ph type="title"/>
          </p:nvPr>
        </p:nvSpPr>
        <p:spPr>
          <a:xfrm>
            <a:off x="762000" y="609600"/>
            <a:ext cx="7772400" cy="503237"/>
          </a:xfrm>
        </p:spPr>
        <p:txBody>
          <a:bodyPr/>
          <a:lstStyle/>
          <a:p>
            <a:r>
              <a:rPr lang="de-DE" sz="2400" dirty="0" err="1" smtClean="0"/>
              <a:t>Perform</a:t>
            </a:r>
            <a:r>
              <a:rPr lang="de-DE" sz="2400" dirty="0" smtClean="0"/>
              <a:t> Analysis</a:t>
            </a:r>
            <a:endParaRPr lang="de-DE" sz="2400" dirty="0"/>
          </a:p>
        </p:txBody>
      </p:sp>
    </p:spTree>
    <p:extLst>
      <p:ext uri="{BB962C8B-B14F-4D97-AF65-F5344CB8AC3E}">
        <p14:creationId xmlns:p14="http://schemas.microsoft.com/office/powerpoint/2010/main" val="3651665112"/>
      </p:ext>
    </p:extLst>
  </p:cSld>
  <p:clrMapOvr>
    <a:masterClrMapping/>
  </p:clrMapOvr>
  <p:transition>
    <p:wipe dir="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96736" y="2877879"/>
            <a:ext cx="5105400" cy="2800767"/>
          </a:xfrm>
          <a:prstGeom prst="rect">
            <a:avLst/>
          </a:prstGeom>
          <a:noFill/>
        </p:spPr>
        <p:txBody>
          <a:bodyPr wrap="square" rtlCol="0">
            <a:spAutoFit/>
          </a:bodyPr>
          <a:lstStyle/>
          <a:p>
            <a:r>
              <a:rPr lang="de-DE" sz="4400" dirty="0" smtClean="0">
                <a:latin typeface="+mn-lt"/>
              </a:rPr>
              <a:t>Demo Compositional Probablistic </a:t>
            </a:r>
          </a:p>
          <a:p>
            <a:r>
              <a:rPr lang="de-DE" sz="4400" dirty="0" smtClean="0">
                <a:latin typeface="+mn-lt"/>
              </a:rPr>
              <a:t>Fault Analysis</a:t>
            </a:r>
            <a:endParaRPr lang="en-US" sz="4400" dirty="0">
              <a:latin typeface="+mn-lt"/>
            </a:endParaRPr>
          </a:p>
        </p:txBody>
      </p:sp>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70</a:t>
            </a:fld>
            <a:endParaRPr lang="en-US"/>
          </a:p>
        </p:txBody>
      </p:sp>
    </p:spTree>
    <p:extLst>
      <p:ext uri="{BB962C8B-B14F-4D97-AF65-F5344CB8AC3E}">
        <p14:creationId xmlns:p14="http://schemas.microsoft.com/office/powerpoint/2010/main" val="37284955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00200" y="2877879"/>
            <a:ext cx="5105400" cy="1446550"/>
          </a:xfrm>
          <a:prstGeom prst="rect">
            <a:avLst/>
          </a:prstGeom>
          <a:noFill/>
        </p:spPr>
        <p:txBody>
          <a:bodyPr wrap="square" rtlCol="0">
            <a:spAutoFit/>
          </a:bodyPr>
          <a:lstStyle/>
          <a:p>
            <a:r>
              <a:rPr lang="de-DE" sz="4400" dirty="0" smtClean="0">
                <a:latin typeface="+mn-lt"/>
              </a:rPr>
              <a:t>Hardware Dependent Faults</a:t>
            </a:r>
            <a:endParaRPr lang="en-US" sz="4400" dirty="0">
              <a:latin typeface="+mn-lt"/>
            </a:endParaRPr>
          </a:p>
        </p:txBody>
      </p:sp>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71</a:t>
            </a:fld>
            <a:endParaRPr lang="en-US"/>
          </a:p>
        </p:txBody>
      </p:sp>
    </p:spTree>
    <p:extLst>
      <p:ext uri="{BB962C8B-B14F-4D97-AF65-F5344CB8AC3E}">
        <p14:creationId xmlns:p14="http://schemas.microsoft.com/office/powerpoint/2010/main" val="26959998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HW Failures</a:t>
            </a:r>
            <a:endParaRPr lang="en-US" dirty="0"/>
          </a:p>
        </p:txBody>
      </p:sp>
      <p:sp>
        <p:nvSpPr>
          <p:cNvPr id="3" name="Content Placeholder 2"/>
          <p:cNvSpPr>
            <a:spLocks noGrp="1"/>
          </p:cNvSpPr>
          <p:nvPr>
            <p:ph idx="1"/>
          </p:nvPr>
        </p:nvSpPr>
        <p:spPr>
          <a:xfrm>
            <a:off x="685800" y="1524000"/>
            <a:ext cx="7924800" cy="4800600"/>
          </a:xfrm>
        </p:spPr>
        <p:txBody>
          <a:bodyPr/>
          <a:lstStyle/>
          <a:p>
            <a:r>
              <a:rPr lang="en-US" dirty="0" smtClean="0"/>
              <a:t>Failures in hardware (HW) components can </a:t>
            </a:r>
          </a:p>
          <a:p>
            <a:pPr lvl="1"/>
            <a:r>
              <a:rPr lang="en-US" dirty="0" smtClean="0"/>
              <a:t>Trigger behavioral faults in the software (SW) or system (SYS) components that depend on them</a:t>
            </a:r>
          </a:p>
          <a:p>
            <a:pPr lvl="2"/>
            <a:r>
              <a:rPr lang="en-US" dirty="0" smtClean="0"/>
              <a:t>e.g., processor failure triggers faulty behavior in the process bound to it</a:t>
            </a:r>
          </a:p>
          <a:p>
            <a:pPr lvl="1"/>
            <a:r>
              <a:rPr lang="en-US" dirty="0" smtClean="0"/>
              <a:t>Trigger faults/failures at another HW component located nearby</a:t>
            </a:r>
          </a:p>
          <a:p>
            <a:pPr lvl="2"/>
            <a:r>
              <a:rPr lang="en-US" dirty="0"/>
              <a:t>e.g., </a:t>
            </a:r>
            <a:r>
              <a:rPr lang="en-US" dirty="0" smtClean="0"/>
              <a:t>cascading failure caused by a fire or water damage</a:t>
            </a:r>
          </a:p>
          <a:p>
            <a:pPr marL="914400" lvl="2" indent="0">
              <a:buNone/>
            </a:pPr>
            <a:endParaRPr lang="en-US" dirty="0"/>
          </a:p>
          <a:p>
            <a:r>
              <a:rPr lang="en-US" dirty="0"/>
              <a:t>There may be no concrete behaviors associated with HW components</a:t>
            </a:r>
          </a:p>
          <a:p>
            <a:pPr lvl="1"/>
            <a:r>
              <a:rPr lang="en-US" dirty="0"/>
              <a:t>Existing fault propagation in AGREE through nominal behavior requires modeling using data ports and AGREE behaviors, which </a:t>
            </a:r>
            <a:r>
              <a:rPr lang="en-US" dirty="0" smtClean="0"/>
              <a:t>may not be </a:t>
            </a:r>
            <a:r>
              <a:rPr lang="en-US" smtClean="0"/>
              <a:t>readily available for </a:t>
            </a:r>
            <a:r>
              <a:rPr lang="en-US" dirty="0"/>
              <a:t>HW components</a:t>
            </a:r>
          </a:p>
          <a:p>
            <a:pPr marL="0" lvl="2" indent="0">
              <a:buNone/>
            </a:pPr>
            <a:endParaRPr lang="de-DE" sz="1800" dirty="0"/>
          </a:p>
          <a:p>
            <a:pPr marL="342900" lvl="2" indent="-342900"/>
            <a:endParaRPr lang="en-US" sz="1800" dirty="0" smtClean="0">
              <a:ea typeface="+mn-ea"/>
            </a:endParaRPr>
          </a:p>
          <a:p>
            <a:pPr marL="914400" lvl="2" indent="0">
              <a:buNone/>
            </a:pPr>
            <a:endParaRPr lang="en-US" dirty="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72</a:t>
            </a:fld>
            <a:endParaRPr lang="en-US" dirty="0"/>
          </a:p>
        </p:txBody>
      </p:sp>
    </p:spTree>
    <p:extLst>
      <p:ext uri="{BB962C8B-B14F-4D97-AF65-F5344CB8AC3E}">
        <p14:creationId xmlns:p14="http://schemas.microsoft.com/office/powerpoint/2010/main" val="192878051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HW </a:t>
            </a:r>
            <a:r>
              <a:rPr lang="en-US" dirty="0"/>
              <a:t>Failures (Continued)</a:t>
            </a:r>
          </a:p>
        </p:txBody>
      </p:sp>
      <p:sp>
        <p:nvSpPr>
          <p:cNvPr id="3" name="Content Placeholder 2"/>
          <p:cNvSpPr>
            <a:spLocks noGrp="1"/>
          </p:cNvSpPr>
          <p:nvPr>
            <p:ph idx="1"/>
          </p:nvPr>
        </p:nvSpPr>
        <p:spPr>
          <a:xfrm>
            <a:off x="685800" y="1524000"/>
            <a:ext cx="7924800" cy="4800600"/>
          </a:xfrm>
        </p:spPr>
        <p:txBody>
          <a:bodyPr/>
          <a:lstStyle/>
          <a:p>
            <a:pPr marL="342900" lvl="2" indent="-342900"/>
            <a:r>
              <a:rPr lang="en-US" sz="1800" dirty="0" smtClean="0">
                <a:ea typeface="+mn-ea"/>
              </a:rPr>
              <a:t>Added fault model element for HW components</a:t>
            </a:r>
          </a:p>
          <a:p>
            <a:pPr marL="800100" lvl="3" indent="-342900"/>
            <a:r>
              <a:rPr lang="en-US" sz="1600" dirty="0" smtClean="0"/>
              <a:t>A triggering event stemming from the HW component</a:t>
            </a:r>
          </a:p>
          <a:p>
            <a:pPr marL="800100" lvl="3" indent="-342900"/>
            <a:r>
              <a:rPr lang="en-US" sz="1600" dirty="0" smtClean="0"/>
              <a:t>No behavioral effects or data ports</a:t>
            </a:r>
            <a:endParaRPr lang="de-DE" sz="1800" dirty="0"/>
          </a:p>
          <a:p>
            <a:pPr marL="342900" lvl="2" indent="-342900"/>
            <a:endParaRPr lang="en-US" sz="1800" dirty="0" smtClean="0">
              <a:ea typeface="+mn-ea"/>
            </a:endParaRPr>
          </a:p>
          <a:p>
            <a:pPr marL="914400" lvl="2" indent="0">
              <a:buNone/>
            </a:pPr>
            <a:endParaRPr lang="en-US" dirty="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73</a:t>
            </a:fld>
            <a:endParaRPr lang="en-US" dirty="0"/>
          </a:p>
        </p:txBody>
      </p:sp>
      <p:pic>
        <p:nvPicPr>
          <p:cNvPr id="9" name="Picture 2" descr="C:\Users\stew_da\Downloads\shutoff_S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819400"/>
            <a:ext cx="5867400" cy="2401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17717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Fault Propagations from HW Failures</a:t>
            </a:r>
            <a:endParaRPr lang="en-US" dirty="0"/>
          </a:p>
        </p:txBody>
      </p:sp>
      <p:sp>
        <p:nvSpPr>
          <p:cNvPr id="3" name="Content Placeholder 2"/>
          <p:cNvSpPr>
            <a:spLocks noGrp="1"/>
          </p:cNvSpPr>
          <p:nvPr>
            <p:ph idx="1"/>
          </p:nvPr>
        </p:nvSpPr>
        <p:spPr>
          <a:xfrm>
            <a:off x="685800" y="1524000"/>
            <a:ext cx="7924800" cy="4800600"/>
          </a:xfrm>
        </p:spPr>
        <p:txBody>
          <a:bodyPr/>
          <a:lstStyle/>
          <a:p>
            <a:r>
              <a:rPr lang="en-US" dirty="0" smtClean="0"/>
              <a:t>Fault </a:t>
            </a:r>
            <a:r>
              <a:rPr lang="en-US" dirty="0"/>
              <a:t>propagations </a:t>
            </a:r>
            <a:r>
              <a:rPr lang="en-US" dirty="0" smtClean="0"/>
              <a:t>from HW failures are </a:t>
            </a:r>
            <a:r>
              <a:rPr lang="en-US" dirty="0"/>
              <a:t>typically tied to the way components are connected or bound together</a:t>
            </a:r>
          </a:p>
          <a:p>
            <a:pPr lvl="1"/>
            <a:r>
              <a:rPr lang="en-US" dirty="0" smtClean="0"/>
              <a:t>This </a:t>
            </a:r>
            <a:r>
              <a:rPr lang="en-US" dirty="0"/>
              <a:t>information may not be available </a:t>
            </a:r>
            <a:r>
              <a:rPr lang="en-US" dirty="0" smtClean="0"/>
              <a:t>at the HW </a:t>
            </a:r>
            <a:r>
              <a:rPr lang="en-US" dirty="0"/>
              <a:t>components where the </a:t>
            </a:r>
            <a:r>
              <a:rPr lang="en-US" dirty="0" smtClean="0"/>
              <a:t>faults </a:t>
            </a:r>
            <a:r>
              <a:rPr lang="en-US" dirty="0"/>
              <a:t>are being </a:t>
            </a:r>
            <a:r>
              <a:rPr lang="en-US" dirty="0" smtClean="0"/>
              <a:t>specified</a:t>
            </a:r>
          </a:p>
          <a:p>
            <a:pPr lvl="1"/>
            <a:endParaRPr lang="en-US" dirty="0" smtClean="0"/>
          </a:p>
          <a:p>
            <a:r>
              <a:rPr lang="en-US" dirty="0" smtClean="0"/>
              <a:t>Allow users </a:t>
            </a:r>
            <a:r>
              <a:rPr lang="en-US" dirty="0"/>
              <a:t>to specify fault dependencies </a:t>
            </a:r>
            <a:r>
              <a:rPr lang="en-US" dirty="0" smtClean="0"/>
              <a:t>in system implementation where the dependencies are clear</a:t>
            </a:r>
          </a:p>
          <a:p>
            <a:pPr lvl="1"/>
            <a:r>
              <a:rPr lang="en-US" sz="1400" dirty="0" smtClean="0"/>
              <a:t>Specifies </a:t>
            </a:r>
            <a:r>
              <a:rPr lang="en-US" sz="1400" dirty="0"/>
              <a:t>which behavioral faults are </a:t>
            </a:r>
            <a:r>
              <a:rPr lang="en-US" sz="1400" dirty="0" smtClean="0"/>
              <a:t>triggered by the HW failure</a:t>
            </a:r>
          </a:p>
          <a:p>
            <a:pPr lvl="1"/>
            <a:r>
              <a:rPr lang="en-US" sz="1400" dirty="0" smtClean="0"/>
              <a:t>The tool auto propagates the fault once the HW failure is activated</a:t>
            </a:r>
            <a:endParaRPr lang="en-US" sz="1400" dirty="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74</a:t>
            </a:fld>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 y="4501842"/>
            <a:ext cx="7315200" cy="902316"/>
          </a:xfrm>
          <a:prstGeom prst="rect">
            <a:avLst/>
          </a:prstGeom>
        </p:spPr>
      </p:pic>
    </p:spTree>
    <p:extLst>
      <p:ext uri="{BB962C8B-B14F-4D97-AF65-F5344CB8AC3E}">
        <p14:creationId xmlns:p14="http://schemas.microsoft.com/office/powerpoint/2010/main" val="120463109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96736" y="2877879"/>
            <a:ext cx="5105400" cy="1446550"/>
          </a:xfrm>
          <a:prstGeom prst="rect">
            <a:avLst/>
          </a:prstGeom>
          <a:noFill/>
        </p:spPr>
        <p:txBody>
          <a:bodyPr wrap="square" rtlCol="0">
            <a:spAutoFit/>
          </a:bodyPr>
          <a:lstStyle/>
          <a:p>
            <a:r>
              <a:rPr lang="de-DE" sz="4400" dirty="0" smtClean="0">
                <a:latin typeface="+mn-lt"/>
              </a:rPr>
              <a:t>Demo Hardware Dependent Faults</a:t>
            </a:r>
            <a:endParaRPr lang="en-US" sz="4400" dirty="0">
              <a:latin typeface="+mn-lt"/>
            </a:endParaRPr>
          </a:p>
        </p:txBody>
      </p:sp>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75</a:t>
            </a:fld>
            <a:endParaRPr lang="en-US"/>
          </a:p>
        </p:txBody>
      </p:sp>
    </p:spTree>
    <p:extLst>
      <p:ext uri="{BB962C8B-B14F-4D97-AF65-F5344CB8AC3E}">
        <p14:creationId xmlns:p14="http://schemas.microsoft.com/office/powerpoint/2010/main" val="40413017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00200" y="2877879"/>
            <a:ext cx="5105400" cy="2800767"/>
          </a:xfrm>
          <a:prstGeom prst="rect">
            <a:avLst/>
          </a:prstGeom>
          <a:noFill/>
        </p:spPr>
        <p:txBody>
          <a:bodyPr wrap="square" rtlCol="0">
            <a:spAutoFit/>
          </a:bodyPr>
          <a:lstStyle/>
          <a:p>
            <a:r>
              <a:rPr lang="de-DE" sz="4400" dirty="0" smtClean="0">
                <a:latin typeface="+mn-lt"/>
              </a:rPr>
              <a:t>Support to System and Safety Engineering</a:t>
            </a:r>
            <a:endParaRPr lang="en-US" sz="4400" dirty="0">
              <a:latin typeface="+mn-lt"/>
            </a:endParaRPr>
          </a:p>
        </p:txBody>
      </p:sp>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76</a:t>
            </a:fld>
            <a:endParaRPr lang="en-US"/>
          </a:p>
        </p:txBody>
      </p:sp>
    </p:spTree>
    <p:extLst>
      <p:ext uri="{BB962C8B-B14F-4D97-AF65-F5344CB8AC3E}">
        <p14:creationId xmlns:p14="http://schemas.microsoft.com/office/powerpoint/2010/main" val="2420052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Integration to the ARP4754A Safety Assessment Process</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25" y="1676400"/>
            <a:ext cx="5715000" cy="5068019"/>
          </a:xfrm>
          <a:prstGeom prst="rect">
            <a:avLst/>
          </a:prstGeom>
        </p:spPr>
      </p:pic>
      <p:sp>
        <p:nvSpPr>
          <p:cNvPr id="4" name="TextBox 3"/>
          <p:cNvSpPr txBox="1"/>
          <p:nvPr/>
        </p:nvSpPr>
        <p:spPr>
          <a:xfrm>
            <a:off x="5867400" y="1524000"/>
            <a:ext cx="3124200" cy="2585323"/>
          </a:xfrm>
          <a:prstGeom prst="rect">
            <a:avLst/>
          </a:prstGeom>
          <a:noFill/>
        </p:spPr>
        <p:txBody>
          <a:bodyPr wrap="square" rtlCol="0">
            <a:spAutoFit/>
          </a:bodyPr>
          <a:lstStyle/>
          <a:p>
            <a:pPr marL="285750" indent="-285750">
              <a:buFont typeface="Arial" panose="020B0604020202020204" pitchFamily="34" charset="0"/>
              <a:buChar char="•"/>
            </a:pPr>
            <a:r>
              <a:rPr lang="en-US" dirty="0" smtClean="0">
                <a:solidFill>
                  <a:srgbClr val="FF0000"/>
                </a:solidFill>
              </a:rPr>
              <a:t>Safety Assessment Process -&gt; Shared model: info to guide the creation of the fault models</a:t>
            </a: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r>
              <a:rPr lang="en-US" dirty="0" smtClean="0">
                <a:solidFill>
                  <a:srgbClr val="FF0000"/>
                </a:solidFill>
              </a:rPr>
              <a:t>Shared model -&gt; Safety Assessment Process: info on how the system works and fails</a:t>
            </a:r>
            <a:endParaRPr lang="en-US" dirty="0">
              <a:solidFill>
                <a:srgbClr val="FF0000"/>
              </a:solidFill>
            </a:endParaRPr>
          </a:p>
        </p:txBody>
      </p:sp>
      <p:sp>
        <p:nvSpPr>
          <p:cNvPr id="3" name="Slide Number Placeholder 2"/>
          <p:cNvSpPr>
            <a:spLocks noGrp="1"/>
          </p:cNvSpPr>
          <p:nvPr>
            <p:ph type="sldNum" sz="quarter" idx="10"/>
          </p:nvPr>
        </p:nvSpPr>
        <p:spPr/>
        <p:txBody>
          <a:bodyPr/>
          <a:lstStyle/>
          <a:p>
            <a:pPr>
              <a:defRPr/>
            </a:pPr>
            <a:fld id="{7486D9C8-0CDB-4BF0-99FF-D7490CE4EFA3}" type="slidenum">
              <a:rPr lang="en-US" smtClean="0"/>
              <a:pPr>
                <a:defRPr/>
              </a:pPr>
              <a:t>77</a:t>
            </a:fld>
            <a:endParaRPr lang="en-US"/>
          </a:p>
        </p:txBody>
      </p:sp>
    </p:spTree>
    <p:extLst>
      <p:ext uri="{BB962C8B-B14F-4D97-AF65-F5344CB8AC3E}">
        <p14:creationId xmlns:p14="http://schemas.microsoft.com/office/powerpoint/2010/main" val="2911155719"/>
      </p:ext>
    </p:extLst>
  </p:cSld>
  <p:clrMapOvr>
    <a:masterClrMapping/>
  </p:clrMapOvr>
  <p:transition>
    <p:wipe dir="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Support of ARP4754A Safety Assessment Process Objectives</a:t>
            </a:r>
            <a:endParaRPr lang="en-US" dirty="0"/>
          </a:p>
        </p:txBody>
      </p:sp>
      <p:sp>
        <p:nvSpPr>
          <p:cNvPr id="3" name="Content Placeholder 2"/>
          <p:cNvSpPr>
            <a:spLocks noGrp="1"/>
          </p:cNvSpPr>
          <p:nvPr>
            <p:ph idx="1"/>
          </p:nvPr>
        </p:nvSpPr>
        <p:spPr>
          <a:xfrm>
            <a:off x="609600" y="1524000"/>
            <a:ext cx="7924800" cy="4800600"/>
          </a:xfrm>
        </p:spPr>
        <p:txBody>
          <a:bodyPr/>
          <a:lstStyle/>
          <a:p>
            <a:r>
              <a:rPr lang="en-US" dirty="0" smtClean="0"/>
              <a:t>Objective 3.1 The aircraft/system </a:t>
            </a:r>
            <a:r>
              <a:rPr lang="en-US" dirty="0"/>
              <a:t>functional hazard assessment is </a:t>
            </a:r>
            <a:r>
              <a:rPr lang="en-US" dirty="0" smtClean="0"/>
              <a:t>performed</a:t>
            </a:r>
          </a:p>
          <a:p>
            <a:pPr lvl="1"/>
            <a:r>
              <a:rPr lang="en-US" dirty="0" smtClean="0">
                <a:solidFill>
                  <a:srgbClr val="FF0000"/>
                </a:solidFill>
              </a:rPr>
              <a:t>Not supported. </a:t>
            </a:r>
          </a:p>
          <a:p>
            <a:pPr marL="457200" lvl="1" indent="0">
              <a:buNone/>
            </a:pPr>
            <a:endParaRPr lang="en-US" dirty="0" smtClean="0"/>
          </a:p>
          <a:p>
            <a:r>
              <a:rPr lang="en-US" dirty="0" smtClean="0"/>
              <a:t>Objective 3.2 The </a:t>
            </a:r>
            <a:r>
              <a:rPr lang="en-US" dirty="0"/>
              <a:t>preliminary aircraft safety assessment is </a:t>
            </a:r>
            <a:r>
              <a:rPr lang="en-US" dirty="0" smtClean="0"/>
              <a:t>performed</a:t>
            </a:r>
          </a:p>
          <a:p>
            <a:r>
              <a:rPr lang="en-US" dirty="0"/>
              <a:t>Objective 3.3 The preliminary system safety assessment is </a:t>
            </a:r>
            <a:r>
              <a:rPr lang="en-US" dirty="0" smtClean="0"/>
              <a:t>performed</a:t>
            </a:r>
          </a:p>
          <a:p>
            <a:pPr lvl="1"/>
            <a:r>
              <a:rPr lang="en-US" dirty="0" smtClean="0">
                <a:solidFill>
                  <a:srgbClr val="FF0000"/>
                </a:solidFill>
              </a:rPr>
              <a:t>Partially supported. </a:t>
            </a:r>
          </a:p>
          <a:p>
            <a:pPr lvl="1"/>
            <a:r>
              <a:rPr lang="en-US" dirty="0" smtClean="0">
                <a:solidFill>
                  <a:srgbClr val="FF0000"/>
                </a:solidFill>
              </a:rPr>
              <a:t>Formally determine how failures could cause failure conditions identified by the Functional Hazard Assessment (FHA) in a behavioral modeling setting.</a:t>
            </a:r>
            <a:endParaRPr lang="en-US" dirty="0">
              <a:solidFill>
                <a:srgbClr val="FF0000"/>
              </a:solidFill>
            </a:endParaRPr>
          </a:p>
          <a:p>
            <a:pPr lvl="1"/>
            <a:r>
              <a:rPr lang="en-US" dirty="0" smtClean="0">
                <a:solidFill>
                  <a:srgbClr val="FF0000"/>
                </a:solidFill>
              </a:rPr>
              <a:t>Formally </a:t>
            </a:r>
            <a:r>
              <a:rPr lang="en-US" dirty="0">
                <a:solidFill>
                  <a:srgbClr val="FF0000"/>
                </a:solidFill>
              </a:rPr>
              <a:t>validate that the proposed architecture and allocated behavioral requirements can reasonably meet safety requirements in the presence of faults</a:t>
            </a:r>
            <a:r>
              <a:rPr lang="en-US" dirty="0" smtClean="0">
                <a:solidFill>
                  <a:srgbClr val="FF0000"/>
                </a:solidFill>
              </a:rPr>
              <a:t>.</a:t>
            </a:r>
            <a:endParaRPr lang="en-US" sz="1800" dirty="0">
              <a:ea typeface="+mn-ea"/>
            </a:endParaRPr>
          </a:p>
          <a:p>
            <a:pPr lvl="1"/>
            <a:endParaRPr lang="en-US" dirty="0" smtClean="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78</a:t>
            </a:fld>
            <a:endParaRPr lang="en-US" dirty="0"/>
          </a:p>
        </p:txBody>
      </p:sp>
    </p:spTree>
    <p:extLst>
      <p:ext uri="{BB962C8B-B14F-4D97-AF65-F5344CB8AC3E}">
        <p14:creationId xmlns:p14="http://schemas.microsoft.com/office/powerpoint/2010/main" val="2104460745"/>
      </p:ext>
    </p:extLst>
  </p:cSld>
  <p:clrMapOvr>
    <a:masterClrMapping/>
  </p:clrMapOvr>
  <p:transition>
    <p:wipe dir="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Support of ARP4754A Safety Assessment Process Objectives </a:t>
            </a:r>
            <a:r>
              <a:rPr lang="en-US" dirty="0"/>
              <a:t>(Continued)</a:t>
            </a:r>
          </a:p>
        </p:txBody>
      </p:sp>
      <p:sp>
        <p:nvSpPr>
          <p:cNvPr id="3" name="Content Placeholder 2"/>
          <p:cNvSpPr>
            <a:spLocks noGrp="1"/>
          </p:cNvSpPr>
          <p:nvPr>
            <p:ph idx="1"/>
          </p:nvPr>
        </p:nvSpPr>
        <p:spPr>
          <a:xfrm>
            <a:off x="609600" y="1524000"/>
            <a:ext cx="7924800" cy="4800600"/>
          </a:xfrm>
        </p:spPr>
        <p:txBody>
          <a:bodyPr/>
          <a:lstStyle/>
          <a:p>
            <a:pPr marL="342900" lvl="1" indent="-342900">
              <a:buChar char="•"/>
            </a:pPr>
            <a:r>
              <a:rPr lang="en-US" sz="1800" dirty="0" smtClean="0"/>
              <a:t>Objective </a:t>
            </a:r>
            <a:r>
              <a:rPr lang="en-US" sz="1800" dirty="0"/>
              <a:t>3.4 The common cause analyses are performed</a:t>
            </a:r>
          </a:p>
          <a:p>
            <a:pPr lvl="1"/>
            <a:r>
              <a:rPr lang="en-US" dirty="0">
                <a:solidFill>
                  <a:srgbClr val="FF0000"/>
                </a:solidFill>
              </a:rPr>
              <a:t>Not supported.</a:t>
            </a:r>
          </a:p>
          <a:p>
            <a:pPr marL="0" indent="0">
              <a:buNone/>
            </a:pPr>
            <a:endParaRPr lang="en-US" dirty="0"/>
          </a:p>
          <a:p>
            <a:r>
              <a:rPr lang="en-US" dirty="0" smtClean="0"/>
              <a:t>Objective 3.5 The </a:t>
            </a:r>
            <a:r>
              <a:rPr lang="en-US" dirty="0"/>
              <a:t>aircraft safety assessment is </a:t>
            </a:r>
            <a:r>
              <a:rPr lang="en-US" dirty="0" smtClean="0"/>
              <a:t>performed</a:t>
            </a:r>
          </a:p>
          <a:p>
            <a:r>
              <a:rPr lang="en-US" dirty="0"/>
              <a:t>Objective </a:t>
            </a:r>
            <a:r>
              <a:rPr lang="en-US" dirty="0" smtClean="0"/>
              <a:t>3.6 The </a:t>
            </a:r>
            <a:r>
              <a:rPr lang="en-US" dirty="0"/>
              <a:t>system safety assessment is </a:t>
            </a:r>
            <a:r>
              <a:rPr lang="en-US" dirty="0" smtClean="0"/>
              <a:t>performed</a:t>
            </a:r>
          </a:p>
          <a:p>
            <a:pPr lvl="1"/>
            <a:r>
              <a:rPr lang="en-US" sz="1600" dirty="0" smtClean="0">
                <a:solidFill>
                  <a:srgbClr val="FF0000"/>
                </a:solidFill>
              </a:rPr>
              <a:t>Partially supported. Formally verify that the implemented design meets safety requirements in a behavioral modeling setting.</a:t>
            </a:r>
          </a:p>
          <a:p>
            <a:pPr marL="0" indent="0">
              <a:buNone/>
            </a:pPr>
            <a:endParaRPr lang="en-US" dirty="0" smtClean="0"/>
          </a:p>
          <a:p>
            <a:r>
              <a:rPr lang="en-US" dirty="0"/>
              <a:t>Objective </a:t>
            </a:r>
            <a:r>
              <a:rPr lang="en-US" dirty="0" smtClean="0"/>
              <a:t>3.7 Independence </a:t>
            </a:r>
            <a:r>
              <a:rPr lang="en-US" dirty="0"/>
              <a:t>requirements in functions, systems and items are </a:t>
            </a:r>
            <a:r>
              <a:rPr lang="en-US" dirty="0" smtClean="0"/>
              <a:t>captured</a:t>
            </a:r>
          </a:p>
          <a:p>
            <a:pPr lvl="1"/>
            <a:r>
              <a:rPr lang="en-US" dirty="0" smtClean="0">
                <a:solidFill>
                  <a:srgbClr val="FF0000"/>
                </a:solidFill>
              </a:rPr>
              <a:t>Partially supported. Behavioral Independence requirements can be formally verified, and violations discovered. </a:t>
            </a:r>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79</a:t>
            </a:fld>
            <a:endParaRPr lang="en-US" dirty="0"/>
          </a:p>
        </p:txBody>
      </p:sp>
    </p:spTree>
    <p:extLst>
      <p:ext uri="{BB962C8B-B14F-4D97-AF65-F5344CB8AC3E}">
        <p14:creationId xmlns:p14="http://schemas.microsoft.com/office/powerpoint/2010/main" val="3709036300"/>
      </p:ext>
    </p:extLst>
  </p:cSld>
  <p:clrMapOvr>
    <a:masterClrMapping/>
  </p:clrMapOvr>
  <p:transition>
    <p:wipe dir="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from Safety Engineer’s View</a:t>
            </a:r>
            <a:endParaRPr lang="en-US" dirty="0"/>
          </a:p>
        </p:txBody>
      </p:sp>
      <p:sp>
        <p:nvSpPr>
          <p:cNvPr id="3" name="Content Placeholder 2"/>
          <p:cNvSpPr>
            <a:spLocks noGrp="1"/>
          </p:cNvSpPr>
          <p:nvPr>
            <p:ph idx="1"/>
          </p:nvPr>
        </p:nvSpPr>
        <p:spPr>
          <a:xfrm>
            <a:off x="609600" y="1524000"/>
            <a:ext cx="7924800" cy="4800600"/>
          </a:xfrm>
        </p:spPr>
        <p:txBody>
          <a:bodyPr/>
          <a:lstStyle/>
          <a:p>
            <a:r>
              <a:rPr lang="en-US" dirty="0"/>
              <a:t>T</a:t>
            </a:r>
            <a:r>
              <a:rPr lang="en-US" dirty="0" smtClean="0"/>
              <a:t>ackles the most time consuming steps in the safety assessment process</a:t>
            </a:r>
          </a:p>
          <a:p>
            <a:endParaRPr lang="en-US" dirty="0"/>
          </a:p>
          <a:p>
            <a:r>
              <a:rPr lang="en-US" dirty="0" smtClean="0"/>
              <a:t>Helps with safety reviews</a:t>
            </a:r>
          </a:p>
          <a:p>
            <a:endParaRPr lang="en-US" dirty="0"/>
          </a:p>
          <a:p>
            <a:r>
              <a:rPr lang="en-US" dirty="0" smtClean="0"/>
              <a:t>Fosters early communications between safety and system engineers </a:t>
            </a:r>
            <a:endParaRPr lang="en-US" dirty="0"/>
          </a:p>
          <a:p>
            <a:endParaRPr lang="en-US" dirty="0" smtClean="0"/>
          </a:p>
          <a:p>
            <a:endParaRPr lang="en-US" dirty="0"/>
          </a:p>
          <a:p>
            <a:endParaRPr lang="en-US" dirty="0"/>
          </a:p>
          <a:p>
            <a:pPr marL="342900" lvl="1" indent="-342900">
              <a:buChar char="•"/>
            </a:pPr>
            <a:endParaRPr lang="en-US" dirty="0">
              <a:ea typeface="+mn-ea"/>
            </a:endParaRPr>
          </a:p>
          <a:p>
            <a:pPr marL="457200" lvl="1" indent="0">
              <a:buNone/>
            </a:pPr>
            <a:endParaRPr lang="en-US" sz="1400" dirty="0" smtClean="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80</a:t>
            </a:fld>
            <a:endParaRPr lang="en-US" dirty="0"/>
          </a:p>
        </p:txBody>
      </p:sp>
    </p:spTree>
    <p:extLst>
      <p:ext uri="{BB962C8B-B14F-4D97-AF65-F5344CB8AC3E}">
        <p14:creationId xmlns:p14="http://schemas.microsoft.com/office/powerpoint/2010/main" val="4005601417"/>
      </p:ext>
    </p:extLst>
  </p:cSld>
  <p:clrMapOvr>
    <a:masterClrMapping/>
  </p:clrMapOvr>
  <p:transition>
    <p:wipe dir="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00200" y="2877879"/>
            <a:ext cx="5105400" cy="769441"/>
          </a:xfrm>
          <a:prstGeom prst="rect">
            <a:avLst/>
          </a:prstGeom>
          <a:noFill/>
        </p:spPr>
        <p:txBody>
          <a:bodyPr wrap="square" rtlCol="0">
            <a:spAutoFit/>
          </a:bodyPr>
          <a:lstStyle/>
          <a:p>
            <a:r>
              <a:rPr lang="de-DE" sz="4400" dirty="0" smtClean="0">
                <a:latin typeface="+mn-lt"/>
              </a:rPr>
              <a:t>Future Work</a:t>
            </a:r>
            <a:endParaRPr lang="en-US" sz="4400" dirty="0">
              <a:latin typeface="+mn-lt"/>
            </a:endParaRPr>
          </a:p>
        </p:txBody>
      </p:sp>
      <p:sp>
        <p:nvSpPr>
          <p:cNvPr id="2" name="Slide Number Placeholder 1"/>
          <p:cNvSpPr>
            <a:spLocks noGrp="1"/>
          </p:cNvSpPr>
          <p:nvPr>
            <p:ph type="sldNum" sz="quarter" idx="10"/>
          </p:nvPr>
        </p:nvSpPr>
        <p:spPr/>
        <p:txBody>
          <a:bodyPr/>
          <a:lstStyle/>
          <a:p>
            <a:pPr>
              <a:defRPr/>
            </a:pPr>
            <a:fld id="{8A7DEF6D-193A-43B9-A88F-EFE847976AC6}" type="slidenum">
              <a:rPr lang="en-US" smtClean="0"/>
              <a:pPr>
                <a:defRPr/>
              </a:pPr>
              <a:t>81</a:t>
            </a:fld>
            <a:endParaRPr lang="en-US"/>
          </a:p>
        </p:txBody>
      </p:sp>
    </p:spTree>
    <p:extLst>
      <p:ext uri="{BB962C8B-B14F-4D97-AF65-F5344CB8AC3E}">
        <p14:creationId xmlns:p14="http://schemas.microsoft.com/office/powerpoint/2010/main" val="16540964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Asymmetric/Byzantine Faults</a:t>
            </a:r>
            <a:endParaRPr lang="en-US" dirty="0"/>
          </a:p>
        </p:txBody>
      </p:sp>
      <p:sp>
        <p:nvSpPr>
          <p:cNvPr id="3" name="Content Placeholder 2"/>
          <p:cNvSpPr>
            <a:spLocks noGrp="1"/>
          </p:cNvSpPr>
          <p:nvPr>
            <p:ph idx="1"/>
          </p:nvPr>
        </p:nvSpPr>
        <p:spPr>
          <a:xfrm>
            <a:off x="457200" y="1524000"/>
            <a:ext cx="8305800" cy="4800600"/>
          </a:xfrm>
          <a:ln>
            <a:noFill/>
          </a:ln>
        </p:spPr>
        <p:txBody>
          <a:bodyPr/>
          <a:lstStyle/>
          <a:p>
            <a:r>
              <a:rPr lang="en-US" dirty="0" smtClean="0"/>
              <a:t>Byzantine Faults</a:t>
            </a:r>
          </a:p>
          <a:p>
            <a:pPr lvl="1"/>
            <a:r>
              <a:rPr lang="en-US" dirty="0"/>
              <a:t>“A fault presenting different symptoms to different observers” </a:t>
            </a:r>
            <a:r>
              <a:rPr lang="en-US" baseline="30000" dirty="0"/>
              <a:t>[</a:t>
            </a:r>
            <a:r>
              <a:rPr lang="en-US" baseline="30000" dirty="0" smtClean="0"/>
              <a:t>1]</a:t>
            </a:r>
          </a:p>
          <a:p>
            <a:pPr lvl="1"/>
            <a:r>
              <a:rPr lang="en-US" dirty="0" smtClean="0"/>
              <a:t>Many </a:t>
            </a:r>
            <a:r>
              <a:rPr lang="en-US" dirty="0"/>
              <a:t>fault-tolerant system designs are still vulnerable to Byzantine faults without designers’ full </a:t>
            </a:r>
            <a:r>
              <a:rPr lang="en-US" dirty="0" smtClean="0"/>
              <a:t>awareness</a:t>
            </a:r>
          </a:p>
          <a:p>
            <a:pPr lvl="1"/>
            <a:endParaRPr lang="en-US" sz="1400" dirty="0"/>
          </a:p>
          <a:p>
            <a:r>
              <a:rPr lang="en-US" dirty="0" smtClean="0"/>
              <a:t>Current AGREE and Safety Annex can simulate Byzantine Faults with some workarounds</a:t>
            </a:r>
          </a:p>
          <a:p>
            <a:pPr lvl="1">
              <a:buFontTx/>
              <a:buChar char="–"/>
            </a:pPr>
            <a:r>
              <a:rPr lang="en-US" dirty="0" smtClean="0"/>
              <a:t>Creating one-to-one connection from the source to multiple observers</a:t>
            </a:r>
          </a:p>
          <a:p>
            <a:pPr lvl="1">
              <a:buFontTx/>
              <a:buChar char="–"/>
            </a:pPr>
            <a:r>
              <a:rPr lang="en-US" dirty="0" smtClean="0"/>
              <a:t>Introducing disagreements by injecting faults on individual outputs</a:t>
            </a:r>
          </a:p>
          <a:p>
            <a:pPr marL="0" indent="0">
              <a:buNone/>
            </a:pPr>
            <a:endParaRPr lang="en-US" dirty="0"/>
          </a:p>
          <a:p>
            <a:pPr marL="0" indent="0">
              <a:buNone/>
            </a:pPr>
            <a:endParaRPr lang="en-US" dirty="0" smtClean="0"/>
          </a:p>
          <a:p>
            <a:pPr marL="0" indent="0">
              <a:buNone/>
            </a:pPr>
            <a:endParaRPr lang="en-US" sz="1000" dirty="0" smtClean="0"/>
          </a:p>
          <a:p>
            <a:pPr marL="0" indent="0">
              <a:buNone/>
            </a:pPr>
            <a:endParaRPr lang="en-US" sz="800" dirty="0" smtClean="0"/>
          </a:p>
          <a:p>
            <a:pPr marL="0" indent="0">
              <a:buNone/>
            </a:pPr>
            <a:endParaRPr lang="en-US" sz="800" dirty="0"/>
          </a:p>
          <a:p>
            <a:pPr marL="0" indent="0">
              <a:buNone/>
            </a:pPr>
            <a:endParaRPr lang="en-US" sz="800" dirty="0" smtClean="0"/>
          </a:p>
          <a:p>
            <a:pPr marL="0" indent="0">
              <a:buNone/>
            </a:pPr>
            <a:r>
              <a:rPr lang="en-US" sz="1000" dirty="0" smtClean="0"/>
              <a:t>[1] K. Driscoll, H. Sivencrona, and P. Zumsteg. Byzantine Fault Tolerance, from Theory to Reality. In SAFECOMP, vol. 2788 of LNCS, pp. 235-248, 2003.</a:t>
            </a:r>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82</a:t>
            </a:fld>
            <a:endParaRPr lang="en-US" dirty="0"/>
          </a:p>
        </p:txBody>
      </p:sp>
    </p:spTree>
    <p:extLst>
      <p:ext uri="{BB962C8B-B14F-4D97-AF65-F5344CB8AC3E}">
        <p14:creationId xmlns:p14="http://schemas.microsoft.com/office/powerpoint/2010/main" val="3706436853"/>
      </p:ext>
    </p:extLst>
  </p:cSld>
  <p:clrMapOvr>
    <a:masterClrMapping/>
  </p:clrMapOvr>
  <p:transition>
    <p:wipe dir="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Asymmetric/Byzantine </a:t>
            </a:r>
            <a:r>
              <a:rPr lang="en-US" dirty="0"/>
              <a:t>Faults (Continued)</a:t>
            </a:r>
          </a:p>
        </p:txBody>
      </p:sp>
      <p:sp>
        <p:nvSpPr>
          <p:cNvPr id="3" name="Content Placeholder 2"/>
          <p:cNvSpPr>
            <a:spLocks noGrp="1"/>
          </p:cNvSpPr>
          <p:nvPr>
            <p:ph idx="1"/>
          </p:nvPr>
        </p:nvSpPr>
        <p:spPr>
          <a:xfrm>
            <a:off x="457200" y="1524000"/>
            <a:ext cx="8305800" cy="4800600"/>
          </a:xfrm>
          <a:ln>
            <a:noFill/>
          </a:ln>
        </p:spPr>
        <p:txBody>
          <a:bodyPr/>
          <a:lstStyle/>
          <a:p>
            <a:r>
              <a:rPr lang="en-US" dirty="0" smtClean="0"/>
              <a:t>Proposed syntax and usage for Byzantine Faults modeling</a:t>
            </a:r>
          </a:p>
          <a:p>
            <a:pPr lvl="1"/>
            <a:r>
              <a:rPr lang="en-US" dirty="0" smtClean="0"/>
              <a:t>Specify “asymmetric” for propagate_type </a:t>
            </a:r>
          </a:p>
          <a:p>
            <a:pPr lvl="1"/>
            <a:r>
              <a:rPr lang="en-US" dirty="0" smtClean="0"/>
              <a:t>For non HW fault, the tool will inject the faults on a subset of the connections from the output specified</a:t>
            </a:r>
          </a:p>
          <a:p>
            <a:pPr lvl="1"/>
            <a:r>
              <a:rPr lang="en-US" dirty="0" smtClean="0"/>
              <a:t>Hardware failures may only trigger the faulty behaviors on a subset of system outputs</a:t>
            </a:r>
          </a:p>
          <a:p>
            <a:pPr marL="0" indent="0">
              <a:buNone/>
            </a:pPr>
            <a:endParaRPr lang="en-US" dirty="0"/>
          </a:p>
          <a:p>
            <a:pPr marL="0" indent="0">
              <a:buNone/>
            </a:pPr>
            <a:endParaRPr lang="en-US" dirty="0" smtClean="0"/>
          </a:p>
          <a:p>
            <a:pPr marL="0" indent="0">
              <a:buNone/>
            </a:pPr>
            <a:endParaRPr lang="en-US" sz="1000"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83</a:t>
            </a:fld>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657600"/>
            <a:ext cx="8119823" cy="19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26571185"/>
      </p:ext>
    </p:extLst>
  </p:cSld>
  <p:clrMapOvr>
    <a:masterClrMapping/>
  </p:clrMapOvr>
  <p:transition>
    <p:wipe dir="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Representation of Time</a:t>
            </a:r>
            <a:endParaRPr lang="en-US" dirty="0"/>
          </a:p>
        </p:txBody>
      </p:sp>
      <p:sp>
        <p:nvSpPr>
          <p:cNvPr id="3" name="Content Placeholder 2"/>
          <p:cNvSpPr>
            <a:spLocks noGrp="1"/>
          </p:cNvSpPr>
          <p:nvPr>
            <p:ph idx="1"/>
          </p:nvPr>
        </p:nvSpPr>
        <p:spPr>
          <a:xfrm>
            <a:off x="685800" y="1524000"/>
            <a:ext cx="7924800" cy="4800600"/>
          </a:xfrm>
        </p:spPr>
        <p:txBody>
          <a:bodyPr/>
          <a:lstStyle/>
          <a:p>
            <a:pPr marL="342900" lvl="1" indent="-342900">
              <a:buChar char="•"/>
            </a:pPr>
            <a:endParaRPr lang="en-US" dirty="0" smtClean="0"/>
          </a:p>
          <a:p>
            <a:pPr marL="342900" lvl="1" indent="-342900">
              <a:buChar char="•"/>
            </a:pPr>
            <a:r>
              <a:rPr lang="en-US" dirty="0" smtClean="0"/>
              <a:t>Currently </a:t>
            </a:r>
            <a:r>
              <a:rPr lang="en-US" dirty="0"/>
              <a:t>the </a:t>
            </a:r>
            <a:r>
              <a:rPr lang="en-US" dirty="0" smtClean="0"/>
              <a:t>model-checking approach is </a:t>
            </a:r>
            <a:r>
              <a:rPr lang="en-US" dirty="0"/>
              <a:t>implicit of time </a:t>
            </a:r>
            <a:r>
              <a:rPr lang="en-US" dirty="0" smtClean="0"/>
              <a:t>scale</a:t>
            </a:r>
          </a:p>
          <a:p>
            <a:pPr marL="742950" lvl="2" indent="-342900"/>
            <a:r>
              <a:rPr lang="en-US" dirty="0" smtClean="0"/>
              <a:t>We </a:t>
            </a:r>
            <a:r>
              <a:rPr lang="en-US" dirty="0"/>
              <a:t>look at behavior </a:t>
            </a:r>
            <a:r>
              <a:rPr lang="en-US" dirty="0" smtClean="0"/>
              <a:t>over an infinite trace</a:t>
            </a:r>
          </a:p>
          <a:p>
            <a:pPr marL="342900" lvl="1" indent="-342900">
              <a:buChar char="•"/>
            </a:pPr>
            <a:endParaRPr lang="en-US" dirty="0" smtClean="0"/>
          </a:p>
          <a:p>
            <a:pPr marL="342900" lvl="1" indent="-342900">
              <a:buChar char="•"/>
            </a:pPr>
            <a:r>
              <a:rPr lang="en-US" dirty="0" smtClean="0"/>
              <a:t>Probabilities of fault/failure are associated with a time bound</a:t>
            </a:r>
          </a:p>
          <a:p>
            <a:pPr marL="742950" lvl="2" indent="-342900"/>
            <a:r>
              <a:rPr lang="en-US" dirty="0" smtClean="0"/>
              <a:t>actual </a:t>
            </a:r>
            <a:r>
              <a:rPr lang="en-US" dirty="0"/>
              <a:t>fault probabilities are calculated from failure rate multiply by exposure </a:t>
            </a:r>
            <a:r>
              <a:rPr lang="en-US" dirty="0" smtClean="0"/>
              <a:t>time</a:t>
            </a:r>
          </a:p>
          <a:p>
            <a:pPr marL="742950" lvl="2" indent="-342900"/>
            <a:r>
              <a:rPr lang="en-US" dirty="0" smtClean="0"/>
              <a:t>e.g., 10</a:t>
            </a:r>
            <a:r>
              <a:rPr lang="en-US" baseline="30000" dirty="0" smtClean="0"/>
              <a:t>-5</a:t>
            </a:r>
            <a:r>
              <a:rPr lang="en-US" dirty="0" smtClean="0"/>
              <a:t> chance of failure per flight hour</a:t>
            </a:r>
          </a:p>
          <a:p>
            <a:pPr marL="742950" lvl="2" indent="-342900"/>
            <a:r>
              <a:rPr lang="en-US" dirty="0" smtClean="0"/>
              <a:t>Time rates are currently </a:t>
            </a:r>
            <a:r>
              <a:rPr lang="en-US" i="1" dirty="0" smtClean="0"/>
              <a:t>implicit</a:t>
            </a:r>
            <a:r>
              <a:rPr lang="en-US" dirty="0" smtClean="0"/>
              <a:t> in safety annex model</a:t>
            </a:r>
          </a:p>
          <a:p>
            <a:pPr marL="342900" lvl="1" indent="-342900">
              <a:buChar char="•"/>
            </a:pPr>
            <a:endParaRPr lang="en-US" dirty="0" smtClean="0"/>
          </a:p>
          <a:p>
            <a:pPr marL="342900" lvl="1" indent="-342900">
              <a:buChar char="•"/>
            </a:pPr>
            <a:r>
              <a:rPr lang="en-US" dirty="0" smtClean="0"/>
              <a:t>Faults can occur at any time within infinite trace</a:t>
            </a:r>
          </a:p>
          <a:p>
            <a:pPr marL="742950" lvl="2" indent="-342900"/>
            <a:r>
              <a:rPr lang="en-US" dirty="0" smtClean="0"/>
              <a:t>Usually cluster of independent faults lead to failures.</a:t>
            </a:r>
          </a:p>
          <a:p>
            <a:pPr marL="742950" lvl="2" indent="-342900"/>
            <a:endParaRPr lang="en-US" dirty="0" smtClean="0"/>
          </a:p>
          <a:p>
            <a:pPr marL="342900" lvl="1" indent="-342900">
              <a:buChar char="•"/>
            </a:pPr>
            <a:r>
              <a:rPr lang="en-US" dirty="0" smtClean="0"/>
              <a:t>Fault hypotheses have probabilities but not time rate</a:t>
            </a:r>
          </a:p>
          <a:p>
            <a:pPr marL="742950" lvl="2" indent="-342900"/>
            <a:r>
              <a:rPr lang="en-US" dirty="0" smtClean="0">
                <a:ea typeface="+mn-ea"/>
              </a:rPr>
              <a:t>So, unintended braking property: only problematic during </a:t>
            </a:r>
            <a:r>
              <a:rPr lang="en-US" i="1" dirty="0" smtClean="0">
                <a:ea typeface="+mn-ea"/>
              </a:rPr>
              <a:t>V1</a:t>
            </a:r>
            <a:r>
              <a:rPr lang="en-US" dirty="0" smtClean="0">
                <a:ea typeface="+mn-ea"/>
              </a:rPr>
              <a:t> time interval.  If this interval is short (say, 5 seconds), risk may be acceptably low.</a:t>
            </a:r>
            <a:endParaRPr lang="en-US" dirty="0">
              <a:ea typeface="+mn-ea"/>
            </a:endParaRPr>
          </a:p>
          <a:p>
            <a:pPr marL="342900" lvl="1" indent="-342900">
              <a:buChar char="•"/>
            </a:pPr>
            <a:endParaRPr lang="en-US" dirty="0" smtClean="0">
              <a:ea typeface="+mn-ea"/>
            </a:endParaRPr>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84</a:t>
            </a:fld>
            <a:endParaRPr lang="en-US" dirty="0"/>
          </a:p>
        </p:txBody>
      </p:sp>
    </p:spTree>
    <p:extLst>
      <p:ext uri="{BB962C8B-B14F-4D97-AF65-F5344CB8AC3E}">
        <p14:creationId xmlns:p14="http://schemas.microsoft.com/office/powerpoint/2010/main" val="2655936951"/>
      </p:ext>
    </p:extLst>
  </p:cSld>
  <p:clrMapOvr>
    <a:masterClrMapping/>
  </p:clrMapOvr>
  <p:transition>
    <p:wipe dir="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Representation of Time (Continued)</a:t>
            </a:r>
            <a:endParaRPr lang="en-US" dirty="0"/>
          </a:p>
        </p:txBody>
      </p:sp>
      <p:sp>
        <p:nvSpPr>
          <p:cNvPr id="3" name="Content Placeholder 2"/>
          <p:cNvSpPr>
            <a:spLocks noGrp="1"/>
          </p:cNvSpPr>
          <p:nvPr>
            <p:ph idx="1"/>
          </p:nvPr>
        </p:nvSpPr>
        <p:spPr/>
        <p:txBody>
          <a:bodyPr/>
          <a:lstStyle/>
          <a:p>
            <a:r>
              <a:rPr lang="en-US" dirty="0" smtClean="0"/>
              <a:t>For permanent faults, we </a:t>
            </a:r>
            <a:r>
              <a:rPr lang="en-US" i="1" dirty="0" smtClean="0"/>
              <a:t>overapproximate </a:t>
            </a:r>
            <a:r>
              <a:rPr lang="en-US" dirty="0" smtClean="0"/>
              <a:t>probability of failure</a:t>
            </a:r>
          </a:p>
          <a:p>
            <a:pPr lvl="1"/>
            <a:r>
              <a:rPr lang="en-US" dirty="0" smtClean="0"/>
              <a:t>We assume faults could happen any time in an infinite trace rather than a finite time window.</a:t>
            </a:r>
          </a:p>
          <a:p>
            <a:pPr lvl="1"/>
            <a:r>
              <a:rPr lang="en-US" dirty="0" smtClean="0"/>
              <a:t>Since faults are permanent, they can’t re-occur</a:t>
            </a:r>
          </a:p>
          <a:p>
            <a:endParaRPr lang="en-US" dirty="0" smtClean="0"/>
          </a:p>
          <a:p>
            <a:r>
              <a:rPr lang="en-US" dirty="0" smtClean="0"/>
              <a:t>For transient faults, it depends on how they are modeled.</a:t>
            </a:r>
          </a:p>
          <a:p>
            <a:pPr lvl="1"/>
            <a:r>
              <a:rPr lang="en-US" dirty="0" smtClean="0"/>
              <a:t>These can re-occur.</a:t>
            </a:r>
            <a:endParaRPr lang="en-US" dirty="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85</a:t>
            </a:fld>
            <a:endParaRPr lang="en-US" dirty="0"/>
          </a:p>
        </p:txBody>
      </p:sp>
    </p:spTree>
    <p:extLst>
      <p:ext uri="{BB962C8B-B14F-4D97-AF65-F5344CB8AC3E}">
        <p14:creationId xmlns:p14="http://schemas.microsoft.com/office/powerpoint/2010/main" val="1230860860"/>
      </p:ext>
    </p:extLst>
  </p:cSld>
  <p:clrMapOvr>
    <a:masterClrMapping/>
  </p:clrMapOvr>
  <p:transition>
    <p:wipe dir="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Explore Transient Faults in More Depth</a:t>
            </a:r>
            <a:endParaRPr lang="en-US" dirty="0"/>
          </a:p>
        </p:txBody>
      </p:sp>
      <p:sp>
        <p:nvSpPr>
          <p:cNvPr id="3" name="Content Placeholder 2"/>
          <p:cNvSpPr>
            <a:spLocks noGrp="1"/>
          </p:cNvSpPr>
          <p:nvPr>
            <p:ph idx="1"/>
          </p:nvPr>
        </p:nvSpPr>
        <p:spPr>
          <a:xfrm>
            <a:off x="685800" y="1524000"/>
            <a:ext cx="7924800" cy="4800600"/>
          </a:xfrm>
          <a:ln>
            <a:solidFill>
              <a:schemeClr val="accent1"/>
            </a:solidFill>
          </a:ln>
        </p:spPr>
        <p:txBody>
          <a:bodyPr/>
          <a:lstStyle/>
          <a:p>
            <a:pPr marL="342900" lvl="1" indent="-342900">
              <a:buFontTx/>
              <a:buChar char="•"/>
            </a:pPr>
            <a:r>
              <a:rPr lang="en-US" sz="1800" dirty="0" smtClean="0"/>
              <a:t>Transient fault is time dependent and may have very different computations, e.g., </a:t>
            </a:r>
          </a:p>
          <a:p>
            <a:pPr marL="685800" lvl="1"/>
            <a:r>
              <a:rPr lang="en-US" dirty="0" smtClean="0"/>
              <a:t>Should </a:t>
            </a:r>
            <a:r>
              <a:rPr lang="en-US" dirty="0"/>
              <a:t>transient faults be allowed to occur more than once in one trace?</a:t>
            </a:r>
          </a:p>
          <a:p>
            <a:pPr marL="685800" lvl="1"/>
            <a:r>
              <a:rPr lang="en-US" dirty="0"/>
              <a:t>Is the probability of two occurrences equal to the independent probabilities of any other event?</a:t>
            </a:r>
          </a:p>
          <a:p>
            <a:pPr marL="685800" lvl="1"/>
            <a:r>
              <a:rPr lang="en-US" dirty="0"/>
              <a:t>Is there a time component to this probability: e.g., can a transient fault occur twice in a row?</a:t>
            </a:r>
          </a:p>
          <a:p>
            <a:pPr marL="0" lvl="1" indent="0">
              <a:buNone/>
            </a:pPr>
            <a:endParaRPr lang="en-US" sz="1800" dirty="0" smtClean="0"/>
          </a:p>
          <a:p>
            <a:pPr marL="342900" lvl="1" indent="-342900">
              <a:buFontTx/>
              <a:buChar char="•"/>
            </a:pPr>
            <a:r>
              <a:rPr lang="en-US" sz="1800" dirty="0" smtClean="0"/>
              <a:t>The fault </a:t>
            </a:r>
            <a:r>
              <a:rPr lang="en-US" sz="1800" dirty="0"/>
              <a:t>activation </a:t>
            </a:r>
            <a:r>
              <a:rPr lang="en-US" sz="1800" dirty="0" err="1"/>
              <a:t>boolean</a:t>
            </a:r>
            <a:r>
              <a:rPr lang="en-US" sz="1800" dirty="0"/>
              <a:t> variables </a:t>
            </a:r>
            <a:r>
              <a:rPr lang="en-US" sz="1800" dirty="0" smtClean="0"/>
              <a:t>can be constraint in </a:t>
            </a:r>
            <a:r>
              <a:rPr lang="en-US" sz="1800" dirty="0"/>
              <a:t>various ways, e.g., with time steps</a:t>
            </a:r>
          </a:p>
          <a:p>
            <a:pPr marL="342900" lvl="1" indent="-342900">
              <a:buFontTx/>
              <a:buChar char="•"/>
            </a:pPr>
            <a:endParaRPr lang="en-US" sz="1800" dirty="0"/>
          </a:p>
          <a:p>
            <a:pPr marL="342900" lvl="1" indent="-342900">
              <a:buFontTx/>
              <a:buChar char="•"/>
            </a:pPr>
            <a:r>
              <a:rPr lang="en-US" sz="1800" dirty="0" smtClean="0"/>
              <a:t>With modeling of transient faults added, our approach can be used to figure out if an architecture is resilient to transient fault</a:t>
            </a:r>
          </a:p>
          <a:p>
            <a:pPr marL="342900" lvl="1" indent="-342900">
              <a:buFontTx/>
              <a:buChar char="•"/>
            </a:pPr>
            <a:endParaRPr lang="en-US" sz="1800"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86</a:t>
            </a:fld>
            <a:endParaRPr lang="en-US" dirty="0"/>
          </a:p>
        </p:txBody>
      </p:sp>
    </p:spTree>
    <p:extLst>
      <p:ext uri="{BB962C8B-B14F-4D97-AF65-F5344CB8AC3E}">
        <p14:creationId xmlns:p14="http://schemas.microsoft.com/office/powerpoint/2010/main" val="457249830"/>
      </p:ext>
    </p:extLst>
  </p:cSld>
  <p:clrMapOvr>
    <a:masterClrMapping/>
  </p:clrMapOvr>
  <p:transition>
    <p:wipe dir="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Scalability</a:t>
            </a:r>
            <a:endParaRPr lang="en-US" dirty="0"/>
          </a:p>
        </p:txBody>
      </p:sp>
      <p:sp>
        <p:nvSpPr>
          <p:cNvPr id="3" name="Content Placeholder 2"/>
          <p:cNvSpPr>
            <a:spLocks noGrp="1"/>
          </p:cNvSpPr>
          <p:nvPr>
            <p:ph idx="1"/>
          </p:nvPr>
        </p:nvSpPr>
        <p:spPr/>
        <p:txBody>
          <a:bodyPr/>
          <a:lstStyle/>
          <a:p>
            <a:pPr marL="285750"/>
            <a:r>
              <a:rPr lang="en-US" dirty="0"/>
              <a:t>Continue to use compositional approach to handle scalability</a:t>
            </a:r>
          </a:p>
          <a:p>
            <a:pPr marL="685800" lvl="1"/>
            <a:r>
              <a:rPr lang="en-US" dirty="0"/>
              <a:t>The compositional approach scales</a:t>
            </a:r>
          </a:p>
          <a:p>
            <a:pPr marL="1085850" lvl="2"/>
            <a:r>
              <a:rPr lang="en-US" dirty="0"/>
              <a:t>works for max </a:t>
            </a:r>
            <a:r>
              <a:rPr lang="en-US" dirty="0" smtClean="0"/>
              <a:t>number </a:t>
            </a:r>
            <a:r>
              <a:rPr lang="en-US" dirty="0"/>
              <a:t>of faults</a:t>
            </a:r>
          </a:p>
          <a:p>
            <a:pPr marL="1085850" lvl="2"/>
            <a:r>
              <a:rPr lang="en-US" dirty="0"/>
              <a:t>For probabilistic analysis, the compositional approach generated the MIVCs, but the calculation of </a:t>
            </a:r>
            <a:r>
              <a:rPr lang="en-US" dirty="0" smtClean="0"/>
              <a:t>cut sets </a:t>
            </a:r>
            <a:r>
              <a:rPr lang="en-US" dirty="0"/>
              <a:t>and probabilities is currently monolithic and we ran into scalability challenge there when feeding into the SOTERIA tool (combinatorial issues)</a:t>
            </a:r>
          </a:p>
          <a:p>
            <a:pPr marL="685800" lvl="1"/>
            <a:r>
              <a:rPr lang="en-US" dirty="0"/>
              <a:t>In the future, consider:</a:t>
            </a:r>
          </a:p>
          <a:p>
            <a:pPr marL="1085850" lvl="2"/>
            <a:r>
              <a:rPr lang="en-US" dirty="0"/>
              <a:t>Put threshold of probabilities to control the number of possible </a:t>
            </a:r>
            <a:r>
              <a:rPr lang="en-US" dirty="0" smtClean="0"/>
              <a:t>cut sets </a:t>
            </a:r>
            <a:r>
              <a:rPr lang="en-US" dirty="0"/>
              <a:t>being considered</a:t>
            </a:r>
          </a:p>
          <a:p>
            <a:pPr marL="1085850" lvl="2"/>
            <a:r>
              <a:rPr lang="en-US" dirty="0"/>
              <a:t>Prune the </a:t>
            </a:r>
            <a:r>
              <a:rPr lang="en-US" dirty="0" smtClean="0"/>
              <a:t>cut sets </a:t>
            </a:r>
            <a:r>
              <a:rPr lang="en-US" dirty="0"/>
              <a:t>and calculate the probabilities ourselves</a:t>
            </a:r>
          </a:p>
          <a:p>
            <a:endParaRPr lang="en-US" dirty="0" smtClean="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87</a:t>
            </a:fld>
            <a:endParaRPr lang="en-US"/>
          </a:p>
        </p:txBody>
      </p:sp>
    </p:spTree>
    <p:extLst>
      <p:ext uri="{BB962C8B-B14F-4D97-AF65-F5344CB8AC3E}">
        <p14:creationId xmlns:p14="http://schemas.microsoft.com/office/powerpoint/2010/main" val="1851440426"/>
      </p:ext>
    </p:extLst>
  </p:cSld>
  <p:clrMapOvr>
    <a:masterClrMapping/>
  </p:clrMapOvr>
  <p:transition>
    <p:wipe dir="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Usability &amp; Certification Aspects</a:t>
            </a:r>
            <a:endParaRPr lang="en-US" dirty="0"/>
          </a:p>
        </p:txBody>
      </p:sp>
      <p:sp>
        <p:nvSpPr>
          <p:cNvPr id="3" name="Content Placeholder 2"/>
          <p:cNvSpPr>
            <a:spLocks noGrp="1"/>
          </p:cNvSpPr>
          <p:nvPr>
            <p:ph idx="1"/>
          </p:nvPr>
        </p:nvSpPr>
        <p:spPr/>
        <p:txBody>
          <a:bodyPr/>
          <a:lstStyle/>
          <a:p>
            <a:pPr marL="285750"/>
            <a:r>
              <a:rPr lang="en-US" dirty="0"/>
              <a:t>Address usability to help incorporate into certification artifacts</a:t>
            </a:r>
          </a:p>
          <a:p>
            <a:pPr marL="685800" lvl="1"/>
            <a:r>
              <a:rPr lang="en-US" dirty="0"/>
              <a:t>Manipulate the IVC results to be more understandable (e.g., disjunctive normal form to be more intuitive)</a:t>
            </a:r>
          </a:p>
          <a:p>
            <a:pPr marL="685800" lvl="1"/>
            <a:r>
              <a:rPr lang="en-US" dirty="0"/>
              <a:t>Add probability and descriptions to the nodes to be more readable/usable</a:t>
            </a:r>
          </a:p>
          <a:p>
            <a:pPr marL="685800" lvl="1"/>
            <a:r>
              <a:rPr lang="en-US" dirty="0" smtClean="0"/>
              <a:t>Possible looking at porting the results into other commercial FTA tools (e.g., CAFTA) to </a:t>
            </a:r>
            <a:r>
              <a:rPr lang="en-US" dirty="0"/>
              <a:t>incorporate to an artifact used by safety engineers </a:t>
            </a:r>
            <a:r>
              <a:rPr lang="en-US" dirty="0" smtClean="0"/>
              <a:t>today</a:t>
            </a:r>
          </a:p>
          <a:p>
            <a:endParaRPr lang="en-US" dirty="0" smtClean="0"/>
          </a:p>
          <a:p>
            <a:r>
              <a:rPr lang="en-US" dirty="0" smtClean="0"/>
              <a:t>Assessment </a:t>
            </a:r>
            <a:r>
              <a:rPr lang="en-US" dirty="0"/>
              <a:t>on the draft ARP4761 appendix on MBSA</a:t>
            </a:r>
          </a:p>
          <a:p>
            <a:endParaRPr lang="en-US" dirty="0"/>
          </a:p>
          <a:p>
            <a:endParaRPr lang="en-US" dirty="0" smtClean="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88</a:t>
            </a:fld>
            <a:endParaRPr lang="en-US"/>
          </a:p>
        </p:txBody>
      </p:sp>
    </p:spTree>
    <p:extLst>
      <p:ext uri="{BB962C8B-B14F-4D97-AF65-F5344CB8AC3E}">
        <p14:creationId xmlns:p14="http://schemas.microsoft.com/office/powerpoint/2010/main" val="2138266686"/>
      </p:ext>
    </p:extLst>
  </p:cSld>
  <p:clrMapOvr>
    <a:masterClrMapping/>
  </p:clrMapOvr>
  <p:transition>
    <p:wipe dir="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a:t>
            </a:r>
            <a:endParaRPr lang="en-US" dirty="0"/>
          </a:p>
        </p:txBody>
      </p:sp>
      <p:sp>
        <p:nvSpPr>
          <p:cNvPr id="3" name="Content Placeholder 2"/>
          <p:cNvSpPr>
            <a:spLocks noGrp="1"/>
          </p:cNvSpPr>
          <p:nvPr>
            <p:ph idx="1"/>
          </p:nvPr>
        </p:nvSpPr>
        <p:spPr/>
        <p:txBody>
          <a:bodyPr/>
          <a:lstStyle/>
          <a:p>
            <a:r>
              <a:rPr lang="en-US" dirty="0" smtClean="0"/>
              <a:t>Complete the assessment of compositional probabilistic fault analysis on the extended WBS example</a:t>
            </a:r>
          </a:p>
          <a:p>
            <a:endParaRPr lang="en-US" dirty="0" smtClean="0"/>
          </a:p>
          <a:p>
            <a:r>
              <a:rPr lang="en-US" dirty="0" smtClean="0"/>
              <a:t>Possible another large aerospace example</a:t>
            </a:r>
          </a:p>
          <a:p>
            <a:endParaRPr lang="en-US" dirty="0" smtClean="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89</a:t>
            </a:fld>
            <a:endParaRPr lang="en-US"/>
          </a:p>
        </p:txBody>
      </p:sp>
      <p:sp>
        <p:nvSpPr>
          <p:cNvPr id="5" name="TextBox 4"/>
          <p:cNvSpPr txBox="1"/>
          <p:nvPr/>
        </p:nvSpPr>
        <p:spPr>
          <a:xfrm>
            <a:off x="2209800" y="18288"/>
            <a:ext cx="6324600" cy="369332"/>
          </a:xfrm>
          <a:prstGeom prst="rect">
            <a:avLst/>
          </a:prstGeom>
          <a:noFill/>
        </p:spPr>
        <p:txBody>
          <a:bodyPr wrap="square" rtlCol="0">
            <a:spAutoFit/>
          </a:bodyPr>
          <a:lstStyle/>
          <a:p>
            <a:r>
              <a:rPr lang="en-US" b="1" dirty="0" smtClean="0">
                <a:solidFill>
                  <a:srgbClr val="FF0000"/>
                </a:solidFill>
              </a:rPr>
              <a:t>To discuss</a:t>
            </a:r>
          </a:p>
        </p:txBody>
      </p:sp>
    </p:spTree>
    <p:extLst>
      <p:ext uri="{BB962C8B-B14F-4D97-AF65-F5344CB8AC3E}">
        <p14:creationId xmlns:p14="http://schemas.microsoft.com/office/powerpoint/2010/main" val="3301370293"/>
      </p:ext>
    </p:extLst>
  </p:cSld>
  <p:clrMapOvr>
    <a:masterClrMapping/>
  </p:clrMapOvr>
  <p:transition>
    <p:wipe dir="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Engineering Improvements</a:t>
            </a:r>
            <a:endParaRPr lang="en-US" dirty="0"/>
          </a:p>
        </p:txBody>
      </p:sp>
      <p:sp>
        <p:nvSpPr>
          <p:cNvPr id="3" name="Content Placeholder 2"/>
          <p:cNvSpPr>
            <a:spLocks noGrp="1"/>
          </p:cNvSpPr>
          <p:nvPr>
            <p:ph idx="1"/>
          </p:nvPr>
        </p:nvSpPr>
        <p:spPr>
          <a:xfrm>
            <a:off x="685800" y="1524000"/>
            <a:ext cx="7924800" cy="4800600"/>
          </a:xfrm>
        </p:spPr>
        <p:txBody>
          <a:bodyPr/>
          <a:lstStyle/>
          <a:p>
            <a:pPr marL="342900" lvl="1" indent="-342900">
              <a:buChar char="•"/>
            </a:pPr>
            <a:r>
              <a:rPr lang="en-US" sz="1800" dirty="0" smtClean="0">
                <a:ea typeface="+mn-ea"/>
              </a:rPr>
              <a:t>Incorporate to the latest User Version of OSATE</a:t>
            </a:r>
          </a:p>
          <a:p>
            <a:pPr marL="685800" lvl="1"/>
            <a:r>
              <a:rPr lang="en-US" dirty="0"/>
              <a:t>Update master branches of AGREE, </a:t>
            </a:r>
            <a:r>
              <a:rPr lang="en-US" dirty="0" err="1"/>
              <a:t>JKind</a:t>
            </a:r>
            <a:r>
              <a:rPr lang="en-US" dirty="0"/>
              <a:t> to incorporate the new features (e.g., All-IVCs)</a:t>
            </a:r>
          </a:p>
          <a:p>
            <a:pPr marL="342900" lvl="1" indent="-342900">
              <a:buChar char="•"/>
            </a:pPr>
            <a:endParaRPr lang="en-US" dirty="0">
              <a:ea typeface="+mn-ea"/>
            </a:endParaRPr>
          </a:p>
          <a:p>
            <a:pPr marL="342900" lvl="1" indent="-342900">
              <a:buFontTx/>
              <a:buChar char="•"/>
            </a:pPr>
            <a:r>
              <a:rPr lang="en-US" sz="1800" dirty="0" smtClean="0"/>
              <a:t>GUI update</a:t>
            </a:r>
          </a:p>
          <a:p>
            <a:pPr marL="685800" lvl="1"/>
            <a:r>
              <a:rPr lang="en-US" dirty="0" smtClean="0"/>
              <a:t>Safety </a:t>
            </a:r>
            <a:r>
              <a:rPr lang="en-US" dirty="0"/>
              <a:t>analysis specific preference settings (e.g., All-IVC timeout value) </a:t>
            </a:r>
            <a:endParaRPr lang="en-US" dirty="0" smtClean="0"/>
          </a:p>
          <a:p>
            <a:pPr marL="685800" lvl="1"/>
            <a:r>
              <a:rPr lang="en-US" dirty="0" smtClean="0"/>
              <a:t>Informational/Reminder messages to the users (e.g., remind users to make sure all properties pass in AGREE verify all layers before conducting compositional probabilistic fault analysis)</a:t>
            </a:r>
            <a:endParaRPr lang="en-US" dirty="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90</a:t>
            </a:fld>
            <a:endParaRPr lang="en-US" dirty="0"/>
          </a:p>
        </p:txBody>
      </p:sp>
    </p:spTree>
    <p:extLst>
      <p:ext uri="{BB962C8B-B14F-4D97-AF65-F5344CB8AC3E}">
        <p14:creationId xmlns:p14="http://schemas.microsoft.com/office/powerpoint/2010/main" val="430876131"/>
      </p:ext>
    </p:extLst>
  </p:cSld>
  <p:clrMapOvr>
    <a:masterClrMapping/>
  </p:clrMapOvr>
  <p:transition>
    <p:wipe dir="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2971800"/>
            <a:ext cx="7924800" cy="3001963"/>
          </a:xfrm>
        </p:spPr>
        <p:txBody>
          <a:bodyPr/>
          <a:lstStyle/>
          <a:p>
            <a:pPr marL="0" indent="0">
              <a:buNone/>
            </a:pPr>
            <a:endParaRPr lang="en-US" dirty="0" smtClean="0"/>
          </a:p>
          <a:p>
            <a:pPr marL="0" indent="0">
              <a:buNone/>
            </a:pPr>
            <a:r>
              <a:rPr lang="en-US" dirty="0" smtClean="0"/>
              <a:t>More information, code, and papers available at:</a:t>
            </a:r>
          </a:p>
          <a:p>
            <a:pPr marL="0" indent="0">
              <a:buNone/>
            </a:pPr>
            <a:r>
              <a:rPr lang="en-US" sz="2400" b="1" dirty="0" smtClean="0">
                <a:latin typeface="Tw Cen MT" panose="020B0602020104020603" pitchFamily="34" charset="0"/>
              </a:rPr>
              <a:t>Loonwerks.com</a:t>
            </a:r>
            <a:endParaRPr lang="en-US" sz="2400" b="1" dirty="0">
              <a:latin typeface="Tw Cen MT" panose="020B0602020104020603" pitchFamily="34" charset="0"/>
            </a:endParaRPr>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pPr>
                <a:defRPr/>
              </a:pPr>
              <a:t>91</a:t>
            </a:fld>
            <a:endParaRPr lang="en-US" dirty="0"/>
          </a:p>
        </p:txBody>
      </p:sp>
      <p:pic>
        <p:nvPicPr>
          <p:cNvPr id="35842" name="Picture 2" descr="C:\Users\ddcofer\Documents\Projects\loonwerks\images\loonwerk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00200"/>
            <a:ext cx="7620000" cy="14573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www.blackdog.net/refrigerator/coloringbook/usa/minnesota.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4210050"/>
            <a:ext cx="1428750"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46886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afterEffect">
                                  <p:stCondLst>
                                    <p:cond delay="500"/>
                                  </p:stCondLst>
                                  <p:childTnLst>
                                    <p:animRot by="120000">
                                      <p:cBhvr>
                                        <p:cTn id="6" dur="50" fill="hold">
                                          <p:stCondLst>
                                            <p:cond delay="0"/>
                                          </p:stCondLst>
                                        </p:cTn>
                                        <p:tgtEl>
                                          <p:spTgt spid="1026"/>
                                        </p:tgtEl>
                                        <p:attrNameLst>
                                          <p:attrName>r</p:attrName>
                                        </p:attrNameLst>
                                      </p:cBhvr>
                                    </p:animRot>
                                    <p:animRot by="-240000">
                                      <p:cBhvr>
                                        <p:cTn id="7" dur="100" fill="hold">
                                          <p:stCondLst>
                                            <p:cond delay="100"/>
                                          </p:stCondLst>
                                        </p:cTn>
                                        <p:tgtEl>
                                          <p:spTgt spid="1026"/>
                                        </p:tgtEl>
                                        <p:attrNameLst>
                                          <p:attrName>r</p:attrName>
                                        </p:attrNameLst>
                                      </p:cBhvr>
                                    </p:animRot>
                                    <p:animRot by="240000">
                                      <p:cBhvr>
                                        <p:cTn id="8" dur="100" fill="hold">
                                          <p:stCondLst>
                                            <p:cond delay="200"/>
                                          </p:stCondLst>
                                        </p:cTn>
                                        <p:tgtEl>
                                          <p:spTgt spid="1026"/>
                                        </p:tgtEl>
                                        <p:attrNameLst>
                                          <p:attrName>r</p:attrName>
                                        </p:attrNameLst>
                                      </p:cBhvr>
                                    </p:animRot>
                                    <p:animRot by="-240000">
                                      <p:cBhvr>
                                        <p:cTn id="9" dur="100" fill="hold">
                                          <p:stCondLst>
                                            <p:cond delay="300"/>
                                          </p:stCondLst>
                                        </p:cTn>
                                        <p:tgtEl>
                                          <p:spTgt spid="1026"/>
                                        </p:tgtEl>
                                        <p:attrNameLst>
                                          <p:attrName>r</p:attrName>
                                        </p:attrNameLst>
                                      </p:cBhvr>
                                    </p:animRot>
                                    <p:animRot by="120000">
                                      <p:cBhvr>
                                        <p:cTn id="10" dur="100" fill="hold">
                                          <p:stCondLst>
                                            <p:cond delay="400"/>
                                          </p:stCondLst>
                                        </p:cTn>
                                        <p:tgtEl>
                                          <p:spTgt spid="102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RC_standard_grey">
  <a:themeElements>
    <a:clrScheme name="RC_standard_grey 2">
      <a:dk1>
        <a:srgbClr val="000000"/>
      </a:dk1>
      <a:lt1>
        <a:srgbClr val="FFFFFF"/>
      </a:lt1>
      <a:dk2>
        <a:srgbClr val="D39100"/>
      </a:dk2>
      <a:lt2>
        <a:srgbClr val="F8F8F8"/>
      </a:lt2>
      <a:accent1>
        <a:srgbClr val="ABB41D"/>
      </a:accent1>
      <a:accent2>
        <a:srgbClr val="4A5F1D"/>
      </a:accent2>
      <a:accent3>
        <a:srgbClr val="FFFFFF"/>
      </a:accent3>
      <a:accent4>
        <a:srgbClr val="000000"/>
      </a:accent4>
      <a:accent5>
        <a:srgbClr val="D2D6AB"/>
      </a:accent5>
      <a:accent6>
        <a:srgbClr val="425519"/>
      </a:accent6>
      <a:hlink>
        <a:srgbClr val="63B5E8"/>
      </a:hlink>
      <a:folHlink>
        <a:srgbClr val="0068C6"/>
      </a:folHlink>
    </a:clrScheme>
    <a:fontScheme name="RC_standard_grey">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RC_standard_grey 1">
        <a:dk1>
          <a:srgbClr val="000000"/>
        </a:dk1>
        <a:lt1>
          <a:srgbClr val="FFFFFF"/>
        </a:lt1>
        <a:dk2>
          <a:srgbClr val="D39100"/>
        </a:dk2>
        <a:lt2>
          <a:srgbClr val="F8F8F8"/>
        </a:lt2>
        <a:accent1>
          <a:srgbClr val="C0C0C0"/>
        </a:accent1>
        <a:accent2>
          <a:srgbClr val="969696"/>
        </a:accent2>
        <a:accent3>
          <a:srgbClr val="FFFFFF"/>
        </a:accent3>
        <a:accent4>
          <a:srgbClr val="000000"/>
        </a:accent4>
        <a:accent5>
          <a:srgbClr val="DCDCDC"/>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
      <a:clrScheme name="RC_standard_grey 2">
        <a:dk1>
          <a:srgbClr val="000000"/>
        </a:dk1>
        <a:lt1>
          <a:srgbClr val="FFFFFF"/>
        </a:lt1>
        <a:dk2>
          <a:srgbClr val="D39100"/>
        </a:dk2>
        <a:lt2>
          <a:srgbClr val="F8F8F8"/>
        </a:lt2>
        <a:accent1>
          <a:srgbClr val="ABB41D"/>
        </a:accent1>
        <a:accent2>
          <a:srgbClr val="4A5F1D"/>
        </a:accent2>
        <a:accent3>
          <a:srgbClr val="FFFFFF"/>
        </a:accent3>
        <a:accent4>
          <a:srgbClr val="000000"/>
        </a:accent4>
        <a:accent5>
          <a:srgbClr val="D2D6AB"/>
        </a:accent5>
        <a:accent6>
          <a:srgbClr val="425519"/>
        </a:accent6>
        <a:hlink>
          <a:srgbClr val="63B5E8"/>
        </a:hlink>
        <a:folHlink>
          <a:srgbClr val="0068C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RC_presentation_terra_cotta">
  <a:themeElements>
    <a:clrScheme name="Custom 3">
      <a:dk1>
        <a:srgbClr val="000000"/>
      </a:dk1>
      <a:lt1>
        <a:srgbClr val="F8F8F8"/>
      </a:lt1>
      <a:dk2>
        <a:srgbClr val="F8F8F8"/>
      </a:dk2>
      <a:lt2>
        <a:srgbClr val="F8F8F8"/>
      </a:lt2>
      <a:accent1>
        <a:srgbClr val="E4551F"/>
      </a:accent1>
      <a:accent2>
        <a:srgbClr val="EEB10F"/>
      </a:accent2>
      <a:accent3>
        <a:srgbClr val="8B6900"/>
      </a:accent3>
      <a:accent4>
        <a:srgbClr val="AFBC1F"/>
      </a:accent4>
      <a:accent5>
        <a:srgbClr val="007DC5"/>
      </a:accent5>
      <a:accent6>
        <a:srgbClr val="C9C1B8"/>
      </a:accent6>
      <a:hlink>
        <a:srgbClr val="005288"/>
      </a:hlink>
      <a:folHlink>
        <a:srgbClr val="A1958A"/>
      </a:folHlink>
    </a:clrScheme>
    <a:fontScheme name="Custom Design">
      <a:majorFont>
        <a:latin typeface="Verdana"/>
        <a:ea typeface="ＭＳ Ｐゴシック"/>
        <a:cs typeface="Arial"/>
      </a:majorFont>
      <a:minorFont>
        <a:latin typeface="Verdana"/>
        <a:ea typeface="ＭＳ Ｐゴシック"/>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Arial" charset="0"/>
          </a:defRPr>
        </a:defPPr>
      </a:lstStyle>
    </a:lnDef>
  </a:objectDefaults>
  <a:extraClrSchemeLst>
    <a:extraClrScheme>
      <a:clrScheme name="Custom Design 1">
        <a:dk1>
          <a:srgbClr val="000000"/>
        </a:dk1>
        <a:lt1>
          <a:srgbClr val="FFFFFF"/>
        </a:lt1>
        <a:dk2>
          <a:srgbClr val="D39100"/>
        </a:dk2>
        <a:lt2>
          <a:srgbClr val="F8F8F8"/>
        </a:lt2>
        <a:accent1>
          <a:srgbClr val="C0C0C0"/>
        </a:accent1>
        <a:accent2>
          <a:srgbClr val="969696"/>
        </a:accent2>
        <a:accent3>
          <a:srgbClr val="FFFFFF"/>
        </a:accent3>
        <a:accent4>
          <a:srgbClr val="000000"/>
        </a:accent4>
        <a:accent5>
          <a:srgbClr val="DCDCDC"/>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D39100"/>
        </a:dk2>
        <a:lt2>
          <a:srgbClr val="F8F8F8"/>
        </a:lt2>
        <a:accent1>
          <a:srgbClr val="ABB41D"/>
        </a:accent1>
        <a:accent2>
          <a:srgbClr val="4A5F1D"/>
        </a:accent2>
        <a:accent3>
          <a:srgbClr val="FFFFFF"/>
        </a:accent3>
        <a:accent4>
          <a:srgbClr val="000000"/>
        </a:accent4>
        <a:accent5>
          <a:srgbClr val="D2D6AB"/>
        </a:accent5>
        <a:accent6>
          <a:srgbClr val="425519"/>
        </a:accent6>
        <a:hlink>
          <a:srgbClr val="63B5E8"/>
        </a:hlink>
        <a:folHlink>
          <a:srgbClr val="0068C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RC_standard_grey 1">
    <a:dk1>
      <a:srgbClr val="000000"/>
    </a:dk1>
    <a:lt1>
      <a:srgbClr val="FFFFFF"/>
    </a:lt1>
    <a:dk2>
      <a:srgbClr val="D39100"/>
    </a:dk2>
    <a:lt2>
      <a:srgbClr val="F8F8F8"/>
    </a:lt2>
    <a:accent1>
      <a:srgbClr val="C0C0C0"/>
    </a:accent1>
    <a:accent2>
      <a:srgbClr val="969696"/>
    </a:accent2>
    <a:accent3>
      <a:srgbClr val="FFFFFF"/>
    </a:accent3>
    <a:accent4>
      <a:srgbClr val="000000"/>
    </a:accent4>
    <a:accent5>
      <a:srgbClr val="DCDCDC"/>
    </a:accent5>
    <a:accent6>
      <a:srgbClr val="878787"/>
    </a:accent6>
    <a:hlink>
      <a:srgbClr val="777777"/>
    </a:hlink>
    <a:folHlink>
      <a:srgbClr val="4D4D4D"/>
    </a:folHlink>
  </a:clrScheme>
</a:themeOverride>
</file>

<file path=docProps/app.xml><?xml version="1.0" encoding="utf-8"?>
<Properties xmlns="http://schemas.openxmlformats.org/officeDocument/2006/extended-properties" xmlns:vt="http://schemas.openxmlformats.org/officeDocument/2006/docPropsVTypes">
  <Template>RC_standard_grey</Template>
  <TotalTime>0</TotalTime>
  <Words>5416</Words>
  <Application>Microsoft Office PowerPoint</Application>
  <PresentationFormat>Bildschirmpräsentation (4:3)</PresentationFormat>
  <Paragraphs>1110</Paragraphs>
  <Slides>91</Slides>
  <Notes>55</Notes>
  <HiddenSlides>0</HiddenSlides>
  <MMClips>0</MMClips>
  <ScaleCrop>false</ScaleCrop>
  <HeadingPairs>
    <vt:vector size="6" baseType="variant">
      <vt:variant>
        <vt:lpstr>Design</vt:lpstr>
      </vt:variant>
      <vt:variant>
        <vt:i4>2</vt:i4>
      </vt:variant>
      <vt:variant>
        <vt:lpstr>Eingebettete OLE-Server</vt:lpstr>
      </vt:variant>
      <vt:variant>
        <vt:i4>2</vt:i4>
      </vt:variant>
      <vt:variant>
        <vt:lpstr>Folientitel</vt:lpstr>
      </vt:variant>
      <vt:variant>
        <vt:i4>91</vt:i4>
      </vt:variant>
    </vt:vector>
  </HeadingPairs>
  <TitlesOfParts>
    <vt:vector size="95" baseType="lpstr">
      <vt:lpstr>RC_standard_grey</vt:lpstr>
      <vt:lpstr>RC_presentation_terra_cotta</vt:lpstr>
      <vt:lpstr>Visio</vt:lpstr>
      <vt:lpstr>VISIO</vt:lpstr>
      <vt:lpstr>Architectural Modeling and Analysis for Safety Engineering (AMASE)</vt:lpstr>
      <vt:lpstr>Agenda</vt:lpstr>
      <vt:lpstr>Advanced Technology Center</vt:lpstr>
      <vt:lpstr>Project Overview</vt:lpstr>
      <vt:lpstr>Team</vt:lpstr>
      <vt:lpstr>Model-Based Safety Analysis</vt:lpstr>
      <vt:lpstr>But what about the AADL Error Model Annex?</vt:lpstr>
      <vt:lpstr>AGREE: Assume Guarantee Reasoning Environment</vt:lpstr>
      <vt:lpstr>AGREE Translation</vt:lpstr>
      <vt:lpstr>FLM vs. FEM</vt:lpstr>
      <vt:lpstr>AMASE Technical Approach</vt:lpstr>
      <vt:lpstr>Year 2 Statement of Work</vt:lpstr>
      <vt:lpstr>Year 2 Schedule</vt:lpstr>
      <vt:lpstr>Year 2 Deliverables</vt:lpstr>
      <vt:lpstr>Technical Write-ups of the Work in Progress</vt:lpstr>
      <vt:lpstr>Models and tools on github</vt:lpstr>
      <vt:lpstr>Updated Users Guide</vt:lpstr>
      <vt:lpstr>Year 3 Statement of Work Refine Framework and Application MBSA II</vt:lpstr>
      <vt:lpstr>Year 3 Schedule</vt:lpstr>
      <vt:lpstr>PowerPoint-Präsentation</vt:lpstr>
      <vt:lpstr>PowerPoint-Präsentation</vt:lpstr>
      <vt:lpstr>Motivation</vt:lpstr>
      <vt:lpstr>Model-Based Development</vt:lpstr>
      <vt:lpstr>Model-Based Safety Analysis</vt:lpstr>
      <vt:lpstr>PowerPoint-Präsentation</vt:lpstr>
      <vt:lpstr>Nominal System Model</vt:lpstr>
      <vt:lpstr>Wheel Brake System</vt:lpstr>
      <vt:lpstr>Architecture Analysis and Design Language (AADL)</vt:lpstr>
      <vt:lpstr>WBS AADL Model (Overview)</vt:lpstr>
      <vt:lpstr>PowerPoint-Präsentation</vt:lpstr>
      <vt:lpstr>Architecture Analysis Tools</vt:lpstr>
      <vt:lpstr>AGREE: Assume Guarantee Reasoning Environment</vt:lpstr>
      <vt:lpstr>PowerPoint-Präsentation</vt:lpstr>
      <vt:lpstr>PowerPoint-Präsentation</vt:lpstr>
      <vt:lpstr>PowerPoint-Präsentation</vt:lpstr>
      <vt:lpstr>PowerPoint-Präsentation</vt:lpstr>
      <vt:lpstr>Wheel Brake System (Simple Version)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Motivation for Compositional Fault Analysis </vt:lpstr>
      <vt:lpstr>Inductive Validity Cores </vt:lpstr>
      <vt:lpstr>Inductive Validity Cores </vt:lpstr>
      <vt:lpstr>Inductive Validity Cores </vt:lpstr>
      <vt:lpstr>Inductive Validity Cores </vt:lpstr>
      <vt:lpstr>Inductive Validity Cores </vt:lpstr>
      <vt:lpstr>Inductive Validity Cores with Faults </vt:lpstr>
      <vt:lpstr>Inductive Validity Cores with Faults </vt:lpstr>
      <vt:lpstr>Proof Tree</vt:lpstr>
      <vt:lpstr>Negation of the Proof Tree</vt:lpstr>
      <vt:lpstr>Perform Analysis</vt:lpstr>
      <vt:lpstr>Perform Analysis</vt:lpstr>
      <vt:lpstr>Perform Analysis</vt:lpstr>
      <vt:lpstr>Perform Analysis</vt:lpstr>
      <vt:lpstr>Perform Analysis</vt:lpstr>
      <vt:lpstr>PowerPoint-Präsentation</vt:lpstr>
      <vt:lpstr>PowerPoint-Präsentation</vt:lpstr>
      <vt:lpstr>HW Failures</vt:lpstr>
      <vt:lpstr>HW Failures (Continued)</vt:lpstr>
      <vt:lpstr>Fault Propagations from HW Failures</vt:lpstr>
      <vt:lpstr>PowerPoint-Präsentation</vt:lpstr>
      <vt:lpstr>PowerPoint-Präsentation</vt:lpstr>
      <vt:lpstr>Integration to the ARP4754A Safety Assessment Process</vt:lpstr>
      <vt:lpstr>Support of ARP4754A Safety Assessment Process Objectives</vt:lpstr>
      <vt:lpstr>Support of ARP4754A Safety Assessment Process Objectives (Continued)</vt:lpstr>
      <vt:lpstr>Benefits from Safety Engineer’s View</vt:lpstr>
      <vt:lpstr>PowerPoint-Präsentation</vt:lpstr>
      <vt:lpstr>Asymmetric/Byzantine Faults</vt:lpstr>
      <vt:lpstr>Asymmetric/Byzantine Faults (Continued)</vt:lpstr>
      <vt:lpstr>Representation of Time</vt:lpstr>
      <vt:lpstr>Representation of Time (Continued)</vt:lpstr>
      <vt:lpstr>Explore Transient Faults in More Depth</vt:lpstr>
      <vt:lpstr>Scalability</vt:lpstr>
      <vt:lpstr>Usability &amp; Certification Aspects</vt:lpstr>
      <vt:lpstr>Applications</vt:lpstr>
      <vt:lpstr>Other Engineering Improvements</vt:lpstr>
      <vt:lpstr>PowerPoint-Präsentation</vt:lpstr>
    </vt:vector>
  </TitlesOfParts>
  <Company>Rockwell Collins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ddcofer</dc:creator>
  <cp:lastModifiedBy>Danielle Kristen Stewart</cp:lastModifiedBy>
  <cp:revision>829</cp:revision>
  <cp:lastPrinted>2015-07-31T15:07:47Z</cp:lastPrinted>
  <dcterms:created xsi:type="dcterms:W3CDTF">2012-01-31T16:19:15Z</dcterms:created>
  <dcterms:modified xsi:type="dcterms:W3CDTF">2018-10-01T07:21:47Z</dcterms:modified>
</cp:coreProperties>
</file>