
<file path=[Content_Types].xml><?xml version="1.0" encoding="utf-8"?>
<Types xmlns="http://schemas.openxmlformats.org/package/2006/content-types">
  <Default Extension="png" ContentType="image/png"/>
  <Default Extension="bin" ContentType="application/vnd.openxmlformats-officedocument.oleObject"/>
  <Default Extension="pdf" ContentType="application/pdf"/>
  <Default Extension="emf" ContentType="image/x-emf"/>
  <Default Extension="wmf" ContentType="image/x-wmf"/>
  <Default Extension="jpeg" ContentType="image/jpeg"/>
  <Default Extension="rels" ContentType="application/vnd.openxmlformats-package.relationships+xml"/>
  <Default Extension="xml" ContentType="application/xml"/>
  <Default Extension="vml" ContentType="application/vnd.openxmlformats-officedocument.vmlDrawi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51"/>
  </p:notesMasterIdLst>
  <p:handoutMasterIdLst>
    <p:handoutMasterId r:id="rId52"/>
  </p:handoutMasterIdLst>
  <p:sldIdLst>
    <p:sldId id="334" r:id="rId2"/>
    <p:sldId id="285" r:id="rId3"/>
    <p:sldId id="286" r:id="rId4"/>
    <p:sldId id="287" r:id="rId5"/>
    <p:sldId id="257" r:id="rId6"/>
    <p:sldId id="339" r:id="rId7"/>
    <p:sldId id="340" r:id="rId8"/>
    <p:sldId id="341" r:id="rId9"/>
    <p:sldId id="290" r:id="rId10"/>
    <p:sldId id="345" r:id="rId11"/>
    <p:sldId id="258" r:id="rId12"/>
    <p:sldId id="313" r:id="rId13"/>
    <p:sldId id="291" r:id="rId14"/>
    <p:sldId id="342" r:id="rId15"/>
    <p:sldId id="300" r:id="rId16"/>
    <p:sldId id="301" r:id="rId17"/>
    <p:sldId id="302" r:id="rId18"/>
    <p:sldId id="259" r:id="rId19"/>
    <p:sldId id="343" r:id="rId20"/>
    <p:sldId id="344" r:id="rId21"/>
    <p:sldId id="346" r:id="rId22"/>
    <p:sldId id="317" r:id="rId23"/>
    <p:sldId id="262" r:id="rId24"/>
    <p:sldId id="299" r:id="rId25"/>
    <p:sldId id="314" r:id="rId26"/>
    <p:sldId id="347" r:id="rId27"/>
    <p:sldId id="348" r:id="rId28"/>
    <p:sldId id="303" r:id="rId29"/>
    <p:sldId id="315" r:id="rId30"/>
    <p:sldId id="316" r:id="rId31"/>
    <p:sldId id="350" r:id="rId32"/>
    <p:sldId id="349" r:id="rId33"/>
    <p:sldId id="351" r:id="rId34"/>
    <p:sldId id="320" r:id="rId35"/>
    <p:sldId id="352" r:id="rId36"/>
    <p:sldId id="358" r:id="rId37"/>
    <p:sldId id="357" r:id="rId38"/>
    <p:sldId id="353" r:id="rId39"/>
    <p:sldId id="355" r:id="rId40"/>
    <p:sldId id="327" r:id="rId41"/>
    <p:sldId id="329" r:id="rId42"/>
    <p:sldId id="328" r:id="rId43"/>
    <p:sldId id="331" r:id="rId44"/>
    <p:sldId id="330" r:id="rId45"/>
    <p:sldId id="337" r:id="rId46"/>
    <p:sldId id="335" r:id="rId47"/>
    <p:sldId id="336" r:id="rId48"/>
    <p:sldId id="338" r:id="rId49"/>
    <p:sldId id="356" r:id="rId5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6768" autoAdjust="0"/>
  </p:normalViewPr>
  <p:slideViewPr>
    <p:cSldViewPr snapToGrid="0" snapToObjects="1">
      <p:cViewPr>
        <p:scale>
          <a:sx n="100" d="100"/>
          <a:sy n="100" d="100"/>
        </p:scale>
        <p:origin x="-204" y="13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2.v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8.emf"/><Relationship Id="rId1" Type="http://schemas.openxmlformats.org/officeDocument/2006/relationships/image" Target="../media/image7.emf"/></Relationships>
</file>

<file path=ppt/drawings/_rels/vmlDrawing3.v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image" Target="../media/image9.e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4730651A-009A-2449-BC63-7A557E80C367}" type="datetimeFigureOut">
              <a:rPr lang="en-US" smtClean="0"/>
              <a:pPr/>
              <a:t>8/23/2018</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8FC8DC30-6F07-E44C-A860-65C7176AC235}" type="slidenum">
              <a:rPr lang="en-US" smtClean="0"/>
              <a:pPr/>
              <a:t>‹Nr.›</a:t>
            </a:fld>
            <a:endParaRPr lang="en-US"/>
          </a:p>
        </p:txBody>
      </p:sp>
    </p:spTree>
    <p:extLst>
      <p:ext uri="{BB962C8B-B14F-4D97-AF65-F5344CB8AC3E}">
        <p14:creationId xmlns:p14="http://schemas.microsoft.com/office/powerpoint/2010/main" val="73767251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093D448-A9D5-784B-AD7F-7D93197B9014}" type="datetimeFigureOut">
              <a:rPr lang="en-US" smtClean="0"/>
              <a:pPr/>
              <a:t>8/23/2018</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EA6F4145-9A54-8B4E-B462-B59B3AACC30B}" type="slidenum">
              <a:rPr lang="en-US" smtClean="0"/>
              <a:pPr/>
              <a:t>‹Nr.›</a:t>
            </a:fld>
            <a:endParaRPr lang="en-US"/>
          </a:p>
        </p:txBody>
      </p:sp>
    </p:spTree>
    <p:extLst>
      <p:ext uri="{BB962C8B-B14F-4D97-AF65-F5344CB8AC3E}">
        <p14:creationId xmlns:p14="http://schemas.microsoft.com/office/powerpoint/2010/main" val="654705629"/>
      </p:ext>
    </p:extLst>
  </p:cSld>
  <p:clrMap bg1="lt1" tx1="dk1" bg2="lt2" tx2="dk2" accent1="accent1" accent2="accent2" accent3="accent3" accent4="accent4" accent5="accent5" accent6="accent6" hlink="hlink" folHlink="folHlink"/>
  <p:hf hdr="0" ftr="0" dt="0"/>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607" eaLnBrk="0" hangingPunct="0">
              <a:defRPr>
                <a:solidFill>
                  <a:schemeClr val="tx1"/>
                </a:solidFill>
                <a:latin typeface="Arial" pitchFamily="34" charset="0"/>
                <a:cs typeface="Arial" pitchFamily="34" charset="0"/>
              </a:defRPr>
            </a:lvl1pPr>
            <a:lvl2pPr marL="720600" indent="-277153" defTabSz="914607" eaLnBrk="0" hangingPunct="0">
              <a:defRPr>
                <a:solidFill>
                  <a:schemeClr val="tx1"/>
                </a:solidFill>
                <a:latin typeface="Arial" pitchFamily="34" charset="0"/>
                <a:cs typeface="Arial" pitchFamily="34" charset="0"/>
              </a:defRPr>
            </a:lvl2pPr>
            <a:lvl3pPr marL="1108615" indent="-221723" defTabSz="914607" eaLnBrk="0" hangingPunct="0">
              <a:defRPr>
                <a:solidFill>
                  <a:schemeClr val="tx1"/>
                </a:solidFill>
                <a:latin typeface="Arial" pitchFamily="34" charset="0"/>
                <a:cs typeface="Arial" pitchFamily="34" charset="0"/>
              </a:defRPr>
            </a:lvl3pPr>
            <a:lvl4pPr marL="1552061" indent="-221723" defTabSz="914607" eaLnBrk="0" hangingPunct="0">
              <a:defRPr>
                <a:solidFill>
                  <a:schemeClr val="tx1"/>
                </a:solidFill>
                <a:latin typeface="Arial" pitchFamily="34" charset="0"/>
                <a:cs typeface="Arial" pitchFamily="34" charset="0"/>
              </a:defRPr>
            </a:lvl4pPr>
            <a:lvl5pPr marL="1995507" indent="-221723" defTabSz="914607" eaLnBrk="0" hangingPunct="0">
              <a:defRPr>
                <a:solidFill>
                  <a:schemeClr val="tx1"/>
                </a:solidFill>
                <a:latin typeface="Arial" pitchFamily="34" charset="0"/>
                <a:cs typeface="Arial" pitchFamily="34" charset="0"/>
              </a:defRPr>
            </a:lvl5pPr>
            <a:lvl6pPr marL="2438953" indent="-221723" defTabSz="914607" eaLnBrk="0" fontAlgn="base" hangingPunct="0">
              <a:spcBef>
                <a:spcPct val="0"/>
              </a:spcBef>
              <a:spcAft>
                <a:spcPct val="0"/>
              </a:spcAft>
              <a:defRPr>
                <a:solidFill>
                  <a:schemeClr val="tx1"/>
                </a:solidFill>
                <a:latin typeface="Arial" pitchFamily="34" charset="0"/>
                <a:cs typeface="Arial" pitchFamily="34" charset="0"/>
              </a:defRPr>
            </a:lvl6pPr>
            <a:lvl7pPr marL="2882399" indent="-221723" defTabSz="914607" eaLnBrk="0" fontAlgn="base" hangingPunct="0">
              <a:spcBef>
                <a:spcPct val="0"/>
              </a:spcBef>
              <a:spcAft>
                <a:spcPct val="0"/>
              </a:spcAft>
              <a:defRPr>
                <a:solidFill>
                  <a:schemeClr val="tx1"/>
                </a:solidFill>
                <a:latin typeface="Arial" pitchFamily="34" charset="0"/>
                <a:cs typeface="Arial" pitchFamily="34" charset="0"/>
              </a:defRPr>
            </a:lvl7pPr>
            <a:lvl8pPr marL="3325846" indent="-221723" defTabSz="914607" eaLnBrk="0" fontAlgn="base" hangingPunct="0">
              <a:spcBef>
                <a:spcPct val="0"/>
              </a:spcBef>
              <a:spcAft>
                <a:spcPct val="0"/>
              </a:spcAft>
              <a:defRPr>
                <a:solidFill>
                  <a:schemeClr val="tx1"/>
                </a:solidFill>
                <a:latin typeface="Arial" pitchFamily="34" charset="0"/>
                <a:cs typeface="Arial" pitchFamily="34" charset="0"/>
              </a:defRPr>
            </a:lvl8pPr>
            <a:lvl9pPr marL="3769291" indent="-221723" defTabSz="914607" eaLnBrk="0" fontAlgn="base" hangingPunct="0">
              <a:spcBef>
                <a:spcPct val="0"/>
              </a:spcBef>
              <a:spcAft>
                <a:spcPct val="0"/>
              </a:spcAft>
              <a:defRPr>
                <a:solidFill>
                  <a:schemeClr val="tx1"/>
                </a:solidFill>
                <a:latin typeface="Arial" pitchFamily="34" charset="0"/>
                <a:cs typeface="Arial" pitchFamily="34" charset="0"/>
              </a:defRPr>
            </a:lvl9pPr>
          </a:lstStyle>
          <a:p>
            <a:pPr eaLnBrk="1" hangingPunct="1"/>
            <a:fld id="{F07951DB-2D6E-497D-83D0-D1AFA43BF5B7}" type="slidenum">
              <a:rPr lang="en-US"/>
              <a:pPr eaLnBrk="1" hangingPunct="1"/>
              <a:t>1</a:t>
            </a:fld>
            <a:endParaRPr lang="en-US"/>
          </a:p>
        </p:txBody>
      </p:sp>
      <p:sp>
        <p:nvSpPr>
          <p:cNvPr id="23555" name="Rectangle 2"/>
          <p:cNvSpPr>
            <a:spLocks noGrp="1" noRot="1" noChangeAspect="1" noChangeArrowheads="1" noTextEdit="1"/>
          </p:cNvSpPr>
          <p:nvPr>
            <p:ph type="sldImg"/>
          </p:nvPr>
        </p:nvSpPr>
        <p:spPr>
          <a:xfrm>
            <a:off x="1146175" y="687388"/>
            <a:ext cx="4567238" cy="3427412"/>
          </a:xfrm>
          <a:ln/>
        </p:spPr>
      </p:sp>
      <p:sp>
        <p:nvSpPr>
          <p:cNvPr id="23556" name="Rectangle 3"/>
          <p:cNvSpPr>
            <a:spLocks noGrp="1" noChangeArrowheads="1"/>
          </p:cNvSpPr>
          <p:nvPr>
            <p:ph type="body" idx="1"/>
          </p:nvPr>
        </p:nvSpPr>
        <p:spPr>
          <a:xfrm>
            <a:off x="685494" y="4341856"/>
            <a:ext cx="5487013" cy="41148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smtClean="0">
              <a:latin typeface="Arial" pitchFamily="34" charset="0"/>
              <a:cs typeface="Arial" pitchFamily="34" charset="0"/>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E34E4300-A61B-44AF-911E-DAE508F0D26A}" type="slidenum">
              <a:rPr lang="en-US" altLang="en-US"/>
              <a:pPr/>
              <a:t>2</a:t>
            </a:fld>
            <a:endParaRPr lang="en-US" altLang="en-US"/>
          </a:p>
        </p:txBody>
      </p:sp>
      <p:sp>
        <p:nvSpPr>
          <p:cNvPr id="120834" name="Rectangle 2"/>
          <p:cNvSpPr>
            <a:spLocks noGrp="1" noRot="1" noChangeAspect="1" noChangeArrowheads="1" noTextEdit="1"/>
          </p:cNvSpPr>
          <p:nvPr>
            <p:ph type="sldImg"/>
          </p:nvPr>
        </p:nvSpPr>
        <p:spPr>
          <a:ln/>
        </p:spPr>
      </p:sp>
      <p:sp>
        <p:nvSpPr>
          <p:cNvPr id="120835" name="Rectangle 3"/>
          <p:cNvSpPr>
            <a:spLocks noGrp="1" noChangeArrowheads="1"/>
          </p:cNvSpPr>
          <p:nvPr>
            <p:ph type="body" idx="1"/>
          </p:nvPr>
        </p:nvSpPr>
        <p:spPr/>
        <p:txBody>
          <a:bodyPr/>
          <a:lstStyle/>
          <a:p>
            <a:r>
              <a:rPr lang="en-US" altLang="en-US"/>
              <a:t>Safety engineers do most of the analysis activities like fault tree creation manually, based on a lot of informal requirements and design documents. These analyses seem to be quite subjective and highly dependent on the skill and experience of the safety engineers. Thus, it is not surprising that different safety engineers will quite often produce fault trees, which may differ in substantial ways. It is only through a rigorous review process that a concensus will be built on the correct fault tree, which captures the right fault behavior. We think that the review process implicitly consolidates existing information from various documents and then completes it with unspecified details architectural and fault behaviors. It would be great if all these activities would be based off a comprehensive system architecture.</a:t>
            </a:r>
          </a:p>
          <a:p>
            <a:r>
              <a:rPr lang="en-US" altLang="en-US"/>
              <a:t>We also observe that due to the complexity of the systems involved, it is possible that the fault trees may not capture involved fault scenarios that may occur due to complex interactions between components.</a:t>
            </a:r>
          </a:p>
        </p:txBody>
      </p:sp>
    </p:spTree>
    <p:extLst>
      <p:ext uri="{BB962C8B-B14F-4D97-AF65-F5344CB8AC3E}">
        <p14:creationId xmlns:p14="http://schemas.microsoft.com/office/powerpoint/2010/main" val="193604756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B6BBC98-642B-44AD-AB42-CC1AD7162FD5}" type="slidenum">
              <a:rPr lang="en-US" altLang="en-US"/>
              <a:pPr/>
              <a:t>3</a:t>
            </a:fld>
            <a:endParaRPr lang="en-US" altLang="en-US"/>
          </a:p>
        </p:txBody>
      </p:sp>
      <p:sp>
        <p:nvSpPr>
          <p:cNvPr id="240642" name="Rectangle 2"/>
          <p:cNvSpPr>
            <a:spLocks noGrp="1" noRot="1" noChangeAspect="1" noChangeArrowheads="1" noTextEdit="1"/>
          </p:cNvSpPr>
          <p:nvPr>
            <p:ph type="sldImg"/>
          </p:nvPr>
        </p:nvSpPr>
        <p:spPr>
          <a:ln/>
        </p:spPr>
      </p:sp>
      <p:sp>
        <p:nvSpPr>
          <p:cNvPr id="240643" name="Rectangle 3"/>
          <p:cNvSpPr>
            <a:spLocks noGrp="1" noChangeArrowheads="1"/>
          </p:cNvSpPr>
          <p:nvPr>
            <p:ph type="body" idx="1"/>
          </p:nvPr>
        </p:nvSpPr>
        <p:spPr/>
        <p:txBody>
          <a:bodyPr/>
          <a:lstStyle/>
          <a:p>
            <a:endParaRPr lang="en-US" altLang="en-US"/>
          </a:p>
        </p:txBody>
      </p:sp>
    </p:spTree>
    <p:extLst>
      <p:ext uri="{BB962C8B-B14F-4D97-AF65-F5344CB8AC3E}">
        <p14:creationId xmlns:p14="http://schemas.microsoft.com/office/powerpoint/2010/main" val="9034513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ADA9241D-9E0E-4214-8660-AA7652DDB682}" type="slidenum">
              <a:rPr lang="en-US" altLang="en-US"/>
              <a:pPr/>
              <a:t>4</a:t>
            </a:fld>
            <a:endParaRPr lang="en-US" altLang="en-US"/>
          </a:p>
        </p:txBody>
      </p:sp>
      <p:sp>
        <p:nvSpPr>
          <p:cNvPr id="211970" name="Rectangle 2"/>
          <p:cNvSpPr>
            <a:spLocks noGrp="1" noRot="1" noChangeAspect="1" noChangeArrowheads="1" noTextEdit="1"/>
          </p:cNvSpPr>
          <p:nvPr>
            <p:ph type="sldImg"/>
          </p:nvPr>
        </p:nvSpPr>
        <p:spPr>
          <a:ln/>
        </p:spPr>
      </p:sp>
      <p:sp>
        <p:nvSpPr>
          <p:cNvPr id="211971" name="Rectangle 3"/>
          <p:cNvSpPr>
            <a:spLocks noGrp="1" noChangeArrowheads="1"/>
          </p:cNvSpPr>
          <p:nvPr>
            <p:ph type="body" idx="1"/>
          </p:nvPr>
        </p:nvSpPr>
        <p:spPr/>
        <p:txBody>
          <a:bodyPr/>
          <a:lstStyle/>
          <a:p>
            <a:r>
              <a:rPr lang="en-US" altLang="en-US"/>
              <a:t>Steve’s slide </a:t>
            </a:r>
          </a:p>
        </p:txBody>
      </p:sp>
    </p:spTree>
    <p:extLst>
      <p:ext uri="{BB962C8B-B14F-4D97-AF65-F5344CB8AC3E}">
        <p14:creationId xmlns:p14="http://schemas.microsoft.com/office/powerpoint/2010/main" val="8717145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smtClean="0"/>
              <a:t>START AGREE HERE</a:t>
            </a:r>
            <a:endParaRPr lang="en-US" dirty="0"/>
          </a:p>
        </p:txBody>
      </p:sp>
      <p:sp>
        <p:nvSpPr>
          <p:cNvPr id="4" name="Slide Number Placeholder 3"/>
          <p:cNvSpPr>
            <a:spLocks noGrp="1"/>
          </p:cNvSpPr>
          <p:nvPr>
            <p:ph type="sldNum" sz="quarter" idx="10"/>
          </p:nvPr>
        </p:nvSpPr>
        <p:spPr/>
        <p:txBody>
          <a:bodyPr/>
          <a:lstStyle/>
          <a:p>
            <a:fld id="{EA6F4145-9A54-8B4E-B462-B59B3AACC30B}" type="slidenum">
              <a:rPr lang="en-US" smtClean="0"/>
              <a:pPr/>
              <a:t>13</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smtClean="0"/>
              <a:t>START AGREE HERE</a:t>
            </a:r>
            <a:endParaRPr lang="en-US" dirty="0"/>
          </a:p>
        </p:txBody>
      </p:sp>
      <p:sp>
        <p:nvSpPr>
          <p:cNvPr id="4" name="Slide Number Placeholder 3"/>
          <p:cNvSpPr>
            <a:spLocks noGrp="1"/>
          </p:cNvSpPr>
          <p:nvPr>
            <p:ph type="sldNum" sz="quarter" idx="10"/>
          </p:nvPr>
        </p:nvSpPr>
        <p:spPr/>
        <p:txBody>
          <a:bodyPr/>
          <a:lstStyle/>
          <a:p>
            <a:fld id="{EA6F4145-9A54-8B4E-B462-B59B3AACC30B}" type="slidenum">
              <a:rPr lang="en-US" smtClean="0"/>
              <a:pPr/>
              <a:t>14</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607" eaLnBrk="0" hangingPunct="0">
              <a:defRPr>
                <a:solidFill>
                  <a:schemeClr val="tx1"/>
                </a:solidFill>
                <a:latin typeface="Arial" charset="0"/>
                <a:cs typeface="Arial" charset="0"/>
              </a:defRPr>
            </a:lvl1pPr>
            <a:lvl2pPr marL="720600" indent="-277153" defTabSz="914607" eaLnBrk="0" hangingPunct="0">
              <a:defRPr>
                <a:solidFill>
                  <a:schemeClr val="tx1"/>
                </a:solidFill>
                <a:latin typeface="Arial" charset="0"/>
                <a:cs typeface="Arial" charset="0"/>
              </a:defRPr>
            </a:lvl2pPr>
            <a:lvl3pPr marL="1108615" indent="-221723" defTabSz="914607" eaLnBrk="0" hangingPunct="0">
              <a:defRPr>
                <a:solidFill>
                  <a:schemeClr val="tx1"/>
                </a:solidFill>
                <a:latin typeface="Arial" charset="0"/>
                <a:cs typeface="Arial" charset="0"/>
              </a:defRPr>
            </a:lvl3pPr>
            <a:lvl4pPr marL="1552061" indent="-221723" defTabSz="914607" eaLnBrk="0" hangingPunct="0">
              <a:defRPr>
                <a:solidFill>
                  <a:schemeClr val="tx1"/>
                </a:solidFill>
                <a:latin typeface="Arial" charset="0"/>
                <a:cs typeface="Arial" charset="0"/>
              </a:defRPr>
            </a:lvl4pPr>
            <a:lvl5pPr marL="1995507" indent="-221723" defTabSz="914607" eaLnBrk="0" hangingPunct="0">
              <a:defRPr>
                <a:solidFill>
                  <a:schemeClr val="tx1"/>
                </a:solidFill>
                <a:latin typeface="Arial" charset="0"/>
                <a:cs typeface="Arial" charset="0"/>
              </a:defRPr>
            </a:lvl5pPr>
            <a:lvl6pPr marL="2438953" indent="-221723" defTabSz="914607" eaLnBrk="0" fontAlgn="base" hangingPunct="0">
              <a:spcBef>
                <a:spcPct val="0"/>
              </a:spcBef>
              <a:spcAft>
                <a:spcPct val="0"/>
              </a:spcAft>
              <a:defRPr>
                <a:solidFill>
                  <a:schemeClr val="tx1"/>
                </a:solidFill>
                <a:latin typeface="Arial" charset="0"/>
                <a:cs typeface="Arial" charset="0"/>
              </a:defRPr>
            </a:lvl6pPr>
            <a:lvl7pPr marL="2882399" indent="-221723" defTabSz="914607" eaLnBrk="0" fontAlgn="base" hangingPunct="0">
              <a:spcBef>
                <a:spcPct val="0"/>
              </a:spcBef>
              <a:spcAft>
                <a:spcPct val="0"/>
              </a:spcAft>
              <a:defRPr>
                <a:solidFill>
                  <a:schemeClr val="tx1"/>
                </a:solidFill>
                <a:latin typeface="Arial" charset="0"/>
                <a:cs typeface="Arial" charset="0"/>
              </a:defRPr>
            </a:lvl7pPr>
            <a:lvl8pPr marL="3325846" indent="-221723" defTabSz="914607" eaLnBrk="0" fontAlgn="base" hangingPunct="0">
              <a:spcBef>
                <a:spcPct val="0"/>
              </a:spcBef>
              <a:spcAft>
                <a:spcPct val="0"/>
              </a:spcAft>
              <a:defRPr>
                <a:solidFill>
                  <a:schemeClr val="tx1"/>
                </a:solidFill>
                <a:latin typeface="Arial" charset="0"/>
                <a:cs typeface="Arial" charset="0"/>
              </a:defRPr>
            </a:lvl8pPr>
            <a:lvl9pPr marL="3769291" indent="-221723" defTabSz="914607" eaLnBrk="0" fontAlgn="base" hangingPunct="0">
              <a:spcBef>
                <a:spcPct val="0"/>
              </a:spcBef>
              <a:spcAft>
                <a:spcPct val="0"/>
              </a:spcAft>
              <a:defRPr>
                <a:solidFill>
                  <a:schemeClr val="tx1"/>
                </a:solidFill>
                <a:latin typeface="Arial" charset="0"/>
                <a:cs typeface="Arial" charset="0"/>
              </a:defRPr>
            </a:lvl9pPr>
          </a:lstStyle>
          <a:p>
            <a:pPr eaLnBrk="1" hangingPunct="1"/>
            <a:fld id="{D70A86CA-E5FC-49E1-BC01-A570CB9D5C15}" type="slidenum">
              <a:rPr lang="en-US" altLang="en-US"/>
              <a:pPr eaLnBrk="1" hangingPunct="1"/>
              <a:t>15</a:t>
            </a:fld>
            <a:endParaRPr lang="en-US" altLang="en-US"/>
          </a:p>
        </p:txBody>
      </p:sp>
      <p:sp>
        <p:nvSpPr>
          <p:cNvPr id="36867" name="Rectangle 2"/>
          <p:cNvSpPr>
            <a:spLocks noGrp="1" noRot="1" noChangeAspect="1" noChangeArrowheads="1" noTextEdit="1"/>
          </p:cNvSpPr>
          <p:nvPr>
            <p:ph type="sldImg"/>
          </p:nvPr>
        </p:nvSpPr>
        <p:spPr>
          <a:xfrm>
            <a:off x="1146175" y="687388"/>
            <a:ext cx="4567238" cy="3427412"/>
          </a:xfrm>
          <a:ln/>
        </p:spPr>
      </p:sp>
      <p:sp>
        <p:nvSpPr>
          <p:cNvPr id="36868" name="Rectangle 3"/>
          <p:cNvSpPr>
            <a:spLocks noGrp="1" noChangeArrowheads="1"/>
          </p:cNvSpPr>
          <p:nvPr>
            <p:ph type="body" idx="1"/>
          </p:nvPr>
        </p:nvSpPr>
        <p:spPr>
          <a:xfrm>
            <a:off x="685494" y="4341856"/>
            <a:ext cx="5487013" cy="41148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smtClean="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607" eaLnBrk="0" hangingPunct="0">
              <a:defRPr>
                <a:solidFill>
                  <a:schemeClr val="tx1"/>
                </a:solidFill>
                <a:latin typeface="Arial" charset="0"/>
                <a:cs typeface="Arial" charset="0"/>
              </a:defRPr>
            </a:lvl1pPr>
            <a:lvl2pPr marL="720600" indent="-277153" defTabSz="914607" eaLnBrk="0" hangingPunct="0">
              <a:defRPr>
                <a:solidFill>
                  <a:schemeClr val="tx1"/>
                </a:solidFill>
                <a:latin typeface="Arial" charset="0"/>
                <a:cs typeface="Arial" charset="0"/>
              </a:defRPr>
            </a:lvl2pPr>
            <a:lvl3pPr marL="1108615" indent="-221723" defTabSz="914607" eaLnBrk="0" hangingPunct="0">
              <a:defRPr>
                <a:solidFill>
                  <a:schemeClr val="tx1"/>
                </a:solidFill>
                <a:latin typeface="Arial" charset="0"/>
                <a:cs typeface="Arial" charset="0"/>
              </a:defRPr>
            </a:lvl3pPr>
            <a:lvl4pPr marL="1552061" indent="-221723" defTabSz="914607" eaLnBrk="0" hangingPunct="0">
              <a:defRPr>
                <a:solidFill>
                  <a:schemeClr val="tx1"/>
                </a:solidFill>
                <a:latin typeface="Arial" charset="0"/>
                <a:cs typeface="Arial" charset="0"/>
              </a:defRPr>
            </a:lvl4pPr>
            <a:lvl5pPr marL="1995507" indent="-221723" defTabSz="914607" eaLnBrk="0" hangingPunct="0">
              <a:defRPr>
                <a:solidFill>
                  <a:schemeClr val="tx1"/>
                </a:solidFill>
                <a:latin typeface="Arial" charset="0"/>
                <a:cs typeface="Arial" charset="0"/>
              </a:defRPr>
            </a:lvl5pPr>
            <a:lvl6pPr marL="2438953" indent="-221723" defTabSz="914607" eaLnBrk="0" fontAlgn="base" hangingPunct="0">
              <a:spcBef>
                <a:spcPct val="0"/>
              </a:spcBef>
              <a:spcAft>
                <a:spcPct val="0"/>
              </a:spcAft>
              <a:defRPr>
                <a:solidFill>
                  <a:schemeClr val="tx1"/>
                </a:solidFill>
                <a:latin typeface="Arial" charset="0"/>
                <a:cs typeface="Arial" charset="0"/>
              </a:defRPr>
            </a:lvl6pPr>
            <a:lvl7pPr marL="2882399" indent="-221723" defTabSz="914607" eaLnBrk="0" fontAlgn="base" hangingPunct="0">
              <a:spcBef>
                <a:spcPct val="0"/>
              </a:spcBef>
              <a:spcAft>
                <a:spcPct val="0"/>
              </a:spcAft>
              <a:defRPr>
                <a:solidFill>
                  <a:schemeClr val="tx1"/>
                </a:solidFill>
                <a:latin typeface="Arial" charset="0"/>
                <a:cs typeface="Arial" charset="0"/>
              </a:defRPr>
            </a:lvl7pPr>
            <a:lvl8pPr marL="3325846" indent="-221723" defTabSz="914607" eaLnBrk="0" fontAlgn="base" hangingPunct="0">
              <a:spcBef>
                <a:spcPct val="0"/>
              </a:spcBef>
              <a:spcAft>
                <a:spcPct val="0"/>
              </a:spcAft>
              <a:defRPr>
                <a:solidFill>
                  <a:schemeClr val="tx1"/>
                </a:solidFill>
                <a:latin typeface="Arial" charset="0"/>
                <a:cs typeface="Arial" charset="0"/>
              </a:defRPr>
            </a:lvl8pPr>
            <a:lvl9pPr marL="3769291" indent="-221723" defTabSz="914607" eaLnBrk="0" fontAlgn="base" hangingPunct="0">
              <a:spcBef>
                <a:spcPct val="0"/>
              </a:spcBef>
              <a:spcAft>
                <a:spcPct val="0"/>
              </a:spcAft>
              <a:defRPr>
                <a:solidFill>
                  <a:schemeClr val="tx1"/>
                </a:solidFill>
                <a:latin typeface="Arial" charset="0"/>
                <a:cs typeface="Arial" charset="0"/>
              </a:defRPr>
            </a:lvl9pPr>
          </a:lstStyle>
          <a:p>
            <a:pPr eaLnBrk="1" hangingPunct="1"/>
            <a:fld id="{D70A86CA-E5FC-49E1-BC01-A570CB9D5C15}" type="slidenum">
              <a:rPr lang="en-US" altLang="en-US"/>
              <a:pPr eaLnBrk="1" hangingPunct="1"/>
              <a:t>16</a:t>
            </a:fld>
            <a:endParaRPr lang="en-US" altLang="en-US"/>
          </a:p>
        </p:txBody>
      </p:sp>
      <p:sp>
        <p:nvSpPr>
          <p:cNvPr id="36867" name="Rectangle 2"/>
          <p:cNvSpPr>
            <a:spLocks noGrp="1" noRot="1" noChangeAspect="1" noChangeArrowheads="1" noTextEdit="1"/>
          </p:cNvSpPr>
          <p:nvPr>
            <p:ph type="sldImg"/>
          </p:nvPr>
        </p:nvSpPr>
        <p:spPr>
          <a:xfrm>
            <a:off x="1146175" y="687388"/>
            <a:ext cx="4567238" cy="3427412"/>
          </a:xfrm>
          <a:ln/>
        </p:spPr>
      </p:sp>
      <p:sp>
        <p:nvSpPr>
          <p:cNvPr id="36868" name="Rectangle 3"/>
          <p:cNvSpPr>
            <a:spLocks noGrp="1" noChangeArrowheads="1"/>
          </p:cNvSpPr>
          <p:nvPr>
            <p:ph type="body" idx="1"/>
          </p:nvPr>
        </p:nvSpPr>
        <p:spPr>
          <a:xfrm>
            <a:off x="685494" y="4341856"/>
            <a:ext cx="5487013" cy="41148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smtClean="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607" eaLnBrk="0" hangingPunct="0">
              <a:defRPr>
                <a:solidFill>
                  <a:schemeClr val="tx1"/>
                </a:solidFill>
                <a:latin typeface="Arial" charset="0"/>
                <a:cs typeface="Arial" charset="0"/>
              </a:defRPr>
            </a:lvl1pPr>
            <a:lvl2pPr marL="720600" indent="-277153" defTabSz="914607" eaLnBrk="0" hangingPunct="0">
              <a:defRPr>
                <a:solidFill>
                  <a:schemeClr val="tx1"/>
                </a:solidFill>
                <a:latin typeface="Arial" charset="0"/>
                <a:cs typeface="Arial" charset="0"/>
              </a:defRPr>
            </a:lvl2pPr>
            <a:lvl3pPr marL="1108615" indent="-221723" defTabSz="914607" eaLnBrk="0" hangingPunct="0">
              <a:defRPr>
                <a:solidFill>
                  <a:schemeClr val="tx1"/>
                </a:solidFill>
                <a:latin typeface="Arial" charset="0"/>
                <a:cs typeface="Arial" charset="0"/>
              </a:defRPr>
            </a:lvl3pPr>
            <a:lvl4pPr marL="1552061" indent="-221723" defTabSz="914607" eaLnBrk="0" hangingPunct="0">
              <a:defRPr>
                <a:solidFill>
                  <a:schemeClr val="tx1"/>
                </a:solidFill>
                <a:latin typeface="Arial" charset="0"/>
                <a:cs typeface="Arial" charset="0"/>
              </a:defRPr>
            </a:lvl4pPr>
            <a:lvl5pPr marL="1995507" indent="-221723" defTabSz="914607" eaLnBrk="0" hangingPunct="0">
              <a:defRPr>
                <a:solidFill>
                  <a:schemeClr val="tx1"/>
                </a:solidFill>
                <a:latin typeface="Arial" charset="0"/>
                <a:cs typeface="Arial" charset="0"/>
              </a:defRPr>
            </a:lvl5pPr>
            <a:lvl6pPr marL="2438953" indent="-221723" defTabSz="914607" eaLnBrk="0" fontAlgn="base" hangingPunct="0">
              <a:spcBef>
                <a:spcPct val="0"/>
              </a:spcBef>
              <a:spcAft>
                <a:spcPct val="0"/>
              </a:spcAft>
              <a:defRPr>
                <a:solidFill>
                  <a:schemeClr val="tx1"/>
                </a:solidFill>
                <a:latin typeface="Arial" charset="0"/>
                <a:cs typeface="Arial" charset="0"/>
              </a:defRPr>
            </a:lvl6pPr>
            <a:lvl7pPr marL="2882399" indent="-221723" defTabSz="914607" eaLnBrk="0" fontAlgn="base" hangingPunct="0">
              <a:spcBef>
                <a:spcPct val="0"/>
              </a:spcBef>
              <a:spcAft>
                <a:spcPct val="0"/>
              </a:spcAft>
              <a:defRPr>
                <a:solidFill>
                  <a:schemeClr val="tx1"/>
                </a:solidFill>
                <a:latin typeface="Arial" charset="0"/>
                <a:cs typeface="Arial" charset="0"/>
              </a:defRPr>
            </a:lvl7pPr>
            <a:lvl8pPr marL="3325846" indent="-221723" defTabSz="914607" eaLnBrk="0" fontAlgn="base" hangingPunct="0">
              <a:spcBef>
                <a:spcPct val="0"/>
              </a:spcBef>
              <a:spcAft>
                <a:spcPct val="0"/>
              </a:spcAft>
              <a:defRPr>
                <a:solidFill>
                  <a:schemeClr val="tx1"/>
                </a:solidFill>
                <a:latin typeface="Arial" charset="0"/>
                <a:cs typeface="Arial" charset="0"/>
              </a:defRPr>
            </a:lvl8pPr>
            <a:lvl9pPr marL="3769291" indent="-221723" defTabSz="914607" eaLnBrk="0" fontAlgn="base" hangingPunct="0">
              <a:spcBef>
                <a:spcPct val="0"/>
              </a:spcBef>
              <a:spcAft>
                <a:spcPct val="0"/>
              </a:spcAft>
              <a:defRPr>
                <a:solidFill>
                  <a:schemeClr val="tx1"/>
                </a:solidFill>
                <a:latin typeface="Arial" charset="0"/>
                <a:cs typeface="Arial" charset="0"/>
              </a:defRPr>
            </a:lvl9pPr>
          </a:lstStyle>
          <a:p>
            <a:pPr eaLnBrk="1" hangingPunct="1"/>
            <a:fld id="{D70A86CA-E5FC-49E1-BC01-A570CB9D5C15}" type="slidenum">
              <a:rPr lang="en-US" altLang="en-US"/>
              <a:pPr eaLnBrk="1" hangingPunct="1"/>
              <a:t>17</a:t>
            </a:fld>
            <a:endParaRPr lang="en-US" altLang="en-US"/>
          </a:p>
        </p:txBody>
      </p:sp>
      <p:sp>
        <p:nvSpPr>
          <p:cNvPr id="36867" name="Rectangle 2"/>
          <p:cNvSpPr>
            <a:spLocks noGrp="1" noRot="1" noChangeAspect="1" noChangeArrowheads="1" noTextEdit="1"/>
          </p:cNvSpPr>
          <p:nvPr>
            <p:ph type="sldImg"/>
          </p:nvPr>
        </p:nvSpPr>
        <p:spPr>
          <a:xfrm>
            <a:off x="1146175" y="687388"/>
            <a:ext cx="4567238" cy="3427412"/>
          </a:xfrm>
          <a:ln/>
        </p:spPr>
      </p:sp>
      <p:sp>
        <p:nvSpPr>
          <p:cNvPr id="36868" name="Rectangle 3"/>
          <p:cNvSpPr>
            <a:spLocks noGrp="1" noChangeArrowheads="1"/>
          </p:cNvSpPr>
          <p:nvPr>
            <p:ph type="body" idx="1"/>
          </p:nvPr>
        </p:nvSpPr>
        <p:spPr>
          <a:xfrm>
            <a:off x="685494" y="4341856"/>
            <a:ext cx="5487013" cy="41148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smtClean="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smtClean="0"/>
              <a:t>Maybe remove, check</a:t>
            </a:r>
            <a:r>
              <a:rPr lang="en-US" baseline="0" dirty="0" smtClean="0"/>
              <a:t> on other agree slides</a:t>
            </a:r>
            <a:endParaRPr lang="en-US" dirty="0"/>
          </a:p>
        </p:txBody>
      </p:sp>
      <p:sp>
        <p:nvSpPr>
          <p:cNvPr id="4" name="Slide Number Placeholder 3"/>
          <p:cNvSpPr>
            <a:spLocks noGrp="1"/>
          </p:cNvSpPr>
          <p:nvPr>
            <p:ph type="sldNum" sz="quarter" idx="10"/>
          </p:nvPr>
        </p:nvSpPr>
        <p:spPr/>
        <p:txBody>
          <a:bodyPr/>
          <a:lstStyle/>
          <a:p>
            <a:fld id="{EA6F4145-9A54-8B4E-B462-B59B3AACC30B}" type="slidenum">
              <a:rPr lang="en-US" smtClean="0"/>
              <a:pPr/>
              <a:t>18</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smtClean="0"/>
              <a:t>Maybe remove, check</a:t>
            </a:r>
            <a:r>
              <a:rPr lang="en-US" baseline="0" dirty="0" smtClean="0"/>
              <a:t> on other agree slides</a:t>
            </a:r>
            <a:endParaRPr lang="en-US" dirty="0"/>
          </a:p>
        </p:txBody>
      </p:sp>
      <p:sp>
        <p:nvSpPr>
          <p:cNvPr id="4" name="Slide Number Placeholder 3"/>
          <p:cNvSpPr>
            <a:spLocks noGrp="1"/>
          </p:cNvSpPr>
          <p:nvPr>
            <p:ph type="sldNum" sz="quarter" idx="10"/>
          </p:nvPr>
        </p:nvSpPr>
        <p:spPr/>
        <p:txBody>
          <a:bodyPr/>
          <a:lstStyle/>
          <a:p>
            <a:fld id="{EA6F4145-9A54-8B4E-B462-B59B3AACC30B}" type="slidenum">
              <a:rPr lang="en-US" smtClean="0"/>
              <a:pPr/>
              <a:t>19</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smtClean="0"/>
              <a:t>Maybe remove, check</a:t>
            </a:r>
            <a:r>
              <a:rPr lang="en-US" baseline="0" dirty="0" smtClean="0"/>
              <a:t> on other agree slides</a:t>
            </a:r>
            <a:endParaRPr lang="en-US" dirty="0"/>
          </a:p>
        </p:txBody>
      </p:sp>
      <p:sp>
        <p:nvSpPr>
          <p:cNvPr id="4" name="Slide Number Placeholder 3"/>
          <p:cNvSpPr>
            <a:spLocks noGrp="1"/>
          </p:cNvSpPr>
          <p:nvPr>
            <p:ph type="sldNum" sz="quarter" idx="10"/>
          </p:nvPr>
        </p:nvSpPr>
        <p:spPr/>
        <p:txBody>
          <a:bodyPr/>
          <a:lstStyle/>
          <a:p>
            <a:fld id="{EA6F4145-9A54-8B4E-B462-B59B3AACC30B}" type="slidenum">
              <a:rPr lang="en-US" smtClean="0"/>
              <a:pPr/>
              <a:t>20</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64976BD0-54EC-5A4F-9A86-96D8F8A44B06}" type="datetime1">
              <a:rPr lang="en-US" smtClean="0"/>
              <a:t>8/23/2018</a:t>
            </a:fld>
            <a:endParaRPr lang="en-US"/>
          </a:p>
        </p:txBody>
      </p:sp>
      <p:sp>
        <p:nvSpPr>
          <p:cNvPr id="5" name="Footer Placeholder 4"/>
          <p:cNvSpPr>
            <a:spLocks noGrp="1"/>
          </p:cNvSpPr>
          <p:nvPr>
            <p:ph type="ftr" sz="quarter" idx="11"/>
          </p:nvPr>
        </p:nvSpPr>
        <p:spPr/>
        <p:txBody>
          <a:bodyPr/>
          <a:lstStyle/>
          <a:p>
            <a:r>
              <a:rPr lang="en-US" smtClean="0"/>
              <a:t>AMASE   </a:t>
            </a:r>
            <a:endParaRPr lang="en-US"/>
          </a:p>
        </p:txBody>
      </p:sp>
      <p:sp>
        <p:nvSpPr>
          <p:cNvPr id="6" name="Slide Number Placeholder 5"/>
          <p:cNvSpPr>
            <a:spLocks noGrp="1"/>
          </p:cNvSpPr>
          <p:nvPr>
            <p:ph type="sldNum" sz="quarter" idx="12"/>
          </p:nvPr>
        </p:nvSpPr>
        <p:spPr/>
        <p:txBody>
          <a:bodyPr/>
          <a:lstStyle/>
          <a:p>
            <a:fld id="{A3FF127A-2DBF-924B-94E1-163D8C9D5B47}" type="slidenum">
              <a:rPr lang="en-US" smtClean="0"/>
              <a:pPr/>
              <a:t>‹Nr.›</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0694F935-B9BA-8A44-9CF0-3E62648D4F31}" type="datetime1">
              <a:rPr lang="en-US" smtClean="0"/>
              <a:t>8/23/2018</a:t>
            </a:fld>
            <a:endParaRPr lang="en-US"/>
          </a:p>
        </p:txBody>
      </p:sp>
      <p:sp>
        <p:nvSpPr>
          <p:cNvPr id="5" name="Footer Placeholder 4"/>
          <p:cNvSpPr>
            <a:spLocks noGrp="1"/>
          </p:cNvSpPr>
          <p:nvPr>
            <p:ph type="ftr" sz="quarter" idx="11"/>
          </p:nvPr>
        </p:nvSpPr>
        <p:spPr/>
        <p:txBody>
          <a:bodyPr/>
          <a:lstStyle/>
          <a:p>
            <a:r>
              <a:rPr lang="en-US" smtClean="0"/>
              <a:t>AMASE   </a:t>
            </a:r>
            <a:endParaRPr lang="en-US"/>
          </a:p>
        </p:txBody>
      </p:sp>
      <p:sp>
        <p:nvSpPr>
          <p:cNvPr id="6" name="Slide Number Placeholder 5"/>
          <p:cNvSpPr>
            <a:spLocks noGrp="1"/>
          </p:cNvSpPr>
          <p:nvPr>
            <p:ph type="sldNum" sz="quarter" idx="12"/>
          </p:nvPr>
        </p:nvSpPr>
        <p:spPr/>
        <p:txBody>
          <a:bodyPr/>
          <a:lstStyle/>
          <a:p>
            <a:fld id="{A3FF127A-2DBF-924B-94E1-163D8C9D5B47}" type="slidenum">
              <a:rPr lang="en-US" smtClean="0"/>
              <a:pPr/>
              <a:t>‹Nr.›</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67E9D40-AF9B-8543-A31E-92833821DB04}" type="datetime1">
              <a:rPr lang="en-US" smtClean="0"/>
              <a:t>8/23/2018</a:t>
            </a:fld>
            <a:endParaRPr lang="en-US"/>
          </a:p>
        </p:txBody>
      </p:sp>
      <p:sp>
        <p:nvSpPr>
          <p:cNvPr id="5" name="Footer Placeholder 4"/>
          <p:cNvSpPr>
            <a:spLocks noGrp="1"/>
          </p:cNvSpPr>
          <p:nvPr>
            <p:ph type="ftr" sz="quarter" idx="11"/>
          </p:nvPr>
        </p:nvSpPr>
        <p:spPr/>
        <p:txBody>
          <a:bodyPr/>
          <a:lstStyle/>
          <a:p>
            <a:r>
              <a:rPr lang="en-US" smtClean="0"/>
              <a:t>AMASE   </a:t>
            </a:r>
            <a:endParaRPr lang="en-US"/>
          </a:p>
        </p:txBody>
      </p:sp>
      <p:sp>
        <p:nvSpPr>
          <p:cNvPr id="6" name="Slide Number Placeholder 5"/>
          <p:cNvSpPr>
            <a:spLocks noGrp="1"/>
          </p:cNvSpPr>
          <p:nvPr>
            <p:ph type="sldNum" sz="quarter" idx="12"/>
          </p:nvPr>
        </p:nvSpPr>
        <p:spPr/>
        <p:txBody>
          <a:bodyPr/>
          <a:lstStyle/>
          <a:p>
            <a:fld id="{A3FF127A-2DBF-924B-94E1-163D8C9D5B47}" type="slidenum">
              <a:rPr lang="en-US" smtClean="0"/>
              <a:pPr/>
              <a:t>‹Nr.›</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0864A950-8A82-894F-86EA-3DBB82416994}" type="datetime1">
              <a:rPr lang="en-US" smtClean="0"/>
              <a:t>8/23/2018</a:t>
            </a:fld>
            <a:endParaRPr lang="en-US"/>
          </a:p>
        </p:txBody>
      </p:sp>
      <p:sp>
        <p:nvSpPr>
          <p:cNvPr id="6" name="Footer Placeholder 5"/>
          <p:cNvSpPr>
            <a:spLocks noGrp="1"/>
          </p:cNvSpPr>
          <p:nvPr>
            <p:ph type="ftr" sz="quarter" idx="11"/>
          </p:nvPr>
        </p:nvSpPr>
        <p:spPr/>
        <p:txBody>
          <a:bodyPr/>
          <a:lstStyle/>
          <a:p>
            <a:r>
              <a:rPr lang="en-US" smtClean="0"/>
              <a:t>AMASE   </a:t>
            </a:r>
            <a:endParaRPr lang="en-US"/>
          </a:p>
        </p:txBody>
      </p:sp>
      <p:sp>
        <p:nvSpPr>
          <p:cNvPr id="7" name="Slide Number Placeholder 6"/>
          <p:cNvSpPr>
            <a:spLocks noGrp="1"/>
          </p:cNvSpPr>
          <p:nvPr>
            <p:ph type="sldNum" sz="quarter" idx="12"/>
          </p:nvPr>
        </p:nvSpPr>
        <p:spPr/>
        <p:txBody>
          <a:bodyPr/>
          <a:lstStyle/>
          <a:p>
            <a:fld id="{A3FF127A-2DBF-924B-94E1-163D8C9D5B47}" type="slidenum">
              <a:rPr lang="en-US" smtClean="0"/>
              <a:pPr/>
              <a:t>‹Nr.›</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D4BC36FA-1F08-6E4A-A3E1-81759D2FA0BD}" type="datetime1">
              <a:rPr lang="en-US" smtClean="0"/>
              <a:t>8/23/2018</a:t>
            </a:fld>
            <a:endParaRPr lang="en-US"/>
          </a:p>
        </p:txBody>
      </p:sp>
      <p:sp>
        <p:nvSpPr>
          <p:cNvPr id="8" name="Footer Placeholder 7"/>
          <p:cNvSpPr>
            <a:spLocks noGrp="1"/>
          </p:cNvSpPr>
          <p:nvPr>
            <p:ph type="ftr" sz="quarter" idx="11"/>
          </p:nvPr>
        </p:nvSpPr>
        <p:spPr/>
        <p:txBody>
          <a:bodyPr/>
          <a:lstStyle/>
          <a:p>
            <a:r>
              <a:rPr lang="en-US" smtClean="0"/>
              <a:t>AMASE   </a:t>
            </a:r>
            <a:endParaRPr lang="en-US"/>
          </a:p>
        </p:txBody>
      </p:sp>
      <p:sp>
        <p:nvSpPr>
          <p:cNvPr id="9" name="Slide Number Placeholder 8"/>
          <p:cNvSpPr>
            <a:spLocks noGrp="1"/>
          </p:cNvSpPr>
          <p:nvPr>
            <p:ph type="sldNum" sz="quarter" idx="12"/>
          </p:nvPr>
        </p:nvSpPr>
        <p:spPr/>
        <p:txBody>
          <a:bodyPr/>
          <a:lstStyle/>
          <a:p>
            <a:fld id="{A3FF127A-2DBF-924B-94E1-163D8C9D5B47}" type="slidenum">
              <a:rPr lang="en-US" smtClean="0"/>
              <a:pPr/>
              <a:t>‹Nr.›</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9175299D-D3C6-584C-AB03-4CAE0BF71587}" type="datetime1">
              <a:rPr lang="en-US" smtClean="0"/>
              <a:t>8/23/2018</a:t>
            </a:fld>
            <a:endParaRPr lang="en-US"/>
          </a:p>
        </p:txBody>
      </p:sp>
      <p:sp>
        <p:nvSpPr>
          <p:cNvPr id="4" name="Footer Placeholder 3"/>
          <p:cNvSpPr>
            <a:spLocks noGrp="1"/>
          </p:cNvSpPr>
          <p:nvPr>
            <p:ph type="ftr" sz="quarter" idx="11"/>
          </p:nvPr>
        </p:nvSpPr>
        <p:spPr/>
        <p:txBody>
          <a:bodyPr/>
          <a:lstStyle/>
          <a:p>
            <a:r>
              <a:rPr lang="en-US" smtClean="0"/>
              <a:t>AMASE   </a:t>
            </a:r>
            <a:endParaRPr lang="en-US"/>
          </a:p>
        </p:txBody>
      </p:sp>
      <p:sp>
        <p:nvSpPr>
          <p:cNvPr id="5" name="Slide Number Placeholder 4"/>
          <p:cNvSpPr>
            <a:spLocks noGrp="1"/>
          </p:cNvSpPr>
          <p:nvPr>
            <p:ph type="sldNum" sz="quarter" idx="12"/>
          </p:nvPr>
        </p:nvSpPr>
        <p:spPr/>
        <p:txBody>
          <a:bodyPr/>
          <a:lstStyle/>
          <a:p>
            <a:fld id="{A3FF127A-2DBF-924B-94E1-163D8C9D5B47}" type="slidenum">
              <a:rPr lang="en-US" smtClean="0"/>
              <a:pPr/>
              <a:t>‹Nr.›</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B49B315-8124-FB48-BFA4-A3087563EECF}" type="datetime1">
              <a:rPr lang="en-US" smtClean="0"/>
              <a:t>8/23/2018</a:t>
            </a:fld>
            <a:endParaRPr lang="en-US"/>
          </a:p>
        </p:txBody>
      </p:sp>
      <p:sp>
        <p:nvSpPr>
          <p:cNvPr id="3" name="Footer Placeholder 2"/>
          <p:cNvSpPr>
            <a:spLocks noGrp="1"/>
          </p:cNvSpPr>
          <p:nvPr>
            <p:ph type="ftr" sz="quarter" idx="11"/>
          </p:nvPr>
        </p:nvSpPr>
        <p:spPr/>
        <p:txBody>
          <a:bodyPr/>
          <a:lstStyle/>
          <a:p>
            <a:r>
              <a:rPr lang="en-US" smtClean="0"/>
              <a:t>AMASE   </a:t>
            </a:r>
            <a:endParaRPr lang="en-US"/>
          </a:p>
        </p:txBody>
      </p:sp>
      <p:sp>
        <p:nvSpPr>
          <p:cNvPr id="4" name="Slide Number Placeholder 3"/>
          <p:cNvSpPr>
            <a:spLocks noGrp="1"/>
          </p:cNvSpPr>
          <p:nvPr>
            <p:ph type="sldNum" sz="quarter" idx="12"/>
          </p:nvPr>
        </p:nvSpPr>
        <p:spPr/>
        <p:txBody>
          <a:bodyPr/>
          <a:lstStyle/>
          <a:p>
            <a:fld id="{A3FF127A-2DBF-924B-94E1-163D8C9D5B47}" type="slidenum">
              <a:rPr lang="en-US" smtClean="0"/>
              <a:pPr/>
              <a:t>‹Nr.›</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2F1C80EF-44E1-B64F-B9AF-5F0B8532B64E}" type="datetime1">
              <a:rPr lang="en-US" smtClean="0"/>
              <a:t>8/23/2018</a:t>
            </a:fld>
            <a:endParaRPr lang="en-US"/>
          </a:p>
        </p:txBody>
      </p:sp>
      <p:sp>
        <p:nvSpPr>
          <p:cNvPr id="6" name="Footer Placeholder 5"/>
          <p:cNvSpPr>
            <a:spLocks noGrp="1"/>
          </p:cNvSpPr>
          <p:nvPr>
            <p:ph type="ftr" sz="quarter" idx="11"/>
          </p:nvPr>
        </p:nvSpPr>
        <p:spPr/>
        <p:txBody>
          <a:bodyPr/>
          <a:lstStyle/>
          <a:p>
            <a:r>
              <a:rPr lang="en-US" smtClean="0"/>
              <a:t>AMASE   </a:t>
            </a:r>
            <a:endParaRPr lang="en-US"/>
          </a:p>
        </p:txBody>
      </p:sp>
      <p:sp>
        <p:nvSpPr>
          <p:cNvPr id="7" name="Slide Number Placeholder 6"/>
          <p:cNvSpPr>
            <a:spLocks noGrp="1"/>
          </p:cNvSpPr>
          <p:nvPr>
            <p:ph type="sldNum" sz="quarter" idx="12"/>
          </p:nvPr>
        </p:nvSpPr>
        <p:spPr/>
        <p:txBody>
          <a:bodyPr/>
          <a:lstStyle/>
          <a:p>
            <a:fld id="{A3FF127A-2DBF-924B-94E1-163D8C9D5B47}" type="slidenum">
              <a:rPr lang="en-US" smtClean="0"/>
              <a:pPr/>
              <a:t>‹Nr.›</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CF6CEAF0-7D55-F142-A2FB-C0F029B42E99}" type="datetime1">
              <a:rPr lang="en-US" smtClean="0"/>
              <a:t>8/23/2018</a:t>
            </a:fld>
            <a:endParaRPr lang="en-US"/>
          </a:p>
        </p:txBody>
      </p:sp>
      <p:sp>
        <p:nvSpPr>
          <p:cNvPr id="6" name="Footer Placeholder 5"/>
          <p:cNvSpPr>
            <a:spLocks noGrp="1"/>
          </p:cNvSpPr>
          <p:nvPr>
            <p:ph type="ftr" sz="quarter" idx="11"/>
          </p:nvPr>
        </p:nvSpPr>
        <p:spPr/>
        <p:txBody>
          <a:bodyPr/>
          <a:lstStyle/>
          <a:p>
            <a:r>
              <a:rPr lang="en-US" smtClean="0"/>
              <a:t>AMASE   </a:t>
            </a:r>
            <a:endParaRPr lang="en-US"/>
          </a:p>
        </p:txBody>
      </p:sp>
      <p:sp>
        <p:nvSpPr>
          <p:cNvPr id="7" name="Slide Number Placeholder 6"/>
          <p:cNvSpPr>
            <a:spLocks noGrp="1"/>
          </p:cNvSpPr>
          <p:nvPr>
            <p:ph type="sldNum" sz="quarter" idx="12"/>
          </p:nvPr>
        </p:nvSpPr>
        <p:spPr/>
        <p:txBody>
          <a:bodyPr/>
          <a:lstStyle/>
          <a:p>
            <a:fld id="{A3FF127A-2DBF-924B-94E1-163D8C9D5B47}" type="slidenum">
              <a:rPr lang="en-US" smtClean="0"/>
              <a:pPr/>
              <a:t>‹Nr.›</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591E2CD-57C1-1748-A7EB-F9D196069DA9}" type="datetime1">
              <a:rPr lang="en-US" smtClean="0"/>
              <a:t>8/23/2018</a:t>
            </a:fld>
            <a:endParaRPr lang="en-US"/>
          </a:p>
        </p:txBody>
      </p:sp>
      <p:sp>
        <p:nvSpPr>
          <p:cNvPr id="5" name="Footer Placeholder 4"/>
          <p:cNvSpPr>
            <a:spLocks noGrp="1"/>
          </p:cNvSpPr>
          <p:nvPr>
            <p:ph type="ftr" sz="quarter" idx="11"/>
          </p:nvPr>
        </p:nvSpPr>
        <p:spPr/>
        <p:txBody>
          <a:bodyPr/>
          <a:lstStyle/>
          <a:p>
            <a:r>
              <a:rPr lang="en-US" smtClean="0"/>
              <a:t>AMASE   </a:t>
            </a:r>
            <a:endParaRPr lang="en-US"/>
          </a:p>
        </p:txBody>
      </p:sp>
      <p:sp>
        <p:nvSpPr>
          <p:cNvPr id="6" name="Slide Number Placeholder 5"/>
          <p:cNvSpPr>
            <a:spLocks noGrp="1"/>
          </p:cNvSpPr>
          <p:nvPr>
            <p:ph type="sldNum" sz="quarter" idx="12"/>
          </p:nvPr>
        </p:nvSpPr>
        <p:spPr/>
        <p:txBody>
          <a:bodyPr/>
          <a:lstStyle/>
          <a:p>
            <a:fld id="{A3FF127A-2DBF-924B-94E1-163D8C9D5B47}" type="slidenum">
              <a:rPr lang="en-US" smtClean="0"/>
              <a:pPr/>
              <a:t>‹Nr.›</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02EFB99-0E25-9B49-B48E-BFA21B37F281}" type="datetime1">
              <a:rPr lang="en-US" smtClean="0"/>
              <a:t>8/23/2018</a:t>
            </a:fld>
            <a:endParaRPr lang="en-US"/>
          </a:p>
        </p:txBody>
      </p:sp>
      <p:sp>
        <p:nvSpPr>
          <p:cNvPr id="5" name="Footer Placeholder 4"/>
          <p:cNvSpPr>
            <a:spLocks noGrp="1"/>
          </p:cNvSpPr>
          <p:nvPr>
            <p:ph type="ftr" sz="quarter" idx="11"/>
          </p:nvPr>
        </p:nvSpPr>
        <p:spPr/>
        <p:txBody>
          <a:bodyPr/>
          <a:lstStyle/>
          <a:p>
            <a:r>
              <a:rPr lang="en-US" smtClean="0"/>
              <a:t>AMASE   </a:t>
            </a:r>
            <a:endParaRPr lang="en-US"/>
          </a:p>
        </p:txBody>
      </p:sp>
      <p:sp>
        <p:nvSpPr>
          <p:cNvPr id="6" name="Slide Number Placeholder 5"/>
          <p:cNvSpPr>
            <a:spLocks noGrp="1"/>
          </p:cNvSpPr>
          <p:nvPr>
            <p:ph type="sldNum" sz="quarter" idx="12"/>
          </p:nvPr>
        </p:nvSpPr>
        <p:spPr/>
        <p:txBody>
          <a:bodyPr/>
          <a:lstStyle/>
          <a:p>
            <a:fld id="{A3FF127A-2DBF-924B-94E1-163D8C9D5B47}" type="slidenum">
              <a:rPr lang="en-US" smtClean="0"/>
              <a:pPr/>
              <a:t>‹Nr.›</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2204695-789B-5147-975B-E0272964B50F}" type="datetime1">
              <a:rPr lang="en-US" smtClean="0"/>
              <a:t>8/23/2018</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smtClean="0"/>
              <a:t>AMASE   </a:t>
            </a:r>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3FF127A-2DBF-924B-94E1-163D8C9D5B47}" type="slidenum">
              <a:rPr lang="en-US" smtClean="0"/>
              <a:pPr/>
              <a:t>‹Nr.›</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5.wmf"/><Relationship Id="rId3" Type="http://schemas.openxmlformats.org/officeDocument/2006/relationships/notesSlide" Target="../notesSlides/notesSlide2.xml"/><Relationship Id="rId7" Type="http://schemas.openxmlformats.org/officeDocument/2006/relationships/image" Target="../media/image4.png"/><Relationship Id="rId2" Type="http://schemas.openxmlformats.org/officeDocument/2006/relationships/slideLayout" Target="../slideLayouts/slideLayout2.xml"/><Relationship Id="rId1" Type="http://schemas.openxmlformats.org/officeDocument/2006/relationships/vmlDrawing" Target="../drawings/vmlDrawing1.vml"/><Relationship Id="rId6" Type="http://schemas.openxmlformats.org/officeDocument/2006/relationships/image" Target="../media/image3.wmf"/><Relationship Id="rId5" Type="http://schemas.openxmlformats.org/officeDocument/2006/relationships/image" Target="../media/image2.emf"/><Relationship Id="rId4" Type="http://schemas.openxmlformats.org/officeDocument/2006/relationships/oleObject" Target="../embeddings/oleObject1.bin"/><Relationship Id="rId9" Type="http://schemas.openxmlformats.org/officeDocument/2006/relationships/image" Target="../media/image6.wmf"/></Relationships>
</file>

<file path=ppt/slides/_rels/slide3.xml.rels><?xml version="1.0" encoding="UTF-8" standalone="yes"?>
<Relationships xmlns="http://schemas.openxmlformats.org/package/2006/relationships"><Relationship Id="rId8" Type="http://schemas.openxmlformats.org/officeDocument/2006/relationships/oleObject" Target="../embeddings/oleObject4.bin"/><Relationship Id="rId3" Type="http://schemas.openxmlformats.org/officeDocument/2006/relationships/notesSlide" Target="../notesSlides/notesSlide3.xml"/><Relationship Id="rId7" Type="http://schemas.openxmlformats.org/officeDocument/2006/relationships/image" Target="../media/image8.emf"/><Relationship Id="rId2" Type="http://schemas.openxmlformats.org/officeDocument/2006/relationships/slideLayout" Target="../slideLayouts/slideLayout6.xml"/><Relationship Id="rId1" Type="http://schemas.openxmlformats.org/officeDocument/2006/relationships/vmlDrawing" Target="../drawings/vmlDrawing2.vml"/><Relationship Id="rId6" Type="http://schemas.openxmlformats.org/officeDocument/2006/relationships/oleObject" Target="../embeddings/oleObject3.bin"/><Relationship Id="rId5" Type="http://schemas.openxmlformats.org/officeDocument/2006/relationships/image" Target="../media/image7.emf"/><Relationship Id="rId4" Type="http://schemas.openxmlformats.org/officeDocument/2006/relationships/oleObject" Target="../embeddings/oleObject2.bin"/><Relationship Id="rId9" Type="http://schemas.openxmlformats.org/officeDocument/2006/relationships/image" Target="../media/image2.emf"/></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7" Type="http://schemas.openxmlformats.org/officeDocument/2006/relationships/image" Target="../media/image10.emf"/><Relationship Id="rId2" Type="http://schemas.openxmlformats.org/officeDocument/2006/relationships/slideLayout" Target="../slideLayouts/slideLayout2.xml"/><Relationship Id="rId1" Type="http://schemas.openxmlformats.org/officeDocument/2006/relationships/vmlDrawing" Target="../drawings/vmlDrawing3.vml"/><Relationship Id="rId6" Type="http://schemas.openxmlformats.org/officeDocument/2006/relationships/oleObject" Target="../embeddings/oleObject6.bin"/><Relationship Id="rId5" Type="http://schemas.openxmlformats.org/officeDocument/2006/relationships/image" Target="../media/image9.emf"/><Relationship Id="rId4" Type="http://schemas.openxmlformats.org/officeDocument/2006/relationships/oleObject" Target="../embeddings/oleObject5.bin"/></Relationships>
</file>

<file path=ppt/slides/_rels/slide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image" Target="../media/image12.emf"/><Relationship Id="rId1" Type="http://schemas.openxmlformats.org/officeDocument/2006/relationships/slideLayout" Target="../slideLayouts/slideLayout2.xml"/><Relationship Id="rId4" Type="http://schemas.openxmlformats.org/officeDocument/2006/relationships/image" Target="../media/image14.jpeg"/></Relationships>
</file>

<file path=ppt/slides/_rels/slide10.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image" Target="../media/image12.emf"/><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jpeg"/></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notesSlide" Target="../notesSlides/notesSlide5.xml"/><Relationship Id="rId1" Type="http://schemas.openxmlformats.org/officeDocument/2006/relationships/slideLayout" Target="../slideLayouts/slideLayout6.xml"/><Relationship Id="rId6" Type="http://schemas.openxmlformats.org/officeDocument/2006/relationships/image" Target="../media/image21.jpeg"/><Relationship Id="rId5" Type="http://schemas.openxmlformats.org/officeDocument/2006/relationships/image" Target="../media/image20.png"/><Relationship Id="rId4" Type="http://schemas.openxmlformats.org/officeDocument/2006/relationships/image" Target="../media/image19.wmf"/></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notesSlide" Target="../notesSlides/notesSlide6.xml"/><Relationship Id="rId1" Type="http://schemas.openxmlformats.org/officeDocument/2006/relationships/slideLayout" Target="../slideLayouts/slideLayout6.xml"/><Relationship Id="rId6" Type="http://schemas.openxmlformats.org/officeDocument/2006/relationships/image" Target="../media/image21.jpeg"/><Relationship Id="rId5" Type="http://schemas.openxmlformats.org/officeDocument/2006/relationships/image" Target="../media/image20.png"/><Relationship Id="rId4" Type="http://schemas.openxmlformats.org/officeDocument/2006/relationships/image" Target="../media/image19.wmf"/></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24.png"/></Relationships>
</file>

<file path=ppt/slides/_rels/slide1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8.pdf"/><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30.pdf"/><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27.png"/><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5.pdf"/><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9.pdf"/><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762000" y="1484312"/>
            <a:ext cx="7848600" cy="993775"/>
          </a:xfrm>
        </p:spPr>
        <p:txBody>
          <a:bodyPr>
            <a:normAutofit fontScale="90000"/>
          </a:bodyPr>
          <a:lstStyle/>
          <a:p>
            <a:r>
              <a:rPr lang="en-US" dirty="0" smtClean="0"/>
              <a:t>Architectural Modeling and Analysis for Safety Engineering (AMASE)</a:t>
            </a:r>
            <a:endParaRPr lang="en-US" dirty="0"/>
          </a:p>
        </p:txBody>
      </p:sp>
      <p:sp>
        <p:nvSpPr>
          <p:cNvPr id="3" name="Subtitle 2"/>
          <p:cNvSpPr>
            <a:spLocks noGrp="1"/>
          </p:cNvSpPr>
          <p:nvPr>
            <p:ph type="subTitle" idx="1"/>
          </p:nvPr>
        </p:nvSpPr>
        <p:spPr>
          <a:xfrm>
            <a:off x="762000" y="4267200"/>
            <a:ext cx="3962400" cy="1066800"/>
          </a:xfrm>
        </p:spPr>
        <p:txBody>
          <a:bodyPr/>
          <a:lstStyle/>
          <a:p>
            <a:pPr algn="l"/>
            <a:r>
              <a:rPr lang="en-US" sz="1600" dirty="0" smtClean="0"/>
              <a:t>Year-end Review</a:t>
            </a:r>
          </a:p>
          <a:p>
            <a:pPr algn="l"/>
            <a:r>
              <a:rPr lang="en-US" sz="1600" dirty="0"/>
              <a:t>4</a:t>
            </a:r>
            <a:r>
              <a:rPr lang="en-US" sz="1600" dirty="0" smtClean="0"/>
              <a:t> Oct 2018</a:t>
            </a:r>
            <a:endParaRPr lang="en-US" sz="1600" dirty="0"/>
          </a:p>
        </p:txBody>
      </p:sp>
      <p:sp>
        <p:nvSpPr>
          <p:cNvPr id="6" name="Subtitle 2"/>
          <p:cNvSpPr txBox="1">
            <a:spLocks/>
          </p:cNvSpPr>
          <p:nvPr/>
        </p:nvSpPr>
        <p:spPr bwMode="auto">
          <a:xfrm>
            <a:off x="762000" y="3203575"/>
            <a:ext cx="7620000" cy="838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0" indent="0" algn="l" rtl="0" eaLnBrk="1" fontAlgn="base" hangingPunct="1">
              <a:spcBef>
                <a:spcPct val="20000"/>
              </a:spcBef>
              <a:spcAft>
                <a:spcPct val="0"/>
              </a:spcAft>
              <a:buFontTx/>
              <a:buNone/>
              <a:defRPr sz="2200">
                <a:solidFill>
                  <a:schemeClr val="tx1"/>
                </a:solidFill>
                <a:latin typeface="+mn-lt"/>
                <a:ea typeface="+mn-ea"/>
                <a:cs typeface="+mn-cs"/>
              </a:defRPr>
            </a:lvl1pPr>
            <a:lvl2pPr marL="742950" indent="-285750" algn="l" rtl="0" eaLnBrk="1" fontAlgn="base" hangingPunct="1">
              <a:spcBef>
                <a:spcPct val="20000"/>
              </a:spcBef>
              <a:spcAft>
                <a:spcPct val="0"/>
              </a:spcAft>
              <a:buChar char="–"/>
              <a:defRPr sz="1600">
                <a:solidFill>
                  <a:schemeClr val="tx1"/>
                </a:solidFill>
                <a:latin typeface="+mn-lt"/>
                <a:cs typeface="+mn-cs"/>
              </a:defRPr>
            </a:lvl2pPr>
            <a:lvl3pPr marL="1143000" indent="-228600" algn="l" rtl="0" eaLnBrk="1" fontAlgn="base" hangingPunct="1">
              <a:spcBef>
                <a:spcPct val="20000"/>
              </a:spcBef>
              <a:spcAft>
                <a:spcPct val="0"/>
              </a:spcAft>
              <a:buChar char="•"/>
              <a:defRPr sz="1400">
                <a:solidFill>
                  <a:schemeClr val="tx1"/>
                </a:solidFill>
                <a:latin typeface="+mn-lt"/>
                <a:cs typeface="+mn-cs"/>
              </a:defRPr>
            </a:lvl3pPr>
            <a:lvl4pPr marL="1600200" indent="-228600" algn="l" rtl="0" eaLnBrk="1" fontAlgn="base" hangingPunct="1">
              <a:spcBef>
                <a:spcPct val="20000"/>
              </a:spcBef>
              <a:spcAft>
                <a:spcPct val="0"/>
              </a:spcAft>
              <a:buChar char="–"/>
              <a:defRPr sz="1400">
                <a:solidFill>
                  <a:schemeClr val="tx1"/>
                </a:solidFill>
                <a:latin typeface="+mn-lt"/>
                <a:cs typeface="+mn-cs"/>
              </a:defRPr>
            </a:lvl4pPr>
            <a:lvl5pPr marL="2057400" indent="-228600" algn="l" rtl="0" eaLnBrk="1" fontAlgn="base" hangingPunct="1">
              <a:spcBef>
                <a:spcPct val="20000"/>
              </a:spcBef>
              <a:spcAft>
                <a:spcPct val="0"/>
              </a:spcAft>
              <a:buChar char="»"/>
              <a:defRPr sz="1400">
                <a:solidFill>
                  <a:schemeClr val="tx1"/>
                </a:solidFill>
                <a:latin typeface="+mn-lt"/>
                <a:cs typeface="+mn-cs"/>
              </a:defRPr>
            </a:lvl5pPr>
            <a:lvl6pPr marL="2514600" indent="-228600" algn="l" rtl="0" eaLnBrk="1" fontAlgn="base" hangingPunct="1">
              <a:spcBef>
                <a:spcPct val="20000"/>
              </a:spcBef>
              <a:spcAft>
                <a:spcPct val="0"/>
              </a:spcAft>
              <a:buChar char="»"/>
              <a:defRPr sz="1400">
                <a:solidFill>
                  <a:schemeClr val="tx1"/>
                </a:solidFill>
                <a:latin typeface="+mn-lt"/>
                <a:cs typeface="+mn-cs"/>
              </a:defRPr>
            </a:lvl6pPr>
            <a:lvl7pPr marL="2971800" indent="-228600" algn="l" rtl="0" eaLnBrk="1" fontAlgn="base" hangingPunct="1">
              <a:spcBef>
                <a:spcPct val="20000"/>
              </a:spcBef>
              <a:spcAft>
                <a:spcPct val="0"/>
              </a:spcAft>
              <a:buChar char="»"/>
              <a:defRPr sz="1400">
                <a:solidFill>
                  <a:schemeClr val="tx1"/>
                </a:solidFill>
                <a:latin typeface="+mn-lt"/>
                <a:cs typeface="+mn-cs"/>
              </a:defRPr>
            </a:lvl7pPr>
            <a:lvl8pPr marL="3429000" indent="-228600" algn="l" rtl="0" eaLnBrk="1" fontAlgn="base" hangingPunct="1">
              <a:spcBef>
                <a:spcPct val="20000"/>
              </a:spcBef>
              <a:spcAft>
                <a:spcPct val="0"/>
              </a:spcAft>
              <a:buChar char="»"/>
              <a:defRPr sz="1400">
                <a:solidFill>
                  <a:schemeClr val="tx1"/>
                </a:solidFill>
                <a:latin typeface="+mn-lt"/>
                <a:cs typeface="+mn-cs"/>
              </a:defRPr>
            </a:lvl8pPr>
            <a:lvl9pPr marL="3886200" indent="-228600" algn="l" rtl="0" eaLnBrk="1" fontAlgn="base" hangingPunct="1">
              <a:spcBef>
                <a:spcPct val="20000"/>
              </a:spcBef>
              <a:spcAft>
                <a:spcPct val="0"/>
              </a:spcAft>
              <a:buChar char="»"/>
              <a:defRPr sz="1400">
                <a:solidFill>
                  <a:schemeClr val="tx1"/>
                </a:solidFill>
                <a:latin typeface="+mn-lt"/>
                <a:cs typeface="+mn-cs"/>
              </a:defRPr>
            </a:lvl9pPr>
          </a:lstStyle>
          <a:p>
            <a:r>
              <a:rPr lang="en-US" sz="1800" b="1" dirty="0"/>
              <a:t>Research Opportunities in Aeronautics </a:t>
            </a:r>
            <a:r>
              <a:rPr lang="en-US" sz="1800" b="1" dirty="0" smtClean="0"/>
              <a:t>(</a:t>
            </a:r>
            <a:r>
              <a:rPr lang="en-US" sz="1800" b="1" dirty="0"/>
              <a:t>NRA ROA-2015</a:t>
            </a:r>
            <a:r>
              <a:rPr lang="en-US" sz="1800" b="1" dirty="0" smtClean="0"/>
              <a:t>)</a:t>
            </a:r>
          </a:p>
          <a:p>
            <a:pPr marL="0" lvl="1" indent="0">
              <a:buNone/>
            </a:pPr>
            <a:r>
              <a:rPr lang="en-US" dirty="0"/>
              <a:t>Model-based safety analysis of highly complex safety critical systems</a:t>
            </a:r>
          </a:p>
          <a:p>
            <a:endParaRPr lang="en-US" sz="1800" b="1" dirty="0"/>
          </a:p>
        </p:txBody>
      </p:sp>
      <p:pic>
        <p:nvPicPr>
          <p:cNvPr id="5" name="Picture 4" descr="uofm_rockwell_logos.png"/>
          <p:cNvPicPr>
            <a:picLocks noChangeAspect="1"/>
          </p:cNvPicPr>
          <p:nvPr/>
        </p:nvPicPr>
        <p:blipFill>
          <a:blip r:embed="rId3"/>
          <a:stretch>
            <a:fillRect/>
          </a:stretch>
        </p:blipFill>
        <p:spPr>
          <a:xfrm>
            <a:off x="4476750" y="4921250"/>
            <a:ext cx="4660900" cy="1257300"/>
          </a:xfrm>
          <a:prstGeom prst="rect">
            <a:avLst/>
          </a:prstGeom>
        </p:spPr>
      </p:pic>
    </p:spTree>
  </p:cSld>
  <p:clrMapOvr>
    <a:masterClrMapping/>
  </p:clrMapOvr>
  <p:transition/>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9" name="Rectangle 3"/>
          <p:cNvSpPr>
            <a:spLocks noGrp="1" noChangeArrowheads="1"/>
          </p:cNvSpPr>
          <p:nvPr>
            <p:ph type="title"/>
          </p:nvPr>
        </p:nvSpPr>
        <p:spPr/>
        <p:txBody>
          <a:bodyPr/>
          <a:lstStyle/>
          <a:p>
            <a:r>
              <a:rPr lang="en-US" altLang="en-US"/>
              <a:t>Motivation</a:t>
            </a:r>
          </a:p>
        </p:txBody>
      </p:sp>
      <p:grpSp>
        <p:nvGrpSpPr>
          <p:cNvPr id="3" name="Group 32"/>
          <p:cNvGrpSpPr>
            <a:grpSpLocks/>
          </p:cNvGrpSpPr>
          <p:nvPr/>
        </p:nvGrpSpPr>
        <p:grpSpPr bwMode="auto">
          <a:xfrm>
            <a:off x="207963" y="3733800"/>
            <a:ext cx="2840037" cy="2428875"/>
            <a:chOff x="131" y="2352"/>
            <a:chExt cx="1789" cy="1530"/>
          </a:xfrm>
        </p:grpSpPr>
        <p:graphicFrame>
          <p:nvGraphicFramePr>
            <p:cNvPr id="86018" name="Object 2"/>
            <p:cNvGraphicFramePr>
              <a:graphicFrameLocks noChangeAspect="1"/>
            </p:cNvGraphicFramePr>
            <p:nvPr/>
          </p:nvGraphicFramePr>
          <p:xfrm>
            <a:off x="131" y="2496"/>
            <a:ext cx="1789" cy="1386"/>
          </p:xfrm>
          <a:graphic>
            <a:graphicData uri="http://schemas.openxmlformats.org/presentationml/2006/ole">
              <mc:AlternateContent xmlns:mc="http://schemas.openxmlformats.org/markup-compatibility/2006">
                <mc:Choice xmlns:v="urn:schemas-microsoft-com:vml" Requires="v">
                  <p:oleObj spid="_x0000_s39939" name="Visio" r:id="rId4" imgW="7073900" imgH="5549900" progId="">
                    <p:embed/>
                  </p:oleObj>
                </mc:Choice>
                <mc:Fallback>
                  <p:oleObj name="Visio" r:id="rId4" imgW="7073900" imgH="5549900" progId="">
                    <p:embed/>
                    <p:pic>
                      <p:nvPicPr>
                        <p:cNvPr id="0"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1" y="2496"/>
                          <a:ext cx="1789" cy="13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762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86029" name="Line 13"/>
            <p:cNvSpPr>
              <a:spLocks noChangeShapeType="1"/>
            </p:cNvSpPr>
            <p:nvPr/>
          </p:nvSpPr>
          <p:spPr bwMode="auto">
            <a:xfrm>
              <a:off x="720" y="2352"/>
              <a:ext cx="96" cy="336"/>
            </a:xfrm>
            <a:prstGeom prst="line">
              <a:avLst/>
            </a:prstGeom>
            <a:noFill/>
            <a:ln w="762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a:p>
          </p:txBody>
        </p:sp>
      </p:grpSp>
      <p:grpSp>
        <p:nvGrpSpPr>
          <p:cNvPr id="4" name="Group 33"/>
          <p:cNvGrpSpPr>
            <a:grpSpLocks/>
          </p:cNvGrpSpPr>
          <p:nvPr/>
        </p:nvGrpSpPr>
        <p:grpSpPr bwMode="auto">
          <a:xfrm>
            <a:off x="7010400" y="3810000"/>
            <a:ext cx="1524000" cy="2438400"/>
            <a:chOff x="4416" y="2400"/>
            <a:chExt cx="890" cy="1536"/>
          </a:xfrm>
        </p:grpSpPr>
        <p:pic>
          <p:nvPicPr>
            <p:cNvPr id="86024" name="Picture 8"/>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416" y="2832"/>
              <a:ext cx="890" cy="1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6034" name="Line 18"/>
            <p:cNvSpPr>
              <a:spLocks noChangeShapeType="1"/>
            </p:cNvSpPr>
            <p:nvPr/>
          </p:nvSpPr>
          <p:spPr bwMode="auto">
            <a:xfrm flipH="1">
              <a:off x="4944" y="2400"/>
              <a:ext cx="144" cy="288"/>
            </a:xfrm>
            <a:prstGeom prst="line">
              <a:avLst/>
            </a:prstGeom>
            <a:noFill/>
            <a:ln w="76200">
              <a:solidFill>
                <a:srgbClr val="0033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a:p>
          </p:txBody>
        </p:sp>
      </p:grpSp>
      <p:grpSp>
        <p:nvGrpSpPr>
          <p:cNvPr id="5" name="Group 29"/>
          <p:cNvGrpSpPr>
            <a:grpSpLocks/>
          </p:cNvGrpSpPr>
          <p:nvPr/>
        </p:nvGrpSpPr>
        <p:grpSpPr bwMode="auto">
          <a:xfrm>
            <a:off x="2514600" y="1295400"/>
            <a:ext cx="4038600" cy="990600"/>
            <a:chOff x="1584" y="816"/>
            <a:chExt cx="2544" cy="624"/>
          </a:xfrm>
        </p:grpSpPr>
        <p:sp>
          <p:nvSpPr>
            <p:cNvPr id="86020" name="Document"/>
            <p:cNvSpPr>
              <a:spLocks noEditPoints="1" noChangeArrowheads="1"/>
            </p:cNvSpPr>
            <p:nvPr/>
          </p:nvSpPr>
          <p:spPr bwMode="auto">
            <a:xfrm>
              <a:off x="1584" y="816"/>
              <a:ext cx="338" cy="554"/>
            </a:xfrm>
            <a:custGeom>
              <a:avLst/>
              <a:gdLst>
                <a:gd name="T0" fmla="*/ 10757 w 21600"/>
                <a:gd name="T1" fmla="*/ 21632 h 21600"/>
                <a:gd name="T2" fmla="*/ 85 w 21600"/>
                <a:gd name="T3" fmla="*/ 10849 h 21600"/>
                <a:gd name="T4" fmla="*/ 10757 w 21600"/>
                <a:gd name="T5" fmla="*/ 81 h 21600"/>
                <a:gd name="T6" fmla="*/ 21706 w 21600"/>
                <a:gd name="T7" fmla="*/ 10652 h 21600"/>
                <a:gd name="T8" fmla="*/ 10757 w 21600"/>
                <a:gd name="T9" fmla="*/ 21632 h 21600"/>
                <a:gd name="T10" fmla="*/ 0 w 21600"/>
                <a:gd name="T11" fmla="*/ 0 h 21600"/>
                <a:gd name="T12" fmla="*/ 21600 w 21600"/>
                <a:gd name="T13" fmla="*/ 0 h 21600"/>
                <a:gd name="T14" fmla="*/ 21600 w 21600"/>
                <a:gd name="T15" fmla="*/ 21600 h 21600"/>
                <a:gd name="T16" fmla="*/ 977 w 21600"/>
                <a:gd name="T17" fmla="*/ 818 h 21600"/>
                <a:gd name="T18" fmla="*/ 20622 w 21600"/>
                <a:gd name="T19" fmla="*/ 16429 h 21600"/>
              </a:gdLst>
              <a:ahLst/>
              <a:cxnLst>
                <a:cxn ang="0">
                  <a:pos x="T0" y="T1"/>
                </a:cxn>
                <a:cxn ang="0">
                  <a:pos x="T2" y="T3"/>
                </a:cxn>
                <a:cxn ang="0">
                  <a:pos x="T4" y="T5"/>
                </a:cxn>
                <a:cxn ang="0">
                  <a:pos x="T6" y="T7"/>
                </a:cxn>
                <a:cxn ang="0">
                  <a:pos x="T8" y="T9"/>
                </a:cxn>
                <a:cxn ang="0">
                  <a:pos x="T10" y="T11"/>
                </a:cxn>
                <a:cxn ang="0">
                  <a:pos x="T12" y="T13"/>
                </a:cxn>
                <a:cxn ang="0">
                  <a:pos x="T14" y="T15"/>
                </a:cxn>
              </a:cxnLst>
              <a:rect l="T16" t="T17" r="T18" b="T19"/>
              <a:pathLst>
                <a:path w="21600" h="21600">
                  <a:moveTo>
                    <a:pt x="10757" y="21632"/>
                  </a:moveTo>
                  <a:lnTo>
                    <a:pt x="5187" y="21632"/>
                  </a:lnTo>
                  <a:lnTo>
                    <a:pt x="85" y="17509"/>
                  </a:lnTo>
                  <a:lnTo>
                    <a:pt x="85" y="10849"/>
                  </a:lnTo>
                  <a:lnTo>
                    <a:pt x="85" y="81"/>
                  </a:lnTo>
                  <a:lnTo>
                    <a:pt x="10757" y="81"/>
                  </a:lnTo>
                  <a:lnTo>
                    <a:pt x="21706" y="81"/>
                  </a:lnTo>
                  <a:lnTo>
                    <a:pt x="21706" y="10652"/>
                  </a:lnTo>
                  <a:lnTo>
                    <a:pt x="21706" y="21632"/>
                  </a:lnTo>
                  <a:lnTo>
                    <a:pt x="10757" y="21632"/>
                  </a:lnTo>
                  <a:close/>
                </a:path>
                <a:path w="21600" h="21600">
                  <a:moveTo>
                    <a:pt x="85" y="17509"/>
                  </a:moveTo>
                  <a:lnTo>
                    <a:pt x="5187" y="17509"/>
                  </a:lnTo>
                  <a:lnTo>
                    <a:pt x="5187" y="21632"/>
                  </a:lnTo>
                  <a:lnTo>
                    <a:pt x="85" y="17509"/>
                  </a:lnTo>
                  <a:close/>
                </a:path>
              </a:pathLst>
            </a:custGeom>
            <a:solidFill>
              <a:srgbClr val="D8EBB3"/>
            </a:solidFill>
            <a:ln w="9525">
              <a:solidFill>
                <a:srgbClr val="000000"/>
              </a:solidFill>
              <a:miter lim="800000"/>
              <a:headEnd/>
              <a:tailEnd/>
            </a:ln>
            <a:effectLst>
              <a:outerShdw dist="107763" dir="2700000" algn="ctr" rotWithShape="0">
                <a:srgbClr val="808080"/>
              </a:outerShdw>
            </a:effectLst>
          </p:spPr>
          <p:txBody>
            <a:bodyPr/>
            <a:lstStyle/>
            <a:p>
              <a:endParaRPr lang="en-US"/>
            </a:p>
          </p:txBody>
        </p:sp>
        <p:pic>
          <p:nvPicPr>
            <p:cNvPr id="86021" name="Picture 5"/>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2064" y="816"/>
              <a:ext cx="450" cy="564"/>
            </a:xfrm>
            <a:prstGeom prst="rect">
              <a:avLst/>
            </a:prstGeom>
            <a:noFill/>
            <a:ln>
              <a:noFill/>
            </a:ln>
            <a:effectLst/>
            <a:extLst>
              <a:ext uri="{909E8E84-426E-40DD-AFC4-6F175D3DCCD1}">
                <a14:hiddenFill xmlns:a14="http://schemas.microsoft.com/office/drawing/2010/main">
                  <a:solidFill>
                    <a:schemeClr val="tx2"/>
                  </a:solidFill>
                </a14:hiddenFill>
              </a:ext>
              <a:ext uri="{91240B29-F687-4F45-9708-019B960494DF}">
                <a14:hiddenLine xmlns:a14="http://schemas.microsoft.com/office/drawing/2010/main" w="762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86022" name="Documents"/>
            <p:cNvSpPr>
              <a:spLocks noEditPoints="1" noChangeArrowheads="1"/>
            </p:cNvSpPr>
            <p:nvPr/>
          </p:nvSpPr>
          <p:spPr bwMode="auto">
            <a:xfrm>
              <a:off x="3696" y="816"/>
              <a:ext cx="432" cy="624"/>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D8EBB3"/>
            </a:solidFill>
            <a:ln w="9525">
              <a:solidFill>
                <a:srgbClr val="000000"/>
              </a:solidFill>
              <a:miter lim="800000"/>
              <a:headEnd/>
              <a:tailEnd/>
            </a:ln>
            <a:effectLst>
              <a:outerShdw dist="107763" dir="2700000" algn="ctr" rotWithShape="0">
                <a:srgbClr val="808080"/>
              </a:outerShdw>
            </a:effectLst>
          </p:spPr>
          <p:txBody>
            <a:bodyPr/>
            <a:lstStyle/>
            <a:p>
              <a:endParaRPr lang="en-US"/>
            </a:p>
          </p:txBody>
        </p:sp>
        <p:sp>
          <p:nvSpPr>
            <p:cNvPr id="86035" name="Text Box 19"/>
            <p:cNvSpPr txBox="1">
              <a:spLocks noChangeArrowheads="1"/>
            </p:cNvSpPr>
            <p:nvPr/>
          </p:nvSpPr>
          <p:spPr bwMode="auto">
            <a:xfrm>
              <a:off x="2544" y="912"/>
              <a:ext cx="1127" cy="3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762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algn="ctr" eaLnBrk="0" hangingPunct="0">
                <a:spcBef>
                  <a:spcPct val="20000"/>
                </a:spcBef>
                <a:buClr>
                  <a:srgbClr val="FFD300"/>
                </a:buClr>
                <a:buSzPct val="59000"/>
                <a:buFont typeface="Monotype Sorts" pitchFamily="2" charset="2"/>
                <a:buNone/>
              </a:pPr>
              <a:r>
                <a:rPr lang="en-US" altLang="en-US" sz="1400" b="1"/>
                <a:t>Requirements and </a:t>
              </a:r>
            </a:p>
            <a:p>
              <a:pPr algn="ctr" eaLnBrk="0" hangingPunct="0">
                <a:spcBef>
                  <a:spcPct val="20000"/>
                </a:spcBef>
                <a:buClr>
                  <a:srgbClr val="FFD300"/>
                </a:buClr>
                <a:buSzPct val="59000"/>
                <a:buFont typeface="Monotype Sorts" pitchFamily="2" charset="2"/>
                <a:buNone/>
              </a:pPr>
              <a:r>
                <a:rPr lang="en-US" altLang="en-US" sz="1400" b="1"/>
                <a:t>Design Documents</a:t>
              </a:r>
            </a:p>
          </p:txBody>
        </p:sp>
      </p:grpSp>
      <p:grpSp>
        <p:nvGrpSpPr>
          <p:cNvPr id="6" name="Group 34"/>
          <p:cNvGrpSpPr>
            <a:grpSpLocks/>
          </p:cNvGrpSpPr>
          <p:nvPr/>
        </p:nvGrpSpPr>
        <p:grpSpPr bwMode="auto">
          <a:xfrm>
            <a:off x="2667000" y="4622800"/>
            <a:ext cx="4114800" cy="1854200"/>
            <a:chOff x="1680" y="2912"/>
            <a:chExt cx="2592" cy="1168"/>
          </a:xfrm>
        </p:grpSpPr>
        <p:pic>
          <p:nvPicPr>
            <p:cNvPr id="86023" name="Picture 7" descr="MCj02309870000[1]"/>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2208" y="2912"/>
              <a:ext cx="1584" cy="1168"/>
            </a:xfrm>
            <a:prstGeom prst="rect">
              <a:avLst/>
            </a:prstGeom>
            <a:noFill/>
            <a:extLst>
              <a:ext uri="{909E8E84-426E-40DD-AFC4-6F175D3DCCD1}">
                <a14:hiddenFill xmlns:a14="http://schemas.microsoft.com/office/drawing/2010/main">
                  <a:solidFill>
                    <a:srgbClr val="FFFFFF"/>
                  </a:solidFill>
                </a14:hiddenFill>
              </a:ext>
            </a:extLst>
          </p:spPr>
        </p:pic>
        <p:sp>
          <p:nvSpPr>
            <p:cNvPr id="86037" name="Line 21"/>
            <p:cNvSpPr>
              <a:spLocks noChangeShapeType="1"/>
            </p:cNvSpPr>
            <p:nvPr/>
          </p:nvSpPr>
          <p:spPr bwMode="auto">
            <a:xfrm rot="-10800000" flipH="1" flipV="1">
              <a:off x="1680" y="3312"/>
              <a:ext cx="480" cy="96"/>
            </a:xfrm>
            <a:prstGeom prst="line">
              <a:avLst/>
            </a:prstGeom>
            <a:noFill/>
            <a:ln w="762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a:p>
          </p:txBody>
        </p:sp>
        <p:sp>
          <p:nvSpPr>
            <p:cNvPr id="86038" name="Line 22"/>
            <p:cNvSpPr>
              <a:spLocks noChangeShapeType="1"/>
            </p:cNvSpPr>
            <p:nvPr/>
          </p:nvSpPr>
          <p:spPr bwMode="auto">
            <a:xfrm rot="10800000" flipV="1">
              <a:off x="3840" y="3360"/>
              <a:ext cx="432" cy="96"/>
            </a:xfrm>
            <a:prstGeom prst="line">
              <a:avLst/>
            </a:prstGeom>
            <a:noFill/>
            <a:ln w="76200">
              <a:solidFill>
                <a:srgbClr val="0033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a:p>
          </p:txBody>
        </p:sp>
      </p:grpSp>
      <p:grpSp>
        <p:nvGrpSpPr>
          <p:cNvPr id="7" name="Group 30"/>
          <p:cNvGrpSpPr>
            <a:grpSpLocks/>
          </p:cNvGrpSpPr>
          <p:nvPr/>
        </p:nvGrpSpPr>
        <p:grpSpPr bwMode="auto">
          <a:xfrm>
            <a:off x="228600" y="1735138"/>
            <a:ext cx="5638800" cy="1971675"/>
            <a:chOff x="144" y="1093"/>
            <a:chExt cx="3552" cy="1242"/>
          </a:xfrm>
        </p:grpSpPr>
        <p:pic>
          <p:nvPicPr>
            <p:cNvPr id="86025" name="Picture 9" descr="MCj02955600000[1]"/>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192" y="1584"/>
              <a:ext cx="936" cy="751"/>
            </a:xfrm>
            <a:prstGeom prst="rect">
              <a:avLst/>
            </a:prstGeom>
            <a:noFill/>
            <a:extLst>
              <a:ext uri="{909E8E84-426E-40DD-AFC4-6F175D3DCCD1}">
                <a14:hiddenFill xmlns:a14="http://schemas.microsoft.com/office/drawing/2010/main">
                  <a:solidFill>
                    <a:srgbClr val="FFFFFF"/>
                  </a:solidFill>
                </a14:hiddenFill>
              </a:ext>
            </a:extLst>
          </p:spPr>
        </p:pic>
        <p:sp>
          <p:nvSpPr>
            <p:cNvPr id="86026" name="Line 10"/>
            <p:cNvSpPr>
              <a:spLocks noChangeShapeType="1"/>
            </p:cNvSpPr>
            <p:nvPr/>
          </p:nvSpPr>
          <p:spPr bwMode="auto">
            <a:xfrm flipH="1">
              <a:off x="1008" y="1392"/>
              <a:ext cx="576" cy="288"/>
            </a:xfrm>
            <a:prstGeom prst="line">
              <a:avLst/>
            </a:prstGeom>
            <a:noFill/>
            <a:ln w="762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a:p>
          </p:txBody>
        </p:sp>
        <p:sp>
          <p:nvSpPr>
            <p:cNvPr id="86027" name="Line 11"/>
            <p:cNvSpPr>
              <a:spLocks noChangeShapeType="1"/>
            </p:cNvSpPr>
            <p:nvPr/>
          </p:nvSpPr>
          <p:spPr bwMode="auto">
            <a:xfrm flipH="1">
              <a:off x="1152" y="1392"/>
              <a:ext cx="1104" cy="432"/>
            </a:xfrm>
            <a:prstGeom prst="line">
              <a:avLst/>
            </a:prstGeom>
            <a:noFill/>
            <a:ln w="762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a:p>
          </p:txBody>
        </p:sp>
        <p:sp>
          <p:nvSpPr>
            <p:cNvPr id="86028" name="Line 12"/>
            <p:cNvSpPr>
              <a:spLocks noChangeShapeType="1"/>
            </p:cNvSpPr>
            <p:nvPr/>
          </p:nvSpPr>
          <p:spPr bwMode="auto">
            <a:xfrm flipH="1">
              <a:off x="1152" y="1440"/>
              <a:ext cx="2544" cy="528"/>
            </a:xfrm>
            <a:prstGeom prst="line">
              <a:avLst/>
            </a:prstGeom>
            <a:noFill/>
            <a:ln w="762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a:p>
          </p:txBody>
        </p:sp>
        <p:sp>
          <p:nvSpPr>
            <p:cNvPr id="86041" name="Text Box 25"/>
            <p:cNvSpPr txBox="1">
              <a:spLocks noChangeArrowheads="1"/>
            </p:cNvSpPr>
            <p:nvPr/>
          </p:nvSpPr>
          <p:spPr bwMode="auto">
            <a:xfrm>
              <a:off x="144" y="1093"/>
              <a:ext cx="816" cy="4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spAutoFit/>
            </a:bodyPr>
            <a:lstStyle/>
            <a:p>
              <a:pPr algn="ctr">
                <a:spcBef>
                  <a:spcPct val="50000"/>
                </a:spcBef>
              </a:pPr>
              <a:r>
                <a:rPr lang="en-US" altLang="en-US" sz="1600" b="1"/>
                <a:t>Safety </a:t>
              </a:r>
            </a:p>
            <a:p>
              <a:pPr algn="ctr">
                <a:spcBef>
                  <a:spcPct val="50000"/>
                </a:spcBef>
              </a:pPr>
              <a:r>
                <a:rPr lang="en-US" altLang="en-US" sz="1600" b="1"/>
                <a:t>Analyst A</a:t>
              </a:r>
            </a:p>
          </p:txBody>
        </p:sp>
      </p:grpSp>
      <p:grpSp>
        <p:nvGrpSpPr>
          <p:cNvPr id="8" name="Group 31"/>
          <p:cNvGrpSpPr>
            <a:grpSpLocks/>
          </p:cNvGrpSpPr>
          <p:nvPr/>
        </p:nvGrpSpPr>
        <p:grpSpPr bwMode="auto">
          <a:xfrm>
            <a:off x="2895600" y="1735138"/>
            <a:ext cx="5905500" cy="1971675"/>
            <a:chOff x="1824" y="1093"/>
            <a:chExt cx="3720" cy="1242"/>
          </a:xfrm>
        </p:grpSpPr>
        <p:sp>
          <p:nvSpPr>
            <p:cNvPr id="86031" name="Line 15"/>
            <p:cNvSpPr>
              <a:spLocks noChangeShapeType="1"/>
            </p:cNvSpPr>
            <p:nvPr/>
          </p:nvSpPr>
          <p:spPr bwMode="auto">
            <a:xfrm>
              <a:off x="1824" y="1488"/>
              <a:ext cx="2688" cy="576"/>
            </a:xfrm>
            <a:prstGeom prst="line">
              <a:avLst/>
            </a:prstGeom>
            <a:noFill/>
            <a:ln w="76200">
              <a:solidFill>
                <a:srgbClr val="0033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a:p>
          </p:txBody>
        </p:sp>
        <p:sp>
          <p:nvSpPr>
            <p:cNvPr id="86033" name="Line 17"/>
            <p:cNvSpPr>
              <a:spLocks noChangeShapeType="1"/>
            </p:cNvSpPr>
            <p:nvPr/>
          </p:nvSpPr>
          <p:spPr bwMode="auto">
            <a:xfrm>
              <a:off x="2544" y="1344"/>
              <a:ext cx="2064" cy="576"/>
            </a:xfrm>
            <a:prstGeom prst="line">
              <a:avLst/>
            </a:prstGeom>
            <a:noFill/>
            <a:ln w="76200">
              <a:solidFill>
                <a:srgbClr val="0033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a:p>
          </p:txBody>
        </p:sp>
        <p:pic>
          <p:nvPicPr>
            <p:cNvPr id="86030" name="Picture 14" descr="MCj02955600000[1]"/>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4608" y="1584"/>
              <a:ext cx="936" cy="751"/>
            </a:xfrm>
            <a:prstGeom prst="rect">
              <a:avLst/>
            </a:prstGeom>
            <a:noFill/>
            <a:extLst>
              <a:ext uri="{909E8E84-426E-40DD-AFC4-6F175D3DCCD1}">
                <a14:hiddenFill xmlns:a14="http://schemas.microsoft.com/office/drawing/2010/main">
                  <a:solidFill>
                    <a:srgbClr val="FFFFFF"/>
                  </a:solidFill>
                </a14:hiddenFill>
              </a:ext>
            </a:extLst>
          </p:spPr>
        </p:pic>
        <p:sp>
          <p:nvSpPr>
            <p:cNvPr id="86032" name="Line 16"/>
            <p:cNvSpPr>
              <a:spLocks noChangeShapeType="1"/>
            </p:cNvSpPr>
            <p:nvPr/>
          </p:nvSpPr>
          <p:spPr bwMode="auto">
            <a:xfrm>
              <a:off x="4224" y="1488"/>
              <a:ext cx="336" cy="192"/>
            </a:xfrm>
            <a:prstGeom prst="line">
              <a:avLst/>
            </a:prstGeom>
            <a:noFill/>
            <a:ln w="76200">
              <a:solidFill>
                <a:srgbClr val="0033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a:p>
          </p:txBody>
        </p:sp>
        <p:sp>
          <p:nvSpPr>
            <p:cNvPr id="86042" name="Text Box 26"/>
            <p:cNvSpPr txBox="1">
              <a:spLocks noChangeArrowheads="1"/>
            </p:cNvSpPr>
            <p:nvPr/>
          </p:nvSpPr>
          <p:spPr bwMode="auto">
            <a:xfrm>
              <a:off x="4704" y="1093"/>
              <a:ext cx="816" cy="4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spAutoFit/>
            </a:bodyPr>
            <a:lstStyle/>
            <a:p>
              <a:pPr algn="ctr">
                <a:spcBef>
                  <a:spcPct val="50000"/>
                </a:spcBef>
              </a:pPr>
              <a:r>
                <a:rPr lang="en-US" altLang="en-US" sz="1600" b="1"/>
                <a:t>Safety </a:t>
              </a:r>
            </a:p>
            <a:p>
              <a:pPr algn="ctr">
                <a:spcBef>
                  <a:spcPct val="50000"/>
                </a:spcBef>
              </a:pPr>
              <a:r>
                <a:rPr lang="en-US" altLang="en-US" sz="1600" b="1"/>
                <a:t>Analyst B</a:t>
              </a:r>
            </a:p>
          </p:txBody>
        </p:sp>
      </p:grpSp>
      <p:grpSp>
        <p:nvGrpSpPr>
          <p:cNvPr id="9" name="Group 36"/>
          <p:cNvGrpSpPr>
            <a:grpSpLocks/>
          </p:cNvGrpSpPr>
          <p:nvPr/>
        </p:nvGrpSpPr>
        <p:grpSpPr bwMode="auto">
          <a:xfrm>
            <a:off x="2093912" y="3276600"/>
            <a:ext cx="5526088" cy="1101725"/>
            <a:chOff x="1552" y="2074"/>
            <a:chExt cx="3481" cy="694"/>
          </a:xfrm>
        </p:grpSpPr>
        <p:sp>
          <p:nvSpPr>
            <p:cNvPr id="86040" name="Text Box 24"/>
            <p:cNvSpPr txBox="1">
              <a:spLocks noChangeArrowheads="1"/>
            </p:cNvSpPr>
            <p:nvPr/>
          </p:nvSpPr>
          <p:spPr bwMode="auto">
            <a:xfrm>
              <a:off x="1552" y="2074"/>
              <a:ext cx="2086" cy="2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spAutoFit/>
            </a:bodyPr>
            <a:lstStyle/>
            <a:p>
              <a:r>
                <a:rPr lang="en-US" altLang="en-US" sz="1700" b="1">
                  <a:latin typeface="+mn-lt"/>
                </a:rPr>
                <a:t>System Safety Analysis is</a:t>
              </a:r>
            </a:p>
          </p:txBody>
        </p:sp>
        <p:sp>
          <p:nvSpPr>
            <p:cNvPr id="86043" name="Text Box 27"/>
            <p:cNvSpPr txBox="1">
              <a:spLocks noChangeArrowheads="1"/>
            </p:cNvSpPr>
            <p:nvPr/>
          </p:nvSpPr>
          <p:spPr bwMode="auto">
            <a:xfrm>
              <a:off x="1696" y="2305"/>
              <a:ext cx="2773" cy="2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spAutoFit/>
            </a:bodyPr>
            <a:lstStyle/>
            <a:p>
              <a:r>
                <a:rPr lang="en-US" altLang="en-US" sz="1700" b="1">
                  <a:latin typeface="+mn-lt"/>
                </a:rPr>
                <a:t>- Based on Informal Specifications</a:t>
              </a:r>
            </a:p>
          </p:txBody>
        </p:sp>
        <p:sp>
          <p:nvSpPr>
            <p:cNvPr id="86044" name="Text Box 28"/>
            <p:cNvSpPr txBox="1">
              <a:spLocks noChangeArrowheads="1"/>
            </p:cNvSpPr>
            <p:nvPr/>
          </p:nvSpPr>
          <p:spPr bwMode="auto">
            <a:xfrm>
              <a:off x="1696" y="2545"/>
              <a:ext cx="3337" cy="2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spAutoFit/>
            </a:bodyPr>
            <a:lstStyle/>
            <a:p>
              <a:r>
                <a:rPr lang="en-US" altLang="en-US" sz="1700" b="1" dirty="0">
                  <a:latin typeface="+mn-lt"/>
                </a:rPr>
                <a:t>- Highly Dependent on Skill of the Analyst</a:t>
              </a:r>
            </a:p>
          </p:txBody>
        </p:sp>
      </p:grpSp>
      <p:sp>
        <p:nvSpPr>
          <p:cNvPr id="34" name="Slide Number Placeholder 33"/>
          <p:cNvSpPr>
            <a:spLocks noGrp="1"/>
          </p:cNvSpPr>
          <p:nvPr>
            <p:ph type="sldNum" sz="quarter" idx="12"/>
          </p:nvPr>
        </p:nvSpPr>
        <p:spPr/>
        <p:txBody>
          <a:bodyPr/>
          <a:lstStyle/>
          <a:p>
            <a:fld id="{A3FF127A-2DBF-924B-94E1-163D8C9D5B47}" type="slidenum">
              <a:rPr lang="en-US" smtClean="0"/>
              <a:pPr/>
              <a:t>2</a:t>
            </a:fld>
            <a:endParaRPr lang="en-US"/>
          </a:p>
        </p:txBody>
      </p:sp>
      <p:sp>
        <p:nvSpPr>
          <p:cNvPr id="35" name="Footer Placeholder 34"/>
          <p:cNvSpPr>
            <a:spLocks noGrp="1"/>
          </p:cNvSpPr>
          <p:nvPr>
            <p:ph type="ftr" sz="quarter" idx="11"/>
          </p:nvPr>
        </p:nvSpPr>
        <p:spPr/>
        <p:txBody>
          <a:bodyPr/>
          <a:lstStyle/>
          <a:p>
            <a:r>
              <a:rPr lang="en-US" smtClean="0"/>
              <a:t>AMASE   </a:t>
            </a:r>
            <a:endParaRPr lang="en-US"/>
          </a:p>
        </p:txBody>
      </p:sp>
    </p:spTree>
    <p:extLst>
      <p:ext uri="{BB962C8B-B14F-4D97-AF65-F5344CB8AC3E}">
        <p14:creationId xmlns:p14="http://schemas.microsoft.com/office/powerpoint/2010/main" val="3775109297"/>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4500" name="Rectangle 4"/>
          <p:cNvSpPr>
            <a:spLocks noGrp="1" noChangeArrowheads="1"/>
          </p:cNvSpPr>
          <p:nvPr>
            <p:ph type="title"/>
          </p:nvPr>
        </p:nvSpPr>
        <p:spPr/>
        <p:txBody>
          <a:bodyPr/>
          <a:lstStyle/>
          <a:p>
            <a:r>
              <a:rPr lang="en-US" altLang="en-US"/>
              <a:t>Model-Based Development</a:t>
            </a:r>
          </a:p>
        </p:txBody>
      </p:sp>
      <p:grpSp>
        <p:nvGrpSpPr>
          <p:cNvPr id="3" name="Group 14"/>
          <p:cNvGrpSpPr>
            <a:grpSpLocks/>
          </p:cNvGrpSpPr>
          <p:nvPr/>
        </p:nvGrpSpPr>
        <p:grpSpPr bwMode="auto">
          <a:xfrm>
            <a:off x="609600" y="1600200"/>
            <a:ext cx="4800600" cy="4724400"/>
            <a:chOff x="384" y="1008"/>
            <a:chExt cx="3024" cy="2976"/>
          </a:xfrm>
        </p:grpSpPr>
        <p:grpSp>
          <p:nvGrpSpPr>
            <p:cNvPr id="4" name="Group 5"/>
            <p:cNvGrpSpPr>
              <a:grpSpLocks/>
            </p:cNvGrpSpPr>
            <p:nvPr/>
          </p:nvGrpSpPr>
          <p:grpSpPr bwMode="auto">
            <a:xfrm>
              <a:off x="384" y="1008"/>
              <a:ext cx="3024" cy="2232"/>
              <a:chOff x="3120" y="960"/>
              <a:chExt cx="2476" cy="1752"/>
            </a:xfrm>
          </p:grpSpPr>
          <p:graphicFrame>
            <p:nvGraphicFramePr>
              <p:cNvPr id="234502" name="Object 6"/>
              <p:cNvGraphicFramePr>
                <a:graphicFrameLocks noChangeAspect="1"/>
              </p:cNvGraphicFramePr>
              <p:nvPr/>
            </p:nvGraphicFramePr>
            <p:xfrm>
              <a:off x="3120" y="960"/>
              <a:ext cx="2476" cy="1752"/>
            </p:xfrm>
            <a:graphic>
              <a:graphicData uri="http://schemas.openxmlformats.org/presentationml/2006/ole">
                <mc:AlternateContent xmlns:mc="http://schemas.openxmlformats.org/markup-compatibility/2006">
                  <mc:Choice xmlns:v="urn:schemas-microsoft-com:vml" Requires="v">
                    <p:oleObj spid="_x0000_s43013" name="VISIO" r:id="rId4" imgW="3937000" imgH="2781300" progId="">
                      <p:embed/>
                    </p:oleObj>
                  </mc:Choice>
                  <mc:Fallback>
                    <p:oleObj name="VISIO" r:id="rId4" imgW="3937000" imgH="2781300" progId="">
                      <p:embed/>
                      <p:pic>
                        <p:nvPicPr>
                          <p:cNvPr id="0"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120" y="960"/>
                            <a:ext cx="2476" cy="17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234503" name="Object 7" descr="c2sdocs"/>
              <p:cNvGraphicFramePr>
                <a:graphicFrameLocks noChangeAspect="1"/>
              </p:cNvGraphicFramePr>
              <p:nvPr/>
            </p:nvGraphicFramePr>
            <p:xfrm>
              <a:off x="3967" y="1392"/>
              <a:ext cx="737" cy="756"/>
            </p:xfrm>
            <a:graphic>
              <a:graphicData uri="http://schemas.openxmlformats.org/presentationml/2006/ole">
                <mc:AlternateContent xmlns:mc="http://schemas.openxmlformats.org/markup-compatibility/2006">
                  <mc:Choice xmlns:v="urn:schemas-microsoft-com:vml" Requires="v">
                    <p:oleObj spid="_x0000_s43014" name="VISIO" r:id="rId6" imgW="2336800" imgH="2108200" progId="">
                      <p:embed/>
                    </p:oleObj>
                  </mc:Choice>
                  <mc:Fallback>
                    <p:oleObj name="VISIO" r:id="rId6" imgW="2336800" imgH="2108200" progId="">
                      <p:embed/>
                      <p:pic>
                        <p:nvPicPr>
                          <p:cNvPr id="0" name="Picture 3" descr="c2sdocs"/>
                          <p:cNvPicPr>
                            <a:picLocks noChangeAspect="1" noChangeArrowheads="1"/>
                          </p:cNvPicPr>
                          <p:nvPr/>
                        </p:nvPicPr>
                        <p:blipFill>
                          <a:blip r:embed="rId7">
                            <a:extLst>
                              <a:ext uri="{28A0092B-C50C-407E-A947-70E740481C1C}">
                                <a14:useLocalDpi xmlns:a14="http://schemas.microsoft.com/office/drawing/2010/main" val="0"/>
                              </a:ext>
                            </a:extLst>
                          </a:blip>
                          <a:srcRect l="11728" t="8691" r="11728" b="4346"/>
                          <a:stretch>
                            <a:fillRect/>
                          </a:stretch>
                        </p:blipFill>
                        <p:spPr bwMode="auto">
                          <a:xfrm>
                            <a:off x="3967" y="1392"/>
                            <a:ext cx="737" cy="75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sp>
          <p:nvSpPr>
            <p:cNvPr id="234508" name="Text Box 12"/>
            <p:cNvSpPr txBox="1">
              <a:spLocks noChangeArrowheads="1"/>
            </p:cNvSpPr>
            <p:nvPr/>
          </p:nvSpPr>
          <p:spPr bwMode="auto">
            <a:xfrm>
              <a:off x="924" y="3344"/>
              <a:ext cx="1901" cy="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spAutoFit/>
            </a:bodyPr>
            <a:lstStyle/>
            <a:p>
              <a:pPr algn="ctr"/>
              <a:r>
                <a:rPr lang="en-US" altLang="en-US" sz="2000" b="1" dirty="0">
                  <a:solidFill>
                    <a:schemeClr val="tx2"/>
                  </a:solidFill>
                  <a:latin typeface="+mn-lt"/>
                </a:rPr>
                <a:t>We Base the Entire </a:t>
              </a:r>
            </a:p>
            <a:p>
              <a:pPr algn="ctr"/>
              <a:r>
                <a:rPr lang="en-US" altLang="en-US" sz="2000" b="1" dirty="0">
                  <a:solidFill>
                    <a:schemeClr val="tx2"/>
                  </a:solidFill>
                  <a:latin typeface="+mn-lt"/>
                </a:rPr>
                <a:t>Development Cycle</a:t>
              </a:r>
            </a:p>
            <a:p>
              <a:pPr algn="ctr"/>
              <a:r>
                <a:rPr lang="en-US" altLang="en-US" sz="2000" b="1" dirty="0">
                  <a:solidFill>
                    <a:schemeClr val="tx2"/>
                  </a:solidFill>
                  <a:latin typeface="+mn-lt"/>
                </a:rPr>
                <a:t>Around the Model</a:t>
              </a:r>
            </a:p>
          </p:txBody>
        </p:sp>
      </p:grpSp>
      <p:grpSp>
        <p:nvGrpSpPr>
          <p:cNvPr id="5" name="Group 15"/>
          <p:cNvGrpSpPr>
            <a:grpSpLocks/>
          </p:cNvGrpSpPr>
          <p:nvPr/>
        </p:nvGrpSpPr>
        <p:grpSpPr bwMode="auto">
          <a:xfrm>
            <a:off x="5562601" y="2184400"/>
            <a:ext cx="3271838" cy="3140075"/>
            <a:chOff x="3504" y="1376"/>
            <a:chExt cx="2061" cy="1978"/>
          </a:xfrm>
        </p:grpSpPr>
        <p:graphicFrame>
          <p:nvGraphicFramePr>
            <p:cNvPr id="234505" name="Object 9"/>
            <p:cNvGraphicFramePr>
              <a:graphicFrameLocks noChangeAspect="1"/>
            </p:cNvGraphicFramePr>
            <p:nvPr/>
          </p:nvGraphicFramePr>
          <p:xfrm>
            <a:off x="3648" y="1968"/>
            <a:ext cx="1789" cy="1386"/>
          </p:xfrm>
          <a:graphic>
            <a:graphicData uri="http://schemas.openxmlformats.org/presentationml/2006/ole">
              <mc:AlternateContent xmlns:mc="http://schemas.openxmlformats.org/markup-compatibility/2006">
                <mc:Choice xmlns:v="urn:schemas-microsoft-com:vml" Requires="v">
                  <p:oleObj spid="_x0000_s43015" name="Visio" r:id="rId8" imgW="7073900" imgH="5549900" progId="">
                    <p:embed/>
                  </p:oleObj>
                </mc:Choice>
                <mc:Fallback>
                  <p:oleObj name="Visio" r:id="rId8" imgW="7073900" imgH="5549900" progId="">
                    <p:embed/>
                    <p:pic>
                      <p:nvPicPr>
                        <p:cNvPr id="0" name="Picture 4"/>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3648" y="1968"/>
                          <a:ext cx="1789" cy="13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762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234507" name="AutoShape 11"/>
            <p:cNvSpPr>
              <a:spLocks noChangeArrowheads="1"/>
            </p:cNvSpPr>
            <p:nvPr/>
          </p:nvSpPr>
          <p:spPr bwMode="auto">
            <a:xfrm rot="1303765">
              <a:off x="3504" y="2160"/>
              <a:ext cx="432" cy="288"/>
            </a:xfrm>
            <a:prstGeom prst="rightArrow">
              <a:avLst>
                <a:gd name="adj1" fmla="val 50000"/>
                <a:gd name="adj2" fmla="val 37500"/>
              </a:avLst>
            </a:prstGeom>
            <a:solidFill>
              <a:schemeClr val="tx2"/>
            </a:solidFill>
            <a:ln w="17526" algn="ctr">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234509" name="Text Box 13"/>
            <p:cNvSpPr txBox="1">
              <a:spLocks noChangeArrowheads="1"/>
            </p:cNvSpPr>
            <p:nvPr/>
          </p:nvSpPr>
          <p:spPr bwMode="auto">
            <a:xfrm>
              <a:off x="3959" y="1376"/>
              <a:ext cx="1606" cy="4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spAutoFit/>
            </a:bodyPr>
            <a:lstStyle/>
            <a:p>
              <a:pPr algn="ctr"/>
              <a:r>
                <a:rPr lang="en-US" altLang="en-US" sz="2000" b="1" dirty="0">
                  <a:solidFill>
                    <a:schemeClr val="tx2"/>
                  </a:solidFill>
                  <a:latin typeface="+mn-lt"/>
                </a:rPr>
                <a:t>Why Not the</a:t>
              </a:r>
            </a:p>
            <a:p>
              <a:pPr algn="ctr"/>
              <a:r>
                <a:rPr lang="en-US" altLang="en-US" sz="2000" b="1" dirty="0">
                  <a:solidFill>
                    <a:schemeClr val="tx2"/>
                  </a:solidFill>
                  <a:latin typeface="+mn-lt"/>
                </a:rPr>
                <a:t>Safety Analysis?</a:t>
              </a:r>
            </a:p>
          </p:txBody>
        </p:sp>
      </p:grpSp>
      <p:sp>
        <p:nvSpPr>
          <p:cNvPr id="12" name="Slide Number Placeholder 11"/>
          <p:cNvSpPr>
            <a:spLocks noGrp="1"/>
          </p:cNvSpPr>
          <p:nvPr>
            <p:ph type="sldNum" sz="quarter" idx="12"/>
          </p:nvPr>
        </p:nvSpPr>
        <p:spPr/>
        <p:txBody>
          <a:bodyPr/>
          <a:lstStyle/>
          <a:p>
            <a:fld id="{A3FF127A-2DBF-924B-94E1-163D8C9D5B47}" type="slidenum">
              <a:rPr lang="en-US" smtClean="0"/>
              <a:pPr/>
              <a:t>3</a:t>
            </a:fld>
            <a:endParaRPr lang="en-US"/>
          </a:p>
        </p:txBody>
      </p:sp>
      <p:sp>
        <p:nvSpPr>
          <p:cNvPr id="13" name="Footer Placeholder 12"/>
          <p:cNvSpPr>
            <a:spLocks noGrp="1"/>
          </p:cNvSpPr>
          <p:nvPr>
            <p:ph type="ftr" sz="quarter" idx="11"/>
          </p:nvPr>
        </p:nvSpPr>
        <p:spPr/>
        <p:txBody>
          <a:bodyPr/>
          <a:lstStyle/>
          <a:p>
            <a:r>
              <a:rPr lang="en-US" smtClean="0"/>
              <a:t>AMASE   </a:t>
            </a:r>
            <a:endParaRPr lang="en-US"/>
          </a:p>
        </p:txBody>
      </p:sp>
    </p:spTree>
    <p:extLst>
      <p:ext uri="{BB962C8B-B14F-4D97-AF65-F5344CB8AC3E}">
        <p14:creationId xmlns:p14="http://schemas.microsoft.com/office/powerpoint/2010/main" val="4257116448"/>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4626" name="Rectangle 2"/>
          <p:cNvSpPr>
            <a:spLocks noGrp="1" noChangeArrowheads="1"/>
          </p:cNvSpPr>
          <p:nvPr>
            <p:ph type="title"/>
          </p:nvPr>
        </p:nvSpPr>
        <p:spPr>
          <a:xfrm>
            <a:off x="15876" y="542926"/>
            <a:ext cx="7772400" cy="503237"/>
          </a:xfrm>
        </p:spPr>
        <p:txBody>
          <a:bodyPr/>
          <a:lstStyle/>
          <a:p>
            <a:r>
              <a:rPr lang="en-US" altLang="en-US" sz="2400" dirty="0"/>
              <a:t>Model-Based Safety Analysis</a:t>
            </a:r>
          </a:p>
        </p:txBody>
      </p:sp>
      <p:sp>
        <p:nvSpPr>
          <p:cNvPr id="154627" name="Rectangle 3"/>
          <p:cNvSpPr>
            <a:spLocks noGrp="1" noChangeArrowheads="1"/>
          </p:cNvSpPr>
          <p:nvPr>
            <p:ph type="body" idx="1"/>
          </p:nvPr>
        </p:nvSpPr>
        <p:spPr>
          <a:xfrm>
            <a:off x="254000" y="5130800"/>
            <a:ext cx="4559300" cy="374650"/>
          </a:xfrm>
        </p:spPr>
        <p:txBody>
          <a:bodyPr/>
          <a:lstStyle/>
          <a:p>
            <a:pPr>
              <a:lnSpc>
                <a:spcPct val="80000"/>
              </a:lnSpc>
              <a:buSzPct val="70000"/>
            </a:pPr>
            <a:r>
              <a:rPr lang="en-US" altLang="en-US" sz="1700" dirty="0"/>
              <a:t>Add Fault Model for Physical </a:t>
            </a:r>
            <a:r>
              <a:rPr lang="en-US" altLang="en-US" sz="1700" dirty="0" smtClean="0"/>
              <a:t>System</a:t>
            </a:r>
            <a:endParaRPr lang="en-US" altLang="en-US" sz="1700" dirty="0"/>
          </a:p>
        </p:txBody>
      </p:sp>
      <p:grpSp>
        <p:nvGrpSpPr>
          <p:cNvPr id="4" name="Group 4"/>
          <p:cNvGrpSpPr>
            <a:grpSpLocks/>
          </p:cNvGrpSpPr>
          <p:nvPr/>
        </p:nvGrpSpPr>
        <p:grpSpPr bwMode="auto">
          <a:xfrm>
            <a:off x="277813" y="2035175"/>
            <a:ext cx="1595437" cy="2438400"/>
            <a:chOff x="175" y="1282"/>
            <a:chExt cx="1005" cy="1536"/>
          </a:xfrm>
        </p:grpSpPr>
        <p:sp>
          <p:nvSpPr>
            <p:cNvPr id="154629" name="Rectangle 5"/>
            <p:cNvSpPr>
              <a:spLocks noChangeArrowheads="1"/>
            </p:cNvSpPr>
            <p:nvPr/>
          </p:nvSpPr>
          <p:spPr bwMode="auto">
            <a:xfrm>
              <a:off x="548" y="1296"/>
              <a:ext cx="343" cy="1127"/>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
          <p:nvSpPr>
            <p:cNvPr id="154630" name="Rectangle 6"/>
            <p:cNvSpPr>
              <a:spLocks noChangeArrowheads="1"/>
            </p:cNvSpPr>
            <p:nvPr/>
          </p:nvSpPr>
          <p:spPr bwMode="auto">
            <a:xfrm>
              <a:off x="548" y="1282"/>
              <a:ext cx="630" cy="1127"/>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54631" name="Line 7"/>
            <p:cNvSpPr>
              <a:spLocks noChangeShapeType="1"/>
            </p:cNvSpPr>
            <p:nvPr/>
          </p:nvSpPr>
          <p:spPr bwMode="auto">
            <a:xfrm>
              <a:off x="396" y="1449"/>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4632" name="Freeform 8"/>
            <p:cNvSpPr>
              <a:spLocks/>
            </p:cNvSpPr>
            <p:nvPr/>
          </p:nvSpPr>
          <p:spPr bwMode="auto">
            <a:xfrm>
              <a:off x="513" y="1436"/>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54633" name="Line 9"/>
            <p:cNvSpPr>
              <a:spLocks noChangeShapeType="1"/>
            </p:cNvSpPr>
            <p:nvPr/>
          </p:nvSpPr>
          <p:spPr bwMode="auto">
            <a:xfrm>
              <a:off x="396" y="1644"/>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4634" name="Freeform 10"/>
            <p:cNvSpPr>
              <a:spLocks/>
            </p:cNvSpPr>
            <p:nvPr/>
          </p:nvSpPr>
          <p:spPr bwMode="auto">
            <a:xfrm>
              <a:off x="513" y="1632"/>
              <a:ext cx="35" cy="25"/>
            </a:xfrm>
            <a:custGeom>
              <a:avLst/>
              <a:gdLst>
                <a:gd name="T0" fmla="*/ 0 w 35"/>
                <a:gd name="T1" fmla="*/ 0 h 25"/>
                <a:gd name="T2" fmla="*/ 35 w 35"/>
                <a:gd name="T3" fmla="*/ 12 h 25"/>
                <a:gd name="T4" fmla="*/ 0 w 35"/>
                <a:gd name="T5" fmla="*/ 25 h 25"/>
                <a:gd name="T6" fmla="*/ 0 w 35"/>
                <a:gd name="T7" fmla="*/ 0 h 25"/>
              </a:gdLst>
              <a:ahLst/>
              <a:cxnLst>
                <a:cxn ang="0">
                  <a:pos x="T0" y="T1"/>
                </a:cxn>
                <a:cxn ang="0">
                  <a:pos x="T2" y="T3"/>
                </a:cxn>
                <a:cxn ang="0">
                  <a:pos x="T4" y="T5"/>
                </a:cxn>
                <a:cxn ang="0">
                  <a:pos x="T6" y="T7"/>
                </a:cxn>
              </a:cxnLst>
              <a:rect l="0" t="0" r="r" b="b"/>
              <a:pathLst>
                <a:path w="35" h="25">
                  <a:moveTo>
                    <a:pt x="0" y="0"/>
                  </a:moveTo>
                  <a:lnTo>
                    <a:pt x="35" y="12"/>
                  </a:lnTo>
                  <a:lnTo>
                    <a:pt x="0" y="25"/>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54635" name="Rectangle 11"/>
            <p:cNvSpPr>
              <a:spLocks noChangeArrowheads="1"/>
            </p:cNvSpPr>
            <p:nvPr/>
          </p:nvSpPr>
          <p:spPr bwMode="auto">
            <a:xfrm>
              <a:off x="257" y="1365"/>
              <a:ext cx="257"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a:solidFill>
                    <a:srgbClr val="000000"/>
                  </a:solidFill>
                </a:rPr>
                <a:t>Power A</a:t>
              </a:r>
              <a:endParaRPr lang="en-US" altLang="en-US"/>
            </a:p>
          </p:txBody>
        </p:sp>
        <p:sp>
          <p:nvSpPr>
            <p:cNvPr id="154636" name="Rectangle 12"/>
            <p:cNvSpPr>
              <a:spLocks noChangeArrowheads="1"/>
            </p:cNvSpPr>
            <p:nvPr/>
          </p:nvSpPr>
          <p:spPr bwMode="auto">
            <a:xfrm>
              <a:off x="291" y="1560"/>
              <a:ext cx="226"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a:solidFill>
                    <a:srgbClr val="000000"/>
                  </a:solidFill>
                </a:rPr>
                <a:t>Pedal 1</a:t>
              </a:r>
              <a:endParaRPr lang="en-US" altLang="en-US"/>
            </a:p>
          </p:txBody>
        </p:sp>
        <p:sp>
          <p:nvSpPr>
            <p:cNvPr id="154637" name="Rectangle 13"/>
            <p:cNvSpPr>
              <a:spLocks noChangeArrowheads="1"/>
            </p:cNvSpPr>
            <p:nvPr/>
          </p:nvSpPr>
          <p:spPr bwMode="auto">
            <a:xfrm>
              <a:off x="175" y="1876"/>
              <a:ext cx="333"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a:solidFill>
                    <a:srgbClr val="000000"/>
                  </a:solidFill>
                </a:rPr>
                <a:t>Feed back </a:t>
              </a:r>
              <a:endParaRPr lang="en-US" altLang="en-US"/>
            </a:p>
          </p:txBody>
        </p:sp>
        <p:sp>
          <p:nvSpPr>
            <p:cNvPr id="154638" name="Rectangle 14"/>
            <p:cNvSpPr>
              <a:spLocks noChangeArrowheads="1"/>
            </p:cNvSpPr>
            <p:nvPr/>
          </p:nvSpPr>
          <p:spPr bwMode="auto">
            <a:xfrm>
              <a:off x="312" y="1770"/>
              <a:ext cx="157"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a:solidFill>
                    <a:srgbClr val="000000"/>
                  </a:solidFill>
                </a:rPr>
                <a:t>Plant</a:t>
              </a:r>
              <a:endParaRPr lang="en-US" altLang="en-US"/>
            </a:p>
          </p:txBody>
        </p:sp>
        <p:sp>
          <p:nvSpPr>
            <p:cNvPr id="154639" name="Rectangle 15"/>
            <p:cNvSpPr>
              <a:spLocks noChangeArrowheads="1"/>
            </p:cNvSpPr>
            <p:nvPr/>
          </p:nvSpPr>
          <p:spPr bwMode="auto">
            <a:xfrm>
              <a:off x="706" y="1913"/>
              <a:ext cx="326" cy="395"/>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54640" name="Rectangle 16"/>
            <p:cNvSpPr>
              <a:spLocks noChangeArrowheads="1"/>
            </p:cNvSpPr>
            <p:nvPr/>
          </p:nvSpPr>
          <p:spPr bwMode="auto">
            <a:xfrm>
              <a:off x="642" y="2460"/>
              <a:ext cx="442"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a:solidFill>
                    <a:srgbClr val="000000"/>
                  </a:solidFill>
                </a:rPr>
                <a:t>Fault Tolerant </a:t>
              </a:r>
              <a:endParaRPr lang="en-US" altLang="en-US"/>
            </a:p>
          </p:txBody>
        </p:sp>
        <p:sp>
          <p:nvSpPr>
            <p:cNvPr id="154641" name="Rectangle 17"/>
            <p:cNvSpPr>
              <a:spLocks noChangeArrowheads="1"/>
            </p:cNvSpPr>
            <p:nvPr/>
          </p:nvSpPr>
          <p:spPr bwMode="auto">
            <a:xfrm>
              <a:off x="657" y="2628"/>
              <a:ext cx="387"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a:solidFill>
                    <a:srgbClr val="000000"/>
                  </a:solidFill>
                </a:rPr>
                <a:t>Control Unit </a:t>
              </a:r>
              <a:endParaRPr lang="en-US" altLang="en-US"/>
            </a:p>
          </p:txBody>
        </p:sp>
        <p:sp>
          <p:nvSpPr>
            <p:cNvPr id="154642" name="Rectangle 18"/>
            <p:cNvSpPr>
              <a:spLocks noChangeArrowheads="1"/>
            </p:cNvSpPr>
            <p:nvPr/>
          </p:nvSpPr>
          <p:spPr bwMode="auto">
            <a:xfrm>
              <a:off x="729" y="2741"/>
              <a:ext cx="259"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a:solidFill>
                    <a:srgbClr val="000000"/>
                  </a:solidFill>
                </a:rPr>
                <a:t>( BSCU )</a:t>
              </a:r>
              <a:endParaRPr lang="en-US" altLang="en-US"/>
            </a:p>
          </p:txBody>
        </p:sp>
        <p:sp>
          <p:nvSpPr>
            <p:cNvPr id="154643" name="Rectangle 19"/>
            <p:cNvSpPr>
              <a:spLocks noChangeArrowheads="1"/>
            </p:cNvSpPr>
            <p:nvPr/>
          </p:nvSpPr>
          <p:spPr bwMode="auto">
            <a:xfrm>
              <a:off x="625" y="2542"/>
              <a:ext cx="504"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a:solidFill>
                    <a:srgbClr val="000000"/>
                  </a:solidFill>
                </a:rPr>
                <a:t>Braking System </a:t>
              </a:r>
              <a:endParaRPr lang="en-US" altLang="en-US"/>
            </a:p>
          </p:txBody>
        </p:sp>
        <p:sp>
          <p:nvSpPr>
            <p:cNvPr id="154644" name="Rectangle 20"/>
            <p:cNvSpPr>
              <a:spLocks noChangeArrowheads="1"/>
            </p:cNvSpPr>
            <p:nvPr/>
          </p:nvSpPr>
          <p:spPr bwMode="auto">
            <a:xfrm>
              <a:off x="709" y="1365"/>
              <a:ext cx="327" cy="395"/>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54645" name="Rectangle 21"/>
            <p:cNvSpPr>
              <a:spLocks noChangeArrowheads="1"/>
            </p:cNvSpPr>
            <p:nvPr/>
          </p:nvSpPr>
          <p:spPr bwMode="auto">
            <a:xfrm>
              <a:off x="741" y="1492"/>
              <a:ext cx="256" cy="1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900" b="1">
                  <a:solidFill>
                    <a:srgbClr val="000000"/>
                  </a:solidFill>
                </a:rPr>
                <a:t>System</a:t>
              </a:r>
            </a:p>
            <a:p>
              <a:pPr algn="ctr"/>
              <a:r>
                <a:rPr lang="en-US" altLang="en-US" sz="900" b="1">
                  <a:solidFill>
                    <a:srgbClr val="000000"/>
                  </a:solidFill>
                </a:rPr>
                <a:t> A</a:t>
              </a:r>
              <a:endParaRPr lang="en-US" altLang="en-US" sz="900"/>
            </a:p>
          </p:txBody>
        </p:sp>
        <p:sp>
          <p:nvSpPr>
            <p:cNvPr id="154646" name="Line 22"/>
            <p:cNvSpPr>
              <a:spLocks noChangeShapeType="1"/>
            </p:cNvSpPr>
            <p:nvPr/>
          </p:nvSpPr>
          <p:spPr bwMode="auto">
            <a:xfrm>
              <a:off x="391" y="2258"/>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4647" name="Freeform 23"/>
            <p:cNvSpPr>
              <a:spLocks/>
            </p:cNvSpPr>
            <p:nvPr/>
          </p:nvSpPr>
          <p:spPr bwMode="auto">
            <a:xfrm>
              <a:off x="508" y="2245"/>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54648" name="Rectangle 24"/>
            <p:cNvSpPr>
              <a:spLocks noChangeArrowheads="1"/>
            </p:cNvSpPr>
            <p:nvPr/>
          </p:nvSpPr>
          <p:spPr bwMode="auto">
            <a:xfrm>
              <a:off x="252" y="2174"/>
              <a:ext cx="257"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a:solidFill>
                    <a:srgbClr val="000000"/>
                  </a:solidFill>
                </a:rPr>
                <a:t>Power B</a:t>
              </a:r>
              <a:endParaRPr lang="en-US" altLang="en-US"/>
            </a:p>
          </p:txBody>
        </p:sp>
        <p:sp>
          <p:nvSpPr>
            <p:cNvPr id="154649" name="Line 25"/>
            <p:cNvSpPr>
              <a:spLocks noChangeShapeType="1"/>
            </p:cNvSpPr>
            <p:nvPr/>
          </p:nvSpPr>
          <p:spPr bwMode="auto">
            <a:xfrm>
              <a:off x="556" y="1448"/>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4650" name="Freeform 26"/>
            <p:cNvSpPr>
              <a:spLocks/>
            </p:cNvSpPr>
            <p:nvPr/>
          </p:nvSpPr>
          <p:spPr bwMode="auto">
            <a:xfrm>
              <a:off x="377" y="1816"/>
              <a:ext cx="171" cy="84"/>
            </a:xfrm>
            <a:custGeom>
              <a:avLst/>
              <a:gdLst>
                <a:gd name="T0" fmla="*/ 171 w 171"/>
                <a:gd name="T1" fmla="*/ 42 h 84"/>
                <a:gd name="T2" fmla="*/ 133 w 171"/>
                <a:gd name="T3" fmla="*/ 84 h 84"/>
                <a:gd name="T4" fmla="*/ 133 w 171"/>
                <a:gd name="T5" fmla="*/ 57 h 84"/>
                <a:gd name="T6" fmla="*/ 0 w 171"/>
                <a:gd name="T7" fmla="*/ 57 h 84"/>
                <a:gd name="T8" fmla="*/ 0 w 171"/>
                <a:gd name="T9" fmla="*/ 28 h 84"/>
                <a:gd name="T10" fmla="*/ 133 w 171"/>
                <a:gd name="T11" fmla="*/ 28 h 84"/>
                <a:gd name="T12" fmla="*/ 133 w 171"/>
                <a:gd name="T13" fmla="*/ 0 h 84"/>
                <a:gd name="T14" fmla="*/ 171 w 171"/>
                <a:gd name="T15" fmla="*/ 42 h 8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1" h="84">
                  <a:moveTo>
                    <a:pt x="171" y="42"/>
                  </a:moveTo>
                  <a:lnTo>
                    <a:pt x="133" y="84"/>
                  </a:lnTo>
                  <a:lnTo>
                    <a:pt x="133" y="57"/>
                  </a:lnTo>
                  <a:lnTo>
                    <a:pt x="0" y="57"/>
                  </a:lnTo>
                  <a:lnTo>
                    <a:pt x="0" y="28"/>
                  </a:lnTo>
                  <a:lnTo>
                    <a:pt x="133" y="28"/>
                  </a:lnTo>
                  <a:lnTo>
                    <a:pt x="133" y="0"/>
                  </a:lnTo>
                  <a:lnTo>
                    <a:pt x="171" y="42"/>
                  </a:lnTo>
                  <a:close/>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54651" name="Line 27"/>
            <p:cNvSpPr>
              <a:spLocks noChangeShapeType="1"/>
            </p:cNvSpPr>
            <p:nvPr/>
          </p:nvSpPr>
          <p:spPr bwMode="auto">
            <a:xfrm>
              <a:off x="399" y="2121"/>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4652" name="Freeform 28"/>
            <p:cNvSpPr>
              <a:spLocks/>
            </p:cNvSpPr>
            <p:nvPr/>
          </p:nvSpPr>
          <p:spPr bwMode="auto">
            <a:xfrm>
              <a:off x="516" y="2109"/>
              <a:ext cx="35" cy="25"/>
            </a:xfrm>
            <a:custGeom>
              <a:avLst/>
              <a:gdLst>
                <a:gd name="T0" fmla="*/ 0 w 35"/>
                <a:gd name="T1" fmla="*/ 0 h 25"/>
                <a:gd name="T2" fmla="*/ 35 w 35"/>
                <a:gd name="T3" fmla="*/ 12 h 25"/>
                <a:gd name="T4" fmla="*/ 0 w 35"/>
                <a:gd name="T5" fmla="*/ 25 h 25"/>
                <a:gd name="T6" fmla="*/ 0 w 35"/>
                <a:gd name="T7" fmla="*/ 0 h 25"/>
              </a:gdLst>
              <a:ahLst/>
              <a:cxnLst>
                <a:cxn ang="0">
                  <a:pos x="T0" y="T1"/>
                </a:cxn>
                <a:cxn ang="0">
                  <a:pos x="T2" y="T3"/>
                </a:cxn>
                <a:cxn ang="0">
                  <a:pos x="T4" y="T5"/>
                </a:cxn>
                <a:cxn ang="0">
                  <a:pos x="T6" y="T7"/>
                </a:cxn>
              </a:cxnLst>
              <a:rect l="0" t="0" r="r" b="b"/>
              <a:pathLst>
                <a:path w="35" h="25">
                  <a:moveTo>
                    <a:pt x="0" y="0"/>
                  </a:moveTo>
                  <a:lnTo>
                    <a:pt x="35" y="12"/>
                  </a:lnTo>
                  <a:lnTo>
                    <a:pt x="0" y="25"/>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54653" name="Rectangle 29"/>
            <p:cNvSpPr>
              <a:spLocks noChangeArrowheads="1"/>
            </p:cNvSpPr>
            <p:nvPr/>
          </p:nvSpPr>
          <p:spPr bwMode="auto">
            <a:xfrm>
              <a:off x="294" y="2037"/>
              <a:ext cx="226"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a:solidFill>
                    <a:srgbClr val="000000"/>
                  </a:solidFill>
                </a:rPr>
                <a:t>Pedal 2</a:t>
              </a:r>
              <a:endParaRPr lang="en-US" altLang="en-US"/>
            </a:p>
          </p:txBody>
        </p:sp>
        <p:sp>
          <p:nvSpPr>
            <p:cNvPr id="154654" name="Line 30"/>
            <p:cNvSpPr>
              <a:spLocks noChangeShapeType="1"/>
            </p:cNvSpPr>
            <p:nvPr/>
          </p:nvSpPr>
          <p:spPr bwMode="auto">
            <a:xfrm>
              <a:off x="550" y="2258"/>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4655" name="Line 31"/>
            <p:cNvSpPr>
              <a:spLocks noChangeShapeType="1"/>
            </p:cNvSpPr>
            <p:nvPr/>
          </p:nvSpPr>
          <p:spPr bwMode="auto">
            <a:xfrm>
              <a:off x="550" y="1643"/>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4656" name="Line 32"/>
            <p:cNvSpPr>
              <a:spLocks noChangeShapeType="1"/>
            </p:cNvSpPr>
            <p:nvPr/>
          </p:nvSpPr>
          <p:spPr bwMode="auto">
            <a:xfrm>
              <a:off x="550" y="2120"/>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4657" name="Line 33"/>
            <p:cNvSpPr>
              <a:spLocks noChangeShapeType="1"/>
            </p:cNvSpPr>
            <p:nvPr/>
          </p:nvSpPr>
          <p:spPr bwMode="auto">
            <a:xfrm>
              <a:off x="649" y="2069"/>
              <a:ext cx="57"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4658" name="Line 34"/>
            <p:cNvSpPr>
              <a:spLocks noChangeShapeType="1"/>
            </p:cNvSpPr>
            <p:nvPr/>
          </p:nvSpPr>
          <p:spPr bwMode="auto">
            <a:xfrm>
              <a:off x="1057" y="1682"/>
              <a:ext cx="1" cy="557"/>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4659" name="Line 35"/>
            <p:cNvSpPr>
              <a:spLocks noChangeShapeType="1"/>
            </p:cNvSpPr>
            <p:nvPr/>
          </p:nvSpPr>
          <p:spPr bwMode="auto">
            <a:xfrm>
              <a:off x="610" y="1594"/>
              <a:ext cx="9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4660" name="Line 36"/>
            <p:cNvSpPr>
              <a:spLocks noChangeShapeType="1"/>
            </p:cNvSpPr>
            <p:nvPr/>
          </p:nvSpPr>
          <p:spPr bwMode="auto">
            <a:xfrm flipH="1">
              <a:off x="610" y="1608"/>
              <a:ext cx="0" cy="513"/>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4661" name="Line 37"/>
            <p:cNvSpPr>
              <a:spLocks noChangeShapeType="1"/>
            </p:cNvSpPr>
            <p:nvPr/>
          </p:nvSpPr>
          <p:spPr bwMode="auto">
            <a:xfrm>
              <a:off x="549" y="1859"/>
              <a:ext cx="27"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4662" name="Line 38"/>
            <p:cNvSpPr>
              <a:spLocks noChangeShapeType="1"/>
            </p:cNvSpPr>
            <p:nvPr/>
          </p:nvSpPr>
          <p:spPr bwMode="auto">
            <a:xfrm flipH="1">
              <a:off x="579" y="1525"/>
              <a:ext cx="0" cy="666"/>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4663" name="Line 39"/>
            <p:cNvSpPr>
              <a:spLocks noChangeShapeType="1"/>
            </p:cNvSpPr>
            <p:nvPr/>
          </p:nvSpPr>
          <p:spPr bwMode="auto">
            <a:xfrm>
              <a:off x="579" y="1524"/>
              <a:ext cx="127"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4664" name="Line 40"/>
            <p:cNvSpPr>
              <a:spLocks noChangeShapeType="1"/>
            </p:cNvSpPr>
            <p:nvPr/>
          </p:nvSpPr>
          <p:spPr bwMode="auto">
            <a:xfrm flipV="1">
              <a:off x="579" y="2189"/>
              <a:ext cx="12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4665" name="Rectangle 41"/>
            <p:cNvSpPr>
              <a:spLocks noChangeArrowheads="1"/>
            </p:cNvSpPr>
            <p:nvPr/>
          </p:nvSpPr>
          <p:spPr bwMode="auto">
            <a:xfrm>
              <a:off x="729" y="2032"/>
              <a:ext cx="256" cy="1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900" b="1">
                  <a:solidFill>
                    <a:srgbClr val="000000"/>
                  </a:solidFill>
                </a:rPr>
                <a:t>System</a:t>
              </a:r>
            </a:p>
            <a:p>
              <a:pPr algn="ctr"/>
              <a:r>
                <a:rPr lang="en-US" altLang="en-US" sz="900" b="1">
                  <a:solidFill>
                    <a:srgbClr val="000000"/>
                  </a:solidFill>
                </a:rPr>
                <a:t> B</a:t>
              </a:r>
              <a:endParaRPr lang="en-US" altLang="en-US" sz="900"/>
            </a:p>
          </p:txBody>
        </p:sp>
        <p:sp>
          <p:nvSpPr>
            <p:cNvPr id="154666" name="Line 42"/>
            <p:cNvSpPr>
              <a:spLocks noChangeShapeType="1"/>
            </p:cNvSpPr>
            <p:nvPr/>
          </p:nvSpPr>
          <p:spPr bwMode="auto">
            <a:xfrm flipV="1">
              <a:off x="1038" y="1445"/>
              <a:ext cx="100"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4667" name="Line 43"/>
            <p:cNvSpPr>
              <a:spLocks noChangeShapeType="1"/>
            </p:cNvSpPr>
            <p:nvPr/>
          </p:nvSpPr>
          <p:spPr bwMode="auto">
            <a:xfrm flipV="1">
              <a:off x="1038" y="1555"/>
              <a:ext cx="5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4668" name="Line 44"/>
            <p:cNvSpPr>
              <a:spLocks noChangeShapeType="1"/>
            </p:cNvSpPr>
            <p:nvPr/>
          </p:nvSpPr>
          <p:spPr bwMode="auto">
            <a:xfrm>
              <a:off x="1036" y="1682"/>
              <a:ext cx="2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4669" name="Line 45"/>
            <p:cNvSpPr>
              <a:spLocks noChangeShapeType="1"/>
            </p:cNvSpPr>
            <p:nvPr/>
          </p:nvSpPr>
          <p:spPr bwMode="auto">
            <a:xfrm>
              <a:off x="1037" y="2001"/>
              <a:ext cx="90"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4670" name="Line 46"/>
            <p:cNvSpPr>
              <a:spLocks noChangeShapeType="1"/>
            </p:cNvSpPr>
            <p:nvPr/>
          </p:nvSpPr>
          <p:spPr bwMode="auto">
            <a:xfrm flipV="1">
              <a:off x="1037" y="2111"/>
              <a:ext cx="5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4671" name="Line 47"/>
            <p:cNvSpPr>
              <a:spLocks noChangeShapeType="1"/>
            </p:cNvSpPr>
            <p:nvPr/>
          </p:nvSpPr>
          <p:spPr bwMode="auto">
            <a:xfrm flipV="1">
              <a:off x="1035" y="2237"/>
              <a:ext cx="2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4672" name="Line 48"/>
            <p:cNvSpPr>
              <a:spLocks noChangeShapeType="1"/>
            </p:cNvSpPr>
            <p:nvPr/>
          </p:nvSpPr>
          <p:spPr bwMode="auto">
            <a:xfrm>
              <a:off x="1089" y="1841"/>
              <a:ext cx="91"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4673" name="Line 49"/>
            <p:cNvSpPr>
              <a:spLocks noChangeShapeType="1"/>
            </p:cNvSpPr>
            <p:nvPr/>
          </p:nvSpPr>
          <p:spPr bwMode="auto">
            <a:xfrm>
              <a:off x="646" y="1650"/>
              <a:ext cx="6" cy="41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4674" name="Line 50"/>
            <p:cNvSpPr>
              <a:spLocks noChangeShapeType="1"/>
            </p:cNvSpPr>
            <p:nvPr/>
          </p:nvSpPr>
          <p:spPr bwMode="auto">
            <a:xfrm>
              <a:off x="1127" y="1444"/>
              <a:ext cx="1" cy="557"/>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4675" name="Line 51"/>
            <p:cNvSpPr>
              <a:spLocks noChangeShapeType="1"/>
            </p:cNvSpPr>
            <p:nvPr/>
          </p:nvSpPr>
          <p:spPr bwMode="auto">
            <a:xfrm flipV="1">
              <a:off x="1127" y="1515"/>
              <a:ext cx="53"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4676" name="Line 52"/>
            <p:cNvSpPr>
              <a:spLocks noChangeShapeType="1"/>
            </p:cNvSpPr>
            <p:nvPr/>
          </p:nvSpPr>
          <p:spPr bwMode="auto">
            <a:xfrm>
              <a:off x="1089" y="1554"/>
              <a:ext cx="3" cy="555"/>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4677" name="Line 53"/>
            <p:cNvSpPr>
              <a:spLocks noChangeShapeType="1"/>
            </p:cNvSpPr>
            <p:nvPr/>
          </p:nvSpPr>
          <p:spPr bwMode="auto">
            <a:xfrm>
              <a:off x="1057" y="2177"/>
              <a:ext cx="123"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grpSp>
      <p:grpSp>
        <p:nvGrpSpPr>
          <p:cNvPr id="5" name="Group 54"/>
          <p:cNvGrpSpPr>
            <a:grpSpLocks/>
          </p:cNvGrpSpPr>
          <p:nvPr/>
        </p:nvGrpSpPr>
        <p:grpSpPr bwMode="auto">
          <a:xfrm>
            <a:off x="1876425" y="1412875"/>
            <a:ext cx="2941638" cy="3205163"/>
            <a:chOff x="1176" y="890"/>
            <a:chExt cx="1853" cy="2019"/>
          </a:xfrm>
        </p:grpSpPr>
        <p:sp>
          <p:nvSpPr>
            <p:cNvPr id="154679" name="Rectangle 55"/>
            <p:cNvSpPr>
              <a:spLocks noChangeArrowheads="1"/>
            </p:cNvSpPr>
            <p:nvPr/>
          </p:nvSpPr>
          <p:spPr bwMode="auto">
            <a:xfrm>
              <a:off x="1780" y="1605"/>
              <a:ext cx="748" cy="84"/>
            </a:xfrm>
            <a:prstGeom prst="rect">
              <a:avLst/>
            </a:prstGeom>
            <a:solidFill>
              <a:srgbClr val="C0C0C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
          <p:nvSpPr>
            <p:cNvPr id="154680" name="Rectangle 56"/>
            <p:cNvSpPr>
              <a:spLocks noChangeArrowheads="1"/>
            </p:cNvSpPr>
            <p:nvPr/>
          </p:nvSpPr>
          <p:spPr bwMode="auto">
            <a:xfrm>
              <a:off x="1780" y="1605"/>
              <a:ext cx="748" cy="84"/>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54681" name="Line 57"/>
            <p:cNvSpPr>
              <a:spLocks noChangeShapeType="1"/>
            </p:cNvSpPr>
            <p:nvPr/>
          </p:nvSpPr>
          <p:spPr bwMode="auto">
            <a:xfrm>
              <a:off x="1889" y="1647"/>
              <a:ext cx="549"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4682" name="Freeform 58"/>
            <p:cNvSpPr>
              <a:spLocks/>
            </p:cNvSpPr>
            <p:nvPr/>
          </p:nvSpPr>
          <p:spPr bwMode="auto">
            <a:xfrm>
              <a:off x="1856" y="1634"/>
              <a:ext cx="35" cy="26"/>
            </a:xfrm>
            <a:custGeom>
              <a:avLst/>
              <a:gdLst>
                <a:gd name="T0" fmla="*/ 35 w 35"/>
                <a:gd name="T1" fmla="*/ 26 h 26"/>
                <a:gd name="T2" fmla="*/ 0 w 35"/>
                <a:gd name="T3" fmla="*/ 13 h 26"/>
                <a:gd name="T4" fmla="*/ 35 w 35"/>
                <a:gd name="T5" fmla="*/ 0 h 26"/>
                <a:gd name="T6" fmla="*/ 35 w 35"/>
                <a:gd name="T7" fmla="*/ 26 h 26"/>
              </a:gdLst>
              <a:ahLst/>
              <a:cxnLst>
                <a:cxn ang="0">
                  <a:pos x="T0" y="T1"/>
                </a:cxn>
                <a:cxn ang="0">
                  <a:pos x="T2" y="T3"/>
                </a:cxn>
                <a:cxn ang="0">
                  <a:pos x="T4" y="T5"/>
                </a:cxn>
                <a:cxn ang="0">
                  <a:pos x="T6" y="T7"/>
                </a:cxn>
              </a:cxnLst>
              <a:rect l="0" t="0" r="r" b="b"/>
              <a:pathLst>
                <a:path w="35" h="26">
                  <a:moveTo>
                    <a:pt x="35" y="26"/>
                  </a:moveTo>
                  <a:lnTo>
                    <a:pt x="0" y="13"/>
                  </a:lnTo>
                  <a:lnTo>
                    <a:pt x="35" y="0"/>
                  </a:lnTo>
                  <a:lnTo>
                    <a:pt x="35" y="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54683" name="Freeform 59"/>
            <p:cNvSpPr>
              <a:spLocks/>
            </p:cNvSpPr>
            <p:nvPr/>
          </p:nvSpPr>
          <p:spPr bwMode="auto">
            <a:xfrm>
              <a:off x="2435" y="1634"/>
              <a:ext cx="36" cy="26"/>
            </a:xfrm>
            <a:custGeom>
              <a:avLst/>
              <a:gdLst>
                <a:gd name="T0" fmla="*/ 0 w 36"/>
                <a:gd name="T1" fmla="*/ 0 h 26"/>
                <a:gd name="T2" fmla="*/ 36 w 36"/>
                <a:gd name="T3" fmla="*/ 13 h 26"/>
                <a:gd name="T4" fmla="*/ 0 w 36"/>
                <a:gd name="T5" fmla="*/ 26 h 26"/>
                <a:gd name="T6" fmla="*/ 0 w 36"/>
                <a:gd name="T7" fmla="*/ 0 h 26"/>
              </a:gdLst>
              <a:ahLst/>
              <a:cxnLst>
                <a:cxn ang="0">
                  <a:pos x="T0" y="T1"/>
                </a:cxn>
                <a:cxn ang="0">
                  <a:pos x="T2" y="T3"/>
                </a:cxn>
                <a:cxn ang="0">
                  <a:pos x="T4" y="T5"/>
                </a:cxn>
                <a:cxn ang="0">
                  <a:pos x="T6" y="T7"/>
                </a:cxn>
              </a:cxnLst>
              <a:rect l="0" t="0" r="r" b="b"/>
              <a:pathLst>
                <a:path w="36" h="26">
                  <a:moveTo>
                    <a:pt x="0" y="0"/>
                  </a:moveTo>
                  <a:lnTo>
                    <a:pt x="36"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54684" name="Rectangle 60"/>
            <p:cNvSpPr>
              <a:spLocks noChangeArrowheads="1"/>
            </p:cNvSpPr>
            <p:nvPr/>
          </p:nvSpPr>
          <p:spPr bwMode="auto">
            <a:xfrm>
              <a:off x="1742" y="974"/>
              <a:ext cx="229" cy="16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
          <p:nvSpPr>
            <p:cNvPr id="154685" name="Rectangle 61"/>
            <p:cNvSpPr>
              <a:spLocks noChangeArrowheads="1"/>
            </p:cNvSpPr>
            <p:nvPr/>
          </p:nvSpPr>
          <p:spPr bwMode="auto">
            <a:xfrm>
              <a:off x="1742" y="974"/>
              <a:ext cx="229" cy="169"/>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54686" name="Freeform 62"/>
            <p:cNvSpPr>
              <a:spLocks/>
            </p:cNvSpPr>
            <p:nvPr/>
          </p:nvSpPr>
          <p:spPr bwMode="auto">
            <a:xfrm>
              <a:off x="1780" y="974"/>
              <a:ext cx="153" cy="169"/>
            </a:xfrm>
            <a:custGeom>
              <a:avLst/>
              <a:gdLst>
                <a:gd name="T0" fmla="*/ 0 w 768"/>
                <a:gd name="T1" fmla="*/ 384 h 768"/>
                <a:gd name="T2" fmla="*/ 384 w 768"/>
                <a:gd name="T3" fmla="*/ 0 h 768"/>
                <a:gd name="T4" fmla="*/ 768 w 768"/>
                <a:gd name="T5" fmla="*/ 384 h 768"/>
                <a:gd name="T6" fmla="*/ 768 w 768"/>
                <a:gd name="T7" fmla="*/ 384 h 768"/>
                <a:gd name="T8" fmla="*/ 384 w 768"/>
                <a:gd name="T9" fmla="*/ 768 h 768"/>
                <a:gd name="T10" fmla="*/ 0 w 768"/>
                <a:gd name="T11" fmla="*/ 384 h 768"/>
              </a:gdLst>
              <a:ahLst/>
              <a:cxnLst>
                <a:cxn ang="0">
                  <a:pos x="T0" y="T1"/>
                </a:cxn>
                <a:cxn ang="0">
                  <a:pos x="T2" y="T3"/>
                </a:cxn>
                <a:cxn ang="0">
                  <a:pos x="T4" y="T5"/>
                </a:cxn>
                <a:cxn ang="0">
                  <a:pos x="T6" y="T7"/>
                </a:cxn>
                <a:cxn ang="0">
                  <a:pos x="T8" y="T9"/>
                </a:cxn>
                <a:cxn ang="0">
                  <a:pos x="T10" y="T11"/>
                </a:cxn>
              </a:cxnLst>
              <a:rect l="0" t="0" r="r" b="b"/>
              <a:pathLst>
                <a:path w="768" h="768">
                  <a:moveTo>
                    <a:pt x="0" y="384"/>
                  </a:moveTo>
                  <a:cubicBezTo>
                    <a:pt x="0" y="172"/>
                    <a:pt x="172" y="0"/>
                    <a:pt x="384" y="0"/>
                  </a:cubicBezTo>
                  <a:cubicBezTo>
                    <a:pt x="596" y="0"/>
                    <a:pt x="768" y="172"/>
                    <a:pt x="768" y="384"/>
                  </a:cubicBezTo>
                  <a:cubicBezTo>
                    <a:pt x="768" y="384"/>
                    <a:pt x="768" y="384"/>
                    <a:pt x="768" y="384"/>
                  </a:cubicBezTo>
                  <a:cubicBezTo>
                    <a:pt x="768" y="596"/>
                    <a:pt x="596" y="768"/>
                    <a:pt x="384" y="768"/>
                  </a:cubicBezTo>
                  <a:cubicBezTo>
                    <a:pt x="172" y="768"/>
                    <a:pt x="0" y="596"/>
                    <a:pt x="0" y="384"/>
                  </a:cubicBezTo>
                </a:path>
              </a:pathLst>
            </a:custGeom>
            <a:solidFill>
              <a:srgbClr val="00FF00"/>
            </a:solidFill>
            <a:ln w="0">
              <a:solidFill>
                <a:srgbClr val="000000"/>
              </a:solidFill>
              <a:prstDash val="solid"/>
              <a:round/>
              <a:headEnd/>
              <a:tailEnd/>
            </a:ln>
          </p:spPr>
          <p:txBody>
            <a:bodyPr/>
            <a:lstStyle/>
            <a:p>
              <a:endParaRPr lang="en-US"/>
            </a:p>
          </p:txBody>
        </p:sp>
        <p:sp>
          <p:nvSpPr>
            <p:cNvPr id="154687" name="Freeform 63"/>
            <p:cNvSpPr>
              <a:spLocks/>
            </p:cNvSpPr>
            <p:nvPr/>
          </p:nvSpPr>
          <p:spPr bwMode="auto">
            <a:xfrm>
              <a:off x="1780" y="974"/>
              <a:ext cx="153" cy="169"/>
            </a:xfrm>
            <a:custGeom>
              <a:avLst/>
              <a:gdLst>
                <a:gd name="T0" fmla="*/ 0 w 153"/>
                <a:gd name="T1" fmla="*/ 84 h 169"/>
                <a:gd name="T2" fmla="*/ 76 w 153"/>
                <a:gd name="T3" fmla="*/ 0 h 169"/>
                <a:gd name="T4" fmla="*/ 153 w 153"/>
                <a:gd name="T5" fmla="*/ 84 h 169"/>
                <a:gd name="T6" fmla="*/ 153 w 153"/>
                <a:gd name="T7" fmla="*/ 84 h 169"/>
                <a:gd name="T8" fmla="*/ 76 w 153"/>
                <a:gd name="T9" fmla="*/ 169 h 169"/>
                <a:gd name="T10" fmla="*/ 0 w 153"/>
                <a:gd name="T11" fmla="*/ 84 h 169"/>
              </a:gdLst>
              <a:ahLst/>
              <a:cxnLst>
                <a:cxn ang="0">
                  <a:pos x="T0" y="T1"/>
                </a:cxn>
                <a:cxn ang="0">
                  <a:pos x="T2" y="T3"/>
                </a:cxn>
                <a:cxn ang="0">
                  <a:pos x="T4" y="T5"/>
                </a:cxn>
                <a:cxn ang="0">
                  <a:pos x="T6" y="T7"/>
                </a:cxn>
                <a:cxn ang="0">
                  <a:pos x="T8" y="T9"/>
                </a:cxn>
                <a:cxn ang="0">
                  <a:pos x="T10" y="T11"/>
                </a:cxn>
              </a:cxnLst>
              <a:rect l="0" t="0" r="r" b="b"/>
              <a:pathLst>
                <a:path w="153" h="169">
                  <a:moveTo>
                    <a:pt x="0" y="84"/>
                  </a:moveTo>
                  <a:cubicBezTo>
                    <a:pt x="0" y="38"/>
                    <a:pt x="34" y="0"/>
                    <a:pt x="76" y="0"/>
                  </a:cubicBezTo>
                  <a:cubicBezTo>
                    <a:pt x="118" y="0"/>
                    <a:pt x="153" y="38"/>
                    <a:pt x="153" y="84"/>
                  </a:cubicBezTo>
                  <a:cubicBezTo>
                    <a:pt x="153" y="84"/>
                    <a:pt x="153" y="84"/>
                    <a:pt x="153" y="84"/>
                  </a:cubicBezTo>
                  <a:cubicBezTo>
                    <a:pt x="153" y="131"/>
                    <a:pt x="118" y="169"/>
                    <a:pt x="76" y="169"/>
                  </a:cubicBezTo>
                  <a:cubicBezTo>
                    <a:pt x="34" y="169"/>
                    <a:pt x="0" y="131"/>
                    <a:pt x="0" y="84"/>
                  </a:cubicBez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54688" name="Rectangle 64"/>
            <p:cNvSpPr>
              <a:spLocks noChangeArrowheads="1"/>
            </p:cNvSpPr>
            <p:nvPr/>
          </p:nvSpPr>
          <p:spPr bwMode="auto">
            <a:xfrm>
              <a:off x="2261" y="974"/>
              <a:ext cx="229" cy="16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
          <p:nvSpPr>
            <p:cNvPr id="154689" name="Rectangle 65"/>
            <p:cNvSpPr>
              <a:spLocks noChangeArrowheads="1"/>
            </p:cNvSpPr>
            <p:nvPr/>
          </p:nvSpPr>
          <p:spPr bwMode="auto">
            <a:xfrm>
              <a:off x="2261" y="974"/>
              <a:ext cx="229" cy="169"/>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54690" name="Freeform 66"/>
            <p:cNvSpPr>
              <a:spLocks/>
            </p:cNvSpPr>
            <p:nvPr/>
          </p:nvSpPr>
          <p:spPr bwMode="auto">
            <a:xfrm>
              <a:off x="2299" y="974"/>
              <a:ext cx="153" cy="169"/>
            </a:xfrm>
            <a:custGeom>
              <a:avLst/>
              <a:gdLst>
                <a:gd name="T0" fmla="*/ 0 w 768"/>
                <a:gd name="T1" fmla="*/ 384 h 768"/>
                <a:gd name="T2" fmla="*/ 384 w 768"/>
                <a:gd name="T3" fmla="*/ 0 h 768"/>
                <a:gd name="T4" fmla="*/ 768 w 768"/>
                <a:gd name="T5" fmla="*/ 384 h 768"/>
                <a:gd name="T6" fmla="*/ 768 w 768"/>
                <a:gd name="T7" fmla="*/ 384 h 768"/>
                <a:gd name="T8" fmla="*/ 384 w 768"/>
                <a:gd name="T9" fmla="*/ 768 h 768"/>
                <a:gd name="T10" fmla="*/ 0 w 768"/>
                <a:gd name="T11" fmla="*/ 384 h 768"/>
              </a:gdLst>
              <a:ahLst/>
              <a:cxnLst>
                <a:cxn ang="0">
                  <a:pos x="T0" y="T1"/>
                </a:cxn>
                <a:cxn ang="0">
                  <a:pos x="T2" y="T3"/>
                </a:cxn>
                <a:cxn ang="0">
                  <a:pos x="T4" y="T5"/>
                </a:cxn>
                <a:cxn ang="0">
                  <a:pos x="T6" y="T7"/>
                </a:cxn>
                <a:cxn ang="0">
                  <a:pos x="T8" y="T9"/>
                </a:cxn>
                <a:cxn ang="0">
                  <a:pos x="T10" y="T11"/>
                </a:cxn>
              </a:cxnLst>
              <a:rect l="0" t="0" r="r" b="b"/>
              <a:pathLst>
                <a:path w="768" h="768">
                  <a:moveTo>
                    <a:pt x="0" y="384"/>
                  </a:moveTo>
                  <a:cubicBezTo>
                    <a:pt x="0" y="172"/>
                    <a:pt x="172" y="0"/>
                    <a:pt x="384" y="0"/>
                  </a:cubicBezTo>
                  <a:cubicBezTo>
                    <a:pt x="596" y="0"/>
                    <a:pt x="768" y="172"/>
                    <a:pt x="768" y="384"/>
                  </a:cubicBezTo>
                  <a:cubicBezTo>
                    <a:pt x="768" y="384"/>
                    <a:pt x="768" y="384"/>
                    <a:pt x="768" y="384"/>
                  </a:cubicBezTo>
                  <a:cubicBezTo>
                    <a:pt x="768" y="596"/>
                    <a:pt x="596" y="768"/>
                    <a:pt x="384" y="768"/>
                  </a:cubicBezTo>
                  <a:cubicBezTo>
                    <a:pt x="172" y="768"/>
                    <a:pt x="0" y="596"/>
                    <a:pt x="0" y="384"/>
                  </a:cubicBezTo>
                </a:path>
              </a:pathLst>
            </a:custGeom>
            <a:solidFill>
              <a:srgbClr val="0000FF"/>
            </a:solidFill>
            <a:ln w="0">
              <a:solidFill>
                <a:srgbClr val="000000"/>
              </a:solidFill>
              <a:prstDash val="solid"/>
              <a:round/>
              <a:headEnd/>
              <a:tailEnd/>
            </a:ln>
          </p:spPr>
          <p:txBody>
            <a:bodyPr/>
            <a:lstStyle/>
            <a:p>
              <a:endParaRPr lang="en-US"/>
            </a:p>
          </p:txBody>
        </p:sp>
        <p:sp>
          <p:nvSpPr>
            <p:cNvPr id="154691" name="Freeform 67"/>
            <p:cNvSpPr>
              <a:spLocks/>
            </p:cNvSpPr>
            <p:nvPr/>
          </p:nvSpPr>
          <p:spPr bwMode="auto">
            <a:xfrm>
              <a:off x="2299" y="974"/>
              <a:ext cx="153" cy="169"/>
            </a:xfrm>
            <a:custGeom>
              <a:avLst/>
              <a:gdLst>
                <a:gd name="T0" fmla="*/ 0 w 153"/>
                <a:gd name="T1" fmla="*/ 84 h 169"/>
                <a:gd name="T2" fmla="*/ 76 w 153"/>
                <a:gd name="T3" fmla="*/ 0 h 169"/>
                <a:gd name="T4" fmla="*/ 153 w 153"/>
                <a:gd name="T5" fmla="*/ 84 h 169"/>
                <a:gd name="T6" fmla="*/ 153 w 153"/>
                <a:gd name="T7" fmla="*/ 84 h 169"/>
                <a:gd name="T8" fmla="*/ 76 w 153"/>
                <a:gd name="T9" fmla="*/ 169 h 169"/>
                <a:gd name="T10" fmla="*/ 0 w 153"/>
                <a:gd name="T11" fmla="*/ 84 h 169"/>
              </a:gdLst>
              <a:ahLst/>
              <a:cxnLst>
                <a:cxn ang="0">
                  <a:pos x="T0" y="T1"/>
                </a:cxn>
                <a:cxn ang="0">
                  <a:pos x="T2" y="T3"/>
                </a:cxn>
                <a:cxn ang="0">
                  <a:pos x="T4" y="T5"/>
                </a:cxn>
                <a:cxn ang="0">
                  <a:pos x="T6" y="T7"/>
                </a:cxn>
                <a:cxn ang="0">
                  <a:pos x="T8" y="T9"/>
                </a:cxn>
                <a:cxn ang="0">
                  <a:pos x="T10" y="T11"/>
                </a:cxn>
              </a:cxnLst>
              <a:rect l="0" t="0" r="r" b="b"/>
              <a:pathLst>
                <a:path w="153" h="169">
                  <a:moveTo>
                    <a:pt x="0" y="84"/>
                  </a:moveTo>
                  <a:cubicBezTo>
                    <a:pt x="0" y="38"/>
                    <a:pt x="34" y="0"/>
                    <a:pt x="76" y="0"/>
                  </a:cubicBezTo>
                  <a:cubicBezTo>
                    <a:pt x="118" y="0"/>
                    <a:pt x="153" y="38"/>
                    <a:pt x="153" y="84"/>
                  </a:cubicBezTo>
                  <a:cubicBezTo>
                    <a:pt x="153" y="84"/>
                    <a:pt x="153" y="84"/>
                    <a:pt x="153" y="84"/>
                  </a:cubicBezTo>
                  <a:cubicBezTo>
                    <a:pt x="153" y="131"/>
                    <a:pt x="118" y="169"/>
                    <a:pt x="76" y="169"/>
                  </a:cubicBezTo>
                  <a:cubicBezTo>
                    <a:pt x="34" y="169"/>
                    <a:pt x="0" y="131"/>
                    <a:pt x="0" y="84"/>
                  </a:cubicBez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54692" name="Rectangle 68"/>
            <p:cNvSpPr>
              <a:spLocks noChangeArrowheads="1"/>
            </p:cNvSpPr>
            <p:nvPr/>
          </p:nvSpPr>
          <p:spPr bwMode="auto">
            <a:xfrm>
              <a:off x="2680" y="1815"/>
              <a:ext cx="229" cy="16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
          <p:nvSpPr>
            <p:cNvPr id="154693" name="Rectangle 69"/>
            <p:cNvSpPr>
              <a:spLocks noChangeArrowheads="1"/>
            </p:cNvSpPr>
            <p:nvPr/>
          </p:nvSpPr>
          <p:spPr bwMode="auto">
            <a:xfrm>
              <a:off x="2680" y="1815"/>
              <a:ext cx="229" cy="169"/>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54694" name="Freeform 70"/>
            <p:cNvSpPr>
              <a:spLocks/>
            </p:cNvSpPr>
            <p:nvPr/>
          </p:nvSpPr>
          <p:spPr bwMode="auto">
            <a:xfrm>
              <a:off x="2719" y="1815"/>
              <a:ext cx="152" cy="169"/>
            </a:xfrm>
            <a:custGeom>
              <a:avLst/>
              <a:gdLst>
                <a:gd name="T0" fmla="*/ 0 w 768"/>
                <a:gd name="T1" fmla="*/ 384 h 768"/>
                <a:gd name="T2" fmla="*/ 384 w 768"/>
                <a:gd name="T3" fmla="*/ 0 h 768"/>
                <a:gd name="T4" fmla="*/ 768 w 768"/>
                <a:gd name="T5" fmla="*/ 384 h 768"/>
                <a:gd name="T6" fmla="*/ 768 w 768"/>
                <a:gd name="T7" fmla="*/ 384 h 768"/>
                <a:gd name="T8" fmla="*/ 384 w 768"/>
                <a:gd name="T9" fmla="*/ 768 h 768"/>
                <a:gd name="T10" fmla="*/ 0 w 768"/>
                <a:gd name="T11" fmla="*/ 384 h 768"/>
              </a:gdLst>
              <a:ahLst/>
              <a:cxnLst>
                <a:cxn ang="0">
                  <a:pos x="T0" y="T1"/>
                </a:cxn>
                <a:cxn ang="0">
                  <a:pos x="T2" y="T3"/>
                </a:cxn>
                <a:cxn ang="0">
                  <a:pos x="T4" y="T5"/>
                </a:cxn>
                <a:cxn ang="0">
                  <a:pos x="T6" y="T7"/>
                </a:cxn>
                <a:cxn ang="0">
                  <a:pos x="T8" y="T9"/>
                </a:cxn>
                <a:cxn ang="0">
                  <a:pos x="T10" y="T11"/>
                </a:cxn>
              </a:cxnLst>
              <a:rect l="0" t="0" r="r" b="b"/>
              <a:pathLst>
                <a:path w="768" h="768">
                  <a:moveTo>
                    <a:pt x="0" y="384"/>
                  </a:moveTo>
                  <a:cubicBezTo>
                    <a:pt x="0" y="172"/>
                    <a:pt x="172" y="0"/>
                    <a:pt x="384" y="0"/>
                  </a:cubicBezTo>
                  <a:cubicBezTo>
                    <a:pt x="596" y="0"/>
                    <a:pt x="768" y="172"/>
                    <a:pt x="768" y="384"/>
                  </a:cubicBezTo>
                  <a:cubicBezTo>
                    <a:pt x="768" y="384"/>
                    <a:pt x="768" y="384"/>
                    <a:pt x="768" y="384"/>
                  </a:cubicBezTo>
                  <a:cubicBezTo>
                    <a:pt x="768" y="596"/>
                    <a:pt x="596" y="768"/>
                    <a:pt x="384" y="768"/>
                  </a:cubicBezTo>
                  <a:cubicBezTo>
                    <a:pt x="172" y="768"/>
                    <a:pt x="0" y="596"/>
                    <a:pt x="0" y="384"/>
                  </a:cubicBezTo>
                </a:path>
              </a:pathLst>
            </a:custGeom>
            <a:solidFill>
              <a:srgbClr val="FFFFFF"/>
            </a:solidFill>
            <a:ln w="0">
              <a:solidFill>
                <a:srgbClr val="000000"/>
              </a:solidFill>
              <a:prstDash val="solid"/>
              <a:round/>
              <a:headEnd/>
              <a:tailEnd/>
            </a:ln>
          </p:spPr>
          <p:txBody>
            <a:bodyPr/>
            <a:lstStyle/>
            <a:p>
              <a:endParaRPr lang="en-US"/>
            </a:p>
          </p:txBody>
        </p:sp>
        <p:sp>
          <p:nvSpPr>
            <p:cNvPr id="154695" name="Freeform 71"/>
            <p:cNvSpPr>
              <a:spLocks/>
            </p:cNvSpPr>
            <p:nvPr/>
          </p:nvSpPr>
          <p:spPr bwMode="auto">
            <a:xfrm>
              <a:off x="2719" y="1815"/>
              <a:ext cx="152" cy="169"/>
            </a:xfrm>
            <a:custGeom>
              <a:avLst/>
              <a:gdLst>
                <a:gd name="T0" fmla="*/ 0 w 152"/>
                <a:gd name="T1" fmla="*/ 84 h 169"/>
                <a:gd name="T2" fmla="*/ 76 w 152"/>
                <a:gd name="T3" fmla="*/ 0 h 169"/>
                <a:gd name="T4" fmla="*/ 152 w 152"/>
                <a:gd name="T5" fmla="*/ 84 h 169"/>
                <a:gd name="T6" fmla="*/ 152 w 152"/>
                <a:gd name="T7" fmla="*/ 84 h 169"/>
                <a:gd name="T8" fmla="*/ 76 w 152"/>
                <a:gd name="T9" fmla="*/ 169 h 169"/>
                <a:gd name="T10" fmla="*/ 0 w 152"/>
                <a:gd name="T11" fmla="*/ 84 h 169"/>
              </a:gdLst>
              <a:ahLst/>
              <a:cxnLst>
                <a:cxn ang="0">
                  <a:pos x="T0" y="T1"/>
                </a:cxn>
                <a:cxn ang="0">
                  <a:pos x="T2" y="T3"/>
                </a:cxn>
                <a:cxn ang="0">
                  <a:pos x="T4" y="T5"/>
                </a:cxn>
                <a:cxn ang="0">
                  <a:pos x="T6" y="T7"/>
                </a:cxn>
                <a:cxn ang="0">
                  <a:pos x="T8" y="T9"/>
                </a:cxn>
                <a:cxn ang="0">
                  <a:pos x="T10" y="T11"/>
                </a:cxn>
              </a:cxnLst>
              <a:rect l="0" t="0" r="r" b="b"/>
              <a:pathLst>
                <a:path w="152" h="169">
                  <a:moveTo>
                    <a:pt x="0" y="84"/>
                  </a:moveTo>
                  <a:cubicBezTo>
                    <a:pt x="0" y="38"/>
                    <a:pt x="34" y="0"/>
                    <a:pt x="76" y="0"/>
                  </a:cubicBezTo>
                  <a:cubicBezTo>
                    <a:pt x="118" y="0"/>
                    <a:pt x="152" y="38"/>
                    <a:pt x="152" y="84"/>
                  </a:cubicBezTo>
                  <a:cubicBezTo>
                    <a:pt x="152" y="84"/>
                    <a:pt x="152" y="84"/>
                    <a:pt x="152" y="84"/>
                  </a:cubicBezTo>
                  <a:cubicBezTo>
                    <a:pt x="152" y="131"/>
                    <a:pt x="118" y="169"/>
                    <a:pt x="76" y="169"/>
                  </a:cubicBezTo>
                  <a:cubicBezTo>
                    <a:pt x="34" y="169"/>
                    <a:pt x="0" y="131"/>
                    <a:pt x="0" y="84"/>
                  </a:cubicBez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54696" name="Rectangle 72"/>
            <p:cNvSpPr>
              <a:spLocks noChangeArrowheads="1"/>
            </p:cNvSpPr>
            <p:nvPr/>
          </p:nvSpPr>
          <p:spPr bwMode="auto">
            <a:xfrm>
              <a:off x="1809" y="1269"/>
              <a:ext cx="114" cy="126"/>
            </a:xfrm>
            <a:prstGeom prst="rect">
              <a:avLst/>
            </a:prstGeom>
            <a:solidFill>
              <a:srgbClr val="00FF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
          <p:nvSpPr>
            <p:cNvPr id="154697" name="Rectangle 73"/>
            <p:cNvSpPr>
              <a:spLocks noChangeArrowheads="1"/>
            </p:cNvSpPr>
            <p:nvPr/>
          </p:nvSpPr>
          <p:spPr bwMode="auto">
            <a:xfrm>
              <a:off x="1809" y="1269"/>
              <a:ext cx="114" cy="126"/>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54698" name="Rectangle 74"/>
            <p:cNvSpPr>
              <a:spLocks noChangeArrowheads="1"/>
            </p:cNvSpPr>
            <p:nvPr/>
          </p:nvSpPr>
          <p:spPr bwMode="auto">
            <a:xfrm>
              <a:off x="2328" y="1269"/>
              <a:ext cx="114" cy="126"/>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
          <p:nvSpPr>
            <p:cNvPr id="154699" name="Rectangle 75"/>
            <p:cNvSpPr>
              <a:spLocks noChangeArrowheads="1"/>
            </p:cNvSpPr>
            <p:nvPr/>
          </p:nvSpPr>
          <p:spPr bwMode="auto">
            <a:xfrm>
              <a:off x="2328" y="1269"/>
              <a:ext cx="114" cy="126"/>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54700" name="Rectangle 76"/>
            <p:cNvSpPr>
              <a:spLocks noChangeArrowheads="1"/>
            </p:cNvSpPr>
            <p:nvPr/>
          </p:nvSpPr>
          <p:spPr bwMode="auto">
            <a:xfrm>
              <a:off x="2299" y="1857"/>
              <a:ext cx="114" cy="127"/>
            </a:xfrm>
            <a:prstGeom prst="rect">
              <a:avLst/>
            </a:prstGeom>
            <a:solidFill>
              <a:srgbClr val="C0C0C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
          <p:nvSpPr>
            <p:cNvPr id="154701" name="Rectangle 77"/>
            <p:cNvSpPr>
              <a:spLocks noChangeArrowheads="1"/>
            </p:cNvSpPr>
            <p:nvPr/>
          </p:nvSpPr>
          <p:spPr bwMode="auto">
            <a:xfrm>
              <a:off x="2299" y="1857"/>
              <a:ext cx="114" cy="127"/>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54702" name="Rectangle 78"/>
            <p:cNvSpPr>
              <a:spLocks noChangeArrowheads="1"/>
            </p:cNvSpPr>
            <p:nvPr/>
          </p:nvSpPr>
          <p:spPr bwMode="auto">
            <a:xfrm>
              <a:off x="1780" y="2446"/>
              <a:ext cx="114" cy="126"/>
            </a:xfrm>
            <a:prstGeom prst="rect">
              <a:avLst/>
            </a:prstGeom>
            <a:solidFill>
              <a:srgbClr val="C0C0C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
          <p:nvSpPr>
            <p:cNvPr id="154703" name="Rectangle 79"/>
            <p:cNvSpPr>
              <a:spLocks noChangeArrowheads="1"/>
            </p:cNvSpPr>
            <p:nvPr/>
          </p:nvSpPr>
          <p:spPr bwMode="auto">
            <a:xfrm>
              <a:off x="1780" y="2446"/>
              <a:ext cx="114" cy="126"/>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54704" name="Rectangle 80"/>
            <p:cNvSpPr>
              <a:spLocks noChangeArrowheads="1"/>
            </p:cNvSpPr>
            <p:nvPr/>
          </p:nvSpPr>
          <p:spPr bwMode="auto">
            <a:xfrm>
              <a:off x="2299" y="2194"/>
              <a:ext cx="114" cy="126"/>
            </a:xfrm>
            <a:prstGeom prst="rect">
              <a:avLst/>
            </a:prstGeom>
            <a:solidFill>
              <a:srgbClr val="C0C0C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
          <p:nvSpPr>
            <p:cNvPr id="154705" name="Rectangle 81"/>
            <p:cNvSpPr>
              <a:spLocks noChangeArrowheads="1"/>
            </p:cNvSpPr>
            <p:nvPr/>
          </p:nvSpPr>
          <p:spPr bwMode="auto">
            <a:xfrm>
              <a:off x="2299" y="2194"/>
              <a:ext cx="114" cy="126"/>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54706" name="Rectangle 82"/>
            <p:cNvSpPr>
              <a:spLocks noChangeArrowheads="1"/>
            </p:cNvSpPr>
            <p:nvPr/>
          </p:nvSpPr>
          <p:spPr bwMode="auto">
            <a:xfrm>
              <a:off x="2299" y="2446"/>
              <a:ext cx="114" cy="126"/>
            </a:xfrm>
            <a:prstGeom prst="rect">
              <a:avLst/>
            </a:prstGeom>
            <a:solidFill>
              <a:srgbClr val="C0C0C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
          <p:nvSpPr>
            <p:cNvPr id="154707" name="Rectangle 83"/>
            <p:cNvSpPr>
              <a:spLocks noChangeArrowheads="1"/>
            </p:cNvSpPr>
            <p:nvPr/>
          </p:nvSpPr>
          <p:spPr bwMode="auto">
            <a:xfrm>
              <a:off x="2299" y="2446"/>
              <a:ext cx="114" cy="126"/>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54708" name="Freeform 84"/>
            <p:cNvSpPr>
              <a:spLocks/>
            </p:cNvSpPr>
            <p:nvPr/>
          </p:nvSpPr>
          <p:spPr bwMode="auto">
            <a:xfrm>
              <a:off x="1180" y="1317"/>
              <a:ext cx="603" cy="196"/>
            </a:xfrm>
            <a:custGeom>
              <a:avLst/>
              <a:gdLst>
                <a:gd name="T0" fmla="*/ 0 w 426"/>
                <a:gd name="T1" fmla="*/ 505 h 505"/>
                <a:gd name="T2" fmla="*/ 229 w 426"/>
                <a:gd name="T3" fmla="*/ 505 h 505"/>
                <a:gd name="T4" fmla="*/ 229 w 426"/>
                <a:gd name="T5" fmla="*/ 0 h 505"/>
                <a:gd name="T6" fmla="*/ 426 w 426"/>
                <a:gd name="T7" fmla="*/ 0 h 505"/>
              </a:gdLst>
              <a:ahLst/>
              <a:cxnLst>
                <a:cxn ang="0">
                  <a:pos x="T0" y="T1"/>
                </a:cxn>
                <a:cxn ang="0">
                  <a:pos x="T2" y="T3"/>
                </a:cxn>
                <a:cxn ang="0">
                  <a:pos x="T4" y="T5"/>
                </a:cxn>
                <a:cxn ang="0">
                  <a:pos x="T6" y="T7"/>
                </a:cxn>
              </a:cxnLst>
              <a:rect l="0" t="0" r="r" b="b"/>
              <a:pathLst>
                <a:path w="426" h="505">
                  <a:moveTo>
                    <a:pt x="0" y="505"/>
                  </a:moveTo>
                  <a:lnTo>
                    <a:pt x="229" y="505"/>
                  </a:lnTo>
                  <a:lnTo>
                    <a:pt x="229" y="0"/>
                  </a:lnTo>
                  <a:lnTo>
                    <a:pt x="426" y="0"/>
                  </a:ln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54709" name="Freeform 85"/>
            <p:cNvSpPr>
              <a:spLocks/>
            </p:cNvSpPr>
            <p:nvPr/>
          </p:nvSpPr>
          <p:spPr bwMode="auto">
            <a:xfrm>
              <a:off x="1783" y="1304"/>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54710" name="Line 86"/>
            <p:cNvSpPr>
              <a:spLocks noChangeShapeType="1"/>
            </p:cNvSpPr>
            <p:nvPr/>
          </p:nvSpPr>
          <p:spPr bwMode="auto">
            <a:xfrm>
              <a:off x="1856" y="1143"/>
              <a:ext cx="1" cy="126"/>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4711" name="Line 87"/>
            <p:cNvSpPr>
              <a:spLocks noChangeShapeType="1"/>
            </p:cNvSpPr>
            <p:nvPr/>
          </p:nvSpPr>
          <p:spPr bwMode="auto">
            <a:xfrm>
              <a:off x="1856" y="1395"/>
              <a:ext cx="1" cy="210"/>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4712" name="Line 88"/>
            <p:cNvSpPr>
              <a:spLocks noChangeShapeType="1"/>
            </p:cNvSpPr>
            <p:nvPr/>
          </p:nvSpPr>
          <p:spPr bwMode="auto">
            <a:xfrm>
              <a:off x="2375" y="1143"/>
              <a:ext cx="1" cy="126"/>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4713" name="Line 89"/>
            <p:cNvSpPr>
              <a:spLocks noChangeShapeType="1"/>
            </p:cNvSpPr>
            <p:nvPr/>
          </p:nvSpPr>
          <p:spPr bwMode="auto">
            <a:xfrm>
              <a:off x="2375" y="1395"/>
              <a:ext cx="1" cy="210"/>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4714" name="Line 90"/>
            <p:cNvSpPr>
              <a:spLocks noChangeShapeType="1"/>
            </p:cNvSpPr>
            <p:nvPr/>
          </p:nvSpPr>
          <p:spPr bwMode="auto">
            <a:xfrm>
              <a:off x="2375" y="1689"/>
              <a:ext cx="1" cy="168"/>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4715" name="Line 91"/>
            <p:cNvSpPr>
              <a:spLocks noChangeShapeType="1"/>
            </p:cNvSpPr>
            <p:nvPr/>
          </p:nvSpPr>
          <p:spPr bwMode="auto">
            <a:xfrm>
              <a:off x="2375" y="1984"/>
              <a:ext cx="1" cy="210"/>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4716" name="Line 92"/>
            <p:cNvSpPr>
              <a:spLocks noChangeShapeType="1"/>
            </p:cNvSpPr>
            <p:nvPr/>
          </p:nvSpPr>
          <p:spPr bwMode="auto">
            <a:xfrm>
              <a:off x="1856" y="1689"/>
              <a:ext cx="1" cy="757"/>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4717" name="Freeform 93"/>
            <p:cNvSpPr>
              <a:spLocks/>
            </p:cNvSpPr>
            <p:nvPr/>
          </p:nvSpPr>
          <p:spPr bwMode="auto">
            <a:xfrm>
              <a:off x="1856" y="2572"/>
              <a:ext cx="954" cy="211"/>
            </a:xfrm>
            <a:custGeom>
              <a:avLst/>
              <a:gdLst>
                <a:gd name="T0" fmla="*/ 0 w 954"/>
                <a:gd name="T1" fmla="*/ 0 h 211"/>
                <a:gd name="T2" fmla="*/ 0 w 954"/>
                <a:gd name="T3" fmla="*/ 211 h 211"/>
                <a:gd name="T4" fmla="*/ 954 w 954"/>
                <a:gd name="T5" fmla="*/ 211 h 211"/>
              </a:gdLst>
              <a:ahLst/>
              <a:cxnLst>
                <a:cxn ang="0">
                  <a:pos x="T0" y="T1"/>
                </a:cxn>
                <a:cxn ang="0">
                  <a:pos x="T2" y="T3"/>
                </a:cxn>
                <a:cxn ang="0">
                  <a:pos x="T4" y="T5"/>
                </a:cxn>
              </a:cxnLst>
              <a:rect l="0" t="0" r="r" b="b"/>
              <a:pathLst>
                <a:path w="954" h="211">
                  <a:moveTo>
                    <a:pt x="0" y="0"/>
                  </a:moveTo>
                  <a:lnTo>
                    <a:pt x="0" y="211"/>
                  </a:lnTo>
                  <a:lnTo>
                    <a:pt x="954" y="211"/>
                  </a:ln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54718" name="Freeform 94"/>
            <p:cNvSpPr>
              <a:spLocks/>
            </p:cNvSpPr>
            <p:nvPr/>
          </p:nvSpPr>
          <p:spPr bwMode="auto">
            <a:xfrm>
              <a:off x="2375" y="2572"/>
              <a:ext cx="305" cy="126"/>
            </a:xfrm>
            <a:custGeom>
              <a:avLst/>
              <a:gdLst>
                <a:gd name="T0" fmla="*/ 0 w 305"/>
                <a:gd name="T1" fmla="*/ 0 h 126"/>
                <a:gd name="T2" fmla="*/ 0 w 305"/>
                <a:gd name="T3" fmla="*/ 126 h 126"/>
                <a:gd name="T4" fmla="*/ 305 w 305"/>
                <a:gd name="T5" fmla="*/ 126 h 126"/>
              </a:gdLst>
              <a:ahLst/>
              <a:cxnLst>
                <a:cxn ang="0">
                  <a:pos x="T0" y="T1"/>
                </a:cxn>
                <a:cxn ang="0">
                  <a:pos x="T2" y="T3"/>
                </a:cxn>
                <a:cxn ang="0">
                  <a:pos x="T4" y="T5"/>
                </a:cxn>
              </a:cxnLst>
              <a:rect l="0" t="0" r="r" b="b"/>
              <a:pathLst>
                <a:path w="305" h="126">
                  <a:moveTo>
                    <a:pt x="0" y="0"/>
                  </a:moveTo>
                  <a:lnTo>
                    <a:pt x="0" y="126"/>
                  </a:lnTo>
                  <a:lnTo>
                    <a:pt x="305" y="126"/>
                  </a:ln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54719" name="Line 95"/>
            <p:cNvSpPr>
              <a:spLocks noChangeShapeType="1"/>
            </p:cNvSpPr>
            <p:nvPr/>
          </p:nvSpPr>
          <p:spPr bwMode="auto">
            <a:xfrm>
              <a:off x="2642" y="2783"/>
              <a:ext cx="38"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4720" name="Freeform 96"/>
            <p:cNvSpPr>
              <a:spLocks/>
            </p:cNvSpPr>
            <p:nvPr/>
          </p:nvSpPr>
          <p:spPr bwMode="auto">
            <a:xfrm>
              <a:off x="2642" y="2572"/>
              <a:ext cx="305" cy="337"/>
            </a:xfrm>
            <a:custGeom>
              <a:avLst/>
              <a:gdLst>
                <a:gd name="T0" fmla="*/ 0 w 1536"/>
                <a:gd name="T1" fmla="*/ 768 h 1536"/>
                <a:gd name="T2" fmla="*/ 768 w 1536"/>
                <a:gd name="T3" fmla="*/ 0 h 1536"/>
                <a:gd name="T4" fmla="*/ 1536 w 1536"/>
                <a:gd name="T5" fmla="*/ 768 h 1536"/>
                <a:gd name="T6" fmla="*/ 1536 w 1536"/>
                <a:gd name="T7" fmla="*/ 768 h 1536"/>
                <a:gd name="T8" fmla="*/ 768 w 1536"/>
                <a:gd name="T9" fmla="*/ 1536 h 1536"/>
                <a:gd name="T10" fmla="*/ 0 w 1536"/>
                <a:gd name="T11" fmla="*/ 768 h 1536"/>
              </a:gdLst>
              <a:ahLst/>
              <a:cxnLst>
                <a:cxn ang="0">
                  <a:pos x="T0" y="T1"/>
                </a:cxn>
                <a:cxn ang="0">
                  <a:pos x="T2" y="T3"/>
                </a:cxn>
                <a:cxn ang="0">
                  <a:pos x="T4" y="T5"/>
                </a:cxn>
                <a:cxn ang="0">
                  <a:pos x="T6" y="T7"/>
                </a:cxn>
                <a:cxn ang="0">
                  <a:pos x="T8" y="T9"/>
                </a:cxn>
                <a:cxn ang="0">
                  <a:pos x="T10" y="T11"/>
                </a:cxn>
              </a:cxnLst>
              <a:rect l="0" t="0" r="r" b="b"/>
              <a:pathLst>
                <a:path w="1536" h="1536">
                  <a:moveTo>
                    <a:pt x="0" y="768"/>
                  </a:moveTo>
                  <a:cubicBezTo>
                    <a:pt x="0" y="344"/>
                    <a:pt x="344" y="0"/>
                    <a:pt x="768" y="0"/>
                  </a:cubicBezTo>
                  <a:cubicBezTo>
                    <a:pt x="1192" y="0"/>
                    <a:pt x="1536" y="344"/>
                    <a:pt x="1536" y="768"/>
                  </a:cubicBezTo>
                  <a:cubicBezTo>
                    <a:pt x="1536" y="768"/>
                    <a:pt x="1536" y="768"/>
                    <a:pt x="1536" y="768"/>
                  </a:cubicBezTo>
                  <a:cubicBezTo>
                    <a:pt x="1536" y="1192"/>
                    <a:pt x="1192" y="1536"/>
                    <a:pt x="768" y="1536"/>
                  </a:cubicBezTo>
                  <a:cubicBezTo>
                    <a:pt x="344" y="1536"/>
                    <a:pt x="0" y="1192"/>
                    <a:pt x="0" y="768"/>
                  </a:cubicBezTo>
                </a:path>
              </a:pathLst>
            </a:custGeom>
            <a:solidFill>
              <a:srgbClr val="FFFFFF"/>
            </a:solidFill>
            <a:ln w="0">
              <a:solidFill>
                <a:srgbClr val="000000"/>
              </a:solidFill>
              <a:prstDash val="solid"/>
              <a:round/>
              <a:headEnd/>
              <a:tailEnd/>
            </a:ln>
          </p:spPr>
          <p:txBody>
            <a:bodyPr/>
            <a:lstStyle/>
            <a:p>
              <a:endParaRPr lang="en-US"/>
            </a:p>
          </p:txBody>
        </p:sp>
        <p:sp>
          <p:nvSpPr>
            <p:cNvPr id="154721" name="Freeform 97"/>
            <p:cNvSpPr>
              <a:spLocks/>
            </p:cNvSpPr>
            <p:nvPr/>
          </p:nvSpPr>
          <p:spPr bwMode="auto">
            <a:xfrm>
              <a:off x="2642" y="2572"/>
              <a:ext cx="305" cy="337"/>
            </a:xfrm>
            <a:custGeom>
              <a:avLst/>
              <a:gdLst>
                <a:gd name="T0" fmla="*/ 0 w 305"/>
                <a:gd name="T1" fmla="*/ 168 h 337"/>
                <a:gd name="T2" fmla="*/ 153 w 305"/>
                <a:gd name="T3" fmla="*/ 0 h 337"/>
                <a:gd name="T4" fmla="*/ 305 w 305"/>
                <a:gd name="T5" fmla="*/ 168 h 337"/>
                <a:gd name="T6" fmla="*/ 305 w 305"/>
                <a:gd name="T7" fmla="*/ 168 h 337"/>
                <a:gd name="T8" fmla="*/ 153 w 305"/>
                <a:gd name="T9" fmla="*/ 337 h 337"/>
                <a:gd name="T10" fmla="*/ 0 w 305"/>
                <a:gd name="T11" fmla="*/ 168 h 337"/>
              </a:gdLst>
              <a:ahLst/>
              <a:cxnLst>
                <a:cxn ang="0">
                  <a:pos x="T0" y="T1"/>
                </a:cxn>
                <a:cxn ang="0">
                  <a:pos x="T2" y="T3"/>
                </a:cxn>
                <a:cxn ang="0">
                  <a:pos x="T4" y="T5"/>
                </a:cxn>
                <a:cxn ang="0">
                  <a:pos x="T6" y="T7"/>
                </a:cxn>
                <a:cxn ang="0">
                  <a:pos x="T8" y="T9"/>
                </a:cxn>
                <a:cxn ang="0">
                  <a:pos x="T10" y="T11"/>
                </a:cxn>
              </a:cxnLst>
              <a:rect l="0" t="0" r="r" b="b"/>
              <a:pathLst>
                <a:path w="305" h="337">
                  <a:moveTo>
                    <a:pt x="0" y="168"/>
                  </a:moveTo>
                  <a:cubicBezTo>
                    <a:pt x="0" y="76"/>
                    <a:pt x="69" y="0"/>
                    <a:pt x="153" y="0"/>
                  </a:cubicBezTo>
                  <a:cubicBezTo>
                    <a:pt x="237" y="0"/>
                    <a:pt x="305" y="76"/>
                    <a:pt x="305" y="168"/>
                  </a:cubicBezTo>
                  <a:cubicBezTo>
                    <a:pt x="305" y="168"/>
                    <a:pt x="305" y="168"/>
                    <a:pt x="305" y="168"/>
                  </a:cubicBezTo>
                  <a:cubicBezTo>
                    <a:pt x="305" y="261"/>
                    <a:pt x="237" y="337"/>
                    <a:pt x="153" y="337"/>
                  </a:cubicBezTo>
                  <a:cubicBezTo>
                    <a:pt x="69" y="337"/>
                    <a:pt x="0" y="261"/>
                    <a:pt x="0" y="168"/>
                  </a:cubicBez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54722" name="Rectangle 98"/>
            <p:cNvSpPr>
              <a:spLocks noChangeArrowheads="1"/>
            </p:cNvSpPr>
            <p:nvPr/>
          </p:nvSpPr>
          <p:spPr bwMode="auto">
            <a:xfrm>
              <a:off x="2741" y="2659"/>
              <a:ext cx="175"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a:solidFill>
                    <a:srgbClr val="000000"/>
                  </a:solidFill>
                </a:rPr>
                <a:t>Plant </a:t>
              </a:r>
              <a:endParaRPr lang="en-US" altLang="en-US"/>
            </a:p>
          </p:txBody>
        </p:sp>
        <p:sp>
          <p:nvSpPr>
            <p:cNvPr id="154723" name="Rectangle 99"/>
            <p:cNvSpPr>
              <a:spLocks noChangeArrowheads="1"/>
            </p:cNvSpPr>
            <p:nvPr/>
          </p:nvSpPr>
          <p:spPr bwMode="auto">
            <a:xfrm>
              <a:off x="2728" y="2736"/>
              <a:ext cx="185"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a:solidFill>
                    <a:srgbClr val="000000"/>
                  </a:solidFill>
                </a:rPr>
                <a:t>Model</a:t>
              </a:r>
              <a:endParaRPr lang="en-US" altLang="en-US"/>
            </a:p>
          </p:txBody>
        </p:sp>
        <p:sp>
          <p:nvSpPr>
            <p:cNvPr id="154724" name="Line 100"/>
            <p:cNvSpPr>
              <a:spLocks noChangeShapeType="1"/>
            </p:cNvSpPr>
            <p:nvPr/>
          </p:nvSpPr>
          <p:spPr bwMode="auto">
            <a:xfrm>
              <a:off x="2375" y="2320"/>
              <a:ext cx="1" cy="126"/>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4725" name="Line 101"/>
            <p:cNvSpPr>
              <a:spLocks noChangeShapeType="1"/>
            </p:cNvSpPr>
            <p:nvPr/>
          </p:nvSpPr>
          <p:spPr bwMode="auto">
            <a:xfrm>
              <a:off x="2413" y="2488"/>
              <a:ext cx="267"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4726" name="Rectangle 102"/>
            <p:cNvSpPr>
              <a:spLocks noChangeArrowheads="1"/>
            </p:cNvSpPr>
            <p:nvPr/>
          </p:nvSpPr>
          <p:spPr bwMode="auto">
            <a:xfrm>
              <a:off x="2680" y="2446"/>
              <a:ext cx="153" cy="4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
          <p:nvSpPr>
            <p:cNvPr id="154727" name="Rectangle 103"/>
            <p:cNvSpPr>
              <a:spLocks noChangeArrowheads="1"/>
            </p:cNvSpPr>
            <p:nvPr/>
          </p:nvSpPr>
          <p:spPr bwMode="auto">
            <a:xfrm>
              <a:off x="2680" y="2446"/>
              <a:ext cx="153" cy="42"/>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54728" name="Freeform 104"/>
            <p:cNvSpPr>
              <a:spLocks/>
            </p:cNvSpPr>
            <p:nvPr/>
          </p:nvSpPr>
          <p:spPr bwMode="auto">
            <a:xfrm>
              <a:off x="2413" y="1899"/>
              <a:ext cx="267" cy="1"/>
            </a:xfrm>
            <a:custGeom>
              <a:avLst/>
              <a:gdLst>
                <a:gd name="T0" fmla="*/ 0 w 267"/>
                <a:gd name="T1" fmla="*/ 267 w 267"/>
                <a:gd name="T2" fmla="*/ 0 w 267"/>
              </a:gdLst>
              <a:ahLst/>
              <a:cxnLst>
                <a:cxn ang="0">
                  <a:pos x="T0" y="0"/>
                </a:cxn>
                <a:cxn ang="0">
                  <a:pos x="T1" y="0"/>
                </a:cxn>
                <a:cxn ang="0">
                  <a:pos x="T2" y="0"/>
                </a:cxn>
              </a:cxnLst>
              <a:rect l="0" t="0" r="r" b="b"/>
              <a:pathLst>
                <a:path w="267">
                  <a:moveTo>
                    <a:pt x="0" y="0"/>
                  </a:moveTo>
                  <a:lnTo>
                    <a:pt x="267" y="0"/>
                  </a:lnTo>
                  <a:lnTo>
                    <a:pt x="0" y="0"/>
                  </a:lnTo>
                  <a:close/>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54729" name="Line 105"/>
            <p:cNvSpPr>
              <a:spLocks noChangeShapeType="1"/>
            </p:cNvSpPr>
            <p:nvPr/>
          </p:nvSpPr>
          <p:spPr bwMode="auto">
            <a:xfrm flipV="1">
              <a:off x="1262" y="2488"/>
              <a:ext cx="486"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4730" name="Freeform 106"/>
            <p:cNvSpPr>
              <a:spLocks/>
            </p:cNvSpPr>
            <p:nvPr/>
          </p:nvSpPr>
          <p:spPr bwMode="auto">
            <a:xfrm>
              <a:off x="1745" y="2475"/>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54731" name="Line 107"/>
            <p:cNvSpPr>
              <a:spLocks noChangeShapeType="1"/>
            </p:cNvSpPr>
            <p:nvPr/>
          </p:nvSpPr>
          <p:spPr bwMode="auto">
            <a:xfrm>
              <a:off x="1346" y="2279"/>
              <a:ext cx="921"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4732" name="Freeform 108"/>
            <p:cNvSpPr>
              <a:spLocks/>
            </p:cNvSpPr>
            <p:nvPr/>
          </p:nvSpPr>
          <p:spPr bwMode="auto">
            <a:xfrm>
              <a:off x="2264" y="2266"/>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54733" name="Line 109"/>
            <p:cNvSpPr>
              <a:spLocks noChangeShapeType="1"/>
            </p:cNvSpPr>
            <p:nvPr/>
          </p:nvSpPr>
          <p:spPr bwMode="auto">
            <a:xfrm>
              <a:off x="1509" y="1647"/>
              <a:ext cx="239"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4734" name="Freeform 110"/>
            <p:cNvSpPr>
              <a:spLocks/>
            </p:cNvSpPr>
            <p:nvPr/>
          </p:nvSpPr>
          <p:spPr bwMode="auto">
            <a:xfrm>
              <a:off x="1745" y="1634"/>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54735" name="Rectangle 111"/>
            <p:cNvSpPr>
              <a:spLocks noChangeArrowheads="1"/>
            </p:cNvSpPr>
            <p:nvPr/>
          </p:nvSpPr>
          <p:spPr bwMode="auto">
            <a:xfrm>
              <a:off x="1473" y="2197"/>
              <a:ext cx="278"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a:solidFill>
                    <a:srgbClr val="000000"/>
                  </a:solidFill>
                </a:rPr>
                <a:t>AntiSkid </a:t>
              </a:r>
              <a:endParaRPr lang="en-US" altLang="en-US"/>
            </a:p>
          </p:txBody>
        </p:sp>
        <p:sp>
          <p:nvSpPr>
            <p:cNvPr id="154736" name="Rectangle 112"/>
            <p:cNvSpPr>
              <a:spLocks noChangeArrowheads="1"/>
            </p:cNvSpPr>
            <p:nvPr/>
          </p:nvSpPr>
          <p:spPr bwMode="auto">
            <a:xfrm>
              <a:off x="1448" y="2274"/>
              <a:ext cx="313"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a:solidFill>
                    <a:srgbClr val="000000"/>
                  </a:solidFill>
                </a:rPr>
                <a:t>Command</a:t>
              </a:r>
              <a:endParaRPr lang="en-US" altLang="en-US"/>
            </a:p>
          </p:txBody>
        </p:sp>
        <p:sp>
          <p:nvSpPr>
            <p:cNvPr id="154737" name="Rectangle 113"/>
            <p:cNvSpPr>
              <a:spLocks noChangeArrowheads="1"/>
            </p:cNvSpPr>
            <p:nvPr/>
          </p:nvSpPr>
          <p:spPr bwMode="auto">
            <a:xfrm>
              <a:off x="1455" y="2410"/>
              <a:ext cx="257"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a:solidFill>
                    <a:srgbClr val="000000"/>
                  </a:solidFill>
                </a:rPr>
                <a:t>Braking </a:t>
              </a:r>
              <a:endParaRPr lang="en-US" altLang="en-US"/>
            </a:p>
          </p:txBody>
        </p:sp>
        <p:sp>
          <p:nvSpPr>
            <p:cNvPr id="154738" name="Rectangle 114"/>
            <p:cNvSpPr>
              <a:spLocks noChangeArrowheads="1"/>
            </p:cNvSpPr>
            <p:nvPr/>
          </p:nvSpPr>
          <p:spPr bwMode="auto">
            <a:xfrm>
              <a:off x="1689" y="2410"/>
              <a:ext cx="55"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a:solidFill>
                    <a:srgbClr val="000000"/>
                  </a:solidFill>
                </a:rPr>
                <a:t>+ </a:t>
              </a:r>
              <a:endParaRPr lang="en-US" altLang="en-US"/>
            </a:p>
          </p:txBody>
        </p:sp>
        <p:sp>
          <p:nvSpPr>
            <p:cNvPr id="154739" name="Rectangle 115"/>
            <p:cNvSpPr>
              <a:spLocks noChangeArrowheads="1"/>
            </p:cNvSpPr>
            <p:nvPr/>
          </p:nvSpPr>
          <p:spPr bwMode="auto">
            <a:xfrm>
              <a:off x="1473" y="2488"/>
              <a:ext cx="278"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a:solidFill>
                    <a:srgbClr val="000000"/>
                  </a:solidFill>
                </a:rPr>
                <a:t>AntiSkid </a:t>
              </a:r>
              <a:endParaRPr lang="en-US" altLang="en-US"/>
            </a:p>
          </p:txBody>
        </p:sp>
        <p:sp>
          <p:nvSpPr>
            <p:cNvPr id="154740" name="Rectangle 116"/>
            <p:cNvSpPr>
              <a:spLocks noChangeArrowheads="1"/>
            </p:cNvSpPr>
            <p:nvPr/>
          </p:nvSpPr>
          <p:spPr bwMode="auto">
            <a:xfrm>
              <a:off x="1448" y="2565"/>
              <a:ext cx="313"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a:solidFill>
                    <a:srgbClr val="000000"/>
                  </a:solidFill>
                </a:rPr>
                <a:t>Command</a:t>
              </a:r>
              <a:endParaRPr lang="en-US" altLang="en-US"/>
            </a:p>
          </p:txBody>
        </p:sp>
        <p:sp>
          <p:nvSpPr>
            <p:cNvPr id="154741" name="Rectangle 117"/>
            <p:cNvSpPr>
              <a:spLocks noChangeArrowheads="1"/>
            </p:cNvSpPr>
            <p:nvPr/>
          </p:nvSpPr>
          <p:spPr bwMode="auto">
            <a:xfrm>
              <a:off x="1713" y="890"/>
              <a:ext cx="382"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a:solidFill>
                    <a:srgbClr val="000000"/>
                  </a:solidFill>
                </a:rPr>
                <a:t>Green Pump</a:t>
              </a:r>
              <a:endParaRPr lang="en-US" altLang="en-US"/>
            </a:p>
          </p:txBody>
        </p:sp>
        <p:sp>
          <p:nvSpPr>
            <p:cNvPr id="154742" name="Rectangle 118"/>
            <p:cNvSpPr>
              <a:spLocks noChangeArrowheads="1"/>
            </p:cNvSpPr>
            <p:nvPr/>
          </p:nvSpPr>
          <p:spPr bwMode="auto">
            <a:xfrm>
              <a:off x="2252" y="890"/>
              <a:ext cx="335"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a:solidFill>
                    <a:srgbClr val="000000"/>
                  </a:solidFill>
                </a:rPr>
                <a:t>Blue Pump</a:t>
              </a:r>
              <a:endParaRPr lang="en-US" altLang="en-US"/>
            </a:p>
          </p:txBody>
        </p:sp>
        <p:sp>
          <p:nvSpPr>
            <p:cNvPr id="154743" name="Rectangle 119"/>
            <p:cNvSpPr>
              <a:spLocks noChangeArrowheads="1"/>
            </p:cNvSpPr>
            <p:nvPr/>
          </p:nvSpPr>
          <p:spPr bwMode="auto">
            <a:xfrm>
              <a:off x="2165" y="1184"/>
              <a:ext cx="451"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a:solidFill>
                    <a:srgbClr val="000000"/>
                  </a:solidFill>
                </a:rPr>
                <a:t>Isolation Valve</a:t>
              </a:r>
              <a:endParaRPr lang="en-US" altLang="en-US"/>
            </a:p>
          </p:txBody>
        </p:sp>
        <p:sp>
          <p:nvSpPr>
            <p:cNvPr id="154744" name="Rectangle 120"/>
            <p:cNvSpPr>
              <a:spLocks noChangeArrowheads="1"/>
            </p:cNvSpPr>
            <p:nvPr/>
          </p:nvSpPr>
          <p:spPr bwMode="auto">
            <a:xfrm>
              <a:off x="1662" y="1184"/>
              <a:ext cx="451"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a:solidFill>
                    <a:srgbClr val="000000"/>
                  </a:solidFill>
                </a:rPr>
                <a:t>Isolation Valve</a:t>
              </a:r>
              <a:endParaRPr lang="en-US" altLang="en-US"/>
            </a:p>
          </p:txBody>
        </p:sp>
        <p:sp>
          <p:nvSpPr>
            <p:cNvPr id="154745" name="Rectangle 121"/>
            <p:cNvSpPr>
              <a:spLocks noChangeArrowheads="1"/>
            </p:cNvSpPr>
            <p:nvPr/>
          </p:nvSpPr>
          <p:spPr bwMode="auto">
            <a:xfrm>
              <a:off x="1438" y="1654"/>
              <a:ext cx="160"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a:solidFill>
                    <a:srgbClr val="000000"/>
                  </a:solidFill>
                </a:rPr>
                <a:t>Shut </a:t>
              </a:r>
              <a:endParaRPr lang="en-US" altLang="en-US"/>
            </a:p>
          </p:txBody>
        </p:sp>
        <p:sp>
          <p:nvSpPr>
            <p:cNvPr id="154746" name="Rectangle 122"/>
            <p:cNvSpPr>
              <a:spLocks noChangeArrowheads="1"/>
            </p:cNvSpPr>
            <p:nvPr/>
          </p:nvSpPr>
          <p:spPr bwMode="auto">
            <a:xfrm>
              <a:off x="1405" y="1731"/>
              <a:ext cx="239"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a:solidFill>
                    <a:srgbClr val="000000"/>
                  </a:solidFill>
                </a:rPr>
                <a:t>Normal </a:t>
              </a:r>
              <a:endParaRPr lang="en-US" altLang="en-US"/>
            </a:p>
          </p:txBody>
        </p:sp>
        <p:sp>
          <p:nvSpPr>
            <p:cNvPr id="154747" name="Rectangle 123"/>
            <p:cNvSpPr>
              <a:spLocks noChangeArrowheads="1"/>
            </p:cNvSpPr>
            <p:nvPr/>
          </p:nvSpPr>
          <p:spPr bwMode="auto">
            <a:xfrm>
              <a:off x="1400" y="1808"/>
              <a:ext cx="229"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a:solidFill>
                    <a:srgbClr val="000000"/>
                  </a:solidFill>
                </a:rPr>
                <a:t>System</a:t>
              </a:r>
              <a:endParaRPr lang="en-US" altLang="en-US"/>
            </a:p>
          </p:txBody>
        </p:sp>
        <p:sp>
          <p:nvSpPr>
            <p:cNvPr id="154748" name="Rectangle 124"/>
            <p:cNvSpPr>
              <a:spLocks noChangeArrowheads="1"/>
            </p:cNvSpPr>
            <p:nvPr/>
          </p:nvSpPr>
          <p:spPr bwMode="auto">
            <a:xfrm>
              <a:off x="1808" y="1758"/>
              <a:ext cx="40" cy="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a:solidFill>
                    <a:srgbClr val="00FF00"/>
                  </a:solidFill>
                </a:rPr>
                <a:t>N</a:t>
              </a:r>
              <a:endParaRPr lang="en-US" altLang="en-US"/>
            </a:p>
          </p:txBody>
        </p:sp>
        <p:sp>
          <p:nvSpPr>
            <p:cNvPr id="154749" name="Rectangle 125"/>
            <p:cNvSpPr>
              <a:spLocks noChangeArrowheads="1"/>
            </p:cNvSpPr>
            <p:nvPr/>
          </p:nvSpPr>
          <p:spPr bwMode="auto">
            <a:xfrm>
              <a:off x="1806" y="1825"/>
              <a:ext cx="44" cy="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a:solidFill>
                    <a:srgbClr val="00FF00"/>
                  </a:solidFill>
                </a:rPr>
                <a:t>O</a:t>
              </a:r>
              <a:endParaRPr lang="en-US" altLang="en-US"/>
            </a:p>
          </p:txBody>
        </p:sp>
        <p:sp>
          <p:nvSpPr>
            <p:cNvPr id="154750" name="Rectangle 126"/>
            <p:cNvSpPr>
              <a:spLocks noChangeArrowheads="1"/>
            </p:cNvSpPr>
            <p:nvPr/>
          </p:nvSpPr>
          <p:spPr bwMode="auto">
            <a:xfrm>
              <a:off x="1808" y="1891"/>
              <a:ext cx="40" cy="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a:solidFill>
                    <a:srgbClr val="00FF00"/>
                  </a:solidFill>
                </a:rPr>
                <a:t>R</a:t>
              </a:r>
              <a:endParaRPr lang="en-US" altLang="en-US"/>
            </a:p>
          </p:txBody>
        </p:sp>
        <p:sp>
          <p:nvSpPr>
            <p:cNvPr id="154751" name="Rectangle 127"/>
            <p:cNvSpPr>
              <a:spLocks noChangeArrowheads="1"/>
            </p:cNvSpPr>
            <p:nvPr/>
          </p:nvSpPr>
          <p:spPr bwMode="auto">
            <a:xfrm>
              <a:off x="1806" y="1961"/>
              <a:ext cx="47" cy="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a:solidFill>
                    <a:srgbClr val="00FF00"/>
                  </a:solidFill>
                </a:rPr>
                <a:t>M</a:t>
              </a:r>
              <a:endParaRPr lang="en-US" altLang="en-US"/>
            </a:p>
          </p:txBody>
        </p:sp>
        <p:sp>
          <p:nvSpPr>
            <p:cNvPr id="154752" name="Rectangle 128"/>
            <p:cNvSpPr>
              <a:spLocks noChangeArrowheads="1"/>
            </p:cNvSpPr>
            <p:nvPr/>
          </p:nvSpPr>
          <p:spPr bwMode="auto">
            <a:xfrm>
              <a:off x="1808" y="2028"/>
              <a:ext cx="40" cy="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a:solidFill>
                    <a:srgbClr val="00FF00"/>
                  </a:solidFill>
                </a:rPr>
                <a:t>A</a:t>
              </a:r>
              <a:endParaRPr lang="en-US" altLang="en-US"/>
            </a:p>
          </p:txBody>
        </p:sp>
        <p:sp>
          <p:nvSpPr>
            <p:cNvPr id="154753" name="Rectangle 129"/>
            <p:cNvSpPr>
              <a:spLocks noChangeArrowheads="1"/>
            </p:cNvSpPr>
            <p:nvPr/>
          </p:nvSpPr>
          <p:spPr bwMode="auto">
            <a:xfrm>
              <a:off x="1807" y="2095"/>
              <a:ext cx="34" cy="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a:solidFill>
                    <a:srgbClr val="00FF00"/>
                  </a:solidFill>
                </a:rPr>
                <a:t>L</a:t>
              </a:r>
              <a:endParaRPr lang="en-US" altLang="en-US"/>
            </a:p>
          </p:txBody>
        </p:sp>
        <p:sp>
          <p:nvSpPr>
            <p:cNvPr id="154754" name="Rectangle 130"/>
            <p:cNvSpPr>
              <a:spLocks noChangeArrowheads="1"/>
            </p:cNvSpPr>
            <p:nvPr/>
          </p:nvSpPr>
          <p:spPr bwMode="auto">
            <a:xfrm>
              <a:off x="2245" y="1731"/>
              <a:ext cx="46"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a:solidFill>
                    <a:srgbClr val="0000FF"/>
                  </a:solidFill>
                </a:rPr>
                <a:t>A</a:t>
              </a:r>
              <a:endParaRPr lang="en-US" altLang="en-US"/>
            </a:p>
          </p:txBody>
        </p:sp>
        <p:sp>
          <p:nvSpPr>
            <p:cNvPr id="154755" name="Rectangle 131"/>
            <p:cNvSpPr>
              <a:spLocks noChangeArrowheads="1"/>
            </p:cNvSpPr>
            <p:nvPr/>
          </p:nvSpPr>
          <p:spPr bwMode="auto">
            <a:xfrm>
              <a:off x="2246" y="1811"/>
              <a:ext cx="39"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a:solidFill>
                    <a:srgbClr val="0000FF"/>
                  </a:solidFill>
                </a:rPr>
                <a:t>L</a:t>
              </a:r>
              <a:endParaRPr lang="en-US" altLang="en-US"/>
            </a:p>
          </p:txBody>
        </p:sp>
        <p:sp>
          <p:nvSpPr>
            <p:cNvPr id="154756" name="Rectangle 132"/>
            <p:cNvSpPr>
              <a:spLocks noChangeArrowheads="1"/>
            </p:cNvSpPr>
            <p:nvPr/>
          </p:nvSpPr>
          <p:spPr bwMode="auto">
            <a:xfrm>
              <a:off x="2246" y="1888"/>
              <a:ext cx="39"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a:solidFill>
                    <a:srgbClr val="0000FF"/>
                  </a:solidFill>
                </a:rPr>
                <a:t>T</a:t>
              </a:r>
              <a:endParaRPr lang="en-US" altLang="en-US"/>
            </a:p>
          </p:txBody>
        </p:sp>
        <p:sp>
          <p:nvSpPr>
            <p:cNvPr id="154757" name="Rectangle 133"/>
            <p:cNvSpPr>
              <a:spLocks noChangeArrowheads="1"/>
            </p:cNvSpPr>
            <p:nvPr/>
          </p:nvSpPr>
          <p:spPr bwMode="auto">
            <a:xfrm>
              <a:off x="2245" y="1965"/>
              <a:ext cx="43"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a:solidFill>
                    <a:srgbClr val="0000FF"/>
                  </a:solidFill>
                </a:rPr>
                <a:t>E</a:t>
              </a:r>
              <a:endParaRPr lang="en-US" altLang="en-US"/>
            </a:p>
          </p:txBody>
        </p:sp>
        <p:sp>
          <p:nvSpPr>
            <p:cNvPr id="154758" name="Rectangle 134"/>
            <p:cNvSpPr>
              <a:spLocks noChangeArrowheads="1"/>
            </p:cNvSpPr>
            <p:nvPr/>
          </p:nvSpPr>
          <p:spPr bwMode="auto">
            <a:xfrm>
              <a:off x="2245" y="2046"/>
              <a:ext cx="46"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a:solidFill>
                    <a:srgbClr val="0000FF"/>
                  </a:solidFill>
                </a:rPr>
                <a:t>R</a:t>
              </a:r>
              <a:endParaRPr lang="en-US" altLang="en-US"/>
            </a:p>
          </p:txBody>
        </p:sp>
        <p:sp>
          <p:nvSpPr>
            <p:cNvPr id="154759" name="Rectangle 135"/>
            <p:cNvSpPr>
              <a:spLocks noChangeArrowheads="1"/>
            </p:cNvSpPr>
            <p:nvPr/>
          </p:nvSpPr>
          <p:spPr bwMode="auto">
            <a:xfrm>
              <a:off x="2245" y="2123"/>
              <a:ext cx="46"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a:solidFill>
                    <a:srgbClr val="0000FF"/>
                  </a:solidFill>
                </a:rPr>
                <a:t>N</a:t>
              </a:r>
              <a:endParaRPr lang="en-US" altLang="en-US"/>
            </a:p>
          </p:txBody>
        </p:sp>
        <p:sp>
          <p:nvSpPr>
            <p:cNvPr id="154760" name="Rectangle 136"/>
            <p:cNvSpPr>
              <a:spLocks noChangeArrowheads="1"/>
            </p:cNvSpPr>
            <p:nvPr/>
          </p:nvSpPr>
          <p:spPr bwMode="auto">
            <a:xfrm>
              <a:off x="2245" y="2204"/>
              <a:ext cx="46"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a:solidFill>
                    <a:srgbClr val="0000FF"/>
                  </a:solidFill>
                </a:rPr>
                <a:t>A</a:t>
              </a:r>
              <a:endParaRPr lang="en-US" altLang="en-US"/>
            </a:p>
          </p:txBody>
        </p:sp>
        <p:sp>
          <p:nvSpPr>
            <p:cNvPr id="154761" name="Rectangle 137"/>
            <p:cNvSpPr>
              <a:spLocks noChangeArrowheads="1"/>
            </p:cNvSpPr>
            <p:nvPr/>
          </p:nvSpPr>
          <p:spPr bwMode="auto">
            <a:xfrm>
              <a:off x="2246" y="2281"/>
              <a:ext cx="39"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a:solidFill>
                    <a:srgbClr val="0000FF"/>
                  </a:solidFill>
                </a:rPr>
                <a:t>T</a:t>
              </a:r>
              <a:endParaRPr lang="en-US" altLang="en-US"/>
            </a:p>
          </p:txBody>
        </p:sp>
        <p:sp>
          <p:nvSpPr>
            <p:cNvPr id="154762" name="Rectangle 138"/>
            <p:cNvSpPr>
              <a:spLocks noChangeArrowheads="1"/>
            </p:cNvSpPr>
            <p:nvPr/>
          </p:nvSpPr>
          <p:spPr bwMode="auto">
            <a:xfrm>
              <a:off x="2245" y="2358"/>
              <a:ext cx="43"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a:solidFill>
                    <a:srgbClr val="0000FF"/>
                  </a:solidFill>
                </a:rPr>
                <a:t>E</a:t>
              </a:r>
              <a:endParaRPr lang="en-US" altLang="en-US"/>
            </a:p>
          </p:txBody>
        </p:sp>
        <p:sp>
          <p:nvSpPr>
            <p:cNvPr id="154763" name="Rectangle 139"/>
            <p:cNvSpPr>
              <a:spLocks noChangeArrowheads="1"/>
            </p:cNvSpPr>
            <p:nvPr/>
          </p:nvSpPr>
          <p:spPr bwMode="auto">
            <a:xfrm>
              <a:off x="2619" y="2007"/>
              <a:ext cx="410"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a:solidFill>
                    <a:srgbClr val="000000"/>
                  </a:solidFill>
                </a:rPr>
                <a:t>Accumulator </a:t>
              </a:r>
              <a:endParaRPr lang="en-US" altLang="en-US"/>
            </a:p>
          </p:txBody>
        </p:sp>
        <p:sp>
          <p:nvSpPr>
            <p:cNvPr id="154764" name="Rectangle 140"/>
            <p:cNvSpPr>
              <a:spLocks noChangeArrowheads="1"/>
            </p:cNvSpPr>
            <p:nvPr/>
          </p:nvSpPr>
          <p:spPr bwMode="auto">
            <a:xfrm>
              <a:off x="2712" y="2085"/>
              <a:ext cx="178"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a:solidFill>
                    <a:srgbClr val="000000"/>
                  </a:solidFill>
                </a:rPr>
                <a:t>Pump</a:t>
              </a:r>
              <a:endParaRPr lang="en-US" altLang="en-US"/>
            </a:p>
          </p:txBody>
        </p:sp>
        <p:sp>
          <p:nvSpPr>
            <p:cNvPr id="154765" name="Rectangle 141"/>
            <p:cNvSpPr>
              <a:spLocks noChangeArrowheads="1"/>
            </p:cNvSpPr>
            <p:nvPr/>
          </p:nvSpPr>
          <p:spPr bwMode="auto">
            <a:xfrm>
              <a:off x="1953" y="2428"/>
              <a:ext cx="189"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a:solidFill>
                    <a:srgbClr val="000000"/>
                  </a:solidFill>
                </a:rPr>
                <a:t>Meter </a:t>
              </a:r>
              <a:endParaRPr lang="en-US" altLang="en-US"/>
            </a:p>
          </p:txBody>
        </p:sp>
        <p:sp>
          <p:nvSpPr>
            <p:cNvPr id="154766" name="Rectangle 142"/>
            <p:cNvSpPr>
              <a:spLocks noChangeArrowheads="1"/>
            </p:cNvSpPr>
            <p:nvPr/>
          </p:nvSpPr>
          <p:spPr bwMode="auto">
            <a:xfrm>
              <a:off x="1955" y="2505"/>
              <a:ext cx="169"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a:solidFill>
                    <a:srgbClr val="000000"/>
                  </a:solidFill>
                </a:rPr>
                <a:t>Valve</a:t>
              </a:r>
              <a:endParaRPr lang="en-US" altLang="en-US"/>
            </a:p>
          </p:txBody>
        </p:sp>
        <p:sp>
          <p:nvSpPr>
            <p:cNvPr id="154767" name="Rectangle 143"/>
            <p:cNvSpPr>
              <a:spLocks noChangeArrowheads="1"/>
            </p:cNvSpPr>
            <p:nvPr/>
          </p:nvSpPr>
          <p:spPr bwMode="auto">
            <a:xfrm>
              <a:off x="2317" y="2463"/>
              <a:ext cx="112" cy="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500">
                  <a:solidFill>
                    <a:srgbClr val="000000"/>
                  </a:solidFill>
                </a:rPr>
                <a:t>Meter </a:t>
              </a:r>
              <a:endParaRPr lang="en-US" altLang="en-US"/>
            </a:p>
          </p:txBody>
        </p:sp>
        <p:sp>
          <p:nvSpPr>
            <p:cNvPr id="154768" name="Rectangle 144"/>
            <p:cNvSpPr>
              <a:spLocks noChangeArrowheads="1"/>
            </p:cNvSpPr>
            <p:nvPr/>
          </p:nvSpPr>
          <p:spPr bwMode="auto">
            <a:xfrm>
              <a:off x="2316" y="2509"/>
              <a:ext cx="100" cy="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500">
                  <a:solidFill>
                    <a:srgbClr val="000000"/>
                  </a:solidFill>
                </a:rPr>
                <a:t>Valve</a:t>
              </a:r>
              <a:endParaRPr lang="en-US" altLang="en-US"/>
            </a:p>
          </p:txBody>
        </p:sp>
        <p:sp>
          <p:nvSpPr>
            <p:cNvPr id="154769" name="Rectangle 145"/>
            <p:cNvSpPr>
              <a:spLocks noChangeArrowheads="1"/>
            </p:cNvSpPr>
            <p:nvPr/>
          </p:nvSpPr>
          <p:spPr bwMode="auto">
            <a:xfrm>
              <a:off x="2317" y="2211"/>
              <a:ext cx="112" cy="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500">
                  <a:solidFill>
                    <a:srgbClr val="000000"/>
                  </a:solidFill>
                </a:rPr>
                <a:t>Meter </a:t>
              </a:r>
              <a:endParaRPr lang="en-US" altLang="en-US"/>
            </a:p>
          </p:txBody>
        </p:sp>
        <p:sp>
          <p:nvSpPr>
            <p:cNvPr id="154770" name="Rectangle 146"/>
            <p:cNvSpPr>
              <a:spLocks noChangeArrowheads="1"/>
            </p:cNvSpPr>
            <p:nvPr/>
          </p:nvSpPr>
          <p:spPr bwMode="auto">
            <a:xfrm>
              <a:off x="2316" y="2256"/>
              <a:ext cx="100" cy="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500">
                  <a:solidFill>
                    <a:srgbClr val="000000"/>
                  </a:solidFill>
                </a:rPr>
                <a:t>Valve</a:t>
              </a:r>
              <a:endParaRPr lang="en-US" altLang="en-US"/>
            </a:p>
          </p:txBody>
        </p:sp>
        <p:sp>
          <p:nvSpPr>
            <p:cNvPr id="154771" name="Rectangle 147"/>
            <p:cNvSpPr>
              <a:spLocks noChangeArrowheads="1"/>
            </p:cNvSpPr>
            <p:nvPr/>
          </p:nvSpPr>
          <p:spPr bwMode="auto">
            <a:xfrm>
              <a:off x="2352" y="1755"/>
              <a:ext cx="410"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a:solidFill>
                    <a:srgbClr val="000000"/>
                  </a:solidFill>
                </a:rPr>
                <a:t>Accumulator </a:t>
              </a:r>
              <a:endParaRPr lang="en-US" altLang="en-US"/>
            </a:p>
          </p:txBody>
        </p:sp>
        <p:sp>
          <p:nvSpPr>
            <p:cNvPr id="154772" name="Rectangle 148"/>
            <p:cNvSpPr>
              <a:spLocks noChangeArrowheads="1"/>
            </p:cNvSpPr>
            <p:nvPr/>
          </p:nvSpPr>
          <p:spPr bwMode="auto">
            <a:xfrm>
              <a:off x="2451" y="1832"/>
              <a:ext cx="169"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a:solidFill>
                    <a:srgbClr val="000000"/>
                  </a:solidFill>
                </a:rPr>
                <a:t>Valve</a:t>
              </a:r>
              <a:endParaRPr lang="en-US" altLang="en-US"/>
            </a:p>
          </p:txBody>
        </p:sp>
        <p:sp>
          <p:nvSpPr>
            <p:cNvPr id="154773" name="Rectangle 149"/>
            <p:cNvSpPr>
              <a:spLocks noChangeArrowheads="1"/>
            </p:cNvSpPr>
            <p:nvPr/>
          </p:nvSpPr>
          <p:spPr bwMode="auto">
            <a:xfrm>
              <a:off x="2602" y="2270"/>
              <a:ext cx="365"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a:solidFill>
                    <a:srgbClr val="000000"/>
                  </a:solidFill>
                </a:rPr>
                <a:t>Mechanical </a:t>
              </a:r>
              <a:endParaRPr lang="en-US" altLang="en-US"/>
            </a:p>
          </p:txBody>
        </p:sp>
        <p:sp>
          <p:nvSpPr>
            <p:cNvPr id="154774" name="Rectangle 150"/>
            <p:cNvSpPr>
              <a:spLocks noChangeArrowheads="1"/>
            </p:cNvSpPr>
            <p:nvPr/>
          </p:nvSpPr>
          <p:spPr bwMode="auto">
            <a:xfrm>
              <a:off x="2677" y="2347"/>
              <a:ext cx="172"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a:solidFill>
                    <a:srgbClr val="000000"/>
                  </a:solidFill>
                </a:rPr>
                <a:t>Pedal</a:t>
              </a:r>
              <a:endParaRPr lang="en-US" altLang="en-US"/>
            </a:p>
          </p:txBody>
        </p:sp>
        <p:sp>
          <p:nvSpPr>
            <p:cNvPr id="154775" name="Rectangle 151"/>
            <p:cNvSpPr>
              <a:spLocks noChangeArrowheads="1"/>
            </p:cNvSpPr>
            <p:nvPr/>
          </p:nvSpPr>
          <p:spPr bwMode="auto">
            <a:xfrm>
              <a:off x="2011" y="1531"/>
              <a:ext cx="441"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a:solidFill>
                    <a:srgbClr val="000000"/>
                  </a:solidFill>
                </a:rPr>
                <a:t>Selector Valve</a:t>
              </a:r>
              <a:endParaRPr lang="en-US" altLang="en-US"/>
            </a:p>
          </p:txBody>
        </p:sp>
        <p:sp>
          <p:nvSpPr>
            <p:cNvPr id="154776" name="Line 152"/>
            <p:cNvSpPr>
              <a:spLocks noChangeShapeType="1"/>
            </p:cNvSpPr>
            <p:nvPr/>
          </p:nvSpPr>
          <p:spPr bwMode="auto">
            <a:xfrm flipH="1" flipV="1">
              <a:off x="1503" y="1506"/>
              <a:ext cx="0" cy="141"/>
            </a:xfrm>
            <a:prstGeom prst="line">
              <a:avLst/>
            </a:prstGeom>
            <a:noFill/>
            <a:ln w="4826">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4777" name="Line 153"/>
            <p:cNvSpPr>
              <a:spLocks noChangeShapeType="1"/>
            </p:cNvSpPr>
            <p:nvPr/>
          </p:nvSpPr>
          <p:spPr bwMode="auto">
            <a:xfrm>
              <a:off x="1176" y="1839"/>
              <a:ext cx="162" cy="0"/>
            </a:xfrm>
            <a:prstGeom prst="line">
              <a:avLst/>
            </a:prstGeom>
            <a:noFill/>
            <a:ln w="4826">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4778" name="Line 154"/>
            <p:cNvSpPr>
              <a:spLocks noChangeShapeType="1"/>
            </p:cNvSpPr>
            <p:nvPr/>
          </p:nvSpPr>
          <p:spPr bwMode="auto">
            <a:xfrm flipH="1" flipV="1">
              <a:off x="1341" y="1839"/>
              <a:ext cx="0" cy="441"/>
            </a:xfrm>
            <a:prstGeom prst="line">
              <a:avLst/>
            </a:prstGeom>
            <a:noFill/>
            <a:ln w="4826">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4779" name="Line 155"/>
            <p:cNvSpPr>
              <a:spLocks noChangeShapeType="1"/>
            </p:cNvSpPr>
            <p:nvPr/>
          </p:nvSpPr>
          <p:spPr bwMode="auto">
            <a:xfrm>
              <a:off x="1179" y="2178"/>
              <a:ext cx="81" cy="0"/>
            </a:xfrm>
            <a:prstGeom prst="line">
              <a:avLst/>
            </a:prstGeom>
            <a:noFill/>
            <a:ln w="4826">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4780" name="Line 156"/>
            <p:cNvSpPr>
              <a:spLocks noChangeShapeType="1"/>
            </p:cNvSpPr>
            <p:nvPr/>
          </p:nvSpPr>
          <p:spPr bwMode="auto">
            <a:xfrm flipH="1" flipV="1">
              <a:off x="1263" y="2178"/>
              <a:ext cx="0" cy="309"/>
            </a:xfrm>
            <a:prstGeom prst="line">
              <a:avLst/>
            </a:prstGeom>
            <a:noFill/>
            <a:ln w="4826">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grpSp>
      <p:grpSp>
        <p:nvGrpSpPr>
          <p:cNvPr id="6" name="Group 157"/>
          <p:cNvGrpSpPr>
            <a:grpSpLocks/>
          </p:cNvGrpSpPr>
          <p:nvPr/>
        </p:nvGrpSpPr>
        <p:grpSpPr bwMode="auto">
          <a:xfrm>
            <a:off x="1643063" y="2271713"/>
            <a:ext cx="171450" cy="1303337"/>
            <a:chOff x="1035" y="1431"/>
            <a:chExt cx="108" cy="821"/>
          </a:xfrm>
        </p:grpSpPr>
        <p:sp>
          <p:nvSpPr>
            <p:cNvPr id="154782" name="Rectangle 158"/>
            <p:cNvSpPr>
              <a:spLocks noChangeArrowheads="1"/>
            </p:cNvSpPr>
            <p:nvPr/>
          </p:nvSpPr>
          <p:spPr bwMode="auto">
            <a:xfrm>
              <a:off x="1041" y="1431"/>
              <a:ext cx="27" cy="29"/>
            </a:xfrm>
            <a:prstGeom prst="rect">
              <a:avLst/>
            </a:prstGeom>
            <a:solidFill>
              <a:srgbClr val="FF9900"/>
            </a:solidFill>
            <a:ln w="17526" algn="ctr">
              <a:solidFill>
                <a:srgbClr val="FF99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54783" name="Rectangle 159"/>
            <p:cNvSpPr>
              <a:spLocks noChangeArrowheads="1"/>
            </p:cNvSpPr>
            <p:nvPr/>
          </p:nvSpPr>
          <p:spPr bwMode="auto">
            <a:xfrm>
              <a:off x="1044" y="1539"/>
              <a:ext cx="27" cy="29"/>
            </a:xfrm>
            <a:prstGeom prst="rect">
              <a:avLst/>
            </a:prstGeom>
            <a:solidFill>
              <a:srgbClr val="FF9900"/>
            </a:solidFill>
            <a:ln w="17526" algn="ctr">
              <a:solidFill>
                <a:srgbClr val="FF99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54784" name="Rectangle 160"/>
            <p:cNvSpPr>
              <a:spLocks noChangeArrowheads="1"/>
            </p:cNvSpPr>
            <p:nvPr/>
          </p:nvSpPr>
          <p:spPr bwMode="auto">
            <a:xfrm>
              <a:off x="1041" y="1668"/>
              <a:ext cx="27" cy="29"/>
            </a:xfrm>
            <a:prstGeom prst="rect">
              <a:avLst/>
            </a:prstGeom>
            <a:solidFill>
              <a:srgbClr val="FF9900"/>
            </a:solidFill>
            <a:ln w="17526" algn="ctr">
              <a:solidFill>
                <a:srgbClr val="FF99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54785" name="Rectangle 161"/>
            <p:cNvSpPr>
              <a:spLocks noChangeArrowheads="1"/>
            </p:cNvSpPr>
            <p:nvPr/>
          </p:nvSpPr>
          <p:spPr bwMode="auto">
            <a:xfrm>
              <a:off x="1038" y="2097"/>
              <a:ext cx="27" cy="29"/>
            </a:xfrm>
            <a:prstGeom prst="rect">
              <a:avLst/>
            </a:prstGeom>
            <a:solidFill>
              <a:srgbClr val="FF9900"/>
            </a:solidFill>
            <a:ln w="17526" algn="ctr">
              <a:solidFill>
                <a:srgbClr val="FF99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54786" name="Rectangle 162"/>
            <p:cNvSpPr>
              <a:spLocks noChangeArrowheads="1"/>
            </p:cNvSpPr>
            <p:nvPr/>
          </p:nvSpPr>
          <p:spPr bwMode="auto">
            <a:xfrm>
              <a:off x="1035" y="1983"/>
              <a:ext cx="27" cy="29"/>
            </a:xfrm>
            <a:prstGeom prst="rect">
              <a:avLst/>
            </a:prstGeom>
            <a:solidFill>
              <a:srgbClr val="FF9900"/>
            </a:solidFill>
            <a:ln w="17526" algn="ctr">
              <a:solidFill>
                <a:srgbClr val="FF99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54787" name="Rectangle 163"/>
            <p:cNvSpPr>
              <a:spLocks noChangeArrowheads="1"/>
            </p:cNvSpPr>
            <p:nvPr/>
          </p:nvSpPr>
          <p:spPr bwMode="auto">
            <a:xfrm>
              <a:off x="1038" y="2223"/>
              <a:ext cx="27" cy="29"/>
            </a:xfrm>
            <a:prstGeom prst="rect">
              <a:avLst/>
            </a:prstGeom>
            <a:solidFill>
              <a:srgbClr val="FF9900"/>
            </a:solidFill>
            <a:ln w="17526" algn="ctr">
              <a:solidFill>
                <a:srgbClr val="FF99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54788" name="Rectangle 164"/>
            <p:cNvSpPr>
              <a:spLocks noChangeArrowheads="1"/>
            </p:cNvSpPr>
            <p:nvPr/>
          </p:nvSpPr>
          <p:spPr bwMode="auto">
            <a:xfrm>
              <a:off x="1116" y="1497"/>
              <a:ext cx="27" cy="29"/>
            </a:xfrm>
            <a:prstGeom prst="rect">
              <a:avLst/>
            </a:prstGeom>
            <a:solidFill>
              <a:srgbClr val="FF9900"/>
            </a:solidFill>
            <a:ln w="17526" algn="ctr">
              <a:solidFill>
                <a:srgbClr val="FF99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54789" name="Rectangle 165"/>
            <p:cNvSpPr>
              <a:spLocks noChangeArrowheads="1"/>
            </p:cNvSpPr>
            <p:nvPr/>
          </p:nvSpPr>
          <p:spPr bwMode="auto">
            <a:xfrm>
              <a:off x="1077" y="1827"/>
              <a:ext cx="27" cy="29"/>
            </a:xfrm>
            <a:prstGeom prst="rect">
              <a:avLst/>
            </a:prstGeom>
            <a:solidFill>
              <a:srgbClr val="FF9900"/>
            </a:solidFill>
            <a:ln w="17526" algn="ctr">
              <a:solidFill>
                <a:srgbClr val="FF99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54790" name="Rectangle 166"/>
            <p:cNvSpPr>
              <a:spLocks noChangeArrowheads="1"/>
            </p:cNvSpPr>
            <p:nvPr/>
          </p:nvSpPr>
          <p:spPr bwMode="auto">
            <a:xfrm>
              <a:off x="1047" y="2166"/>
              <a:ext cx="27" cy="29"/>
            </a:xfrm>
            <a:prstGeom prst="rect">
              <a:avLst/>
            </a:prstGeom>
            <a:solidFill>
              <a:srgbClr val="FF9900"/>
            </a:solidFill>
            <a:ln w="17526" algn="ctr">
              <a:solidFill>
                <a:srgbClr val="FF99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grpSp>
      <p:grpSp>
        <p:nvGrpSpPr>
          <p:cNvPr id="7" name="Group 167"/>
          <p:cNvGrpSpPr>
            <a:grpSpLocks/>
          </p:cNvGrpSpPr>
          <p:nvPr/>
        </p:nvGrpSpPr>
        <p:grpSpPr bwMode="auto">
          <a:xfrm>
            <a:off x="2933700" y="1719263"/>
            <a:ext cx="876300" cy="2289175"/>
            <a:chOff x="1848" y="1083"/>
            <a:chExt cx="552" cy="1442"/>
          </a:xfrm>
        </p:grpSpPr>
        <p:sp>
          <p:nvSpPr>
            <p:cNvPr id="154792" name="Rectangle 168"/>
            <p:cNvSpPr>
              <a:spLocks noChangeArrowheads="1"/>
            </p:cNvSpPr>
            <p:nvPr/>
          </p:nvSpPr>
          <p:spPr bwMode="auto">
            <a:xfrm>
              <a:off x="1851" y="1326"/>
              <a:ext cx="27" cy="29"/>
            </a:xfrm>
            <a:prstGeom prst="rect">
              <a:avLst/>
            </a:prstGeom>
            <a:solidFill>
              <a:srgbClr val="FF0066"/>
            </a:solidFill>
            <a:ln w="17526" algn="ctr">
              <a:solidFill>
                <a:srgbClr val="FF0066"/>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54793" name="Rectangle 169"/>
            <p:cNvSpPr>
              <a:spLocks noChangeArrowheads="1"/>
            </p:cNvSpPr>
            <p:nvPr/>
          </p:nvSpPr>
          <p:spPr bwMode="auto">
            <a:xfrm>
              <a:off x="1848" y="1083"/>
              <a:ext cx="27" cy="29"/>
            </a:xfrm>
            <a:prstGeom prst="rect">
              <a:avLst/>
            </a:prstGeom>
            <a:solidFill>
              <a:srgbClr val="FF0066"/>
            </a:solidFill>
            <a:ln w="17526" algn="ctr">
              <a:solidFill>
                <a:srgbClr val="FF0066"/>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54794" name="Rectangle 170"/>
            <p:cNvSpPr>
              <a:spLocks noChangeArrowheads="1"/>
            </p:cNvSpPr>
            <p:nvPr/>
          </p:nvSpPr>
          <p:spPr bwMode="auto">
            <a:xfrm>
              <a:off x="2367" y="1086"/>
              <a:ext cx="27" cy="29"/>
            </a:xfrm>
            <a:prstGeom prst="rect">
              <a:avLst/>
            </a:prstGeom>
            <a:solidFill>
              <a:srgbClr val="FF0066"/>
            </a:solidFill>
            <a:ln w="17526" algn="ctr">
              <a:solidFill>
                <a:srgbClr val="FF0066"/>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54795" name="Rectangle 171"/>
            <p:cNvSpPr>
              <a:spLocks noChangeArrowheads="1"/>
            </p:cNvSpPr>
            <p:nvPr/>
          </p:nvSpPr>
          <p:spPr bwMode="auto">
            <a:xfrm>
              <a:off x="2373" y="1320"/>
              <a:ext cx="27" cy="29"/>
            </a:xfrm>
            <a:prstGeom prst="rect">
              <a:avLst/>
            </a:prstGeom>
            <a:solidFill>
              <a:srgbClr val="FF0066"/>
            </a:solidFill>
            <a:ln w="17526" algn="ctr">
              <a:solidFill>
                <a:srgbClr val="FF0066"/>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54796" name="Rectangle 172"/>
            <p:cNvSpPr>
              <a:spLocks noChangeArrowheads="1"/>
            </p:cNvSpPr>
            <p:nvPr/>
          </p:nvSpPr>
          <p:spPr bwMode="auto">
            <a:xfrm>
              <a:off x="2151" y="1632"/>
              <a:ext cx="27" cy="29"/>
            </a:xfrm>
            <a:prstGeom prst="rect">
              <a:avLst/>
            </a:prstGeom>
            <a:solidFill>
              <a:srgbClr val="FF0066"/>
            </a:solidFill>
            <a:ln w="17526" algn="ctr">
              <a:solidFill>
                <a:srgbClr val="FF0066"/>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54797" name="Rectangle 173"/>
            <p:cNvSpPr>
              <a:spLocks noChangeArrowheads="1"/>
            </p:cNvSpPr>
            <p:nvPr/>
          </p:nvSpPr>
          <p:spPr bwMode="auto">
            <a:xfrm>
              <a:off x="2367" y="1893"/>
              <a:ext cx="27" cy="29"/>
            </a:xfrm>
            <a:prstGeom prst="rect">
              <a:avLst/>
            </a:prstGeom>
            <a:solidFill>
              <a:srgbClr val="FF0066"/>
            </a:solidFill>
            <a:ln w="17526" algn="ctr">
              <a:solidFill>
                <a:srgbClr val="FF0066"/>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54798" name="Rectangle 174"/>
            <p:cNvSpPr>
              <a:spLocks noChangeArrowheads="1"/>
            </p:cNvSpPr>
            <p:nvPr/>
          </p:nvSpPr>
          <p:spPr bwMode="auto">
            <a:xfrm>
              <a:off x="2367" y="2250"/>
              <a:ext cx="27" cy="29"/>
            </a:xfrm>
            <a:prstGeom prst="rect">
              <a:avLst/>
            </a:prstGeom>
            <a:solidFill>
              <a:srgbClr val="FF0066"/>
            </a:solidFill>
            <a:ln w="17526" algn="ctr">
              <a:solidFill>
                <a:srgbClr val="FF0066"/>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54799" name="Rectangle 175"/>
            <p:cNvSpPr>
              <a:spLocks noChangeArrowheads="1"/>
            </p:cNvSpPr>
            <p:nvPr/>
          </p:nvSpPr>
          <p:spPr bwMode="auto">
            <a:xfrm>
              <a:off x="1848" y="2490"/>
              <a:ext cx="27" cy="35"/>
            </a:xfrm>
            <a:prstGeom prst="rect">
              <a:avLst/>
            </a:prstGeom>
            <a:solidFill>
              <a:srgbClr val="FF0066"/>
            </a:solidFill>
            <a:ln w="17526" algn="ctr">
              <a:solidFill>
                <a:srgbClr val="FF0066"/>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54800" name="Rectangle 176"/>
            <p:cNvSpPr>
              <a:spLocks noChangeArrowheads="1"/>
            </p:cNvSpPr>
            <p:nvPr/>
          </p:nvSpPr>
          <p:spPr bwMode="auto">
            <a:xfrm>
              <a:off x="2367" y="2481"/>
              <a:ext cx="27" cy="35"/>
            </a:xfrm>
            <a:prstGeom prst="rect">
              <a:avLst/>
            </a:prstGeom>
            <a:solidFill>
              <a:srgbClr val="FF0066"/>
            </a:solidFill>
            <a:ln w="17526" algn="ctr">
              <a:solidFill>
                <a:srgbClr val="FF0066"/>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grpSp>
      <p:grpSp>
        <p:nvGrpSpPr>
          <p:cNvPr id="8" name="Group 177"/>
          <p:cNvGrpSpPr>
            <a:grpSpLocks/>
          </p:cNvGrpSpPr>
          <p:nvPr/>
        </p:nvGrpSpPr>
        <p:grpSpPr bwMode="auto">
          <a:xfrm>
            <a:off x="4884738" y="1757363"/>
            <a:ext cx="4030662" cy="2281237"/>
            <a:chOff x="2925" y="1053"/>
            <a:chExt cx="2539" cy="1437"/>
          </a:xfrm>
        </p:grpSpPr>
        <p:graphicFrame>
          <p:nvGraphicFramePr>
            <p:cNvPr id="154802" name="Object 178"/>
            <p:cNvGraphicFramePr>
              <a:graphicFrameLocks noChangeAspect="1"/>
            </p:cNvGraphicFramePr>
            <p:nvPr/>
          </p:nvGraphicFramePr>
          <p:xfrm>
            <a:off x="3498" y="1053"/>
            <a:ext cx="1966" cy="1437"/>
          </p:xfrm>
          <a:graphic>
            <a:graphicData uri="http://schemas.openxmlformats.org/presentationml/2006/ole">
              <mc:AlternateContent xmlns:mc="http://schemas.openxmlformats.org/markup-compatibility/2006">
                <mc:Choice xmlns:v="urn:schemas-microsoft-com:vml" Requires="v">
                  <p:oleObj spid="_x0000_s45060" name="VISIO" r:id="rId4" imgW="7073900" imgH="4876800" progId="">
                    <p:embed/>
                  </p:oleObj>
                </mc:Choice>
                <mc:Fallback>
                  <p:oleObj name="VISIO" r:id="rId4" imgW="7073900" imgH="4876800" progId="">
                    <p:embed/>
                    <p:pic>
                      <p:nvPicPr>
                        <p:cNvPr id="0"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498" y="1053"/>
                          <a:ext cx="1966" cy="14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54803" name="Object 179"/>
            <p:cNvGraphicFramePr>
              <a:graphicFrameLocks noChangeAspect="1"/>
            </p:cNvGraphicFramePr>
            <p:nvPr/>
          </p:nvGraphicFramePr>
          <p:xfrm>
            <a:off x="2925" y="1501"/>
            <a:ext cx="522" cy="285"/>
          </p:xfrm>
          <a:graphic>
            <a:graphicData uri="http://schemas.openxmlformats.org/presentationml/2006/ole">
              <mc:AlternateContent xmlns:mc="http://schemas.openxmlformats.org/markup-compatibility/2006">
                <mc:Choice xmlns:v="urn:schemas-microsoft-com:vml" Requires="v">
                  <p:oleObj spid="_x0000_s45061" name="VISIO" r:id="rId6" imgW="952500" imgH="495300" progId="">
                    <p:embed/>
                  </p:oleObj>
                </mc:Choice>
                <mc:Fallback>
                  <p:oleObj name="VISIO" r:id="rId6" imgW="952500" imgH="495300" progId="">
                    <p:embed/>
                    <p:pic>
                      <p:nvPicPr>
                        <p:cNvPr id="0" name="Picture 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925" y="1501"/>
                          <a:ext cx="522"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pSp>
      <p:sp>
        <p:nvSpPr>
          <p:cNvPr id="154804" name="Rectangle 180"/>
          <p:cNvSpPr>
            <a:spLocks noChangeArrowheads="1"/>
          </p:cNvSpPr>
          <p:nvPr/>
        </p:nvSpPr>
        <p:spPr bwMode="auto">
          <a:xfrm>
            <a:off x="228600" y="4724400"/>
            <a:ext cx="5257800" cy="3746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342900" indent="-342900" algn="l">
              <a:spcBef>
                <a:spcPct val="45000"/>
              </a:spcBef>
              <a:buClr>
                <a:srgbClr val="990000"/>
              </a:buClr>
              <a:buFont typeface="Wingdings" panose="05000000000000000000" pitchFamily="2" charset="2"/>
              <a:buChar char="§"/>
              <a:defRPr sz="2800" b="1">
                <a:solidFill>
                  <a:srgbClr val="993300"/>
                </a:solidFill>
                <a:latin typeface="Arial" panose="020B0604020202020204" pitchFamily="34" charset="0"/>
              </a:defRPr>
            </a:lvl1pPr>
            <a:lvl2pPr marL="742950" indent="-285750" algn="l">
              <a:spcBef>
                <a:spcPct val="20000"/>
              </a:spcBef>
              <a:buClr>
                <a:schemeClr val="tx1"/>
              </a:buClr>
              <a:buSzPct val="115000"/>
              <a:buFont typeface="Arial" panose="020B0604020202020204" pitchFamily="34" charset="0"/>
              <a:buChar char="–"/>
              <a:defRPr sz="2400" b="1">
                <a:solidFill>
                  <a:schemeClr val="tx1"/>
                </a:solidFill>
                <a:latin typeface="Arial" panose="020B0604020202020204" pitchFamily="34" charset="0"/>
              </a:defRPr>
            </a:lvl2pPr>
            <a:lvl3pPr marL="1143000" indent="-228600" algn="l">
              <a:spcBef>
                <a:spcPct val="20000"/>
              </a:spcBef>
              <a:buClr>
                <a:srgbClr val="990000"/>
              </a:buClr>
              <a:buSzPct val="150000"/>
              <a:buChar char="•"/>
              <a:defRPr b="1">
                <a:solidFill>
                  <a:srgbClr val="993300"/>
                </a:solidFill>
                <a:latin typeface="Arial" panose="020B0604020202020204" pitchFamily="34" charset="0"/>
              </a:defRPr>
            </a:lvl3pPr>
            <a:lvl4pPr marL="1600200" indent="-228600" algn="l">
              <a:spcBef>
                <a:spcPct val="20000"/>
              </a:spcBef>
              <a:buClr>
                <a:srgbClr val="800000"/>
              </a:buClr>
              <a:buSzPct val="150000"/>
              <a:defRPr b="1">
                <a:solidFill>
                  <a:schemeClr val="tx1"/>
                </a:solidFill>
                <a:latin typeface="Arial" panose="020B0604020202020204" pitchFamily="34" charset="0"/>
              </a:defRPr>
            </a:lvl4pPr>
            <a:lvl5pPr marL="2057400" indent="-228600" algn="l">
              <a:spcBef>
                <a:spcPct val="20000"/>
              </a:spcBef>
              <a:buClr>
                <a:srgbClr val="800000"/>
              </a:buClr>
              <a:buSzPct val="150000"/>
              <a:buChar char="»"/>
              <a:defRPr b="1">
                <a:solidFill>
                  <a:schemeClr val="tx1"/>
                </a:solidFill>
                <a:latin typeface="Arial" panose="020B0604020202020204" pitchFamily="34" charset="0"/>
              </a:defRPr>
            </a:lvl5pPr>
            <a:lvl6pPr marL="25146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6pPr>
            <a:lvl7pPr marL="29718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7pPr>
            <a:lvl8pPr marL="34290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8pPr>
            <a:lvl9pPr marL="38862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9pPr>
          </a:lstStyle>
          <a:p>
            <a:pPr>
              <a:lnSpc>
                <a:spcPct val="90000"/>
              </a:lnSpc>
              <a:buClrTx/>
              <a:buFont typeface="Arial" panose="020B0604020202020204" pitchFamily="34" charset="0"/>
              <a:buChar char="•"/>
            </a:pPr>
            <a:r>
              <a:rPr lang="en-US" altLang="en-US" sz="1700" b="0" dirty="0">
                <a:solidFill>
                  <a:schemeClr val="tx1"/>
                </a:solidFill>
                <a:latin typeface="+mn-lt"/>
              </a:rPr>
              <a:t>Model the Digital Controller Architecture</a:t>
            </a:r>
          </a:p>
        </p:txBody>
      </p:sp>
      <p:sp>
        <p:nvSpPr>
          <p:cNvPr id="154805" name="Rectangle 181"/>
          <p:cNvSpPr>
            <a:spLocks noChangeArrowheads="1"/>
          </p:cNvSpPr>
          <p:nvPr/>
        </p:nvSpPr>
        <p:spPr bwMode="auto">
          <a:xfrm>
            <a:off x="254000" y="5861050"/>
            <a:ext cx="8902700" cy="438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342900" indent="-342900" algn="l">
              <a:spcBef>
                <a:spcPct val="45000"/>
              </a:spcBef>
              <a:buClr>
                <a:srgbClr val="990000"/>
              </a:buClr>
              <a:buFont typeface="Wingdings" panose="05000000000000000000" pitchFamily="2" charset="2"/>
              <a:buChar char="§"/>
              <a:defRPr sz="2800" b="1">
                <a:solidFill>
                  <a:srgbClr val="993300"/>
                </a:solidFill>
                <a:latin typeface="Arial" panose="020B0604020202020204" pitchFamily="34" charset="0"/>
              </a:defRPr>
            </a:lvl1pPr>
            <a:lvl2pPr marL="742950" indent="-285750" algn="l">
              <a:spcBef>
                <a:spcPct val="20000"/>
              </a:spcBef>
              <a:buClr>
                <a:schemeClr val="tx1"/>
              </a:buClr>
              <a:buSzPct val="115000"/>
              <a:buFont typeface="Arial" panose="020B0604020202020204" pitchFamily="34" charset="0"/>
              <a:buChar char="–"/>
              <a:defRPr sz="2400" b="1">
                <a:solidFill>
                  <a:schemeClr val="tx1"/>
                </a:solidFill>
                <a:latin typeface="Arial" panose="020B0604020202020204" pitchFamily="34" charset="0"/>
              </a:defRPr>
            </a:lvl2pPr>
            <a:lvl3pPr marL="1143000" indent="-228600" algn="l">
              <a:spcBef>
                <a:spcPct val="20000"/>
              </a:spcBef>
              <a:buClr>
                <a:srgbClr val="990000"/>
              </a:buClr>
              <a:buSzPct val="150000"/>
              <a:buChar char="•"/>
              <a:defRPr b="1">
                <a:solidFill>
                  <a:srgbClr val="993300"/>
                </a:solidFill>
                <a:latin typeface="Arial" panose="020B0604020202020204" pitchFamily="34" charset="0"/>
              </a:defRPr>
            </a:lvl3pPr>
            <a:lvl4pPr marL="1600200" indent="-228600" algn="l">
              <a:spcBef>
                <a:spcPct val="20000"/>
              </a:spcBef>
              <a:buClr>
                <a:srgbClr val="800000"/>
              </a:buClr>
              <a:buSzPct val="150000"/>
              <a:defRPr b="1">
                <a:solidFill>
                  <a:schemeClr val="tx1"/>
                </a:solidFill>
                <a:latin typeface="Arial" panose="020B0604020202020204" pitchFamily="34" charset="0"/>
              </a:defRPr>
            </a:lvl4pPr>
            <a:lvl5pPr marL="2057400" indent="-228600" algn="l">
              <a:spcBef>
                <a:spcPct val="20000"/>
              </a:spcBef>
              <a:buClr>
                <a:srgbClr val="800000"/>
              </a:buClr>
              <a:buSzPct val="150000"/>
              <a:buChar char="»"/>
              <a:defRPr b="1">
                <a:solidFill>
                  <a:schemeClr val="tx1"/>
                </a:solidFill>
                <a:latin typeface="Arial" panose="020B0604020202020204" pitchFamily="34" charset="0"/>
              </a:defRPr>
            </a:lvl5pPr>
            <a:lvl6pPr marL="25146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6pPr>
            <a:lvl7pPr marL="29718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7pPr>
            <a:lvl8pPr marL="34290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8pPr>
            <a:lvl9pPr marL="38862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9pPr>
          </a:lstStyle>
          <a:p>
            <a:pPr>
              <a:lnSpc>
                <a:spcPct val="90000"/>
              </a:lnSpc>
              <a:buClrTx/>
              <a:buFont typeface="Arial" panose="020B0604020202020204" pitchFamily="34" charset="0"/>
              <a:buChar char="•"/>
            </a:pPr>
            <a:r>
              <a:rPr lang="en-US" altLang="en-US" sz="1700" b="0" dirty="0">
                <a:solidFill>
                  <a:schemeClr val="tx1"/>
                </a:solidFill>
                <a:latin typeface="+mn-lt"/>
              </a:rPr>
              <a:t>Automation Enables “What-If” Consideration of System Designs</a:t>
            </a:r>
          </a:p>
          <a:p>
            <a:pPr>
              <a:lnSpc>
                <a:spcPct val="90000"/>
              </a:lnSpc>
              <a:buClrTx/>
              <a:buFont typeface="Arial" panose="020B0604020202020204" pitchFamily="34" charset="0"/>
              <a:buChar char="•"/>
            </a:pPr>
            <a:endParaRPr lang="en-US" altLang="en-US" sz="1700" b="0" dirty="0">
              <a:solidFill>
                <a:schemeClr val="tx1"/>
              </a:solidFill>
              <a:latin typeface="+mn-lt"/>
            </a:endParaRPr>
          </a:p>
        </p:txBody>
      </p:sp>
      <p:sp>
        <p:nvSpPr>
          <p:cNvPr id="154806" name="Rectangle 182"/>
          <p:cNvSpPr>
            <a:spLocks noChangeArrowheads="1"/>
          </p:cNvSpPr>
          <p:nvPr/>
        </p:nvSpPr>
        <p:spPr bwMode="auto">
          <a:xfrm>
            <a:off x="647700" y="5410200"/>
            <a:ext cx="8496300" cy="349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342900" indent="-342900" algn="l">
              <a:spcBef>
                <a:spcPct val="45000"/>
              </a:spcBef>
              <a:buClr>
                <a:srgbClr val="990000"/>
              </a:buClr>
              <a:buFont typeface="Wingdings" panose="05000000000000000000" pitchFamily="2" charset="2"/>
              <a:buChar char="§"/>
              <a:defRPr sz="2800" b="1">
                <a:solidFill>
                  <a:srgbClr val="993300"/>
                </a:solidFill>
                <a:latin typeface="Arial" panose="020B0604020202020204" pitchFamily="34" charset="0"/>
              </a:defRPr>
            </a:lvl1pPr>
            <a:lvl2pPr marL="742950" indent="-285750" algn="l">
              <a:spcBef>
                <a:spcPct val="20000"/>
              </a:spcBef>
              <a:buClr>
                <a:schemeClr val="tx1"/>
              </a:buClr>
              <a:buSzPct val="115000"/>
              <a:buFont typeface="Arial" panose="020B0604020202020204" pitchFamily="34" charset="0"/>
              <a:buChar char="–"/>
              <a:defRPr sz="2400" b="1">
                <a:solidFill>
                  <a:schemeClr val="tx1"/>
                </a:solidFill>
                <a:latin typeface="Arial" panose="020B0604020202020204" pitchFamily="34" charset="0"/>
              </a:defRPr>
            </a:lvl2pPr>
            <a:lvl3pPr marL="1143000" indent="-228600" algn="l">
              <a:spcBef>
                <a:spcPct val="20000"/>
              </a:spcBef>
              <a:buClr>
                <a:srgbClr val="990000"/>
              </a:buClr>
              <a:buSzPct val="150000"/>
              <a:buChar char="•"/>
              <a:defRPr b="1">
                <a:solidFill>
                  <a:srgbClr val="993300"/>
                </a:solidFill>
                <a:latin typeface="Arial" panose="020B0604020202020204" pitchFamily="34" charset="0"/>
              </a:defRPr>
            </a:lvl3pPr>
            <a:lvl4pPr marL="1600200" indent="-228600" algn="l">
              <a:spcBef>
                <a:spcPct val="20000"/>
              </a:spcBef>
              <a:buClr>
                <a:srgbClr val="800000"/>
              </a:buClr>
              <a:buSzPct val="150000"/>
              <a:defRPr b="1">
                <a:solidFill>
                  <a:schemeClr val="tx1"/>
                </a:solidFill>
                <a:latin typeface="Arial" panose="020B0604020202020204" pitchFamily="34" charset="0"/>
              </a:defRPr>
            </a:lvl4pPr>
            <a:lvl5pPr marL="2057400" indent="-228600" algn="l">
              <a:spcBef>
                <a:spcPct val="20000"/>
              </a:spcBef>
              <a:buClr>
                <a:srgbClr val="800000"/>
              </a:buClr>
              <a:buSzPct val="150000"/>
              <a:buChar char="»"/>
              <a:defRPr b="1">
                <a:solidFill>
                  <a:schemeClr val="tx1"/>
                </a:solidFill>
                <a:latin typeface="Arial" panose="020B0604020202020204" pitchFamily="34" charset="0"/>
              </a:defRPr>
            </a:lvl5pPr>
            <a:lvl6pPr marL="25146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6pPr>
            <a:lvl7pPr marL="29718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7pPr>
            <a:lvl8pPr marL="34290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8pPr>
            <a:lvl9pPr marL="38862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9pPr>
          </a:lstStyle>
          <a:p>
            <a:pPr>
              <a:lnSpc>
                <a:spcPct val="80000"/>
              </a:lnSpc>
              <a:buFont typeface="Wingdings" panose="05000000000000000000" pitchFamily="2" charset="2"/>
              <a:buNone/>
            </a:pPr>
            <a:endParaRPr lang="en-US" altLang="en-US" sz="1800" dirty="0"/>
          </a:p>
        </p:txBody>
      </p:sp>
      <p:sp>
        <p:nvSpPr>
          <p:cNvPr id="154807" name="Rectangle 183"/>
          <p:cNvSpPr>
            <a:spLocks noChangeArrowheads="1"/>
          </p:cNvSpPr>
          <p:nvPr/>
        </p:nvSpPr>
        <p:spPr bwMode="auto">
          <a:xfrm>
            <a:off x="4677459" y="5087938"/>
            <a:ext cx="3929281" cy="353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spAutoFit/>
          </a:bodyPr>
          <a:lstStyle/>
          <a:p>
            <a:pPr algn="ctr"/>
            <a:r>
              <a:rPr lang="en-US" altLang="en-US" sz="1700">
                <a:latin typeface="+mn-lt"/>
              </a:rPr>
              <a:t>and Digital Controller Architecture</a:t>
            </a:r>
          </a:p>
        </p:txBody>
      </p:sp>
      <p:sp>
        <p:nvSpPr>
          <p:cNvPr id="154808" name="Rectangle 184"/>
          <p:cNvSpPr>
            <a:spLocks noChangeArrowheads="1"/>
          </p:cNvSpPr>
          <p:nvPr/>
        </p:nvSpPr>
        <p:spPr bwMode="auto">
          <a:xfrm>
            <a:off x="254000" y="5467350"/>
            <a:ext cx="8902700" cy="438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342900" indent="-342900" algn="l">
              <a:spcBef>
                <a:spcPct val="45000"/>
              </a:spcBef>
              <a:buClr>
                <a:srgbClr val="990000"/>
              </a:buClr>
              <a:buFont typeface="Wingdings" panose="05000000000000000000" pitchFamily="2" charset="2"/>
              <a:buChar char="§"/>
              <a:defRPr sz="2800" b="1">
                <a:solidFill>
                  <a:srgbClr val="993300"/>
                </a:solidFill>
                <a:latin typeface="Arial" panose="020B0604020202020204" pitchFamily="34" charset="0"/>
              </a:defRPr>
            </a:lvl1pPr>
            <a:lvl2pPr marL="742950" indent="-285750" algn="l">
              <a:spcBef>
                <a:spcPct val="20000"/>
              </a:spcBef>
              <a:buClr>
                <a:schemeClr val="tx1"/>
              </a:buClr>
              <a:buSzPct val="115000"/>
              <a:buFont typeface="Arial" panose="020B0604020202020204" pitchFamily="34" charset="0"/>
              <a:buChar char="–"/>
              <a:defRPr sz="2400" b="1">
                <a:solidFill>
                  <a:schemeClr val="tx1"/>
                </a:solidFill>
                <a:latin typeface="Arial" panose="020B0604020202020204" pitchFamily="34" charset="0"/>
              </a:defRPr>
            </a:lvl2pPr>
            <a:lvl3pPr marL="1143000" indent="-228600" algn="l">
              <a:spcBef>
                <a:spcPct val="20000"/>
              </a:spcBef>
              <a:buClr>
                <a:srgbClr val="990000"/>
              </a:buClr>
              <a:buSzPct val="150000"/>
              <a:buChar char="•"/>
              <a:defRPr b="1">
                <a:solidFill>
                  <a:srgbClr val="993300"/>
                </a:solidFill>
                <a:latin typeface="Arial" panose="020B0604020202020204" pitchFamily="34" charset="0"/>
              </a:defRPr>
            </a:lvl3pPr>
            <a:lvl4pPr marL="1600200" indent="-228600" algn="l">
              <a:spcBef>
                <a:spcPct val="20000"/>
              </a:spcBef>
              <a:buClr>
                <a:srgbClr val="800000"/>
              </a:buClr>
              <a:buSzPct val="150000"/>
              <a:defRPr b="1">
                <a:solidFill>
                  <a:schemeClr val="tx1"/>
                </a:solidFill>
                <a:latin typeface="Arial" panose="020B0604020202020204" pitchFamily="34" charset="0"/>
              </a:defRPr>
            </a:lvl4pPr>
            <a:lvl5pPr marL="2057400" indent="-228600" algn="l">
              <a:spcBef>
                <a:spcPct val="20000"/>
              </a:spcBef>
              <a:buClr>
                <a:srgbClr val="800000"/>
              </a:buClr>
              <a:buSzPct val="150000"/>
              <a:buChar char="»"/>
              <a:defRPr b="1">
                <a:solidFill>
                  <a:schemeClr val="tx1"/>
                </a:solidFill>
                <a:latin typeface="Arial" panose="020B0604020202020204" pitchFamily="34" charset="0"/>
              </a:defRPr>
            </a:lvl5pPr>
            <a:lvl6pPr marL="25146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6pPr>
            <a:lvl7pPr marL="29718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7pPr>
            <a:lvl8pPr marL="34290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8pPr>
            <a:lvl9pPr marL="38862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9pPr>
          </a:lstStyle>
          <a:p>
            <a:pPr>
              <a:lnSpc>
                <a:spcPct val="90000"/>
              </a:lnSpc>
              <a:buClrTx/>
              <a:buFont typeface="Arial" panose="020B0604020202020204" pitchFamily="34" charset="0"/>
              <a:buChar char="•"/>
            </a:pPr>
            <a:r>
              <a:rPr lang="en-US" altLang="en-US" sz="1700" b="0" dirty="0">
                <a:solidFill>
                  <a:schemeClr val="tx1"/>
                </a:solidFill>
                <a:latin typeface="+mn-lt"/>
              </a:rPr>
              <a:t>Integrates System and Safety Engineering About a Common Model</a:t>
            </a:r>
          </a:p>
        </p:txBody>
      </p:sp>
      <p:sp>
        <p:nvSpPr>
          <p:cNvPr id="154809" name="Rectangle 185"/>
          <p:cNvSpPr>
            <a:spLocks noChangeArrowheads="1"/>
          </p:cNvSpPr>
          <p:nvPr/>
        </p:nvSpPr>
        <p:spPr bwMode="auto">
          <a:xfrm>
            <a:off x="5054600" y="4724400"/>
            <a:ext cx="4089400" cy="3746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342900" indent="-342900" algn="l">
              <a:spcBef>
                <a:spcPct val="45000"/>
              </a:spcBef>
              <a:buClr>
                <a:srgbClr val="990000"/>
              </a:buClr>
              <a:buFont typeface="Wingdings" panose="05000000000000000000" pitchFamily="2" charset="2"/>
              <a:buChar char="§"/>
              <a:defRPr sz="2800" b="1">
                <a:solidFill>
                  <a:srgbClr val="993300"/>
                </a:solidFill>
                <a:latin typeface="Arial" panose="020B0604020202020204" pitchFamily="34" charset="0"/>
              </a:defRPr>
            </a:lvl1pPr>
            <a:lvl2pPr marL="742950" indent="-285750" algn="l">
              <a:spcBef>
                <a:spcPct val="20000"/>
              </a:spcBef>
              <a:buClr>
                <a:schemeClr val="tx1"/>
              </a:buClr>
              <a:buSzPct val="115000"/>
              <a:buFont typeface="Arial" panose="020B0604020202020204" pitchFamily="34" charset="0"/>
              <a:buChar char="–"/>
              <a:defRPr sz="2400" b="1">
                <a:solidFill>
                  <a:schemeClr val="tx1"/>
                </a:solidFill>
                <a:latin typeface="Arial" panose="020B0604020202020204" pitchFamily="34" charset="0"/>
              </a:defRPr>
            </a:lvl2pPr>
            <a:lvl3pPr marL="1143000" indent="-228600" algn="l">
              <a:spcBef>
                <a:spcPct val="20000"/>
              </a:spcBef>
              <a:buClr>
                <a:srgbClr val="990000"/>
              </a:buClr>
              <a:buSzPct val="150000"/>
              <a:buChar char="•"/>
              <a:defRPr b="1">
                <a:solidFill>
                  <a:srgbClr val="993300"/>
                </a:solidFill>
                <a:latin typeface="Arial" panose="020B0604020202020204" pitchFamily="34" charset="0"/>
              </a:defRPr>
            </a:lvl3pPr>
            <a:lvl4pPr marL="1600200" indent="-228600" algn="l">
              <a:spcBef>
                <a:spcPct val="20000"/>
              </a:spcBef>
              <a:buClr>
                <a:srgbClr val="800000"/>
              </a:buClr>
              <a:buSzPct val="150000"/>
              <a:defRPr b="1">
                <a:solidFill>
                  <a:schemeClr val="tx1"/>
                </a:solidFill>
                <a:latin typeface="Arial" panose="020B0604020202020204" pitchFamily="34" charset="0"/>
              </a:defRPr>
            </a:lvl4pPr>
            <a:lvl5pPr marL="2057400" indent="-228600" algn="l">
              <a:spcBef>
                <a:spcPct val="20000"/>
              </a:spcBef>
              <a:buClr>
                <a:srgbClr val="800000"/>
              </a:buClr>
              <a:buSzPct val="150000"/>
              <a:buChar char="»"/>
              <a:defRPr b="1">
                <a:solidFill>
                  <a:schemeClr val="tx1"/>
                </a:solidFill>
                <a:latin typeface="Arial" panose="020B0604020202020204" pitchFamily="34" charset="0"/>
              </a:defRPr>
            </a:lvl5pPr>
            <a:lvl6pPr marL="25146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6pPr>
            <a:lvl7pPr marL="29718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7pPr>
            <a:lvl8pPr marL="34290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8pPr>
            <a:lvl9pPr marL="38862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9pPr>
          </a:lstStyle>
          <a:p>
            <a:pPr>
              <a:lnSpc>
                <a:spcPct val="90000"/>
              </a:lnSpc>
              <a:buFont typeface="Wingdings" panose="05000000000000000000" pitchFamily="2" charset="2"/>
              <a:buNone/>
            </a:pPr>
            <a:r>
              <a:rPr lang="en-US" altLang="en-US" sz="1700" b="0" dirty="0">
                <a:solidFill>
                  <a:schemeClr val="tx1"/>
                </a:solidFill>
                <a:latin typeface="+mn-lt"/>
              </a:rPr>
              <a:t>and the Physical System</a:t>
            </a:r>
          </a:p>
        </p:txBody>
      </p:sp>
      <p:sp>
        <p:nvSpPr>
          <p:cNvPr id="3" name="Rectangle 2"/>
          <p:cNvSpPr/>
          <p:nvPr/>
        </p:nvSpPr>
        <p:spPr>
          <a:xfrm>
            <a:off x="6019800" y="542926"/>
            <a:ext cx="2971800" cy="1089024"/>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Wheel Braking System</a:t>
            </a:r>
          </a:p>
          <a:p>
            <a:pPr algn="ctr"/>
            <a:r>
              <a:rPr lang="en-US" dirty="0" smtClean="0"/>
              <a:t>AIR6110</a:t>
            </a:r>
          </a:p>
          <a:p>
            <a:pPr algn="ctr"/>
            <a:r>
              <a:rPr lang="en-US" sz="1200" dirty="0"/>
              <a:t>CONTIGUOUS AIRCRAFT/SYSTEM DEVELOPMENT PROCESS </a:t>
            </a:r>
            <a:r>
              <a:rPr lang="en-US" sz="1200" dirty="0" smtClean="0"/>
              <a:t>EXAMPLE</a:t>
            </a:r>
            <a:endParaRPr lang="en-US" sz="1200" dirty="0"/>
          </a:p>
        </p:txBody>
      </p:sp>
      <p:sp>
        <p:nvSpPr>
          <p:cNvPr id="187" name="Slide Number Placeholder 186"/>
          <p:cNvSpPr>
            <a:spLocks noGrp="1"/>
          </p:cNvSpPr>
          <p:nvPr>
            <p:ph type="sldNum" sz="quarter" idx="12"/>
          </p:nvPr>
        </p:nvSpPr>
        <p:spPr/>
        <p:txBody>
          <a:bodyPr/>
          <a:lstStyle/>
          <a:p>
            <a:fld id="{A3FF127A-2DBF-924B-94E1-163D8C9D5B47}" type="slidenum">
              <a:rPr lang="en-US" smtClean="0"/>
              <a:pPr/>
              <a:t>4</a:t>
            </a:fld>
            <a:endParaRPr lang="en-US"/>
          </a:p>
        </p:txBody>
      </p:sp>
      <p:sp>
        <p:nvSpPr>
          <p:cNvPr id="188" name="Footer Placeholder 187"/>
          <p:cNvSpPr>
            <a:spLocks noGrp="1"/>
          </p:cNvSpPr>
          <p:nvPr>
            <p:ph type="ftr" sz="quarter" idx="11"/>
          </p:nvPr>
        </p:nvSpPr>
        <p:spPr/>
        <p:txBody>
          <a:bodyPr/>
          <a:lstStyle/>
          <a:p>
            <a:r>
              <a:rPr lang="en-US" smtClean="0"/>
              <a:t>AMASE   </a:t>
            </a:r>
            <a:endParaRPr lang="en-US"/>
          </a:p>
        </p:txBody>
      </p:sp>
    </p:spTree>
    <p:extLst>
      <p:ext uri="{BB962C8B-B14F-4D97-AF65-F5344CB8AC3E}">
        <p14:creationId xmlns:p14="http://schemas.microsoft.com/office/powerpoint/2010/main" val="304001407"/>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2"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1000" fill="hold"/>
                                        <p:tgtEl>
                                          <p:spTgt spid="5"/>
                                        </p:tgtEl>
                                        <p:attrNameLst>
                                          <p:attrName>ppt_x</p:attrName>
                                        </p:attrNameLst>
                                      </p:cBhvr>
                                      <p:tavLst>
                                        <p:tav tm="0">
                                          <p:val>
                                            <p:strVal val="1+#ppt_w/2"/>
                                          </p:val>
                                        </p:tav>
                                        <p:tav tm="100000">
                                          <p:val>
                                            <p:strVal val="#ppt_x"/>
                                          </p:val>
                                        </p:tav>
                                      </p:tavLst>
                                    </p:anim>
                                    <p:anim calcmode="lin" valueType="num">
                                      <p:cBhvr additive="base">
                                        <p:cTn id="8" dur="1000" fill="hold"/>
                                        <p:tgtEl>
                                          <p:spTgt spid="5"/>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154809"/>
                                        </p:tgtEl>
                                        <p:attrNameLst>
                                          <p:attrName>style.visibility</p:attrName>
                                        </p:attrNameLst>
                                      </p:cBhvr>
                                      <p:to>
                                        <p:strVal val="visible"/>
                                      </p:to>
                                    </p:set>
                                    <p:anim calcmode="lin" valueType="num">
                                      <p:cBhvr additive="base">
                                        <p:cTn id="11" dur="1000" fill="hold"/>
                                        <p:tgtEl>
                                          <p:spTgt spid="154809"/>
                                        </p:tgtEl>
                                        <p:attrNameLst>
                                          <p:attrName>ppt_x</p:attrName>
                                        </p:attrNameLst>
                                      </p:cBhvr>
                                      <p:tavLst>
                                        <p:tav tm="0">
                                          <p:val>
                                            <p:strVal val="1+#ppt_w/2"/>
                                          </p:val>
                                        </p:tav>
                                        <p:tav tm="100000">
                                          <p:val>
                                            <p:strVal val="#ppt_x"/>
                                          </p:val>
                                        </p:tav>
                                      </p:tavLst>
                                    </p:anim>
                                    <p:anim calcmode="lin" valueType="num">
                                      <p:cBhvr additive="base">
                                        <p:cTn id="12" dur="1000" fill="hold"/>
                                        <p:tgtEl>
                                          <p:spTgt spid="154809"/>
                                        </p:tgtEl>
                                        <p:attrNameLst>
                                          <p:attrName>ppt_y</p:attrName>
                                        </p:attrNameLst>
                                      </p:cBhvr>
                                      <p:tavLst>
                                        <p:tav tm="0">
                                          <p:val>
                                            <p:strVal val="#ppt_y"/>
                                          </p:val>
                                        </p:tav>
                                        <p:tav tm="100000">
                                          <p:val>
                                            <p:strVal val="#ppt_y"/>
                                          </p:val>
                                        </p:tav>
                                      </p:tavLst>
                                    </p:anim>
                                  </p:childTnLst>
                                </p:cTn>
                              </p:par>
                            </p:childTnLst>
                          </p:cTn>
                        </p:par>
                      </p:childTnLst>
                    </p:cTn>
                  </p:par>
                  <p:par>
                    <p:cTn id="13" fill="hold" nodeType="clickPar">
                      <p:stCondLst>
                        <p:cond delay="indefinite"/>
                      </p:stCondLst>
                      <p:childTnLst>
                        <p:par>
                          <p:cTn id="14" fill="hold" nodeType="withGroup">
                            <p:stCondLst>
                              <p:cond delay="0"/>
                            </p:stCondLst>
                            <p:childTnLst>
                              <p:par>
                                <p:cTn id="15" presetID="2" presetClass="entr" presetSubtype="2"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 calcmode="lin" valueType="num">
                                      <p:cBhvr additive="base">
                                        <p:cTn id="17" dur="1000" fill="hold"/>
                                        <p:tgtEl>
                                          <p:spTgt spid="7"/>
                                        </p:tgtEl>
                                        <p:attrNameLst>
                                          <p:attrName>ppt_x</p:attrName>
                                        </p:attrNameLst>
                                      </p:cBhvr>
                                      <p:tavLst>
                                        <p:tav tm="0">
                                          <p:val>
                                            <p:strVal val="1+#ppt_w/2"/>
                                          </p:val>
                                        </p:tav>
                                        <p:tav tm="100000">
                                          <p:val>
                                            <p:strVal val="#ppt_x"/>
                                          </p:val>
                                        </p:tav>
                                      </p:tavLst>
                                    </p:anim>
                                    <p:anim calcmode="lin" valueType="num">
                                      <p:cBhvr additive="base">
                                        <p:cTn id="18" dur="1000" fill="hold"/>
                                        <p:tgtEl>
                                          <p:spTgt spid="7"/>
                                        </p:tgtEl>
                                        <p:attrNameLst>
                                          <p:attrName>ppt_y</p:attrName>
                                        </p:attrNameLst>
                                      </p:cBhvr>
                                      <p:tavLst>
                                        <p:tav tm="0">
                                          <p:val>
                                            <p:strVal val="#ppt_y"/>
                                          </p:val>
                                        </p:tav>
                                        <p:tav tm="100000">
                                          <p:val>
                                            <p:strVal val="#ppt_y"/>
                                          </p:val>
                                        </p:tav>
                                      </p:tavLst>
                                    </p:anim>
                                  </p:childTnLst>
                                </p:cTn>
                              </p:par>
                              <p:par>
                                <p:cTn id="19" presetID="2" presetClass="entr" presetSubtype="8" fill="hold" grpId="0" nodeType="withEffect">
                                  <p:stCondLst>
                                    <p:cond delay="0"/>
                                  </p:stCondLst>
                                  <p:childTnLst>
                                    <p:set>
                                      <p:cBhvr>
                                        <p:cTn id="20" dur="1" fill="hold">
                                          <p:stCondLst>
                                            <p:cond delay="0"/>
                                          </p:stCondLst>
                                        </p:cTn>
                                        <p:tgtEl>
                                          <p:spTgt spid="154627">
                                            <p:txEl>
                                              <p:pRg st="0" end="0"/>
                                            </p:txEl>
                                          </p:spTgt>
                                        </p:tgtEl>
                                        <p:attrNameLst>
                                          <p:attrName>style.visibility</p:attrName>
                                        </p:attrNameLst>
                                      </p:cBhvr>
                                      <p:to>
                                        <p:strVal val="visible"/>
                                      </p:to>
                                    </p:set>
                                    <p:anim calcmode="lin" valueType="num">
                                      <p:cBhvr additive="base">
                                        <p:cTn id="21" dur="1000" fill="hold"/>
                                        <p:tgtEl>
                                          <p:spTgt spid="154627">
                                            <p:txEl>
                                              <p:pRg st="0" end="0"/>
                                            </p:txEl>
                                          </p:spTgt>
                                        </p:tgtEl>
                                        <p:attrNameLst>
                                          <p:attrName>ppt_x</p:attrName>
                                        </p:attrNameLst>
                                      </p:cBhvr>
                                      <p:tavLst>
                                        <p:tav tm="0">
                                          <p:val>
                                            <p:strVal val="0-#ppt_w/2"/>
                                          </p:val>
                                        </p:tav>
                                        <p:tav tm="100000">
                                          <p:val>
                                            <p:strVal val="#ppt_x"/>
                                          </p:val>
                                        </p:tav>
                                      </p:tavLst>
                                    </p:anim>
                                    <p:anim calcmode="lin" valueType="num">
                                      <p:cBhvr additive="base">
                                        <p:cTn id="22" dur="1000" fill="hold"/>
                                        <p:tgtEl>
                                          <p:spTgt spid="15462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23" fill="hold" nodeType="clickPar">
                      <p:stCondLst>
                        <p:cond delay="indefinite"/>
                      </p:stCondLst>
                      <p:childTnLst>
                        <p:par>
                          <p:cTn id="24" fill="hold" nodeType="withGroup">
                            <p:stCondLst>
                              <p:cond delay="0"/>
                            </p:stCondLst>
                            <p:childTnLst>
                              <p:par>
                                <p:cTn id="25" presetID="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 calcmode="lin" valueType="num">
                                      <p:cBhvr additive="base">
                                        <p:cTn id="27" dur="1000" fill="hold"/>
                                        <p:tgtEl>
                                          <p:spTgt spid="6"/>
                                        </p:tgtEl>
                                        <p:attrNameLst>
                                          <p:attrName>ppt_x</p:attrName>
                                        </p:attrNameLst>
                                      </p:cBhvr>
                                      <p:tavLst>
                                        <p:tav tm="0">
                                          <p:val>
                                            <p:strVal val="0-#ppt_w/2"/>
                                          </p:val>
                                        </p:tav>
                                        <p:tav tm="100000">
                                          <p:val>
                                            <p:strVal val="#ppt_x"/>
                                          </p:val>
                                        </p:tav>
                                      </p:tavLst>
                                    </p:anim>
                                    <p:anim calcmode="lin" valueType="num">
                                      <p:cBhvr additive="base">
                                        <p:cTn id="28" dur="1000" fill="hold"/>
                                        <p:tgtEl>
                                          <p:spTgt spid="6"/>
                                        </p:tgtEl>
                                        <p:attrNameLst>
                                          <p:attrName>ppt_y</p:attrName>
                                        </p:attrNameLst>
                                      </p:cBhvr>
                                      <p:tavLst>
                                        <p:tav tm="0">
                                          <p:val>
                                            <p:strVal val="#ppt_y"/>
                                          </p:val>
                                        </p:tav>
                                        <p:tav tm="100000">
                                          <p:val>
                                            <p:strVal val="#ppt_y"/>
                                          </p:val>
                                        </p:tav>
                                      </p:tavLst>
                                    </p:anim>
                                  </p:childTnLst>
                                </p:cTn>
                              </p:par>
                              <p:par>
                                <p:cTn id="29" presetID="2" presetClass="entr" presetSubtype="2" fill="hold" grpId="0" nodeType="withEffect">
                                  <p:stCondLst>
                                    <p:cond delay="0"/>
                                  </p:stCondLst>
                                  <p:childTnLst>
                                    <p:set>
                                      <p:cBhvr>
                                        <p:cTn id="30" dur="1" fill="hold">
                                          <p:stCondLst>
                                            <p:cond delay="0"/>
                                          </p:stCondLst>
                                        </p:cTn>
                                        <p:tgtEl>
                                          <p:spTgt spid="154807"/>
                                        </p:tgtEl>
                                        <p:attrNameLst>
                                          <p:attrName>style.visibility</p:attrName>
                                        </p:attrNameLst>
                                      </p:cBhvr>
                                      <p:to>
                                        <p:strVal val="visible"/>
                                      </p:to>
                                    </p:set>
                                    <p:anim calcmode="lin" valueType="num">
                                      <p:cBhvr additive="base">
                                        <p:cTn id="31" dur="1000" fill="hold"/>
                                        <p:tgtEl>
                                          <p:spTgt spid="154807"/>
                                        </p:tgtEl>
                                        <p:attrNameLst>
                                          <p:attrName>ppt_x</p:attrName>
                                        </p:attrNameLst>
                                      </p:cBhvr>
                                      <p:tavLst>
                                        <p:tav tm="0">
                                          <p:val>
                                            <p:strVal val="1+#ppt_w/2"/>
                                          </p:val>
                                        </p:tav>
                                        <p:tav tm="100000">
                                          <p:val>
                                            <p:strVal val="#ppt_x"/>
                                          </p:val>
                                        </p:tav>
                                      </p:tavLst>
                                    </p:anim>
                                    <p:anim calcmode="lin" valueType="num">
                                      <p:cBhvr additive="base">
                                        <p:cTn id="32" dur="1000" fill="hold"/>
                                        <p:tgtEl>
                                          <p:spTgt spid="154807"/>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54808"/>
                                        </p:tgtEl>
                                        <p:attrNameLst>
                                          <p:attrName>style.visibility</p:attrName>
                                        </p:attrNameLst>
                                      </p:cBhvr>
                                      <p:to>
                                        <p:strVal val="visible"/>
                                      </p:to>
                                    </p:set>
                                  </p:childTnLst>
                                </p:cTn>
                              </p:par>
                            </p:childTnLst>
                          </p:cTn>
                        </p:par>
                      </p:childTnLst>
                    </p:cTn>
                  </p:par>
                  <p:par>
                    <p:cTn id="37" fill="hold" nodeType="clickPar">
                      <p:stCondLst>
                        <p:cond delay="indefinite"/>
                      </p:stCondLst>
                      <p:childTnLst>
                        <p:par>
                          <p:cTn id="38" fill="hold" nodeType="withGroup">
                            <p:stCondLst>
                              <p:cond delay="0"/>
                            </p:stCondLst>
                            <p:childTnLst>
                              <p:par>
                                <p:cTn id="39" presetID="1" presetClass="entr" presetSubtype="0" fill="hold" nodeType="clickEffect">
                                  <p:stCondLst>
                                    <p:cond delay="0"/>
                                  </p:stCondLst>
                                  <p:childTnLst>
                                    <p:set>
                                      <p:cBhvr>
                                        <p:cTn id="40" dur="1" fill="hold">
                                          <p:stCondLst>
                                            <p:cond delay="0"/>
                                          </p:stCondLst>
                                        </p:cTn>
                                        <p:tgtEl>
                                          <p:spTgt spid="8"/>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548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4627" grpId="0" build="p"/>
      <p:bldP spid="154805" grpId="0"/>
      <p:bldP spid="154807" grpId="0"/>
      <p:bldP spid="154808" grpId="0"/>
      <p:bldP spid="154809"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
            <a:ext cx="8229600" cy="738604"/>
          </a:xfrm>
        </p:spPr>
        <p:txBody>
          <a:bodyPr>
            <a:normAutofit fontScale="90000"/>
          </a:bodyPr>
          <a:lstStyle/>
          <a:p>
            <a:r>
              <a:rPr lang="en-US" dirty="0" smtClean="0"/>
              <a:t>Wheel Brake System</a:t>
            </a:r>
            <a:endParaRPr lang="en-US" dirty="0"/>
          </a:p>
        </p:txBody>
      </p:sp>
      <p:pic>
        <p:nvPicPr>
          <p:cNvPr id="4" name="Content Placeholder 3" descr="wbs_sae.ppm"/>
          <p:cNvPicPr>
            <a:picLocks noGrp="1" noChangeAspect="1"/>
          </p:cNvPicPr>
          <p:nvPr>
            <p:ph idx="1"/>
          </p:nvPr>
        </p:nvPicPr>
        <p:blipFill>
          <a:blip r:embed="rId2"/>
          <a:srcRect l="-25397" r="-25397"/>
          <a:stretch>
            <a:fillRect/>
          </a:stretch>
        </p:blipFill>
        <p:spPr>
          <a:xfrm>
            <a:off x="1" y="1127344"/>
            <a:ext cx="9317322" cy="5219106"/>
          </a:xfrm>
        </p:spPr>
      </p:pic>
      <p:sp>
        <p:nvSpPr>
          <p:cNvPr id="5" name="Slide Number Placeholder 4"/>
          <p:cNvSpPr>
            <a:spLocks noGrp="1"/>
          </p:cNvSpPr>
          <p:nvPr>
            <p:ph type="sldNum" sz="quarter" idx="12"/>
          </p:nvPr>
        </p:nvSpPr>
        <p:spPr/>
        <p:txBody>
          <a:bodyPr/>
          <a:lstStyle/>
          <a:p>
            <a:fld id="{A3FF127A-2DBF-924B-94E1-163D8C9D5B47}" type="slidenum">
              <a:rPr lang="en-US" smtClean="0"/>
              <a:pPr/>
              <a:t>5</a:t>
            </a:fld>
            <a:endParaRPr lang="en-US"/>
          </a:p>
        </p:txBody>
      </p:sp>
      <p:sp>
        <p:nvSpPr>
          <p:cNvPr id="6" name="Footer Placeholder 5"/>
          <p:cNvSpPr>
            <a:spLocks noGrp="1"/>
          </p:cNvSpPr>
          <p:nvPr>
            <p:ph type="ftr" sz="quarter" idx="11"/>
          </p:nvPr>
        </p:nvSpPr>
        <p:spPr/>
        <p:txBody>
          <a:bodyPr/>
          <a:lstStyle/>
          <a:p>
            <a:r>
              <a:rPr lang="en-US" smtClean="0"/>
              <a:t>AMASE   </a:t>
            </a:r>
            <a:endParaRPr lang="en-US"/>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
            <a:ext cx="8229600" cy="738604"/>
          </a:xfrm>
        </p:spPr>
        <p:txBody>
          <a:bodyPr>
            <a:normAutofit fontScale="90000"/>
          </a:bodyPr>
          <a:lstStyle/>
          <a:p>
            <a:r>
              <a:rPr lang="en-US" dirty="0" smtClean="0"/>
              <a:t>Wheel Brake System</a:t>
            </a:r>
            <a:endParaRPr lang="en-US" dirty="0"/>
          </a:p>
        </p:txBody>
      </p:sp>
      <p:pic>
        <p:nvPicPr>
          <p:cNvPr id="4" name="Content Placeholder 3" descr="wbs_sae.ppm"/>
          <p:cNvPicPr>
            <a:picLocks noGrp="1" noChangeAspect="1"/>
          </p:cNvPicPr>
          <p:nvPr>
            <p:ph idx="1"/>
          </p:nvPr>
        </p:nvPicPr>
        <p:blipFill>
          <a:blip r:embed="rId2"/>
          <a:srcRect l="-25397" r="-25397"/>
          <a:stretch>
            <a:fillRect/>
          </a:stretch>
        </p:blipFill>
        <p:spPr>
          <a:xfrm>
            <a:off x="1" y="1127344"/>
            <a:ext cx="9317322" cy="5219106"/>
          </a:xfrm>
        </p:spPr>
      </p:pic>
      <p:sp>
        <p:nvSpPr>
          <p:cNvPr id="5" name="Slide Number Placeholder 4"/>
          <p:cNvSpPr>
            <a:spLocks noGrp="1"/>
          </p:cNvSpPr>
          <p:nvPr>
            <p:ph type="sldNum" sz="quarter" idx="12"/>
          </p:nvPr>
        </p:nvSpPr>
        <p:spPr/>
        <p:txBody>
          <a:bodyPr/>
          <a:lstStyle/>
          <a:p>
            <a:fld id="{A3FF127A-2DBF-924B-94E1-163D8C9D5B47}" type="slidenum">
              <a:rPr lang="en-US" smtClean="0"/>
              <a:pPr/>
              <a:t>6</a:t>
            </a:fld>
            <a:endParaRPr lang="en-US"/>
          </a:p>
        </p:txBody>
      </p:sp>
      <p:sp>
        <p:nvSpPr>
          <p:cNvPr id="6" name="Footer Placeholder 5"/>
          <p:cNvSpPr>
            <a:spLocks noGrp="1"/>
          </p:cNvSpPr>
          <p:nvPr>
            <p:ph type="ftr" sz="quarter" idx="11"/>
          </p:nvPr>
        </p:nvSpPr>
        <p:spPr/>
        <p:txBody>
          <a:bodyPr/>
          <a:lstStyle/>
          <a:p>
            <a:r>
              <a:rPr lang="en-US" smtClean="0"/>
              <a:t>AMASE   </a:t>
            </a:r>
            <a:endParaRPr lang="en-US"/>
          </a:p>
        </p:txBody>
      </p:sp>
      <p:sp>
        <p:nvSpPr>
          <p:cNvPr id="7" name="Oval 6"/>
          <p:cNvSpPr/>
          <p:nvPr/>
        </p:nvSpPr>
        <p:spPr>
          <a:xfrm>
            <a:off x="4343400" y="1127344"/>
            <a:ext cx="1016000" cy="815756"/>
          </a:xfrm>
          <a:prstGeom prst="ellipse">
            <a:avLst/>
          </a:prstGeom>
          <a:noFill/>
          <a:ln w="38100" cap="flat" cmpd="sng" algn="ctr">
            <a:solidFill>
              <a:srgbClr val="FF0000"/>
            </a:solidFill>
            <a:prstDash val="solid"/>
            <a:round/>
            <a:headEnd type="none" w="med" len="med"/>
            <a:tailEnd type="none" w="med" len="med"/>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
            <a:ext cx="8229600" cy="738604"/>
          </a:xfrm>
        </p:spPr>
        <p:txBody>
          <a:bodyPr>
            <a:normAutofit fontScale="90000"/>
          </a:bodyPr>
          <a:lstStyle/>
          <a:p>
            <a:r>
              <a:rPr lang="en-US" dirty="0" smtClean="0"/>
              <a:t>Wheel Brake System</a:t>
            </a:r>
            <a:endParaRPr lang="en-US" dirty="0"/>
          </a:p>
        </p:txBody>
      </p:sp>
      <p:pic>
        <p:nvPicPr>
          <p:cNvPr id="4" name="Content Placeholder 3" descr="wbs_sae.ppm"/>
          <p:cNvPicPr>
            <a:picLocks noGrp="1" noChangeAspect="1"/>
          </p:cNvPicPr>
          <p:nvPr>
            <p:ph idx="1"/>
          </p:nvPr>
        </p:nvPicPr>
        <p:blipFill>
          <a:blip r:embed="rId2"/>
          <a:srcRect l="-25397" r="-25397"/>
          <a:stretch>
            <a:fillRect/>
          </a:stretch>
        </p:blipFill>
        <p:spPr>
          <a:xfrm>
            <a:off x="1" y="1127344"/>
            <a:ext cx="9317322" cy="5219106"/>
          </a:xfrm>
        </p:spPr>
      </p:pic>
      <p:sp>
        <p:nvSpPr>
          <p:cNvPr id="5" name="Slide Number Placeholder 4"/>
          <p:cNvSpPr>
            <a:spLocks noGrp="1"/>
          </p:cNvSpPr>
          <p:nvPr>
            <p:ph type="sldNum" sz="quarter" idx="12"/>
          </p:nvPr>
        </p:nvSpPr>
        <p:spPr/>
        <p:txBody>
          <a:bodyPr/>
          <a:lstStyle/>
          <a:p>
            <a:fld id="{A3FF127A-2DBF-924B-94E1-163D8C9D5B47}" type="slidenum">
              <a:rPr lang="en-US" smtClean="0"/>
              <a:pPr/>
              <a:t>7</a:t>
            </a:fld>
            <a:endParaRPr lang="en-US"/>
          </a:p>
        </p:txBody>
      </p:sp>
      <p:sp>
        <p:nvSpPr>
          <p:cNvPr id="6" name="Footer Placeholder 5"/>
          <p:cNvSpPr>
            <a:spLocks noGrp="1"/>
          </p:cNvSpPr>
          <p:nvPr>
            <p:ph type="ftr" sz="quarter" idx="11"/>
          </p:nvPr>
        </p:nvSpPr>
        <p:spPr/>
        <p:txBody>
          <a:bodyPr/>
          <a:lstStyle/>
          <a:p>
            <a:r>
              <a:rPr lang="en-US" smtClean="0"/>
              <a:t>AMASE   </a:t>
            </a:r>
            <a:endParaRPr lang="en-US"/>
          </a:p>
        </p:txBody>
      </p:sp>
      <p:sp>
        <p:nvSpPr>
          <p:cNvPr id="7" name="Oval 6"/>
          <p:cNvSpPr/>
          <p:nvPr/>
        </p:nvSpPr>
        <p:spPr>
          <a:xfrm>
            <a:off x="5422900" y="1127344"/>
            <a:ext cx="876300" cy="790356"/>
          </a:xfrm>
          <a:prstGeom prst="ellipse">
            <a:avLst/>
          </a:prstGeom>
          <a:noFill/>
          <a:ln w="38100" cap="flat" cmpd="sng" algn="ctr">
            <a:solidFill>
              <a:srgbClr val="FF0000"/>
            </a:solidFill>
            <a:prstDash val="solid"/>
            <a:round/>
            <a:headEnd type="none" w="med" len="med"/>
            <a:tailEnd type="none" w="med" len="med"/>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
            <a:ext cx="8229600" cy="738604"/>
          </a:xfrm>
        </p:spPr>
        <p:txBody>
          <a:bodyPr>
            <a:normAutofit fontScale="90000"/>
          </a:bodyPr>
          <a:lstStyle/>
          <a:p>
            <a:r>
              <a:rPr lang="en-US" dirty="0" smtClean="0"/>
              <a:t>Wheel Brake System</a:t>
            </a:r>
            <a:endParaRPr lang="en-US" dirty="0"/>
          </a:p>
        </p:txBody>
      </p:sp>
      <p:pic>
        <p:nvPicPr>
          <p:cNvPr id="4" name="Content Placeholder 3" descr="wbs_sae.ppm"/>
          <p:cNvPicPr>
            <a:picLocks noGrp="1" noChangeAspect="1"/>
          </p:cNvPicPr>
          <p:nvPr>
            <p:ph idx="1"/>
          </p:nvPr>
        </p:nvPicPr>
        <p:blipFill>
          <a:blip r:embed="rId2"/>
          <a:srcRect l="-25397" r="-25397"/>
          <a:stretch>
            <a:fillRect/>
          </a:stretch>
        </p:blipFill>
        <p:spPr>
          <a:xfrm>
            <a:off x="1" y="1127344"/>
            <a:ext cx="9317322" cy="5219106"/>
          </a:xfrm>
        </p:spPr>
      </p:pic>
      <p:sp>
        <p:nvSpPr>
          <p:cNvPr id="5" name="Slide Number Placeholder 4"/>
          <p:cNvSpPr>
            <a:spLocks noGrp="1"/>
          </p:cNvSpPr>
          <p:nvPr>
            <p:ph type="sldNum" sz="quarter" idx="12"/>
          </p:nvPr>
        </p:nvSpPr>
        <p:spPr/>
        <p:txBody>
          <a:bodyPr/>
          <a:lstStyle/>
          <a:p>
            <a:fld id="{A3FF127A-2DBF-924B-94E1-163D8C9D5B47}" type="slidenum">
              <a:rPr lang="en-US" smtClean="0"/>
              <a:pPr/>
              <a:t>8</a:t>
            </a:fld>
            <a:endParaRPr lang="en-US"/>
          </a:p>
        </p:txBody>
      </p:sp>
      <p:sp>
        <p:nvSpPr>
          <p:cNvPr id="6" name="Footer Placeholder 5"/>
          <p:cNvSpPr>
            <a:spLocks noGrp="1"/>
          </p:cNvSpPr>
          <p:nvPr>
            <p:ph type="ftr" sz="quarter" idx="11"/>
          </p:nvPr>
        </p:nvSpPr>
        <p:spPr/>
        <p:txBody>
          <a:bodyPr/>
          <a:lstStyle/>
          <a:p>
            <a:r>
              <a:rPr lang="en-US" smtClean="0"/>
              <a:t>AMASE   </a:t>
            </a:r>
            <a:endParaRPr lang="en-US"/>
          </a:p>
        </p:txBody>
      </p:sp>
      <p:sp>
        <p:nvSpPr>
          <p:cNvPr id="7" name="Oval 6"/>
          <p:cNvSpPr/>
          <p:nvPr/>
        </p:nvSpPr>
        <p:spPr>
          <a:xfrm>
            <a:off x="6019800" y="3568700"/>
            <a:ext cx="1727200" cy="647700"/>
          </a:xfrm>
          <a:prstGeom prst="ellipse">
            <a:avLst/>
          </a:prstGeom>
          <a:noFill/>
          <a:ln w="38100" cap="flat" cmpd="sng" algn="ctr">
            <a:solidFill>
              <a:srgbClr val="FF0000"/>
            </a:solidFill>
            <a:prstDash val="solid"/>
            <a:round/>
            <a:headEnd type="none" w="med" len="med"/>
            <a:tailEnd type="none" w="med" len="med"/>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504825"/>
            <a:ext cx="8305800" cy="503237"/>
          </a:xfrm>
        </p:spPr>
        <p:txBody>
          <a:bodyPr>
            <a:normAutofit fontScale="90000"/>
          </a:bodyPr>
          <a:lstStyle/>
          <a:p>
            <a:r>
              <a:rPr lang="en-US" dirty="0" smtClean="0"/>
              <a:t>Architecture Analysis and Design Language (AADL)</a:t>
            </a:r>
            <a:endParaRPr lang="en-US" dirty="0"/>
          </a:p>
        </p:txBody>
      </p:sp>
      <p:sp>
        <p:nvSpPr>
          <p:cNvPr id="19" name="Rectangle 18"/>
          <p:cNvSpPr/>
          <p:nvPr/>
        </p:nvSpPr>
        <p:spPr>
          <a:xfrm>
            <a:off x="1447800" y="4953000"/>
            <a:ext cx="6477000" cy="13716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600" b="1" dirty="0" smtClean="0"/>
              <a:t>AADL = SAE AS5506 standard</a:t>
            </a:r>
          </a:p>
          <a:p>
            <a:pPr marL="285750" indent="-285750">
              <a:buFont typeface="Arial" panose="020B0604020202020204" pitchFamily="34" charset="0"/>
              <a:buChar char="•"/>
            </a:pPr>
            <a:r>
              <a:rPr lang="en-US" sz="1600" dirty="0" smtClean="0"/>
              <a:t>Target: Embedded, real-time, distributed systems</a:t>
            </a:r>
          </a:p>
          <a:p>
            <a:pPr marL="285750" indent="-285750">
              <a:buFont typeface="Arial" panose="020B0604020202020204" pitchFamily="34" charset="0"/>
              <a:buChar char="•"/>
            </a:pPr>
            <a:r>
              <a:rPr lang="en-US" sz="1600" dirty="0" smtClean="0"/>
              <a:t>Describes both hardware and software</a:t>
            </a:r>
          </a:p>
          <a:p>
            <a:pPr marL="285750" indent="-285750">
              <a:buFont typeface="Arial" panose="020B0604020202020204" pitchFamily="34" charset="0"/>
              <a:buChar char="•"/>
            </a:pPr>
            <a:r>
              <a:rPr lang="en-US" sz="1600" dirty="0" smtClean="0"/>
              <a:t>Extensible syntax (annex)</a:t>
            </a:r>
          </a:p>
          <a:p>
            <a:pPr marL="285750" indent="-285750">
              <a:buFont typeface="Arial" panose="020B0604020202020204" pitchFamily="34" charset="0"/>
              <a:buChar char="•"/>
            </a:pPr>
            <a:r>
              <a:rPr lang="en-US" sz="1600" dirty="0" smtClean="0"/>
              <a:t>Open source tools, supported by SEI</a:t>
            </a:r>
            <a:endParaRPr lang="en-US" sz="1600" dirty="0"/>
          </a:p>
        </p:txBody>
      </p:sp>
      <p:grpSp>
        <p:nvGrpSpPr>
          <p:cNvPr id="3" name="Group 3"/>
          <p:cNvGrpSpPr/>
          <p:nvPr/>
        </p:nvGrpSpPr>
        <p:grpSpPr>
          <a:xfrm>
            <a:off x="533400" y="1676400"/>
            <a:ext cx="5734646" cy="3030224"/>
            <a:chOff x="1371600" y="1389376"/>
            <a:chExt cx="6553200" cy="3462753"/>
          </a:xfrm>
        </p:grpSpPr>
        <p:pic>
          <p:nvPicPr>
            <p:cNvPr id="21" name="Picture 3"/>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1371600" y="1389376"/>
              <a:ext cx="6553200" cy="3462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5" name="Picture 24" descr="pixhawk.jpg"/>
            <p:cNvPicPr>
              <a:picLocks noChangeAspect="1"/>
            </p:cNvPicPr>
            <p:nvPr/>
          </p:nvPicPr>
          <p:blipFill>
            <a:blip r:embed="rId3" cstate="email">
              <a:clrChange>
                <a:clrFrom>
                  <a:srgbClr val="FFFFFF"/>
                </a:clrFrom>
                <a:clrTo>
                  <a:srgbClr val="FFFFFF">
                    <a:alpha val="0"/>
                  </a:srgbClr>
                </a:clrTo>
              </a:clrChange>
              <a:extLst>
                <a:ext uri="{28A0092B-C50C-407E-A947-70E740481C1C}">
                  <a14:useLocalDpi xmlns:a14="http://schemas.microsoft.com/office/drawing/2010/main"/>
                </a:ext>
              </a:extLst>
            </a:blip>
            <a:stretch>
              <a:fillRect/>
            </a:stretch>
          </p:blipFill>
          <p:spPr>
            <a:xfrm>
              <a:off x="2297057" y="3581400"/>
              <a:ext cx="838200" cy="838200"/>
            </a:xfrm>
            <a:prstGeom prst="rect">
              <a:avLst/>
            </a:prstGeom>
          </p:spPr>
        </p:pic>
        <p:pic>
          <p:nvPicPr>
            <p:cNvPr id="26" name="Picture 2" descr="http://dn.odroid.com/homebackup/ODROID-XU3.jpg"/>
            <p:cNvPicPr>
              <a:picLocks noChangeAspect="1" noChangeArrowheads="1"/>
            </p:cNvPicPr>
            <p:nvPr/>
          </p:nvPicPr>
          <p:blipFill>
            <a:blip r:embed="rId4" cstate="email">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a:off x="4724400" y="3581400"/>
              <a:ext cx="1161394" cy="673608"/>
            </a:xfrm>
            <a:prstGeom prst="rect">
              <a:avLst/>
            </a:prstGeom>
            <a:noFill/>
            <a:extLst>
              <a:ext uri="{909E8E84-426E-40DD-AFC4-6F175D3DCCD1}">
                <a14:hiddenFill xmlns:a14="http://schemas.microsoft.com/office/drawing/2010/main">
                  <a:solidFill>
                    <a:srgbClr val="FFFFFF"/>
                  </a:solidFill>
                </a14:hiddenFill>
              </a:ext>
            </a:extLst>
          </p:spPr>
        </p:pic>
      </p:grpSp>
      <p:sp>
        <p:nvSpPr>
          <p:cNvPr id="12" name="Slide Number Placeholder 11"/>
          <p:cNvSpPr>
            <a:spLocks noGrp="1"/>
          </p:cNvSpPr>
          <p:nvPr>
            <p:ph type="sldNum" sz="quarter" idx="12"/>
          </p:nvPr>
        </p:nvSpPr>
        <p:spPr/>
        <p:txBody>
          <a:bodyPr/>
          <a:lstStyle/>
          <a:p>
            <a:fld id="{A3FF127A-2DBF-924B-94E1-163D8C9D5B47}" type="slidenum">
              <a:rPr lang="en-US" smtClean="0"/>
              <a:pPr/>
              <a:t>9</a:t>
            </a:fld>
            <a:endParaRPr lang="en-US"/>
          </a:p>
        </p:txBody>
      </p:sp>
      <p:sp>
        <p:nvSpPr>
          <p:cNvPr id="13" name="Footer Placeholder 12"/>
          <p:cNvSpPr>
            <a:spLocks noGrp="1"/>
          </p:cNvSpPr>
          <p:nvPr>
            <p:ph type="ftr" sz="quarter" idx="11"/>
          </p:nvPr>
        </p:nvSpPr>
        <p:spPr/>
        <p:txBody>
          <a:bodyPr/>
          <a:lstStyle/>
          <a:p>
            <a:r>
              <a:rPr lang="en-US" smtClean="0"/>
              <a:t>AMASE   </a:t>
            </a:r>
            <a:endParaRPr lang="en-US"/>
          </a:p>
        </p:txBody>
      </p:sp>
    </p:spTree>
    <p:extLst>
      <p:ext uri="{BB962C8B-B14F-4D97-AF65-F5344CB8AC3E}">
        <p14:creationId xmlns:p14="http://schemas.microsoft.com/office/powerpoint/2010/main" val="2356448863"/>
      </p:ext>
    </p:extLst>
  </p:cSld>
  <p:clrMapOvr>
    <a:masterClrMapping/>
  </p:clrMapOvr>
  <p:transition/>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504825"/>
            <a:ext cx="8305800" cy="503237"/>
          </a:xfrm>
        </p:spPr>
        <p:txBody>
          <a:bodyPr>
            <a:normAutofit fontScale="90000"/>
          </a:bodyPr>
          <a:lstStyle/>
          <a:p>
            <a:r>
              <a:rPr lang="en-US" dirty="0" smtClean="0"/>
              <a:t>Architecture Analysis and Design Language (AADL)</a:t>
            </a:r>
            <a:endParaRPr lang="en-US" dirty="0"/>
          </a:p>
        </p:txBody>
      </p:sp>
      <p:sp>
        <p:nvSpPr>
          <p:cNvPr id="19" name="Rectangle 18"/>
          <p:cNvSpPr/>
          <p:nvPr/>
        </p:nvSpPr>
        <p:spPr>
          <a:xfrm>
            <a:off x="1447800" y="4953000"/>
            <a:ext cx="6477000" cy="13716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600" b="1" dirty="0" smtClean="0"/>
              <a:t>AADL = SAE AS5506 standard</a:t>
            </a:r>
          </a:p>
          <a:p>
            <a:pPr marL="285750" indent="-285750">
              <a:buFont typeface="Arial" panose="020B0604020202020204" pitchFamily="34" charset="0"/>
              <a:buChar char="•"/>
            </a:pPr>
            <a:r>
              <a:rPr lang="en-US" sz="1600" dirty="0" smtClean="0"/>
              <a:t>Target: Embedded, real-time, distributed systems</a:t>
            </a:r>
          </a:p>
          <a:p>
            <a:pPr marL="285750" indent="-285750">
              <a:buFont typeface="Arial" panose="020B0604020202020204" pitchFamily="34" charset="0"/>
              <a:buChar char="•"/>
            </a:pPr>
            <a:r>
              <a:rPr lang="en-US" sz="1600" dirty="0" smtClean="0"/>
              <a:t>Describes both hardware and software</a:t>
            </a:r>
          </a:p>
          <a:p>
            <a:pPr marL="285750" indent="-285750">
              <a:buFont typeface="Arial" panose="020B0604020202020204" pitchFamily="34" charset="0"/>
              <a:buChar char="•"/>
            </a:pPr>
            <a:r>
              <a:rPr lang="en-US" sz="1600" dirty="0" smtClean="0"/>
              <a:t>Extensible syntax (annex)</a:t>
            </a:r>
          </a:p>
          <a:p>
            <a:pPr marL="285750" indent="-285750">
              <a:buFont typeface="Arial" panose="020B0604020202020204" pitchFamily="34" charset="0"/>
              <a:buChar char="•"/>
            </a:pPr>
            <a:r>
              <a:rPr lang="en-US" sz="1600" dirty="0" smtClean="0"/>
              <a:t>Open source tools, supported by SEI</a:t>
            </a:r>
            <a:endParaRPr lang="en-US" sz="1600" dirty="0"/>
          </a:p>
        </p:txBody>
      </p:sp>
      <p:grpSp>
        <p:nvGrpSpPr>
          <p:cNvPr id="3" name="Group 3"/>
          <p:cNvGrpSpPr/>
          <p:nvPr/>
        </p:nvGrpSpPr>
        <p:grpSpPr>
          <a:xfrm>
            <a:off x="533400" y="1676400"/>
            <a:ext cx="5734646" cy="3030224"/>
            <a:chOff x="1371600" y="1389376"/>
            <a:chExt cx="6553200" cy="3462753"/>
          </a:xfrm>
        </p:grpSpPr>
        <p:pic>
          <p:nvPicPr>
            <p:cNvPr id="21" name="Picture 3"/>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1371600" y="1389376"/>
              <a:ext cx="6553200" cy="3462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5" name="Picture 24" descr="pixhawk.jpg"/>
            <p:cNvPicPr>
              <a:picLocks noChangeAspect="1"/>
            </p:cNvPicPr>
            <p:nvPr/>
          </p:nvPicPr>
          <p:blipFill>
            <a:blip r:embed="rId3" cstate="email">
              <a:clrChange>
                <a:clrFrom>
                  <a:srgbClr val="FFFFFF"/>
                </a:clrFrom>
                <a:clrTo>
                  <a:srgbClr val="FFFFFF">
                    <a:alpha val="0"/>
                  </a:srgbClr>
                </a:clrTo>
              </a:clrChange>
              <a:extLst>
                <a:ext uri="{28A0092B-C50C-407E-A947-70E740481C1C}">
                  <a14:useLocalDpi xmlns:a14="http://schemas.microsoft.com/office/drawing/2010/main"/>
                </a:ext>
              </a:extLst>
            </a:blip>
            <a:stretch>
              <a:fillRect/>
            </a:stretch>
          </p:blipFill>
          <p:spPr>
            <a:xfrm>
              <a:off x="2297057" y="3581400"/>
              <a:ext cx="838200" cy="838200"/>
            </a:xfrm>
            <a:prstGeom prst="rect">
              <a:avLst/>
            </a:prstGeom>
          </p:spPr>
        </p:pic>
        <p:pic>
          <p:nvPicPr>
            <p:cNvPr id="26" name="Picture 2" descr="http://dn.odroid.com/homebackup/ODROID-XU3.jpg"/>
            <p:cNvPicPr>
              <a:picLocks noChangeAspect="1" noChangeArrowheads="1"/>
            </p:cNvPicPr>
            <p:nvPr/>
          </p:nvPicPr>
          <p:blipFill>
            <a:blip r:embed="rId4" cstate="email">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a:off x="4724400" y="3581400"/>
              <a:ext cx="1161394" cy="673608"/>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 name="Group 2049"/>
          <p:cNvGrpSpPr/>
          <p:nvPr/>
        </p:nvGrpSpPr>
        <p:grpSpPr>
          <a:xfrm>
            <a:off x="4343400" y="1371600"/>
            <a:ext cx="4595523" cy="2080852"/>
            <a:chOff x="4343400" y="1371600"/>
            <a:chExt cx="4595523" cy="2080852"/>
          </a:xfrm>
        </p:grpSpPr>
        <p:pic>
          <p:nvPicPr>
            <p:cNvPr id="27" name="Picture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334000" y="1371600"/>
              <a:ext cx="3604923" cy="20808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cxnSp>
          <p:nvCxnSpPr>
            <p:cNvPr id="28" name="Straight Connector 27"/>
            <p:cNvCxnSpPr/>
            <p:nvPr/>
          </p:nvCxnSpPr>
          <p:spPr>
            <a:xfrm flipV="1">
              <a:off x="4343400" y="1381126"/>
              <a:ext cx="1511930" cy="447674"/>
            </a:xfrm>
            <a:prstGeom prst="line">
              <a:avLst/>
            </a:prstGeom>
            <a:ln w="57150">
              <a:solidFill>
                <a:srgbClr val="FFC000"/>
              </a:solidFill>
              <a:prstDash val="sysDot"/>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p:nvPr/>
          </p:nvCxnSpPr>
          <p:spPr>
            <a:xfrm>
              <a:off x="4343400" y="2514600"/>
              <a:ext cx="1447800" cy="838200"/>
            </a:xfrm>
            <a:prstGeom prst="line">
              <a:avLst/>
            </a:prstGeom>
            <a:ln w="57150">
              <a:solidFill>
                <a:srgbClr val="FFC000"/>
              </a:solidFill>
              <a:prstDash val="sysDot"/>
            </a:ln>
          </p:spPr>
          <p:style>
            <a:lnRef idx="1">
              <a:schemeClr val="accent1"/>
            </a:lnRef>
            <a:fillRef idx="0">
              <a:schemeClr val="accent1"/>
            </a:fillRef>
            <a:effectRef idx="0">
              <a:schemeClr val="accent1"/>
            </a:effectRef>
            <a:fontRef idx="minor">
              <a:schemeClr val="tx1"/>
            </a:fontRef>
          </p:style>
        </p:cxnSp>
      </p:grpSp>
      <p:sp>
        <p:nvSpPr>
          <p:cNvPr id="12" name="Slide Number Placeholder 11"/>
          <p:cNvSpPr>
            <a:spLocks noGrp="1"/>
          </p:cNvSpPr>
          <p:nvPr>
            <p:ph type="sldNum" sz="quarter" idx="12"/>
          </p:nvPr>
        </p:nvSpPr>
        <p:spPr/>
        <p:txBody>
          <a:bodyPr/>
          <a:lstStyle/>
          <a:p>
            <a:fld id="{A3FF127A-2DBF-924B-94E1-163D8C9D5B47}" type="slidenum">
              <a:rPr lang="en-US" smtClean="0"/>
              <a:pPr/>
              <a:t>10</a:t>
            </a:fld>
            <a:endParaRPr lang="en-US"/>
          </a:p>
        </p:txBody>
      </p:sp>
      <p:sp>
        <p:nvSpPr>
          <p:cNvPr id="13" name="Footer Placeholder 12"/>
          <p:cNvSpPr>
            <a:spLocks noGrp="1"/>
          </p:cNvSpPr>
          <p:nvPr>
            <p:ph type="ftr" sz="quarter" idx="11"/>
          </p:nvPr>
        </p:nvSpPr>
        <p:spPr/>
        <p:txBody>
          <a:bodyPr/>
          <a:lstStyle/>
          <a:p>
            <a:r>
              <a:rPr lang="en-US" smtClean="0"/>
              <a:t>AMASE   </a:t>
            </a:r>
            <a:endParaRPr lang="en-US"/>
          </a:p>
        </p:txBody>
      </p:sp>
    </p:spTree>
    <p:extLst>
      <p:ext uri="{BB962C8B-B14F-4D97-AF65-F5344CB8AC3E}">
        <p14:creationId xmlns:p14="http://schemas.microsoft.com/office/powerpoint/2010/main" val="2356448863"/>
      </p:ext>
    </p:extLst>
  </p:cSld>
  <p:clrMapOvr>
    <a:masterClrMapping/>
  </p:clrMapOvr>
  <p:transition/>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
            <a:ext cx="8229600" cy="596066"/>
          </a:xfrm>
        </p:spPr>
        <p:txBody>
          <a:bodyPr>
            <a:normAutofit fontScale="90000"/>
          </a:bodyPr>
          <a:lstStyle/>
          <a:p>
            <a:r>
              <a:rPr lang="en-US" dirty="0" smtClean="0"/>
              <a:t>WBS AADL Model</a:t>
            </a:r>
            <a:endParaRPr lang="en-US" dirty="0"/>
          </a:p>
        </p:txBody>
      </p:sp>
      <p:pic>
        <p:nvPicPr>
          <p:cNvPr id="4" name="Content Placeholder 3" descr="wbs_aadl.png"/>
          <p:cNvPicPr>
            <a:picLocks noGrp="1" noChangeAspect="1"/>
          </p:cNvPicPr>
          <p:nvPr>
            <p:ph idx="1"/>
          </p:nvPr>
        </p:nvPicPr>
        <p:blipFill>
          <a:blip r:embed="rId2"/>
          <a:srcRect l="-46366" r="-46366"/>
          <a:stretch>
            <a:fillRect/>
          </a:stretch>
        </p:blipFill>
        <p:spPr>
          <a:xfrm>
            <a:off x="-686812" y="596067"/>
            <a:ext cx="10665029" cy="6012491"/>
          </a:xfrm>
        </p:spPr>
      </p:pic>
      <p:sp>
        <p:nvSpPr>
          <p:cNvPr id="5" name="Slide Number Placeholder 4"/>
          <p:cNvSpPr>
            <a:spLocks noGrp="1"/>
          </p:cNvSpPr>
          <p:nvPr>
            <p:ph type="sldNum" sz="quarter" idx="12"/>
          </p:nvPr>
        </p:nvSpPr>
        <p:spPr/>
        <p:txBody>
          <a:bodyPr/>
          <a:lstStyle/>
          <a:p>
            <a:fld id="{A3FF127A-2DBF-924B-94E1-163D8C9D5B47}" type="slidenum">
              <a:rPr lang="en-US" smtClean="0"/>
              <a:pPr/>
              <a:t>11</a:t>
            </a:fld>
            <a:endParaRPr lang="en-US"/>
          </a:p>
        </p:txBody>
      </p:sp>
      <p:sp>
        <p:nvSpPr>
          <p:cNvPr id="6" name="Footer Placeholder 5"/>
          <p:cNvSpPr>
            <a:spLocks noGrp="1"/>
          </p:cNvSpPr>
          <p:nvPr>
            <p:ph type="ftr" sz="quarter" idx="11"/>
          </p:nvPr>
        </p:nvSpPr>
        <p:spPr/>
        <p:txBody>
          <a:bodyPr/>
          <a:lstStyle/>
          <a:p>
            <a:r>
              <a:rPr lang="en-US" smtClean="0"/>
              <a:t>AMASE   </a:t>
            </a:r>
            <a:endParaRPr lang="en-US"/>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wbs_aadl_bscu.png"/>
          <p:cNvPicPr>
            <a:picLocks noChangeAspect="1"/>
          </p:cNvPicPr>
          <p:nvPr/>
        </p:nvPicPr>
        <p:blipFill>
          <a:blip r:embed="rId2"/>
          <a:stretch>
            <a:fillRect/>
          </a:stretch>
        </p:blipFill>
        <p:spPr>
          <a:xfrm>
            <a:off x="1508125" y="0"/>
            <a:ext cx="5670550" cy="6858000"/>
          </a:xfrm>
          <a:prstGeom prst="rect">
            <a:avLst/>
          </a:prstGeom>
        </p:spPr>
      </p:pic>
      <p:sp>
        <p:nvSpPr>
          <p:cNvPr id="3" name="Slide Number Placeholder 2"/>
          <p:cNvSpPr>
            <a:spLocks noGrp="1"/>
          </p:cNvSpPr>
          <p:nvPr>
            <p:ph type="sldNum" sz="quarter" idx="12"/>
          </p:nvPr>
        </p:nvSpPr>
        <p:spPr/>
        <p:txBody>
          <a:bodyPr/>
          <a:lstStyle/>
          <a:p>
            <a:fld id="{A3FF127A-2DBF-924B-94E1-163D8C9D5B47}" type="slidenum">
              <a:rPr lang="en-US" smtClean="0"/>
              <a:pPr/>
              <a:t>12</a:t>
            </a:fld>
            <a:endParaRPr lang="en-US"/>
          </a:p>
        </p:txBody>
      </p:sp>
      <p:sp>
        <p:nvSpPr>
          <p:cNvPr id="5" name="Footer Placeholder 4"/>
          <p:cNvSpPr>
            <a:spLocks noGrp="1"/>
          </p:cNvSpPr>
          <p:nvPr>
            <p:ph type="ftr" sz="quarter" idx="11"/>
          </p:nvPr>
        </p:nvSpPr>
        <p:spPr/>
        <p:txBody>
          <a:bodyPr/>
          <a:lstStyle/>
          <a:p>
            <a:r>
              <a:rPr lang="en-US" smtClean="0"/>
              <a:t>AMASE   </a:t>
            </a:r>
            <a:endParaRPr lang="en-US"/>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smtClean="0"/>
              <a:t>Architecture Modeling and Analysis Tools</a:t>
            </a:r>
            <a:endParaRPr lang="en-US" dirty="0"/>
          </a:p>
        </p:txBody>
      </p:sp>
      <p:pic>
        <p:nvPicPr>
          <p:cNvPr id="94" name="Picture 18"/>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24200" y="1524000"/>
            <a:ext cx="3048000" cy="18900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4" name="Group 94"/>
          <p:cNvGrpSpPr/>
          <p:nvPr/>
        </p:nvGrpSpPr>
        <p:grpSpPr>
          <a:xfrm>
            <a:off x="1836396" y="2628900"/>
            <a:ext cx="3661087" cy="3870187"/>
            <a:chOff x="1836396" y="2628900"/>
            <a:chExt cx="3661087" cy="3870187"/>
          </a:xfrm>
        </p:grpSpPr>
        <p:grpSp>
          <p:nvGrpSpPr>
            <p:cNvPr id="5" name="Group 95"/>
            <p:cNvGrpSpPr/>
            <p:nvPr/>
          </p:nvGrpSpPr>
          <p:grpSpPr>
            <a:xfrm>
              <a:off x="1873646" y="2628900"/>
              <a:ext cx="1110265" cy="533400"/>
              <a:chOff x="1129973" y="1950482"/>
              <a:chExt cx="1110265" cy="533400"/>
            </a:xfrm>
          </p:grpSpPr>
          <p:grpSp>
            <p:nvGrpSpPr>
              <p:cNvPr id="6" name="Group 102"/>
              <p:cNvGrpSpPr/>
              <p:nvPr/>
            </p:nvGrpSpPr>
            <p:grpSpPr>
              <a:xfrm flipH="1">
                <a:off x="1129973" y="1950482"/>
                <a:ext cx="1110265" cy="533400"/>
                <a:chOff x="6640902" y="1295400"/>
                <a:chExt cx="1110265" cy="533400"/>
              </a:xfrm>
            </p:grpSpPr>
            <p:sp>
              <p:nvSpPr>
                <p:cNvPr id="105" name="Rectangle 104"/>
                <p:cNvSpPr/>
                <p:nvPr/>
              </p:nvSpPr>
              <p:spPr>
                <a:xfrm>
                  <a:off x="6783673" y="1295400"/>
                  <a:ext cx="737505" cy="5334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sp>
              <p:nvSpPr>
                <p:cNvPr id="106" name="Oval 105"/>
                <p:cNvSpPr/>
                <p:nvPr/>
              </p:nvSpPr>
              <p:spPr>
                <a:xfrm>
                  <a:off x="7239000" y="1295400"/>
                  <a:ext cx="512167" cy="533400"/>
                </a:xfrm>
                <a:prstGeom prst="ellipse">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sp>
              <p:nvSpPr>
                <p:cNvPr id="107" name="Rectangle 106"/>
                <p:cNvSpPr/>
                <p:nvPr/>
              </p:nvSpPr>
              <p:spPr>
                <a:xfrm>
                  <a:off x="6640902" y="13716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sp>
              <p:nvSpPr>
                <p:cNvPr id="108" name="Rectangle 107"/>
                <p:cNvSpPr/>
                <p:nvPr/>
              </p:nvSpPr>
              <p:spPr>
                <a:xfrm>
                  <a:off x="6648554" y="16764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grpSp>
          <p:sp>
            <p:nvSpPr>
              <p:cNvPr id="104" name="TextBox 103"/>
              <p:cNvSpPr txBox="1"/>
              <p:nvPr/>
            </p:nvSpPr>
            <p:spPr>
              <a:xfrm>
                <a:off x="1165880" y="1960662"/>
                <a:ext cx="947695" cy="523220"/>
              </a:xfrm>
              <a:prstGeom prst="rect">
                <a:avLst/>
              </a:prstGeom>
              <a:noFill/>
            </p:spPr>
            <p:txBody>
              <a:bodyPr wrap="non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smtClean="0">
                    <a:ln>
                      <a:noFill/>
                    </a:ln>
                    <a:solidFill>
                      <a:srgbClr val="000000"/>
                    </a:solidFill>
                    <a:effectLst/>
                    <a:uLnTx/>
                    <a:uFillTx/>
                    <a:latin typeface="Lucida Console" pitchFamily="49" charset="0"/>
                    <a:ea typeface="ＭＳ Ｐゴシック" pitchFamily="34" charset="-128"/>
                    <a:cs typeface="Times New Roman" pitchFamily="18" charset="0"/>
                  </a:rPr>
                  <a:t>Trusted</a:t>
                </a:r>
              </a:p>
              <a:p>
                <a:pPr marL="0" marR="0" lvl="0" indent="0" algn="r" defTabSz="91440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smtClean="0">
                    <a:ln>
                      <a:noFill/>
                    </a:ln>
                    <a:solidFill>
                      <a:srgbClr val="000000"/>
                    </a:solidFill>
                    <a:effectLst/>
                    <a:uLnTx/>
                    <a:uFillTx/>
                    <a:latin typeface="Lucida Console" pitchFamily="49" charset="0"/>
                    <a:ea typeface="ＭＳ Ｐゴシック" pitchFamily="34" charset="-128"/>
                    <a:cs typeface="Times New Roman" pitchFamily="18" charset="0"/>
                  </a:rPr>
                  <a:t>Build</a:t>
                </a:r>
              </a:p>
            </p:txBody>
          </p:sp>
        </p:grpSp>
        <p:grpSp>
          <p:nvGrpSpPr>
            <p:cNvPr id="7" name="Group 96"/>
            <p:cNvGrpSpPr/>
            <p:nvPr/>
          </p:nvGrpSpPr>
          <p:grpSpPr>
            <a:xfrm>
              <a:off x="1836396" y="3000374"/>
              <a:ext cx="3661087" cy="3498713"/>
              <a:chOff x="1836396" y="3000374"/>
              <a:chExt cx="3661087" cy="3498713"/>
            </a:xfrm>
          </p:grpSpPr>
          <p:pic>
            <p:nvPicPr>
              <p:cNvPr id="98" name="Picture 3" descr="C:\Users\ddcofer\AppData\Local\Microsoft\Windows\Temporary Internet Files\Content.IE5\HWJ81UGS\MC900389552[1].wmf"/>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274805" y="4544457"/>
                <a:ext cx="900112" cy="930275"/>
              </a:xfrm>
              <a:prstGeom prst="rect">
                <a:avLst/>
              </a:prstGeom>
              <a:noFill/>
              <a:extLst>
                <a:ext uri="{909E8E84-426E-40DD-AFC4-6F175D3DCCD1}">
                  <a14:hiddenFill xmlns:a14="http://schemas.microsoft.com/office/drawing/2010/main">
                    <a:solidFill>
                      <a:srgbClr val="FFFFFF"/>
                    </a:solidFill>
                  </a14:hiddenFill>
                </a:ext>
              </a:extLst>
            </p:spPr>
          </p:pic>
          <p:sp>
            <p:nvSpPr>
              <p:cNvPr id="99" name="TextBox 98"/>
              <p:cNvSpPr txBox="1"/>
              <p:nvPr/>
            </p:nvSpPr>
            <p:spPr>
              <a:xfrm>
                <a:off x="2563025" y="4114800"/>
                <a:ext cx="293445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0000"/>
                    </a:solidFill>
                    <a:effectLst/>
                    <a:uLnTx/>
                    <a:uFillTx/>
                    <a:latin typeface="Verdana"/>
                    <a:ea typeface="ＭＳ Ｐゴシック" pitchFamily="34" charset="-128"/>
                    <a:cs typeface="Arial"/>
                  </a:rPr>
                  <a:t>Architecture Translation</a:t>
                </a:r>
              </a:p>
            </p:txBody>
          </p:sp>
          <p:sp>
            <p:nvSpPr>
              <p:cNvPr id="100" name="Freeform 99"/>
              <p:cNvSpPr/>
              <p:nvPr/>
            </p:nvSpPr>
            <p:spPr>
              <a:xfrm>
                <a:off x="1836396" y="3000374"/>
                <a:ext cx="1883808" cy="1082159"/>
              </a:xfrm>
              <a:custGeom>
                <a:avLst/>
                <a:gdLst>
                  <a:gd name="connsiteX0" fmla="*/ 105442 w 2210467"/>
                  <a:gd name="connsiteY0" fmla="*/ 0 h 866775"/>
                  <a:gd name="connsiteX1" fmla="*/ 191167 w 2210467"/>
                  <a:gd name="connsiteY1" fmla="*/ 333375 h 866775"/>
                  <a:gd name="connsiteX2" fmla="*/ 1858042 w 2210467"/>
                  <a:gd name="connsiteY2" fmla="*/ 609600 h 866775"/>
                  <a:gd name="connsiteX3" fmla="*/ 2210467 w 2210467"/>
                  <a:gd name="connsiteY3" fmla="*/ 866775 h 866775"/>
                  <a:gd name="connsiteX0" fmla="*/ 89354 w 2232479"/>
                  <a:gd name="connsiteY0" fmla="*/ 0 h 914400"/>
                  <a:gd name="connsiteX1" fmla="*/ 213179 w 2232479"/>
                  <a:gd name="connsiteY1" fmla="*/ 381000 h 914400"/>
                  <a:gd name="connsiteX2" fmla="*/ 1880054 w 2232479"/>
                  <a:gd name="connsiteY2" fmla="*/ 657225 h 914400"/>
                  <a:gd name="connsiteX3" fmla="*/ 2232479 w 2232479"/>
                  <a:gd name="connsiteY3" fmla="*/ 914400 h 914400"/>
                  <a:gd name="connsiteX0" fmla="*/ 74468 w 2217593"/>
                  <a:gd name="connsiteY0" fmla="*/ 0 h 914400"/>
                  <a:gd name="connsiteX1" fmla="*/ 198293 w 2217593"/>
                  <a:gd name="connsiteY1" fmla="*/ 381000 h 914400"/>
                  <a:gd name="connsiteX2" fmla="*/ 1865168 w 2217593"/>
                  <a:gd name="connsiteY2" fmla="*/ 657225 h 914400"/>
                  <a:gd name="connsiteX3" fmla="*/ 2217593 w 2217593"/>
                  <a:gd name="connsiteY3" fmla="*/ 914400 h 914400"/>
                  <a:gd name="connsiteX0" fmla="*/ 78130 w 2221255"/>
                  <a:gd name="connsiteY0" fmla="*/ 0 h 914400"/>
                  <a:gd name="connsiteX1" fmla="*/ 201955 w 2221255"/>
                  <a:gd name="connsiteY1" fmla="*/ 381000 h 914400"/>
                  <a:gd name="connsiteX2" fmla="*/ 1868830 w 2221255"/>
                  <a:gd name="connsiteY2" fmla="*/ 657225 h 914400"/>
                  <a:gd name="connsiteX3" fmla="*/ 2221255 w 2221255"/>
                  <a:gd name="connsiteY3" fmla="*/ 914400 h 914400"/>
                </a:gdLst>
                <a:ahLst/>
                <a:cxnLst>
                  <a:cxn ang="0">
                    <a:pos x="connsiteX0" y="connsiteY0"/>
                  </a:cxn>
                  <a:cxn ang="0">
                    <a:pos x="connsiteX1" y="connsiteY1"/>
                  </a:cxn>
                  <a:cxn ang="0">
                    <a:pos x="connsiteX2" y="connsiteY2"/>
                  </a:cxn>
                  <a:cxn ang="0">
                    <a:pos x="connsiteX3" y="connsiteY3"/>
                  </a:cxn>
                </a:cxnLst>
                <a:rect l="l" t="t" r="r" b="b"/>
                <a:pathLst>
                  <a:path w="2221255" h="914400">
                    <a:moveTo>
                      <a:pt x="78130" y="0"/>
                    </a:moveTo>
                    <a:cubicBezTo>
                      <a:pt x="3517" y="77787"/>
                      <a:pt x="-96495" y="271463"/>
                      <a:pt x="201955" y="381000"/>
                    </a:cubicBezTo>
                    <a:cubicBezTo>
                      <a:pt x="500405" y="490538"/>
                      <a:pt x="1532280" y="568325"/>
                      <a:pt x="1868830" y="657225"/>
                    </a:cubicBezTo>
                    <a:cubicBezTo>
                      <a:pt x="2205380" y="746125"/>
                      <a:pt x="2213317" y="830262"/>
                      <a:pt x="2221255" y="914400"/>
                    </a:cubicBezTo>
                  </a:path>
                </a:pathLst>
              </a:custGeom>
              <a:noFill/>
              <a:ln w="57150" cap="flat" cmpd="sng" algn="ctr">
                <a:solidFill>
                  <a:srgbClr val="ABB41D"/>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01" name="TextBox 100"/>
              <p:cNvSpPr txBox="1"/>
              <p:nvPr/>
            </p:nvSpPr>
            <p:spPr>
              <a:xfrm>
                <a:off x="3225271" y="5486400"/>
                <a:ext cx="853119" cy="400110"/>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2000" b="1" i="0" u="none" strike="noStrike" kern="0" cap="none" spc="0" normalizeH="0" baseline="0" noProof="0" dirty="0" smtClean="0">
                    <a:ln>
                      <a:noFill/>
                    </a:ln>
                    <a:solidFill>
                      <a:srgbClr val="000000"/>
                    </a:solidFill>
                    <a:effectLst/>
                    <a:uLnTx/>
                    <a:uFillTx/>
                    <a:latin typeface="Verdana"/>
                    <a:ea typeface="ＭＳ Ｐゴシック" pitchFamily="34" charset="-128"/>
                    <a:cs typeface="Arial"/>
                  </a:rPr>
                  <a:t>seL4</a:t>
                </a:r>
              </a:p>
            </p:txBody>
          </p:sp>
          <p:sp>
            <p:nvSpPr>
              <p:cNvPr id="102" name="TextBox 101"/>
              <p:cNvSpPr txBox="1"/>
              <p:nvPr/>
            </p:nvSpPr>
            <p:spPr>
              <a:xfrm>
                <a:off x="3200400" y="5791201"/>
                <a:ext cx="1383712" cy="707886"/>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2000" b="1" i="0" u="none" strike="noStrike" kern="0" cap="none" spc="0" normalizeH="0" baseline="0" noProof="0" dirty="0" err="1" smtClean="0">
                    <a:ln>
                      <a:noFill/>
                    </a:ln>
                    <a:solidFill>
                      <a:srgbClr val="000000"/>
                    </a:solidFill>
                    <a:effectLst/>
                    <a:uLnTx/>
                    <a:uFillTx/>
                    <a:ea typeface="ＭＳ Ｐゴシック" pitchFamily="34" charset="-128"/>
                    <a:cs typeface="Arial"/>
                  </a:rPr>
                  <a:t>eChronos</a:t>
                </a:r>
                <a:endParaRPr kumimoji="0" lang="en-US" sz="2000" b="1" i="0" u="none" strike="noStrike" kern="0" cap="none" spc="0" normalizeH="0" baseline="0" noProof="0" dirty="0" smtClean="0">
                  <a:ln>
                    <a:noFill/>
                  </a:ln>
                  <a:solidFill>
                    <a:srgbClr val="000000"/>
                  </a:solidFill>
                  <a:effectLst/>
                  <a:uLnTx/>
                  <a:uFillTx/>
                  <a:ea typeface="ＭＳ Ｐゴシック" pitchFamily="34" charset="-128"/>
                  <a:cs typeface="Arial"/>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en-US" sz="2000" b="1" i="0" u="none" strike="noStrike" kern="0" cap="none" spc="0" normalizeH="0" baseline="0" noProof="0" dirty="0" smtClean="0">
                    <a:ln>
                      <a:noFill/>
                    </a:ln>
                    <a:solidFill>
                      <a:srgbClr val="000000"/>
                    </a:solidFill>
                    <a:effectLst/>
                    <a:uLnTx/>
                    <a:uFillTx/>
                    <a:ea typeface="ＭＳ Ｐゴシック" pitchFamily="34" charset="-128"/>
                    <a:cs typeface="Arial"/>
                  </a:rPr>
                  <a:t>VxWorks</a:t>
                </a:r>
              </a:p>
            </p:txBody>
          </p:sp>
        </p:grpSp>
      </p:grpSp>
      <p:grpSp>
        <p:nvGrpSpPr>
          <p:cNvPr id="8" name="Group 108"/>
          <p:cNvGrpSpPr/>
          <p:nvPr/>
        </p:nvGrpSpPr>
        <p:grpSpPr>
          <a:xfrm>
            <a:off x="5035675" y="4126468"/>
            <a:ext cx="3651125" cy="2277770"/>
            <a:chOff x="5035675" y="4126468"/>
            <a:chExt cx="3651125" cy="2277770"/>
          </a:xfrm>
        </p:grpSpPr>
        <p:grpSp>
          <p:nvGrpSpPr>
            <p:cNvPr id="9" name="Group 109"/>
            <p:cNvGrpSpPr/>
            <p:nvPr/>
          </p:nvGrpSpPr>
          <p:grpSpPr>
            <a:xfrm>
              <a:off x="6028890" y="4474379"/>
              <a:ext cx="2657910" cy="1181292"/>
              <a:chOff x="4038600" y="3886200"/>
              <a:chExt cx="4800601" cy="2133600"/>
            </a:xfrm>
          </p:grpSpPr>
          <p:sp>
            <p:nvSpPr>
              <p:cNvPr id="113" name="Rectangle 112"/>
              <p:cNvSpPr/>
              <p:nvPr/>
            </p:nvSpPr>
            <p:spPr>
              <a:xfrm>
                <a:off x="4038600" y="3886200"/>
                <a:ext cx="4800599" cy="2133600"/>
              </a:xfrm>
              <a:prstGeom prst="rect">
                <a:avLst/>
              </a:prstGeom>
              <a:solidFill>
                <a:srgbClr val="F8F8F8"/>
              </a:solidFill>
              <a:ln w="25400" cap="flat" cmpd="sng" algn="ctr">
                <a:solidFill>
                  <a:schemeClr val="tx2"/>
                </a:solidFill>
                <a:prstDash val="solid"/>
              </a:ln>
              <a:effectLst/>
            </p:spPr>
            <p:txBody>
              <a:bodyPr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a:ln>
                    <a:noFill/>
                  </a:ln>
                  <a:solidFill>
                    <a:srgbClr val="000000"/>
                  </a:solidFill>
                  <a:effectLst/>
                  <a:uLnTx/>
                  <a:uFillTx/>
                  <a:latin typeface="Verdana"/>
                  <a:ea typeface="ＭＳ Ｐゴシック"/>
                  <a:cs typeface="Arial"/>
                </a:endParaRPr>
              </a:p>
            </p:txBody>
          </p:sp>
          <p:cxnSp>
            <p:nvCxnSpPr>
              <p:cNvPr id="114" name="Straight Connector 113"/>
              <p:cNvCxnSpPr>
                <a:stCxn id="127" idx="0"/>
                <a:endCxn id="136" idx="3"/>
              </p:cNvCxnSpPr>
              <p:nvPr/>
            </p:nvCxnSpPr>
            <p:spPr>
              <a:xfrm>
                <a:off x="4090988" y="4279900"/>
                <a:ext cx="357187" cy="3175"/>
              </a:xfrm>
              <a:prstGeom prst="line">
                <a:avLst/>
              </a:prstGeom>
              <a:noFill/>
              <a:ln w="9525" cap="flat" cmpd="sng" algn="ctr">
                <a:solidFill>
                  <a:srgbClr val="000000">
                    <a:shade val="95000"/>
                    <a:satMod val="105000"/>
                  </a:srgbClr>
                </a:solidFill>
                <a:prstDash val="solid"/>
              </a:ln>
              <a:effectLst/>
            </p:spPr>
          </p:cxnSp>
          <p:cxnSp>
            <p:nvCxnSpPr>
              <p:cNvPr id="115" name="Straight Connector 34"/>
              <p:cNvCxnSpPr>
                <a:stCxn id="137" idx="0"/>
                <a:endCxn id="133" idx="3"/>
              </p:cNvCxnSpPr>
              <p:nvPr/>
            </p:nvCxnSpPr>
            <p:spPr>
              <a:xfrm>
                <a:off x="5562601" y="4283075"/>
                <a:ext cx="333375" cy="1125538"/>
              </a:xfrm>
              <a:prstGeom prst="bentConnector3">
                <a:avLst>
                  <a:gd name="adj1" fmla="val 50000"/>
                </a:avLst>
              </a:prstGeom>
              <a:noFill/>
              <a:ln w="9525" cap="flat" cmpd="sng" algn="ctr">
                <a:solidFill>
                  <a:srgbClr val="000000">
                    <a:shade val="95000"/>
                    <a:satMod val="105000"/>
                  </a:srgbClr>
                </a:solidFill>
                <a:prstDash val="solid"/>
              </a:ln>
              <a:effectLst/>
            </p:spPr>
          </p:cxnSp>
          <p:cxnSp>
            <p:nvCxnSpPr>
              <p:cNvPr id="116" name="Straight Connector 36"/>
              <p:cNvCxnSpPr>
                <a:stCxn id="134" idx="0"/>
                <a:endCxn id="129" idx="3"/>
              </p:cNvCxnSpPr>
              <p:nvPr/>
            </p:nvCxnSpPr>
            <p:spPr>
              <a:xfrm flipV="1">
                <a:off x="7010401" y="4487069"/>
                <a:ext cx="380999" cy="921544"/>
              </a:xfrm>
              <a:prstGeom prst="bentConnector3">
                <a:avLst>
                  <a:gd name="adj1" fmla="val 50000"/>
                </a:avLst>
              </a:prstGeom>
              <a:noFill/>
              <a:ln w="9525" cap="flat" cmpd="sng" algn="ctr">
                <a:solidFill>
                  <a:srgbClr val="000000">
                    <a:shade val="95000"/>
                    <a:satMod val="105000"/>
                  </a:srgbClr>
                </a:solidFill>
                <a:prstDash val="solid"/>
              </a:ln>
              <a:effectLst/>
            </p:spPr>
          </p:cxnSp>
          <p:cxnSp>
            <p:nvCxnSpPr>
              <p:cNvPr id="117" name="Straight Connector 116"/>
              <p:cNvCxnSpPr>
                <a:stCxn id="137" idx="0"/>
                <a:endCxn id="130" idx="3"/>
              </p:cNvCxnSpPr>
              <p:nvPr/>
            </p:nvCxnSpPr>
            <p:spPr>
              <a:xfrm flipV="1">
                <a:off x="5562601" y="4282283"/>
                <a:ext cx="1828799" cy="792"/>
              </a:xfrm>
              <a:prstGeom prst="line">
                <a:avLst/>
              </a:prstGeom>
              <a:noFill/>
              <a:ln w="9525" cap="flat" cmpd="sng" algn="ctr">
                <a:solidFill>
                  <a:srgbClr val="000000">
                    <a:shade val="95000"/>
                    <a:satMod val="105000"/>
                  </a:srgbClr>
                </a:solidFill>
                <a:prstDash val="solid"/>
              </a:ln>
              <a:effectLst/>
            </p:spPr>
          </p:cxnSp>
          <p:cxnSp>
            <p:nvCxnSpPr>
              <p:cNvPr id="118" name="Straight Connector 117"/>
              <p:cNvCxnSpPr>
                <a:stCxn id="131" idx="0"/>
                <a:endCxn id="122" idx="3"/>
              </p:cNvCxnSpPr>
              <p:nvPr/>
            </p:nvCxnSpPr>
            <p:spPr>
              <a:xfrm>
                <a:off x="8504238" y="4384675"/>
                <a:ext cx="282576" cy="0"/>
              </a:xfrm>
              <a:prstGeom prst="line">
                <a:avLst/>
              </a:prstGeom>
              <a:noFill/>
              <a:ln w="9525" cap="flat" cmpd="sng" algn="ctr">
                <a:solidFill>
                  <a:srgbClr val="000000">
                    <a:shade val="95000"/>
                    <a:satMod val="105000"/>
                  </a:srgbClr>
                </a:solidFill>
                <a:prstDash val="solid"/>
              </a:ln>
              <a:effectLst/>
            </p:spPr>
          </p:cxnSp>
          <p:grpSp>
            <p:nvGrpSpPr>
              <p:cNvPr id="10" name="Group 118"/>
              <p:cNvGrpSpPr/>
              <p:nvPr/>
            </p:nvGrpSpPr>
            <p:grpSpPr>
              <a:xfrm>
                <a:off x="4448175" y="3975100"/>
                <a:ext cx="1114425" cy="614363"/>
                <a:chOff x="3800475" y="4076700"/>
                <a:chExt cx="1114425" cy="614363"/>
              </a:xfrm>
            </p:grpSpPr>
            <p:sp>
              <p:nvSpPr>
                <p:cNvPr id="135" name="Rectangle 134"/>
                <p:cNvSpPr>
                  <a:spLocks noChangeArrowheads="1"/>
                </p:cNvSpPr>
                <p:nvPr/>
              </p:nvSpPr>
              <p:spPr bwMode="auto">
                <a:xfrm>
                  <a:off x="3800475" y="4076700"/>
                  <a:ext cx="1114425" cy="614363"/>
                </a:xfrm>
                <a:prstGeom prst="rect">
                  <a:avLst/>
                </a:prstGeom>
                <a:solidFill>
                  <a:srgbClr val="EEB10F"/>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b="1" i="0" u="none" strike="noStrike" kern="0" cap="none" spc="0" normalizeH="0" baseline="0" noProof="0" smtClean="0">
                      <a:ln>
                        <a:noFill/>
                      </a:ln>
                      <a:solidFill>
                        <a:srgbClr val="FFFFFF"/>
                      </a:solidFill>
                      <a:effectLst/>
                      <a:uLnTx/>
                      <a:uFillTx/>
                      <a:latin typeface="Verdana" pitchFamily="34" charset="0"/>
                      <a:ea typeface="ＭＳ Ｐゴシック" pitchFamily="34" charset="-128"/>
                      <a:cs typeface="Arial"/>
                    </a:rPr>
                    <a:t>A</a:t>
                  </a:r>
                </a:p>
              </p:txBody>
            </p:sp>
            <p:sp>
              <p:nvSpPr>
                <p:cNvPr id="136" name="Isosceles Triangle 135"/>
                <p:cNvSpPr>
                  <a:spLocks noChangeArrowheads="1"/>
                </p:cNvSpPr>
                <p:nvPr/>
              </p:nvSpPr>
              <p:spPr bwMode="auto">
                <a:xfrm rot="5400000">
                  <a:off x="3801269" y="4358481"/>
                  <a:ext cx="50800" cy="52388"/>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a:ln>
                      <a:noFill/>
                    </a:ln>
                    <a:solidFill>
                      <a:srgbClr val="F8F8F8"/>
                    </a:solidFill>
                    <a:effectLst/>
                    <a:uLnTx/>
                    <a:uFillTx/>
                    <a:latin typeface="Verdana"/>
                    <a:ea typeface="ＭＳ Ｐゴシック" pitchFamily="34" charset="-128"/>
                    <a:cs typeface="Arial"/>
                  </a:endParaRPr>
                </a:p>
              </p:txBody>
            </p:sp>
            <p:sp>
              <p:nvSpPr>
                <p:cNvPr id="137" name="Isosceles Triangle 136"/>
                <p:cNvSpPr>
                  <a:spLocks noChangeArrowheads="1"/>
                </p:cNvSpPr>
                <p:nvPr/>
              </p:nvSpPr>
              <p:spPr bwMode="auto">
                <a:xfrm rot="5400000">
                  <a:off x="4862513" y="4357687"/>
                  <a:ext cx="50800" cy="53975"/>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a:ln>
                      <a:noFill/>
                    </a:ln>
                    <a:solidFill>
                      <a:srgbClr val="F8F8F8"/>
                    </a:solidFill>
                    <a:effectLst/>
                    <a:uLnTx/>
                    <a:uFillTx/>
                    <a:latin typeface="Verdana"/>
                    <a:ea typeface="ＭＳ Ｐゴシック" pitchFamily="34" charset="-128"/>
                    <a:cs typeface="Arial"/>
                  </a:endParaRPr>
                </a:p>
              </p:txBody>
            </p:sp>
          </p:grpSp>
          <p:grpSp>
            <p:nvGrpSpPr>
              <p:cNvPr id="11" name="Group 119"/>
              <p:cNvGrpSpPr/>
              <p:nvPr/>
            </p:nvGrpSpPr>
            <p:grpSpPr>
              <a:xfrm>
                <a:off x="5884862" y="5075238"/>
                <a:ext cx="1125538" cy="614362"/>
                <a:chOff x="5486400" y="5075238"/>
                <a:chExt cx="1125538" cy="614362"/>
              </a:xfrm>
            </p:grpSpPr>
            <p:sp>
              <p:nvSpPr>
                <p:cNvPr id="132" name="Rectangle 131"/>
                <p:cNvSpPr>
                  <a:spLocks noChangeArrowheads="1"/>
                </p:cNvSpPr>
                <p:nvPr/>
              </p:nvSpPr>
              <p:spPr bwMode="auto">
                <a:xfrm>
                  <a:off x="5486400" y="5075238"/>
                  <a:ext cx="1114425" cy="614362"/>
                </a:xfrm>
                <a:prstGeom prst="rect">
                  <a:avLst/>
                </a:prstGeom>
                <a:solidFill>
                  <a:srgbClr val="EEB10F"/>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b="1" i="0" u="none" strike="noStrike" kern="0" cap="none" spc="0" normalizeH="0" baseline="0" noProof="0" dirty="0" smtClean="0">
                      <a:ln>
                        <a:noFill/>
                      </a:ln>
                      <a:solidFill>
                        <a:srgbClr val="FFFFFF"/>
                      </a:solidFill>
                      <a:effectLst/>
                      <a:uLnTx/>
                      <a:uFillTx/>
                      <a:latin typeface="Verdana" pitchFamily="34" charset="0"/>
                      <a:ea typeface="ＭＳ Ｐゴシック" pitchFamily="34" charset="-128"/>
                      <a:cs typeface="Arial"/>
                    </a:rPr>
                    <a:t>B</a:t>
                  </a:r>
                </a:p>
              </p:txBody>
            </p:sp>
            <p:sp>
              <p:nvSpPr>
                <p:cNvPr id="133" name="Isosceles Triangle 132"/>
                <p:cNvSpPr>
                  <a:spLocks noChangeArrowheads="1"/>
                </p:cNvSpPr>
                <p:nvPr/>
              </p:nvSpPr>
              <p:spPr bwMode="auto">
                <a:xfrm rot="5400000">
                  <a:off x="5498307" y="5382419"/>
                  <a:ext cx="50800" cy="52387"/>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a:ln>
                      <a:noFill/>
                    </a:ln>
                    <a:solidFill>
                      <a:srgbClr val="F8F8F8"/>
                    </a:solidFill>
                    <a:effectLst/>
                    <a:uLnTx/>
                    <a:uFillTx/>
                    <a:latin typeface="Verdana"/>
                    <a:ea typeface="ＭＳ Ｐゴシック" pitchFamily="34" charset="-128"/>
                    <a:cs typeface="Arial"/>
                  </a:endParaRPr>
                </a:p>
              </p:txBody>
            </p:sp>
            <p:sp>
              <p:nvSpPr>
                <p:cNvPr id="134" name="Isosceles Triangle 133"/>
                <p:cNvSpPr>
                  <a:spLocks noChangeArrowheads="1"/>
                </p:cNvSpPr>
                <p:nvPr/>
              </p:nvSpPr>
              <p:spPr bwMode="auto">
                <a:xfrm rot="5400000">
                  <a:off x="6559551" y="5381625"/>
                  <a:ext cx="50800" cy="53975"/>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a:ln>
                      <a:noFill/>
                    </a:ln>
                    <a:solidFill>
                      <a:srgbClr val="F8F8F8"/>
                    </a:solidFill>
                    <a:effectLst/>
                    <a:uLnTx/>
                    <a:uFillTx/>
                    <a:latin typeface="Verdana"/>
                    <a:ea typeface="ＭＳ Ｐゴシック" pitchFamily="34" charset="-128"/>
                    <a:cs typeface="Arial"/>
                  </a:endParaRPr>
                </a:p>
              </p:txBody>
            </p:sp>
          </p:grpSp>
          <p:grpSp>
            <p:nvGrpSpPr>
              <p:cNvPr id="12" name="Group 120"/>
              <p:cNvGrpSpPr/>
              <p:nvPr/>
            </p:nvGrpSpPr>
            <p:grpSpPr>
              <a:xfrm>
                <a:off x="7391400" y="4051300"/>
                <a:ext cx="1112838" cy="614363"/>
                <a:chOff x="7248525" y="4051300"/>
                <a:chExt cx="1112838" cy="614363"/>
              </a:xfrm>
            </p:grpSpPr>
            <p:sp>
              <p:nvSpPr>
                <p:cNvPr id="128" name="Rectangle 127"/>
                <p:cNvSpPr>
                  <a:spLocks noChangeArrowheads="1"/>
                </p:cNvSpPr>
                <p:nvPr/>
              </p:nvSpPr>
              <p:spPr bwMode="auto">
                <a:xfrm>
                  <a:off x="7248525" y="4051300"/>
                  <a:ext cx="1112838" cy="614363"/>
                </a:xfrm>
                <a:prstGeom prst="rect">
                  <a:avLst/>
                </a:prstGeom>
                <a:solidFill>
                  <a:srgbClr val="EEB10F"/>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b="1" i="0" u="none" strike="noStrike" kern="0" cap="none" spc="0" normalizeH="0" baseline="0" noProof="0" smtClean="0">
                      <a:ln>
                        <a:noFill/>
                      </a:ln>
                      <a:solidFill>
                        <a:srgbClr val="FFFFFF"/>
                      </a:solidFill>
                      <a:effectLst/>
                      <a:uLnTx/>
                      <a:uFillTx/>
                      <a:latin typeface="Verdana" pitchFamily="34" charset="0"/>
                      <a:ea typeface="ＭＳ Ｐゴシック" pitchFamily="34" charset="-128"/>
                      <a:cs typeface="Arial"/>
                    </a:rPr>
                    <a:t>C</a:t>
                  </a:r>
                </a:p>
              </p:txBody>
            </p:sp>
            <p:sp>
              <p:nvSpPr>
                <p:cNvPr id="129" name="Isosceles Triangle 128"/>
                <p:cNvSpPr>
                  <a:spLocks noChangeArrowheads="1"/>
                </p:cNvSpPr>
                <p:nvPr/>
              </p:nvSpPr>
              <p:spPr bwMode="auto">
                <a:xfrm rot="5400000">
                  <a:off x="7248525" y="4460875"/>
                  <a:ext cx="52388" cy="52388"/>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a:ln>
                      <a:noFill/>
                    </a:ln>
                    <a:solidFill>
                      <a:srgbClr val="F8F8F8"/>
                    </a:solidFill>
                    <a:effectLst/>
                    <a:uLnTx/>
                    <a:uFillTx/>
                    <a:latin typeface="Verdana"/>
                    <a:ea typeface="ＭＳ Ｐゴシック" pitchFamily="34" charset="-128"/>
                    <a:cs typeface="Arial"/>
                  </a:endParaRPr>
                </a:p>
              </p:txBody>
            </p:sp>
            <p:sp>
              <p:nvSpPr>
                <p:cNvPr id="130" name="Isosceles Triangle 129"/>
                <p:cNvSpPr>
                  <a:spLocks noChangeArrowheads="1"/>
                </p:cNvSpPr>
                <p:nvPr/>
              </p:nvSpPr>
              <p:spPr bwMode="auto">
                <a:xfrm rot="5400000">
                  <a:off x="7248525" y="4256088"/>
                  <a:ext cx="52387" cy="52388"/>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a:ln>
                      <a:noFill/>
                    </a:ln>
                    <a:solidFill>
                      <a:srgbClr val="F8F8F8"/>
                    </a:solidFill>
                    <a:effectLst/>
                    <a:uLnTx/>
                    <a:uFillTx/>
                    <a:latin typeface="Verdana"/>
                    <a:ea typeface="ＭＳ Ｐゴシック" pitchFamily="34" charset="-128"/>
                    <a:cs typeface="Arial"/>
                  </a:endParaRPr>
                </a:p>
              </p:txBody>
            </p:sp>
            <p:sp>
              <p:nvSpPr>
                <p:cNvPr id="131" name="Isosceles Triangle 130"/>
                <p:cNvSpPr>
                  <a:spLocks noChangeArrowheads="1"/>
                </p:cNvSpPr>
                <p:nvPr/>
              </p:nvSpPr>
              <p:spPr bwMode="auto">
                <a:xfrm rot="5400000">
                  <a:off x="8309769" y="4358481"/>
                  <a:ext cx="50800" cy="52388"/>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a:ln>
                      <a:noFill/>
                    </a:ln>
                    <a:solidFill>
                      <a:srgbClr val="F8F8F8"/>
                    </a:solidFill>
                    <a:effectLst/>
                    <a:uLnTx/>
                    <a:uFillTx/>
                    <a:latin typeface="Verdana"/>
                    <a:ea typeface="ＭＳ Ｐゴシック" pitchFamily="34" charset="-128"/>
                    <a:cs typeface="Arial"/>
                  </a:endParaRPr>
                </a:p>
              </p:txBody>
            </p:sp>
          </p:grpSp>
          <p:sp>
            <p:nvSpPr>
              <p:cNvPr id="122" name="Isosceles Triangle 121"/>
              <p:cNvSpPr>
                <a:spLocks noChangeArrowheads="1"/>
              </p:cNvSpPr>
              <p:nvPr/>
            </p:nvSpPr>
            <p:spPr bwMode="auto">
              <a:xfrm rot="5400000">
                <a:off x="8787607" y="4358481"/>
                <a:ext cx="50800" cy="52387"/>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a:ln>
                    <a:noFill/>
                  </a:ln>
                  <a:solidFill>
                    <a:srgbClr val="F8F8F8"/>
                  </a:solidFill>
                  <a:effectLst/>
                  <a:uLnTx/>
                  <a:uFillTx/>
                  <a:latin typeface="Verdana"/>
                  <a:ea typeface="ＭＳ Ｐゴシック" pitchFamily="34" charset="-128"/>
                  <a:cs typeface="Arial"/>
                </a:endParaRPr>
              </a:p>
            </p:txBody>
          </p:sp>
          <p:sp>
            <p:nvSpPr>
              <p:cNvPr id="123" name="TextBox 43"/>
              <p:cNvSpPr txBox="1">
                <a:spLocks noChangeArrowheads="1"/>
              </p:cNvSpPr>
              <p:nvPr/>
            </p:nvSpPr>
            <p:spPr bwMode="auto">
              <a:xfrm>
                <a:off x="4227513" y="4572000"/>
                <a:ext cx="1639889" cy="3335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a:ln>
                      <a:noFill/>
                    </a:ln>
                    <a:solidFill>
                      <a:srgbClr val="000000"/>
                    </a:solidFill>
                    <a:effectLst/>
                    <a:uLnTx/>
                    <a:uFillTx/>
                    <a:latin typeface="Calibri" pitchFamily="34" charset="0"/>
                    <a:ea typeface="ＭＳ Ｐゴシック" pitchFamily="34" charset="-128"/>
                    <a:cs typeface="Arial" charset="0"/>
                  </a:rPr>
                  <a:t>Assumption: Input &lt; 20</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a:ln>
                      <a:noFill/>
                    </a:ln>
                    <a:solidFill>
                      <a:srgbClr val="000000"/>
                    </a:solidFill>
                    <a:effectLst/>
                    <a:uLnTx/>
                    <a:uFillTx/>
                    <a:latin typeface="Calibri" pitchFamily="34" charset="0"/>
                    <a:ea typeface="ＭＳ Ｐゴシック" pitchFamily="34" charset="-128"/>
                    <a:cs typeface="Arial" charset="0"/>
                  </a:rPr>
                  <a:t>Guarantee: Output &lt; 2*Input</a:t>
                </a:r>
              </a:p>
            </p:txBody>
          </p:sp>
          <p:sp>
            <p:nvSpPr>
              <p:cNvPr id="124" name="TextBox 44"/>
              <p:cNvSpPr txBox="1">
                <a:spLocks noChangeArrowheads="1"/>
              </p:cNvSpPr>
              <p:nvPr/>
            </p:nvSpPr>
            <p:spPr bwMode="auto">
              <a:xfrm>
                <a:off x="5724524" y="5654675"/>
                <a:ext cx="1743075" cy="3335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a:ln>
                      <a:noFill/>
                    </a:ln>
                    <a:solidFill>
                      <a:srgbClr val="000000"/>
                    </a:solidFill>
                    <a:effectLst/>
                    <a:uLnTx/>
                    <a:uFillTx/>
                    <a:latin typeface="Calibri" pitchFamily="34" charset="0"/>
                    <a:ea typeface="ＭＳ Ｐゴシック" pitchFamily="34" charset="-128"/>
                    <a:cs typeface="Arial" charset="0"/>
                  </a:rPr>
                  <a:t>Assumption: Input &lt; 20</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a:ln>
                      <a:noFill/>
                    </a:ln>
                    <a:solidFill>
                      <a:srgbClr val="000000"/>
                    </a:solidFill>
                    <a:effectLst/>
                    <a:uLnTx/>
                    <a:uFillTx/>
                    <a:latin typeface="Calibri" pitchFamily="34" charset="0"/>
                    <a:ea typeface="ＭＳ Ｐゴシック" pitchFamily="34" charset="-128"/>
                    <a:cs typeface="Arial" charset="0"/>
                  </a:rPr>
                  <a:t>Guarantee: Output &lt; Input + 15</a:t>
                </a:r>
              </a:p>
            </p:txBody>
          </p:sp>
          <p:sp>
            <p:nvSpPr>
              <p:cNvPr id="125" name="TextBox 45"/>
              <p:cNvSpPr txBox="1">
                <a:spLocks noChangeArrowheads="1"/>
              </p:cNvSpPr>
              <p:nvPr/>
            </p:nvSpPr>
            <p:spPr bwMode="auto">
              <a:xfrm>
                <a:off x="7300912" y="4648200"/>
                <a:ext cx="1538287" cy="3335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dirty="0">
                    <a:ln>
                      <a:noFill/>
                    </a:ln>
                    <a:solidFill>
                      <a:srgbClr val="000000"/>
                    </a:solidFill>
                    <a:effectLst/>
                    <a:uLnTx/>
                    <a:uFillTx/>
                    <a:latin typeface="Calibri" pitchFamily="34" charset="0"/>
                    <a:ea typeface="ＭＳ Ｐゴシック" pitchFamily="34" charset="-128"/>
                    <a:cs typeface="Arial" charset="0"/>
                  </a:rPr>
                  <a:t>Assumption: none</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dirty="0">
                    <a:ln>
                      <a:noFill/>
                    </a:ln>
                    <a:solidFill>
                      <a:srgbClr val="000000"/>
                    </a:solidFill>
                    <a:effectLst/>
                    <a:uLnTx/>
                    <a:uFillTx/>
                    <a:latin typeface="Calibri" pitchFamily="34" charset="0"/>
                    <a:ea typeface="ＭＳ Ｐゴシック" pitchFamily="34" charset="-128"/>
                    <a:cs typeface="Arial" charset="0"/>
                  </a:rPr>
                  <a:t>Guarantee: Output = Input1 + Input2</a:t>
                </a:r>
              </a:p>
            </p:txBody>
          </p:sp>
          <p:sp>
            <p:nvSpPr>
              <p:cNvPr id="126" name="TextBox 46"/>
              <p:cNvSpPr txBox="1">
                <a:spLocks noChangeArrowheads="1"/>
              </p:cNvSpPr>
              <p:nvPr/>
            </p:nvSpPr>
            <p:spPr bwMode="auto">
              <a:xfrm>
                <a:off x="7443790" y="5650467"/>
                <a:ext cx="1395411" cy="333536"/>
              </a:xfrm>
              <a:prstGeom prst="rect">
                <a:avLst/>
              </a:prstGeom>
              <a:noFill/>
              <a:ln w="19050">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dirty="0">
                    <a:ln>
                      <a:noFill/>
                    </a:ln>
                    <a:solidFill>
                      <a:srgbClr val="000000"/>
                    </a:solidFill>
                    <a:effectLst/>
                    <a:uLnTx/>
                    <a:uFillTx/>
                    <a:latin typeface="Calibri" pitchFamily="34" charset="0"/>
                    <a:ea typeface="ＭＳ Ｐゴシック" pitchFamily="34" charset="-128"/>
                    <a:cs typeface="Arial" charset="0"/>
                  </a:rPr>
                  <a:t>Assumption: Input &lt; 10</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dirty="0">
                    <a:ln>
                      <a:noFill/>
                    </a:ln>
                    <a:solidFill>
                      <a:srgbClr val="000000"/>
                    </a:solidFill>
                    <a:effectLst/>
                    <a:uLnTx/>
                    <a:uFillTx/>
                    <a:latin typeface="Calibri" pitchFamily="34" charset="0"/>
                    <a:ea typeface="ＭＳ Ｐゴシック" pitchFamily="34" charset="-128"/>
                    <a:cs typeface="Arial" charset="0"/>
                  </a:rPr>
                  <a:t>Guarantee: Output &lt; 50</a:t>
                </a:r>
              </a:p>
            </p:txBody>
          </p:sp>
          <p:sp>
            <p:nvSpPr>
              <p:cNvPr id="127" name="Isosceles Triangle 17"/>
              <p:cNvSpPr>
                <a:spLocks noChangeArrowheads="1"/>
              </p:cNvSpPr>
              <p:nvPr/>
            </p:nvSpPr>
            <p:spPr bwMode="auto">
              <a:xfrm rot="5400000">
                <a:off x="4039394" y="4253706"/>
                <a:ext cx="50800" cy="52388"/>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a:ln>
                    <a:noFill/>
                  </a:ln>
                  <a:solidFill>
                    <a:srgbClr val="F8F8F8"/>
                  </a:solidFill>
                  <a:effectLst/>
                  <a:uLnTx/>
                  <a:uFillTx/>
                  <a:latin typeface="Verdana"/>
                  <a:ea typeface="ＭＳ Ｐゴシック" pitchFamily="34" charset="-128"/>
                  <a:cs typeface="Arial"/>
                </a:endParaRPr>
              </a:p>
            </p:txBody>
          </p:sp>
        </p:grpSp>
        <p:sp>
          <p:nvSpPr>
            <p:cNvPr id="111" name="TextBox 110"/>
            <p:cNvSpPr txBox="1"/>
            <p:nvPr/>
          </p:nvSpPr>
          <p:spPr>
            <a:xfrm>
              <a:off x="6019800" y="4126468"/>
              <a:ext cx="261962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0000"/>
                  </a:solidFill>
                  <a:effectLst/>
                  <a:uLnTx/>
                  <a:uFillTx/>
                  <a:latin typeface="Verdana"/>
                  <a:ea typeface="ＭＳ Ｐゴシック" pitchFamily="34" charset="-128"/>
                  <a:cs typeface="Arial"/>
                </a:rPr>
                <a:t>Architecture Analysis</a:t>
              </a:r>
            </a:p>
          </p:txBody>
        </p:sp>
        <p:pic>
          <p:nvPicPr>
            <p:cNvPr id="112" name="Picture 2" descr="C:\Users\ddcofer\Documents\Projects\hacms\svn_smaccm\meetings\2013-July-PI-meeting\slides\Rockwell\resolute_screen_shots\verbose_graph.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035675" y="5090293"/>
              <a:ext cx="1796847" cy="1313945"/>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3" name="Group 137"/>
          <p:cNvGrpSpPr/>
          <p:nvPr/>
        </p:nvGrpSpPr>
        <p:grpSpPr>
          <a:xfrm>
            <a:off x="306132" y="1752600"/>
            <a:ext cx="2624822" cy="4304874"/>
            <a:chOff x="306132" y="1752600"/>
            <a:chExt cx="2624822" cy="4304874"/>
          </a:xfrm>
        </p:grpSpPr>
        <p:grpSp>
          <p:nvGrpSpPr>
            <p:cNvPr id="14" name="Group 138"/>
            <p:cNvGrpSpPr/>
            <p:nvPr/>
          </p:nvGrpSpPr>
          <p:grpSpPr>
            <a:xfrm>
              <a:off x="457200" y="1752600"/>
              <a:ext cx="2473754" cy="2895601"/>
              <a:chOff x="457200" y="1752600"/>
              <a:chExt cx="2473754" cy="2895601"/>
            </a:xfrm>
          </p:grpSpPr>
          <p:pic>
            <p:nvPicPr>
              <p:cNvPr id="141" name="Picture 2" descr="https://encrypted-tbn0.gstatic.com/images?q=tbn:ANd9GcQyR5lXe_e8Fx9HyDitWCJgBJAjBpV0KbUBCI4CfK9l44Rg0zil"/>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38200" y="4267200"/>
                <a:ext cx="1476375" cy="381001"/>
              </a:xfrm>
              <a:prstGeom prst="rect">
                <a:avLst/>
              </a:prstGeom>
              <a:noFill/>
              <a:extLst>
                <a:ext uri="{909E8E84-426E-40DD-AFC4-6F175D3DCCD1}">
                  <a14:hiddenFill xmlns:a14="http://schemas.microsoft.com/office/drawing/2010/main">
                    <a:solidFill>
                      <a:srgbClr val="FFFFFF"/>
                    </a:solidFill>
                  </a14:hiddenFill>
                </a:ext>
              </a:extLst>
            </p:spPr>
          </p:pic>
          <p:sp>
            <p:nvSpPr>
              <p:cNvPr id="142" name="TextBox 141"/>
              <p:cNvSpPr txBox="1"/>
              <p:nvPr/>
            </p:nvSpPr>
            <p:spPr>
              <a:xfrm>
                <a:off x="457200" y="3810000"/>
                <a:ext cx="247375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0000"/>
                    </a:solidFill>
                    <a:effectLst/>
                    <a:uLnTx/>
                    <a:uFillTx/>
                    <a:latin typeface="Verdana"/>
                    <a:ea typeface="ＭＳ Ｐゴシック" pitchFamily="34" charset="-128"/>
                    <a:cs typeface="Arial"/>
                  </a:rPr>
                  <a:t>Architecture Models</a:t>
                </a:r>
              </a:p>
            </p:txBody>
          </p:sp>
          <p:grpSp>
            <p:nvGrpSpPr>
              <p:cNvPr id="15" name="Group 142"/>
              <p:cNvGrpSpPr/>
              <p:nvPr/>
            </p:nvGrpSpPr>
            <p:grpSpPr>
              <a:xfrm>
                <a:off x="1469873" y="1752600"/>
                <a:ext cx="1112138" cy="533400"/>
                <a:chOff x="1129973" y="1950482"/>
                <a:chExt cx="1112138" cy="533400"/>
              </a:xfrm>
            </p:grpSpPr>
            <p:grpSp>
              <p:nvGrpSpPr>
                <p:cNvPr id="16" name="Group 144"/>
                <p:cNvGrpSpPr/>
                <p:nvPr/>
              </p:nvGrpSpPr>
              <p:grpSpPr>
                <a:xfrm flipH="1">
                  <a:off x="1129973" y="1950482"/>
                  <a:ext cx="1112138" cy="533400"/>
                  <a:chOff x="6639029" y="1295400"/>
                  <a:chExt cx="1112138" cy="533400"/>
                </a:xfrm>
              </p:grpSpPr>
              <p:sp>
                <p:nvSpPr>
                  <p:cNvPr id="147" name="Rectangle 146"/>
                  <p:cNvSpPr/>
                  <p:nvPr/>
                </p:nvSpPr>
                <p:spPr>
                  <a:xfrm>
                    <a:off x="6783673" y="1295400"/>
                    <a:ext cx="737505" cy="5334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smtClean="0">
                      <a:ln>
                        <a:noFill/>
                      </a:ln>
                      <a:solidFill>
                        <a:srgbClr val="F8F8F8"/>
                      </a:solidFill>
                      <a:effectLst/>
                      <a:uLnTx/>
                      <a:uFillTx/>
                      <a:latin typeface="Verdana"/>
                      <a:ea typeface="ＭＳ Ｐゴシック"/>
                      <a:cs typeface="Arial"/>
                    </a:endParaRPr>
                  </a:p>
                </p:txBody>
              </p:sp>
              <p:sp>
                <p:nvSpPr>
                  <p:cNvPr id="148" name="Oval 147"/>
                  <p:cNvSpPr/>
                  <p:nvPr/>
                </p:nvSpPr>
                <p:spPr>
                  <a:xfrm>
                    <a:off x="7239000" y="1295400"/>
                    <a:ext cx="512167" cy="533400"/>
                  </a:xfrm>
                  <a:prstGeom prst="ellipse">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sp>
                <p:nvSpPr>
                  <p:cNvPr id="149" name="Rectangle 148"/>
                  <p:cNvSpPr/>
                  <p:nvPr/>
                </p:nvSpPr>
                <p:spPr>
                  <a:xfrm>
                    <a:off x="6640902" y="13716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sp>
                <p:nvSpPr>
                  <p:cNvPr id="150" name="Rectangle 149"/>
                  <p:cNvSpPr/>
                  <p:nvPr/>
                </p:nvSpPr>
                <p:spPr>
                  <a:xfrm>
                    <a:off x="6639029" y="16764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grpSp>
            <p:sp>
              <p:nvSpPr>
                <p:cNvPr id="146" name="TextBox 145"/>
                <p:cNvSpPr txBox="1"/>
                <p:nvPr/>
              </p:nvSpPr>
              <p:spPr>
                <a:xfrm>
                  <a:off x="1245236" y="2017157"/>
                  <a:ext cx="863570" cy="400110"/>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2000" b="1" i="0" u="none" strike="noStrike" kern="0" cap="none" spc="0" normalizeH="0" baseline="0" noProof="0" dirty="0" smtClean="0">
                      <a:ln>
                        <a:noFill/>
                      </a:ln>
                      <a:solidFill>
                        <a:srgbClr val="000000"/>
                      </a:solidFill>
                      <a:effectLst/>
                      <a:uLnTx/>
                      <a:uFillTx/>
                      <a:latin typeface="Calibri" pitchFamily="34" charset="0"/>
                      <a:ea typeface="ＭＳ Ｐゴシック" pitchFamily="34" charset="-128"/>
                      <a:cs typeface="Times New Roman" pitchFamily="18" charset="0"/>
                    </a:rPr>
                    <a:t>OSATE</a:t>
                  </a:r>
                  <a:endParaRPr kumimoji="0" lang="en-US" sz="2400" b="1" i="0" u="none" strike="noStrike" kern="0" cap="none" spc="0" normalizeH="0" baseline="0" noProof="0" dirty="0" smtClean="0">
                    <a:ln>
                      <a:noFill/>
                    </a:ln>
                    <a:solidFill>
                      <a:srgbClr val="000000"/>
                    </a:solidFill>
                    <a:effectLst/>
                    <a:uLnTx/>
                    <a:uFillTx/>
                    <a:latin typeface="Calibri" pitchFamily="34" charset="0"/>
                    <a:ea typeface="ＭＳ Ｐゴシック" pitchFamily="34" charset="-128"/>
                    <a:cs typeface="Times New Roman" pitchFamily="18" charset="0"/>
                  </a:endParaRPr>
                </a:p>
              </p:txBody>
            </p:sp>
          </p:grpSp>
          <p:sp>
            <p:nvSpPr>
              <p:cNvPr id="144" name="Freeform 143"/>
              <p:cNvSpPr/>
              <p:nvPr/>
            </p:nvSpPr>
            <p:spPr>
              <a:xfrm>
                <a:off x="1143000" y="2032517"/>
                <a:ext cx="403073" cy="1739384"/>
              </a:xfrm>
              <a:custGeom>
                <a:avLst/>
                <a:gdLst>
                  <a:gd name="connsiteX0" fmla="*/ 400072 w 400072"/>
                  <a:gd name="connsiteY0" fmla="*/ 55644 h 1179594"/>
                  <a:gd name="connsiteX1" fmla="*/ 22 w 400072"/>
                  <a:gd name="connsiteY1" fmla="*/ 84219 h 1179594"/>
                  <a:gd name="connsiteX2" fmla="*/ 381022 w 400072"/>
                  <a:gd name="connsiteY2" fmla="*/ 855744 h 1179594"/>
                  <a:gd name="connsiteX3" fmla="*/ 304822 w 400072"/>
                  <a:gd name="connsiteY3" fmla="*/ 1160544 h 1179594"/>
                  <a:gd name="connsiteX4" fmla="*/ 304822 w 400072"/>
                  <a:gd name="connsiteY4" fmla="*/ 1160544 h 1179594"/>
                  <a:gd name="connsiteX5" fmla="*/ 304822 w 400072"/>
                  <a:gd name="connsiteY5" fmla="*/ 1179594 h 1179594"/>
                  <a:gd name="connsiteX0" fmla="*/ 409597 w 409597"/>
                  <a:gd name="connsiteY0" fmla="*/ 14182 h 1138132"/>
                  <a:gd name="connsiteX1" fmla="*/ 22 w 409597"/>
                  <a:gd name="connsiteY1" fmla="*/ 195157 h 1138132"/>
                  <a:gd name="connsiteX2" fmla="*/ 390547 w 409597"/>
                  <a:gd name="connsiteY2" fmla="*/ 814282 h 1138132"/>
                  <a:gd name="connsiteX3" fmla="*/ 314347 w 409597"/>
                  <a:gd name="connsiteY3" fmla="*/ 1119082 h 1138132"/>
                  <a:gd name="connsiteX4" fmla="*/ 314347 w 409597"/>
                  <a:gd name="connsiteY4" fmla="*/ 1119082 h 1138132"/>
                  <a:gd name="connsiteX5" fmla="*/ 314347 w 409597"/>
                  <a:gd name="connsiteY5" fmla="*/ 1138132 h 1138132"/>
                  <a:gd name="connsiteX0" fmla="*/ 390525 w 403073"/>
                  <a:gd name="connsiteY0" fmla="*/ 11255 h 1182830"/>
                  <a:gd name="connsiteX1" fmla="*/ 0 w 403073"/>
                  <a:gd name="connsiteY1" fmla="*/ 239855 h 1182830"/>
                  <a:gd name="connsiteX2" fmla="*/ 390525 w 403073"/>
                  <a:gd name="connsiteY2" fmla="*/ 858980 h 1182830"/>
                  <a:gd name="connsiteX3" fmla="*/ 314325 w 403073"/>
                  <a:gd name="connsiteY3" fmla="*/ 1163780 h 1182830"/>
                  <a:gd name="connsiteX4" fmla="*/ 314325 w 403073"/>
                  <a:gd name="connsiteY4" fmla="*/ 1163780 h 1182830"/>
                  <a:gd name="connsiteX5" fmla="*/ 314325 w 403073"/>
                  <a:gd name="connsiteY5" fmla="*/ 1182830 h 1182830"/>
                  <a:gd name="connsiteX0" fmla="*/ 390525 w 403073"/>
                  <a:gd name="connsiteY0" fmla="*/ 0 h 1171575"/>
                  <a:gd name="connsiteX1" fmla="*/ 0 w 403073"/>
                  <a:gd name="connsiteY1" fmla="*/ 228600 h 1171575"/>
                  <a:gd name="connsiteX2" fmla="*/ 390525 w 403073"/>
                  <a:gd name="connsiteY2" fmla="*/ 847725 h 1171575"/>
                  <a:gd name="connsiteX3" fmla="*/ 314325 w 403073"/>
                  <a:gd name="connsiteY3" fmla="*/ 1152525 h 1171575"/>
                  <a:gd name="connsiteX4" fmla="*/ 314325 w 403073"/>
                  <a:gd name="connsiteY4" fmla="*/ 1152525 h 1171575"/>
                  <a:gd name="connsiteX5" fmla="*/ 314325 w 403073"/>
                  <a:gd name="connsiteY5" fmla="*/ 1171575 h 11715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03073" h="1171575">
                    <a:moveTo>
                      <a:pt x="390525" y="0"/>
                    </a:moveTo>
                    <a:cubicBezTo>
                      <a:pt x="201612" y="23812"/>
                      <a:pt x="0" y="87313"/>
                      <a:pt x="0" y="228600"/>
                    </a:cubicBezTo>
                    <a:cubicBezTo>
                      <a:pt x="0" y="369887"/>
                      <a:pt x="338137" y="693737"/>
                      <a:pt x="390525" y="847725"/>
                    </a:cubicBezTo>
                    <a:cubicBezTo>
                      <a:pt x="442913" y="1001713"/>
                      <a:pt x="314325" y="1152525"/>
                      <a:pt x="314325" y="1152525"/>
                    </a:cubicBezTo>
                    <a:lnTo>
                      <a:pt x="314325" y="1152525"/>
                    </a:lnTo>
                    <a:lnTo>
                      <a:pt x="314325" y="1171575"/>
                    </a:lnTo>
                  </a:path>
                </a:pathLst>
              </a:custGeom>
              <a:noFill/>
              <a:ln w="57150" cap="flat" cmpd="sng" algn="ctr">
                <a:solidFill>
                  <a:srgbClr val="ABB41D"/>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grpSp>
        <p:pic>
          <p:nvPicPr>
            <p:cNvPr id="140" name="Picture 7"/>
            <p:cNvPicPr>
              <a:picLocks noChangeAspect="1" noChangeArrowheads="1"/>
            </p:cNvPicPr>
            <p:nvPr/>
          </p:nvPicPr>
          <p:blipFill>
            <a:blip r:embed="rId7"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306132" y="4807057"/>
              <a:ext cx="2166255" cy="12504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17" name="Group 150"/>
          <p:cNvGrpSpPr/>
          <p:nvPr/>
        </p:nvGrpSpPr>
        <p:grpSpPr>
          <a:xfrm>
            <a:off x="6497183" y="1381125"/>
            <a:ext cx="2099617" cy="2790825"/>
            <a:chOff x="6497183" y="1381125"/>
            <a:chExt cx="2099617" cy="2790825"/>
          </a:xfrm>
        </p:grpSpPr>
        <p:sp>
          <p:nvSpPr>
            <p:cNvPr id="152" name="Freeform 151"/>
            <p:cNvSpPr/>
            <p:nvPr/>
          </p:nvSpPr>
          <p:spPr>
            <a:xfrm>
              <a:off x="7580508" y="1647825"/>
              <a:ext cx="1016292" cy="2524125"/>
            </a:xfrm>
            <a:custGeom>
              <a:avLst/>
              <a:gdLst>
                <a:gd name="connsiteX0" fmla="*/ 0 w 586671"/>
                <a:gd name="connsiteY0" fmla="*/ 3888 h 1661238"/>
                <a:gd name="connsiteX1" fmla="*/ 581025 w 586671"/>
                <a:gd name="connsiteY1" fmla="*/ 203913 h 1661238"/>
                <a:gd name="connsiteX2" fmla="*/ 295275 w 586671"/>
                <a:gd name="connsiteY2" fmla="*/ 1318338 h 1661238"/>
                <a:gd name="connsiteX3" fmla="*/ 295275 w 586671"/>
                <a:gd name="connsiteY3" fmla="*/ 1661238 h 1661238"/>
                <a:gd name="connsiteX0" fmla="*/ 0 w 586671"/>
                <a:gd name="connsiteY0" fmla="*/ 0 h 1657350"/>
                <a:gd name="connsiteX1" fmla="*/ 581025 w 586671"/>
                <a:gd name="connsiteY1" fmla="*/ 200025 h 1657350"/>
                <a:gd name="connsiteX2" fmla="*/ 295275 w 586671"/>
                <a:gd name="connsiteY2" fmla="*/ 1314450 h 1657350"/>
                <a:gd name="connsiteX3" fmla="*/ 295275 w 586671"/>
                <a:gd name="connsiteY3" fmla="*/ 1657350 h 1657350"/>
                <a:gd name="connsiteX0" fmla="*/ 0 w 598001"/>
                <a:gd name="connsiteY0" fmla="*/ 0 h 1657350"/>
                <a:gd name="connsiteX1" fmla="*/ 581025 w 598001"/>
                <a:gd name="connsiteY1" fmla="*/ 200025 h 1657350"/>
                <a:gd name="connsiteX2" fmla="*/ 429787 w 598001"/>
                <a:gd name="connsiteY2" fmla="*/ 1301296 h 1657350"/>
                <a:gd name="connsiteX3" fmla="*/ 295275 w 598001"/>
                <a:gd name="connsiteY3" fmla="*/ 1657350 h 1657350"/>
                <a:gd name="connsiteX0" fmla="*/ 0 w 598001"/>
                <a:gd name="connsiteY0" fmla="*/ 0 h 1742848"/>
                <a:gd name="connsiteX1" fmla="*/ 581025 w 598001"/>
                <a:gd name="connsiteY1" fmla="*/ 200025 h 1742848"/>
                <a:gd name="connsiteX2" fmla="*/ 429787 w 598001"/>
                <a:gd name="connsiteY2" fmla="*/ 1301296 h 1742848"/>
                <a:gd name="connsiteX3" fmla="*/ 463415 w 598001"/>
                <a:gd name="connsiteY3" fmla="*/ 1742848 h 1742848"/>
              </a:gdLst>
              <a:ahLst/>
              <a:cxnLst>
                <a:cxn ang="0">
                  <a:pos x="connsiteX0" y="connsiteY0"/>
                </a:cxn>
                <a:cxn ang="0">
                  <a:pos x="connsiteX1" y="connsiteY1"/>
                </a:cxn>
                <a:cxn ang="0">
                  <a:pos x="connsiteX2" y="connsiteY2"/>
                </a:cxn>
                <a:cxn ang="0">
                  <a:pos x="connsiteX3" y="connsiteY3"/>
                </a:cxn>
              </a:cxnLst>
              <a:rect l="l" t="t" r="r" b="b"/>
              <a:pathLst>
                <a:path w="598001" h="1742848">
                  <a:moveTo>
                    <a:pt x="0" y="0"/>
                  </a:moveTo>
                  <a:cubicBezTo>
                    <a:pt x="265906" y="19050"/>
                    <a:pt x="509394" y="-16858"/>
                    <a:pt x="581025" y="200025"/>
                  </a:cubicBezTo>
                  <a:cubicBezTo>
                    <a:pt x="652656" y="416908"/>
                    <a:pt x="477412" y="1058409"/>
                    <a:pt x="429787" y="1301296"/>
                  </a:cubicBezTo>
                  <a:cubicBezTo>
                    <a:pt x="382162" y="1544184"/>
                    <a:pt x="439602" y="1692842"/>
                    <a:pt x="463415" y="1742848"/>
                  </a:cubicBezTo>
                </a:path>
              </a:pathLst>
            </a:custGeom>
            <a:noFill/>
            <a:ln w="57150" cap="flat" cmpd="sng" algn="ctr">
              <a:solidFill>
                <a:srgbClr val="ABB41D"/>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grpSp>
          <p:nvGrpSpPr>
            <p:cNvPr id="18" name="Group 152"/>
            <p:cNvGrpSpPr/>
            <p:nvPr/>
          </p:nvGrpSpPr>
          <p:grpSpPr>
            <a:xfrm>
              <a:off x="6497183" y="1381125"/>
              <a:ext cx="1503817" cy="533400"/>
              <a:chOff x="6640902" y="1295400"/>
              <a:chExt cx="1503817" cy="533400"/>
            </a:xfrm>
          </p:grpSpPr>
          <p:grpSp>
            <p:nvGrpSpPr>
              <p:cNvPr id="19" name="Group 153"/>
              <p:cNvGrpSpPr/>
              <p:nvPr/>
            </p:nvGrpSpPr>
            <p:grpSpPr>
              <a:xfrm>
                <a:off x="6640902" y="1295400"/>
                <a:ext cx="1503817" cy="533400"/>
                <a:chOff x="6640902" y="1295400"/>
                <a:chExt cx="1503817" cy="533400"/>
              </a:xfrm>
            </p:grpSpPr>
            <p:sp>
              <p:nvSpPr>
                <p:cNvPr id="156" name="Rectangle 155"/>
                <p:cNvSpPr/>
                <p:nvPr/>
              </p:nvSpPr>
              <p:spPr>
                <a:xfrm>
                  <a:off x="6783673" y="1295400"/>
                  <a:ext cx="1095567" cy="5334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sp>
              <p:nvSpPr>
                <p:cNvPr id="157" name="Oval 156"/>
                <p:cNvSpPr/>
                <p:nvPr/>
              </p:nvSpPr>
              <p:spPr>
                <a:xfrm>
                  <a:off x="7632552" y="1295400"/>
                  <a:ext cx="512167" cy="533400"/>
                </a:xfrm>
                <a:prstGeom prst="ellipse">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sp>
              <p:nvSpPr>
                <p:cNvPr id="158" name="Rectangle 157"/>
                <p:cNvSpPr/>
                <p:nvPr/>
              </p:nvSpPr>
              <p:spPr>
                <a:xfrm>
                  <a:off x="6640902" y="13716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sp>
              <p:nvSpPr>
                <p:cNvPr id="159" name="Rectangle 158"/>
                <p:cNvSpPr/>
                <p:nvPr/>
              </p:nvSpPr>
              <p:spPr>
                <a:xfrm>
                  <a:off x="6648554" y="16764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grpSp>
          <p:sp>
            <p:nvSpPr>
              <p:cNvPr id="155" name="TextBox 154"/>
              <p:cNvSpPr txBox="1"/>
              <p:nvPr/>
            </p:nvSpPr>
            <p:spPr>
              <a:xfrm>
                <a:off x="6766755" y="1329035"/>
                <a:ext cx="1352875" cy="461665"/>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dirty="0" smtClean="0">
                    <a:ln>
                      <a:noFill/>
                    </a:ln>
                    <a:solidFill>
                      <a:srgbClr val="000000"/>
                    </a:solidFill>
                    <a:effectLst/>
                    <a:uLnTx/>
                    <a:uFillTx/>
                    <a:latin typeface="Tw Cen MT" pitchFamily="34" charset="0"/>
                    <a:ea typeface="ＭＳ Ｐゴシック" pitchFamily="34" charset="-128"/>
                    <a:cs typeface="Arial"/>
                  </a:rPr>
                  <a:t>Resolute</a:t>
                </a:r>
              </a:p>
            </p:txBody>
          </p:sp>
        </p:grpSp>
      </p:grpSp>
      <p:grpSp>
        <p:nvGrpSpPr>
          <p:cNvPr id="20" name="Group 159"/>
          <p:cNvGrpSpPr/>
          <p:nvPr/>
        </p:nvGrpSpPr>
        <p:grpSpPr>
          <a:xfrm>
            <a:off x="6477000" y="1981200"/>
            <a:ext cx="1807644" cy="2199650"/>
            <a:chOff x="6540793" y="2133600"/>
            <a:chExt cx="1807644" cy="2199650"/>
          </a:xfrm>
        </p:grpSpPr>
        <p:grpSp>
          <p:nvGrpSpPr>
            <p:cNvPr id="21" name="Group 160"/>
            <p:cNvGrpSpPr/>
            <p:nvPr/>
          </p:nvGrpSpPr>
          <p:grpSpPr>
            <a:xfrm>
              <a:off x="6540793" y="2133600"/>
              <a:ext cx="1110265" cy="533400"/>
              <a:chOff x="6640902" y="1295400"/>
              <a:chExt cx="1110265" cy="533400"/>
            </a:xfrm>
          </p:grpSpPr>
          <p:grpSp>
            <p:nvGrpSpPr>
              <p:cNvPr id="22" name="Group 162"/>
              <p:cNvGrpSpPr/>
              <p:nvPr/>
            </p:nvGrpSpPr>
            <p:grpSpPr>
              <a:xfrm>
                <a:off x="6640902" y="1295400"/>
                <a:ext cx="1110265" cy="533400"/>
                <a:chOff x="6640902" y="1295400"/>
                <a:chExt cx="1110265" cy="533400"/>
              </a:xfrm>
            </p:grpSpPr>
            <p:sp>
              <p:nvSpPr>
                <p:cNvPr id="165" name="Rectangle 164"/>
                <p:cNvSpPr/>
                <p:nvPr/>
              </p:nvSpPr>
              <p:spPr>
                <a:xfrm>
                  <a:off x="6783673" y="1295400"/>
                  <a:ext cx="737505" cy="5334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sp>
              <p:nvSpPr>
                <p:cNvPr id="166" name="Oval 165"/>
                <p:cNvSpPr/>
                <p:nvPr/>
              </p:nvSpPr>
              <p:spPr>
                <a:xfrm>
                  <a:off x="7239000" y="1295400"/>
                  <a:ext cx="512167" cy="533400"/>
                </a:xfrm>
                <a:prstGeom prst="ellipse">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sp>
              <p:nvSpPr>
                <p:cNvPr id="167" name="Rectangle 166"/>
                <p:cNvSpPr/>
                <p:nvPr/>
              </p:nvSpPr>
              <p:spPr>
                <a:xfrm>
                  <a:off x="6640902" y="13716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sp>
              <p:nvSpPr>
                <p:cNvPr id="168" name="Rectangle 167"/>
                <p:cNvSpPr/>
                <p:nvPr/>
              </p:nvSpPr>
              <p:spPr>
                <a:xfrm>
                  <a:off x="6648554" y="16764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grpSp>
          <p:sp>
            <p:nvSpPr>
              <p:cNvPr id="164" name="TextBox 163"/>
              <p:cNvSpPr txBox="1"/>
              <p:nvPr/>
            </p:nvSpPr>
            <p:spPr>
              <a:xfrm>
                <a:off x="6766755" y="1371600"/>
                <a:ext cx="925253"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1" i="0" u="none" strike="noStrike" kern="0" cap="none" spc="0" normalizeH="0" baseline="0" noProof="0" dirty="0" smtClean="0">
                    <a:ln>
                      <a:noFill/>
                    </a:ln>
                    <a:solidFill>
                      <a:srgbClr val="000000"/>
                    </a:solidFill>
                    <a:effectLst/>
                    <a:uLnTx/>
                    <a:uFillTx/>
                    <a:latin typeface="Century Gothic" pitchFamily="34" charset="0"/>
                    <a:ea typeface="ＭＳ Ｐゴシック" pitchFamily="34" charset="-128"/>
                    <a:cs typeface="Arial"/>
                  </a:rPr>
                  <a:t>AGREE</a:t>
                </a:r>
                <a:endParaRPr kumimoji="0" lang="en-US" sz="2000" b="1" i="0" u="none" strike="noStrike" kern="0" cap="none" spc="0" normalizeH="0" baseline="0" noProof="0" dirty="0" smtClean="0">
                  <a:ln>
                    <a:noFill/>
                  </a:ln>
                  <a:solidFill>
                    <a:srgbClr val="000000"/>
                  </a:solidFill>
                  <a:effectLst/>
                  <a:uLnTx/>
                  <a:uFillTx/>
                  <a:latin typeface="Century Gothic" pitchFamily="34" charset="0"/>
                  <a:ea typeface="ＭＳ Ｐゴシック" pitchFamily="34" charset="-128"/>
                  <a:cs typeface="Arial"/>
                </a:endParaRPr>
              </a:p>
            </p:txBody>
          </p:sp>
        </p:grpSp>
        <p:sp>
          <p:nvSpPr>
            <p:cNvPr id="162" name="Freeform 161"/>
            <p:cNvSpPr/>
            <p:nvPr/>
          </p:nvSpPr>
          <p:spPr>
            <a:xfrm>
              <a:off x="7589076" y="2400299"/>
              <a:ext cx="759361" cy="1932951"/>
            </a:xfrm>
            <a:custGeom>
              <a:avLst/>
              <a:gdLst>
                <a:gd name="connsiteX0" fmla="*/ 0 w 586671"/>
                <a:gd name="connsiteY0" fmla="*/ 3888 h 1661238"/>
                <a:gd name="connsiteX1" fmla="*/ 581025 w 586671"/>
                <a:gd name="connsiteY1" fmla="*/ 203913 h 1661238"/>
                <a:gd name="connsiteX2" fmla="*/ 295275 w 586671"/>
                <a:gd name="connsiteY2" fmla="*/ 1318338 h 1661238"/>
                <a:gd name="connsiteX3" fmla="*/ 295275 w 586671"/>
                <a:gd name="connsiteY3" fmla="*/ 1661238 h 1661238"/>
                <a:gd name="connsiteX0" fmla="*/ 0 w 586671"/>
                <a:gd name="connsiteY0" fmla="*/ 0 h 1657350"/>
                <a:gd name="connsiteX1" fmla="*/ 581025 w 586671"/>
                <a:gd name="connsiteY1" fmla="*/ 200025 h 1657350"/>
                <a:gd name="connsiteX2" fmla="*/ 295275 w 586671"/>
                <a:gd name="connsiteY2" fmla="*/ 1314450 h 1657350"/>
                <a:gd name="connsiteX3" fmla="*/ 295275 w 586671"/>
                <a:gd name="connsiteY3" fmla="*/ 1657350 h 1657350"/>
                <a:gd name="connsiteX0" fmla="*/ 0 w 598294"/>
                <a:gd name="connsiteY0" fmla="*/ 0 h 1657350"/>
                <a:gd name="connsiteX1" fmla="*/ 581025 w 598294"/>
                <a:gd name="connsiteY1" fmla="*/ 200025 h 1657350"/>
                <a:gd name="connsiteX2" fmla="*/ 432001 w 598294"/>
                <a:gd name="connsiteY2" fmla="*/ 1287852 h 1657350"/>
                <a:gd name="connsiteX3" fmla="*/ 295275 w 598294"/>
                <a:gd name="connsiteY3" fmla="*/ 1657350 h 1657350"/>
                <a:gd name="connsiteX0" fmla="*/ 0 w 598294"/>
                <a:gd name="connsiteY0" fmla="*/ 0 h 1799205"/>
                <a:gd name="connsiteX1" fmla="*/ 581025 w 598294"/>
                <a:gd name="connsiteY1" fmla="*/ 200025 h 1799205"/>
                <a:gd name="connsiteX2" fmla="*/ 432001 w 598294"/>
                <a:gd name="connsiteY2" fmla="*/ 1287852 h 1799205"/>
                <a:gd name="connsiteX3" fmla="*/ 530746 w 598294"/>
                <a:gd name="connsiteY3" fmla="*/ 1799205 h 1799205"/>
                <a:gd name="connsiteX0" fmla="*/ 0 w 605563"/>
                <a:gd name="connsiteY0" fmla="*/ 0 h 1799205"/>
                <a:gd name="connsiteX1" fmla="*/ 581025 w 605563"/>
                <a:gd name="connsiteY1" fmla="*/ 200025 h 1799205"/>
                <a:gd name="connsiteX2" fmla="*/ 477576 w 605563"/>
                <a:gd name="connsiteY2" fmla="*/ 1287852 h 1799205"/>
                <a:gd name="connsiteX3" fmla="*/ 530746 w 605563"/>
                <a:gd name="connsiteY3" fmla="*/ 1799205 h 1799205"/>
              </a:gdLst>
              <a:ahLst/>
              <a:cxnLst>
                <a:cxn ang="0">
                  <a:pos x="connsiteX0" y="connsiteY0"/>
                </a:cxn>
                <a:cxn ang="0">
                  <a:pos x="connsiteX1" y="connsiteY1"/>
                </a:cxn>
                <a:cxn ang="0">
                  <a:pos x="connsiteX2" y="connsiteY2"/>
                </a:cxn>
                <a:cxn ang="0">
                  <a:pos x="connsiteX3" y="connsiteY3"/>
                </a:cxn>
              </a:cxnLst>
              <a:rect l="l" t="t" r="r" b="b"/>
              <a:pathLst>
                <a:path w="605563" h="1799205">
                  <a:moveTo>
                    <a:pt x="0" y="0"/>
                  </a:moveTo>
                  <a:cubicBezTo>
                    <a:pt x="265906" y="19050"/>
                    <a:pt x="501429" y="-14617"/>
                    <a:pt x="581025" y="200025"/>
                  </a:cubicBezTo>
                  <a:cubicBezTo>
                    <a:pt x="660621" y="414667"/>
                    <a:pt x="525201" y="1044965"/>
                    <a:pt x="477576" y="1287852"/>
                  </a:cubicBezTo>
                  <a:cubicBezTo>
                    <a:pt x="429951" y="1530740"/>
                    <a:pt x="506933" y="1749199"/>
                    <a:pt x="530746" y="1799205"/>
                  </a:cubicBezTo>
                </a:path>
              </a:pathLst>
            </a:custGeom>
            <a:noFill/>
            <a:ln w="57150" cap="flat" cmpd="sng" algn="ctr">
              <a:solidFill>
                <a:srgbClr val="ABB41D"/>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grpSp>
      <p:grpSp>
        <p:nvGrpSpPr>
          <p:cNvPr id="23" name="Group 168"/>
          <p:cNvGrpSpPr/>
          <p:nvPr/>
        </p:nvGrpSpPr>
        <p:grpSpPr>
          <a:xfrm>
            <a:off x="6477000" y="2590800"/>
            <a:ext cx="1504101" cy="1590675"/>
            <a:chOff x="6387559" y="2933700"/>
            <a:chExt cx="1504101" cy="1590675"/>
          </a:xfrm>
        </p:grpSpPr>
        <p:grpSp>
          <p:nvGrpSpPr>
            <p:cNvPr id="24" name="Group 169"/>
            <p:cNvGrpSpPr/>
            <p:nvPr/>
          </p:nvGrpSpPr>
          <p:grpSpPr>
            <a:xfrm>
              <a:off x="6387559" y="2933700"/>
              <a:ext cx="1110265" cy="533400"/>
              <a:chOff x="6640902" y="1295400"/>
              <a:chExt cx="1110265" cy="533400"/>
            </a:xfrm>
          </p:grpSpPr>
          <p:sp>
            <p:nvSpPr>
              <p:cNvPr id="172" name="Oval 171"/>
              <p:cNvSpPr/>
              <p:nvPr/>
            </p:nvSpPr>
            <p:spPr>
              <a:xfrm>
                <a:off x="7239000" y="1295400"/>
                <a:ext cx="512167" cy="533400"/>
              </a:xfrm>
              <a:prstGeom prst="ellipse">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sp>
            <p:nvSpPr>
              <p:cNvPr id="173" name="Rectangle 172"/>
              <p:cNvSpPr/>
              <p:nvPr/>
            </p:nvSpPr>
            <p:spPr>
              <a:xfrm>
                <a:off x="6640902" y="13716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sp>
            <p:nvSpPr>
              <p:cNvPr id="174" name="Rectangle 173"/>
              <p:cNvSpPr/>
              <p:nvPr/>
            </p:nvSpPr>
            <p:spPr>
              <a:xfrm>
                <a:off x="6648554" y="16764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sp>
            <p:nvSpPr>
              <p:cNvPr id="175" name="Rectangle 174"/>
              <p:cNvSpPr/>
              <p:nvPr/>
            </p:nvSpPr>
            <p:spPr>
              <a:xfrm>
                <a:off x="6783673" y="1295400"/>
                <a:ext cx="737505" cy="5334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0000"/>
                    </a:solidFill>
                    <a:effectLst/>
                    <a:uLnTx/>
                    <a:uFillTx/>
                    <a:latin typeface="Arial Black" panose="020B0A04020102020204" pitchFamily="34" charset="0"/>
                    <a:ea typeface="ＭＳ Ｐゴシック"/>
                    <a:cs typeface="Aharoni" panose="02010803020104030203" pitchFamily="2" charset="-79"/>
                  </a:rPr>
                  <a:t>SIM</a:t>
                </a:r>
              </a:p>
            </p:txBody>
          </p:sp>
        </p:grpSp>
        <p:sp>
          <p:nvSpPr>
            <p:cNvPr id="171" name="Freeform 170"/>
            <p:cNvSpPr/>
            <p:nvPr/>
          </p:nvSpPr>
          <p:spPr>
            <a:xfrm>
              <a:off x="7467017" y="3180070"/>
              <a:ext cx="424643" cy="1344305"/>
            </a:xfrm>
            <a:custGeom>
              <a:avLst/>
              <a:gdLst>
                <a:gd name="connsiteX0" fmla="*/ 0 w 302886"/>
                <a:gd name="connsiteY0" fmla="*/ 0 h 866775"/>
                <a:gd name="connsiteX1" fmla="*/ 295275 w 302886"/>
                <a:gd name="connsiteY1" fmla="*/ 247650 h 866775"/>
                <a:gd name="connsiteX2" fmla="*/ 219075 w 302886"/>
                <a:gd name="connsiteY2" fmla="*/ 638175 h 866775"/>
                <a:gd name="connsiteX3" fmla="*/ 257175 w 302886"/>
                <a:gd name="connsiteY3" fmla="*/ 866775 h 866775"/>
                <a:gd name="connsiteX0" fmla="*/ 0 w 267236"/>
                <a:gd name="connsiteY0" fmla="*/ 0 h 866775"/>
                <a:gd name="connsiteX1" fmla="*/ 257175 w 267236"/>
                <a:gd name="connsiteY1" fmla="*/ 133350 h 866775"/>
                <a:gd name="connsiteX2" fmla="*/ 219075 w 267236"/>
                <a:gd name="connsiteY2" fmla="*/ 638175 h 866775"/>
                <a:gd name="connsiteX3" fmla="*/ 257175 w 267236"/>
                <a:gd name="connsiteY3" fmla="*/ 866775 h 866775"/>
                <a:gd name="connsiteX0" fmla="*/ 0 w 267236"/>
                <a:gd name="connsiteY0" fmla="*/ 594 h 867369"/>
                <a:gd name="connsiteX1" fmla="*/ 257175 w 267236"/>
                <a:gd name="connsiteY1" fmla="*/ 133944 h 867369"/>
                <a:gd name="connsiteX2" fmla="*/ 219075 w 267236"/>
                <a:gd name="connsiteY2" fmla="*/ 638769 h 867369"/>
                <a:gd name="connsiteX3" fmla="*/ 257175 w 267236"/>
                <a:gd name="connsiteY3" fmla="*/ 867369 h 867369"/>
                <a:gd name="connsiteX0" fmla="*/ 0 w 413550"/>
                <a:gd name="connsiteY0" fmla="*/ 594 h 867369"/>
                <a:gd name="connsiteX1" fmla="*/ 409575 w 413550"/>
                <a:gd name="connsiteY1" fmla="*/ 133944 h 867369"/>
                <a:gd name="connsiteX2" fmla="*/ 219075 w 413550"/>
                <a:gd name="connsiteY2" fmla="*/ 638769 h 867369"/>
                <a:gd name="connsiteX3" fmla="*/ 257175 w 413550"/>
                <a:gd name="connsiteY3" fmla="*/ 867369 h 867369"/>
                <a:gd name="connsiteX0" fmla="*/ 0 w 434273"/>
                <a:gd name="connsiteY0" fmla="*/ 1280 h 868055"/>
                <a:gd name="connsiteX1" fmla="*/ 409575 w 434273"/>
                <a:gd name="connsiteY1" fmla="*/ 134630 h 868055"/>
                <a:gd name="connsiteX2" fmla="*/ 390525 w 434273"/>
                <a:gd name="connsiteY2" fmla="*/ 791855 h 868055"/>
                <a:gd name="connsiteX3" fmla="*/ 257175 w 434273"/>
                <a:gd name="connsiteY3" fmla="*/ 868055 h 868055"/>
                <a:gd name="connsiteX0" fmla="*/ 0 w 434273"/>
                <a:gd name="connsiteY0" fmla="*/ 1280 h 1344305"/>
                <a:gd name="connsiteX1" fmla="*/ 409575 w 434273"/>
                <a:gd name="connsiteY1" fmla="*/ 134630 h 1344305"/>
                <a:gd name="connsiteX2" fmla="*/ 390525 w 434273"/>
                <a:gd name="connsiteY2" fmla="*/ 791855 h 1344305"/>
                <a:gd name="connsiteX3" fmla="*/ 400050 w 434273"/>
                <a:gd name="connsiteY3" fmla="*/ 1344305 h 1344305"/>
                <a:gd name="connsiteX0" fmla="*/ 0 w 424643"/>
                <a:gd name="connsiteY0" fmla="*/ 1280 h 1344305"/>
                <a:gd name="connsiteX1" fmla="*/ 409575 w 424643"/>
                <a:gd name="connsiteY1" fmla="*/ 134630 h 1344305"/>
                <a:gd name="connsiteX2" fmla="*/ 342900 w 424643"/>
                <a:gd name="connsiteY2" fmla="*/ 791855 h 1344305"/>
                <a:gd name="connsiteX3" fmla="*/ 400050 w 424643"/>
                <a:gd name="connsiteY3" fmla="*/ 1344305 h 1344305"/>
              </a:gdLst>
              <a:ahLst/>
              <a:cxnLst>
                <a:cxn ang="0">
                  <a:pos x="connsiteX0" y="connsiteY0"/>
                </a:cxn>
                <a:cxn ang="0">
                  <a:pos x="connsiteX1" y="connsiteY1"/>
                </a:cxn>
                <a:cxn ang="0">
                  <a:pos x="connsiteX2" y="connsiteY2"/>
                </a:cxn>
                <a:cxn ang="0">
                  <a:pos x="connsiteX3" y="connsiteY3"/>
                </a:cxn>
              </a:cxnLst>
              <a:rect l="l" t="t" r="r" b="b"/>
              <a:pathLst>
                <a:path w="424643" h="1344305">
                  <a:moveTo>
                    <a:pt x="0" y="1280"/>
                  </a:moveTo>
                  <a:cubicBezTo>
                    <a:pt x="157956" y="-4276"/>
                    <a:pt x="352425" y="2868"/>
                    <a:pt x="409575" y="134630"/>
                  </a:cubicBezTo>
                  <a:cubicBezTo>
                    <a:pt x="466725" y="266392"/>
                    <a:pt x="342900" y="669618"/>
                    <a:pt x="342900" y="791855"/>
                  </a:cubicBezTo>
                  <a:cubicBezTo>
                    <a:pt x="342900" y="914092"/>
                    <a:pt x="377825" y="1281599"/>
                    <a:pt x="400050" y="1344305"/>
                  </a:cubicBezTo>
                </a:path>
              </a:pathLst>
            </a:custGeom>
            <a:noFill/>
            <a:ln w="57150" cap="flat" cmpd="sng" algn="ctr">
              <a:solidFill>
                <a:srgbClr val="ABB41D"/>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grpSp>
      <p:sp>
        <p:nvSpPr>
          <p:cNvPr id="176" name="Rectangle 175"/>
          <p:cNvSpPr/>
          <p:nvPr/>
        </p:nvSpPr>
        <p:spPr>
          <a:xfrm>
            <a:off x="6985656" y="5747265"/>
            <a:ext cx="1701144" cy="656973"/>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1" i="0" u="none" strike="noStrike" kern="0" cap="none" spc="0" normalizeH="0" baseline="0" noProof="0" dirty="0" smtClean="0">
                <a:ln>
                  <a:noFill/>
                </a:ln>
                <a:solidFill>
                  <a:srgbClr val="F8F8F8"/>
                </a:solidFill>
                <a:effectLst/>
                <a:uLnTx/>
                <a:uFillTx/>
                <a:latin typeface="Verdana"/>
                <a:ea typeface="ＭＳ Ｐゴシック"/>
                <a:cs typeface="Arial"/>
              </a:rPr>
              <a:t>Kind/</a:t>
            </a:r>
            <a:r>
              <a:rPr kumimoji="0" lang="en-US" sz="1800" b="1" i="0" u="none" strike="noStrike" kern="0" cap="none" spc="0" normalizeH="0" baseline="0" noProof="0" dirty="0" err="1" smtClean="0">
                <a:ln>
                  <a:noFill/>
                </a:ln>
                <a:solidFill>
                  <a:srgbClr val="F8F8F8"/>
                </a:solidFill>
                <a:effectLst/>
                <a:uLnTx/>
                <a:uFillTx/>
                <a:latin typeface="Verdana"/>
                <a:ea typeface="ＭＳ Ｐゴシック"/>
                <a:cs typeface="Arial"/>
              </a:rPr>
              <a:t>JKind</a:t>
            </a:r>
            <a:endParaRPr kumimoji="0" lang="en-US" sz="1800" b="1" i="0" u="none" strike="noStrike" kern="0" cap="none" spc="0" normalizeH="0" baseline="0" noProof="0" dirty="0" smtClean="0">
              <a:ln>
                <a:noFill/>
              </a:ln>
              <a:solidFill>
                <a:srgbClr val="F8F8F8"/>
              </a:solidFill>
              <a:effectLst/>
              <a:uLnTx/>
              <a:uFillTx/>
              <a:latin typeface="Verdana"/>
              <a:ea typeface="ＭＳ Ｐゴシック"/>
              <a:cs typeface="Arial"/>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100" b="1" i="0" u="none" strike="noStrike" kern="0" cap="none" spc="0" normalizeH="0" baseline="0" noProof="0" dirty="0" smtClean="0">
                <a:ln>
                  <a:noFill/>
                </a:ln>
                <a:solidFill>
                  <a:srgbClr val="F8F8F8"/>
                </a:solidFill>
                <a:effectLst/>
                <a:uLnTx/>
                <a:uFillTx/>
                <a:latin typeface="Verdana"/>
                <a:ea typeface="ＭＳ Ｐゴシック"/>
                <a:cs typeface="Arial"/>
              </a:rPr>
              <a:t>Model Checker</a:t>
            </a:r>
            <a:endParaRPr kumimoji="0" lang="en-US" sz="1800" b="1"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grpSp>
        <p:nvGrpSpPr>
          <p:cNvPr id="25" name="Group 176"/>
          <p:cNvGrpSpPr/>
          <p:nvPr/>
        </p:nvGrpSpPr>
        <p:grpSpPr>
          <a:xfrm>
            <a:off x="6477000" y="3200400"/>
            <a:ext cx="1288220" cy="1000126"/>
            <a:chOff x="6387559" y="2933700"/>
            <a:chExt cx="1288220" cy="1000126"/>
          </a:xfrm>
        </p:grpSpPr>
        <p:grpSp>
          <p:nvGrpSpPr>
            <p:cNvPr id="26" name="Group 177"/>
            <p:cNvGrpSpPr/>
            <p:nvPr/>
          </p:nvGrpSpPr>
          <p:grpSpPr>
            <a:xfrm>
              <a:off x="6387559" y="2933700"/>
              <a:ext cx="1110265" cy="533400"/>
              <a:chOff x="6640902" y="1295400"/>
              <a:chExt cx="1110265" cy="533400"/>
            </a:xfrm>
          </p:grpSpPr>
          <p:sp>
            <p:nvSpPr>
              <p:cNvPr id="180" name="Oval 179"/>
              <p:cNvSpPr/>
              <p:nvPr/>
            </p:nvSpPr>
            <p:spPr>
              <a:xfrm>
                <a:off x="7239000" y="1295400"/>
                <a:ext cx="512167" cy="533400"/>
              </a:xfrm>
              <a:prstGeom prst="ellipse">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sp>
            <p:nvSpPr>
              <p:cNvPr id="181" name="Rectangle 180"/>
              <p:cNvSpPr/>
              <p:nvPr/>
            </p:nvSpPr>
            <p:spPr>
              <a:xfrm>
                <a:off x="6640902" y="13716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sp>
            <p:nvSpPr>
              <p:cNvPr id="182" name="Rectangle 181"/>
              <p:cNvSpPr/>
              <p:nvPr/>
            </p:nvSpPr>
            <p:spPr>
              <a:xfrm>
                <a:off x="6648554" y="16764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sp>
            <p:nvSpPr>
              <p:cNvPr id="183" name="Rectangle 182"/>
              <p:cNvSpPr/>
              <p:nvPr/>
            </p:nvSpPr>
            <p:spPr>
              <a:xfrm>
                <a:off x="6783673" y="1295400"/>
                <a:ext cx="737505" cy="5334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dirty="0" smtClean="0">
                    <a:ln>
                      <a:noFill/>
                    </a:ln>
                    <a:solidFill>
                      <a:srgbClr val="000000"/>
                    </a:solidFill>
                    <a:effectLst/>
                    <a:uLnTx/>
                    <a:uFillTx/>
                    <a:latin typeface="Tw Cen MT" panose="020B0602020104020603" pitchFamily="34" charset="0"/>
                    <a:ea typeface="ＭＳ Ｐゴシック"/>
                    <a:cs typeface="Arial"/>
                  </a:rPr>
                  <a:t>TCG</a:t>
                </a:r>
              </a:p>
            </p:txBody>
          </p:sp>
        </p:grpSp>
        <p:sp>
          <p:nvSpPr>
            <p:cNvPr id="179" name="Freeform 178"/>
            <p:cNvSpPr/>
            <p:nvPr/>
          </p:nvSpPr>
          <p:spPr>
            <a:xfrm>
              <a:off x="7467017" y="3180964"/>
              <a:ext cx="208762" cy="752862"/>
            </a:xfrm>
            <a:custGeom>
              <a:avLst/>
              <a:gdLst>
                <a:gd name="connsiteX0" fmla="*/ 0 w 302886"/>
                <a:gd name="connsiteY0" fmla="*/ 0 h 866775"/>
                <a:gd name="connsiteX1" fmla="*/ 295275 w 302886"/>
                <a:gd name="connsiteY1" fmla="*/ 247650 h 866775"/>
                <a:gd name="connsiteX2" fmla="*/ 219075 w 302886"/>
                <a:gd name="connsiteY2" fmla="*/ 638175 h 866775"/>
                <a:gd name="connsiteX3" fmla="*/ 257175 w 302886"/>
                <a:gd name="connsiteY3" fmla="*/ 866775 h 866775"/>
                <a:gd name="connsiteX0" fmla="*/ 0 w 267236"/>
                <a:gd name="connsiteY0" fmla="*/ 0 h 866775"/>
                <a:gd name="connsiteX1" fmla="*/ 257175 w 267236"/>
                <a:gd name="connsiteY1" fmla="*/ 133350 h 866775"/>
                <a:gd name="connsiteX2" fmla="*/ 219075 w 267236"/>
                <a:gd name="connsiteY2" fmla="*/ 638175 h 866775"/>
                <a:gd name="connsiteX3" fmla="*/ 257175 w 267236"/>
                <a:gd name="connsiteY3" fmla="*/ 866775 h 866775"/>
                <a:gd name="connsiteX0" fmla="*/ 0 w 267236"/>
                <a:gd name="connsiteY0" fmla="*/ 594 h 867369"/>
                <a:gd name="connsiteX1" fmla="*/ 257175 w 267236"/>
                <a:gd name="connsiteY1" fmla="*/ 133944 h 867369"/>
                <a:gd name="connsiteX2" fmla="*/ 219075 w 267236"/>
                <a:gd name="connsiteY2" fmla="*/ 638769 h 867369"/>
                <a:gd name="connsiteX3" fmla="*/ 257175 w 267236"/>
                <a:gd name="connsiteY3" fmla="*/ 867369 h 867369"/>
                <a:gd name="connsiteX0" fmla="*/ 0 w 262756"/>
                <a:gd name="connsiteY0" fmla="*/ 387 h 867162"/>
                <a:gd name="connsiteX1" fmla="*/ 257175 w 262756"/>
                <a:gd name="connsiteY1" fmla="*/ 133737 h 867162"/>
                <a:gd name="connsiteX2" fmla="*/ 183110 w 262756"/>
                <a:gd name="connsiteY2" fmla="*/ 505212 h 867162"/>
                <a:gd name="connsiteX3" fmla="*/ 257175 w 262756"/>
                <a:gd name="connsiteY3" fmla="*/ 867162 h 867162"/>
                <a:gd name="connsiteX0" fmla="*/ 0 w 262756"/>
                <a:gd name="connsiteY0" fmla="*/ 387 h 752862"/>
                <a:gd name="connsiteX1" fmla="*/ 257175 w 262756"/>
                <a:gd name="connsiteY1" fmla="*/ 133737 h 752862"/>
                <a:gd name="connsiteX2" fmla="*/ 183110 w 262756"/>
                <a:gd name="connsiteY2" fmla="*/ 505212 h 752862"/>
                <a:gd name="connsiteX3" fmla="*/ 197233 w 262756"/>
                <a:gd name="connsiteY3" fmla="*/ 752862 h 752862"/>
              </a:gdLst>
              <a:ahLst/>
              <a:cxnLst>
                <a:cxn ang="0">
                  <a:pos x="connsiteX0" y="connsiteY0"/>
                </a:cxn>
                <a:cxn ang="0">
                  <a:pos x="connsiteX1" y="connsiteY1"/>
                </a:cxn>
                <a:cxn ang="0">
                  <a:pos x="connsiteX2" y="connsiteY2"/>
                </a:cxn>
                <a:cxn ang="0">
                  <a:pos x="connsiteX3" y="connsiteY3"/>
                </a:cxn>
              </a:cxnLst>
              <a:rect l="l" t="t" r="r" b="b"/>
              <a:pathLst>
                <a:path w="262756" h="752862">
                  <a:moveTo>
                    <a:pt x="0" y="387"/>
                  </a:moveTo>
                  <a:cubicBezTo>
                    <a:pt x="157956" y="-5169"/>
                    <a:pt x="226657" y="49600"/>
                    <a:pt x="257175" y="133737"/>
                  </a:cubicBezTo>
                  <a:cubicBezTo>
                    <a:pt x="287693" y="217874"/>
                    <a:pt x="183110" y="382975"/>
                    <a:pt x="183110" y="505212"/>
                  </a:cubicBezTo>
                  <a:cubicBezTo>
                    <a:pt x="183110" y="627449"/>
                    <a:pt x="175008" y="690156"/>
                    <a:pt x="197233" y="752862"/>
                  </a:cubicBezTo>
                </a:path>
              </a:pathLst>
            </a:custGeom>
            <a:noFill/>
            <a:ln w="57150" cap="flat" cmpd="sng" algn="ctr">
              <a:solidFill>
                <a:srgbClr val="ABB41D"/>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grpSp>
      <p:sp>
        <p:nvSpPr>
          <p:cNvPr id="93" name="Slide Number Placeholder 92"/>
          <p:cNvSpPr>
            <a:spLocks noGrp="1"/>
          </p:cNvSpPr>
          <p:nvPr>
            <p:ph type="sldNum" sz="quarter" idx="12"/>
          </p:nvPr>
        </p:nvSpPr>
        <p:spPr/>
        <p:txBody>
          <a:bodyPr/>
          <a:lstStyle/>
          <a:p>
            <a:fld id="{A3FF127A-2DBF-924B-94E1-163D8C9D5B47}" type="slidenum">
              <a:rPr lang="en-US" smtClean="0"/>
              <a:pPr/>
              <a:t>13</a:t>
            </a:fld>
            <a:endParaRPr lang="en-US"/>
          </a:p>
        </p:txBody>
      </p:sp>
      <p:sp>
        <p:nvSpPr>
          <p:cNvPr id="95" name="Footer Placeholder 94"/>
          <p:cNvSpPr>
            <a:spLocks noGrp="1"/>
          </p:cNvSpPr>
          <p:nvPr>
            <p:ph type="ftr" sz="quarter" idx="11"/>
          </p:nvPr>
        </p:nvSpPr>
        <p:spPr/>
        <p:txBody>
          <a:bodyPr/>
          <a:lstStyle/>
          <a:p>
            <a:r>
              <a:rPr lang="en-US" smtClean="0"/>
              <a:t>AMASE   </a:t>
            </a:r>
            <a:endParaRPr lang="en-US"/>
          </a:p>
        </p:txBody>
      </p:sp>
    </p:spTree>
    <p:extLst>
      <p:ext uri="{BB962C8B-B14F-4D97-AF65-F5344CB8AC3E}">
        <p14:creationId xmlns:p14="http://schemas.microsoft.com/office/powerpoint/2010/main" val="1453409755"/>
      </p:ext>
    </p:extLst>
  </p:cSld>
  <p:clrMapOvr>
    <a:masterClrMapping/>
  </p:clrMapOvr>
  <p:transition/>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smtClean="0"/>
              <a:t>Architecture Modeling and Analysis Tools</a:t>
            </a:r>
            <a:endParaRPr lang="en-US" dirty="0"/>
          </a:p>
        </p:txBody>
      </p:sp>
      <p:pic>
        <p:nvPicPr>
          <p:cNvPr id="94" name="Picture 18"/>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24200" y="1524000"/>
            <a:ext cx="3048000" cy="18900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3" name="Group 94"/>
          <p:cNvGrpSpPr/>
          <p:nvPr/>
        </p:nvGrpSpPr>
        <p:grpSpPr>
          <a:xfrm>
            <a:off x="1836396" y="2628900"/>
            <a:ext cx="3661087" cy="3870187"/>
            <a:chOff x="1836396" y="2628900"/>
            <a:chExt cx="3661087" cy="3870187"/>
          </a:xfrm>
        </p:grpSpPr>
        <p:grpSp>
          <p:nvGrpSpPr>
            <p:cNvPr id="4" name="Group 95"/>
            <p:cNvGrpSpPr/>
            <p:nvPr/>
          </p:nvGrpSpPr>
          <p:grpSpPr>
            <a:xfrm>
              <a:off x="1873646" y="2628900"/>
              <a:ext cx="1110265" cy="533400"/>
              <a:chOff x="1129973" y="1950482"/>
              <a:chExt cx="1110265" cy="533400"/>
            </a:xfrm>
          </p:grpSpPr>
          <p:grpSp>
            <p:nvGrpSpPr>
              <p:cNvPr id="5" name="Group 102"/>
              <p:cNvGrpSpPr/>
              <p:nvPr/>
            </p:nvGrpSpPr>
            <p:grpSpPr>
              <a:xfrm flipH="1">
                <a:off x="1129973" y="1950482"/>
                <a:ext cx="1110265" cy="533400"/>
                <a:chOff x="6640902" y="1295400"/>
                <a:chExt cx="1110265" cy="533400"/>
              </a:xfrm>
            </p:grpSpPr>
            <p:sp>
              <p:nvSpPr>
                <p:cNvPr id="105" name="Rectangle 104"/>
                <p:cNvSpPr/>
                <p:nvPr/>
              </p:nvSpPr>
              <p:spPr>
                <a:xfrm>
                  <a:off x="6783673" y="1295400"/>
                  <a:ext cx="737505" cy="5334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sp>
              <p:nvSpPr>
                <p:cNvPr id="106" name="Oval 105"/>
                <p:cNvSpPr/>
                <p:nvPr/>
              </p:nvSpPr>
              <p:spPr>
                <a:xfrm>
                  <a:off x="7239000" y="1295400"/>
                  <a:ext cx="512167" cy="533400"/>
                </a:xfrm>
                <a:prstGeom prst="ellipse">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sp>
              <p:nvSpPr>
                <p:cNvPr id="107" name="Rectangle 106"/>
                <p:cNvSpPr/>
                <p:nvPr/>
              </p:nvSpPr>
              <p:spPr>
                <a:xfrm>
                  <a:off x="6640902" y="13716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sp>
              <p:nvSpPr>
                <p:cNvPr id="108" name="Rectangle 107"/>
                <p:cNvSpPr/>
                <p:nvPr/>
              </p:nvSpPr>
              <p:spPr>
                <a:xfrm>
                  <a:off x="6648554" y="16764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grpSp>
          <p:sp>
            <p:nvSpPr>
              <p:cNvPr id="104" name="TextBox 103"/>
              <p:cNvSpPr txBox="1"/>
              <p:nvPr/>
            </p:nvSpPr>
            <p:spPr>
              <a:xfrm>
                <a:off x="1165880" y="1960662"/>
                <a:ext cx="947695" cy="523220"/>
              </a:xfrm>
              <a:prstGeom prst="rect">
                <a:avLst/>
              </a:prstGeom>
              <a:noFill/>
            </p:spPr>
            <p:txBody>
              <a:bodyPr wrap="non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smtClean="0">
                    <a:ln>
                      <a:noFill/>
                    </a:ln>
                    <a:solidFill>
                      <a:srgbClr val="000000"/>
                    </a:solidFill>
                    <a:effectLst/>
                    <a:uLnTx/>
                    <a:uFillTx/>
                    <a:latin typeface="Lucida Console" pitchFamily="49" charset="0"/>
                    <a:ea typeface="ＭＳ Ｐゴシック" pitchFamily="34" charset="-128"/>
                    <a:cs typeface="Times New Roman" pitchFamily="18" charset="0"/>
                  </a:rPr>
                  <a:t>Trusted</a:t>
                </a:r>
              </a:p>
              <a:p>
                <a:pPr marL="0" marR="0" lvl="0" indent="0" algn="r" defTabSz="91440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smtClean="0">
                    <a:ln>
                      <a:noFill/>
                    </a:ln>
                    <a:solidFill>
                      <a:srgbClr val="000000"/>
                    </a:solidFill>
                    <a:effectLst/>
                    <a:uLnTx/>
                    <a:uFillTx/>
                    <a:latin typeface="Lucida Console" pitchFamily="49" charset="0"/>
                    <a:ea typeface="ＭＳ Ｐゴシック" pitchFamily="34" charset="-128"/>
                    <a:cs typeface="Times New Roman" pitchFamily="18" charset="0"/>
                  </a:rPr>
                  <a:t>Build</a:t>
                </a:r>
              </a:p>
            </p:txBody>
          </p:sp>
        </p:grpSp>
        <p:grpSp>
          <p:nvGrpSpPr>
            <p:cNvPr id="6" name="Group 96"/>
            <p:cNvGrpSpPr/>
            <p:nvPr/>
          </p:nvGrpSpPr>
          <p:grpSpPr>
            <a:xfrm>
              <a:off x="1836396" y="3000374"/>
              <a:ext cx="3661087" cy="3498713"/>
              <a:chOff x="1836396" y="3000374"/>
              <a:chExt cx="3661087" cy="3498713"/>
            </a:xfrm>
          </p:grpSpPr>
          <p:pic>
            <p:nvPicPr>
              <p:cNvPr id="98" name="Picture 3" descr="C:\Users\ddcofer\AppData\Local\Microsoft\Windows\Temporary Internet Files\Content.IE5\HWJ81UGS\MC900389552[1].wmf"/>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274805" y="4544457"/>
                <a:ext cx="900112" cy="930275"/>
              </a:xfrm>
              <a:prstGeom prst="rect">
                <a:avLst/>
              </a:prstGeom>
              <a:noFill/>
              <a:extLst>
                <a:ext uri="{909E8E84-426E-40DD-AFC4-6F175D3DCCD1}">
                  <a14:hiddenFill xmlns:a14="http://schemas.microsoft.com/office/drawing/2010/main">
                    <a:solidFill>
                      <a:srgbClr val="FFFFFF"/>
                    </a:solidFill>
                  </a14:hiddenFill>
                </a:ext>
              </a:extLst>
            </p:spPr>
          </p:pic>
          <p:sp>
            <p:nvSpPr>
              <p:cNvPr id="99" name="TextBox 98"/>
              <p:cNvSpPr txBox="1"/>
              <p:nvPr/>
            </p:nvSpPr>
            <p:spPr>
              <a:xfrm>
                <a:off x="2563025" y="4114800"/>
                <a:ext cx="293445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0000"/>
                    </a:solidFill>
                    <a:effectLst/>
                    <a:uLnTx/>
                    <a:uFillTx/>
                    <a:latin typeface="Verdana"/>
                    <a:ea typeface="ＭＳ Ｐゴシック" pitchFamily="34" charset="-128"/>
                    <a:cs typeface="Arial"/>
                  </a:rPr>
                  <a:t>Architecture Translation</a:t>
                </a:r>
              </a:p>
            </p:txBody>
          </p:sp>
          <p:sp>
            <p:nvSpPr>
              <p:cNvPr id="100" name="Freeform 99"/>
              <p:cNvSpPr/>
              <p:nvPr/>
            </p:nvSpPr>
            <p:spPr>
              <a:xfrm>
                <a:off x="1836396" y="3000374"/>
                <a:ext cx="1883808" cy="1082159"/>
              </a:xfrm>
              <a:custGeom>
                <a:avLst/>
                <a:gdLst>
                  <a:gd name="connsiteX0" fmla="*/ 105442 w 2210467"/>
                  <a:gd name="connsiteY0" fmla="*/ 0 h 866775"/>
                  <a:gd name="connsiteX1" fmla="*/ 191167 w 2210467"/>
                  <a:gd name="connsiteY1" fmla="*/ 333375 h 866775"/>
                  <a:gd name="connsiteX2" fmla="*/ 1858042 w 2210467"/>
                  <a:gd name="connsiteY2" fmla="*/ 609600 h 866775"/>
                  <a:gd name="connsiteX3" fmla="*/ 2210467 w 2210467"/>
                  <a:gd name="connsiteY3" fmla="*/ 866775 h 866775"/>
                  <a:gd name="connsiteX0" fmla="*/ 89354 w 2232479"/>
                  <a:gd name="connsiteY0" fmla="*/ 0 h 914400"/>
                  <a:gd name="connsiteX1" fmla="*/ 213179 w 2232479"/>
                  <a:gd name="connsiteY1" fmla="*/ 381000 h 914400"/>
                  <a:gd name="connsiteX2" fmla="*/ 1880054 w 2232479"/>
                  <a:gd name="connsiteY2" fmla="*/ 657225 h 914400"/>
                  <a:gd name="connsiteX3" fmla="*/ 2232479 w 2232479"/>
                  <a:gd name="connsiteY3" fmla="*/ 914400 h 914400"/>
                  <a:gd name="connsiteX0" fmla="*/ 74468 w 2217593"/>
                  <a:gd name="connsiteY0" fmla="*/ 0 h 914400"/>
                  <a:gd name="connsiteX1" fmla="*/ 198293 w 2217593"/>
                  <a:gd name="connsiteY1" fmla="*/ 381000 h 914400"/>
                  <a:gd name="connsiteX2" fmla="*/ 1865168 w 2217593"/>
                  <a:gd name="connsiteY2" fmla="*/ 657225 h 914400"/>
                  <a:gd name="connsiteX3" fmla="*/ 2217593 w 2217593"/>
                  <a:gd name="connsiteY3" fmla="*/ 914400 h 914400"/>
                  <a:gd name="connsiteX0" fmla="*/ 78130 w 2221255"/>
                  <a:gd name="connsiteY0" fmla="*/ 0 h 914400"/>
                  <a:gd name="connsiteX1" fmla="*/ 201955 w 2221255"/>
                  <a:gd name="connsiteY1" fmla="*/ 381000 h 914400"/>
                  <a:gd name="connsiteX2" fmla="*/ 1868830 w 2221255"/>
                  <a:gd name="connsiteY2" fmla="*/ 657225 h 914400"/>
                  <a:gd name="connsiteX3" fmla="*/ 2221255 w 2221255"/>
                  <a:gd name="connsiteY3" fmla="*/ 914400 h 914400"/>
                </a:gdLst>
                <a:ahLst/>
                <a:cxnLst>
                  <a:cxn ang="0">
                    <a:pos x="connsiteX0" y="connsiteY0"/>
                  </a:cxn>
                  <a:cxn ang="0">
                    <a:pos x="connsiteX1" y="connsiteY1"/>
                  </a:cxn>
                  <a:cxn ang="0">
                    <a:pos x="connsiteX2" y="connsiteY2"/>
                  </a:cxn>
                  <a:cxn ang="0">
                    <a:pos x="connsiteX3" y="connsiteY3"/>
                  </a:cxn>
                </a:cxnLst>
                <a:rect l="l" t="t" r="r" b="b"/>
                <a:pathLst>
                  <a:path w="2221255" h="914400">
                    <a:moveTo>
                      <a:pt x="78130" y="0"/>
                    </a:moveTo>
                    <a:cubicBezTo>
                      <a:pt x="3517" y="77787"/>
                      <a:pt x="-96495" y="271463"/>
                      <a:pt x="201955" y="381000"/>
                    </a:cubicBezTo>
                    <a:cubicBezTo>
                      <a:pt x="500405" y="490538"/>
                      <a:pt x="1532280" y="568325"/>
                      <a:pt x="1868830" y="657225"/>
                    </a:cubicBezTo>
                    <a:cubicBezTo>
                      <a:pt x="2205380" y="746125"/>
                      <a:pt x="2213317" y="830262"/>
                      <a:pt x="2221255" y="914400"/>
                    </a:cubicBezTo>
                  </a:path>
                </a:pathLst>
              </a:custGeom>
              <a:noFill/>
              <a:ln w="57150" cap="flat" cmpd="sng" algn="ctr">
                <a:solidFill>
                  <a:srgbClr val="ABB41D"/>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01" name="TextBox 100"/>
              <p:cNvSpPr txBox="1"/>
              <p:nvPr/>
            </p:nvSpPr>
            <p:spPr>
              <a:xfrm>
                <a:off x="3225271" y="5486400"/>
                <a:ext cx="853119" cy="400110"/>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2000" b="1" i="0" u="none" strike="noStrike" kern="0" cap="none" spc="0" normalizeH="0" baseline="0" noProof="0" dirty="0" smtClean="0">
                    <a:ln>
                      <a:noFill/>
                    </a:ln>
                    <a:solidFill>
                      <a:srgbClr val="000000"/>
                    </a:solidFill>
                    <a:effectLst/>
                    <a:uLnTx/>
                    <a:uFillTx/>
                    <a:latin typeface="Verdana"/>
                    <a:ea typeface="ＭＳ Ｐゴシック" pitchFamily="34" charset="-128"/>
                    <a:cs typeface="Arial"/>
                  </a:rPr>
                  <a:t>seL4</a:t>
                </a:r>
              </a:p>
            </p:txBody>
          </p:sp>
          <p:sp>
            <p:nvSpPr>
              <p:cNvPr id="102" name="TextBox 101"/>
              <p:cNvSpPr txBox="1"/>
              <p:nvPr/>
            </p:nvSpPr>
            <p:spPr>
              <a:xfrm>
                <a:off x="3200400" y="5791201"/>
                <a:ext cx="1383712" cy="707886"/>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2000" b="1" i="0" u="none" strike="noStrike" kern="0" cap="none" spc="0" normalizeH="0" baseline="0" noProof="0" dirty="0" err="1" smtClean="0">
                    <a:ln>
                      <a:noFill/>
                    </a:ln>
                    <a:solidFill>
                      <a:srgbClr val="000000"/>
                    </a:solidFill>
                    <a:effectLst/>
                    <a:uLnTx/>
                    <a:uFillTx/>
                    <a:ea typeface="ＭＳ Ｐゴシック" pitchFamily="34" charset="-128"/>
                    <a:cs typeface="Arial"/>
                  </a:rPr>
                  <a:t>eChronos</a:t>
                </a:r>
                <a:endParaRPr kumimoji="0" lang="en-US" sz="2000" b="1" i="0" u="none" strike="noStrike" kern="0" cap="none" spc="0" normalizeH="0" baseline="0" noProof="0" dirty="0" smtClean="0">
                  <a:ln>
                    <a:noFill/>
                  </a:ln>
                  <a:solidFill>
                    <a:srgbClr val="000000"/>
                  </a:solidFill>
                  <a:effectLst/>
                  <a:uLnTx/>
                  <a:uFillTx/>
                  <a:ea typeface="ＭＳ Ｐゴシック" pitchFamily="34" charset="-128"/>
                  <a:cs typeface="Arial"/>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en-US" sz="2000" b="1" i="0" u="none" strike="noStrike" kern="0" cap="none" spc="0" normalizeH="0" baseline="0" noProof="0" dirty="0" smtClean="0">
                    <a:ln>
                      <a:noFill/>
                    </a:ln>
                    <a:solidFill>
                      <a:srgbClr val="000000"/>
                    </a:solidFill>
                    <a:effectLst/>
                    <a:uLnTx/>
                    <a:uFillTx/>
                    <a:ea typeface="ＭＳ Ｐゴシック" pitchFamily="34" charset="-128"/>
                    <a:cs typeface="Arial"/>
                  </a:rPr>
                  <a:t>VxWorks</a:t>
                </a:r>
              </a:p>
            </p:txBody>
          </p:sp>
        </p:grpSp>
      </p:grpSp>
      <p:grpSp>
        <p:nvGrpSpPr>
          <p:cNvPr id="7" name="Group 108"/>
          <p:cNvGrpSpPr/>
          <p:nvPr/>
        </p:nvGrpSpPr>
        <p:grpSpPr>
          <a:xfrm>
            <a:off x="5035675" y="4126468"/>
            <a:ext cx="3651125" cy="2277770"/>
            <a:chOff x="5035675" y="4126468"/>
            <a:chExt cx="3651125" cy="2277770"/>
          </a:xfrm>
        </p:grpSpPr>
        <p:grpSp>
          <p:nvGrpSpPr>
            <p:cNvPr id="8" name="Group 109"/>
            <p:cNvGrpSpPr/>
            <p:nvPr/>
          </p:nvGrpSpPr>
          <p:grpSpPr>
            <a:xfrm>
              <a:off x="6028890" y="4474379"/>
              <a:ext cx="2657910" cy="1181292"/>
              <a:chOff x="4038600" y="3886200"/>
              <a:chExt cx="4800601" cy="2133600"/>
            </a:xfrm>
          </p:grpSpPr>
          <p:sp>
            <p:nvSpPr>
              <p:cNvPr id="113" name="Rectangle 112"/>
              <p:cNvSpPr/>
              <p:nvPr/>
            </p:nvSpPr>
            <p:spPr>
              <a:xfrm>
                <a:off x="4038600" y="3886200"/>
                <a:ext cx="4800599" cy="2133600"/>
              </a:xfrm>
              <a:prstGeom prst="rect">
                <a:avLst/>
              </a:prstGeom>
              <a:solidFill>
                <a:srgbClr val="F8F8F8"/>
              </a:solidFill>
              <a:ln w="25400" cap="flat" cmpd="sng" algn="ctr">
                <a:solidFill>
                  <a:schemeClr val="tx2"/>
                </a:solidFill>
                <a:prstDash val="solid"/>
              </a:ln>
              <a:effectLst/>
            </p:spPr>
            <p:txBody>
              <a:bodyPr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a:ln>
                    <a:noFill/>
                  </a:ln>
                  <a:solidFill>
                    <a:srgbClr val="000000"/>
                  </a:solidFill>
                  <a:effectLst/>
                  <a:uLnTx/>
                  <a:uFillTx/>
                  <a:latin typeface="Verdana"/>
                  <a:ea typeface="ＭＳ Ｐゴシック"/>
                  <a:cs typeface="Arial"/>
                </a:endParaRPr>
              </a:p>
            </p:txBody>
          </p:sp>
          <p:cxnSp>
            <p:nvCxnSpPr>
              <p:cNvPr id="114" name="Straight Connector 113"/>
              <p:cNvCxnSpPr>
                <a:stCxn id="127" idx="0"/>
                <a:endCxn id="136" idx="3"/>
              </p:cNvCxnSpPr>
              <p:nvPr/>
            </p:nvCxnSpPr>
            <p:spPr>
              <a:xfrm>
                <a:off x="4090988" y="4279900"/>
                <a:ext cx="357187" cy="3175"/>
              </a:xfrm>
              <a:prstGeom prst="line">
                <a:avLst/>
              </a:prstGeom>
              <a:noFill/>
              <a:ln w="9525" cap="flat" cmpd="sng" algn="ctr">
                <a:solidFill>
                  <a:srgbClr val="000000">
                    <a:shade val="95000"/>
                    <a:satMod val="105000"/>
                  </a:srgbClr>
                </a:solidFill>
                <a:prstDash val="solid"/>
              </a:ln>
              <a:effectLst/>
            </p:spPr>
          </p:cxnSp>
          <p:cxnSp>
            <p:nvCxnSpPr>
              <p:cNvPr id="115" name="Straight Connector 34"/>
              <p:cNvCxnSpPr>
                <a:stCxn id="137" idx="0"/>
                <a:endCxn id="133" idx="3"/>
              </p:cNvCxnSpPr>
              <p:nvPr/>
            </p:nvCxnSpPr>
            <p:spPr>
              <a:xfrm>
                <a:off x="5562601" y="4283075"/>
                <a:ext cx="333375" cy="1125538"/>
              </a:xfrm>
              <a:prstGeom prst="bentConnector3">
                <a:avLst>
                  <a:gd name="adj1" fmla="val 50000"/>
                </a:avLst>
              </a:prstGeom>
              <a:noFill/>
              <a:ln w="9525" cap="flat" cmpd="sng" algn="ctr">
                <a:solidFill>
                  <a:srgbClr val="000000">
                    <a:shade val="95000"/>
                    <a:satMod val="105000"/>
                  </a:srgbClr>
                </a:solidFill>
                <a:prstDash val="solid"/>
              </a:ln>
              <a:effectLst/>
            </p:spPr>
          </p:cxnSp>
          <p:cxnSp>
            <p:nvCxnSpPr>
              <p:cNvPr id="116" name="Straight Connector 36"/>
              <p:cNvCxnSpPr>
                <a:stCxn id="134" idx="0"/>
                <a:endCxn id="129" idx="3"/>
              </p:cNvCxnSpPr>
              <p:nvPr/>
            </p:nvCxnSpPr>
            <p:spPr>
              <a:xfrm flipV="1">
                <a:off x="7010401" y="4487069"/>
                <a:ext cx="380999" cy="921544"/>
              </a:xfrm>
              <a:prstGeom prst="bentConnector3">
                <a:avLst>
                  <a:gd name="adj1" fmla="val 50000"/>
                </a:avLst>
              </a:prstGeom>
              <a:noFill/>
              <a:ln w="9525" cap="flat" cmpd="sng" algn="ctr">
                <a:solidFill>
                  <a:srgbClr val="000000">
                    <a:shade val="95000"/>
                    <a:satMod val="105000"/>
                  </a:srgbClr>
                </a:solidFill>
                <a:prstDash val="solid"/>
              </a:ln>
              <a:effectLst/>
            </p:spPr>
          </p:cxnSp>
          <p:cxnSp>
            <p:nvCxnSpPr>
              <p:cNvPr id="117" name="Straight Connector 116"/>
              <p:cNvCxnSpPr>
                <a:stCxn id="137" idx="0"/>
                <a:endCxn id="130" idx="3"/>
              </p:cNvCxnSpPr>
              <p:nvPr/>
            </p:nvCxnSpPr>
            <p:spPr>
              <a:xfrm flipV="1">
                <a:off x="5562601" y="4282283"/>
                <a:ext cx="1828799" cy="792"/>
              </a:xfrm>
              <a:prstGeom prst="line">
                <a:avLst/>
              </a:prstGeom>
              <a:noFill/>
              <a:ln w="9525" cap="flat" cmpd="sng" algn="ctr">
                <a:solidFill>
                  <a:srgbClr val="000000">
                    <a:shade val="95000"/>
                    <a:satMod val="105000"/>
                  </a:srgbClr>
                </a:solidFill>
                <a:prstDash val="solid"/>
              </a:ln>
              <a:effectLst/>
            </p:spPr>
          </p:cxnSp>
          <p:cxnSp>
            <p:nvCxnSpPr>
              <p:cNvPr id="118" name="Straight Connector 117"/>
              <p:cNvCxnSpPr>
                <a:stCxn id="131" idx="0"/>
                <a:endCxn id="122" idx="3"/>
              </p:cNvCxnSpPr>
              <p:nvPr/>
            </p:nvCxnSpPr>
            <p:spPr>
              <a:xfrm>
                <a:off x="8504238" y="4384675"/>
                <a:ext cx="282576" cy="0"/>
              </a:xfrm>
              <a:prstGeom prst="line">
                <a:avLst/>
              </a:prstGeom>
              <a:noFill/>
              <a:ln w="9525" cap="flat" cmpd="sng" algn="ctr">
                <a:solidFill>
                  <a:srgbClr val="000000">
                    <a:shade val="95000"/>
                    <a:satMod val="105000"/>
                  </a:srgbClr>
                </a:solidFill>
                <a:prstDash val="solid"/>
              </a:ln>
              <a:effectLst/>
            </p:spPr>
          </p:cxnSp>
          <p:grpSp>
            <p:nvGrpSpPr>
              <p:cNvPr id="9" name="Group 118"/>
              <p:cNvGrpSpPr/>
              <p:nvPr/>
            </p:nvGrpSpPr>
            <p:grpSpPr>
              <a:xfrm>
                <a:off x="4448175" y="3975100"/>
                <a:ext cx="1114425" cy="614363"/>
                <a:chOff x="3800475" y="4076700"/>
                <a:chExt cx="1114425" cy="614363"/>
              </a:xfrm>
            </p:grpSpPr>
            <p:sp>
              <p:nvSpPr>
                <p:cNvPr id="135" name="Rectangle 134"/>
                <p:cNvSpPr>
                  <a:spLocks noChangeArrowheads="1"/>
                </p:cNvSpPr>
                <p:nvPr/>
              </p:nvSpPr>
              <p:spPr bwMode="auto">
                <a:xfrm>
                  <a:off x="3800475" y="4076700"/>
                  <a:ext cx="1114425" cy="614363"/>
                </a:xfrm>
                <a:prstGeom prst="rect">
                  <a:avLst/>
                </a:prstGeom>
                <a:solidFill>
                  <a:srgbClr val="EEB10F"/>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b="1" i="0" u="none" strike="noStrike" kern="0" cap="none" spc="0" normalizeH="0" baseline="0" noProof="0" smtClean="0">
                      <a:ln>
                        <a:noFill/>
                      </a:ln>
                      <a:solidFill>
                        <a:srgbClr val="FFFFFF"/>
                      </a:solidFill>
                      <a:effectLst/>
                      <a:uLnTx/>
                      <a:uFillTx/>
                      <a:latin typeface="Verdana" pitchFamily="34" charset="0"/>
                      <a:ea typeface="ＭＳ Ｐゴシック" pitchFamily="34" charset="-128"/>
                      <a:cs typeface="Arial"/>
                    </a:rPr>
                    <a:t>A</a:t>
                  </a:r>
                </a:p>
              </p:txBody>
            </p:sp>
            <p:sp>
              <p:nvSpPr>
                <p:cNvPr id="136" name="Isosceles Triangle 135"/>
                <p:cNvSpPr>
                  <a:spLocks noChangeArrowheads="1"/>
                </p:cNvSpPr>
                <p:nvPr/>
              </p:nvSpPr>
              <p:spPr bwMode="auto">
                <a:xfrm rot="5400000">
                  <a:off x="3801269" y="4358481"/>
                  <a:ext cx="50800" cy="52388"/>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a:ln>
                      <a:noFill/>
                    </a:ln>
                    <a:solidFill>
                      <a:srgbClr val="F8F8F8"/>
                    </a:solidFill>
                    <a:effectLst/>
                    <a:uLnTx/>
                    <a:uFillTx/>
                    <a:latin typeface="Verdana"/>
                    <a:ea typeface="ＭＳ Ｐゴシック" pitchFamily="34" charset="-128"/>
                    <a:cs typeface="Arial"/>
                  </a:endParaRPr>
                </a:p>
              </p:txBody>
            </p:sp>
            <p:sp>
              <p:nvSpPr>
                <p:cNvPr id="137" name="Isosceles Triangle 136"/>
                <p:cNvSpPr>
                  <a:spLocks noChangeArrowheads="1"/>
                </p:cNvSpPr>
                <p:nvPr/>
              </p:nvSpPr>
              <p:spPr bwMode="auto">
                <a:xfrm rot="5400000">
                  <a:off x="4862513" y="4357687"/>
                  <a:ext cx="50800" cy="53975"/>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a:ln>
                      <a:noFill/>
                    </a:ln>
                    <a:solidFill>
                      <a:srgbClr val="F8F8F8"/>
                    </a:solidFill>
                    <a:effectLst/>
                    <a:uLnTx/>
                    <a:uFillTx/>
                    <a:latin typeface="Verdana"/>
                    <a:ea typeface="ＭＳ Ｐゴシック" pitchFamily="34" charset="-128"/>
                    <a:cs typeface="Arial"/>
                  </a:endParaRPr>
                </a:p>
              </p:txBody>
            </p:sp>
          </p:grpSp>
          <p:grpSp>
            <p:nvGrpSpPr>
              <p:cNvPr id="10" name="Group 119"/>
              <p:cNvGrpSpPr/>
              <p:nvPr/>
            </p:nvGrpSpPr>
            <p:grpSpPr>
              <a:xfrm>
                <a:off x="5884862" y="5075238"/>
                <a:ext cx="1125538" cy="614362"/>
                <a:chOff x="5486400" y="5075238"/>
                <a:chExt cx="1125538" cy="614362"/>
              </a:xfrm>
            </p:grpSpPr>
            <p:sp>
              <p:nvSpPr>
                <p:cNvPr id="132" name="Rectangle 131"/>
                <p:cNvSpPr>
                  <a:spLocks noChangeArrowheads="1"/>
                </p:cNvSpPr>
                <p:nvPr/>
              </p:nvSpPr>
              <p:spPr bwMode="auto">
                <a:xfrm>
                  <a:off x="5486400" y="5075238"/>
                  <a:ext cx="1114425" cy="614362"/>
                </a:xfrm>
                <a:prstGeom prst="rect">
                  <a:avLst/>
                </a:prstGeom>
                <a:solidFill>
                  <a:srgbClr val="EEB10F"/>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b="1" i="0" u="none" strike="noStrike" kern="0" cap="none" spc="0" normalizeH="0" baseline="0" noProof="0" dirty="0" smtClean="0">
                      <a:ln>
                        <a:noFill/>
                      </a:ln>
                      <a:solidFill>
                        <a:srgbClr val="FFFFFF"/>
                      </a:solidFill>
                      <a:effectLst/>
                      <a:uLnTx/>
                      <a:uFillTx/>
                      <a:latin typeface="Verdana" pitchFamily="34" charset="0"/>
                      <a:ea typeface="ＭＳ Ｐゴシック" pitchFamily="34" charset="-128"/>
                      <a:cs typeface="Arial"/>
                    </a:rPr>
                    <a:t>B</a:t>
                  </a:r>
                </a:p>
              </p:txBody>
            </p:sp>
            <p:sp>
              <p:nvSpPr>
                <p:cNvPr id="133" name="Isosceles Triangle 132"/>
                <p:cNvSpPr>
                  <a:spLocks noChangeArrowheads="1"/>
                </p:cNvSpPr>
                <p:nvPr/>
              </p:nvSpPr>
              <p:spPr bwMode="auto">
                <a:xfrm rot="5400000">
                  <a:off x="5498307" y="5382419"/>
                  <a:ext cx="50800" cy="52387"/>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a:ln>
                      <a:noFill/>
                    </a:ln>
                    <a:solidFill>
                      <a:srgbClr val="F8F8F8"/>
                    </a:solidFill>
                    <a:effectLst/>
                    <a:uLnTx/>
                    <a:uFillTx/>
                    <a:latin typeface="Verdana"/>
                    <a:ea typeface="ＭＳ Ｐゴシック" pitchFamily="34" charset="-128"/>
                    <a:cs typeface="Arial"/>
                  </a:endParaRPr>
                </a:p>
              </p:txBody>
            </p:sp>
            <p:sp>
              <p:nvSpPr>
                <p:cNvPr id="134" name="Isosceles Triangle 133"/>
                <p:cNvSpPr>
                  <a:spLocks noChangeArrowheads="1"/>
                </p:cNvSpPr>
                <p:nvPr/>
              </p:nvSpPr>
              <p:spPr bwMode="auto">
                <a:xfrm rot="5400000">
                  <a:off x="6559551" y="5381625"/>
                  <a:ext cx="50800" cy="53975"/>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a:ln>
                      <a:noFill/>
                    </a:ln>
                    <a:solidFill>
                      <a:srgbClr val="F8F8F8"/>
                    </a:solidFill>
                    <a:effectLst/>
                    <a:uLnTx/>
                    <a:uFillTx/>
                    <a:latin typeface="Verdana"/>
                    <a:ea typeface="ＭＳ Ｐゴシック" pitchFamily="34" charset="-128"/>
                    <a:cs typeface="Arial"/>
                  </a:endParaRPr>
                </a:p>
              </p:txBody>
            </p:sp>
          </p:grpSp>
          <p:grpSp>
            <p:nvGrpSpPr>
              <p:cNvPr id="11" name="Group 120"/>
              <p:cNvGrpSpPr/>
              <p:nvPr/>
            </p:nvGrpSpPr>
            <p:grpSpPr>
              <a:xfrm>
                <a:off x="7391400" y="4051300"/>
                <a:ext cx="1112838" cy="614363"/>
                <a:chOff x="7248525" y="4051300"/>
                <a:chExt cx="1112838" cy="614363"/>
              </a:xfrm>
            </p:grpSpPr>
            <p:sp>
              <p:nvSpPr>
                <p:cNvPr id="128" name="Rectangle 127"/>
                <p:cNvSpPr>
                  <a:spLocks noChangeArrowheads="1"/>
                </p:cNvSpPr>
                <p:nvPr/>
              </p:nvSpPr>
              <p:spPr bwMode="auto">
                <a:xfrm>
                  <a:off x="7248525" y="4051300"/>
                  <a:ext cx="1112838" cy="614363"/>
                </a:xfrm>
                <a:prstGeom prst="rect">
                  <a:avLst/>
                </a:prstGeom>
                <a:solidFill>
                  <a:srgbClr val="EEB10F"/>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b="1" i="0" u="none" strike="noStrike" kern="0" cap="none" spc="0" normalizeH="0" baseline="0" noProof="0" smtClean="0">
                      <a:ln>
                        <a:noFill/>
                      </a:ln>
                      <a:solidFill>
                        <a:srgbClr val="FFFFFF"/>
                      </a:solidFill>
                      <a:effectLst/>
                      <a:uLnTx/>
                      <a:uFillTx/>
                      <a:latin typeface="Verdana" pitchFamily="34" charset="0"/>
                      <a:ea typeface="ＭＳ Ｐゴシック" pitchFamily="34" charset="-128"/>
                      <a:cs typeface="Arial"/>
                    </a:rPr>
                    <a:t>C</a:t>
                  </a:r>
                </a:p>
              </p:txBody>
            </p:sp>
            <p:sp>
              <p:nvSpPr>
                <p:cNvPr id="129" name="Isosceles Triangle 128"/>
                <p:cNvSpPr>
                  <a:spLocks noChangeArrowheads="1"/>
                </p:cNvSpPr>
                <p:nvPr/>
              </p:nvSpPr>
              <p:spPr bwMode="auto">
                <a:xfrm rot="5400000">
                  <a:off x="7248525" y="4460875"/>
                  <a:ext cx="52388" cy="52388"/>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a:ln>
                      <a:noFill/>
                    </a:ln>
                    <a:solidFill>
                      <a:srgbClr val="F8F8F8"/>
                    </a:solidFill>
                    <a:effectLst/>
                    <a:uLnTx/>
                    <a:uFillTx/>
                    <a:latin typeface="Verdana"/>
                    <a:ea typeface="ＭＳ Ｐゴシック" pitchFamily="34" charset="-128"/>
                    <a:cs typeface="Arial"/>
                  </a:endParaRPr>
                </a:p>
              </p:txBody>
            </p:sp>
            <p:sp>
              <p:nvSpPr>
                <p:cNvPr id="130" name="Isosceles Triangle 129"/>
                <p:cNvSpPr>
                  <a:spLocks noChangeArrowheads="1"/>
                </p:cNvSpPr>
                <p:nvPr/>
              </p:nvSpPr>
              <p:spPr bwMode="auto">
                <a:xfrm rot="5400000">
                  <a:off x="7248525" y="4256088"/>
                  <a:ext cx="52387" cy="52388"/>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a:ln>
                      <a:noFill/>
                    </a:ln>
                    <a:solidFill>
                      <a:srgbClr val="F8F8F8"/>
                    </a:solidFill>
                    <a:effectLst/>
                    <a:uLnTx/>
                    <a:uFillTx/>
                    <a:latin typeface="Verdana"/>
                    <a:ea typeface="ＭＳ Ｐゴシック" pitchFamily="34" charset="-128"/>
                    <a:cs typeface="Arial"/>
                  </a:endParaRPr>
                </a:p>
              </p:txBody>
            </p:sp>
            <p:sp>
              <p:nvSpPr>
                <p:cNvPr id="131" name="Isosceles Triangle 130"/>
                <p:cNvSpPr>
                  <a:spLocks noChangeArrowheads="1"/>
                </p:cNvSpPr>
                <p:nvPr/>
              </p:nvSpPr>
              <p:spPr bwMode="auto">
                <a:xfrm rot="5400000">
                  <a:off x="8309769" y="4358481"/>
                  <a:ext cx="50800" cy="52388"/>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a:ln>
                      <a:noFill/>
                    </a:ln>
                    <a:solidFill>
                      <a:srgbClr val="F8F8F8"/>
                    </a:solidFill>
                    <a:effectLst/>
                    <a:uLnTx/>
                    <a:uFillTx/>
                    <a:latin typeface="Verdana"/>
                    <a:ea typeface="ＭＳ Ｐゴシック" pitchFamily="34" charset="-128"/>
                    <a:cs typeface="Arial"/>
                  </a:endParaRPr>
                </a:p>
              </p:txBody>
            </p:sp>
          </p:grpSp>
          <p:sp>
            <p:nvSpPr>
              <p:cNvPr id="122" name="Isosceles Triangle 121"/>
              <p:cNvSpPr>
                <a:spLocks noChangeArrowheads="1"/>
              </p:cNvSpPr>
              <p:nvPr/>
            </p:nvSpPr>
            <p:spPr bwMode="auto">
              <a:xfrm rot="5400000">
                <a:off x="8787607" y="4358481"/>
                <a:ext cx="50800" cy="52387"/>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a:ln>
                    <a:noFill/>
                  </a:ln>
                  <a:solidFill>
                    <a:srgbClr val="F8F8F8"/>
                  </a:solidFill>
                  <a:effectLst/>
                  <a:uLnTx/>
                  <a:uFillTx/>
                  <a:latin typeface="Verdana"/>
                  <a:ea typeface="ＭＳ Ｐゴシック" pitchFamily="34" charset="-128"/>
                  <a:cs typeface="Arial"/>
                </a:endParaRPr>
              </a:p>
            </p:txBody>
          </p:sp>
          <p:sp>
            <p:nvSpPr>
              <p:cNvPr id="123" name="TextBox 43"/>
              <p:cNvSpPr txBox="1">
                <a:spLocks noChangeArrowheads="1"/>
              </p:cNvSpPr>
              <p:nvPr/>
            </p:nvSpPr>
            <p:spPr bwMode="auto">
              <a:xfrm>
                <a:off x="4227513" y="4572000"/>
                <a:ext cx="1639889" cy="3335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a:ln>
                      <a:noFill/>
                    </a:ln>
                    <a:solidFill>
                      <a:srgbClr val="000000"/>
                    </a:solidFill>
                    <a:effectLst/>
                    <a:uLnTx/>
                    <a:uFillTx/>
                    <a:latin typeface="Calibri" pitchFamily="34" charset="0"/>
                    <a:ea typeface="ＭＳ Ｐゴシック" pitchFamily="34" charset="-128"/>
                    <a:cs typeface="Arial" charset="0"/>
                  </a:rPr>
                  <a:t>Assumption: Input &lt; 20</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a:ln>
                      <a:noFill/>
                    </a:ln>
                    <a:solidFill>
                      <a:srgbClr val="000000"/>
                    </a:solidFill>
                    <a:effectLst/>
                    <a:uLnTx/>
                    <a:uFillTx/>
                    <a:latin typeface="Calibri" pitchFamily="34" charset="0"/>
                    <a:ea typeface="ＭＳ Ｐゴシック" pitchFamily="34" charset="-128"/>
                    <a:cs typeface="Arial" charset="0"/>
                  </a:rPr>
                  <a:t>Guarantee: Output &lt; 2*Input</a:t>
                </a:r>
              </a:p>
            </p:txBody>
          </p:sp>
          <p:sp>
            <p:nvSpPr>
              <p:cNvPr id="124" name="TextBox 44"/>
              <p:cNvSpPr txBox="1">
                <a:spLocks noChangeArrowheads="1"/>
              </p:cNvSpPr>
              <p:nvPr/>
            </p:nvSpPr>
            <p:spPr bwMode="auto">
              <a:xfrm>
                <a:off x="5724524" y="5654675"/>
                <a:ext cx="1743075" cy="3335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a:ln>
                      <a:noFill/>
                    </a:ln>
                    <a:solidFill>
                      <a:srgbClr val="000000"/>
                    </a:solidFill>
                    <a:effectLst/>
                    <a:uLnTx/>
                    <a:uFillTx/>
                    <a:latin typeface="Calibri" pitchFamily="34" charset="0"/>
                    <a:ea typeface="ＭＳ Ｐゴシック" pitchFamily="34" charset="-128"/>
                    <a:cs typeface="Arial" charset="0"/>
                  </a:rPr>
                  <a:t>Assumption: Input &lt; 20</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a:ln>
                      <a:noFill/>
                    </a:ln>
                    <a:solidFill>
                      <a:srgbClr val="000000"/>
                    </a:solidFill>
                    <a:effectLst/>
                    <a:uLnTx/>
                    <a:uFillTx/>
                    <a:latin typeface="Calibri" pitchFamily="34" charset="0"/>
                    <a:ea typeface="ＭＳ Ｐゴシック" pitchFamily="34" charset="-128"/>
                    <a:cs typeface="Arial" charset="0"/>
                  </a:rPr>
                  <a:t>Guarantee: Output &lt; Input + 15</a:t>
                </a:r>
              </a:p>
            </p:txBody>
          </p:sp>
          <p:sp>
            <p:nvSpPr>
              <p:cNvPr id="125" name="TextBox 45"/>
              <p:cNvSpPr txBox="1">
                <a:spLocks noChangeArrowheads="1"/>
              </p:cNvSpPr>
              <p:nvPr/>
            </p:nvSpPr>
            <p:spPr bwMode="auto">
              <a:xfrm>
                <a:off x="7300912" y="4648200"/>
                <a:ext cx="1538287" cy="3335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dirty="0">
                    <a:ln>
                      <a:noFill/>
                    </a:ln>
                    <a:solidFill>
                      <a:srgbClr val="000000"/>
                    </a:solidFill>
                    <a:effectLst/>
                    <a:uLnTx/>
                    <a:uFillTx/>
                    <a:latin typeface="Calibri" pitchFamily="34" charset="0"/>
                    <a:ea typeface="ＭＳ Ｐゴシック" pitchFamily="34" charset="-128"/>
                    <a:cs typeface="Arial" charset="0"/>
                  </a:rPr>
                  <a:t>Assumption: none</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dirty="0">
                    <a:ln>
                      <a:noFill/>
                    </a:ln>
                    <a:solidFill>
                      <a:srgbClr val="000000"/>
                    </a:solidFill>
                    <a:effectLst/>
                    <a:uLnTx/>
                    <a:uFillTx/>
                    <a:latin typeface="Calibri" pitchFamily="34" charset="0"/>
                    <a:ea typeface="ＭＳ Ｐゴシック" pitchFamily="34" charset="-128"/>
                    <a:cs typeface="Arial" charset="0"/>
                  </a:rPr>
                  <a:t>Guarantee: Output = Input1 + Input2</a:t>
                </a:r>
              </a:p>
            </p:txBody>
          </p:sp>
          <p:sp>
            <p:nvSpPr>
              <p:cNvPr id="126" name="TextBox 46"/>
              <p:cNvSpPr txBox="1">
                <a:spLocks noChangeArrowheads="1"/>
              </p:cNvSpPr>
              <p:nvPr/>
            </p:nvSpPr>
            <p:spPr bwMode="auto">
              <a:xfrm>
                <a:off x="7443790" y="5650467"/>
                <a:ext cx="1395411" cy="333536"/>
              </a:xfrm>
              <a:prstGeom prst="rect">
                <a:avLst/>
              </a:prstGeom>
              <a:noFill/>
              <a:ln w="19050">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dirty="0">
                    <a:ln>
                      <a:noFill/>
                    </a:ln>
                    <a:solidFill>
                      <a:srgbClr val="000000"/>
                    </a:solidFill>
                    <a:effectLst/>
                    <a:uLnTx/>
                    <a:uFillTx/>
                    <a:latin typeface="Calibri" pitchFamily="34" charset="0"/>
                    <a:ea typeface="ＭＳ Ｐゴシック" pitchFamily="34" charset="-128"/>
                    <a:cs typeface="Arial" charset="0"/>
                  </a:rPr>
                  <a:t>Assumption: Input &lt; 10</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dirty="0">
                    <a:ln>
                      <a:noFill/>
                    </a:ln>
                    <a:solidFill>
                      <a:srgbClr val="000000"/>
                    </a:solidFill>
                    <a:effectLst/>
                    <a:uLnTx/>
                    <a:uFillTx/>
                    <a:latin typeface="Calibri" pitchFamily="34" charset="0"/>
                    <a:ea typeface="ＭＳ Ｐゴシック" pitchFamily="34" charset="-128"/>
                    <a:cs typeface="Arial" charset="0"/>
                  </a:rPr>
                  <a:t>Guarantee: Output &lt; 50</a:t>
                </a:r>
              </a:p>
            </p:txBody>
          </p:sp>
          <p:sp>
            <p:nvSpPr>
              <p:cNvPr id="127" name="Isosceles Triangle 17"/>
              <p:cNvSpPr>
                <a:spLocks noChangeArrowheads="1"/>
              </p:cNvSpPr>
              <p:nvPr/>
            </p:nvSpPr>
            <p:spPr bwMode="auto">
              <a:xfrm rot="5400000">
                <a:off x="4039394" y="4253706"/>
                <a:ext cx="50800" cy="52388"/>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a:ln>
                    <a:noFill/>
                  </a:ln>
                  <a:solidFill>
                    <a:srgbClr val="F8F8F8"/>
                  </a:solidFill>
                  <a:effectLst/>
                  <a:uLnTx/>
                  <a:uFillTx/>
                  <a:latin typeface="Verdana"/>
                  <a:ea typeface="ＭＳ Ｐゴシック" pitchFamily="34" charset="-128"/>
                  <a:cs typeface="Arial"/>
                </a:endParaRPr>
              </a:p>
            </p:txBody>
          </p:sp>
        </p:grpSp>
        <p:sp>
          <p:nvSpPr>
            <p:cNvPr id="111" name="TextBox 110"/>
            <p:cNvSpPr txBox="1"/>
            <p:nvPr/>
          </p:nvSpPr>
          <p:spPr>
            <a:xfrm>
              <a:off x="6019800" y="4126468"/>
              <a:ext cx="261962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0000"/>
                  </a:solidFill>
                  <a:effectLst/>
                  <a:uLnTx/>
                  <a:uFillTx/>
                  <a:latin typeface="Verdana"/>
                  <a:ea typeface="ＭＳ Ｐゴシック" pitchFamily="34" charset="-128"/>
                  <a:cs typeface="Arial"/>
                </a:rPr>
                <a:t>Architecture Analysis</a:t>
              </a:r>
            </a:p>
          </p:txBody>
        </p:sp>
        <p:pic>
          <p:nvPicPr>
            <p:cNvPr id="112" name="Picture 2" descr="C:\Users\ddcofer\Documents\Projects\hacms\svn_smaccm\meetings\2013-July-PI-meeting\slides\Rockwell\resolute_screen_shots\verbose_graph.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035675" y="5090293"/>
              <a:ext cx="1796847" cy="1313945"/>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2" name="Group 137"/>
          <p:cNvGrpSpPr/>
          <p:nvPr/>
        </p:nvGrpSpPr>
        <p:grpSpPr>
          <a:xfrm>
            <a:off x="306132" y="1752600"/>
            <a:ext cx="2624822" cy="4304874"/>
            <a:chOff x="306132" y="1752600"/>
            <a:chExt cx="2624822" cy="4304874"/>
          </a:xfrm>
        </p:grpSpPr>
        <p:grpSp>
          <p:nvGrpSpPr>
            <p:cNvPr id="13" name="Group 138"/>
            <p:cNvGrpSpPr/>
            <p:nvPr/>
          </p:nvGrpSpPr>
          <p:grpSpPr>
            <a:xfrm>
              <a:off x="457200" y="1752600"/>
              <a:ext cx="2473754" cy="2895601"/>
              <a:chOff x="457200" y="1752600"/>
              <a:chExt cx="2473754" cy="2895601"/>
            </a:xfrm>
          </p:grpSpPr>
          <p:pic>
            <p:nvPicPr>
              <p:cNvPr id="141" name="Picture 2" descr="https://encrypted-tbn0.gstatic.com/images?q=tbn:ANd9GcQyR5lXe_e8Fx9HyDitWCJgBJAjBpV0KbUBCI4CfK9l44Rg0zil"/>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38200" y="4267200"/>
                <a:ext cx="1476375" cy="381001"/>
              </a:xfrm>
              <a:prstGeom prst="rect">
                <a:avLst/>
              </a:prstGeom>
              <a:noFill/>
              <a:extLst>
                <a:ext uri="{909E8E84-426E-40DD-AFC4-6F175D3DCCD1}">
                  <a14:hiddenFill xmlns:a14="http://schemas.microsoft.com/office/drawing/2010/main">
                    <a:solidFill>
                      <a:srgbClr val="FFFFFF"/>
                    </a:solidFill>
                  </a14:hiddenFill>
                </a:ext>
              </a:extLst>
            </p:spPr>
          </p:pic>
          <p:sp>
            <p:nvSpPr>
              <p:cNvPr id="142" name="TextBox 141"/>
              <p:cNvSpPr txBox="1"/>
              <p:nvPr/>
            </p:nvSpPr>
            <p:spPr>
              <a:xfrm>
                <a:off x="457200" y="3810000"/>
                <a:ext cx="247375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0000"/>
                    </a:solidFill>
                    <a:effectLst/>
                    <a:uLnTx/>
                    <a:uFillTx/>
                    <a:latin typeface="Verdana"/>
                    <a:ea typeface="ＭＳ Ｐゴシック" pitchFamily="34" charset="-128"/>
                    <a:cs typeface="Arial"/>
                  </a:rPr>
                  <a:t>Architecture Models</a:t>
                </a:r>
              </a:p>
            </p:txBody>
          </p:sp>
          <p:grpSp>
            <p:nvGrpSpPr>
              <p:cNvPr id="14" name="Group 142"/>
              <p:cNvGrpSpPr/>
              <p:nvPr/>
            </p:nvGrpSpPr>
            <p:grpSpPr>
              <a:xfrm>
                <a:off x="1469873" y="1752600"/>
                <a:ext cx="1112138" cy="533400"/>
                <a:chOff x="1129973" y="1950482"/>
                <a:chExt cx="1112138" cy="533400"/>
              </a:xfrm>
            </p:grpSpPr>
            <p:grpSp>
              <p:nvGrpSpPr>
                <p:cNvPr id="15" name="Group 144"/>
                <p:cNvGrpSpPr/>
                <p:nvPr/>
              </p:nvGrpSpPr>
              <p:grpSpPr>
                <a:xfrm flipH="1">
                  <a:off x="1129973" y="1950482"/>
                  <a:ext cx="1112138" cy="533400"/>
                  <a:chOff x="6639029" y="1295400"/>
                  <a:chExt cx="1112138" cy="533400"/>
                </a:xfrm>
              </p:grpSpPr>
              <p:sp>
                <p:nvSpPr>
                  <p:cNvPr id="147" name="Rectangle 146"/>
                  <p:cNvSpPr/>
                  <p:nvPr/>
                </p:nvSpPr>
                <p:spPr>
                  <a:xfrm>
                    <a:off x="6783673" y="1295400"/>
                    <a:ext cx="737505" cy="5334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smtClean="0">
                      <a:ln>
                        <a:noFill/>
                      </a:ln>
                      <a:solidFill>
                        <a:srgbClr val="F8F8F8"/>
                      </a:solidFill>
                      <a:effectLst/>
                      <a:uLnTx/>
                      <a:uFillTx/>
                      <a:latin typeface="Verdana"/>
                      <a:ea typeface="ＭＳ Ｐゴシック"/>
                      <a:cs typeface="Arial"/>
                    </a:endParaRPr>
                  </a:p>
                </p:txBody>
              </p:sp>
              <p:sp>
                <p:nvSpPr>
                  <p:cNvPr id="148" name="Oval 147"/>
                  <p:cNvSpPr/>
                  <p:nvPr/>
                </p:nvSpPr>
                <p:spPr>
                  <a:xfrm>
                    <a:off x="7239000" y="1295400"/>
                    <a:ext cx="512167" cy="533400"/>
                  </a:xfrm>
                  <a:prstGeom prst="ellipse">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sp>
                <p:nvSpPr>
                  <p:cNvPr id="149" name="Rectangle 148"/>
                  <p:cNvSpPr/>
                  <p:nvPr/>
                </p:nvSpPr>
                <p:spPr>
                  <a:xfrm>
                    <a:off x="6640902" y="13716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sp>
                <p:nvSpPr>
                  <p:cNvPr id="150" name="Rectangle 149"/>
                  <p:cNvSpPr/>
                  <p:nvPr/>
                </p:nvSpPr>
                <p:spPr>
                  <a:xfrm>
                    <a:off x="6639029" y="16764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grpSp>
            <p:sp>
              <p:nvSpPr>
                <p:cNvPr id="146" name="TextBox 145"/>
                <p:cNvSpPr txBox="1"/>
                <p:nvPr/>
              </p:nvSpPr>
              <p:spPr>
                <a:xfrm>
                  <a:off x="1245236" y="2017157"/>
                  <a:ext cx="863570" cy="400110"/>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2000" b="1" i="0" u="none" strike="noStrike" kern="0" cap="none" spc="0" normalizeH="0" baseline="0" noProof="0" dirty="0" smtClean="0">
                      <a:ln>
                        <a:noFill/>
                      </a:ln>
                      <a:solidFill>
                        <a:srgbClr val="000000"/>
                      </a:solidFill>
                      <a:effectLst/>
                      <a:uLnTx/>
                      <a:uFillTx/>
                      <a:latin typeface="Calibri" pitchFamily="34" charset="0"/>
                      <a:ea typeface="ＭＳ Ｐゴシック" pitchFamily="34" charset="-128"/>
                      <a:cs typeface="Times New Roman" pitchFamily="18" charset="0"/>
                    </a:rPr>
                    <a:t>OSATE</a:t>
                  </a:r>
                  <a:endParaRPr kumimoji="0" lang="en-US" sz="2400" b="1" i="0" u="none" strike="noStrike" kern="0" cap="none" spc="0" normalizeH="0" baseline="0" noProof="0" dirty="0" smtClean="0">
                    <a:ln>
                      <a:noFill/>
                    </a:ln>
                    <a:solidFill>
                      <a:srgbClr val="000000"/>
                    </a:solidFill>
                    <a:effectLst/>
                    <a:uLnTx/>
                    <a:uFillTx/>
                    <a:latin typeface="Calibri" pitchFamily="34" charset="0"/>
                    <a:ea typeface="ＭＳ Ｐゴシック" pitchFamily="34" charset="-128"/>
                    <a:cs typeface="Times New Roman" pitchFamily="18" charset="0"/>
                  </a:endParaRPr>
                </a:p>
              </p:txBody>
            </p:sp>
          </p:grpSp>
          <p:sp>
            <p:nvSpPr>
              <p:cNvPr id="144" name="Freeform 143"/>
              <p:cNvSpPr/>
              <p:nvPr/>
            </p:nvSpPr>
            <p:spPr>
              <a:xfrm>
                <a:off x="1143000" y="2032517"/>
                <a:ext cx="403073" cy="1739384"/>
              </a:xfrm>
              <a:custGeom>
                <a:avLst/>
                <a:gdLst>
                  <a:gd name="connsiteX0" fmla="*/ 400072 w 400072"/>
                  <a:gd name="connsiteY0" fmla="*/ 55644 h 1179594"/>
                  <a:gd name="connsiteX1" fmla="*/ 22 w 400072"/>
                  <a:gd name="connsiteY1" fmla="*/ 84219 h 1179594"/>
                  <a:gd name="connsiteX2" fmla="*/ 381022 w 400072"/>
                  <a:gd name="connsiteY2" fmla="*/ 855744 h 1179594"/>
                  <a:gd name="connsiteX3" fmla="*/ 304822 w 400072"/>
                  <a:gd name="connsiteY3" fmla="*/ 1160544 h 1179594"/>
                  <a:gd name="connsiteX4" fmla="*/ 304822 w 400072"/>
                  <a:gd name="connsiteY4" fmla="*/ 1160544 h 1179594"/>
                  <a:gd name="connsiteX5" fmla="*/ 304822 w 400072"/>
                  <a:gd name="connsiteY5" fmla="*/ 1179594 h 1179594"/>
                  <a:gd name="connsiteX0" fmla="*/ 409597 w 409597"/>
                  <a:gd name="connsiteY0" fmla="*/ 14182 h 1138132"/>
                  <a:gd name="connsiteX1" fmla="*/ 22 w 409597"/>
                  <a:gd name="connsiteY1" fmla="*/ 195157 h 1138132"/>
                  <a:gd name="connsiteX2" fmla="*/ 390547 w 409597"/>
                  <a:gd name="connsiteY2" fmla="*/ 814282 h 1138132"/>
                  <a:gd name="connsiteX3" fmla="*/ 314347 w 409597"/>
                  <a:gd name="connsiteY3" fmla="*/ 1119082 h 1138132"/>
                  <a:gd name="connsiteX4" fmla="*/ 314347 w 409597"/>
                  <a:gd name="connsiteY4" fmla="*/ 1119082 h 1138132"/>
                  <a:gd name="connsiteX5" fmla="*/ 314347 w 409597"/>
                  <a:gd name="connsiteY5" fmla="*/ 1138132 h 1138132"/>
                  <a:gd name="connsiteX0" fmla="*/ 390525 w 403073"/>
                  <a:gd name="connsiteY0" fmla="*/ 11255 h 1182830"/>
                  <a:gd name="connsiteX1" fmla="*/ 0 w 403073"/>
                  <a:gd name="connsiteY1" fmla="*/ 239855 h 1182830"/>
                  <a:gd name="connsiteX2" fmla="*/ 390525 w 403073"/>
                  <a:gd name="connsiteY2" fmla="*/ 858980 h 1182830"/>
                  <a:gd name="connsiteX3" fmla="*/ 314325 w 403073"/>
                  <a:gd name="connsiteY3" fmla="*/ 1163780 h 1182830"/>
                  <a:gd name="connsiteX4" fmla="*/ 314325 w 403073"/>
                  <a:gd name="connsiteY4" fmla="*/ 1163780 h 1182830"/>
                  <a:gd name="connsiteX5" fmla="*/ 314325 w 403073"/>
                  <a:gd name="connsiteY5" fmla="*/ 1182830 h 1182830"/>
                  <a:gd name="connsiteX0" fmla="*/ 390525 w 403073"/>
                  <a:gd name="connsiteY0" fmla="*/ 0 h 1171575"/>
                  <a:gd name="connsiteX1" fmla="*/ 0 w 403073"/>
                  <a:gd name="connsiteY1" fmla="*/ 228600 h 1171575"/>
                  <a:gd name="connsiteX2" fmla="*/ 390525 w 403073"/>
                  <a:gd name="connsiteY2" fmla="*/ 847725 h 1171575"/>
                  <a:gd name="connsiteX3" fmla="*/ 314325 w 403073"/>
                  <a:gd name="connsiteY3" fmla="*/ 1152525 h 1171575"/>
                  <a:gd name="connsiteX4" fmla="*/ 314325 w 403073"/>
                  <a:gd name="connsiteY4" fmla="*/ 1152525 h 1171575"/>
                  <a:gd name="connsiteX5" fmla="*/ 314325 w 403073"/>
                  <a:gd name="connsiteY5" fmla="*/ 1171575 h 11715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03073" h="1171575">
                    <a:moveTo>
                      <a:pt x="390525" y="0"/>
                    </a:moveTo>
                    <a:cubicBezTo>
                      <a:pt x="201612" y="23812"/>
                      <a:pt x="0" y="87313"/>
                      <a:pt x="0" y="228600"/>
                    </a:cubicBezTo>
                    <a:cubicBezTo>
                      <a:pt x="0" y="369887"/>
                      <a:pt x="338137" y="693737"/>
                      <a:pt x="390525" y="847725"/>
                    </a:cubicBezTo>
                    <a:cubicBezTo>
                      <a:pt x="442913" y="1001713"/>
                      <a:pt x="314325" y="1152525"/>
                      <a:pt x="314325" y="1152525"/>
                    </a:cubicBezTo>
                    <a:lnTo>
                      <a:pt x="314325" y="1152525"/>
                    </a:lnTo>
                    <a:lnTo>
                      <a:pt x="314325" y="1171575"/>
                    </a:lnTo>
                  </a:path>
                </a:pathLst>
              </a:custGeom>
              <a:noFill/>
              <a:ln w="57150" cap="flat" cmpd="sng" algn="ctr">
                <a:solidFill>
                  <a:srgbClr val="ABB41D"/>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grpSp>
        <p:pic>
          <p:nvPicPr>
            <p:cNvPr id="140" name="Picture 7"/>
            <p:cNvPicPr>
              <a:picLocks noChangeAspect="1" noChangeArrowheads="1"/>
            </p:cNvPicPr>
            <p:nvPr/>
          </p:nvPicPr>
          <p:blipFill>
            <a:blip r:embed="rId7"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306132" y="4807057"/>
              <a:ext cx="2166255" cy="12504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16" name="Group 150"/>
          <p:cNvGrpSpPr/>
          <p:nvPr/>
        </p:nvGrpSpPr>
        <p:grpSpPr>
          <a:xfrm>
            <a:off x="6497183" y="1381125"/>
            <a:ext cx="2099617" cy="2790825"/>
            <a:chOff x="6497183" y="1381125"/>
            <a:chExt cx="2099617" cy="2790825"/>
          </a:xfrm>
        </p:grpSpPr>
        <p:sp>
          <p:nvSpPr>
            <p:cNvPr id="152" name="Freeform 151"/>
            <p:cNvSpPr/>
            <p:nvPr/>
          </p:nvSpPr>
          <p:spPr>
            <a:xfrm>
              <a:off x="7580508" y="1647825"/>
              <a:ext cx="1016292" cy="2524125"/>
            </a:xfrm>
            <a:custGeom>
              <a:avLst/>
              <a:gdLst>
                <a:gd name="connsiteX0" fmla="*/ 0 w 586671"/>
                <a:gd name="connsiteY0" fmla="*/ 3888 h 1661238"/>
                <a:gd name="connsiteX1" fmla="*/ 581025 w 586671"/>
                <a:gd name="connsiteY1" fmla="*/ 203913 h 1661238"/>
                <a:gd name="connsiteX2" fmla="*/ 295275 w 586671"/>
                <a:gd name="connsiteY2" fmla="*/ 1318338 h 1661238"/>
                <a:gd name="connsiteX3" fmla="*/ 295275 w 586671"/>
                <a:gd name="connsiteY3" fmla="*/ 1661238 h 1661238"/>
                <a:gd name="connsiteX0" fmla="*/ 0 w 586671"/>
                <a:gd name="connsiteY0" fmla="*/ 0 h 1657350"/>
                <a:gd name="connsiteX1" fmla="*/ 581025 w 586671"/>
                <a:gd name="connsiteY1" fmla="*/ 200025 h 1657350"/>
                <a:gd name="connsiteX2" fmla="*/ 295275 w 586671"/>
                <a:gd name="connsiteY2" fmla="*/ 1314450 h 1657350"/>
                <a:gd name="connsiteX3" fmla="*/ 295275 w 586671"/>
                <a:gd name="connsiteY3" fmla="*/ 1657350 h 1657350"/>
                <a:gd name="connsiteX0" fmla="*/ 0 w 598001"/>
                <a:gd name="connsiteY0" fmla="*/ 0 h 1657350"/>
                <a:gd name="connsiteX1" fmla="*/ 581025 w 598001"/>
                <a:gd name="connsiteY1" fmla="*/ 200025 h 1657350"/>
                <a:gd name="connsiteX2" fmla="*/ 429787 w 598001"/>
                <a:gd name="connsiteY2" fmla="*/ 1301296 h 1657350"/>
                <a:gd name="connsiteX3" fmla="*/ 295275 w 598001"/>
                <a:gd name="connsiteY3" fmla="*/ 1657350 h 1657350"/>
                <a:gd name="connsiteX0" fmla="*/ 0 w 598001"/>
                <a:gd name="connsiteY0" fmla="*/ 0 h 1742848"/>
                <a:gd name="connsiteX1" fmla="*/ 581025 w 598001"/>
                <a:gd name="connsiteY1" fmla="*/ 200025 h 1742848"/>
                <a:gd name="connsiteX2" fmla="*/ 429787 w 598001"/>
                <a:gd name="connsiteY2" fmla="*/ 1301296 h 1742848"/>
                <a:gd name="connsiteX3" fmla="*/ 463415 w 598001"/>
                <a:gd name="connsiteY3" fmla="*/ 1742848 h 1742848"/>
              </a:gdLst>
              <a:ahLst/>
              <a:cxnLst>
                <a:cxn ang="0">
                  <a:pos x="connsiteX0" y="connsiteY0"/>
                </a:cxn>
                <a:cxn ang="0">
                  <a:pos x="connsiteX1" y="connsiteY1"/>
                </a:cxn>
                <a:cxn ang="0">
                  <a:pos x="connsiteX2" y="connsiteY2"/>
                </a:cxn>
                <a:cxn ang="0">
                  <a:pos x="connsiteX3" y="connsiteY3"/>
                </a:cxn>
              </a:cxnLst>
              <a:rect l="l" t="t" r="r" b="b"/>
              <a:pathLst>
                <a:path w="598001" h="1742848">
                  <a:moveTo>
                    <a:pt x="0" y="0"/>
                  </a:moveTo>
                  <a:cubicBezTo>
                    <a:pt x="265906" y="19050"/>
                    <a:pt x="509394" y="-16858"/>
                    <a:pt x="581025" y="200025"/>
                  </a:cubicBezTo>
                  <a:cubicBezTo>
                    <a:pt x="652656" y="416908"/>
                    <a:pt x="477412" y="1058409"/>
                    <a:pt x="429787" y="1301296"/>
                  </a:cubicBezTo>
                  <a:cubicBezTo>
                    <a:pt x="382162" y="1544184"/>
                    <a:pt x="439602" y="1692842"/>
                    <a:pt x="463415" y="1742848"/>
                  </a:cubicBezTo>
                </a:path>
              </a:pathLst>
            </a:custGeom>
            <a:noFill/>
            <a:ln w="57150" cap="flat" cmpd="sng" algn="ctr">
              <a:solidFill>
                <a:srgbClr val="ABB41D"/>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grpSp>
          <p:nvGrpSpPr>
            <p:cNvPr id="17" name="Group 152"/>
            <p:cNvGrpSpPr/>
            <p:nvPr/>
          </p:nvGrpSpPr>
          <p:grpSpPr>
            <a:xfrm>
              <a:off x="6497183" y="1381125"/>
              <a:ext cx="1503817" cy="533400"/>
              <a:chOff x="6640902" y="1295400"/>
              <a:chExt cx="1503817" cy="533400"/>
            </a:xfrm>
          </p:grpSpPr>
          <p:grpSp>
            <p:nvGrpSpPr>
              <p:cNvPr id="18" name="Group 153"/>
              <p:cNvGrpSpPr/>
              <p:nvPr/>
            </p:nvGrpSpPr>
            <p:grpSpPr>
              <a:xfrm>
                <a:off x="6640902" y="1295400"/>
                <a:ext cx="1503817" cy="533400"/>
                <a:chOff x="6640902" y="1295400"/>
                <a:chExt cx="1503817" cy="533400"/>
              </a:xfrm>
            </p:grpSpPr>
            <p:sp>
              <p:nvSpPr>
                <p:cNvPr id="156" name="Rectangle 155"/>
                <p:cNvSpPr/>
                <p:nvPr/>
              </p:nvSpPr>
              <p:spPr>
                <a:xfrm>
                  <a:off x="6783673" y="1295400"/>
                  <a:ext cx="1095567" cy="5334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sp>
              <p:nvSpPr>
                <p:cNvPr id="157" name="Oval 156"/>
                <p:cNvSpPr/>
                <p:nvPr/>
              </p:nvSpPr>
              <p:spPr>
                <a:xfrm>
                  <a:off x="7632552" y="1295400"/>
                  <a:ext cx="512167" cy="533400"/>
                </a:xfrm>
                <a:prstGeom prst="ellipse">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sp>
              <p:nvSpPr>
                <p:cNvPr id="158" name="Rectangle 157"/>
                <p:cNvSpPr/>
                <p:nvPr/>
              </p:nvSpPr>
              <p:spPr>
                <a:xfrm>
                  <a:off x="6640902" y="13716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sp>
              <p:nvSpPr>
                <p:cNvPr id="159" name="Rectangle 158"/>
                <p:cNvSpPr/>
                <p:nvPr/>
              </p:nvSpPr>
              <p:spPr>
                <a:xfrm>
                  <a:off x="6648554" y="16764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grpSp>
          <p:sp>
            <p:nvSpPr>
              <p:cNvPr id="155" name="TextBox 154"/>
              <p:cNvSpPr txBox="1"/>
              <p:nvPr/>
            </p:nvSpPr>
            <p:spPr>
              <a:xfrm>
                <a:off x="6766755" y="1329035"/>
                <a:ext cx="1352875" cy="461665"/>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dirty="0" smtClean="0">
                    <a:ln>
                      <a:noFill/>
                    </a:ln>
                    <a:solidFill>
                      <a:srgbClr val="000000"/>
                    </a:solidFill>
                    <a:effectLst/>
                    <a:uLnTx/>
                    <a:uFillTx/>
                    <a:latin typeface="Tw Cen MT" pitchFamily="34" charset="0"/>
                    <a:ea typeface="ＭＳ Ｐゴシック" pitchFamily="34" charset="-128"/>
                    <a:cs typeface="Arial"/>
                  </a:rPr>
                  <a:t>Resolute</a:t>
                </a:r>
              </a:p>
            </p:txBody>
          </p:sp>
        </p:grpSp>
      </p:grpSp>
      <p:grpSp>
        <p:nvGrpSpPr>
          <p:cNvPr id="19" name="Group 159"/>
          <p:cNvGrpSpPr/>
          <p:nvPr/>
        </p:nvGrpSpPr>
        <p:grpSpPr>
          <a:xfrm>
            <a:off x="6477000" y="1981200"/>
            <a:ext cx="1807644" cy="2199650"/>
            <a:chOff x="6540793" y="2133600"/>
            <a:chExt cx="1807644" cy="2199650"/>
          </a:xfrm>
        </p:grpSpPr>
        <p:grpSp>
          <p:nvGrpSpPr>
            <p:cNvPr id="20" name="Group 160"/>
            <p:cNvGrpSpPr/>
            <p:nvPr/>
          </p:nvGrpSpPr>
          <p:grpSpPr>
            <a:xfrm>
              <a:off x="6540793" y="2133600"/>
              <a:ext cx="1110265" cy="533400"/>
              <a:chOff x="6640902" y="1295400"/>
              <a:chExt cx="1110265" cy="533400"/>
            </a:xfrm>
          </p:grpSpPr>
          <p:grpSp>
            <p:nvGrpSpPr>
              <p:cNvPr id="21" name="Group 162"/>
              <p:cNvGrpSpPr/>
              <p:nvPr/>
            </p:nvGrpSpPr>
            <p:grpSpPr>
              <a:xfrm>
                <a:off x="6640902" y="1295400"/>
                <a:ext cx="1110265" cy="533400"/>
                <a:chOff x="6640902" y="1295400"/>
                <a:chExt cx="1110265" cy="533400"/>
              </a:xfrm>
            </p:grpSpPr>
            <p:sp>
              <p:nvSpPr>
                <p:cNvPr id="165" name="Rectangle 164"/>
                <p:cNvSpPr/>
                <p:nvPr/>
              </p:nvSpPr>
              <p:spPr>
                <a:xfrm>
                  <a:off x="6783673" y="1295400"/>
                  <a:ext cx="737505" cy="5334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sp>
              <p:nvSpPr>
                <p:cNvPr id="166" name="Oval 165"/>
                <p:cNvSpPr/>
                <p:nvPr/>
              </p:nvSpPr>
              <p:spPr>
                <a:xfrm>
                  <a:off x="7239000" y="1295400"/>
                  <a:ext cx="512167" cy="533400"/>
                </a:xfrm>
                <a:prstGeom prst="ellipse">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sp>
              <p:nvSpPr>
                <p:cNvPr id="167" name="Rectangle 166"/>
                <p:cNvSpPr/>
                <p:nvPr/>
              </p:nvSpPr>
              <p:spPr>
                <a:xfrm>
                  <a:off x="6640902" y="13716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sp>
              <p:nvSpPr>
                <p:cNvPr id="168" name="Rectangle 167"/>
                <p:cNvSpPr/>
                <p:nvPr/>
              </p:nvSpPr>
              <p:spPr>
                <a:xfrm>
                  <a:off x="6648554" y="16764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grpSp>
          <p:sp>
            <p:nvSpPr>
              <p:cNvPr id="164" name="TextBox 163"/>
              <p:cNvSpPr txBox="1"/>
              <p:nvPr/>
            </p:nvSpPr>
            <p:spPr>
              <a:xfrm>
                <a:off x="6766755" y="1371600"/>
                <a:ext cx="925253"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1" i="0" u="none" strike="noStrike" kern="0" cap="none" spc="0" normalizeH="0" baseline="0" noProof="0" dirty="0" smtClean="0">
                    <a:ln>
                      <a:noFill/>
                    </a:ln>
                    <a:solidFill>
                      <a:srgbClr val="000000"/>
                    </a:solidFill>
                    <a:effectLst/>
                    <a:uLnTx/>
                    <a:uFillTx/>
                    <a:latin typeface="Century Gothic" pitchFamily="34" charset="0"/>
                    <a:ea typeface="ＭＳ Ｐゴシック" pitchFamily="34" charset="-128"/>
                    <a:cs typeface="Arial"/>
                  </a:rPr>
                  <a:t>AGREE</a:t>
                </a:r>
                <a:endParaRPr kumimoji="0" lang="en-US" sz="2000" b="1" i="0" u="none" strike="noStrike" kern="0" cap="none" spc="0" normalizeH="0" baseline="0" noProof="0" dirty="0" smtClean="0">
                  <a:ln>
                    <a:noFill/>
                  </a:ln>
                  <a:solidFill>
                    <a:srgbClr val="000000"/>
                  </a:solidFill>
                  <a:effectLst/>
                  <a:uLnTx/>
                  <a:uFillTx/>
                  <a:latin typeface="Century Gothic" pitchFamily="34" charset="0"/>
                  <a:ea typeface="ＭＳ Ｐゴシック" pitchFamily="34" charset="-128"/>
                  <a:cs typeface="Arial"/>
                </a:endParaRPr>
              </a:p>
            </p:txBody>
          </p:sp>
        </p:grpSp>
        <p:sp>
          <p:nvSpPr>
            <p:cNvPr id="162" name="Freeform 161"/>
            <p:cNvSpPr/>
            <p:nvPr/>
          </p:nvSpPr>
          <p:spPr>
            <a:xfrm>
              <a:off x="7589076" y="2400299"/>
              <a:ext cx="759361" cy="1932951"/>
            </a:xfrm>
            <a:custGeom>
              <a:avLst/>
              <a:gdLst>
                <a:gd name="connsiteX0" fmla="*/ 0 w 586671"/>
                <a:gd name="connsiteY0" fmla="*/ 3888 h 1661238"/>
                <a:gd name="connsiteX1" fmla="*/ 581025 w 586671"/>
                <a:gd name="connsiteY1" fmla="*/ 203913 h 1661238"/>
                <a:gd name="connsiteX2" fmla="*/ 295275 w 586671"/>
                <a:gd name="connsiteY2" fmla="*/ 1318338 h 1661238"/>
                <a:gd name="connsiteX3" fmla="*/ 295275 w 586671"/>
                <a:gd name="connsiteY3" fmla="*/ 1661238 h 1661238"/>
                <a:gd name="connsiteX0" fmla="*/ 0 w 586671"/>
                <a:gd name="connsiteY0" fmla="*/ 0 h 1657350"/>
                <a:gd name="connsiteX1" fmla="*/ 581025 w 586671"/>
                <a:gd name="connsiteY1" fmla="*/ 200025 h 1657350"/>
                <a:gd name="connsiteX2" fmla="*/ 295275 w 586671"/>
                <a:gd name="connsiteY2" fmla="*/ 1314450 h 1657350"/>
                <a:gd name="connsiteX3" fmla="*/ 295275 w 586671"/>
                <a:gd name="connsiteY3" fmla="*/ 1657350 h 1657350"/>
                <a:gd name="connsiteX0" fmla="*/ 0 w 598294"/>
                <a:gd name="connsiteY0" fmla="*/ 0 h 1657350"/>
                <a:gd name="connsiteX1" fmla="*/ 581025 w 598294"/>
                <a:gd name="connsiteY1" fmla="*/ 200025 h 1657350"/>
                <a:gd name="connsiteX2" fmla="*/ 432001 w 598294"/>
                <a:gd name="connsiteY2" fmla="*/ 1287852 h 1657350"/>
                <a:gd name="connsiteX3" fmla="*/ 295275 w 598294"/>
                <a:gd name="connsiteY3" fmla="*/ 1657350 h 1657350"/>
                <a:gd name="connsiteX0" fmla="*/ 0 w 598294"/>
                <a:gd name="connsiteY0" fmla="*/ 0 h 1799205"/>
                <a:gd name="connsiteX1" fmla="*/ 581025 w 598294"/>
                <a:gd name="connsiteY1" fmla="*/ 200025 h 1799205"/>
                <a:gd name="connsiteX2" fmla="*/ 432001 w 598294"/>
                <a:gd name="connsiteY2" fmla="*/ 1287852 h 1799205"/>
                <a:gd name="connsiteX3" fmla="*/ 530746 w 598294"/>
                <a:gd name="connsiteY3" fmla="*/ 1799205 h 1799205"/>
                <a:gd name="connsiteX0" fmla="*/ 0 w 605563"/>
                <a:gd name="connsiteY0" fmla="*/ 0 h 1799205"/>
                <a:gd name="connsiteX1" fmla="*/ 581025 w 605563"/>
                <a:gd name="connsiteY1" fmla="*/ 200025 h 1799205"/>
                <a:gd name="connsiteX2" fmla="*/ 477576 w 605563"/>
                <a:gd name="connsiteY2" fmla="*/ 1287852 h 1799205"/>
                <a:gd name="connsiteX3" fmla="*/ 530746 w 605563"/>
                <a:gd name="connsiteY3" fmla="*/ 1799205 h 1799205"/>
              </a:gdLst>
              <a:ahLst/>
              <a:cxnLst>
                <a:cxn ang="0">
                  <a:pos x="connsiteX0" y="connsiteY0"/>
                </a:cxn>
                <a:cxn ang="0">
                  <a:pos x="connsiteX1" y="connsiteY1"/>
                </a:cxn>
                <a:cxn ang="0">
                  <a:pos x="connsiteX2" y="connsiteY2"/>
                </a:cxn>
                <a:cxn ang="0">
                  <a:pos x="connsiteX3" y="connsiteY3"/>
                </a:cxn>
              </a:cxnLst>
              <a:rect l="l" t="t" r="r" b="b"/>
              <a:pathLst>
                <a:path w="605563" h="1799205">
                  <a:moveTo>
                    <a:pt x="0" y="0"/>
                  </a:moveTo>
                  <a:cubicBezTo>
                    <a:pt x="265906" y="19050"/>
                    <a:pt x="501429" y="-14617"/>
                    <a:pt x="581025" y="200025"/>
                  </a:cubicBezTo>
                  <a:cubicBezTo>
                    <a:pt x="660621" y="414667"/>
                    <a:pt x="525201" y="1044965"/>
                    <a:pt x="477576" y="1287852"/>
                  </a:cubicBezTo>
                  <a:cubicBezTo>
                    <a:pt x="429951" y="1530740"/>
                    <a:pt x="506933" y="1749199"/>
                    <a:pt x="530746" y="1799205"/>
                  </a:cubicBezTo>
                </a:path>
              </a:pathLst>
            </a:custGeom>
            <a:noFill/>
            <a:ln w="57150" cap="flat" cmpd="sng" algn="ctr">
              <a:solidFill>
                <a:srgbClr val="ABB41D"/>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grpSp>
      <p:grpSp>
        <p:nvGrpSpPr>
          <p:cNvPr id="22" name="Group 168"/>
          <p:cNvGrpSpPr/>
          <p:nvPr/>
        </p:nvGrpSpPr>
        <p:grpSpPr>
          <a:xfrm>
            <a:off x="6477000" y="2590800"/>
            <a:ext cx="1504101" cy="1590675"/>
            <a:chOff x="6387559" y="2933700"/>
            <a:chExt cx="1504101" cy="1590675"/>
          </a:xfrm>
        </p:grpSpPr>
        <p:grpSp>
          <p:nvGrpSpPr>
            <p:cNvPr id="23" name="Group 169"/>
            <p:cNvGrpSpPr/>
            <p:nvPr/>
          </p:nvGrpSpPr>
          <p:grpSpPr>
            <a:xfrm>
              <a:off x="6387559" y="2933700"/>
              <a:ext cx="1110265" cy="533400"/>
              <a:chOff x="6640902" y="1295400"/>
              <a:chExt cx="1110265" cy="533400"/>
            </a:xfrm>
          </p:grpSpPr>
          <p:sp>
            <p:nvSpPr>
              <p:cNvPr id="172" name="Oval 171"/>
              <p:cNvSpPr/>
              <p:nvPr/>
            </p:nvSpPr>
            <p:spPr>
              <a:xfrm>
                <a:off x="7239000" y="1295400"/>
                <a:ext cx="512167" cy="533400"/>
              </a:xfrm>
              <a:prstGeom prst="ellipse">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sp>
            <p:nvSpPr>
              <p:cNvPr id="173" name="Rectangle 172"/>
              <p:cNvSpPr/>
              <p:nvPr/>
            </p:nvSpPr>
            <p:spPr>
              <a:xfrm>
                <a:off x="6640902" y="13716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sp>
            <p:nvSpPr>
              <p:cNvPr id="174" name="Rectangle 173"/>
              <p:cNvSpPr/>
              <p:nvPr/>
            </p:nvSpPr>
            <p:spPr>
              <a:xfrm>
                <a:off x="6648554" y="16764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sp>
            <p:nvSpPr>
              <p:cNvPr id="175" name="Rectangle 174"/>
              <p:cNvSpPr/>
              <p:nvPr/>
            </p:nvSpPr>
            <p:spPr>
              <a:xfrm>
                <a:off x="6783673" y="1295400"/>
                <a:ext cx="737505" cy="5334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0000"/>
                    </a:solidFill>
                    <a:effectLst/>
                    <a:uLnTx/>
                    <a:uFillTx/>
                    <a:latin typeface="Arial Black" panose="020B0A04020102020204" pitchFamily="34" charset="0"/>
                    <a:ea typeface="ＭＳ Ｐゴシック"/>
                    <a:cs typeface="Aharoni" panose="02010803020104030203" pitchFamily="2" charset="-79"/>
                  </a:rPr>
                  <a:t>SIM</a:t>
                </a:r>
              </a:p>
            </p:txBody>
          </p:sp>
        </p:grpSp>
        <p:sp>
          <p:nvSpPr>
            <p:cNvPr id="171" name="Freeform 170"/>
            <p:cNvSpPr/>
            <p:nvPr/>
          </p:nvSpPr>
          <p:spPr>
            <a:xfrm>
              <a:off x="7467017" y="3180070"/>
              <a:ext cx="424643" cy="1344305"/>
            </a:xfrm>
            <a:custGeom>
              <a:avLst/>
              <a:gdLst>
                <a:gd name="connsiteX0" fmla="*/ 0 w 302886"/>
                <a:gd name="connsiteY0" fmla="*/ 0 h 866775"/>
                <a:gd name="connsiteX1" fmla="*/ 295275 w 302886"/>
                <a:gd name="connsiteY1" fmla="*/ 247650 h 866775"/>
                <a:gd name="connsiteX2" fmla="*/ 219075 w 302886"/>
                <a:gd name="connsiteY2" fmla="*/ 638175 h 866775"/>
                <a:gd name="connsiteX3" fmla="*/ 257175 w 302886"/>
                <a:gd name="connsiteY3" fmla="*/ 866775 h 866775"/>
                <a:gd name="connsiteX0" fmla="*/ 0 w 267236"/>
                <a:gd name="connsiteY0" fmla="*/ 0 h 866775"/>
                <a:gd name="connsiteX1" fmla="*/ 257175 w 267236"/>
                <a:gd name="connsiteY1" fmla="*/ 133350 h 866775"/>
                <a:gd name="connsiteX2" fmla="*/ 219075 w 267236"/>
                <a:gd name="connsiteY2" fmla="*/ 638175 h 866775"/>
                <a:gd name="connsiteX3" fmla="*/ 257175 w 267236"/>
                <a:gd name="connsiteY3" fmla="*/ 866775 h 866775"/>
                <a:gd name="connsiteX0" fmla="*/ 0 w 267236"/>
                <a:gd name="connsiteY0" fmla="*/ 594 h 867369"/>
                <a:gd name="connsiteX1" fmla="*/ 257175 w 267236"/>
                <a:gd name="connsiteY1" fmla="*/ 133944 h 867369"/>
                <a:gd name="connsiteX2" fmla="*/ 219075 w 267236"/>
                <a:gd name="connsiteY2" fmla="*/ 638769 h 867369"/>
                <a:gd name="connsiteX3" fmla="*/ 257175 w 267236"/>
                <a:gd name="connsiteY3" fmla="*/ 867369 h 867369"/>
                <a:gd name="connsiteX0" fmla="*/ 0 w 413550"/>
                <a:gd name="connsiteY0" fmla="*/ 594 h 867369"/>
                <a:gd name="connsiteX1" fmla="*/ 409575 w 413550"/>
                <a:gd name="connsiteY1" fmla="*/ 133944 h 867369"/>
                <a:gd name="connsiteX2" fmla="*/ 219075 w 413550"/>
                <a:gd name="connsiteY2" fmla="*/ 638769 h 867369"/>
                <a:gd name="connsiteX3" fmla="*/ 257175 w 413550"/>
                <a:gd name="connsiteY3" fmla="*/ 867369 h 867369"/>
                <a:gd name="connsiteX0" fmla="*/ 0 w 434273"/>
                <a:gd name="connsiteY0" fmla="*/ 1280 h 868055"/>
                <a:gd name="connsiteX1" fmla="*/ 409575 w 434273"/>
                <a:gd name="connsiteY1" fmla="*/ 134630 h 868055"/>
                <a:gd name="connsiteX2" fmla="*/ 390525 w 434273"/>
                <a:gd name="connsiteY2" fmla="*/ 791855 h 868055"/>
                <a:gd name="connsiteX3" fmla="*/ 257175 w 434273"/>
                <a:gd name="connsiteY3" fmla="*/ 868055 h 868055"/>
                <a:gd name="connsiteX0" fmla="*/ 0 w 434273"/>
                <a:gd name="connsiteY0" fmla="*/ 1280 h 1344305"/>
                <a:gd name="connsiteX1" fmla="*/ 409575 w 434273"/>
                <a:gd name="connsiteY1" fmla="*/ 134630 h 1344305"/>
                <a:gd name="connsiteX2" fmla="*/ 390525 w 434273"/>
                <a:gd name="connsiteY2" fmla="*/ 791855 h 1344305"/>
                <a:gd name="connsiteX3" fmla="*/ 400050 w 434273"/>
                <a:gd name="connsiteY3" fmla="*/ 1344305 h 1344305"/>
                <a:gd name="connsiteX0" fmla="*/ 0 w 424643"/>
                <a:gd name="connsiteY0" fmla="*/ 1280 h 1344305"/>
                <a:gd name="connsiteX1" fmla="*/ 409575 w 424643"/>
                <a:gd name="connsiteY1" fmla="*/ 134630 h 1344305"/>
                <a:gd name="connsiteX2" fmla="*/ 342900 w 424643"/>
                <a:gd name="connsiteY2" fmla="*/ 791855 h 1344305"/>
                <a:gd name="connsiteX3" fmla="*/ 400050 w 424643"/>
                <a:gd name="connsiteY3" fmla="*/ 1344305 h 1344305"/>
              </a:gdLst>
              <a:ahLst/>
              <a:cxnLst>
                <a:cxn ang="0">
                  <a:pos x="connsiteX0" y="connsiteY0"/>
                </a:cxn>
                <a:cxn ang="0">
                  <a:pos x="connsiteX1" y="connsiteY1"/>
                </a:cxn>
                <a:cxn ang="0">
                  <a:pos x="connsiteX2" y="connsiteY2"/>
                </a:cxn>
                <a:cxn ang="0">
                  <a:pos x="connsiteX3" y="connsiteY3"/>
                </a:cxn>
              </a:cxnLst>
              <a:rect l="l" t="t" r="r" b="b"/>
              <a:pathLst>
                <a:path w="424643" h="1344305">
                  <a:moveTo>
                    <a:pt x="0" y="1280"/>
                  </a:moveTo>
                  <a:cubicBezTo>
                    <a:pt x="157956" y="-4276"/>
                    <a:pt x="352425" y="2868"/>
                    <a:pt x="409575" y="134630"/>
                  </a:cubicBezTo>
                  <a:cubicBezTo>
                    <a:pt x="466725" y="266392"/>
                    <a:pt x="342900" y="669618"/>
                    <a:pt x="342900" y="791855"/>
                  </a:cubicBezTo>
                  <a:cubicBezTo>
                    <a:pt x="342900" y="914092"/>
                    <a:pt x="377825" y="1281599"/>
                    <a:pt x="400050" y="1344305"/>
                  </a:cubicBezTo>
                </a:path>
              </a:pathLst>
            </a:custGeom>
            <a:noFill/>
            <a:ln w="57150" cap="flat" cmpd="sng" algn="ctr">
              <a:solidFill>
                <a:srgbClr val="ABB41D"/>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grpSp>
      <p:sp>
        <p:nvSpPr>
          <p:cNvPr id="176" name="Rectangle 175"/>
          <p:cNvSpPr/>
          <p:nvPr/>
        </p:nvSpPr>
        <p:spPr>
          <a:xfrm>
            <a:off x="6985656" y="5747265"/>
            <a:ext cx="1701144" cy="656973"/>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1" i="0" u="none" strike="noStrike" kern="0" cap="none" spc="0" normalizeH="0" baseline="0" noProof="0" dirty="0" smtClean="0">
                <a:ln>
                  <a:noFill/>
                </a:ln>
                <a:solidFill>
                  <a:srgbClr val="F8F8F8"/>
                </a:solidFill>
                <a:effectLst/>
                <a:uLnTx/>
                <a:uFillTx/>
                <a:latin typeface="Verdana"/>
                <a:ea typeface="ＭＳ Ｐゴシック"/>
                <a:cs typeface="Arial"/>
              </a:rPr>
              <a:t>Kind/</a:t>
            </a:r>
            <a:r>
              <a:rPr kumimoji="0" lang="en-US" sz="1800" b="1" i="0" u="none" strike="noStrike" kern="0" cap="none" spc="0" normalizeH="0" baseline="0" noProof="0" dirty="0" err="1" smtClean="0">
                <a:ln>
                  <a:noFill/>
                </a:ln>
                <a:solidFill>
                  <a:srgbClr val="F8F8F8"/>
                </a:solidFill>
                <a:effectLst/>
                <a:uLnTx/>
                <a:uFillTx/>
                <a:latin typeface="Verdana"/>
                <a:ea typeface="ＭＳ Ｐゴシック"/>
                <a:cs typeface="Arial"/>
              </a:rPr>
              <a:t>JKind</a:t>
            </a:r>
            <a:endParaRPr kumimoji="0" lang="en-US" sz="1800" b="1" i="0" u="none" strike="noStrike" kern="0" cap="none" spc="0" normalizeH="0" baseline="0" noProof="0" dirty="0" smtClean="0">
              <a:ln>
                <a:noFill/>
              </a:ln>
              <a:solidFill>
                <a:srgbClr val="F8F8F8"/>
              </a:solidFill>
              <a:effectLst/>
              <a:uLnTx/>
              <a:uFillTx/>
              <a:latin typeface="Verdana"/>
              <a:ea typeface="ＭＳ Ｐゴシック"/>
              <a:cs typeface="Arial"/>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100" b="1" i="0" u="none" strike="noStrike" kern="0" cap="none" spc="0" normalizeH="0" baseline="0" noProof="0" dirty="0" smtClean="0">
                <a:ln>
                  <a:noFill/>
                </a:ln>
                <a:solidFill>
                  <a:srgbClr val="F8F8F8"/>
                </a:solidFill>
                <a:effectLst/>
                <a:uLnTx/>
                <a:uFillTx/>
                <a:latin typeface="Verdana"/>
                <a:ea typeface="ＭＳ Ｐゴシック"/>
                <a:cs typeface="Arial"/>
              </a:rPr>
              <a:t>Model Checker</a:t>
            </a:r>
            <a:endParaRPr kumimoji="0" lang="en-US" sz="1800" b="1"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grpSp>
        <p:nvGrpSpPr>
          <p:cNvPr id="24" name="Group 176"/>
          <p:cNvGrpSpPr/>
          <p:nvPr/>
        </p:nvGrpSpPr>
        <p:grpSpPr>
          <a:xfrm>
            <a:off x="6477000" y="3200400"/>
            <a:ext cx="1288220" cy="1000126"/>
            <a:chOff x="6387559" y="2933700"/>
            <a:chExt cx="1288220" cy="1000126"/>
          </a:xfrm>
        </p:grpSpPr>
        <p:grpSp>
          <p:nvGrpSpPr>
            <p:cNvPr id="25" name="Group 177"/>
            <p:cNvGrpSpPr/>
            <p:nvPr/>
          </p:nvGrpSpPr>
          <p:grpSpPr>
            <a:xfrm>
              <a:off x="6387559" y="2933700"/>
              <a:ext cx="1110265" cy="533400"/>
              <a:chOff x="6640902" y="1295400"/>
              <a:chExt cx="1110265" cy="533400"/>
            </a:xfrm>
          </p:grpSpPr>
          <p:sp>
            <p:nvSpPr>
              <p:cNvPr id="180" name="Oval 179"/>
              <p:cNvSpPr/>
              <p:nvPr/>
            </p:nvSpPr>
            <p:spPr>
              <a:xfrm>
                <a:off x="7239000" y="1295400"/>
                <a:ext cx="512167" cy="533400"/>
              </a:xfrm>
              <a:prstGeom prst="ellipse">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sp>
            <p:nvSpPr>
              <p:cNvPr id="181" name="Rectangle 180"/>
              <p:cNvSpPr/>
              <p:nvPr/>
            </p:nvSpPr>
            <p:spPr>
              <a:xfrm>
                <a:off x="6640902" y="13716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sp>
            <p:nvSpPr>
              <p:cNvPr id="182" name="Rectangle 181"/>
              <p:cNvSpPr/>
              <p:nvPr/>
            </p:nvSpPr>
            <p:spPr>
              <a:xfrm>
                <a:off x="6648554" y="16764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smtClean="0">
                  <a:ln>
                    <a:noFill/>
                  </a:ln>
                  <a:solidFill>
                    <a:srgbClr val="F8F8F8"/>
                  </a:solidFill>
                  <a:effectLst/>
                  <a:uLnTx/>
                  <a:uFillTx/>
                  <a:latin typeface="Verdana"/>
                  <a:ea typeface="ＭＳ Ｐゴシック"/>
                  <a:cs typeface="Arial"/>
                </a:endParaRPr>
              </a:p>
            </p:txBody>
          </p:sp>
          <p:sp>
            <p:nvSpPr>
              <p:cNvPr id="183" name="Rectangle 182"/>
              <p:cNvSpPr/>
              <p:nvPr/>
            </p:nvSpPr>
            <p:spPr>
              <a:xfrm>
                <a:off x="6783673" y="1295400"/>
                <a:ext cx="737505" cy="5334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dirty="0" smtClean="0">
                    <a:ln>
                      <a:noFill/>
                    </a:ln>
                    <a:solidFill>
                      <a:srgbClr val="000000"/>
                    </a:solidFill>
                    <a:effectLst/>
                    <a:uLnTx/>
                    <a:uFillTx/>
                    <a:latin typeface="Tw Cen MT" panose="020B0602020104020603" pitchFamily="34" charset="0"/>
                    <a:ea typeface="ＭＳ Ｐゴシック"/>
                    <a:cs typeface="Arial"/>
                  </a:rPr>
                  <a:t>TCG</a:t>
                </a:r>
              </a:p>
            </p:txBody>
          </p:sp>
        </p:grpSp>
        <p:sp>
          <p:nvSpPr>
            <p:cNvPr id="179" name="Freeform 178"/>
            <p:cNvSpPr/>
            <p:nvPr/>
          </p:nvSpPr>
          <p:spPr>
            <a:xfrm>
              <a:off x="7467017" y="3180964"/>
              <a:ext cx="208762" cy="752862"/>
            </a:xfrm>
            <a:custGeom>
              <a:avLst/>
              <a:gdLst>
                <a:gd name="connsiteX0" fmla="*/ 0 w 302886"/>
                <a:gd name="connsiteY0" fmla="*/ 0 h 866775"/>
                <a:gd name="connsiteX1" fmla="*/ 295275 w 302886"/>
                <a:gd name="connsiteY1" fmla="*/ 247650 h 866775"/>
                <a:gd name="connsiteX2" fmla="*/ 219075 w 302886"/>
                <a:gd name="connsiteY2" fmla="*/ 638175 h 866775"/>
                <a:gd name="connsiteX3" fmla="*/ 257175 w 302886"/>
                <a:gd name="connsiteY3" fmla="*/ 866775 h 866775"/>
                <a:gd name="connsiteX0" fmla="*/ 0 w 267236"/>
                <a:gd name="connsiteY0" fmla="*/ 0 h 866775"/>
                <a:gd name="connsiteX1" fmla="*/ 257175 w 267236"/>
                <a:gd name="connsiteY1" fmla="*/ 133350 h 866775"/>
                <a:gd name="connsiteX2" fmla="*/ 219075 w 267236"/>
                <a:gd name="connsiteY2" fmla="*/ 638175 h 866775"/>
                <a:gd name="connsiteX3" fmla="*/ 257175 w 267236"/>
                <a:gd name="connsiteY3" fmla="*/ 866775 h 866775"/>
                <a:gd name="connsiteX0" fmla="*/ 0 w 267236"/>
                <a:gd name="connsiteY0" fmla="*/ 594 h 867369"/>
                <a:gd name="connsiteX1" fmla="*/ 257175 w 267236"/>
                <a:gd name="connsiteY1" fmla="*/ 133944 h 867369"/>
                <a:gd name="connsiteX2" fmla="*/ 219075 w 267236"/>
                <a:gd name="connsiteY2" fmla="*/ 638769 h 867369"/>
                <a:gd name="connsiteX3" fmla="*/ 257175 w 267236"/>
                <a:gd name="connsiteY3" fmla="*/ 867369 h 867369"/>
                <a:gd name="connsiteX0" fmla="*/ 0 w 262756"/>
                <a:gd name="connsiteY0" fmla="*/ 387 h 867162"/>
                <a:gd name="connsiteX1" fmla="*/ 257175 w 262756"/>
                <a:gd name="connsiteY1" fmla="*/ 133737 h 867162"/>
                <a:gd name="connsiteX2" fmla="*/ 183110 w 262756"/>
                <a:gd name="connsiteY2" fmla="*/ 505212 h 867162"/>
                <a:gd name="connsiteX3" fmla="*/ 257175 w 262756"/>
                <a:gd name="connsiteY3" fmla="*/ 867162 h 867162"/>
                <a:gd name="connsiteX0" fmla="*/ 0 w 262756"/>
                <a:gd name="connsiteY0" fmla="*/ 387 h 752862"/>
                <a:gd name="connsiteX1" fmla="*/ 257175 w 262756"/>
                <a:gd name="connsiteY1" fmla="*/ 133737 h 752862"/>
                <a:gd name="connsiteX2" fmla="*/ 183110 w 262756"/>
                <a:gd name="connsiteY2" fmla="*/ 505212 h 752862"/>
                <a:gd name="connsiteX3" fmla="*/ 197233 w 262756"/>
                <a:gd name="connsiteY3" fmla="*/ 752862 h 752862"/>
              </a:gdLst>
              <a:ahLst/>
              <a:cxnLst>
                <a:cxn ang="0">
                  <a:pos x="connsiteX0" y="connsiteY0"/>
                </a:cxn>
                <a:cxn ang="0">
                  <a:pos x="connsiteX1" y="connsiteY1"/>
                </a:cxn>
                <a:cxn ang="0">
                  <a:pos x="connsiteX2" y="connsiteY2"/>
                </a:cxn>
                <a:cxn ang="0">
                  <a:pos x="connsiteX3" y="connsiteY3"/>
                </a:cxn>
              </a:cxnLst>
              <a:rect l="l" t="t" r="r" b="b"/>
              <a:pathLst>
                <a:path w="262756" h="752862">
                  <a:moveTo>
                    <a:pt x="0" y="387"/>
                  </a:moveTo>
                  <a:cubicBezTo>
                    <a:pt x="157956" y="-5169"/>
                    <a:pt x="226657" y="49600"/>
                    <a:pt x="257175" y="133737"/>
                  </a:cubicBezTo>
                  <a:cubicBezTo>
                    <a:pt x="287693" y="217874"/>
                    <a:pt x="183110" y="382975"/>
                    <a:pt x="183110" y="505212"/>
                  </a:cubicBezTo>
                  <a:cubicBezTo>
                    <a:pt x="183110" y="627449"/>
                    <a:pt x="175008" y="690156"/>
                    <a:pt x="197233" y="752862"/>
                  </a:cubicBezTo>
                </a:path>
              </a:pathLst>
            </a:custGeom>
            <a:noFill/>
            <a:ln w="57150" cap="flat" cmpd="sng" algn="ctr">
              <a:solidFill>
                <a:srgbClr val="ABB41D"/>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grpSp>
      <p:sp>
        <p:nvSpPr>
          <p:cNvPr id="93" name="Slide Number Placeholder 92"/>
          <p:cNvSpPr>
            <a:spLocks noGrp="1"/>
          </p:cNvSpPr>
          <p:nvPr>
            <p:ph type="sldNum" sz="quarter" idx="12"/>
          </p:nvPr>
        </p:nvSpPr>
        <p:spPr/>
        <p:txBody>
          <a:bodyPr/>
          <a:lstStyle/>
          <a:p>
            <a:fld id="{A3FF127A-2DBF-924B-94E1-163D8C9D5B47}" type="slidenum">
              <a:rPr lang="en-US" smtClean="0"/>
              <a:pPr/>
              <a:t>14</a:t>
            </a:fld>
            <a:endParaRPr lang="en-US"/>
          </a:p>
        </p:txBody>
      </p:sp>
      <p:sp>
        <p:nvSpPr>
          <p:cNvPr id="95" name="Footer Placeholder 94"/>
          <p:cNvSpPr>
            <a:spLocks noGrp="1"/>
          </p:cNvSpPr>
          <p:nvPr>
            <p:ph type="ftr" sz="quarter" idx="11"/>
          </p:nvPr>
        </p:nvSpPr>
        <p:spPr/>
        <p:txBody>
          <a:bodyPr/>
          <a:lstStyle/>
          <a:p>
            <a:r>
              <a:rPr lang="en-US" smtClean="0"/>
              <a:t>AMASE   </a:t>
            </a:r>
            <a:endParaRPr lang="en-US"/>
          </a:p>
        </p:txBody>
      </p:sp>
      <p:sp>
        <p:nvSpPr>
          <p:cNvPr id="96" name="Oval 95"/>
          <p:cNvSpPr/>
          <p:nvPr/>
        </p:nvSpPr>
        <p:spPr>
          <a:xfrm>
            <a:off x="6284662" y="1905000"/>
            <a:ext cx="1600546" cy="723900"/>
          </a:xfrm>
          <a:prstGeom prst="ellipse">
            <a:avLst/>
          </a:prstGeom>
          <a:noFill/>
          <a:ln w="38100" cap="flat" cmpd="sng" algn="ctr">
            <a:solidFill>
              <a:srgbClr val="FF0000"/>
            </a:solidFill>
            <a:prstDash val="solid"/>
            <a:round/>
            <a:headEnd type="none" w="med" len="med"/>
            <a:tailEnd type="none" w="med" len="med"/>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53409755"/>
      </p:ext>
    </p:extLst>
  </p:cSld>
  <p:clrMapOvr>
    <a:masterClrMapping/>
  </p:clrMapOvr>
  <p:transition/>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 name="Picture 2" descr="http://www.geemap.stat.uiowa.edu/University_of_Iowa_logo.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770630" y="2170176"/>
            <a:ext cx="1219200" cy="725424"/>
          </a:xfrm>
          <a:prstGeom prst="rect">
            <a:avLst/>
          </a:prstGeom>
          <a:noFill/>
          <a:extLst>
            <a:ext uri="{909E8E84-426E-40DD-AFC4-6F175D3DCCD1}">
              <a14:hiddenFill xmlns:a14="http://schemas.microsoft.com/office/drawing/2010/main">
                <a:solidFill>
                  <a:srgbClr val="FFFFFF"/>
                </a:solidFill>
              </a14:hiddenFill>
            </a:ext>
          </a:extLst>
        </p:spPr>
      </p:pic>
      <p:sp>
        <p:nvSpPr>
          <p:cNvPr id="4" name="Slide Number Placeholder 3"/>
          <p:cNvSpPr>
            <a:spLocks noGrp="1"/>
          </p:cNvSpPr>
          <p:nvPr>
            <p:ph type="sldNum" sz="quarter" idx="10"/>
          </p:nvPr>
        </p:nvSpPr>
        <p:spPr/>
        <p:txBody>
          <a:bodyPr/>
          <a:lstStyle/>
          <a:p>
            <a:pPr>
              <a:defRPr/>
            </a:pPr>
            <a:fld id="{F66F1AAB-BFBA-4F53-B587-234CB35509C8}" type="slidenum">
              <a:rPr lang="en-US"/>
              <a:pPr>
                <a:defRPr/>
              </a:pPr>
              <a:t>15</a:t>
            </a:fld>
            <a:endParaRPr lang="en-US"/>
          </a:p>
        </p:txBody>
      </p:sp>
      <p:sp>
        <p:nvSpPr>
          <p:cNvPr id="9219" name="Rectangle 2"/>
          <p:cNvSpPr>
            <a:spLocks noGrp="1" noChangeArrowheads="1"/>
          </p:cNvSpPr>
          <p:nvPr>
            <p:ph type="body" idx="1"/>
          </p:nvPr>
        </p:nvSpPr>
        <p:spPr>
          <a:xfrm>
            <a:off x="748076" y="1563798"/>
            <a:ext cx="5301474" cy="3810000"/>
          </a:xfrm>
          <a:noFill/>
        </p:spPr>
        <p:txBody>
          <a:bodyPr/>
          <a:lstStyle/>
          <a:p>
            <a:r>
              <a:rPr lang="en-US" altLang="en-US" sz="1400" dirty="0" smtClean="0"/>
              <a:t>Compositional verification tool for analysis of AADL system models</a:t>
            </a:r>
          </a:p>
          <a:p>
            <a:r>
              <a:rPr lang="en-US" altLang="en-US" sz="1400" dirty="0" smtClean="0"/>
              <a:t>AGREE: Assume-Guarantee Reasoning Environment</a:t>
            </a:r>
          </a:p>
          <a:p>
            <a:r>
              <a:rPr lang="en-US" altLang="en-US" sz="1400" dirty="0" smtClean="0"/>
              <a:t>Focus on system safety properties</a:t>
            </a:r>
          </a:p>
          <a:p>
            <a:r>
              <a:rPr lang="en-US" altLang="en-US" sz="1400" dirty="0" smtClean="0"/>
              <a:t>Compositional approach scales model checking to larger systems</a:t>
            </a:r>
          </a:p>
        </p:txBody>
      </p:sp>
      <p:sp>
        <p:nvSpPr>
          <p:cNvPr id="9220" name="Rectangle 3"/>
          <p:cNvSpPr>
            <a:spLocks noChangeArrowheads="1"/>
          </p:cNvSpPr>
          <p:nvPr/>
        </p:nvSpPr>
        <p:spPr bwMode="auto">
          <a:xfrm>
            <a:off x="757238" y="868363"/>
            <a:ext cx="77724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altLang="en-US" sz="2000" b="1" dirty="0" smtClean="0">
                <a:solidFill>
                  <a:schemeClr val="bg1">
                    <a:lumMod val="50000"/>
                  </a:schemeClr>
                </a:solidFill>
                <a:latin typeface="Verdana" pitchFamily="34" charset="0"/>
              </a:rPr>
              <a:t>Compositional Verification of Critical Systems</a:t>
            </a:r>
            <a:endParaRPr lang="en-US" altLang="en-US" sz="2000" b="1" dirty="0">
              <a:solidFill>
                <a:schemeClr val="bg1">
                  <a:lumMod val="50000"/>
                </a:schemeClr>
              </a:solidFill>
              <a:latin typeface="Verdana" pitchFamily="34" charset="0"/>
            </a:endParaRPr>
          </a:p>
        </p:txBody>
      </p:sp>
      <p:pic>
        <p:nvPicPr>
          <p:cNvPr id="5" name="Picture 6" descr="http://upload.wikimedia.org/wikipedia/commons/thumb/e/e5/NASA_logo.svg/290px-NASA_logo.svg.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32630" y="1371600"/>
            <a:ext cx="1306570" cy="1112837"/>
          </a:xfrm>
          <a:prstGeom prst="rect">
            <a:avLst/>
          </a:prstGeom>
          <a:noFill/>
          <a:extLst>
            <a:ext uri="{909E8E84-426E-40DD-AFC4-6F175D3DCCD1}">
              <a14:hiddenFill xmlns:a14="http://schemas.microsoft.com/office/drawing/2010/main">
                <a:solidFill>
                  <a:srgbClr val="FFFFFF"/>
                </a:solidFill>
              </a14:hiddenFill>
            </a:ext>
          </a:extLst>
        </p:spPr>
      </p:pic>
      <p:grpSp>
        <p:nvGrpSpPr>
          <p:cNvPr id="2" name="Group 6"/>
          <p:cNvGrpSpPr/>
          <p:nvPr/>
        </p:nvGrpSpPr>
        <p:grpSpPr>
          <a:xfrm>
            <a:off x="1058541" y="4131785"/>
            <a:ext cx="3973458" cy="1771543"/>
            <a:chOff x="4038600" y="3886200"/>
            <a:chExt cx="4800601" cy="2140321"/>
          </a:xfrm>
        </p:grpSpPr>
        <p:sp>
          <p:nvSpPr>
            <p:cNvPr id="10" name="Rectangle 9"/>
            <p:cNvSpPr/>
            <p:nvPr/>
          </p:nvSpPr>
          <p:spPr>
            <a:xfrm>
              <a:off x="4038600" y="3886200"/>
              <a:ext cx="4800600" cy="2133600"/>
            </a:xfrm>
            <a:prstGeom prst="rect">
              <a:avLst/>
            </a:prstGeom>
            <a:ln>
              <a:solidFill>
                <a:schemeClr val="tx2"/>
              </a:solidFill>
            </a:ln>
          </p:spPr>
          <p:style>
            <a:lnRef idx="2">
              <a:schemeClr val="accent1"/>
            </a:lnRef>
            <a:fillRef idx="1">
              <a:schemeClr val="lt1"/>
            </a:fillRef>
            <a:effectRef idx="0">
              <a:schemeClr val="accent1"/>
            </a:effectRef>
            <a:fontRef idx="minor">
              <a:schemeClr val="dk1"/>
            </a:fontRef>
          </p:style>
          <p:txBody>
            <a:bodyPr anchor="ctr"/>
            <a:lstStyle/>
            <a:p>
              <a:pPr algn="ctr" fontAlgn="auto">
                <a:spcBef>
                  <a:spcPts val="0"/>
                </a:spcBef>
                <a:spcAft>
                  <a:spcPts val="0"/>
                </a:spcAft>
                <a:defRPr/>
              </a:pPr>
              <a:endParaRPr lang="en-US" sz="1400"/>
            </a:p>
          </p:txBody>
        </p:sp>
        <p:cxnSp>
          <p:nvCxnSpPr>
            <p:cNvPr id="11" name="Straight Connector 10"/>
            <p:cNvCxnSpPr>
              <a:stCxn id="24" idx="0"/>
              <a:endCxn id="33" idx="3"/>
            </p:cNvCxnSpPr>
            <p:nvPr/>
          </p:nvCxnSpPr>
          <p:spPr>
            <a:xfrm>
              <a:off x="4090988" y="4279900"/>
              <a:ext cx="357187" cy="3175"/>
            </a:xfrm>
            <a:prstGeom prst="line">
              <a:avLst/>
            </a:prstGeom>
          </p:spPr>
          <p:style>
            <a:lnRef idx="1">
              <a:schemeClr val="dk1"/>
            </a:lnRef>
            <a:fillRef idx="0">
              <a:schemeClr val="dk1"/>
            </a:fillRef>
            <a:effectRef idx="0">
              <a:schemeClr val="dk1"/>
            </a:effectRef>
            <a:fontRef idx="minor">
              <a:schemeClr val="tx1"/>
            </a:fontRef>
          </p:style>
        </p:cxnSp>
        <p:cxnSp>
          <p:nvCxnSpPr>
            <p:cNvPr id="12" name="Straight Connector 34"/>
            <p:cNvCxnSpPr>
              <a:stCxn id="34" idx="0"/>
              <a:endCxn id="30" idx="3"/>
            </p:cNvCxnSpPr>
            <p:nvPr/>
          </p:nvCxnSpPr>
          <p:spPr>
            <a:xfrm>
              <a:off x="5562601" y="4283075"/>
              <a:ext cx="333375" cy="1125538"/>
            </a:xfrm>
            <a:prstGeom prst="bent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13" name="Straight Connector 36"/>
            <p:cNvCxnSpPr>
              <a:stCxn id="31" idx="0"/>
              <a:endCxn id="26" idx="3"/>
            </p:cNvCxnSpPr>
            <p:nvPr/>
          </p:nvCxnSpPr>
          <p:spPr>
            <a:xfrm flipV="1">
              <a:off x="7010401" y="4487069"/>
              <a:ext cx="380999" cy="921544"/>
            </a:xfrm>
            <a:prstGeom prst="bent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14" name="Straight Connector 13"/>
            <p:cNvCxnSpPr>
              <a:stCxn id="34" idx="0"/>
              <a:endCxn id="27" idx="3"/>
            </p:cNvCxnSpPr>
            <p:nvPr/>
          </p:nvCxnSpPr>
          <p:spPr>
            <a:xfrm flipV="1">
              <a:off x="5562601" y="4282283"/>
              <a:ext cx="1828799" cy="792"/>
            </a:xfrm>
            <a:prstGeom prst="line">
              <a:avLst/>
            </a:prstGeom>
          </p:spPr>
          <p:style>
            <a:lnRef idx="1">
              <a:schemeClr val="dk1"/>
            </a:lnRef>
            <a:fillRef idx="0">
              <a:schemeClr val="dk1"/>
            </a:fillRef>
            <a:effectRef idx="0">
              <a:schemeClr val="dk1"/>
            </a:effectRef>
            <a:fontRef idx="minor">
              <a:schemeClr val="tx1"/>
            </a:fontRef>
          </p:style>
        </p:cxnSp>
        <p:cxnSp>
          <p:nvCxnSpPr>
            <p:cNvPr id="15" name="Straight Connector 14"/>
            <p:cNvCxnSpPr>
              <a:stCxn id="28" idx="0"/>
              <a:endCxn id="19" idx="3"/>
            </p:cNvCxnSpPr>
            <p:nvPr/>
          </p:nvCxnSpPr>
          <p:spPr>
            <a:xfrm>
              <a:off x="8504238" y="4384675"/>
              <a:ext cx="282576" cy="0"/>
            </a:xfrm>
            <a:prstGeom prst="line">
              <a:avLst/>
            </a:prstGeom>
          </p:spPr>
          <p:style>
            <a:lnRef idx="1">
              <a:schemeClr val="dk1"/>
            </a:lnRef>
            <a:fillRef idx="0">
              <a:schemeClr val="dk1"/>
            </a:fillRef>
            <a:effectRef idx="0">
              <a:schemeClr val="dk1"/>
            </a:effectRef>
            <a:fontRef idx="minor">
              <a:schemeClr val="tx1"/>
            </a:fontRef>
          </p:style>
        </p:cxnSp>
        <p:grpSp>
          <p:nvGrpSpPr>
            <p:cNvPr id="6" name="Group 15"/>
            <p:cNvGrpSpPr/>
            <p:nvPr/>
          </p:nvGrpSpPr>
          <p:grpSpPr>
            <a:xfrm>
              <a:off x="4448175" y="3975100"/>
              <a:ext cx="1114425" cy="614363"/>
              <a:chOff x="3800475" y="4076700"/>
              <a:chExt cx="1114425" cy="614363"/>
            </a:xfrm>
          </p:grpSpPr>
          <p:sp>
            <p:nvSpPr>
              <p:cNvPr id="32" name="Rectangle 31"/>
              <p:cNvSpPr>
                <a:spLocks noChangeArrowheads="1"/>
              </p:cNvSpPr>
              <p:nvPr/>
            </p:nvSpPr>
            <p:spPr bwMode="auto">
              <a:xfrm>
                <a:off x="3800475" y="4076700"/>
                <a:ext cx="1114425" cy="614363"/>
              </a:xfrm>
              <a:prstGeom prst="rect">
                <a:avLst/>
              </a:prstGeom>
              <a:solidFill>
                <a:schemeClr val="tx2"/>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algn="ctr"/>
                <a:r>
                  <a:rPr lang="en-US" sz="1600" b="1">
                    <a:solidFill>
                      <a:srgbClr val="FFFFFF"/>
                    </a:solidFill>
                    <a:latin typeface="Verdana" pitchFamily="34" charset="0"/>
                  </a:rPr>
                  <a:t>A</a:t>
                </a:r>
              </a:p>
            </p:txBody>
          </p:sp>
          <p:sp>
            <p:nvSpPr>
              <p:cNvPr id="33" name="Isosceles Triangle 32"/>
              <p:cNvSpPr>
                <a:spLocks noChangeArrowheads="1"/>
              </p:cNvSpPr>
              <p:nvPr/>
            </p:nvSpPr>
            <p:spPr bwMode="auto">
              <a:xfrm rot="5400000">
                <a:off x="3801269" y="4358481"/>
                <a:ext cx="50800"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a:solidFill>
                    <a:schemeClr val="lt1"/>
                  </a:solidFill>
                  <a:latin typeface="+mn-lt"/>
                  <a:cs typeface="+mn-cs"/>
                </a:endParaRPr>
              </a:p>
            </p:txBody>
          </p:sp>
          <p:sp>
            <p:nvSpPr>
              <p:cNvPr id="34" name="Isosceles Triangle 33"/>
              <p:cNvSpPr>
                <a:spLocks noChangeArrowheads="1"/>
              </p:cNvSpPr>
              <p:nvPr/>
            </p:nvSpPr>
            <p:spPr bwMode="auto">
              <a:xfrm rot="5400000">
                <a:off x="4862513" y="4357687"/>
                <a:ext cx="50800" cy="53975"/>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a:solidFill>
                    <a:schemeClr val="lt1"/>
                  </a:solidFill>
                  <a:latin typeface="+mn-lt"/>
                  <a:cs typeface="+mn-cs"/>
                </a:endParaRPr>
              </a:p>
            </p:txBody>
          </p:sp>
        </p:grpSp>
        <p:grpSp>
          <p:nvGrpSpPr>
            <p:cNvPr id="7" name="Group 16"/>
            <p:cNvGrpSpPr/>
            <p:nvPr/>
          </p:nvGrpSpPr>
          <p:grpSpPr>
            <a:xfrm>
              <a:off x="5884862" y="5075238"/>
              <a:ext cx="1125538" cy="614362"/>
              <a:chOff x="5486400" y="5075238"/>
              <a:chExt cx="1125538" cy="614362"/>
            </a:xfrm>
          </p:grpSpPr>
          <p:sp>
            <p:nvSpPr>
              <p:cNvPr id="29" name="Rectangle 28"/>
              <p:cNvSpPr>
                <a:spLocks noChangeArrowheads="1"/>
              </p:cNvSpPr>
              <p:nvPr/>
            </p:nvSpPr>
            <p:spPr bwMode="auto">
              <a:xfrm>
                <a:off x="5486400" y="5075238"/>
                <a:ext cx="1114425" cy="614362"/>
              </a:xfrm>
              <a:prstGeom prst="rect">
                <a:avLst/>
              </a:prstGeom>
              <a:solidFill>
                <a:schemeClr val="tx2"/>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algn="ctr"/>
                <a:r>
                  <a:rPr lang="en-US" sz="1600" b="1" dirty="0">
                    <a:solidFill>
                      <a:srgbClr val="FFFFFF"/>
                    </a:solidFill>
                    <a:latin typeface="Verdana" pitchFamily="34" charset="0"/>
                  </a:rPr>
                  <a:t>B</a:t>
                </a:r>
              </a:p>
            </p:txBody>
          </p:sp>
          <p:sp>
            <p:nvSpPr>
              <p:cNvPr id="30" name="Isosceles Triangle 29"/>
              <p:cNvSpPr>
                <a:spLocks noChangeArrowheads="1"/>
              </p:cNvSpPr>
              <p:nvPr/>
            </p:nvSpPr>
            <p:spPr bwMode="auto">
              <a:xfrm rot="5400000">
                <a:off x="5498307" y="5382419"/>
                <a:ext cx="50800" cy="52387"/>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a:solidFill>
                    <a:schemeClr val="lt1"/>
                  </a:solidFill>
                  <a:latin typeface="+mn-lt"/>
                  <a:cs typeface="+mn-cs"/>
                </a:endParaRPr>
              </a:p>
            </p:txBody>
          </p:sp>
          <p:sp>
            <p:nvSpPr>
              <p:cNvPr id="31" name="Isosceles Triangle 30"/>
              <p:cNvSpPr>
                <a:spLocks noChangeArrowheads="1"/>
              </p:cNvSpPr>
              <p:nvPr/>
            </p:nvSpPr>
            <p:spPr bwMode="auto">
              <a:xfrm rot="5400000">
                <a:off x="6559551" y="5381625"/>
                <a:ext cx="50800" cy="53975"/>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a:solidFill>
                    <a:schemeClr val="lt1"/>
                  </a:solidFill>
                  <a:latin typeface="+mn-lt"/>
                  <a:cs typeface="+mn-cs"/>
                </a:endParaRPr>
              </a:p>
            </p:txBody>
          </p:sp>
        </p:grpSp>
        <p:grpSp>
          <p:nvGrpSpPr>
            <p:cNvPr id="8" name="Group 17"/>
            <p:cNvGrpSpPr/>
            <p:nvPr/>
          </p:nvGrpSpPr>
          <p:grpSpPr>
            <a:xfrm>
              <a:off x="7391400" y="4051300"/>
              <a:ext cx="1112838" cy="614363"/>
              <a:chOff x="7248525" y="4051300"/>
              <a:chExt cx="1112838" cy="614363"/>
            </a:xfrm>
          </p:grpSpPr>
          <p:sp>
            <p:nvSpPr>
              <p:cNvPr id="25" name="Rectangle 24"/>
              <p:cNvSpPr>
                <a:spLocks noChangeArrowheads="1"/>
              </p:cNvSpPr>
              <p:nvPr/>
            </p:nvSpPr>
            <p:spPr bwMode="auto">
              <a:xfrm>
                <a:off x="7248525" y="4051300"/>
                <a:ext cx="1112838" cy="614363"/>
              </a:xfrm>
              <a:prstGeom prst="rect">
                <a:avLst/>
              </a:prstGeom>
              <a:solidFill>
                <a:schemeClr val="tx2"/>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algn="ctr"/>
                <a:r>
                  <a:rPr lang="en-US" sz="1600" b="1">
                    <a:solidFill>
                      <a:srgbClr val="FFFFFF"/>
                    </a:solidFill>
                    <a:latin typeface="Verdana" pitchFamily="34" charset="0"/>
                  </a:rPr>
                  <a:t>C</a:t>
                </a:r>
              </a:p>
            </p:txBody>
          </p:sp>
          <p:sp>
            <p:nvSpPr>
              <p:cNvPr id="26" name="Isosceles Triangle 25"/>
              <p:cNvSpPr>
                <a:spLocks noChangeArrowheads="1"/>
              </p:cNvSpPr>
              <p:nvPr/>
            </p:nvSpPr>
            <p:spPr bwMode="auto">
              <a:xfrm rot="5400000">
                <a:off x="7248525" y="4460875"/>
                <a:ext cx="52388"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a:solidFill>
                    <a:schemeClr val="lt1"/>
                  </a:solidFill>
                  <a:latin typeface="+mn-lt"/>
                  <a:cs typeface="+mn-cs"/>
                </a:endParaRPr>
              </a:p>
            </p:txBody>
          </p:sp>
          <p:sp>
            <p:nvSpPr>
              <p:cNvPr id="27" name="Isosceles Triangle 26"/>
              <p:cNvSpPr>
                <a:spLocks noChangeArrowheads="1"/>
              </p:cNvSpPr>
              <p:nvPr/>
            </p:nvSpPr>
            <p:spPr bwMode="auto">
              <a:xfrm rot="5400000">
                <a:off x="7248525" y="4256088"/>
                <a:ext cx="52387"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a:solidFill>
                    <a:schemeClr val="lt1"/>
                  </a:solidFill>
                  <a:latin typeface="+mn-lt"/>
                  <a:cs typeface="+mn-cs"/>
                </a:endParaRPr>
              </a:p>
            </p:txBody>
          </p:sp>
          <p:sp>
            <p:nvSpPr>
              <p:cNvPr id="28" name="Isosceles Triangle 27"/>
              <p:cNvSpPr>
                <a:spLocks noChangeArrowheads="1"/>
              </p:cNvSpPr>
              <p:nvPr/>
            </p:nvSpPr>
            <p:spPr bwMode="auto">
              <a:xfrm rot="5400000">
                <a:off x="8309769" y="4358481"/>
                <a:ext cx="50800"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a:solidFill>
                    <a:schemeClr val="lt1"/>
                  </a:solidFill>
                  <a:latin typeface="+mn-lt"/>
                  <a:cs typeface="+mn-cs"/>
                </a:endParaRPr>
              </a:p>
            </p:txBody>
          </p:sp>
        </p:grpSp>
        <p:sp>
          <p:nvSpPr>
            <p:cNvPr id="19" name="Isosceles Triangle 18"/>
            <p:cNvSpPr>
              <a:spLocks noChangeArrowheads="1"/>
            </p:cNvSpPr>
            <p:nvPr/>
          </p:nvSpPr>
          <p:spPr bwMode="auto">
            <a:xfrm rot="5400000">
              <a:off x="8787607" y="4358481"/>
              <a:ext cx="50800" cy="52387"/>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a:solidFill>
                  <a:schemeClr val="lt1"/>
                </a:solidFill>
                <a:latin typeface="+mn-lt"/>
                <a:cs typeface="+mn-cs"/>
              </a:endParaRPr>
            </a:p>
          </p:txBody>
        </p:sp>
        <p:sp>
          <p:nvSpPr>
            <p:cNvPr id="20" name="TextBox 43"/>
            <p:cNvSpPr txBox="1">
              <a:spLocks noChangeArrowheads="1"/>
            </p:cNvSpPr>
            <p:nvPr/>
          </p:nvSpPr>
          <p:spPr bwMode="auto">
            <a:xfrm>
              <a:off x="4227513" y="4571999"/>
              <a:ext cx="1639889" cy="3718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a:latin typeface="Calibri" pitchFamily="34" charset="0"/>
                </a:rPr>
                <a:t>Assumption: Input &lt; 20</a:t>
              </a:r>
            </a:p>
            <a:p>
              <a:r>
                <a:rPr lang="en-US" sz="700">
                  <a:latin typeface="Calibri" pitchFamily="34" charset="0"/>
                </a:rPr>
                <a:t>Guarantee: Output &lt; 2*Input</a:t>
              </a:r>
            </a:p>
          </p:txBody>
        </p:sp>
        <p:sp>
          <p:nvSpPr>
            <p:cNvPr id="21" name="TextBox 44"/>
            <p:cNvSpPr txBox="1">
              <a:spLocks noChangeArrowheads="1"/>
            </p:cNvSpPr>
            <p:nvPr/>
          </p:nvSpPr>
          <p:spPr bwMode="auto">
            <a:xfrm>
              <a:off x="5724523" y="5654675"/>
              <a:ext cx="1743075" cy="3718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a:latin typeface="Calibri" pitchFamily="34" charset="0"/>
                </a:rPr>
                <a:t>Assumption: Input &lt; 20</a:t>
              </a:r>
            </a:p>
            <a:p>
              <a:r>
                <a:rPr lang="en-US" sz="700">
                  <a:latin typeface="Calibri" pitchFamily="34" charset="0"/>
                </a:rPr>
                <a:t>Guarantee: Output &lt; Input + 15</a:t>
              </a:r>
            </a:p>
          </p:txBody>
        </p:sp>
        <p:sp>
          <p:nvSpPr>
            <p:cNvPr id="22" name="TextBox 45"/>
            <p:cNvSpPr txBox="1">
              <a:spLocks noChangeArrowheads="1"/>
            </p:cNvSpPr>
            <p:nvPr/>
          </p:nvSpPr>
          <p:spPr bwMode="auto">
            <a:xfrm>
              <a:off x="7300913" y="4648200"/>
              <a:ext cx="1538287" cy="5019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none</a:t>
              </a:r>
            </a:p>
            <a:p>
              <a:r>
                <a:rPr lang="en-US" sz="700" dirty="0">
                  <a:latin typeface="Calibri" pitchFamily="34" charset="0"/>
                </a:rPr>
                <a:t>Guarantee: Output = Input1 + Input2</a:t>
              </a:r>
            </a:p>
          </p:txBody>
        </p:sp>
        <p:sp>
          <p:nvSpPr>
            <p:cNvPr id="23" name="TextBox 46"/>
            <p:cNvSpPr txBox="1">
              <a:spLocks noChangeArrowheads="1"/>
            </p:cNvSpPr>
            <p:nvPr/>
          </p:nvSpPr>
          <p:spPr bwMode="auto">
            <a:xfrm>
              <a:off x="7443790" y="5650467"/>
              <a:ext cx="1395411" cy="371846"/>
            </a:xfrm>
            <a:prstGeom prst="rect">
              <a:avLst/>
            </a:prstGeom>
            <a:noFill/>
            <a:ln w="19050">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Input &lt; 10</a:t>
              </a:r>
            </a:p>
            <a:p>
              <a:r>
                <a:rPr lang="en-US" sz="700" dirty="0">
                  <a:latin typeface="Calibri" pitchFamily="34" charset="0"/>
                </a:rPr>
                <a:t>Guarantee: Output &lt; 50</a:t>
              </a:r>
            </a:p>
          </p:txBody>
        </p:sp>
        <p:sp>
          <p:nvSpPr>
            <p:cNvPr id="24" name="Isosceles Triangle 17"/>
            <p:cNvSpPr>
              <a:spLocks noChangeArrowheads="1"/>
            </p:cNvSpPr>
            <p:nvPr/>
          </p:nvSpPr>
          <p:spPr bwMode="auto">
            <a:xfrm rot="5400000">
              <a:off x="4039394" y="4253706"/>
              <a:ext cx="50800"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a:solidFill>
                  <a:schemeClr val="lt1"/>
                </a:solidFill>
                <a:latin typeface="+mn-lt"/>
                <a:cs typeface="+mn-cs"/>
              </a:endParaRPr>
            </a:p>
          </p:txBody>
        </p:sp>
      </p:grpSp>
      <p:grpSp>
        <p:nvGrpSpPr>
          <p:cNvPr id="9" name="Group 1"/>
          <p:cNvGrpSpPr/>
          <p:nvPr/>
        </p:nvGrpSpPr>
        <p:grpSpPr>
          <a:xfrm>
            <a:off x="5589511" y="3876422"/>
            <a:ext cx="3276637" cy="2265576"/>
            <a:chOff x="2145684" y="1306945"/>
            <a:chExt cx="4611948" cy="3188855"/>
          </a:xfrm>
        </p:grpSpPr>
        <p:grpSp>
          <p:nvGrpSpPr>
            <p:cNvPr id="16" name="Group 34"/>
            <p:cNvGrpSpPr/>
            <p:nvPr/>
          </p:nvGrpSpPr>
          <p:grpSpPr>
            <a:xfrm flipH="1">
              <a:off x="3200400" y="3152217"/>
              <a:ext cx="2590800" cy="855847"/>
              <a:chOff x="3333844" y="3295554"/>
              <a:chExt cx="2590800" cy="855847"/>
            </a:xfrm>
          </p:grpSpPr>
          <p:cxnSp>
            <p:nvCxnSpPr>
              <p:cNvPr id="36" name="Straight Arrow Connector 35"/>
              <p:cNvCxnSpPr/>
              <p:nvPr/>
            </p:nvCxnSpPr>
            <p:spPr>
              <a:xfrm flipH="1" flipV="1">
                <a:off x="3755871" y="3299408"/>
                <a:ext cx="2168773" cy="762000"/>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37" name="Straight Arrow Connector 36"/>
              <p:cNvCxnSpPr/>
              <p:nvPr/>
            </p:nvCxnSpPr>
            <p:spPr>
              <a:xfrm flipH="1" flipV="1">
                <a:off x="3581400" y="3299408"/>
                <a:ext cx="1438324" cy="762002"/>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38" name="Straight Arrow Connector 37"/>
              <p:cNvCxnSpPr/>
              <p:nvPr/>
            </p:nvCxnSpPr>
            <p:spPr>
              <a:xfrm flipH="1" flipV="1">
                <a:off x="3457616" y="3299408"/>
                <a:ext cx="682370" cy="762001"/>
              </a:xfrm>
              <a:prstGeom prst="straightConnector1">
                <a:avLst/>
              </a:prstGeom>
              <a:ln>
                <a:solidFill>
                  <a:srgbClr val="FF0000"/>
                </a:solidFill>
                <a:miter lim="800000"/>
                <a:tailEnd type="none"/>
              </a:ln>
              <a:effectLst>
                <a:outerShdw blurRad="40000" dist="20000" dir="5400000" rotWithShape="0">
                  <a:srgbClr val="3366FF">
                    <a:alpha val="38000"/>
                  </a:srgbClr>
                </a:outerShdw>
              </a:effectLst>
            </p:spPr>
            <p:style>
              <a:lnRef idx="2">
                <a:schemeClr val="accent1"/>
              </a:lnRef>
              <a:fillRef idx="0">
                <a:schemeClr val="accent1"/>
              </a:fillRef>
              <a:effectRef idx="1">
                <a:schemeClr val="accent1"/>
              </a:effectRef>
              <a:fontRef idx="minor">
                <a:schemeClr val="tx1"/>
              </a:fontRef>
            </p:style>
          </p:cxnSp>
          <p:cxnSp>
            <p:nvCxnSpPr>
              <p:cNvPr id="39" name="Straight Arrow Connector 38"/>
              <p:cNvCxnSpPr/>
              <p:nvPr/>
            </p:nvCxnSpPr>
            <p:spPr>
              <a:xfrm flipV="1">
                <a:off x="3333844" y="3295554"/>
                <a:ext cx="0" cy="855847"/>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grpSp>
        <p:cxnSp>
          <p:nvCxnSpPr>
            <p:cNvPr id="40" name="Straight Arrow Connector 39"/>
            <p:cNvCxnSpPr/>
            <p:nvPr/>
          </p:nvCxnSpPr>
          <p:spPr>
            <a:xfrm flipH="1" flipV="1">
              <a:off x="3603471" y="3147008"/>
              <a:ext cx="2168773" cy="762000"/>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41" name="Straight Arrow Connector 40"/>
            <p:cNvCxnSpPr/>
            <p:nvPr/>
          </p:nvCxnSpPr>
          <p:spPr>
            <a:xfrm flipH="1" flipV="1">
              <a:off x="3429000" y="3147008"/>
              <a:ext cx="1438324" cy="762002"/>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42" name="Straight Arrow Connector 41"/>
            <p:cNvCxnSpPr/>
            <p:nvPr/>
          </p:nvCxnSpPr>
          <p:spPr>
            <a:xfrm flipH="1" flipV="1">
              <a:off x="3305216" y="3147008"/>
              <a:ext cx="682370" cy="762001"/>
            </a:xfrm>
            <a:prstGeom prst="straightConnector1">
              <a:avLst/>
            </a:prstGeom>
            <a:ln>
              <a:solidFill>
                <a:srgbClr val="0000FF"/>
              </a:solidFill>
              <a:miter lim="800000"/>
              <a:tailEnd type="none"/>
            </a:ln>
            <a:effectLst>
              <a:outerShdw blurRad="40000" dist="20000" dir="5400000" rotWithShape="0">
                <a:srgbClr val="3366FF">
                  <a:alpha val="38000"/>
                </a:srgbClr>
              </a:outerShdw>
            </a:effectLst>
          </p:spPr>
          <p:style>
            <a:lnRef idx="2">
              <a:schemeClr val="accent1"/>
            </a:lnRef>
            <a:fillRef idx="0">
              <a:schemeClr val="accent1"/>
            </a:fillRef>
            <a:effectRef idx="1">
              <a:schemeClr val="accent1"/>
            </a:effectRef>
            <a:fontRef idx="minor">
              <a:schemeClr val="tx1"/>
            </a:fontRef>
          </p:style>
        </p:cxnSp>
        <p:cxnSp>
          <p:nvCxnSpPr>
            <p:cNvPr id="43" name="Straight Arrow Connector 42"/>
            <p:cNvCxnSpPr/>
            <p:nvPr/>
          </p:nvCxnSpPr>
          <p:spPr>
            <a:xfrm flipV="1">
              <a:off x="3181444" y="3143154"/>
              <a:ext cx="0" cy="855847"/>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sp>
          <p:nvSpPr>
            <p:cNvPr id="44" name="Freeform 43"/>
            <p:cNvSpPr/>
            <p:nvPr/>
          </p:nvSpPr>
          <p:spPr>
            <a:xfrm>
              <a:off x="3276600" y="1306945"/>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5" name="Freeform 44"/>
            <p:cNvSpPr/>
            <p:nvPr/>
          </p:nvSpPr>
          <p:spPr>
            <a:xfrm>
              <a:off x="4495800" y="1306945"/>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6" name="Freeform 45"/>
            <p:cNvSpPr/>
            <p:nvPr/>
          </p:nvSpPr>
          <p:spPr>
            <a:xfrm>
              <a:off x="2145684" y="1828800"/>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7" name="Freeform 46"/>
            <p:cNvSpPr/>
            <p:nvPr/>
          </p:nvSpPr>
          <p:spPr>
            <a:xfrm>
              <a:off x="5626716" y="1837961"/>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8" name="Freeform 47"/>
            <p:cNvSpPr/>
            <p:nvPr/>
          </p:nvSpPr>
          <p:spPr>
            <a:xfrm>
              <a:off x="2934678" y="3847300"/>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sp>
          <p:nvSpPr>
            <p:cNvPr id="49" name="Freeform 48"/>
            <p:cNvSpPr/>
            <p:nvPr/>
          </p:nvSpPr>
          <p:spPr>
            <a:xfrm>
              <a:off x="3745884" y="3845499"/>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sp>
          <p:nvSpPr>
            <p:cNvPr id="50" name="Freeform 49"/>
            <p:cNvSpPr/>
            <p:nvPr/>
          </p:nvSpPr>
          <p:spPr>
            <a:xfrm>
              <a:off x="4572000" y="3847300"/>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sp>
          <p:nvSpPr>
            <p:cNvPr id="51" name="Freeform 50"/>
            <p:cNvSpPr/>
            <p:nvPr/>
          </p:nvSpPr>
          <p:spPr>
            <a:xfrm>
              <a:off x="5410200" y="3845499"/>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cxnSp>
          <p:nvCxnSpPr>
            <p:cNvPr id="52" name="Straight Arrow Connector 51"/>
            <p:cNvCxnSpPr/>
            <p:nvPr/>
          </p:nvCxnSpPr>
          <p:spPr>
            <a:xfrm>
              <a:off x="3276600" y="1981200"/>
              <a:ext cx="1784658" cy="762000"/>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3" name="Straight Arrow Connector 52"/>
            <p:cNvCxnSpPr/>
            <p:nvPr/>
          </p:nvCxnSpPr>
          <p:spPr>
            <a:xfrm>
              <a:off x="3603471" y="1699208"/>
              <a:ext cx="1578129" cy="887917"/>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4" name="Straight Arrow Connector 53"/>
            <p:cNvCxnSpPr/>
            <p:nvPr/>
          </p:nvCxnSpPr>
          <p:spPr>
            <a:xfrm>
              <a:off x="5257800" y="1699208"/>
              <a:ext cx="152400" cy="887917"/>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5" name="Straight Arrow Connector 54"/>
            <p:cNvCxnSpPr/>
            <p:nvPr/>
          </p:nvCxnSpPr>
          <p:spPr>
            <a:xfrm flipH="1">
              <a:off x="5626716" y="2221063"/>
              <a:ext cx="240684" cy="366062"/>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6" name="Straight Arrow Connector 55"/>
            <p:cNvCxnSpPr/>
            <p:nvPr/>
          </p:nvCxnSpPr>
          <p:spPr>
            <a:xfrm flipH="1">
              <a:off x="3835186" y="1977346"/>
              <a:ext cx="1784658" cy="762000"/>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7" name="Straight Arrow Connector 56"/>
            <p:cNvCxnSpPr/>
            <p:nvPr/>
          </p:nvCxnSpPr>
          <p:spPr>
            <a:xfrm flipH="1">
              <a:off x="3714844" y="1695354"/>
              <a:ext cx="1578129" cy="887917"/>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8" name="Straight Arrow Connector 57"/>
            <p:cNvCxnSpPr/>
            <p:nvPr/>
          </p:nvCxnSpPr>
          <p:spPr>
            <a:xfrm flipH="1">
              <a:off x="3486244" y="1695354"/>
              <a:ext cx="152400" cy="887917"/>
            </a:xfrm>
            <a:prstGeom prst="straightConnector1">
              <a:avLst/>
            </a:prstGeom>
            <a:ln>
              <a:solidFill>
                <a:srgbClr val="0000FF"/>
              </a:solidFill>
              <a:miter lim="800000"/>
              <a:tailEnd type="none"/>
            </a:ln>
            <a:effectLst>
              <a:outerShdw blurRad="40000" dist="20000" dir="5400000" rotWithShape="0">
                <a:srgbClr val="3366FF">
                  <a:alpha val="38000"/>
                </a:srgbClr>
              </a:outerShdw>
            </a:effectLst>
          </p:spPr>
          <p:style>
            <a:lnRef idx="2">
              <a:schemeClr val="accent1"/>
            </a:lnRef>
            <a:fillRef idx="0">
              <a:schemeClr val="accent1"/>
            </a:fillRef>
            <a:effectRef idx="1">
              <a:schemeClr val="accent1"/>
            </a:effectRef>
            <a:fontRef idx="minor">
              <a:schemeClr val="tx1"/>
            </a:fontRef>
          </p:style>
        </p:cxnSp>
        <p:cxnSp>
          <p:nvCxnSpPr>
            <p:cNvPr id="59" name="Straight Arrow Connector 58"/>
            <p:cNvCxnSpPr/>
            <p:nvPr/>
          </p:nvCxnSpPr>
          <p:spPr>
            <a:xfrm>
              <a:off x="3029044" y="2217209"/>
              <a:ext cx="240684" cy="366062"/>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sp>
          <p:nvSpPr>
            <p:cNvPr id="60" name="Freeform 59"/>
            <p:cNvSpPr/>
            <p:nvPr/>
          </p:nvSpPr>
          <p:spPr>
            <a:xfrm>
              <a:off x="5061258" y="2438400"/>
              <a:ext cx="1130916" cy="8009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AFDX </a:t>
              </a:r>
              <a:r>
                <a:rPr lang="en-US" sz="1000" dirty="0" smtClean="0">
                  <a:latin typeface="Arial"/>
                  <a:cs typeface="Arial"/>
                </a:rPr>
                <a:t>or</a:t>
              </a:r>
            </a:p>
            <a:p>
              <a:pPr algn="ctr">
                <a:defRPr/>
              </a:pPr>
              <a:r>
                <a:rPr lang="en-US" sz="1000" b="1" dirty="0" smtClean="0">
                  <a:latin typeface="Arial"/>
                  <a:cs typeface="Arial"/>
                </a:rPr>
                <a:t>TTE</a:t>
              </a:r>
            </a:p>
            <a:p>
              <a:pPr algn="ctr">
                <a:defRPr/>
              </a:pPr>
              <a:r>
                <a:rPr lang="en-US" sz="1000" b="1" dirty="0" smtClean="0">
                  <a:latin typeface="Arial"/>
                  <a:cs typeface="Arial"/>
                </a:rPr>
                <a:t>Switch</a:t>
              </a:r>
              <a:endParaRPr lang="en-US" sz="1100" b="1" dirty="0" smtClean="0">
                <a:latin typeface="Arial"/>
                <a:cs typeface="Arial"/>
              </a:endParaRPr>
            </a:p>
          </p:txBody>
        </p:sp>
        <p:sp>
          <p:nvSpPr>
            <p:cNvPr id="61" name="Freeform 60"/>
            <p:cNvSpPr/>
            <p:nvPr/>
          </p:nvSpPr>
          <p:spPr>
            <a:xfrm>
              <a:off x="2755284" y="2438400"/>
              <a:ext cx="1130916" cy="8009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AFDX </a:t>
              </a:r>
              <a:r>
                <a:rPr lang="en-US" sz="1000" dirty="0" smtClean="0">
                  <a:latin typeface="Arial"/>
                  <a:cs typeface="Arial"/>
                </a:rPr>
                <a:t>or</a:t>
              </a:r>
            </a:p>
            <a:p>
              <a:pPr algn="ctr">
                <a:defRPr/>
              </a:pPr>
              <a:r>
                <a:rPr lang="en-US" sz="1000" b="1" dirty="0" smtClean="0">
                  <a:latin typeface="Arial"/>
                  <a:cs typeface="Arial"/>
                </a:rPr>
                <a:t>TTE</a:t>
              </a:r>
            </a:p>
            <a:p>
              <a:pPr algn="ctr">
                <a:defRPr/>
              </a:pPr>
              <a:r>
                <a:rPr lang="en-US" sz="1000" b="1" dirty="0" smtClean="0">
                  <a:latin typeface="Arial"/>
                  <a:cs typeface="Arial"/>
                </a:rPr>
                <a:t>Switch</a:t>
              </a:r>
              <a:endParaRPr lang="en-US" sz="1100" b="1" dirty="0" smtClean="0">
                <a:latin typeface="Arial"/>
                <a:cs typeface="Arial"/>
              </a:endParaRPr>
            </a:p>
          </p:txBody>
        </p:sp>
      </p:grpSp>
      <p:pic>
        <p:nvPicPr>
          <p:cNvPr id="63" name="Picture 7" descr="C:\Documents and Settings\ddcofer\My Documents\Projects\hacms\logos\UMN-v2.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275330" y="1752600"/>
            <a:ext cx="952500" cy="624302"/>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5181600" y="3200400"/>
            <a:ext cx="3657600" cy="533400"/>
          </a:xfrm>
          <a:prstGeom prst="rect">
            <a:avLst/>
          </a:prstGeom>
          <a:solidFill>
            <a:srgbClr val="8693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b="1" dirty="0" smtClean="0"/>
              <a:t>Example system: Quad-redundant flight control system provided by NASA</a:t>
            </a:r>
            <a:endParaRPr lang="en-US" sz="1200" b="1" dirty="0"/>
          </a:p>
        </p:txBody>
      </p:sp>
      <p:sp>
        <p:nvSpPr>
          <p:cNvPr id="9217" name="Circular Arrow 9216"/>
          <p:cNvSpPr/>
          <p:nvPr/>
        </p:nvSpPr>
        <p:spPr>
          <a:xfrm rot="15419931" flipH="1">
            <a:off x="5834682" y="3083091"/>
            <a:ext cx="1116616" cy="1116616"/>
          </a:xfrm>
          <a:prstGeom prst="circularArrow">
            <a:avLst>
              <a:gd name="adj1" fmla="val 10171"/>
              <a:gd name="adj2" fmla="val 1142319"/>
              <a:gd name="adj3" fmla="val 18623744"/>
              <a:gd name="adj4" fmla="val 15645266"/>
              <a:gd name="adj5" fmla="val 13600"/>
            </a:avLst>
          </a:prstGeom>
          <a:solidFill>
            <a:srgbClr val="8693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65" name="Footer Placeholder 64"/>
          <p:cNvSpPr>
            <a:spLocks noGrp="1"/>
          </p:cNvSpPr>
          <p:nvPr>
            <p:ph type="ftr" sz="quarter" idx="11"/>
          </p:nvPr>
        </p:nvSpPr>
        <p:spPr/>
        <p:txBody>
          <a:bodyPr/>
          <a:lstStyle/>
          <a:p>
            <a:r>
              <a:rPr lang="en-US" smtClean="0"/>
              <a:t>AMASE   </a:t>
            </a:r>
            <a:endParaRPr lang="en-US"/>
          </a:p>
        </p:txBody>
      </p:sp>
    </p:spTree>
    <p:extLst>
      <p:ext uri="{BB962C8B-B14F-4D97-AF65-F5344CB8AC3E}">
        <p14:creationId xmlns:p14="http://schemas.microsoft.com/office/powerpoint/2010/main" val="1909363110"/>
      </p:ext>
    </p:extLst>
  </p:cSld>
  <p:clrMapOvr>
    <a:masterClrMapping/>
  </p:clrMapOvr>
  <p:transition/>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 name="Picture 2" descr="http://www.geemap.stat.uiowa.edu/University_of_Iowa_logo.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770630" y="2170176"/>
            <a:ext cx="1219200" cy="725424"/>
          </a:xfrm>
          <a:prstGeom prst="rect">
            <a:avLst/>
          </a:prstGeom>
          <a:noFill/>
          <a:extLst>
            <a:ext uri="{909E8E84-426E-40DD-AFC4-6F175D3DCCD1}">
              <a14:hiddenFill xmlns:a14="http://schemas.microsoft.com/office/drawing/2010/main">
                <a:solidFill>
                  <a:srgbClr val="FFFFFF"/>
                </a:solidFill>
              </a14:hiddenFill>
            </a:ext>
          </a:extLst>
        </p:spPr>
      </p:pic>
      <p:sp>
        <p:nvSpPr>
          <p:cNvPr id="4" name="Slide Number Placeholder 3"/>
          <p:cNvSpPr>
            <a:spLocks noGrp="1"/>
          </p:cNvSpPr>
          <p:nvPr>
            <p:ph type="sldNum" sz="quarter" idx="10"/>
          </p:nvPr>
        </p:nvSpPr>
        <p:spPr/>
        <p:txBody>
          <a:bodyPr/>
          <a:lstStyle/>
          <a:p>
            <a:pPr>
              <a:defRPr/>
            </a:pPr>
            <a:fld id="{F66F1AAB-BFBA-4F53-B587-234CB35509C8}" type="slidenum">
              <a:rPr lang="en-US"/>
              <a:pPr>
                <a:defRPr/>
              </a:pPr>
              <a:t>16</a:t>
            </a:fld>
            <a:endParaRPr lang="en-US"/>
          </a:p>
        </p:txBody>
      </p:sp>
      <p:sp>
        <p:nvSpPr>
          <p:cNvPr id="9219" name="Rectangle 2"/>
          <p:cNvSpPr>
            <a:spLocks noGrp="1" noChangeArrowheads="1"/>
          </p:cNvSpPr>
          <p:nvPr>
            <p:ph type="body" idx="1"/>
          </p:nvPr>
        </p:nvSpPr>
        <p:spPr>
          <a:xfrm>
            <a:off x="748076" y="1563798"/>
            <a:ext cx="5301474" cy="3810000"/>
          </a:xfrm>
          <a:noFill/>
        </p:spPr>
        <p:txBody>
          <a:bodyPr/>
          <a:lstStyle/>
          <a:p>
            <a:r>
              <a:rPr lang="en-US" altLang="en-US" sz="1400" dirty="0" smtClean="0"/>
              <a:t>Compositional verification tool for analysis of AADL system models</a:t>
            </a:r>
          </a:p>
          <a:p>
            <a:r>
              <a:rPr lang="en-US" altLang="en-US" sz="1400" dirty="0" smtClean="0"/>
              <a:t>AGREE: Assume-Guarantee Reasoning Environment</a:t>
            </a:r>
          </a:p>
          <a:p>
            <a:r>
              <a:rPr lang="en-US" altLang="en-US" sz="1400" dirty="0" smtClean="0"/>
              <a:t>Focus on system safety properties</a:t>
            </a:r>
          </a:p>
          <a:p>
            <a:r>
              <a:rPr lang="en-US" altLang="en-US" sz="1400" dirty="0" smtClean="0"/>
              <a:t>Compositional approach scales model checking to larger systems</a:t>
            </a:r>
          </a:p>
        </p:txBody>
      </p:sp>
      <p:sp>
        <p:nvSpPr>
          <p:cNvPr id="9220" name="Rectangle 3"/>
          <p:cNvSpPr>
            <a:spLocks noChangeArrowheads="1"/>
          </p:cNvSpPr>
          <p:nvPr/>
        </p:nvSpPr>
        <p:spPr bwMode="auto">
          <a:xfrm>
            <a:off x="757238" y="868363"/>
            <a:ext cx="77724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altLang="en-US" sz="2000" b="1" dirty="0" smtClean="0">
                <a:solidFill>
                  <a:schemeClr val="bg1">
                    <a:lumMod val="50000"/>
                  </a:schemeClr>
                </a:solidFill>
                <a:latin typeface="Verdana" pitchFamily="34" charset="0"/>
              </a:rPr>
              <a:t>Compositional Verification of Critical Systems</a:t>
            </a:r>
            <a:endParaRPr lang="en-US" altLang="en-US" sz="2000" b="1" dirty="0">
              <a:solidFill>
                <a:schemeClr val="bg1">
                  <a:lumMod val="50000"/>
                </a:schemeClr>
              </a:solidFill>
              <a:latin typeface="Verdana" pitchFamily="34" charset="0"/>
            </a:endParaRPr>
          </a:p>
        </p:txBody>
      </p:sp>
      <p:pic>
        <p:nvPicPr>
          <p:cNvPr id="5" name="Picture 6" descr="http://upload.wikimedia.org/wikipedia/commons/thumb/e/e5/NASA_logo.svg/290px-NASA_logo.svg.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32630" y="1371600"/>
            <a:ext cx="1306570" cy="1112837"/>
          </a:xfrm>
          <a:prstGeom prst="rect">
            <a:avLst/>
          </a:prstGeom>
          <a:noFill/>
          <a:extLst>
            <a:ext uri="{909E8E84-426E-40DD-AFC4-6F175D3DCCD1}">
              <a14:hiddenFill xmlns:a14="http://schemas.microsoft.com/office/drawing/2010/main">
                <a:solidFill>
                  <a:srgbClr val="FFFFFF"/>
                </a:solidFill>
              </a14:hiddenFill>
            </a:ext>
          </a:extLst>
        </p:spPr>
      </p:pic>
      <p:grpSp>
        <p:nvGrpSpPr>
          <p:cNvPr id="2" name="Group 6"/>
          <p:cNvGrpSpPr/>
          <p:nvPr/>
        </p:nvGrpSpPr>
        <p:grpSpPr>
          <a:xfrm>
            <a:off x="1058541" y="4131785"/>
            <a:ext cx="3973458" cy="1771543"/>
            <a:chOff x="4038600" y="3886200"/>
            <a:chExt cx="4800601" cy="2140321"/>
          </a:xfrm>
        </p:grpSpPr>
        <p:sp>
          <p:nvSpPr>
            <p:cNvPr id="10" name="Rectangle 9"/>
            <p:cNvSpPr/>
            <p:nvPr/>
          </p:nvSpPr>
          <p:spPr>
            <a:xfrm>
              <a:off x="4038600" y="3886200"/>
              <a:ext cx="4800600" cy="2133600"/>
            </a:xfrm>
            <a:prstGeom prst="rect">
              <a:avLst/>
            </a:prstGeom>
            <a:ln>
              <a:solidFill>
                <a:schemeClr val="tx2"/>
              </a:solidFill>
            </a:ln>
          </p:spPr>
          <p:style>
            <a:lnRef idx="2">
              <a:schemeClr val="accent1"/>
            </a:lnRef>
            <a:fillRef idx="1">
              <a:schemeClr val="lt1"/>
            </a:fillRef>
            <a:effectRef idx="0">
              <a:schemeClr val="accent1"/>
            </a:effectRef>
            <a:fontRef idx="minor">
              <a:schemeClr val="dk1"/>
            </a:fontRef>
          </p:style>
          <p:txBody>
            <a:bodyPr anchor="ctr"/>
            <a:lstStyle/>
            <a:p>
              <a:pPr algn="ctr" fontAlgn="auto">
                <a:spcBef>
                  <a:spcPts val="0"/>
                </a:spcBef>
                <a:spcAft>
                  <a:spcPts val="0"/>
                </a:spcAft>
                <a:defRPr/>
              </a:pPr>
              <a:endParaRPr lang="en-US" sz="1400"/>
            </a:p>
          </p:txBody>
        </p:sp>
        <p:cxnSp>
          <p:nvCxnSpPr>
            <p:cNvPr id="11" name="Straight Connector 10"/>
            <p:cNvCxnSpPr>
              <a:stCxn id="24" idx="0"/>
              <a:endCxn id="33" idx="3"/>
            </p:cNvCxnSpPr>
            <p:nvPr/>
          </p:nvCxnSpPr>
          <p:spPr>
            <a:xfrm>
              <a:off x="4090988" y="4279900"/>
              <a:ext cx="357187" cy="3175"/>
            </a:xfrm>
            <a:prstGeom prst="line">
              <a:avLst/>
            </a:prstGeom>
          </p:spPr>
          <p:style>
            <a:lnRef idx="1">
              <a:schemeClr val="dk1"/>
            </a:lnRef>
            <a:fillRef idx="0">
              <a:schemeClr val="dk1"/>
            </a:fillRef>
            <a:effectRef idx="0">
              <a:schemeClr val="dk1"/>
            </a:effectRef>
            <a:fontRef idx="minor">
              <a:schemeClr val="tx1"/>
            </a:fontRef>
          </p:style>
        </p:cxnSp>
        <p:cxnSp>
          <p:nvCxnSpPr>
            <p:cNvPr id="12" name="Straight Connector 34"/>
            <p:cNvCxnSpPr>
              <a:stCxn id="34" idx="0"/>
              <a:endCxn id="30" idx="3"/>
            </p:cNvCxnSpPr>
            <p:nvPr/>
          </p:nvCxnSpPr>
          <p:spPr>
            <a:xfrm>
              <a:off x="5562601" y="4283075"/>
              <a:ext cx="333375" cy="1125538"/>
            </a:xfrm>
            <a:prstGeom prst="bent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13" name="Straight Connector 36"/>
            <p:cNvCxnSpPr>
              <a:stCxn id="31" idx="0"/>
              <a:endCxn id="26" idx="3"/>
            </p:cNvCxnSpPr>
            <p:nvPr/>
          </p:nvCxnSpPr>
          <p:spPr>
            <a:xfrm flipV="1">
              <a:off x="7010401" y="4487069"/>
              <a:ext cx="380999" cy="921544"/>
            </a:xfrm>
            <a:prstGeom prst="bent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14" name="Straight Connector 13"/>
            <p:cNvCxnSpPr>
              <a:stCxn id="34" idx="0"/>
              <a:endCxn id="27" idx="3"/>
            </p:cNvCxnSpPr>
            <p:nvPr/>
          </p:nvCxnSpPr>
          <p:spPr>
            <a:xfrm flipV="1">
              <a:off x="5562601" y="4282283"/>
              <a:ext cx="1828799" cy="792"/>
            </a:xfrm>
            <a:prstGeom prst="line">
              <a:avLst/>
            </a:prstGeom>
          </p:spPr>
          <p:style>
            <a:lnRef idx="1">
              <a:schemeClr val="dk1"/>
            </a:lnRef>
            <a:fillRef idx="0">
              <a:schemeClr val="dk1"/>
            </a:fillRef>
            <a:effectRef idx="0">
              <a:schemeClr val="dk1"/>
            </a:effectRef>
            <a:fontRef idx="minor">
              <a:schemeClr val="tx1"/>
            </a:fontRef>
          </p:style>
        </p:cxnSp>
        <p:cxnSp>
          <p:nvCxnSpPr>
            <p:cNvPr id="15" name="Straight Connector 14"/>
            <p:cNvCxnSpPr>
              <a:stCxn id="28" idx="0"/>
              <a:endCxn id="19" idx="3"/>
            </p:cNvCxnSpPr>
            <p:nvPr/>
          </p:nvCxnSpPr>
          <p:spPr>
            <a:xfrm>
              <a:off x="8504238" y="4384675"/>
              <a:ext cx="282576" cy="0"/>
            </a:xfrm>
            <a:prstGeom prst="line">
              <a:avLst/>
            </a:prstGeom>
          </p:spPr>
          <p:style>
            <a:lnRef idx="1">
              <a:schemeClr val="dk1"/>
            </a:lnRef>
            <a:fillRef idx="0">
              <a:schemeClr val="dk1"/>
            </a:fillRef>
            <a:effectRef idx="0">
              <a:schemeClr val="dk1"/>
            </a:effectRef>
            <a:fontRef idx="minor">
              <a:schemeClr val="tx1"/>
            </a:fontRef>
          </p:style>
        </p:cxnSp>
        <p:grpSp>
          <p:nvGrpSpPr>
            <p:cNvPr id="6" name="Group 15"/>
            <p:cNvGrpSpPr/>
            <p:nvPr/>
          </p:nvGrpSpPr>
          <p:grpSpPr>
            <a:xfrm>
              <a:off x="4448175" y="3975100"/>
              <a:ext cx="1114425" cy="614363"/>
              <a:chOff x="3800475" y="4076700"/>
              <a:chExt cx="1114425" cy="614363"/>
            </a:xfrm>
          </p:grpSpPr>
          <p:sp>
            <p:nvSpPr>
              <p:cNvPr id="32" name="Rectangle 31"/>
              <p:cNvSpPr>
                <a:spLocks noChangeArrowheads="1"/>
              </p:cNvSpPr>
              <p:nvPr/>
            </p:nvSpPr>
            <p:spPr bwMode="auto">
              <a:xfrm>
                <a:off x="3800475" y="4076700"/>
                <a:ext cx="1114425" cy="614363"/>
              </a:xfrm>
              <a:prstGeom prst="rect">
                <a:avLst/>
              </a:prstGeom>
              <a:solidFill>
                <a:schemeClr val="tx2"/>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algn="ctr"/>
                <a:r>
                  <a:rPr lang="en-US" sz="1600" b="1">
                    <a:solidFill>
                      <a:srgbClr val="FFFFFF"/>
                    </a:solidFill>
                    <a:latin typeface="Verdana" pitchFamily="34" charset="0"/>
                  </a:rPr>
                  <a:t>A</a:t>
                </a:r>
              </a:p>
            </p:txBody>
          </p:sp>
          <p:sp>
            <p:nvSpPr>
              <p:cNvPr id="33" name="Isosceles Triangle 32"/>
              <p:cNvSpPr>
                <a:spLocks noChangeArrowheads="1"/>
              </p:cNvSpPr>
              <p:nvPr/>
            </p:nvSpPr>
            <p:spPr bwMode="auto">
              <a:xfrm rot="5400000">
                <a:off x="3801269" y="4358481"/>
                <a:ext cx="50800"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a:solidFill>
                    <a:schemeClr val="lt1"/>
                  </a:solidFill>
                  <a:latin typeface="+mn-lt"/>
                  <a:cs typeface="+mn-cs"/>
                </a:endParaRPr>
              </a:p>
            </p:txBody>
          </p:sp>
          <p:sp>
            <p:nvSpPr>
              <p:cNvPr id="34" name="Isosceles Triangle 33"/>
              <p:cNvSpPr>
                <a:spLocks noChangeArrowheads="1"/>
              </p:cNvSpPr>
              <p:nvPr/>
            </p:nvSpPr>
            <p:spPr bwMode="auto">
              <a:xfrm rot="5400000">
                <a:off x="4862513" y="4357687"/>
                <a:ext cx="50800" cy="53975"/>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a:solidFill>
                    <a:schemeClr val="lt1"/>
                  </a:solidFill>
                  <a:latin typeface="+mn-lt"/>
                  <a:cs typeface="+mn-cs"/>
                </a:endParaRPr>
              </a:p>
            </p:txBody>
          </p:sp>
        </p:grpSp>
        <p:grpSp>
          <p:nvGrpSpPr>
            <p:cNvPr id="7" name="Group 16"/>
            <p:cNvGrpSpPr/>
            <p:nvPr/>
          </p:nvGrpSpPr>
          <p:grpSpPr>
            <a:xfrm>
              <a:off x="5884862" y="5075238"/>
              <a:ext cx="1125538" cy="614362"/>
              <a:chOff x="5486400" y="5075238"/>
              <a:chExt cx="1125538" cy="614362"/>
            </a:xfrm>
          </p:grpSpPr>
          <p:sp>
            <p:nvSpPr>
              <p:cNvPr id="29" name="Rectangle 28"/>
              <p:cNvSpPr>
                <a:spLocks noChangeArrowheads="1"/>
              </p:cNvSpPr>
              <p:nvPr/>
            </p:nvSpPr>
            <p:spPr bwMode="auto">
              <a:xfrm>
                <a:off x="5486400" y="5075238"/>
                <a:ext cx="1114425" cy="614362"/>
              </a:xfrm>
              <a:prstGeom prst="rect">
                <a:avLst/>
              </a:prstGeom>
              <a:solidFill>
                <a:schemeClr val="tx2"/>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algn="ctr"/>
                <a:r>
                  <a:rPr lang="en-US" sz="1600" b="1" dirty="0">
                    <a:solidFill>
                      <a:srgbClr val="FFFFFF"/>
                    </a:solidFill>
                    <a:latin typeface="Verdana" pitchFamily="34" charset="0"/>
                  </a:rPr>
                  <a:t>B</a:t>
                </a:r>
              </a:p>
            </p:txBody>
          </p:sp>
          <p:sp>
            <p:nvSpPr>
              <p:cNvPr id="30" name="Isosceles Triangle 29"/>
              <p:cNvSpPr>
                <a:spLocks noChangeArrowheads="1"/>
              </p:cNvSpPr>
              <p:nvPr/>
            </p:nvSpPr>
            <p:spPr bwMode="auto">
              <a:xfrm rot="5400000">
                <a:off x="5498307" y="5382419"/>
                <a:ext cx="50800" cy="52387"/>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a:solidFill>
                    <a:schemeClr val="lt1"/>
                  </a:solidFill>
                  <a:latin typeface="+mn-lt"/>
                  <a:cs typeface="+mn-cs"/>
                </a:endParaRPr>
              </a:p>
            </p:txBody>
          </p:sp>
          <p:sp>
            <p:nvSpPr>
              <p:cNvPr id="31" name="Isosceles Triangle 30"/>
              <p:cNvSpPr>
                <a:spLocks noChangeArrowheads="1"/>
              </p:cNvSpPr>
              <p:nvPr/>
            </p:nvSpPr>
            <p:spPr bwMode="auto">
              <a:xfrm rot="5400000">
                <a:off x="6559551" y="5381625"/>
                <a:ext cx="50800" cy="53975"/>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a:solidFill>
                    <a:schemeClr val="lt1"/>
                  </a:solidFill>
                  <a:latin typeface="+mn-lt"/>
                  <a:cs typeface="+mn-cs"/>
                </a:endParaRPr>
              </a:p>
            </p:txBody>
          </p:sp>
        </p:grpSp>
        <p:grpSp>
          <p:nvGrpSpPr>
            <p:cNvPr id="8" name="Group 17"/>
            <p:cNvGrpSpPr/>
            <p:nvPr/>
          </p:nvGrpSpPr>
          <p:grpSpPr>
            <a:xfrm>
              <a:off x="7391400" y="4051300"/>
              <a:ext cx="1112838" cy="614363"/>
              <a:chOff x="7248525" y="4051300"/>
              <a:chExt cx="1112838" cy="614363"/>
            </a:xfrm>
          </p:grpSpPr>
          <p:sp>
            <p:nvSpPr>
              <p:cNvPr id="25" name="Rectangle 24"/>
              <p:cNvSpPr>
                <a:spLocks noChangeArrowheads="1"/>
              </p:cNvSpPr>
              <p:nvPr/>
            </p:nvSpPr>
            <p:spPr bwMode="auto">
              <a:xfrm>
                <a:off x="7248525" y="4051300"/>
                <a:ext cx="1112838" cy="614363"/>
              </a:xfrm>
              <a:prstGeom prst="rect">
                <a:avLst/>
              </a:prstGeom>
              <a:solidFill>
                <a:schemeClr val="tx2"/>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algn="ctr"/>
                <a:r>
                  <a:rPr lang="en-US" sz="1600" b="1">
                    <a:solidFill>
                      <a:srgbClr val="FFFFFF"/>
                    </a:solidFill>
                    <a:latin typeface="Verdana" pitchFamily="34" charset="0"/>
                  </a:rPr>
                  <a:t>C</a:t>
                </a:r>
              </a:p>
            </p:txBody>
          </p:sp>
          <p:sp>
            <p:nvSpPr>
              <p:cNvPr id="26" name="Isosceles Triangle 25"/>
              <p:cNvSpPr>
                <a:spLocks noChangeArrowheads="1"/>
              </p:cNvSpPr>
              <p:nvPr/>
            </p:nvSpPr>
            <p:spPr bwMode="auto">
              <a:xfrm rot="5400000">
                <a:off x="7248525" y="4460875"/>
                <a:ext cx="52388"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a:solidFill>
                    <a:schemeClr val="lt1"/>
                  </a:solidFill>
                  <a:latin typeface="+mn-lt"/>
                  <a:cs typeface="+mn-cs"/>
                </a:endParaRPr>
              </a:p>
            </p:txBody>
          </p:sp>
          <p:sp>
            <p:nvSpPr>
              <p:cNvPr id="27" name="Isosceles Triangle 26"/>
              <p:cNvSpPr>
                <a:spLocks noChangeArrowheads="1"/>
              </p:cNvSpPr>
              <p:nvPr/>
            </p:nvSpPr>
            <p:spPr bwMode="auto">
              <a:xfrm rot="5400000">
                <a:off x="7248525" y="4256088"/>
                <a:ext cx="52387"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a:solidFill>
                    <a:schemeClr val="lt1"/>
                  </a:solidFill>
                  <a:latin typeface="+mn-lt"/>
                  <a:cs typeface="+mn-cs"/>
                </a:endParaRPr>
              </a:p>
            </p:txBody>
          </p:sp>
          <p:sp>
            <p:nvSpPr>
              <p:cNvPr id="28" name="Isosceles Triangle 27"/>
              <p:cNvSpPr>
                <a:spLocks noChangeArrowheads="1"/>
              </p:cNvSpPr>
              <p:nvPr/>
            </p:nvSpPr>
            <p:spPr bwMode="auto">
              <a:xfrm rot="5400000">
                <a:off x="8309769" y="4358481"/>
                <a:ext cx="50800"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a:solidFill>
                    <a:schemeClr val="lt1"/>
                  </a:solidFill>
                  <a:latin typeface="+mn-lt"/>
                  <a:cs typeface="+mn-cs"/>
                </a:endParaRPr>
              </a:p>
            </p:txBody>
          </p:sp>
        </p:grpSp>
        <p:sp>
          <p:nvSpPr>
            <p:cNvPr id="19" name="Isosceles Triangle 18"/>
            <p:cNvSpPr>
              <a:spLocks noChangeArrowheads="1"/>
            </p:cNvSpPr>
            <p:nvPr/>
          </p:nvSpPr>
          <p:spPr bwMode="auto">
            <a:xfrm rot="5400000">
              <a:off x="8787607" y="4358481"/>
              <a:ext cx="50800" cy="52387"/>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a:solidFill>
                  <a:schemeClr val="lt1"/>
                </a:solidFill>
                <a:latin typeface="+mn-lt"/>
                <a:cs typeface="+mn-cs"/>
              </a:endParaRPr>
            </a:p>
          </p:txBody>
        </p:sp>
        <p:sp>
          <p:nvSpPr>
            <p:cNvPr id="20" name="TextBox 43"/>
            <p:cNvSpPr txBox="1">
              <a:spLocks noChangeArrowheads="1"/>
            </p:cNvSpPr>
            <p:nvPr/>
          </p:nvSpPr>
          <p:spPr bwMode="auto">
            <a:xfrm>
              <a:off x="4227513" y="4571999"/>
              <a:ext cx="1639889" cy="3718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a:latin typeface="Calibri" pitchFamily="34" charset="0"/>
                </a:rPr>
                <a:t>Assumption: Input &lt; 20</a:t>
              </a:r>
            </a:p>
            <a:p>
              <a:r>
                <a:rPr lang="en-US" sz="700">
                  <a:latin typeface="Calibri" pitchFamily="34" charset="0"/>
                </a:rPr>
                <a:t>Guarantee: Output &lt; 2*Input</a:t>
              </a:r>
            </a:p>
          </p:txBody>
        </p:sp>
        <p:sp>
          <p:nvSpPr>
            <p:cNvPr id="21" name="TextBox 44"/>
            <p:cNvSpPr txBox="1">
              <a:spLocks noChangeArrowheads="1"/>
            </p:cNvSpPr>
            <p:nvPr/>
          </p:nvSpPr>
          <p:spPr bwMode="auto">
            <a:xfrm>
              <a:off x="5724523" y="5654675"/>
              <a:ext cx="1743075" cy="3718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a:latin typeface="Calibri" pitchFamily="34" charset="0"/>
                </a:rPr>
                <a:t>Assumption: Input &lt; 20</a:t>
              </a:r>
            </a:p>
            <a:p>
              <a:r>
                <a:rPr lang="en-US" sz="700">
                  <a:latin typeface="Calibri" pitchFamily="34" charset="0"/>
                </a:rPr>
                <a:t>Guarantee: Output &lt; Input + 15</a:t>
              </a:r>
            </a:p>
          </p:txBody>
        </p:sp>
        <p:sp>
          <p:nvSpPr>
            <p:cNvPr id="22" name="TextBox 45"/>
            <p:cNvSpPr txBox="1">
              <a:spLocks noChangeArrowheads="1"/>
            </p:cNvSpPr>
            <p:nvPr/>
          </p:nvSpPr>
          <p:spPr bwMode="auto">
            <a:xfrm>
              <a:off x="7300913" y="4648200"/>
              <a:ext cx="1538287" cy="5019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none</a:t>
              </a:r>
            </a:p>
            <a:p>
              <a:r>
                <a:rPr lang="en-US" sz="700" dirty="0">
                  <a:latin typeface="Calibri" pitchFamily="34" charset="0"/>
                </a:rPr>
                <a:t>Guarantee: Output = Input1 + Input2</a:t>
              </a:r>
            </a:p>
          </p:txBody>
        </p:sp>
        <p:sp>
          <p:nvSpPr>
            <p:cNvPr id="23" name="TextBox 46"/>
            <p:cNvSpPr txBox="1">
              <a:spLocks noChangeArrowheads="1"/>
            </p:cNvSpPr>
            <p:nvPr/>
          </p:nvSpPr>
          <p:spPr bwMode="auto">
            <a:xfrm>
              <a:off x="7443790" y="5650467"/>
              <a:ext cx="1395411" cy="371846"/>
            </a:xfrm>
            <a:prstGeom prst="rect">
              <a:avLst/>
            </a:prstGeom>
            <a:noFill/>
            <a:ln w="19050">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Input &lt; 10</a:t>
              </a:r>
            </a:p>
            <a:p>
              <a:r>
                <a:rPr lang="en-US" sz="700" dirty="0">
                  <a:latin typeface="Calibri" pitchFamily="34" charset="0"/>
                </a:rPr>
                <a:t>Guarantee: Output &lt; 50</a:t>
              </a:r>
            </a:p>
          </p:txBody>
        </p:sp>
        <p:sp>
          <p:nvSpPr>
            <p:cNvPr id="24" name="Isosceles Triangle 17"/>
            <p:cNvSpPr>
              <a:spLocks noChangeArrowheads="1"/>
            </p:cNvSpPr>
            <p:nvPr/>
          </p:nvSpPr>
          <p:spPr bwMode="auto">
            <a:xfrm rot="5400000">
              <a:off x="4039394" y="4253706"/>
              <a:ext cx="50800"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a:solidFill>
                  <a:schemeClr val="lt1"/>
                </a:solidFill>
                <a:latin typeface="+mn-lt"/>
                <a:cs typeface="+mn-cs"/>
              </a:endParaRPr>
            </a:p>
          </p:txBody>
        </p:sp>
      </p:grpSp>
      <p:grpSp>
        <p:nvGrpSpPr>
          <p:cNvPr id="9" name="Group 1"/>
          <p:cNvGrpSpPr/>
          <p:nvPr/>
        </p:nvGrpSpPr>
        <p:grpSpPr>
          <a:xfrm>
            <a:off x="5589511" y="3876422"/>
            <a:ext cx="3276637" cy="2265576"/>
            <a:chOff x="2145684" y="1306945"/>
            <a:chExt cx="4611948" cy="3188855"/>
          </a:xfrm>
        </p:grpSpPr>
        <p:grpSp>
          <p:nvGrpSpPr>
            <p:cNvPr id="16" name="Group 34"/>
            <p:cNvGrpSpPr/>
            <p:nvPr/>
          </p:nvGrpSpPr>
          <p:grpSpPr>
            <a:xfrm flipH="1">
              <a:off x="3200400" y="3152217"/>
              <a:ext cx="2590800" cy="855847"/>
              <a:chOff x="3333844" y="3295554"/>
              <a:chExt cx="2590800" cy="855847"/>
            </a:xfrm>
          </p:grpSpPr>
          <p:cxnSp>
            <p:nvCxnSpPr>
              <p:cNvPr id="36" name="Straight Arrow Connector 35"/>
              <p:cNvCxnSpPr/>
              <p:nvPr/>
            </p:nvCxnSpPr>
            <p:spPr>
              <a:xfrm flipH="1" flipV="1">
                <a:off x="3755871" y="3299408"/>
                <a:ext cx="2168773" cy="762000"/>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37" name="Straight Arrow Connector 36"/>
              <p:cNvCxnSpPr/>
              <p:nvPr/>
            </p:nvCxnSpPr>
            <p:spPr>
              <a:xfrm flipH="1" flipV="1">
                <a:off x="3581400" y="3299408"/>
                <a:ext cx="1438324" cy="762002"/>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38" name="Straight Arrow Connector 37"/>
              <p:cNvCxnSpPr/>
              <p:nvPr/>
            </p:nvCxnSpPr>
            <p:spPr>
              <a:xfrm flipH="1" flipV="1">
                <a:off x="3457616" y="3299408"/>
                <a:ext cx="682370" cy="762001"/>
              </a:xfrm>
              <a:prstGeom prst="straightConnector1">
                <a:avLst/>
              </a:prstGeom>
              <a:ln>
                <a:solidFill>
                  <a:srgbClr val="FF0000"/>
                </a:solidFill>
                <a:miter lim="800000"/>
                <a:tailEnd type="none"/>
              </a:ln>
              <a:effectLst>
                <a:outerShdw blurRad="40000" dist="20000" dir="5400000" rotWithShape="0">
                  <a:srgbClr val="3366FF">
                    <a:alpha val="38000"/>
                  </a:srgbClr>
                </a:outerShdw>
              </a:effectLst>
            </p:spPr>
            <p:style>
              <a:lnRef idx="2">
                <a:schemeClr val="accent1"/>
              </a:lnRef>
              <a:fillRef idx="0">
                <a:schemeClr val="accent1"/>
              </a:fillRef>
              <a:effectRef idx="1">
                <a:schemeClr val="accent1"/>
              </a:effectRef>
              <a:fontRef idx="minor">
                <a:schemeClr val="tx1"/>
              </a:fontRef>
            </p:style>
          </p:cxnSp>
          <p:cxnSp>
            <p:nvCxnSpPr>
              <p:cNvPr id="39" name="Straight Arrow Connector 38"/>
              <p:cNvCxnSpPr/>
              <p:nvPr/>
            </p:nvCxnSpPr>
            <p:spPr>
              <a:xfrm flipV="1">
                <a:off x="3333844" y="3295554"/>
                <a:ext cx="0" cy="855847"/>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grpSp>
        <p:cxnSp>
          <p:nvCxnSpPr>
            <p:cNvPr id="40" name="Straight Arrow Connector 39"/>
            <p:cNvCxnSpPr/>
            <p:nvPr/>
          </p:nvCxnSpPr>
          <p:spPr>
            <a:xfrm flipH="1" flipV="1">
              <a:off x="3603471" y="3147008"/>
              <a:ext cx="2168773" cy="762000"/>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41" name="Straight Arrow Connector 40"/>
            <p:cNvCxnSpPr/>
            <p:nvPr/>
          </p:nvCxnSpPr>
          <p:spPr>
            <a:xfrm flipH="1" flipV="1">
              <a:off x="3429000" y="3147008"/>
              <a:ext cx="1438324" cy="762002"/>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42" name="Straight Arrow Connector 41"/>
            <p:cNvCxnSpPr/>
            <p:nvPr/>
          </p:nvCxnSpPr>
          <p:spPr>
            <a:xfrm flipH="1" flipV="1">
              <a:off x="3305216" y="3147008"/>
              <a:ext cx="682370" cy="762001"/>
            </a:xfrm>
            <a:prstGeom prst="straightConnector1">
              <a:avLst/>
            </a:prstGeom>
            <a:ln>
              <a:solidFill>
                <a:srgbClr val="0000FF"/>
              </a:solidFill>
              <a:miter lim="800000"/>
              <a:tailEnd type="none"/>
            </a:ln>
            <a:effectLst>
              <a:outerShdw blurRad="40000" dist="20000" dir="5400000" rotWithShape="0">
                <a:srgbClr val="3366FF">
                  <a:alpha val="38000"/>
                </a:srgbClr>
              </a:outerShdw>
            </a:effectLst>
          </p:spPr>
          <p:style>
            <a:lnRef idx="2">
              <a:schemeClr val="accent1"/>
            </a:lnRef>
            <a:fillRef idx="0">
              <a:schemeClr val="accent1"/>
            </a:fillRef>
            <a:effectRef idx="1">
              <a:schemeClr val="accent1"/>
            </a:effectRef>
            <a:fontRef idx="minor">
              <a:schemeClr val="tx1"/>
            </a:fontRef>
          </p:style>
        </p:cxnSp>
        <p:cxnSp>
          <p:nvCxnSpPr>
            <p:cNvPr id="43" name="Straight Arrow Connector 42"/>
            <p:cNvCxnSpPr/>
            <p:nvPr/>
          </p:nvCxnSpPr>
          <p:spPr>
            <a:xfrm flipV="1">
              <a:off x="3181444" y="3143154"/>
              <a:ext cx="0" cy="855847"/>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sp>
          <p:nvSpPr>
            <p:cNvPr id="44" name="Freeform 43"/>
            <p:cNvSpPr/>
            <p:nvPr/>
          </p:nvSpPr>
          <p:spPr>
            <a:xfrm>
              <a:off x="3276600" y="1306945"/>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5" name="Freeform 44"/>
            <p:cNvSpPr/>
            <p:nvPr/>
          </p:nvSpPr>
          <p:spPr>
            <a:xfrm>
              <a:off x="4495800" y="1306945"/>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6" name="Freeform 45"/>
            <p:cNvSpPr/>
            <p:nvPr/>
          </p:nvSpPr>
          <p:spPr>
            <a:xfrm>
              <a:off x="2145684" y="1828800"/>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7" name="Freeform 46"/>
            <p:cNvSpPr/>
            <p:nvPr/>
          </p:nvSpPr>
          <p:spPr>
            <a:xfrm>
              <a:off x="5626716" y="1837961"/>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8" name="Freeform 47"/>
            <p:cNvSpPr/>
            <p:nvPr/>
          </p:nvSpPr>
          <p:spPr>
            <a:xfrm>
              <a:off x="2934678" y="3847300"/>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sp>
          <p:nvSpPr>
            <p:cNvPr id="49" name="Freeform 48"/>
            <p:cNvSpPr/>
            <p:nvPr/>
          </p:nvSpPr>
          <p:spPr>
            <a:xfrm>
              <a:off x="3745884" y="3845499"/>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sp>
          <p:nvSpPr>
            <p:cNvPr id="50" name="Freeform 49"/>
            <p:cNvSpPr/>
            <p:nvPr/>
          </p:nvSpPr>
          <p:spPr>
            <a:xfrm>
              <a:off x="4572000" y="3847300"/>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sp>
          <p:nvSpPr>
            <p:cNvPr id="51" name="Freeform 50"/>
            <p:cNvSpPr/>
            <p:nvPr/>
          </p:nvSpPr>
          <p:spPr>
            <a:xfrm>
              <a:off x="5410200" y="3845499"/>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cxnSp>
          <p:nvCxnSpPr>
            <p:cNvPr id="52" name="Straight Arrow Connector 51"/>
            <p:cNvCxnSpPr/>
            <p:nvPr/>
          </p:nvCxnSpPr>
          <p:spPr>
            <a:xfrm>
              <a:off x="3276600" y="1981200"/>
              <a:ext cx="1784658" cy="762000"/>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3" name="Straight Arrow Connector 52"/>
            <p:cNvCxnSpPr/>
            <p:nvPr/>
          </p:nvCxnSpPr>
          <p:spPr>
            <a:xfrm>
              <a:off x="3603471" y="1699208"/>
              <a:ext cx="1578129" cy="887917"/>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4" name="Straight Arrow Connector 53"/>
            <p:cNvCxnSpPr/>
            <p:nvPr/>
          </p:nvCxnSpPr>
          <p:spPr>
            <a:xfrm>
              <a:off x="5257800" y="1699208"/>
              <a:ext cx="152400" cy="887917"/>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5" name="Straight Arrow Connector 54"/>
            <p:cNvCxnSpPr/>
            <p:nvPr/>
          </p:nvCxnSpPr>
          <p:spPr>
            <a:xfrm flipH="1">
              <a:off x="5626716" y="2221063"/>
              <a:ext cx="240684" cy="366062"/>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6" name="Straight Arrow Connector 55"/>
            <p:cNvCxnSpPr/>
            <p:nvPr/>
          </p:nvCxnSpPr>
          <p:spPr>
            <a:xfrm flipH="1">
              <a:off x="3835186" y="1977346"/>
              <a:ext cx="1784658" cy="762000"/>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7" name="Straight Arrow Connector 56"/>
            <p:cNvCxnSpPr/>
            <p:nvPr/>
          </p:nvCxnSpPr>
          <p:spPr>
            <a:xfrm flipH="1">
              <a:off x="3714844" y="1695354"/>
              <a:ext cx="1578129" cy="887917"/>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8" name="Straight Arrow Connector 57"/>
            <p:cNvCxnSpPr/>
            <p:nvPr/>
          </p:nvCxnSpPr>
          <p:spPr>
            <a:xfrm flipH="1">
              <a:off x="3486244" y="1695354"/>
              <a:ext cx="152400" cy="887917"/>
            </a:xfrm>
            <a:prstGeom prst="straightConnector1">
              <a:avLst/>
            </a:prstGeom>
            <a:ln>
              <a:solidFill>
                <a:srgbClr val="0000FF"/>
              </a:solidFill>
              <a:miter lim="800000"/>
              <a:tailEnd type="none"/>
            </a:ln>
            <a:effectLst>
              <a:outerShdw blurRad="40000" dist="20000" dir="5400000" rotWithShape="0">
                <a:srgbClr val="3366FF">
                  <a:alpha val="38000"/>
                </a:srgbClr>
              </a:outerShdw>
            </a:effectLst>
          </p:spPr>
          <p:style>
            <a:lnRef idx="2">
              <a:schemeClr val="accent1"/>
            </a:lnRef>
            <a:fillRef idx="0">
              <a:schemeClr val="accent1"/>
            </a:fillRef>
            <a:effectRef idx="1">
              <a:schemeClr val="accent1"/>
            </a:effectRef>
            <a:fontRef idx="minor">
              <a:schemeClr val="tx1"/>
            </a:fontRef>
          </p:style>
        </p:cxnSp>
        <p:cxnSp>
          <p:nvCxnSpPr>
            <p:cNvPr id="59" name="Straight Arrow Connector 58"/>
            <p:cNvCxnSpPr/>
            <p:nvPr/>
          </p:nvCxnSpPr>
          <p:spPr>
            <a:xfrm>
              <a:off x="3029044" y="2217209"/>
              <a:ext cx="240684" cy="366062"/>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sp>
          <p:nvSpPr>
            <p:cNvPr id="60" name="Freeform 59"/>
            <p:cNvSpPr/>
            <p:nvPr/>
          </p:nvSpPr>
          <p:spPr>
            <a:xfrm>
              <a:off x="5061258" y="2438400"/>
              <a:ext cx="1130916" cy="8009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AFDX </a:t>
              </a:r>
              <a:r>
                <a:rPr lang="en-US" sz="1000" dirty="0" smtClean="0">
                  <a:latin typeface="Arial"/>
                  <a:cs typeface="Arial"/>
                </a:rPr>
                <a:t>or</a:t>
              </a:r>
            </a:p>
            <a:p>
              <a:pPr algn="ctr">
                <a:defRPr/>
              </a:pPr>
              <a:r>
                <a:rPr lang="en-US" sz="1000" b="1" dirty="0" smtClean="0">
                  <a:latin typeface="Arial"/>
                  <a:cs typeface="Arial"/>
                </a:rPr>
                <a:t>TTE</a:t>
              </a:r>
            </a:p>
            <a:p>
              <a:pPr algn="ctr">
                <a:defRPr/>
              </a:pPr>
              <a:r>
                <a:rPr lang="en-US" sz="1000" b="1" dirty="0" smtClean="0">
                  <a:latin typeface="Arial"/>
                  <a:cs typeface="Arial"/>
                </a:rPr>
                <a:t>Switch</a:t>
              </a:r>
              <a:endParaRPr lang="en-US" sz="1100" b="1" dirty="0" smtClean="0">
                <a:latin typeface="Arial"/>
                <a:cs typeface="Arial"/>
              </a:endParaRPr>
            </a:p>
          </p:txBody>
        </p:sp>
        <p:sp>
          <p:nvSpPr>
            <p:cNvPr id="61" name="Freeform 60"/>
            <p:cNvSpPr/>
            <p:nvPr/>
          </p:nvSpPr>
          <p:spPr>
            <a:xfrm>
              <a:off x="2755284" y="2438400"/>
              <a:ext cx="1130916" cy="8009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AFDX </a:t>
              </a:r>
              <a:r>
                <a:rPr lang="en-US" sz="1000" dirty="0" smtClean="0">
                  <a:latin typeface="Arial"/>
                  <a:cs typeface="Arial"/>
                </a:rPr>
                <a:t>or</a:t>
              </a:r>
            </a:p>
            <a:p>
              <a:pPr algn="ctr">
                <a:defRPr/>
              </a:pPr>
              <a:r>
                <a:rPr lang="en-US" sz="1000" b="1" dirty="0" smtClean="0">
                  <a:latin typeface="Arial"/>
                  <a:cs typeface="Arial"/>
                </a:rPr>
                <a:t>TTE</a:t>
              </a:r>
            </a:p>
            <a:p>
              <a:pPr algn="ctr">
                <a:defRPr/>
              </a:pPr>
              <a:r>
                <a:rPr lang="en-US" sz="1000" b="1" dirty="0" smtClean="0">
                  <a:latin typeface="Arial"/>
                  <a:cs typeface="Arial"/>
                </a:rPr>
                <a:t>Switch</a:t>
              </a:r>
              <a:endParaRPr lang="en-US" sz="1100" b="1" dirty="0" smtClean="0">
                <a:latin typeface="Arial"/>
                <a:cs typeface="Arial"/>
              </a:endParaRPr>
            </a:p>
          </p:txBody>
        </p:sp>
      </p:grpSp>
      <p:pic>
        <p:nvPicPr>
          <p:cNvPr id="63" name="Picture 7" descr="C:\Documents and Settings\ddcofer\My Documents\Projects\hacms\logos\UMN-v2.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275330" y="1752600"/>
            <a:ext cx="952500" cy="624302"/>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5181600" y="3200400"/>
            <a:ext cx="3657600" cy="533400"/>
          </a:xfrm>
          <a:prstGeom prst="rect">
            <a:avLst/>
          </a:prstGeom>
          <a:solidFill>
            <a:srgbClr val="8693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b="1" dirty="0" smtClean="0"/>
              <a:t>Example system: Quad-redundant flight control system provided by NASA</a:t>
            </a:r>
            <a:endParaRPr lang="en-US" sz="1200" b="1" dirty="0"/>
          </a:p>
        </p:txBody>
      </p:sp>
      <p:sp>
        <p:nvSpPr>
          <p:cNvPr id="9217" name="Circular Arrow 9216"/>
          <p:cNvSpPr/>
          <p:nvPr/>
        </p:nvSpPr>
        <p:spPr>
          <a:xfrm rot="15419931" flipH="1">
            <a:off x="5834682" y="3083091"/>
            <a:ext cx="1116616" cy="1116616"/>
          </a:xfrm>
          <a:prstGeom prst="circularArrow">
            <a:avLst>
              <a:gd name="adj1" fmla="val 10171"/>
              <a:gd name="adj2" fmla="val 1142319"/>
              <a:gd name="adj3" fmla="val 18623744"/>
              <a:gd name="adj4" fmla="val 15645266"/>
              <a:gd name="adj5" fmla="val 13600"/>
            </a:avLst>
          </a:prstGeom>
          <a:solidFill>
            <a:srgbClr val="8693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65" name="Oval 64"/>
          <p:cNvSpPr/>
          <p:nvPr/>
        </p:nvSpPr>
        <p:spPr>
          <a:xfrm>
            <a:off x="457200" y="3733800"/>
            <a:ext cx="5132311" cy="2408198"/>
          </a:xfrm>
          <a:prstGeom prst="ellipse">
            <a:avLst/>
          </a:prstGeom>
          <a:noFill/>
          <a:ln w="38100" cap="flat" cmpd="sng" algn="ctr">
            <a:solidFill>
              <a:srgbClr val="FF0000"/>
            </a:solidFill>
            <a:prstDash val="solid"/>
            <a:round/>
            <a:headEnd type="none" w="med" len="med"/>
            <a:tailEnd type="none" w="med" len="med"/>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 name="Footer Placeholder 65"/>
          <p:cNvSpPr>
            <a:spLocks noGrp="1"/>
          </p:cNvSpPr>
          <p:nvPr>
            <p:ph type="ftr" sz="quarter" idx="11"/>
          </p:nvPr>
        </p:nvSpPr>
        <p:spPr/>
        <p:txBody>
          <a:bodyPr/>
          <a:lstStyle/>
          <a:p>
            <a:r>
              <a:rPr lang="en-US" smtClean="0"/>
              <a:t>AMASE   </a:t>
            </a:r>
            <a:endParaRPr lang="en-US"/>
          </a:p>
        </p:txBody>
      </p:sp>
    </p:spTree>
    <p:extLst>
      <p:ext uri="{BB962C8B-B14F-4D97-AF65-F5344CB8AC3E}">
        <p14:creationId xmlns:p14="http://schemas.microsoft.com/office/powerpoint/2010/main" val="1909363110"/>
      </p:ext>
    </p:extLst>
  </p:cSld>
  <p:clrMapOvr>
    <a:masterClrMapping/>
  </p:clrMapOvr>
  <p:transition/>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 name="Picture 2" descr="http://www.geemap.stat.uiowa.edu/University_of_Iowa_logo.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770630" y="2170176"/>
            <a:ext cx="1219200" cy="725424"/>
          </a:xfrm>
          <a:prstGeom prst="rect">
            <a:avLst/>
          </a:prstGeom>
          <a:noFill/>
          <a:extLst>
            <a:ext uri="{909E8E84-426E-40DD-AFC4-6F175D3DCCD1}">
              <a14:hiddenFill xmlns:a14="http://schemas.microsoft.com/office/drawing/2010/main">
                <a:solidFill>
                  <a:srgbClr val="FFFFFF"/>
                </a:solidFill>
              </a14:hiddenFill>
            </a:ext>
          </a:extLst>
        </p:spPr>
      </p:pic>
      <p:sp>
        <p:nvSpPr>
          <p:cNvPr id="4" name="Slide Number Placeholder 3"/>
          <p:cNvSpPr>
            <a:spLocks noGrp="1"/>
          </p:cNvSpPr>
          <p:nvPr>
            <p:ph type="sldNum" sz="quarter" idx="10"/>
          </p:nvPr>
        </p:nvSpPr>
        <p:spPr/>
        <p:txBody>
          <a:bodyPr/>
          <a:lstStyle/>
          <a:p>
            <a:pPr>
              <a:defRPr/>
            </a:pPr>
            <a:fld id="{F66F1AAB-BFBA-4F53-B587-234CB35509C8}" type="slidenum">
              <a:rPr lang="en-US"/>
              <a:pPr>
                <a:defRPr/>
              </a:pPr>
              <a:t>17</a:t>
            </a:fld>
            <a:endParaRPr lang="en-US"/>
          </a:p>
        </p:txBody>
      </p:sp>
      <p:sp>
        <p:nvSpPr>
          <p:cNvPr id="9219" name="Rectangle 2"/>
          <p:cNvSpPr>
            <a:spLocks noGrp="1" noChangeArrowheads="1"/>
          </p:cNvSpPr>
          <p:nvPr>
            <p:ph type="body" idx="1"/>
          </p:nvPr>
        </p:nvSpPr>
        <p:spPr>
          <a:xfrm>
            <a:off x="748076" y="1563798"/>
            <a:ext cx="5301474" cy="3810000"/>
          </a:xfrm>
          <a:noFill/>
        </p:spPr>
        <p:txBody>
          <a:bodyPr/>
          <a:lstStyle/>
          <a:p>
            <a:r>
              <a:rPr lang="en-US" altLang="en-US" sz="1400" dirty="0" smtClean="0"/>
              <a:t>Compositional verification tool for analysis of AADL system models</a:t>
            </a:r>
          </a:p>
          <a:p>
            <a:r>
              <a:rPr lang="en-US" altLang="en-US" sz="1400" dirty="0" smtClean="0"/>
              <a:t>AGREE: Assume-Guarantee Reasoning Environment</a:t>
            </a:r>
          </a:p>
          <a:p>
            <a:r>
              <a:rPr lang="en-US" altLang="en-US" sz="1400" dirty="0" smtClean="0"/>
              <a:t>Focus on system safety properties</a:t>
            </a:r>
          </a:p>
          <a:p>
            <a:r>
              <a:rPr lang="en-US" altLang="en-US" sz="1400" dirty="0" smtClean="0"/>
              <a:t>Compositional approach scales model checking to larger systems</a:t>
            </a:r>
          </a:p>
        </p:txBody>
      </p:sp>
      <p:sp>
        <p:nvSpPr>
          <p:cNvPr id="9220" name="Rectangle 3"/>
          <p:cNvSpPr>
            <a:spLocks noChangeArrowheads="1"/>
          </p:cNvSpPr>
          <p:nvPr/>
        </p:nvSpPr>
        <p:spPr bwMode="auto">
          <a:xfrm>
            <a:off x="757238" y="868363"/>
            <a:ext cx="77724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altLang="en-US" sz="2000" b="1" dirty="0" smtClean="0">
                <a:solidFill>
                  <a:schemeClr val="bg1">
                    <a:lumMod val="50000"/>
                  </a:schemeClr>
                </a:solidFill>
                <a:latin typeface="Verdana" pitchFamily="34" charset="0"/>
              </a:rPr>
              <a:t>Compositional Verification of Critical Systems</a:t>
            </a:r>
            <a:endParaRPr lang="en-US" altLang="en-US" sz="2000" b="1" dirty="0">
              <a:solidFill>
                <a:schemeClr val="bg1">
                  <a:lumMod val="50000"/>
                </a:schemeClr>
              </a:solidFill>
              <a:latin typeface="Verdana" pitchFamily="34" charset="0"/>
            </a:endParaRPr>
          </a:p>
        </p:txBody>
      </p:sp>
      <p:pic>
        <p:nvPicPr>
          <p:cNvPr id="5" name="Picture 6" descr="http://upload.wikimedia.org/wikipedia/commons/thumb/e/e5/NASA_logo.svg/290px-NASA_logo.svg.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32630" y="1371600"/>
            <a:ext cx="1306570" cy="1112837"/>
          </a:xfrm>
          <a:prstGeom prst="rect">
            <a:avLst/>
          </a:prstGeom>
          <a:noFill/>
          <a:extLst>
            <a:ext uri="{909E8E84-426E-40DD-AFC4-6F175D3DCCD1}">
              <a14:hiddenFill xmlns:a14="http://schemas.microsoft.com/office/drawing/2010/main">
                <a:solidFill>
                  <a:srgbClr val="FFFFFF"/>
                </a:solidFill>
              </a14:hiddenFill>
            </a:ext>
          </a:extLst>
        </p:spPr>
      </p:pic>
      <p:grpSp>
        <p:nvGrpSpPr>
          <p:cNvPr id="2" name="Group 6"/>
          <p:cNvGrpSpPr/>
          <p:nvPr/>
        </p:nvGrpSpPr>
        <p:grpSpPr>
          <a:xfrm>
            <a:off x="1058541" y="4131785"/>
            <a:ext cx="3973458" cy="1771543"/>
            <a:chOff x="4038600" y="3886200"/>
            <a:chExt cx="4800601" cy="2140321"/>
          </a:xfrm>
        </p:grpSpPr>
        <p:sp>
          <p:nvSpPr>
            <p:cNvPr id="10" name="Rectangle 9"/>
            <p:cNvSpPr/>
            <p:nvPr/>
          </p:nvSpPr>
          <p:spPr>
            <a:xfrm>
              <a:off x="4038600" y="3886200"/>
              <a:ext cx="4800600" cy="2133600"/>
            </a:xfrm>
            <a:prstGeom prst="rect">
              <a:avLst/>
            </a:prstGeom>
            <a:ln>
              <a:solidFill>
                <a:schemeClr val="tx2"/>
              </a:solidFill>
            </a:ln>
          </p:spPr>
          <p:style>
            <a:lnRef idx="2">
              <a:schemeClr val="accent1"/>
            </a:lnRef>
            <a:fillRef idx="1">
              <a:schemeClr val="lt1"/>
            </a:fillRef>
            <a:effectRef idx="0">
              <a:schemeClr val="accent1"/>
            </a:effectRef>
            <a:fontRef idx="minor">
              <a:schemeClr val="dk1"/>
            </a:fontRef>
          </p:style>
          <p:txBody>
            <a:bodyPr anchor="ctr"/>
            <a:lstStyle/>
            <a:p>
              <a:pPr algn="ctr" fontAlgn="auto">
                <a:spcBef>
                  <a:spcPts val="0"/>
                </a:spcBef>
                <a:spcAft>
                  <a:spcPts val="0"/>
                </a:spcAft>
                <a:defRPr/>
              </a:pPr>
              <a:endParaRPr lang="en-US" sz="1400"/>
            </a:p>
          </p:txBody>
        </p:sp>
        <p:cxnSp>
          <p:nvCxnSpPr>
            <p:cNvPr id="11" name="Straight Connector 10"/>
            <p:cNvCxnSpPr>
              <a:stCxn id="24" idx="0"/>
              <a:endCxn id="33" idx="3"/>
            </p:cNvCxnSpPr>
            <p:nvPr/>
          </p:nvCxnSpPr>
          <p:spPr>
            <a:xfrm>
              <a:off x="4090988" y="4279900"/>
              <a:ext cx="357187" cy="3175"/>
            </a:xfrm>
            <a:prstGeom prst="line">
              <a:avLst/>
            </a:prstGeom>
          </p:spPr>
          <p:style>
            <a:lnRef idx="1">
              <a:schemeClr val="dk1"/>
            </a:lnRef>
            <a:fillRef idx="0">
              <a:schemeClr val="dk1"/>
            </a:fillRef>
            <a:effectRef idx="0">
              <a:schemeClr val="dk1"/>
            </a:effectRef>
            <a:fontRef idx="minor">
              <a:schemeClr val="tx1"/>
            </a:fontRef>
          </p:style>
        </p:cxnSp>
        <p:cxnSp>
          <p:nvCxnSpPr>
            <p:cNvPr id="12" name="Straight Connector 34"/>
            <p:cNvCxnSpPr>
              <a:stCxn id="34" idx="0"/>
              <a:endCxn id="30" idx="3"/>
            </p:cNvCxnSpPr>
            <p:nvPr/>
          </p:nvCxnSpPr>
          <p:spPr>
            <a:xfrm>
              <a:off x="5562601" y="4283075"/>
              <a:ext cx="333375" cy="1125538"/>
            </a:xfrm>
            <a:prstGeom prst="bent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13" name="Straight Connector 36"/>
            <p:cNvCxnSpPr>
              <a:stCxn id="31" idx="0"/>
              <a:endCxn id="26" idx="3"/>
            </p:cNvCxnSpPr>
            <p:nvPr/>
          </p:nvCxnSpPr>
          <p:spPr>
            <a:xfrm flipV="1">
              <a:off x="7010401" y="4487069"/>
              <a:ext cx="380999" cy="921544"/>
            </a:xfrm>
            <a:prstGeom prst="bent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14" name="Straight Connector 13"/>
            <p:cNvCxnSpPr>
              <a:stCxn id="34" idx="0"/>
              <a:endCxn id="27" idx="3"/>
            </p:cNvCxnSpPr>
            <p:nvPr/>
          </p:nvCxnSpPr>
          <p:spPr>
            <a:xfrm flipV="1">
              <a:off x="5562601" y="4282283"/>
              <a:ext cx="1828799" cy="792"/>
            </a:xfrm>
            <a:prstGeom prst="line">
              <a:avLst/>
            </a:prstGeom>
          </p:spPr>
          <p:style>
            <a:lnRef idx="1">
              <a:schemeClr val="dk1"/>
            </a:lnRef>
            <a:fillRef idx="0">
              <a:schemeClr val="dk1"/>
            </a:fillRef>
            <a:effectRef idx="0">
              <a:schemeClr val="dk1"/>
            </a:effectRef>
            <a:fontRef idx="minor">
              <a:schemeClr val="tx1"/>
            </a:fontRef>
          </p:style>
        </p:cxnSp>
        <p:cxnSp>
          <p:nvCxnSpPr>
            <p:cNvPr id="15" name="Straight Connector 14"/>
            <p:cNvCxnSpPr>
              <a:stCxn id="28" idx="0"/>
              <a:endCxn id="19" idx="3"/>
            </p:cNvCxnSpPr>
            <p:nvPr/>
          </p:nvCxnSpPr>
          <p:spPr>
            <a:xfrm>
              <a:off x="8504238" y="4384675"/>
              <a:ext cx="282576" cy="0"/>
            </a:xfrm>
            <a:prstGeom prst="line">
              <a:avLst/>
            </a:prstGeom>
          </p:spPr>
          <p:style>
            <a:lnRef idx="1">
              <a:schemeClr val="dk1"/>
            </a:lnRef>
            <a:fillRef idx="0">
              <a:schemeClr val="dk1"/>
            </a:fillRef>
            <a:effectRef idx="0">
              <a:schemeClr val="dk1"/>
            </a:effectRef>
            <a:fontRef idx="minor">
              <a:schemeClr val="tx1"/>
            </a:fontRef>
          </p:style>
        </p:cxnSp>
        <p:grpSp>
          <p:nvGrpSpPr>
            <p:cNvPr id="6" name="Group 15"/>
            <p:cNvGrpSpPr/>
            <p:nvPr/>
          </p:nvGrpSpPr>
          <p:grpSpPr>
            <a:xfrm>
              <a:off x="4448175" y="3975100"/>
              <a:ext cx="1114425" cy="614363"/>
              <a:chOff x="3800475" y="4076700"/>
              <a:chExt cx="1114425" cy="614363"/>
            </a:xfrm>
          </p:grpSpPr>
          <p:sp>
            <p:nvSpPr>
              <p:cNvPr id="32" name="Rectangle 31"/>
              <p:cNvSpPr>
                <a:spLocks noChangeArrowheads="1"/>
              </p:cNvSpPr>
              <p:nvPr/>
            </p:nvSpPr>
            <p:spPr bwMode="auto">
              <a:xfrm>
                <a:off x="3800475" y="4076700"/>
                <a:ext cx="1114425" cy="614363"/>
              </a:xfrm>
              <a:prstGeom prst="rect">
                <a:avLst/>
              </a:prstGeom>
              <a:solidFill>
                <a:schemeClr val="tx2"/>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algn="ctr"/>
                <a:r>
                  <a:rPr lang="en-US" sz="1600" b="1">
                    <a:solidFill>
                      <a:srgbClr val="FFFFFF"/>
                    </a:solidFill>
                    <a:latin typeface="Verdana" pitchFamily="34" charset="0"/>
                  </a:rPr>
                  <a:t>A</a:t>
                </a:r>
              </a:p>
            </p:txBody>
          </p:sp>
          <p:sp>
            <p:nvSpPr>
              <p:cNvPr id="33" name="Isosceles Triangle 32"/>
              <p:cNvSpPr>
                <a:spLocks noChangeArrowheads="1"/>
              </p:cNvSpPr>
              <p:nvPr/>
            </p:nvSpPr>
            <p:spPr bwMode="auto">
              <a:xfrm rot="5400000">
                <a:off x="3801269" y="4358481"/>
                <a:ext cx="50800"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a:solidFill>
                    <a:schemeClr val="lt1"/>
                  </a:solidFill>
                  <a:latin typeface="+mn-lt"/>
                  <a:cs typeface="+mn-cs"/>
                </a:endParaRPr>
              </a:p>
            </p:txBody>
          </p:sp>
          <p:sp>
            <p:nvSpPr>
              <p:cNvPr id="34" name="Isosceles Triangle 33"/>
              <p:cNvSpPr>
                <a:spLocks noChangeArrowheads="1"/>
              </p:cNvSpPr>
              <p:nvPr/>
            </p:nvSpPr>
            <p:spPr bwMode="auto">
              <a:xfrm rot="5400000">
                <a:off x="4862513" y="4357687"/>
                <a:ext cx="50800" cy="53975"/>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a:solidFill>
                    <a:schemeClr val="lt1"/>
                  </a:solidFill>
                  <a:latin typeface="+mn-lt"/>
                  <a:cs typeface="+mn-cs"/>
                </a:endParaRPr>
              </a:p>
            </p:txBody>
          </p:sp>
        </p:grpSp>
        <p:grpSp>
          <p:nvGrpSpPr>
            <p:cNvPr id="7" name="Group 16"/>
            <p:cNvGrpSpPr/>
            <p:nvPr/>
          </p:nvGrpSpPr>
          <p:grpSpPr>
            <a:xfrm>
              <a:off x="5884862" y="5075238"/>
              <a:ext cx="1125538" cy="614362"/>
              <a:chOff x="5486400" y="5075238"/>
              <a:chExt cx="1125538" cy="614362"/>
            </a:xfrm>
          </p:grpSpPr>
          <p:sp>
            <p:nvSpPr>
              <p:cNvPr id="29" name="Rectangle 28"/>
              <p:cNvSpPr>
                <a:spLocks noChangeArrowheads="1"/>
              </p:cNvSpPr>
              <p:nvPr/>
            </p:nvSpPr>
            <p:spPr bwMode="auto">
              <a:xfrm>
                <a:off x="5486400" y="5075238"/>
                <a:ext cx="1114425" cy="614362"/>
              </a:xfrm>
              <a:prstGeom prst="rect">
                <a:avLst/>
              </a:prstGeom>
              <a:solidFill>
                <a:schemeClr val="tx2"/>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algn="ctr"/>
                <a:r>
                  <a:rPr lang="en-US" sz="1600" b="1" dirty="0">
                    <a:solidFill>
                      <a:srgbClr val="FFFFFF"/>
                    </a:solidFill>
                    <a:latin typeface="Verdana" pitchFamily="34" charset="0"/>
                  </a:rPr>
                  <a:t>B</a:t>
                </a:r>
              </a:p>
            </p:txBody>
          </p:sp>
          <p:sp>
            <p:nvSpPr>
              <p:cNvPr id="30" name="Isosceles Triangle 29"/>
              <p:cNvSpPr>
                <a:spLocks noChangeArrowheads="1"/>
              </p:cNvSpPr>
              <p:nvPr/>
            </p:nvSpPr>
            <p:spPr bwMode="auto">
              <a:xfrm rot="5400000">
                <a:off x="5498307" y="5382419"/>
                <a:ext cx="50800" cy="52387"/>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a:solidFill>
                    <a:schemeClr val="lt1"/>
                  </a:solidFill>
                  <a:latin typeface="+mn-lt"/>
                  <a:cs typeface="+mn-cs"/>
                </a:endParaRPr>
              </a:p>
            </p:txBody>
          </p:sp>
          <p:sp>
            <p:nvSpPr>
              <p:cNvPr id="31" name="Isosceles Triangle 30"/>
              <p:cNvSpPr>
                <a:spLocks noChangeArrowheads="1"/>
              </p:cNvSpPr>
              <p:nvPr/>
            </p:nvSpPr>
            <p:spPr bwMode="auto">
              <a:xfrm rot="5400000">
                <a:off x="6559551" y="5381625"/>
                <a:ext cx="50800" cy="53975"/>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a:solidFill>
                    <a:schemeClr val="lt1"/>
                  </a:solidFill>
                  <a:latin typeface="+mn-lt"/>
                  <a:cs typeface="+mn-cs"/>
                </a:endParaRPr>
              </a:p>
            </p:txBody>
          </p:sp>
        </p:grpSp>
        <p:grpSp>
          <p:nvGrpSpPr>
            <p:cNvPr id="8" name="Group 17"/>
            <p:cNvGrpSpPr/>
            <p:nvPr/>
          </p:nvGrpSpPr>
          <p:grpSpPr>
            <a:xfrm>
              <a:off x="7391400" y="4051300"/>
              <a:ext cx="1112838" cy="614363"/>
              <a:chOff x="7248525" y="4051300"/>
              <a:chExt cx="1112838" cy="614363"/>
            </a:xfrm>
          </p:grpSpPr>
          <p:sp>
            <p:nvSpPr>
              <p:cNvPr id="25" name="Rectangle 24"/>
              <p:cNvSpPr>
                <a:spLocks noChangeArrowheads="1"/>
              </p:cNvSpPr>
              <p:nvPr/>
            </p:nvSpPr>
            <p:spPr bwMode="auto">
              <a:xfrm>
                <a:off x="7248525" y="4051300"/>
                <a:ext cx="1112838" cy="614363"/>
              </a:xfrm>
              <a:prstGeom prst="rect">
                <a:avLst/>
              </a:prstGeom>
              <a:solidFill>
                <a:schemeClr val="tx2"/>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algn="ctr"/>
                <a:r>
                  <a:rPr lang="en-US" sz="1600" b="1">
                    <a:solidFill>
                      <a:srgbClr val="FFFFFF"/>
                    </a:solidFill>
                    <a:latin typeface="Verdana" pitchFamily="34" charset="0"/>
                  </a:rPr>
                  <a:t>C</a:t>
                </a:r>
              </a:p>
            </p:txBody>
          </p:sp>
          <p:sp>
            <p:nvSpPr>
              <p:cNvPr id="26" name="Isosceles Triangle 25"/>
              <p:cNvSpPr>
                <a:spLocks noChangeArrowheads="1"/>
              </p:cNvSpPr>
              <p:nvPr/>
            </p:nvSpPr>
            <p:spPr bwMode="auto">
              <a:xfrm rot="5400000">
                <a:off x="7248525" y="4460875"/>
                <a:ext cx="52388"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a:solidFill>
                    <a:schemeClr val="lt1"/>
                  </a:solidFill>
                  <a:latin typeface="+mn-lt"/>
                  <a:cs typeface="+mn-cs"/>
                </a:endParaRPr>
              </a:p>
            </p:txBody>
          </p:sp>
          <p:sp>
            <p:nvSpPr>
              <p:cNvPr id="27" name="Isosceles Triangle 26"/>
              <p:cNvSpPr>
                <a:spLocks noChangeArrowheads="1"/>
              </p:cNvSpPr>
              <p:nvPr/>
            </p:nvSpPr>
            <p:spPr bwMode="auto">
              <a:xfrm rot="5400000">
                <a:off x="7248525" y="4256088"/>
                <a:ext cx="52387"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a:solidFill>
                    <a:schemeClr val="lt1"/>
                  </a:solidFill>
                  <a:latin typeface="+mn-lt"/>
                  <a:cs typeface="+mn-cs"/>
                </a:endParaRPr>
              </a:p>
            </p:txBody>
          </p:sp>
          <p:sp>
            <p:nvSpPr>
              <p:cNvPr id="28" name="Isosceles Triangle 27"/>
              <p:cNvSpPr>
                <a:spLocks noChangeArrowheads="1"/>
              </p:cNvSpPr>
              <p:nvPr/>
            </p:nvSpPr>
            <p:spPr bwMode="auto">
              <a:xfrm rot="5400000">
                <a:off x="8309769" y="4358481"/>
                <a:ext cx="50800"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a:solidFill>
                    <a:schemeClr val="lt1"/>
                  </a:solidFill>
                  <a:latin typeface="+mn-lt"/>
                  <a:cs typeface="+mn-cs"/>
                </a:endParaRPr>
              </a:p>
            </p:txBody>
          </p:sp>
        </p:grpSp>
        <p:sp>
          <p:nvSpPr>
            <p:cNvPr id="19" name="Isosceles Triangle 18"/>
            <p:cNvSpPr>
              <a:spLocks noChangeArrowheads="1"/>
            </p:cNvSpPr>
            <p:nvPr/>
          </p:nvSpPr>
          <p:spPr bwMode="auto">
            <a:xfrm rot="5400000">
              <a:off x="8787607" y="4358481"/>
              <a:ext cx="50800" cy="52387"/>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a:solidFill>
                  <a:schemeClr val="lt1"/>
                </a:solidFill>
                <a:latin typeface="+mn-lt"/>
                <a:cs typeface="+mn-cs"/>
              </a:endParaRPr>
            </a:p>
          </p:txBody>
        </p:sp>
        <p:sp>
          <p:nvSpPr>
            <p:cNvPr id="20" name="TextBox 43"/>
            <p:cNvSpPr txBox="1">
              <a:spLocks noChangeArrowheads="1"/>
            </p:cNvSpPr>
            <p:nvPr/>
          </p:nvSpPr>
          <p:spPr bwMode="auto">
            <a:xfrm>
              <a:off x="4227513" y="4571999"/>
              <a:ext cx="1639889" cy="3718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a:latin typeface="Calibri" pitchFamily="34" charset="0"/>
                </a:rPr>
                <a:t>Assumption: Input &lt; 20</a:t>
              </a:r>
            </a:p>
            <a:p>
              <a:r>
                <a:rPr lang="en-US" sz="700">
                  <a:latin typeface="Calibri" pitchFamily="34" charset="0"/>
                </a:rPr>
                <a:t>Guarantee: Output &lt; 2*Input</a:t>
              </a:r>
            </a:p>
          </p:txBody>
        </p:sp>
        <p:sp>
          <p:nvSpPr>
            <p:cNvPr id="21" name="TextBox 44"/>
            <p:cNvSpPr txBox="1">
              <a:spLocks noChangeArrowheads="1"/>
            </p:cNvSpPr>
            <p:nvPr/>
          </p:nvSpPr>
          <p:spPr bwMode="auto">
            <a:xfrm>
              <a:off x="5724523" y="5654675"/>
              <a:ext cx="1743075" cy="3718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a:latin typeface="Calibri" pitchFamily="34" charset="0"/>
                </a:rPr>
                <a:t>Assumption: Input &lt; 20</a:t>
              </a:r>
            </a:p>
            <a:p>
              <a:r>
                <a:rPr lang="en-US" sz="700">
                  <a:latin typeface="Calibri" pitchFamily="34" charset="0"/>
                </a:rPr>
                <a:t>Guarantee: Output &lt; Input + 15</a:t>
              </a:r>
            </a:p>
          </p:txBody>
        </p:sp>
        <p:sp>
          <p:nvSpPr>
            <p:cNvPr id="22" name="TextBox 45"/>
            <p:cNvSpPr txBox="1">
              <a:spLocks noChangeArrowheads="1"/>
            </p:cNvSpPr>
            <p:nvPr/>
          </p:nvSpPr>
          <p:spPr bwMode="auto">
            <a:xfrm>
              <a:off x="7300913" y="4648200"/>
              <a:ext cx="1538287" cy="5019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none</a:t>
              </a:r>
            </a:p>
            <a:p>
              <a:r>
                <a:rPr lang="en-US" sz="700" dirty="0">
                  <a:latin typeface="Calibri" pitchFamily="34" charset="0"/>
                </a:rPr>
                <a:t>Guarantee: Output = Input1 + Input2</a:t>
              </a:r>
            </a:p>
          </p:txBody>
        </p:sp>
        <p:sp>
          <p:nvSpPr>
            <p:cNvPr id="23" name="TextBox 46"/>
            <p:cNvSpPr txBox="1">
              <a:spLocks noChangeArrowheads="1"/>
            </p:cNvSpPr>
            <p:nvPr/>
          </p:nvSpPr>
          <p:spPr bwMode="auto">
            <a:xfrm>
              <a:off x="7443790" y="5650467"/>
              <a:ext cx="1395411" cy="371846"/>
            </a:xfrm>
            <a:prstGeom prst="rect">
              <a:avLst/>
            </a:prstGeom>
            <a:noFill/>
            <a:ln w="19050">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Input &lt; 10</a:t>
              </a:r>
            </a:p>
            <a:p>
              <a:r>
                <a:rPr lang="en-US" sz="700" dirty="0">
                  <a:latin typeface="Calibri" pitchFamily="34" charset="0"/>
                </a:rPr>
                <a:t>Guarantee: Output &lt; 50</a:t>
              </a:r>
            </a:p>
          </p:txBody>
        </p:sp>
        <p:sp>
          <p:nvSpPr>
            <p:cNvPr id="24" name="Isosceles Triangle 17"/>
            <p:cNvSpPr>
              <a:spLocks noChangeArrowheads="1"/>
            </p:cNvSpPr>
            <p:nvPr/>
          </p:nvSpPr>
          <p:spPr bwMode="auto">
            <a:xfrm rot="5400000">
              <a:off x="4039394" y="4253706"/>
              <a:ext cx="50800"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a:solidFill>
                  <a:schemeClr val="lt1"/>
                </a:solidFill>
                <a:latin typeface="+mn-lt"/>
                <a:cs typeface="+mn-cs"/>
              </a:endParaRPr>
            </a:p>
          </p:txBody>
        </p:sp>
      </p:grpSp>
      <p:grpSp>
        <p:nvGrpSpPr>
          <p:cNvPr id="9" name="Group 1"/>
          <p:cNvGrpSpPr/>
          <p:nvPr/>
        </p:nvGrpSpPr>
        <p:grpSpPr>
          <a:xfrm>
            <a:off x="5589511" y="3876422"/>
            <a:ext cx="3276637" cy="2265576"/>
            <a:chOff x="2145684" y="1306945"/>
            <a:chExt cx="4611948" cy="3188855"/>
          </a:xfrm>
        </p:grpSpPr>
        <p:grpSp>
          <p:nvGrpSpPr>
            <p:cNvPr id="16" name="Group 34"/>
            <p:cNvGrpSpPr/>
            <p:nvPr/>
          </p:nvGrpSpPr>
          <p:grpSpPr>
            <a:xfrm flipH="1">
              <a:off x="3200400" y="3152217"/>
              <a:ext cx="2590800" cy="855847"/>
              <a:chOff x="3333844" y="3295554"/>
              <a:chExt cx="2590800" cy="855847"/>
            </a:xfrm>
          </p:grpSpPr>
          <p:cxnSp>
            <p:nvCxnSpPr>
              <p:cNvPr id="36" name="Straight Arrow Connector 35"/>
              <p:cNvCxnSpPr/>
              <p:nvPr/>
            </p:nvCxnSpPr>
            <p:spPr>
              <a:xfrm flipH="1" flipV="1">
                <a:off x="3755871" y="3299408"/>
                <a:ext cx="2168773" cy="762000"/>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37" name="Straight Arrow Connector 36"/>
              <p:cNvCxnSpPr/>
              <p:nvPr/>
            </p:nvCxnSpPr>
            <p:spPr>
              <a:xfrm flipH="1" flipV="1">
                <a:off x="3581400" y="3299408"/>
                <a:ext cx="1438324" cy="762002"/>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38" name="Straight Arrow Connector 37"/>
              <p:cNvCxnSpPr/>
              <p:nvPr/>
            </p:nvCxnSpPr>
            <p:spPr>
              <a:xfrm flipH="1" flipV="1">
                <a:off x="3457616" y="3299408"/>
                <a:ext cx="682370" cy="762001"/>
              </a:xfrm>
              <a:prstGeom prst="straightConnector1">
                <a:avLst/>
              </a:prstGeom>
              <a:ln>
                <a:solidFill>
                  <a:srgbClr val="FF0000"/>
                </a:solidFill>
                <a:miter lim="800000"/>
                <a:tailEnd type="none"/>
              </a:ln>
              <a:effectLst>
                <a:outerShdw blurRad="40000" dist="20000" dir="5400000" rotWithShape="0">
                  <a:srgbClr val="3366FF">
                    <a:alpha val="38000"/>
                  </a:srgbClr>
                </a:outerShdw>
              </a:effectLst>
            </p:spPr>
            <p:style>
              <a:lnRef idx="2">
                <a:schemeClr val="accent1"/>
              </a:lnRef>
              <a:fillRef idx="0">
                <a:schemeClr val="accent1"/>
              </a:fillRef>
              <a:effectRef idx="1">
                <a:schemeClr val="accent1"/>
              </a:effectRef>
              <a:fontRef idx="minor">
                <a:schemeClr val="tx1"/>
              </a:fontRef>
            </p:style>
          </p:cxnSp>
          <p:cxnSp>
            <p:nvCxnSpPr>
              <p:cNvPr id="39" name="Straight Arrow Connector 38"/>
              <p:cNvCxnSpPr/>
              <p:nvPr/>
            </p:nvCxnSpPr>
            <p:spPr>
              <a:xfrm flipV="1">
                <a:off x="3333844" y="3295554"/>
                <a:ext cx="0" cy="855847"/>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grpSp>
        <p:cxnSp>
          <p:nvCxnSpPr>
            <p:cNvPr id="40" name="Straight Arrow Connector 39"/>
            <p:cNvCxnSpPr/>
            <p:nvPr/>
          </p:nvCxnSpPr>
          <p:spPr>
            <a:xfrm flipH="1" flipV="1">
              <a:off x="3603471" y="3147008"/>
              <a:ext cx="2168773" cy="762000"/>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41" name="Straight Arrow Connector 40"/>
            <p:cNvCxnSpPr/>
            <p:nvPr/>
          </p:nvCxnSpPr>
          <p:spPr>
            <a:xfrm flipH="1" flipV="1">
              <a:off x="3429000" y="3147008"/>
              <a:ext cx="1438324" cy="762002"/>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42" name="Straight Arrow Connector 41"/>
            <p:cNvCxnSpPr/>
            <p:nvPr/>
          </p:nvCxnSpPr>
          <p:spPr>
            <a:xfrm flipH="1" flipV="1">
              <a:off x="3305216" y="3147008"/>
              <a:ext cx="682370" cy="762001"/>
            </a:xfrm>
            <a:prstGeom prst="straightConnector1">
              <a:avLst/>
            </a:prstGeom>
            <a:ln>
              <a:solidFill>
                <a:srgbClr val="0000FF"/>
              </a:solidFill>
              <a:miter lim="800000"/>
              <a:tailEnd type="none"/>
            </a:ln>
            <a:effectLst>
              <a:outerShdw blurRad="40000" dist="20000" dir="5400000" rotWithShape="0">
                <a:srgbClr val="3366FF">
                  <a:alpha val="38000"/>
                </a:srgbClr>
              </a:outerShdw>
            </a:effectLst>
          </p:spPr>
          <p:style>
            <a:lnRef idx="2">
              <a:schemeClr val="accent1"/>
            </a:lnRef>
            <a:fillRef idx="0">
              <a:schemeClr val="accent1"/>
            </a:fillRef>
            <a:effectRef idx="1">
              <a:schemeClr val="accent1"/>
            </a:effectRef>
            <a:fontRef idx="minor">
              <a:schemeClr val="tx1"/>
            </a:fontRef>
          </p:style>
        </p:cxnSp>
        <p:cxnSp>
          <p:nvCxnSpPr>
            <p:cNvPr id="43" name="Straight Arrow Connector 42"/>
            <p:cNvCxnSpPr/>
            <p:nvPr/>
          </p:nvCxnSpPr>
          <p:spPr>
            <a:xfrm flipV="1">
              <a:off x="3181444" y="3143154"/>
              <a:ext cx="0" cy="855847"/>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sp>
          <p:nvSpPr>
            <p:cNvPr id="44" name="Freeform 43"/>
            <p:cNvSpPr/>
            <p:nvPr/>
          </p:nvSpPr>
          <p:spPr>
            <a:xfrm>
              <a:off x="3276600" y="1306945"/>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5" name="Freeform 44"/>
            <p:cNvSpPr/>
            <p:nvPr/>
          </p:nvSpPr>
          <p:spPr>
            <a:xfrm>
              <a:off x="4495800" y="1306945"/>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6" name="Freeform 45"/>
            <p:cNvSpPr/>
            <p:nvPr/>
          </p:nvSpPr>
          <p:spPr>
            <a:xfrm>
              <a:off x="2145684" y="1828800"/>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7" name="Freeform 46"/>
            <p:cNvSpPr/>
            <p:nvPr/>
          </p:nvSpPr>
          <p:spPr>
            <a:xfrm>
              <a:off x="5626716" y="1837961"/>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8" name="Freeform 47"/>
            <p:cNvSpPr/>
            <p:nvPr/>
          </p:nvSpPr>
          <p:spPr>
            <a:xfrm>
              <a:off x="2934678" y="3847300"/>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sp>
          <p:nvSpPr>
            <p:cNvPr id="49" name="Freeform 48"/>
            <p:cNvSpPr/>
            <p:nvPr/>
          </p:nvSpPr>
          <p:spPr>
            <a:xfrm>
              <a:off x="3745884" y="3845499"/>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sp>
          <p:nvSpPr>
            <p:cNvPr id="50" name="Freeform 49"/>
            <p:cNvSpPr/>
            <p:nvPr/>
          </p:nvSpPr>
          <p:spPr>
            <a:xfrm>
              <a:off x="4572000" y="3847300"/>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sp>
          <p:nvSpPr>
            <p:cNvPr id="51" name="Freeform 50"/>
            <p:cNvSpPr/>
            <p:nvPr/>
          </p:nvSpPr>
          <p:spPr>
            <a:xfrm>
              <a:off x="5410200" y="3845499"/>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cxnSp>
          <p:nvCxnSpPr>
            <p:cNvPr id="52" name="Straight Arrow Connector 51"/>
            <p:cNvCxnSpPr/>
            <p:nvPr/>
          </p:nvCxnSpPr>
          <p:spPr>
            <a:xfrm>
              <a:off x="3276600" y="1981200"/>
              <a:ext cx="1784658" cy="762000"/>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3" name="Straight Arrow Connector 52"/>
            <p:cNvCxnSpPr/>
            <p:nvPr/>
          </p:nvCxnSpPr>
          <p:spPr>
            <a:xfrm>
              <a:off x="3603471" y="1699208"/>
              <a:ext cx="1578129" cy="887917"/>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4" name="Straight Arrow Connector 53"/>
            <p:cNvCxnSpPr/>
            <p:nvPr/>
          </p:nvCxnSpPr>
          <p:spPr>
            <a:xfrm>
              <a:off x="5257800" y="1699208"/>
              <a:ext cx="152400" cy="887917"/>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5" name="Straight Arrow Connector 54"/>
            <p:cNvCxnSpPr/>
            <p:nvPr/>
          </p:nvCxnSpPr>
          <p:spPr>
            <a:xfrm flipH="1">
              <a:off x="5626716" y="2221063"/>
              <a:ext cx="240684" cy="366062"/>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6" name="Straight Arrow Connector 55"/>
            <p:cNvCxnSpPr/>
            <p:nvPr/>
          </p:nvCxnSpPr>
          <p:spPr>
            <a:xfrm flipH="1">
              <a:off x="3835186" y="1977346"/>
              <a:ext cx="1784658" cy="762000"/>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7" name="Straight Arrow Connector 56"/>
            <p:cNvCxnSpPr/>
            <p:nvPr/>
          </p:nvCxnSpPr>
          <p:spPr>
            <a:xfrm flipH="1">
              <a:off x="3714844" y="1695354"/>
              <a:ext cx="1578129" cy="887917"/>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8" name="Straight Arrow Connector 57"/>
            <p:cNvCxnSpPr/>
            <p:nvPr/>
          </p:nvCxnSpPr>
          <p:spPr>
            <a:xfrm flipH="1">
              <a:off x="3486244" y="1695354"/>
              <a:ext cx="152400" cy="887917"/>
            </a:xfrm>
            <a:prstGeom prst="straightConnector1">
              <a:avLst/>
            </a:prstGeom>
            <a:ln>
              <a:solidFill>
                <a:srgbClr val="0000FF"/>
              </a:solidFill>
              <a:miter lim="800000"/>
              <a:tailEnd type="none"/>
            </a:ln>
            <a:effectLst>
              <a:outerShdw blurRad="40000" dist="20000" dir="5400000" rotWithShape="0">
                <a:srgbClr val="3366FF">
                  <a:alpha val="38000"/>
                </a:srgbClr>
              </a:outerShdw>
            </a:effectLst>
          </p:spPr>
          <p:style>
            <a:lnRef idx="2">
              <a:schemeClr val="accent1"/>
            </a:lnRef>
            <a:fillRef idx="0">
              <a:schemeClr val="accent1"/>
            </a:fillRef>
            <a:effectRef idx="1">
              <a:schemeClr val="accent1"/>
            </a:effectRef>
            <a:fontRef idx="minor">
              <a:schemeClr val="tx1"/>
            </a:fontRef>
          </p:style>
        </p:cxnSp>
        <p:cxnSp>
          <p:nvCxnSpPr>
            <p:cNvPr id="59" name="Straight Arrow Connector 58"/>
            <p:cNvCxnSpPr/>
            <p:nvPr/>
          </p:nvCxnSpPr>
          <p:spPr>
            <a:xfrm>
              <a:off x="3029044" y="2217209"/>
              <a:ext cx="240684" cy="366062"/>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sp>
          <p:nvSpPr>
            <p:cNvPr id="60" name="Freeform 59"/>
            <p:cNvSpPr/>
            <p:nvPr/>
          </p:nvSpPr>
          <p:spPr>
            <a:xfrm>
              <a:off x="5061258" y="2438400"/>
              <a:ext cx="1130916" cy="8009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AFDX </a:t>
              </a:r>
              <a:r>
                <a:rPr lang="en-US" sz="1000" dirty="0" smtClean="0">
                  <a:latin typeface="Arial"/>
                  <a:cs typeface="Arial"/>
                </a:rPr>
                <a:t>or</a:t>
              </a:r>
            </a:p>
            <a:p>
              <a:pPr algn="ctr">
                <a:defRPr/>
              </a:pPr>
              <a:r>
                <a:rPr lang="en-US" sz="1000" b="1" dirty="0" smtClean="0">
                  <a:latin typeface="Arial"/>
                  <a:cs typeface="Arial"/>
                </a:rPr>
                <a:t>TTE</a:t>
              </a:r>
            </a:p>
            <a:p>
              <a:pPr algn="ctr">
                <a:defRPr/>
              </a:pPr>
              <a:r>
                <a:rPr lang="en-US" sz="1000" b="1" dirty="0" smtClean="0">
                  <a:latin typeface="Arial"/>
                  <a:cs typeface="Arial"/>
                </a:rPr>
                <a:t>Switch</a:t>
              </a:r>
              <a:endParaRPr lang="en-US" sz="1100" b="1" dirty="0" smtClean="0">
                <a:latin typeface="Arial"/>
                <a:cs typeface="Arial"/>
              </a:endParaRPr>
            </a:p>
          </p:txBody>
        </p:sp>
        <p:sp>
          <p:nvSpPr>
            <p:cNvPr id="61" name="Freeform 60"/>
            <p:cNvSpPr/>
            <p:nvPr/>
          </p:nvSpPr>
          <p:spPr>
            <a:xfrm>
              <a:off x="2755284" y="2438400"/>
              <a:ext cx="1130916" cy="8009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AFDX </a:t>
              </a:r>
              <a:r>
                <a:rPr lang="en-US" sz="1000" dirty="0" smtClean="0">
                  <a:latin typeface="Arial"/>
                  <a:cs typeface="Arial"/>
                </a:rPr>
                <a:t>or</a:t>
              </a:r>
            </a:p>
            <a:p>
              <a:pPr algn="ctr">
                <a:defRPr/>
              </a:pPr>
              <a:r>
                <a:rPr lang="en-US" sz="1000" b="1" dirty="0" smtClean="0">
                  <a:latin typeface="Arial"/>
                  <a:cs typeface="Arial"/>
                </a:rPr>
                <a:t>TTE</a:t>
              </a:r>
            </a:p>
            <a:p>
              <a:pPr algn="ctr">
                <a:defRPr/>
              </a:pPr>
              <a:r>
                <a:rPr lang="en-US" sz="1000" b="1" dirty="0" smtClean="0">
                  <a:latin typeface="Arial"/>
                  <a:cs typeface="Arial"/>
                </a:rPr>
                <a:t>Switch</a:t>
              </a:r>
              <a:endParaRPr lang="en-US" sz="1100" b="1" dirty="0" smtClean="0">
                <a:latin typeface="Arial"/>
                <a:cs typeface="Arial"/>
              </a:endParaRPr>
            </a:p>
          </p:txBody>
        </p:sp>
      </p:grpSp>
      <p:pic>
        <p:nvPicPr>
          <p:cNvPr id="63" name="Picture 7" descr="C:\Documents and Settings\ddcofer\My Documents\Projects\hacms\logos\UMN-v2.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275330" y="1752600"/>
            <a:ext cx="952500" cy="624302"/>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5181600" y="3200400"/>
            <a:ext cx="3657600" cy="533400"/>
          </a:xfrm>
          <a:prstGeom prst="rect">
            <a:avLst/>
          </a:prstGeom>
          <a:solidFill>
            <a:srgbClr val="8693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b="1" dirty="0" smtClean="0"/>
              <a:t>Example system: Quad-redundant flight control system provided by NASA</a:t>
            </a:r>
            <a:endParaRPr lang="en-US" sz="1200" b="1" dirty="0"/>
          </a:p>
        </p:txBody>
      </p:sp>
      <p:sp>
        <p:nvSpPr>
          <p:cNvPr id="9217" name="Circular Arrow 9216"/>
          <p:cNvSpPr/>
          <p:nvPr/>
        </p:nvSpPr>
        <p:spPr>
          <a:xfrm rot="15419931" flipH="1">
            <a:off x="5834682" y="3083091"/>
            <a:ext cx="1116616" cy="1116616"/>
          </a:xfrm>
          <a:prstGeom prst="circularArrow">
            <a:avLst>
              <a:gd name="adj1" fmla="val 10171"/>
              <a:gd name="adj2" fmla="val 1142319"/>
              <a:gd name="adj3" fmla="val 18623744"/>
              <a:gd name="adj4" fmla="val 15645266"/>
              <a:gd name="adj5" fmla="val 13600"/>
            </a:avLst>
          </a:prstGeom>
          <a:solidFill>
            <a:srgbClr val="8693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66" name="Oval 65"/>
          <p:cNvSpPr/>
          <p:nvPr/>
        </p:nvSpPr>
        <p:spPr>
          <a:xfrm>
            <a:off x="5181600" y="3200400"/>
            <a:ext cx="3962400" cy="3155950"/>
          </a:xfrm>
          <a:prstGeom prst="ellipse">
            <a:avLst/>
          </a:prstGeom>
          <a:noFill/>
          <a:ln w="38100" cap="flat" cmpd="sng" algn="ctr">
            <a:solidFill>
              <a:srgbClr val="FF0000"/>
            </a:solidFill>
            <a:prstDash val="solid"/>
            <a:round/>
            <a:headEnd type="none" w="med" len="med"/>
            <a:tailEnd type="none" w="med" len="med"/>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5" name="Footer Placeholder 64"/>
          <p:cNvSpPr>
            <a:spLocks noGrp="1"/>
          </p:cNvSpPr>
          <p:nvPr>
            <p:ph type="ftr" sz="quarter" idx="11"/>
          </p:nvPr>
        </p:nvSpPr>
        <p:spPr/>
        <p:txBody>
          <a:bodyPr/>
          <a:lstStyle/>
          <a:p>
            <a:r>
              <a:rPr lang="en-US" smtClean="0"/>
              <a:t>AMASE   </a:t>
            </a:r>
            <a:endParaRPr lang="en-US"/>
          </a:p>
        </p:txBody>
      </p:sp>
    </p:spTree>
    <p:extLst>
      <p:ext uri="{BB962C8B-B14F-4D97-AF65-F5344CB8AC3E}">
        <p14:creationId xmlns:p14="http://schemas.microsoft.com/office/powerpoint/2010/main" val="1909363110"/>
      </p:ext>
    </p:extLst>
  </p:cSld>
  <p:clrMapOvr>
    <a:masterClrMapping/>
  </p:clrMapOvr>
  <p:transition/>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sys_bscu.png"/>
          <p:cNvPicPr>
            <a:picLocks noGrp="1" noChangeAspect="1"/>
          </p:cNvPicPr>
          <p:nvPr>
            <p:ph idx="4294967295"/>
          </p:nvPr>
        </p:nvPicPr>
        <p:blipFill>
          <a:blip r:embed="rId3"/>
          <a:srcRect l="-7533" r="-7533"/>
          <a:stretch>
            <a:fillRect/>
          </a:stretch>
        </p:blipFill>
        <p:spPr>
          <a:xfrm>
            <a:off x="454652" y="799675"/>
            <a:ext cx="8434586" cy="5628113"/>
          </a:xfrm>
        </p:spPr>
      </p:pic>
      <p:sp>
        <p:nvSpPr>
          <p:cNvPr id="3" name="Slide Number Placeholder 2"/>
          <p:cNvSpPr>
            <a:spLocks noGrp="1"/>
          </p:cNvSpPr>
          <p:nvPr>
            <p:ph type="sldNum" sz="quarter" idx="12"/>
          </p:nvPr>
        </p:nvSpPr>
        <p:spPr/>
        <p:txBody>
          <a:bodyPr/>
          <a:lstStyle/>
          <a:p>
            <a:fld id="{A3FF127A-2DBF-924B-94E1-163D8C9D5B47}" type="slidenum">
              <a:rPr lang="en-US" smtClean="0"/>
              <a:pPr/>
              <a:t>18</a:t>
            </a:fld>
            <a:endParaRPr lang="en-US"/>
          </a:p>
        </p:txBody>
      </p:sp>
      <p:sp>
        <p:nvSpPr>
          <p:cNvPr id="4" name="Footer Placeholder 3"/>
          <p:cNvSpPr>
            <a:spLocks noGrp="1"/>
          </p:cNvSpPr>
          <p:nvPr>
            <p:ph type="ftr" sz="quarter" idx="11"/>
          </p:nvPr>
        </p:nvSpPr>
        <p:spPr/>
        <p:txBody>
          <a:bodyPr/>
          <a:lstStyle/>
          <a:p>
            <a:r>
              <a:rPr lang="en-US" smtClean="0"/>
              <a:t>AMASE   </a:t>
            </a:r>
            <a:endParaRPr lang="en-US"/>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sys_bscu.png"/>
          <p:cNvPicPr>
            <a:picLocks noGrp="1" noChangeAspect="1"/>
          </p:cNvPicPr>
          <p:nvPr>
            <p:ph idx="4294967295"/>
          </p:nvPr>
        </p:nvPicPr>
        <p:blipFill>
          <a:blip r:embed="rId3"/>
          <a:srcRect l="-7533" r="-7533"/>
          <a:stretch>
            <a:fillRect/>
          </a:stretch>
        </p:blipFill>
        <p:spPr>
          <a:xfrm>
            <a:off x="454652" y="799675"/>
            <a:ext cx="8434586" cy="5628113"/>
          </a:xfrm>
        </p:spPr>
      </p:pic>
      <p:sp>
        <p:nvSpPr>
          <p:cNvPr id="3" name="Slide Number Placeholder 2"/>
          <p:cNvSpPr>
            <a:spLocks noGrp="1"/>
          </p:cNvSpPr>
          <p:nvPr>
            <p:ph type="sldNum" sz="quarter" idx="12"/>
          </p:nvPr>
        </p:nvSpPr>
        <p:spPr/>
        <p:txBody>
          <a:bodyPr/>
          <a:lstStyle/>
          <a:p>
            <a:fld id="{A3FF127A-2DBF-924B-94E1-163D8C9D5B47}" type="slidenum">
              <a:rPr lang="en-US" smtClean="0"/>
              <a:pPr/>
              <a:t>19</a:t>
            </a:fld>
            <a:endParaRPr lang="en-US"/>
          </a:p>
        </p:txBody>
      </p:sp>
      <p:sp>
        <p:nvSpPr>
          <p:cNvPr id="4" name="Footer Placeholder 3"/>
          <p:cNvSpPr>
            <a:spLocks noGrp="1"/>
          </p:cNvSpPr>
          <p:nvPr>
            <p:ph type="ftr" sz="quarter" idx="11"/>
          </p:nvPr>
        </p:nvSpPr>
        <p:spPr/>
        <p:txBody>
          <a:bodyPr/>
          <a:lstStyle/>
          <a:p>
            <a:r>
              <a:rPr lang="en-US" smtClean="0"/>
              <a:t>AMASE   </a:t>
            </a:r>
            <a:endParaRPr lang="en-US"/>
          </a:p>
        </p:txBody>
      </p:sp>
      <p:cxnSp>
        <p:nvCxnSpPr>
          <p:cNvPr id="6" name="Straight Connector 5"/>
          <p:cNvCxnSpPr/>
          <p:nvPr/>
        </p:nvCxnSpPr>
        <p:spPr>
          <a:xfrm rot="16200000" flipH="1">
            <a:off x="-2352676" y="3597272"/>
            <a:ext cx="5365751" cy="50802"/>
          </a:xfrm>
          <a:prstGeom prst="line">
            <a:avLst/>
          </a:prstGeom>
          <a:ln w="38100" cap="flat" cmpd="sng" algn="ctr">
            <a:solidFill>
              <a:srgbClr val="FF0000"/>
            </a:solidFill>
            <a:prstDash val="solid"/>
            <a:round/>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4" name="Straight Arrow Connector 13"/>
          <p:cNvCxnSpPr/>
          <p:nvPr/>
        </p:nvCxnSpPr>
        <p:spPr>
          <a:xfrm>
            <a:off x="304798" y="939797"/>
            <a:ext cx="609602" cy="1588"/>
          </a:xfrm>
          <a:prstGeom prst="straightConnector1">
            <a:avLst/>
          </a:prstGeom>
          <a:ln w="38100" cap="flat" cmpd="sng" algn="ctr">
            <a:solidFill>
              <a:srgbClr val="FF0000"/>
            </a:solidFill>
            <a:prstDash val="solid"/>
            <a:round/>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6" name="Straight Arrow Connector 15"/>
          <p:cNvCxnSpPr/>
          <p:nvPr/>
        </p:nvCxnSpPr>
        <p:spPr>
          <a:xfrm>
            <a:off x="355601" y="6305549"/>
            <a:ext cx="558799" cy="1588"/>
          </a:xfrm>
          <a:prstGeom prst="straightConnector1">
            <a:avLst/>
          </a:prstGeom>
          <a:ln w="38100" cap="flat" cmpd="sng" algn="ctr">
            <a:solidFill>
              <a:srgbClr val="FF0000"/>
            </a:solidFill>
            <a:prstDash val="solid"/>
            <a:round/>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9" name="Straight Connector 18"/>
          <p:cNvCxnSpPr/>
          <p:nvPr/>
        </p:nvCxnSpPr>
        <p:spPr>
          <a:xfrm rot="16200000" flipH="1">
            <a:off x="-800100" y="4457700"/>
            <a:ext cx="3022600" cy="25400"/>
          </a:xfrm>
          <a:prstGeom prst="line">
            <a:avLst/>
          </a:prstGeom>
          <a:ln w="38100" cap="flat" cmpd="sng" algn="ctr">
            <a:solidFill>
              <a:srgbClr val="0000FF"/>
            </a:solidFill>
            <a:prstDash val="solid"/>
            <a:round/>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1" name="Straight Arrow Connector 20"/>
          <p:cNvCxnSpPr/>
          <p:nvPr/>
        </p:nvCxnSpPr>
        <p:spPr>
          <a:xfrm>
            <a:off x="711200" y="2959100"/>
            <a:ext cx="203200" cy="1588"/>
          </a:xfrm>
          <a:prstGeom prst="straightConnector1">
            <a:avLst/>
          </a:prstGeom>
          <a:ln w="38100" cap="flat" cmpd="sng" algn="ctr">
            <a:solidFill>
              <a:srgbClr val="0000FF"/>
            </a:solidFill>
            <a:prstDash val="solid"/>
            <a:round/>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23" name="Straight Arrow Connector 22"/>
          <p:cNvCxnSpPr/>
          <p:nvPr/>
        </p:nvCxnSpPr>
        <p:spPr>
          <a:xfrm>
            <a:off x="723900" y="5981700"/>
            <a:ext cx="190500" cy="1588"/>
          </a:xfrm>
          <a:prstGeom prst="straightConnector1">
            <a:avLst/>
          </a:prstGeom>
          <a:ln w="38100" cap="flat" cmpd="sng" algn="ctr">
            <a:solidFill>
              <a:srgbClr val="0000FF"/>
            </a:solidFill>
            <a:prstDash val="solid"/>
            <a:round/>
            <a:headEnd type="none" w="med" len="med"/>
            <a:tailEnd type="arrow" w="med" len="med"/>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sys_bscu.png"/>
          <p:cNvPicPr>
            <a:picLocks noGrp="1" noChangeAspect="1"/>
          </p:cNvPicPr>
          <p:nvPr>
            <p:ph idx="4294967295"/>
          </p:nvPr>
        </p:nvPicPr>
        <p:blipFill>
          <a:blip r:embed="rId3"/>
          <a:srcRect l="-7533" r="-7533"/>
          <a:stretch>
            <a:fillRect/>
          </a:stretch>
        </p:blipFill>
        <p:spPr>
          <a:xfrm>
            <a:off x="454652" y="799675"/>
            <a:ext cx="8434586" cy="5628113"/>
          </a:xfrm>
        </p:spPr>
      </p:pic>
      <p:sp>
        <p:nvSpPr>
          <p:cNvPr id="3" name="Slide Number Placeholder 2"/>
          <p:cNvSpPr>
            <a:spLocks noGrp="1"/>
          </p:cNvSpPr>
          <p:nvPr>
            <p:ph type="sldNum" sz="quarter" idx="12"/>
          </p:nvPr>
        </p:nvSpPr>
        <p:spPr/>
        <p:txBody>
          <a:bodyPr/>
          <a:lstStyle/>
          <a:p>
            <a:fld id="{A3FF127A-2DBF-924B-94E1-163D8C9D5B47}" type="slidenum">
              <a:rPr lang="en-US" smtClean="0"/>
              <a:pPr/>
              <a:t>20</a:t>
            </a:fld>
            <a:endParaRPr lang="en-US"/>
          </a:p>
        </p:txBody>
      </p:sp>
      <p:sp>
        <p:nvSpPr>
          <p:cNvPr id="4" name="Footer Placeholder 3"/>
          <p:cNvSpPr>
            <a:spLocks noGrp="1"/>
          </p:cNvSpPr>
          <p:nvPr>
            <p:ph type="ftr" sz="quarter" idx="11"/>
          </p:nvPr>
        </p:nvSpPr>
        <p:spPr/>
        <p:txBody>
          <a:bodyPr/>
          <a:lstStyle/>
          <a:p>
            <a:r>
              <a:rPr lang="en-US" smtClean="0"/>
              <a:t>AMASE   </a:t>
            </a:r>
            <a:endParaRPr lang="en-US"/>
          </a:p>
        </p:txBody>
      </p:sp>
      <p:cxnSp>
        <p:nvCxnSpPr>
          <p:cNvPr id="6" name="Straight Connector 5"/>
          <p:cNvCxnSpPr/>
          <p:nvPr/>
        </p:nvCxnSpPr>
        <p:spPr>
          <a:xfrm>
            <a:off x="2311400" y="5765800"/>
            <a:ext cx="812800" cy="1588"/>
          </a:xfrm>
          <a:prstGeom prst="line">
            <a:avLst/>
          </a:prstGeom>
          <a:ln w="38100" cap="flat" cmpd="sng" algn="ctr">
            <a:solidFill>
              <a:srgbClr val="0000FF"/>
            </a:solidFill>
            <a:prstDash val="solid"/>
            <a:round/>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a:off x="3810000" y="5767388"/>
            <a:ext cx="762000" cy="1588"/>
          </a:xfrm>
          <a:prstGeom prst="line">
            <a:avLst/>
          </a:prstGeom>
          <a:ln w="38100" cap="flat" cmpd="sng" algn="ctr">
            <a:solidFill>
              <a:srgbClr val="0000FF"/>
            </a:solidFill>
            <a:prstDash val="solid"/>
            <a:round/>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1" name="Straight Arrow Connector 10"/>
          <p:cNvCxnSpPr/>
          <p:nvPr/>
        </p:nvCxnSpPr>
        <p:spPr>
          <a:xfrm>
            <a:off x="762000" y="2171700"/>
            <a:ext cx="495300" cy="1588"/>
          </a:xfrm>
          <a:prstGeom prst="straightConnector1">
            <a:avLst/>
          </a:prstGeom>
          <a:ln w="38100" cap="flat" cmpd="sng" algn="ctr">
            <a:solidFill>
              <a:srgbClr val="0000FF"/>
            </a:solidFill>
            <a:prstDash val="solid"/>
            <a:round/>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3" name="Straight Arrow Connector 12"/>
          <p:cNvCxnSpPr/>
          <p:nvPr/>
        </p:nvCxnSpPr>
        <p:spPr>
          <a:xfrm>
            <a:off x="762000" y="2362200"/>
            <a:ext cx="495300" cy="1588"/>
          </a:xfrm>
          <a:prstGeom prst="straightConnector1">
            <a:avLst/>
          </a:prstGeom>
          <a:ln w="38100" cap="flat" cmpd="sng" algn="ctr">
            <a:solidFill>
              <a:srgbClr val="0000FF"/>
            </a:solidFill>
            <a:prstDash val="solid"/>
            <a:round/>
            <a:headEnd type="none" w="med" len="med"/>
            <a:tailEnd type="arrow" w="med" len="med"/>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11"/>
          </p:nvPr>
        </p:nvSpPr>
        <p:spPr/>
        <p:txBody>
          <a:bodyPr/>
          <a:lstStyle/>
          <a:p>
            <a:r>
              <a:rPr lang="en-US" smtClean="0"/>
              <a:t>AMASE   </a:t>
            </a:r>
            <a:endParaRPr lang="en-US"/>
          </a:p>
        </p:txBody>
      </p:sp>
      <p:sp>
        <p:nvSpPr>
          <p:cNvPr id="3" name="Slide Number Placeholder 2"/>
          <p:cNvSpPr>
            <a:spLocks noGrp="1"/>
          </p:cNvSpPr>
          <p:nvPr>
            <p:ph type="sldNum" sz="quarter" idx="12"/>
          </p:nvPr>
        </p:nvSpPr>
        <p:spPr/>
        <p:txBody>
          <a:bodyPr/>
          <a:lstStyle/>
          <a:p>
            <a:fld id="{A3FF127A-2DBF-924B-94E1-163D8C9D5B47}" type="slidenum">
              <a:rPr lang="en-US" smtClean="0"/>
              <a:pPr/>
              <a:t>21</a:t>
            </a:fld>
            <a:endParaRPr lang="en-US"/>
          </a:p>
        </p:txBody>
      </p:sp>
      <p:pic>
        <p:nvPicPr>
          <p:cNvPr id="4" name="Picture 3" descr="newGuarantees1.png"/>
          <p:cNvPicPr>
            <a:picLocks noChangeAspect="1"/>
          </p:cNvPicPr>
          <p:nvPr/>
        </p:nvPicPr>
        <p:blipFill>
          <a:blip r:embed="rId2"/>
          <a:stretch>
            <a:fillRect/>
          </a:stretch>
        </p:blipFill>
        <p:spPr>
          <a:xfrm>
            <a:off x="527050" y="3124200"/>
            <a:ext cx="8369300" cy="609600"/>
          </a:xfrm>
          <a:prstGeom prst="rect">
            <a:avLst/>
          </a:prstGeom>
        </p:spPr>
      </p:pic>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p:cNvSpPr>
            <a:spLocks noGrp="1"/>
          </p:cNvSpPr>
          <p:nvPr>
            <p:ph idx="1"/>
          </p:nvPr>
        </p:nvSpPr>
        <p:spPr>
          <a:xfrm>
            <a:off x="457200" y="2349500"/>
            <a:ext cx="8229600" cy="3776663"/>
          </a:xfrm>
        </p:spPr>
        <p:txBody>
          <a:bodyPr/>
          <a:lstStyle/>
          <a:p>
            <a:r>
              <a:rPr lang="en-US" dirty="0" smtClean="0"/>
              <a:t>Wrap nominal component in fault</a:t>
            </a:r>
          </a:p>
          <a:p>
            <a:r>
              <a:rPr lang="en-US" dirty="0" smtClean="0"/>
              <a:t>Watch behavior of system through AGREE contracts</a:t>
            </a:r>
          </a:p>
          <a:p>
            <a:pPr>
              <a:buNone/>
            </a:pPr>
            <a:endParaRPr lang="en-US" dirty="0"/>
          </a:p>
        </p:txBody>
      </p:sp>
      <p:sp>
        <p:nvSpPr>
          <p:cNvPr id="3" name="Slide Number Placeholder 2"/>
          <p:cNvSpPr>
            <a:spLocks noGrp="1"/>
          </p:cNvSpPr>
          <p:nvPr>
            <p:ph type="sldNum" sz="quarter" idx="12"/>
          </p:nvPr>
        </p:nvSpPr>
        <p:spPr/>
        <p:txBody>
          <a:bodyPr/>
          <a:lstStyle/>
          <a:p>
            <a:fld id="{A3FF127A-2DBF-924B-94E1-163D8C9D5B47}" type="slidenum">
              <a:rPr lang="en-US" smtClean="0"/>
              <a:pPr/>
              <a:t>22</a:t>
            </a:fld>
            <a:endParaRPr lang="en-US"/>
          </a:p>
        </p:txBody>
      </p:sp>
      <p:sp>
        <p:nvSpPr>
          <p:cNvPr id="4" name="Footer Placeholder 3"/>
          <p:cNvSpPr>
            <a:spLocks noGrp="1"/>
          </p:cNvSpPr>
          <p:nvPr>
            <p:ph type="ftr" sz="quarter" idx="11"/>
          </p:nvPr>
        </p:nvSpPr>
        <p:spPr/>
        <p:txBody>
          <a:bodyPr/>
          <a:lstStyle/>
          <a:p>
            <a:r>
              <a:rPr lang="en-US" smtClean="0"/>
              <a:t>AMASE   </a:t>
            </a:r>
            <a:endParaRPr lang="en-US"/>
          </a:p>
        </p:txBody>
      </p:sp>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rbitraryComp.pdf"/>
          <p:cNvPicPr>
            <a:picLocks noChangeAspect="1"/>
          </p:cNvPicPr>
          <p:nvPr/>
        </p:nvPicPr>
        <mc:AlternateContent xmlns:mc="http://schemas.openxmlformats.org/markup-compatibility/2006">
          <mc:Choice xmlns:ma="http://schemas.microsoft.com/office/mac/drawingml/2008/main" xmlns:mv="urn:schemas-microsoft-com:mac:vml" xmlns="" Requires="ma">
            <p:blipFill>
              <a:blip r:embed="rId2"/>
              <a:stretch>
                <a:fillRect/>
              </a:stretch>
            </p:blipFill>
          </mc:Choice>
          <mc:Fallback>
            <p:blipFill>
              <a:blip r:embed="rId3"/>
              <a:stretch>
                <a:fillRect/>
              </a:stretch>
            </p:blipFill>
          </mc:Fallback>
        </mc:AlternateContent>
        <p:spPr>
          <a:xfrm>
            <a:off x="1445047" y="1525588"/>
            <a:ext cx="6083301" cy="3581400"/>
          </a:xfrm>
          <a:prstGeom prst="rect">
            <a:avLst/>
          </a:prstGeom>
        </p:spPr>
      </p:pic>
      <p:sp>
        <p:nvSpPr>
          <p:cNvPr id="4" name="Slide Number Placeholder 3"/>
          <p:cNvSpPr>
            <a:spLocks noGrp="1"/>
          </p:cNvSpPr>
          <p:nvPr>
            <p:ph type="sldNum" sz="quarter" idx="12"/>
          </p:nvPr>
        </p:nvSpPr>
        <p:spPr/>
        <p:txBody>
          <a:bodyPr/>
          <a:lstStyle/>
          <a:p>
            <a:fld id="{A3FF127A-2DBF-924B-94E1-163D8C9D5B47}" type="slidenum">
              <a:rPr lang="en-US" smtClean="0"/>
              <a:pPr/>
              <a:t>23</a:t>
            </a:fld>
            <a:endParaRPr lang="en-US"/>
          </a:p>
        </p:txBody>
      </p:sp>
      <p:sp>
        <p:nvSpPr>
          <p:cNvPr id="5" name="Footer Placeholder 4"/>
          <p:cNvSpPr>
            <a:spLocks noGrp="1"/>
          </p:cNvSpPr>
          <p:nvPr>
            <p:ph type="ftr" sz="quarter" idx="11"/>
          </p:nvPr>
        </p:nvSpPr>
        <p:spPr/>
        <p:txBody>
          <a:bodyPr/>
          <a:lstStyle/>
          <a:p>
            <a:r>
              <a:rPr lang="en-US" smtClean="0"/>
              <a:t>AMASE   </a:t>
            </a:r>
            <a:endParaRPr lang="en-US"/>
          </a:p>
        </p:txBody>
      </p:sp>
    </p:spTree>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rbitComp2.pdf"/>
          <p:cNvPicPr>
            <a:picLocks noChangeAspect="1"/>
          </p:cNvPicPr>
          <p:nvPr/>
        </p:nvPicPr>
        <mc:AlternateContent xmlns:mc="http://schemas.openxmlformats.org/markup-compatibility/2006">
          <mc:Choice xmlns:ma="http://schemas.microsoft.com/office/mac/drawingml/2008/main" xmlns:mv="urn:schemas-microsoft-com:mac:vml" xmlns="" Requires="ma">
            <p:blipFill>
              <a:blip r:embed="rId2"/>
              <a:stretch>
                <a:fillRect/>
              </a:stretch>
            </p:blipFill>
          </mc:Choice>
          <mc:Fallback>
            <p:blipFill>
              <a:blip r:embed="rId3"/>
              <a:stretch>
                <a:fillRect/>
              </a:stretch>
            </p:blipFill>
          </mc:Fallback>
        </mc:AlternateContent>
        <p:spPr>
          <a:xfrm>
            <a:off x="0" y="444500"/>
            <a:ext cx="9053165" cy="5257800"/>
          </a:xfrm>
          <a:prstGeom prst="rect">
            <a:avLst/>
          </a:prstGeom>
        </p:spPr>
      </p:pic>
      <p:sp>
        <p:nvSpPr>
          <p:cNvPr id="3" name="Slide Number Placeholder 2"/>
          <p:cNvSpPr>
            <a:spLocks noGrp="1"/>
          </p:cNvSpPr>
          <p:nvPr>
            <p:ph type="sldNum" sz="quarter" idx="12"/>
          </p:nvPr>
        </p:nvSpPr>
        <p:spPr/>
        <p:txBody>
          <a:bodyPr/>
          <a:lstStyle/>
          <a:p>
            <a:fld id="{A3FF127A-2DBF-924B-94E1-163D8C9D5B47}" type="slidenum">
              <a:rPr lang="en-US" smtClean="0"/>
              <a:pPr/>
              <a:t>24</a:t>
            </a:fld>
            <a:endParaRPr lang="en-US"/>
          </a:p>
        </p:txBody>
      </p:sp>
      <p:sp>
        <p:nvSpPr>
          <p:cNvPr id="4" name="Footer Placeholder 3"/>
          <p:cNvSpPr>
            <a:spLocks noGrp="1"/>
          </p:cNvSpPr>
          <p:nvPr>
            <p:ph type="ftr" sz="quarter" idx="11"/>
          </p:nvPr>
        </p:nvSpPr>
        <p:spPr/>
        <p:txBody>
          <a:bodyPr/>
          <a:lstStyle/>
          <a:p>
            <a:r>
              <a:rPr lang="en-US" smtClean="0"/>
              <a:t>AMASE   </a:t>
            </a:r>
            <a:endParaRPr lang="en-US"/>
          </a:p>
        </p:txBody>
      </p:sp>
    </p:spTree>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emmaPedal.png"/>
          <p:cNvPicPr>
            <a:picLocks noChangeAspect="1"/>
          </p:cNvPicPr>
          <p:nvPr/>
        </p:nvPicPr>
        <p:blipFill>
          <a:blip r:embed="rId2"/>
          <a:stretch>
            <a:fillRect/>
          </a:stretch>
        </p:blipFill>
        <p:spPr>
          <a:xfrm>
            <a:off x="495300" y="2501900"/>
            <a:ext cx="8648700" cy="1587500"/>
          </a:xfrm>
          <a:prstGeom prst="rect">
            <a:avLst/>
          </a:prstGeom>
        </p:spPr>
      </p:pic>
      <p:sp>
        <p:nvSpPr>
          <p:cNvPr id="5" name="Title 4"/>
          <p:cNvSpPr>
            <a:spLocks noGrp="1"/>
          </p:cNvSpPr>
          <p:nvPr>
            <p:ph type="title"/>
          </p:nvPr>
        </p:nvSpPr>
        <p:spPr/>
        <p:txBody>
          <a:bodyPr/>
          <a:lstStyle/>
          <a:p>
            <a:r>
              <a:rPr lang="en-US" dirty="0" smtClean="0"/>
              <a:t>WBS Top Level Contract</a:t>
            </a:r>
            <a:endParaRPr lang="en-US" dirty="0"/>
          </a:p>
        </p:txBody>
      </p:sp>
      <p:sp>
        <p:nvSpPr>
          <p:cNvPr id="4" name="Footer Placeholder 3"/>
          <p:cNvSpPr>
            <a:spLocks noGrp="1"/>
          </p:cNvSpPr>
          <p:nvPr>
            <p:ph type="ftr" sz="quarter" idx="11"/>
          </p:nvPr>
        </p:nvSpPr>
        <p:spPr/>
        <p:txBody>
          <a:bodyPr/>
          <a:lstStyle/>
          <a:p>
            <a:r>
              <a:rPr lang="en-US" smtClean="0"/>
              <a:t>AMASE   </a:t>
            </a:r>
            <a:endParaRPr lang="en-US"/>
          </a:p>
        </p:txBody>
      </p:sp>
      <p:sp>
        <p:nvSpPr>
          <p:cNvPr id="3" name="Slide Number Placeholder 2"/>
          <p:cNvSpPr>
            <a:spLocks noGrp="1"/>
          </p:cNvSpPr>
          <p:nvPr>
            <p:ph type="sldNum" sz="quarter" idx="12"/>
          </p:nvPr>
        </p:nvSpPr>
        <p:spPr/>
        <p:txBody>
          <a:bodyPr/>
          <a:lstStyle/>
          <a:p>
            <a:fld id="{A3FF127A-2DBF-924B-94E1-163D8C9D5B47}" type="slidenum">
              <a:rPr lang="en-US" smtClean="0"/>
              <a:pPr/>
              <a:t>25</a:t>
            </a:fld>
            <a:endParaRPr lang="en-US"/>
          </a:p>
        </p:txBody>
      </p:sp>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Manual Fault Injection</a:t>
            </a:r>
            <a:endParaRPr lang="en-US" dirty="0"/>
          </a:p>
        </p:txBody>
      </p:sp>
      <p:sp>
        <p:nvSpPr>
          <p:cNvPr id="3" name="Footer Placeholder 2"/>
          <p:cNvSpPr>
            <a:spLocks noGrp="1"/>
          </p:cNvSpPr>
          <p:nvPr>
            <p:ph type="ftr" sz="quarter" idx="11"/>
          </p:nvPr>
        </p:nvSpPr>
        <p:spPr/>
        <p:txBody>
          <a:bodyPr/>
          <a:lstStyle/>
          <a:p>
            <a:r>
              <a:rPr lang="en-US" smtClean="0"/>
              <a:t>AMASE   </a:t>
            </a:r>
            <a:endParaRPr lang="en-US"/>
          </a:p>
        </p:txBody>
      </p:sp>
      <p:sp>
        <p:nvSpPr>
          <p:cNvPr id="4" name="Slide Number Placeholder 3"/>
          <p:cNvSpPr>
            <a:spLocks noGrp="1"/>
          </p:cNvSpPr>
          <p:nvPr>
            <p:ph type="sldNum" sz="quarter" idx="12"/>
          </p:nvPr>
        </p:nvSpPr>
        <p:spPr/>
        <p:txBody>
          <a:bodyPr/>
          <a:lstStyle/>
          <a:p>
            <a:fld id="{A3FF127A-2DBF-924B-94E1-163D8C9D5B47}" type="slidenum">
              <a:rPr lang="en-US" smtClean="0"/>
              <a:pPr/>
              <a:t>26</a:t>
            </a:fld>
            <a:endParaRPr lang="en-US"/>
          </a:p>
        </p:txBody>
      </p:sp>
      <p:pic>
        <p:nvPicPr>
          <p:cNvPr id="5" name="Picture 4" descr="newGuarantees1.png"/>
          <p:cNvPicPr>
            <a:picLocks noChangeAspect="1"/>
          </p:cNvPicPr>
          <p:nvPr/>
        </p:nvPicPr>
        <p:blipFill>
          <a:blip r:embed="rId2"/>
          <a:stretch>
            <a:fillRect/>
          </a:stretch>
        </p:blipFill>
        <p:spPr>
          <a:xfrm>
            <a:off x="431800" y="1727200"/>
            <a:ext cx="8369300" cy="609600"/>
          </a:xfrm>
          <a:prstGeom prst="rect">
            <a:avLst/>
          </a:prstGeom>
        </p:spPr>
      </p:pic>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Manual Fault Injection</a:t>
            </a:r>
            <a:endParaRPr lang="en-US" dirty="0"/>
          </a:p>
        </p:txBody>
      </p:sp>
      <p:sp>
        <p:nvSpPr>
          <p:cNvPr id="3" name="Footer Placeholder 2"/>
          <p:cNvSpPr>
            <a:spLocks noGrp="1"/>
          </p:cNvSpPr>
          <p:nvPr>
            <p:ph type="ftr" sz="quarter" idx="11"/>
          </p:nvPr>
        </p:nvSpPr>
        <p:spPr/>
        <p:txBody>
          <a:bodyPr/>
          <a:lstStyle/>
          <a:p>
            <a:r>
              <a:rPr lang="en-US" smtClean="0"/>
              <a:t>AMASE   </a:t>
            </a:r>
            <a:endParaRPr lang="en-US"/>
          </a:p>
        </p:txBody>
      </p:sp>
      <p:sp>
        <p:nvSpPr>
          <p:cNvPr id="4" name="Slide Number Placeholder 3"/>
          <p:cNvSpPr>
            <a:spLocks noGrp="1"/>
          </p:cNvSpPr>
          <p:nvPr>
            <p:ph type="sldNum" sz="quarter" idx="12"/>
          </p:nvPr>
        </p:nvSpPr>
        <p:spPr/>
        <p:txBody>
          <a:bodyPr/>
          <a:lstStyle/>
          <a:p>
            <a:fld id="{A3FF127A-2DBF-924B-94E1-163D8C9D5B47}" type="slidenum">
              <a:rPr lang="en-US" smtClean="0"/>
              <a:pPr/>
              <a:t>27</a:t>
            </a:fld>
            <a:endParaRPr lang="en-US"/>
          </a:p>
        </p:txBody>
      </p:sp>
      <p:pic>
        <p:nvPicPr>
          <p:cNvPr id="5" name="Picture 4" descr="newGuarantees1.png"/>
          <p:cNvPicPr>
            <a:picLocks noChangeAspect="1"/>
          </p:cNvPicPr>
          <p:nvPr/>
        </p:nvPicPr>
        <p:blipFill>
          <a:blip r:embed="rId2"/>
          <a:stretch>
            <a:fillRect/>
          </a:stretch>
        </p:blipFill>
        <p:spPr>
          <a:xfrm>
            <a:off x="431800" y="1727200"/>
            <a:ext cx="8369300" cy="609600"/>
          </a:xfrm>
          <a:prstGeom prst="rect">
            <a:avLst/>
          </a:prstGeom>
        </p:spPr>
      </p:pic>
      <p:pic>
        <p:nvPicPr>
          <p:cNvPr id="7" name="Picture 6" descr="newGuarantees.png"/>
          <p:cNvPicPr>
            <a:picLocks noChangeAspect="1"/>
          </p:cNvPicPr>
          <p:nvPr/>
        </p:nvPicPr>
        <p:blipFill>
          <a:blip r:embed="rId3"/>
          <a:stretch>
            <a:fillRect/>
          </a:stretch>
        </p:blipFill>
        <p:spPr>
          <a:xfrm>
            <a:off x="457200" y="4489450"/>
            <a:ext cx="8343900" cy="520700"/>
          </a:xfrm>
          <a:prstGeom prst="rect">
            <a:avLst/>
          </a:prstGeom>
        </p:spPr>
      </p:pic>
      <p:cxnSp>
        <p:nvCxnSpPr>
          <p:cNvPr id="9" name="Straight Arrow Connector 8"/>
          <p:cNvCxnSpPr/>
          <p:nvPr/>
        </p:nvCxnSpPr>
        <p:spPr>
          <a:xfrm rot="5400000">
            <a:off x="3254772" y="3412728"/>
            <a:ext cx="2151856" cy="1588"/>
          </a:xfrm>
          <a:prstGeom prst="straightConnector1">
            <a:avLst/>
          </a:prstGeom>
          <a:ln w="38100" cap="flat" cmpd="sng" algn="ctr">
            <a:solidFill>
              <a:srgbClr val="FF0000"/>
            </a:solidFill>
            <a:prstDash val="solid"/>
            <a:round/>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a:off x="1739900" y="4946650"/>
            <a:ext cx="1612900" cy="1588"/>
          </a:xfrm>
          <a:prstGeom prst="line">
            <a:avLst/>
          </a:prstGeom>
          <a:ln w="38100" cap="flat" cmpd="sng" algn="ctr">
            <a:solidFill>
              <a:srgbClr val="FF0000"/>
            </a:solidFill>
            <a:prstDash val="solid"/>
            <a:round/>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p:cNvCxnSpPr/>
          <p:nvPr/>
        </p:nvCxnSpPr>
        <p:spPr>
          <a:xfrm>
            <a:off x="4528344" y="4945856"/>
            <a:ext cx="1543050" cy="2382"/>
          </a:xfrm>
          <a:prstGeom prst="line">
            <a:avLst/>
          </a:prstGeom>
          <a:ln w="38100" cap="flat" cmpd="sng" algn="ctr">
            <a:solidFill>
              <a:srgbClr val="FF0000"/>
            </a:solidFill>
            <a:prstDash val="solid"/>
            <a:round/>
            <a:headEnd type="none" w="med" len="med"/>
            <a:tailEnd type="non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2000" dirty="0" smtClean="0"/>
              <a:t>Summary of Nominal Model Changes</a:t>
            </a:r>
            <a:endParaRPr lang="en-US" sz="2000" dirty="0"/>
          </a:p>
        </p:txBody>
      </p:sp>
      <p:sp>
        <p:nvSpPr>
          <p:cNvPr id="3" name="Slide Number Placeholder 2"/>
          <p:cNvSpPr>
            <a:spLocks noGrp="1"/>
          </p:cNvSpPr>
          <p:nvPr>
            <p:ph type="sldNum" sz="quarter" idx="10"/>
          </p:nvPr>
        </p:nvSpPr>
        <p:spPr/>
        <p:txBody>
          <a:bodyPr/>
          <a:lstStyle/>
          <a:p>
            <a:pPr>
              <a:defRPr/>
            </a:pPr>
            <a:fld id="{0913AD8B-6753-4D8D-9DCF-DBA38AAB592C}" type="slidenum">
              <a:rPr lang="en-US" smtClean="0"/>
              <a:pPr>
                <a:defRPr/>
              </a:pPr>
              <a:t>28</a:t>
            </a:fld>
            <a:endParaRPr lang="en-US"/>
          </a:p>
        </p:txBody>
      </p:sp>
      <p:sp>
        <p:nvSpPr>
          <p:cNvPr id="4" name="Content Placeholder 2"/>
          <p:cNvSpPr txBox="1">
            <a:spLocks/>
          </p:cNvSpPr>
          <p:nvPr/>
        </p:nvSpPr>
        <p:spPr>
          <a:xfrm>
            <a:off x="762000" y="2247900"/>
            <a:ext cx="7924800" cy="3390900"/>
          </a:xfrm>
          <a:prstGeom prst="rect">
            <a:avLst/>
          </a:prstGeom>
        </p:spPr>
        <p:txBody>
          <a:bodyPr>
            <a:normAutofit/>
          </a:bodyPr>
          <a:lstStyle>
            <a:lvl1pPr marL="342900" indent="-342900" algn="l" rtl="0" eaLnBrk="1" fontAlgn="base" hangingPunct="1">
              <a:spcBef>
                <a:spcPct val="20000"/>
              </a:spcBef>
              <a:spcAft>
                <a:spcPct val="0"/>
              </a:spcAft>
              <a:buChar char="•"/>
              <a:defRPr>
                <a:solidFill>
                  <a:schemeClr val="tx1"/>
                </a:solidFill>
                <a:latin typeface="+mn-lt"/>
                <a:ea typeface="+mn-ea"/>
                <a:cs typeface="+mn-cs"/>
              </a:defRPr>
            </a:lvl1pPr>
            <a:lvl2pPr marL="742950" indent="-285750" algn="l" rtl="0" eaLnBrk="1" fontAlgn="base" hangingPunct="1">
              <a:spcBef>
                <a:spcPct val="20000"/>
              </a:spcBef>
              <a:spcAft>
                <a:spcPct val="0"/>
              </a:spcAft>
              <a:buChar char="–"/>
              <a:defRPr sz="1600">
                <a:solidFill>
                  <a:schemeClr val="tx1"/>
                </a:solidFill>
                <a:latin typeface="+mn-lt"/>
                <a:cs typeface="+mn-cs"/>
              </a:defRPr>
            </a:lvl2pPr>
            <a:lvl3pPr marL="1143000" indent="-228600" algn="l" rtl="0" eaLnBrk="1" fontAlgn="base" hangingPunct="1">
              <a:spcBef>
                <a:spcPct val="20000"/>
              </a:spcBef>
              <a:spcAft>
                <a:spcPct val="0"/>
              </a:spcAft>
              <a:buChar char="•"/>
              <a:defRPr sz="1400">
                <a:solidFill>
                  <a:schemeClr val="tx1"/>
                </a:solidFill>
                <a:latin typeface="+mn-lt"/>
                <a:cs typeface="+mn-cs"/>
              </a:defRPr>
            </a:lvl3pPr>
            <a:lvl4pPr marL="1600200" indent="-228600" algn="l" rtl="0" eaLnBrk="1" fontAlgn="base" hangingPunct="1">
              <a:spcBef>
                <a:spcPct val="20000"/>
              </a:spcBef>
              <a:spcAft>
                <a:spcPct val="0"/>
              </a:spcAft>
              <a:buChar char="–"/>
              <a:defRPr sz="1400">
                <a:solidFill>
                  <a:schemeClr val="tx1"/>
                </a:solidFill>
                <a:latin typeface="+mn-lt"/>
                <a:cs typeface="+mn-cs"/>
              </a:defRPr>
            </a:lvl4pPr>
            <a:lvl5pPr marL="2057400" indent="-228600" algn="l" rtl="0" eaLnBrk="1" fontAlgn="base" hangingPunct="1">
              <a:spcBef>
                <a:spcPct val="20000"/>
              </a:spcBef>
              <a:spcAft>
                <a:spcPct val="0"/>
              </a:spcAft>
              <a:buChar char="»"/>
              <a:defRPr sz="1400">
                <a:solidFill>
                  <a:schemeClr val="tx1"/>
                </a:solidFill>
                <a:latin typeface="+mn-lt"/>
                <a:cs typeface="+mn-cs"/>
              </a:defRPr>
            </a:lvl5pPr>
            <a:lvl6pPr marL="2514600" indent="-228600" algn="l" rtl="0" eaLnBrk="1" fontAlgn="base" hangingPunct="1">
              <a:spcBef>
                <a:spcPct val="20000"/>
              </a:spcBef>
              <a:spcAft>
                <a:spcPct val="0"/>
              </a:spcAft>
              <a:buChar char="»"/>
              <a:defRPr sz="1400">
                <a:solidFill>
                  <a:schemeClr val="tx1"/>
                </a:solidFill>
                <a:latin typeface="+mn-lt"/>
                <a:cs typeface="+mn-cs"/>
              </a:defRPr>
            </a:lvl6pPr>
            <a:lvl7pPr marL="2971800" indent="-228600" algn="l" rtl="0" eaLnBrk="1" fontAlgn="base" hangingPunct="1">
              <a:spcBef>
                <a:spcPct val="20000"/>
              </a:spcBef>
              <a:spcAft>
                <a:spcPct val="0"/>
              </a:spcAft>
              <a:buChar char="»"/>
              <a:defRPr sz="1400">
                <a:solidFill>
                  <a:schemeClr val="tx1"/>
                </a:solidFill>
                <a:latin typeface="+mn-lt"/>
                <a:cs typeface="+mn-cs"/>
              </a:defRPr>
            </a:lvl7pPr>
            <a:lvl8pPr marL="3429000" indent="-228600" algn="l" rtl="0" eaLnBrk="1" fontAlgn="base" hangingPunct="1">
              <a:spcBef>
                <a:spcPct val="20000"/>
              </a:spcBef>
              <a:spcAft>
                <a:spcPct val="0"/>
              </a:spcAft>
              <a:buChar char="»"/>
              <a:defRPr sz="1400">
                <a:solidFill>
                  <a:schemeClr val="tx1"/>
                </a:solidFill>
                <a:latin typeface="+mn-lt"/>
                <a:cs typeface="+mn-cs"/>
              </a:defRPr>
            </a:lvl8pPr>
            <a:lvl9pPr marL="3886200" indent="-228600" algn="l" rtl="0" eaLnBrk="1" fontAlgn="base" hangingPunct="1">
              <a:spcBef>
                <a:spcPct val="20000"/>
              </a:spcBef>
              <a:spcAft>
                <a:spcPct val="0"/>
              </a:spcAft>
              <a:buChar char="»"/>
              <a:defRPr sz="1400">
                <a:solidFill>
                  <a:schemeClr val="tx1"/>
                </a:solidFill>
                <a:latin typeface="+mn-lt"/>
                <a:cs typeface="+mn-cs"/>
              </a:defRPr>
            </a:lvl9pPr>
          </a:lstStyle>
          <a:p>
            <a:pPr>
              <a:spcAft>
                <a:spcPts val="1200"/>
              </a:spcAft>
            </a:pPr>
            <a:r>
              <a:rPr lang="en-US" kern="0" dirty="0" smtClean="0"/>
              <a:t>Feedback from the wheel component to the BSCU component</a:t>
            </a:r>
          </a:p>
          <a:p>
            <a:pPr>
              <a:spcAft>
                <a:spcPts val="1200"/>
              </a:spcAft>
              <a:buNone/>
            </a:pPr>
            <a:endParaRPr lang="en-US" kern="0" dirty="0" smtClean="0"/>
          </a:p>
          <a:p>
            <a:pPr>
              <a:spcAft>
                <a:spcPts val="1200"/>
              </a:spcAft>
              <a:buNone/>
            </a:pPr>
            <a:endParaRPr lang="en-US" kern="0" dirty="0" smtClean="0"/>
          </a:p>
        </p:txBody>
      </p:sp>
      <p:sp>
        <p:nvSpPr>
          <p:cNvPr id="5" name="Footer Placeholder 4"/>
          <p:cNvSpPr>
            <a:spLocks noGrp="1"/>
          </p:cNvSpPr>
          <p:nvPr>
            <p:ph type="ftr" sz="quarter" idx="11"/>
          </p:nvPr>
        </p:nvSpPr>
        <p:spPr/>
        <p:txBody>
          <a:bodyPr/>
          <a:lstStyle/>
          <a:p>
            <a:r>
              <a:rPr lang="en-US" smtClean="0"/>
              <a:t>AMASE   </a:t>
            </a:r>
            <a:endParaRPr lang="en-US"/>
          </a:p>
        </p:txBody>
      </p:sp>
    </p:spTree>
    <p:extLst>
      <p:ext uri="{BB962C8B-B14F-4D97-AF65-F5344CB8AC3E}">
        <p14:creationId xmlns:p14="http://schemas.microsoft.com/office/powerpoint/2010/main" val="1676900517"/>
      </p:ext>
    </p:extLst>
  </p:cSld>
  <p:clrMapOvr>
    <a:masterClrMapping/>
  </p:clrMapOvr>
  <p:transition/>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
            <a:ext cx="8229600" cy="596066"/>
          </a:xfrm>
        </p:spPr>
        <p:txBody>
          <a:bodyPr>
            <a:normAutofit fontScale="90000"/>
          </a:bodyPr>
          <a:lstStyle/>
          <a:p>
            <a:r>
              <a:rPr lang="en-US" dirty="0" smtClean="0"/>
              <a:t>WBS AADL Model</a:t>
            </a:r>
            <a:endParaRPr lang="en-US" dirty="0"/>
          </a:p>
        </p:txBody>
      </p:sp>
      <p:pic>
        <p:nvPicPr>
          <p:cNvPr id="4" name="Content Placeholder 3" descr="wbs_aadl.png"/>
          <p:cNvPicPr>
            <a:picLocks noGrp="1" noChangeAspect="1"/>
          </p:cNvPicPr>
          <p:nvPr>
            <p:ph idx="1"/>
          </p:nvPr>
        </p:nvPicPr>
        <p:blipFill>
          <a:blip r:embed="rId2"/>
          <a:srcRect l="-46366" r="-46366"/>
          <a:stretch>
            <a:fillRect/>
          </a:stretch>
        </p:blipFill>
        <p:spPr>
          <a:xfrm>
            <a:off x="-686812" y="596067"/>
            <a:ext cx="10665029" cy="6012491"/>
          </a:xfrm>
        </p:spPr>
      </p:pic>
      <p:sp>
        <p:nvSpPr>
          <p:cNvPr id="5" name="Rectangle 4"/>
          <p:cNvSpPr/>
          <p:nvPr/>
        </p:nvSpPr>
        <p:spPr>
          <a:xfrm>
            <a:off x="5549900" y="5829300"/>
            <a:ext cx="1562100" cy="779258"/>
          </a:xfrm>
          <a:prstGeom prst="rect">
            <a:avLst/>
          </a:prstGeom>
          <a:noFill/>
          <a:ln w="38100" cap="flat" cmpd="sng" algn="ctr">
            <a:solidFill>
              <a:srgbClr val="FF0000"/>
            </a:solidFill>
            <a:prstDash val="solid"/>
            <a:round/>
            <a:headEnd type="none" w="med" len="med"/>
            <a:tailEnd type="none" w="med" len="med"/>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Slide Number Placeholder 5"/>
          <p:cNvSpPr>
            <a:spLocks noGrp="1"/>
          </p:cNvSpPr>
          <p:nvPr>
            <p:ph type="sldNum" sz="quarter" idx="12"/>
          </p:nvPr>
        </p:nvSpPr>
        <p:spPr/>
        <p:txBody>
          <a:bodyPr/>
          <a:lstStyle/>
          <a:p>
            <a:fld id="{A3FF127A-2DBF-924B-94E1-163D8C9D5B47}" type="slidenum">
              <a:rPr lang="en-US" smtClean="0"/>
              <a:pPr/>
              <a:t>29</a:t>
            </a:fld>
            <a:endParaRPr lang="en-US"/>
          </a:p>
        </p:txBody>
      </p:sp>
      <p:sp>
        <p:nvSpPr>
          <p:cNvPr id="7" name="Footer Placeholder 6"/>
          <p:cNvSpPr>
            <a:spLocks noGrp="1"/>
          </p:cNvSpPr>
          <p:nvPr>
            <p:ph type="ftr" sz="quarter" idx="11"/>
          </p:nvPr>
        </p:nvSpPr>
        <p:spPr/>
        <p:txBody>
          <a:bodyPr/>
          <a:lstStyle/>
          <a:p>
            <a:r>
              <a:rPr lang="en-US" smtClean="0"/>
              <a:t>AMASE   </a:t>
            </a:r>
            <a:endParaRPr lang="en-US"/>
          </a:p>
        </p:txBody>
      </p:sp>
    </p:spTree>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2000" dirty="0" smtClean="0"/>
              <a:t>Summary of Nominal Model Changes</a:t>
            </a:r>
            <a:endParaRPr lang="en-US" sz="2000" dirty="0"/>
          </a:p>
        </p:txBody>
      </p:sp>
      <p:sp>
        <p:nvSpPr>
          <p:cNvPr id="3" name="Slide Number Placeholder 2"/>
          <p:cNvSpPr>
            <a:spLocks noGrp="1"/>
          </p:cNvSpPr>
          <p:nvPr>
            <p:ph type="sldNum" sz="quarter" idx="10"/>
          </p:nvPr>
        </p:nvSpPr>
        <p:spPr/>
        <p:txBody>
          <a:bodyPr/>
          <a:lstStyle/>
          <a:p>
            <a:pPr>
              <a:defRPr/>
            </a:pPr>
            <a:fld id="{0913AD8B-6753-4D8D-9DCF-DBA38AAB592C}" type="slidenum">
              <a:rPr lang="en-US" smtClean="0"/>
              <a:pPr>
                <a:defRPr/>
              </a:pPr>
              <a:t>30</a:t>
            </a:fld>
            <a:endParaRPr lang="en-US"/>
          </a:p>
        </p:txBody>
      </p:sp>
      <p:sp>
        <p:nvSpPr>
          <p:cNvPr id="4" name="Content Placeholder 2"/>
          <p:cNvSpPr txBox="1">
            <a:spLocks/>
          </p:cNvSpPr>
          <p:nvPr/>
        </p:nvSpPr>
        <p:spPr>
          <a:xfrm>
            <a:off x="762000" y="2247900"/>
            <a:ext cx="7924800" cy="3390900"/>
          </a:xfrm>
          <a:prstGeom prst="rect">
            <a:avLst/>
          </a:prstGeom>
        </p:spPr>
        <p:txBody>
          <a:bodyPr>
            <a:normAutofit/>
          </a:bodyPr>
          <a:lstStyle>
            <a:lvl1pPr marL="342900" indent="-342900" algn="l" rtl="0" eaLnBrk="1" fontAlgn="base" hangingPunct="1">
              <a:spcBef>
                <a:spcPct val="20000"/>
              </a:spcBef>
              <a:spcAft>
                <a:spcPct val="0"/>
              </a:spcAft>
              <a:buChar char="•"/>
              <a:defRPr>
                <a:solidFill>
                  <a:schemeClr val="tx1"/>
                </a:solidFill>
                <a:latin typeface="+mn-lt"/>
                <a:ea typeface="+mn-ea"/>
                <a:cs typeface="+mn-cs"/>
              </a:defRPr>
            </a:lvl1pPr>
            <a:lvl2pPr marL="742950" indent="-285750" algn="l" rtl="0" eaLnBrk="1" fontAlgn="base" hangingPunct="1">
              <a:spcBef>
                <a:spcPct val="20000"/>
              </a:spcBef>
              <a:spcAft>
                <a:spcPct val="0"/>
              </a:spcAft>
              <a:buChar char="–"/>
              <a:defRPr sz="1600">
                <a:solidFill>
                  <a:schemeClr val="tx1"/>
                </a:solidFill>
                <a:latin typeface="+mn-lt"/>
                <a:cs typeface="+mn-cs"/>
              </a:defRPr>
            </a:lvl2pPr>
            <a:lvl3pPr marL="1143000" indent="-228600" algn="l" rtl="0" eaLnBrk="1" fontAlgn="base" hangingPunct="1">
              <a:spcBef>
                <a:spcPct val="20000"/>
              </a:spcBef>
              <a:spcAft>
                <a:spcPct val="0"/>
              </a:spcAft>
              <a:buChar char="•"/>
              <a:defRPr sz="1400">
                <a:solidFill>
                  <a:schemeClr val="tx1"/>
                </a:solidFill>
                <a:latin typeface="+mn-lt"/>
                <a:cs typeface="+mn-cs"/>
              </a:defRPr>
            </a:lvl3pPr>
            <a:lvl4pPr marL="1600200" indent="-228600" algn="l" rtl="0" eaLnBrk="1" fontAlgn="base" hangingPunct="1">
              <a:spcBef>
                <a:spcPct val="20000"/>
              </a:spcBef>
              <a:spcAft>
                <a:spcPct val="0"/>
              </a:spcAft>
              <a:buChar char="–"/>
              <a:defRPr sz="1400">
                <a:solidFill>
                  <a:schemeClr val="tx1"/>
                </a:solidFill>
                <a:latin typeface="+mn-lt"/>
                <a:cs typeface="+mn-cs"/>
              </a:defRPr>
            </a:lvl4pPr>
            <a:lvl5pPr marL="2057400" indent="-228600" algn="l" rtl="0" eaLnBrk="1" fontAlgn="base" hangingPunct="1">
              <a:spcBef>
                <a:spcPct val="20000"/>
              </a:spcBef>
              <a:spcAft>
                <a:spcPct val="0"/>
              </a:spcAft>
              <a:buChar char="»"/>
              <a:defRPr sz="1400">
                <a:solidFill>
                  <a:schemeClr val="tx1"/>
                </a:solidFill>
                <a:latin typeface="+mn-lt"/>
                <a:cs typeface="+mn-cs"/>
              </a:defRPr>
            </a:lvl5pPr>
            <a:lvl6pPr marL="2514600" indent="-228600" algn="l" rtl="0" eaLnBrk="1" fontAlgn="base" hangingPunct="1">
              <a:spcBef>
                <a:spcPct val="20000"/>
              </a:spcBef>
              <a:spcAft>
                <a:spcPct val="0"/>
              </a:spcAft>
              <a:buChar char="»"/>
              <a:defRPr sz="1400">
                <a:solidFill>
                  <a:schemeClr val="tx1"/>
                </a:solidFill>
                <a:latin typeface="+mn-lt"/>
                <a:cs typeface="+mn-cs"/>
              </a:defRPr>
            </a:lvl6pPr>
            <a:lvl7pPr marL="2971800" indent="-228600" algn="l" rtl="0" eaLnBrk="1" fontAlgn="base" hangingPunct="1">
              <a:spcBef>
                <a:spcPct val="20000"/>
              </a:spcBef>
              <a:spcAft>
                <a:spcPct val="0"/>
              </a:spcAft>
              <a:buChar char="»"/>
              <a:defRPr sz="1400">
                <a:solidFill>
                  <a:schemeClr val="tx1"/>
                </a:solidFill>
                <a:latin typeface="+mn-lt"/>
                <a:cs typeface="+mn-cs"/>
              </a:defRPr>
            </a:lvl7pPr>
            <a:lvl8pPr marL="3429000" indent="-228600" algn="l" rtl="0" eaLnBrk="1" fontAlgn="base" hangingPunct="1">
              <a:spcBef>
                <a:spcPct val="20000"/>
              </a:spcBef>
              <a:spcAft>
                <a:spcPct val="0"/>
              </a:spcAft>
              <a:buChar char="»"/>
              <a:defRPr sz="1400">
                <a:solidFill>
                  <a:schemeClr val="tx1"/>
                </a:solidFill>
                <a:latin typeface="+mn-lt"/>
                <a:cs typeface="+mn-cs"/>
              </a:defRPr>
            </a:lvl8pPr>
            <a:lvl9pPr marL="3886200" indent="-228600" algn="l" rtl="0" eaLnBrk="1" fontAlgn="base" hangingPunct="1">
              <a:spcBef>
                <a:spcPct val="20000"/>
              </a:spcBef>
              <a:spcAft>
                <a:spcPct val="0"/>
              </a:spcAft>
              <a:buChar char="»"/>
              <a:defRPr sz="1400">
                <a:solidFill>
                  <a:schemeClr val="tx1"/>
                </a:solidFill>
                <a:latin typeface="+mn-lt"/>
                <a:cs typeface="+mn-cs"/>
              </a:defRPr>
            </a:lvl9pPr>
          </a:lstStyle>
          <a:p>
            <a:pPr>
              <a:spcAft>
                <a:spcPts val="1200"/>
              </a:spcAft>
            </a:pPr>
            <a:r>
              <a:rPr lang="en-US" kern="0" dirty="0" smtClean="0"/>
              <a:t>Feedback from the wheel component to the BSCU component</a:t>
            </a:r>
          </a:p>
          <a:p>
            <a:pPr>
              <a:spcAft>
                <a:spcPts val="1200"/>
              </a:spcAft>
              <a:buNone/>
            </a:pPr>
            <a:endParaRPr lang="en-US" kern="0" dirty="0" smtClean="0"/>
          </a:p>
          <a:p>
            <a:pPr>
              <a:spcAft>
                <a:spcPts val="1200"/>
              </a:spcAft>
            </a:pPr>
            <a:r>
              <a:rPr lang="en-US" kern="0" dirty="0" smtClean="0"/>
              <a:t>Weaken top level contract to account for feedback</a:t>
            </a:r>
          </a:p>
          <a:p>
            <a:pPr>
              <a:spcAft>
                <a:spcPts val="1200"/>
              </a:spcAft>
              <a:buNone/>
            </a:pPr>
            <a:endParaRPr lang="en-US" kern="0" dirty="0" smtClean="0"/>
          </a:p>
        </p:txBody>
      </p:sp>
      <p:sp>
        <p:nvSpPr>
          <p:cNvPr id="5" name="Footer Placeholder 4"/>
          <p:cNvSpPr>
            <a:spLocks noGrp="1"/>
          </p:cNvSpPr>
          <p:nvPr>
            <p:ph type="ftr" sz="quarter" idx="11"/>
          </p:nvPr>
        </p:nvSpPr>
        <p:spPr/>
        <p:txBody>
          <a:bodyPr/>
          <a:lstStyle/>
          <a:p>
            <a:r>
              <a:rPr lang="en-US" smtClean="0"/>
              <a:t>AMASE   </a:t>
            </a:r>
            <a:endParaRPr lang="en-US"/>
          </a:p>
        </p:txBody>
      </p:sp>
    </p:spTree>
    <p:extLst>
      <p:ext uri="{BB962C8B-B14F-4D97-AF65-F5344CB8AC3E}">
        <p14:creationId xmlns:p14="http://schemas.microsoft.com/office/powerpoint/2010/main" val="1676900517"/>
      </p:ext>
    </p:extLst>
  </p:cSld>
  <p:clrMapOvr>
    <a:masterClrMapping/>
  </p:clrMapOvr>
  <p:transition/>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New Top Level Contract</a:t>
            </a:r>
            <a:endParaRPr lang="en-US" dirty="0"/>
          </a:p>
        </p:txBody>
      </p:sp>
      <p:sp>
        <p:nvSpPr>
          <p:cNvPr id="3" name="Footer Placeholder 2"/>
          <p:cNvSpPr>
            <a:spLocks noGrp="1"/>
          </p:cNvSpPr>
          <p:nvPr>
            <p:ph type="ftr" sz="quarter" idx="11"/>
          </p:nvPr>
        </p:nvSpPr>
        <p:spPr/>
        <p:txBody>
          <a:bodyPr/>
          <a:lstStyle/>
          <a:p>
            <a:r>
              <a:rPr lang="en-US" smtClean="0"/>
              <a:t>AMASE   </a:t>
            </a:r>
            <a:endParaRPr lang="en-US"/>
          </a:p>
        </p:txBody>
      </p:sp>
      <p:sp>
        <p:nvSpPr>
          <p:cNvPr id="4" name="Slide Number Placeholder 3"/>
          <p:cNvSpPr>
            <a:spLocks noGrp="1"/>
          </p:cNvSpPr>
          <p:nvPr>
            <p:ph type="sldNum" sz="quarter" idx="12"/>
          </p:nvPr>
        </p:nvSpPr>
        <p:spPr/>
        <p:txBody>
          <a:bodyPr/>
          <a:lstStyle/>
          <a:p>
            <a:fld id="{A3FF127A-2DBF-924B-94E1-163D8C9D5B47}" type="slidenum">
              <a:rPr lang="en-US" smtClean="0"/>
              <a:pPr/>
              <a:t>31</a:t>
            </a:fld>
            <a:endParaRPr lang="en-US"/>
          </a:p>
        </p:txBody>
      </p:sp>
      <p:pic>
        <p:nvPicPr>
          <p:cNvPr id="5" name="Picture 4" descr="agreeContractPrePedal.png"/>
          <p:cNvPicPr>
            <a:picLocks noChangeAspect="1"/>
          </p:cNvPicPr>
          <p:nvPr/>
        </p:nvPicPr>
        <p:blipFill>
          <a:blip r:embed="rId2"/>
          <a:stretch>
            <a:fillRect/>
          </a:stretch>
        </p:blipFill>
        <p:spPr>
          <a:xfrm>
            <a:off x="381000" y="2520950"/>
            <a:ext cx="8674100" cy="1181100"/>
          </a:xfrm>
          <a:prstGeom prst="rect">
            <a:avLst/>
          </a:prstGeom>
        </p:spPr>
      </p:pic>
    </p:spTree>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2000" dirty="0" smtClean="0"/>
              <a:t>Summary of Nominal Model Changes</a:t>
            </a:r>
            <a:endParaRPr lang="en-US" sz="2000" dirty="0"/>
          </a:p>
        </p:txBody>
      </p:sp>
      <p:sp>
        <p:nvSpPr>
          <p:cNvPr id="3" name="Slide Number Placeholder 2"/>
          <p:cNvSpPr>
            <a:spLocks noGrp="1"/>
          </p:cNvSpPr>
          <p:nvPr>
            <p:ph type="sldNum" sz="quarter" idx="10"/>
          </p:nvPr>
        </p:nvSpPr>
        <p:spPr/>
        <p:txBody>
          <a:bodyPr/>
          <a:lstStyle/>
          <a:p>
            <a:pPr>
              <a:defRPr/>
            </a:pPr>
            <a:fld id="{0913AD8B-6753-4D8D-9DCF-DBA38AAB592C}" type="slidenum">
              <a:rPr lang="en-US" smtClean="0"/>
              <a:pPr>
                <a:defRPr/>
              </a:pPr>
              <a:t>32</a:t>
            </a:fld>
            <a:endParaRPr lang="en-US"/>
          </a:p>
        </p:txBody>
      </p:sp>
      <p:sp>
        <p:nvSpPr>
          <p:cNvPr id="4" name="Content Placeholder 2"/>
          <p:cNvSpPr txBox="1">
            <a:spLocks/>
          </p:cNvSpPr>
          <p:nvPr/>
        </p:nvSpPr>
        <p:spPr>
          <a:xfrm>
            <a:off x="762000" y="2247900"/>
            <a:ext cx="7924800" cy="3390900"/>
          </a:xfrm>
          <a:prstGeom prst="rect">
            <a:avLst/>
          </a:prstGeom>
        </p:spPr>
        <p:txBody>
          <a:bodyPr>
            <a:normAutofit/>
          </a:bodyPr>
          <a:lstStyle>
            <a:lvl1pPr marL="342900" indent="-342900" algn="l" rtl="0" eaLnBrk="1" fontAlgn="base" hangingPunct="1">
              <a:spcBef>
                <a:spcPct val="20000"/>
              </a:spcBef>
              <a:spcAft>
                <a:spcPct val="0"/>
              </a:spcAft>
              <a:buChar char="•"/>
              <a:defRPr>
                <a:solidFill>
                  <a:schemeClr val="tx1"/>
                </a:solidFill>
                <a:latin typeface="+mn-lt"/>
                <a:ea typeface="+mn-ea"/>
                <a:cs typeface="+mn-cs"/>
              </a:defRPr>
            </a:lvl1pPr>
            <a:lvl2pPr marL="742950" indent="-285750" algn="l" rtl="0" eaLnBrk="1" fontAlgn="base" hangingPunct="1">
              <a:spcBef>
                <a:spcPct val="20000"/>
              </a:spcBef>
              <a:spcAft>
                <a:spcPct val="0"/>
              </a:spcAft>
              <a:buChar char="–"/>
              <a:defRPr sz="1600">
                <a:solidFill>
                  <a:schemeClr val="tx1"/>
                </a:solidFill>
                <a:latin typeface="+mn-lt"/>
                <a:cs typeface="+mn-cs"/>
              </a:defRPr>
            </a:lvl2pPr>
            <a:lvl3pPr marL="1143000" indent="-228600" algn="l" rtl="0" eaLnBrk="1" fontAlgn="base" hangingPunct="1">
              <a:spcBef>
                <a:spcPct val="20000"/>
              </a:spcBef>
              <a:spcAft>
                <a:spcPct val="0"/>
              </a:spcAft>
              <a:buChar char="•"/>
              <a:defRPr sz="1400">
                <a:solidFill>
                  <a:schemeClr val="tx1"/>
                </a:solidFill>
                <a:latin typeface="+mn-lt"/>
                <a:cs typeface="+mn-cs"/>
              </a:defRPr>
            </a:lvl3pPr>
            <a:lvl4pPr marL="1600200" indent="-228600" algn="l" rtl="0" eaLnBrk="1" fontAlgn="base" hangingPunct="1">
              <a:spcBef>
                <a:spcPct val="20000"/>
              </a:spcBef>
              <a:spcAft>
                <a:spcPct val="0"/>
              </a:spcAft>
              <a:buChar char="–"/>
              <a:defRPr sz="1400">
                <a:solidFill>
                  <a:schemeClr val="tx1"/>
                </a:solidFill>
                <a:latin typeface="+mn-lt"/>
                <a:cs typeface="+mn-cs"/>
              </a:defRPr>
            </a:lvl4pPr>
            <a:lvl5pPr marL="2057400" indent="-228600" algn="l" rtl="0" eaLnBrk="1" fontAlgn="base" hangingPunct="1">
              <a:spcBef>
                <a:spcPct val="20000"/>
              </a:spcBef>
              <a:spcAft>
                <a:spcPct val="0"/>
              </a:spcAft>
              <a:buChar char="»"/>
              <a:defRPr sz="1400">
                <a:solidFill>
                  <a:schemeClr val="tx1"/>
                </a:solidFill>
                <a:latin typeface="+mn-lt"/>
                <a:cs typeface="+mn-cs"/>
              </a:defRPr>
            </a:lvl5pPr>
            <a:lvl6pPr marL="2514600" indent="-228600" algn="l" rtl="0" eaLnBrk="1" fontAlgn="base" hangingPunct="1">
              <a:spcBef>
                <a:spcPct val="20000"/>
              </a:spcBef>
              <a:spcAft>
                <a:spcPct val="0"/>
              </a:spcAft>
              <a:buChar char="»"/>
              <a:defRPr sz="1400">
                <a:solidFill>
                  <a:schemeClr val="tx1"/>
                </a:solidFill>
                <a:latin typeface="+mn-lt"/>
                <a:cs typeface="+mn-cs"/>
              </a:defRPr>
            </a:lvl6pPr>
            <a:lvl7pPr marL="2971800" indent="-228600" algn="l" rtl="0" eaLnBrk="1" fontAlgn="base" hangingPunct="1">
              <a:spcBef>
                <a:spcPct val="20000"/>
              </a:spcBef>
              <a:spcAft>
                <a:spcPct val="0"/>
              </a:spcAft>
              <a:buChar char="»"/>
              <a:defRPr sz="1400">
                <a:solidFill>
                  <a:schemeClr val="tx1"/>
                </a:solidFill>
                <a:latin typeface="+mn-lt"/>
                <a:cs typeface="+mn-cs"/>
              </a:defRPr>
            </a:lvl7pPr>
            <a:lvl8pPr marL="3429000" indent="-228600" algn="l" rtl="0" eaLnBrk="1" fontAlgn="base" hangingPunct="1">
              <a:spcBef>
                <a:spcPct val="20000"/>
              </a:spcBef>
              <a:spcAft>
                <a:spcPct val="0"/>
              </a:spcAft>
              <a:buChar char="»"/>
              <a:defRPr sz="1400">
                <a:solidFill>
                  <a:schemeClr val="tx1"/>
                </a:solidFill>
                <a:latin typeface="+mn-lt"/>
                <a:cs typeface="+mn-cs"/>
              </a:defRPr>
            </a:lvl8pPr>
            <a:lvl9pPr marL="3886200" indent="-228600" algn="l" rtl="0" eaLnBrk="1" fontAlgn="base" hangingPunct="1">
              <a:spcBef>
                <a:spcPct val="20000"/>
              </a:spcBef>
              <a:spcAft>
                <a:spcPct val="0"/>
              </a:spcAft>
              <a:buChar char="»"/>
              <a:defRPr sz="1400">
                <a:solidFill>
                  <a:schemeClr val="tx1"/>
                </a:solidFill>
                <a:latin typeface="+mn-lt"/>
                <a:cs typeface="+mn-cs"/>
              </a:defRPr>
            </a:lvl9pPr>
          </a:lstStyle>
          <a:p>
            <a:pPr>
              <a:spcAft>
                <a:spcPts val="1200"/>
              </a:spcAft>
            </a:pPr>
            <a:r>
              <a:rPr lang="en-US" kern="0" dirty="0" smtClean="0"/>
              <a:t>Feedback from the wheel component to the BSCU component</a:t>
            </a:r>
          </a:p>
          <a:p>
            <a:pPr>
              <a:spcAft>
                <a:spcPts val="1200"/>
              </a:spcAft>
              <a:buNone/>
            </a:pPr>
            <a:endParaRPr lang="en-US" kern="0" dirty="0" smtClean="0"/>
          </a:p>
          <a:p>
            <a:pPr>
              <a:spcAft>
                <a:spcPts val="1200"/>
              </a:spcAft>
            </a:pPr>
            <a:r>
              <a:rPr lang="en-US" kern="0" dirty="0" smtClean="0"/>
              <a:t>Weaken top level contract to account for feedback</a:t>
            </a:r>
          </a:p>
          <a:p>
            <a:pPr>
              <a:spcAft>
                <a:spcPts val="1200"/>
              </a:spcAft>
              <a:buNone/>
            </a:pPr>
            <a:endParaRPr lang="en-US" kern="0" dirty="0" smtClean="0"/>
          </a:p>
          <a:p>
            <a:pPr>
              <a:spcAft>
                <a:spcPts val="1200"/>
              </a:spcAft>
            </a:pPr>
            <a:r>
              <a:rPr lang="en-US" kern="0" dirty="0" smtClean="0"/>
              <a:t>Selector component cannot control normal, alternate, and emergency modes</a:t>
            </a:r>
          </a:p>
        </p:txBody>
      </p:sp>
      <p:sp>
        <p:nvSpPr>
          <p:cNvPr id="5" name="Footer Placeholder 4"/>
          <p:cNvSpPr>
            <a:spLocks noGrp="1"/>
          </p:cNvSpPr>
          <p:nvPr>
            <p:ph type="ftr" sz="quarter" idx="11"/>
          </p:nvPr>
        </p:nvSpPr>
        <p:spPr/>
        <p:txBody>
          <a:bodyPr/>
          <a:lstStyle/>
          <a:p>
            <a:r>
              <a:rPr lang="en-US" smtClean="0"/>
              <a:t>AMASE   </a:t>
            </a:r>
            <a:endParaRPr lang="en-US"/>
          </a:p>
        </p:txBody>
      </p:sp>
    </p:spTree>
    <p:extLst>
      <p:ext uri="{BB962C8B-B14F-4D97-AF65-F5344CB8AC3E}">
        <p14:creationId xmlns:p14="http://schemas.microsoft.com/office/powerpoint/2010/main" val="1676900517"/>
      </p:ext>
    </p:extLst>
  </p:cSld>
  <p:clrMapOvr>
    <a:masterClrMapping/>
  </p:clrMapOvr>
  <p:transition/>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smtClean="0"/>
              <a:t>AMASE   </a:t>
            </a:r>
            <a:endParaRPr lang="en-US"/>
          </a:p>
        </p:txBody>
      </p:sp>
      <p:sp>
        <p:nvSpPr>
          <p:cNvPr id="4" name="Slide Number Placeholder 3"/>
          <p:cNvSpPr>
            <a:spLocks noGrp="1"/>
          </p:cNvSpPr>
          <p:nvPr>
            <p:ph type="sldNum" sz="quarter" idx="12"/>
          </p:nvPr>
        </p:nvSpPr>
        <p:spPr/>
        <p:txBody>
          <a:bodyPr/>
          <a:lstStyle/>
          <a:p>
            <a:fld id="{A3FF127A-2DBF-924B-94E1-163D8C9D5B47}" type="slidenum">
              <a:rPr lang="en-US" smtClean="0"/>
              <a:pPr/>
              <a:t>33</a:t>
            </a:fld>
            <a:endParaRPr lang="en-US"/>
          </a:p>
        </p:txBody>
      </p:sp>
      <p:pic>
        <p:nvPicPr>
          <p:cNvPr id="5" name="Picture 4" descr="accum_valve.pdf"/>
          <p:cNvPicPr>
            <a:picLocks noChangeAspect="1"/>
          </p:cNvPicPr>
          <p:nvPr/>
        </p:nvPicPr>
        <mc:AlternateContent xmlns:mc="http://schemas.openxmlformats.org/markup-compatibility/2006">
          <mc:Choice xmlns:ma="http://schemas.microsoft.com/office/mac/drawingml/2008/main" xmlns:mv="urn:schemas-microsoft-com:mac:vml" xmlns="" Requires="ma">
            <p:blipFill>
              <a:blip r:embed="rId2"/>
              <a:stretch>
                <a:fillRect/>
              </a:stretch>
            </p:blipFill>
          </mc:Choice>
          <mc:Fallback>
            <p:blipFill>
              <a:blip r:embed="rId3"/>
              <a:stretch>
                <a:fillRect/>
              </a:stretch>
            </p:blipFill>
          </mc:Fallback>
        </mc:AlternateContent>
        <p:spPr>
          <a:xfrm>
            <a:off x="0" y="1254125"/>
            <a:ext cx="9144000" cy="5467350"/>
          </a:xfrm>
          <a:prstGeom prst="rect">
            <a:avLst/>
          </a:prstGeom>
        </p:spPr>
      </p:pic>
      <p:sp>
        <p:nvSpPr>
          <p:cNvPr id="7" name="Rectangle 6"/>
          <p:cNvSpPr/>
          <p:nvPr/>
        </p:nvSpPr>
        <p:spPr>
          <a:xfrm>
            <a:off x="2133600" y="673101"/>
            <a:ext cx="4902200" cy="749300"/>
          </a:xfrm>
          <a:prstGeom prst="rect">
            <a:avLst/>
          </a:prstGeom>
          <a:solidFill>
            <a:srgbClr val="FFFFFF"/>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dirty="0" smtClean="0">
                <a:solidFill>
                  <a:schemeClr val="tx1"/>
                </a:solidFill>
              </a:rPr>
              <a:t>Accumulator Valve</a:t>
            </a:r>
            <a:endParaRPr lang="en-US" sz="2400" b="1" dirty="0">
              <a:solidFill>
                <a:schemeClr val="tx1"/>
              </a:solidFill>
            </a:endParaRPr>
          </a:p>
        </p:txBody>
      </p:sp>
    </p:spTree>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A3FF127A-2DBF-924B-94E1-163D8C9D5B47}" type="slidenum">
              <a:rPr lang="en-US" smtClean="0"/>
              <a:pPr/>
              <a:t>34</a:t>
            </a:fld>
            <a:endParaRPr lang="en-US"/>
          </a:p>
        </p:txBody>
      </p:sp>
      <p:sp>
        <p:nvSpPr>
          <p:cNvPr id="4" name="Footer Placeholder 3"/>
          <p:cNvSpPr>
            <a:spLocks noGrp="1"/>
          </p:cNvSpPr>
          <p:nvPr>
            <p:ph type="ftr" sz="quarter" idx="11"/>
          </p:nvPr>
        </p:nvSpPr>
        <p:spPr/>
        <p:txBody>
          <a:bodyPr/>
          <a:lstStyle/>
          <a:p>
            <a:r>
              <a:rPr lang="en-US" smtClean="0"/>
              <a:t>AMASE   </a:t>
            </a:r>
            <a:endParaRPr lang="en-US"/>
          </a:p>
        </p:txBody>
      </p:sp>
      <p:pic>
        <p:nvPicPr>
          <p:cNvPr id="5" name="Picture 4" descr="selector_annex.png"/>
          <p:cNvPicPr>
            <a:picLocks noChangeAspect="1"/>
          </p:cNvPicPr>
          <p:nvPr/>
        </p:nvPicPr>
        <p:blipFill>
          <a:blip r:embed="rId2"/>
          <a:stretch>
            <a:fillRect/>
          </a:stretch>
        </p:blipFill>
        <p:spPr>
          <a:xfrm>
            <a:off x="0" y="1104900"/>
            <a:ext cx="9144000" cy="4235450"/>
          </a:xfrm>
          <a:prstGeom prst="rect">
            <a:avLst/>
          </a:prstGeom>
        </p:spPr>
      </p:pic>
    </p:spTree>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11"/>
          </p:nvPr>
        </p:nvSpPr>
        <p:spPr/>
        <p:txBody>
          <a:bodyPr/>
          <a:lstStyle/>
          <a:p>
            <a:r>
              <a:rPr lang="en-US" smtClean="0"/>
              <a:t>AMASE   </a:t>
            </a:r>
            <a:endParaRPr lang="en-US"/>
          </a:p>
        </p:txBody>
      </p:sp>
      <p:sp>
        <p:nvSpPr>
          <p:cNvPr id="3" name="Slide Number Placeholder 2"/>
          <p:cNvSpPr>
            <a:spLocks noGrp="1"/>
          </p:cNvSpPr>
          <p:nvPr>
            <p:ph type="sldNum" sz="quarter" idx="12"/>
          </p:nvPr>
        </p:nvSpPr>
        <p:spPr/>
        <p:txBody>
          <a:bodyPr/>
          <a:lstStyle/>
          <a:p>
            <a:fld id="{A3FF127A-2DBF-924B-94E1-163D8C9D5B47}" type="slidenum">
              <a:rPr lang="en-US" smtClean="0"/>
              <a:pPr/>
              <a:t>35</a:t>
            </a:fld>
            <a:endParaRPr lang="en-US"/>
          </a:p>
        </p:txBody>
      </p:sp>
      <p:pic>
        <p:nvPicPr>
          <p:cNvPr id="4" name="Picture 3" descr="selector_annex2.png"/>
          <p:cNvPicPr>
            <a:picLocks noChangeAspect="1"/>
          </p:cNvPicPr>
          <p:nvPr/>
        </p:nvPicPr>
        <p:blipFill>
          <a:blip r:embed="rId2"/>
          <a:stretch>
            <a:fillRect/>
          </a:stretch>
        </p:blipFill>
        <p:spPr>
          <a:xfrm>
            <a:off x="0" y="2255838"/>
            <a:ext cx="9144000" cy="1889125"/>
          </a:xfrm>
          <a:prstGeom prst="rect">
            <a:avLst/>
          </a:prstGeom>
        </p:spPr>
      </p:pic>
    </p:spTree>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11"/>
          </p:nvPr>
        </p:nvSpPr>
        <p:spPr/>
        <p:txBody>
          <a:bodyPr/>
          <a:lstStyle/>
          <a:p>
            <a:r>
              <a:rPr lang="en-US" smtClean="0"/>
              <a:t>AMASE   </a:t>
            </a:r>
            <a:endParaRPr lang="en-US"/>
          </a:p>
        </p:txBody>
      </p:sp>
      <p:sp>
        <p:nvSpPr>
          <p:cNvPr id="3" name="Slide Number Placeholder 2"/>
          <p:cNvSpPr>
            <a:spLocks noGrp="1"/>
          </p:cNvSpPr>
          <p:nvPr>
            <p:ph type="sldNum" sz="quarter" idx="12"/>
          </p:nvPr>
        </p:nvSpPr>
        <p:spPr/>
        <p:txBody>
          <a:bodyPr/>
          <a:lstStyle/>
          <a:p>
            <a:fld id="{A3FF127A-2DBF-924B-94E1-163D8C9D5B47}" type="slidenum">
              <a:rPr lang="en-US" smtClean="0"/>
              <a:pPr/>
              <a:t>36</a:t>
            </a:fld>
            <a:endParaRPr lang="en-US"/>
          </a:p>
        </p:txBody>
      </p:sp>
      <p:pic>
        <p:nvPicPr>
          <p:cNvPr id="4" name="Picture 3" descr="selector_annex2.png"/>
          <p:cNvPicPr>
            <a:picLocks noChangeAspect="1"/>
          </p:cNvPicPr>
          <p:nvPr/>
        </p:nvPicPr>
        <p:blipFill>
          <a:blip r:embed="rId2"/>
          <a:stretch>
            <a:fillRect/>
          </a:stretch>
        </p:blipFill>
        <p:spPr>
          <a:xfrm>
            <a:off x="0" y="2255838"/>
            <a:ext cx="9144000" cy="1889125"/>
          </a:xfrm>
          <a:prstGeom prst="rect">
            <a:avLst/>
          </a:prstGeom>
        </p:spPr>
      </p:pic>
      <p:cxnSp>
        <p:nvCxnSpPr>
          <p:cNvPr id="6" name="Straight Connector 5"/>
          <p:cNvCxnSpPr/>
          <p:nvPr/>
        </p:nvCxnSpPr>
        <p:spPr>
          <a:xfrm>
            <a:off x="6629400" y="2489200"/>
            <a:ext cx="2349500" cy="1588"/>
          </a:xfrm>
          <a:prstGeom prst="line">
            <a:avLst/>
          </a:prstGeom>
          <a:ln w="38100" cap="flat" cmpd="sng" algn="ctr">
            <a:solidFill>
              <a:srgbClr val="FF0000"/>
            </a:solidFill>
            <a:prstDash val="solid"/>
            <a:round/>
            <a:headEnd type="none" w="med" len="med"/>
            <a:tailEnd type="non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11"/>
          </p:nvPr>
        </p:nvSpPr>
        <p:spPr/>
        <p:txBody>
          <a:bodyPr/>
          <a:lstStyle/>
          <a:p>
            <a:r>
              <a:rPr lang="en-US" smtClean="0"/>
              <a:t>AMASE   </a:t>
            </a:r>
            <a:endParaRPr lang="en-US"/>
          </a:p>
        </p:txBody>
      </p:sp>
      <p:sp>
        <p:nvSpPr>
          <p:cNvPr id="3" name="Slide Number Placeholder 2"/>
          <p:cNvSpPr>
            <a:spLocks noGrp="1"/>
          </p:cNvSpPr>
          <p:nvPr>
            <p:ph type="sldNum" sz="quarter" idx="12"/>
          </p:nvPr>
        </p:nvSpPr>
        <p:spPr/>
        <p:txBody>
          <a:bodyPr/>
          <a:lstStyle/>
          <a:p>
            <a:fld id="{A3FF127A-2DBF-924B-94E1-163D8C9D5B47}" type="slidenum">
              <a:rPr lang="en-US" smtClean="0"/>
              <a:pPr/>
              <a:t>37</a:t>
            </a:fld>
            <a:endParaRPr lang="en-US"/>
          </a:p>
        </p:txBody>
      </p:sp>
      <p:pic>
        <p:nvPicPr>
          <p:cNvPr id="4" name="Picture 3" descr="selector_annex2.png"/>
          <p:cNvPicPr>
            <a:picLocks noChangeAspect="1"/>
          </p:cNvPicPr>
          <p:nvPr/>
        </p:nvPicPr>
        <p:blipFill>
          <a:blip r:embed="rId2"/>
          <a:stretch>
            <a:fillRect/>
          </a:stretch>
        </p:blipFill>
        <p:spPr>
          <a:xfrm>
            <a:off x="0" y="2255838"/>
            <a:ext cx="9144000" cy="1889125"/>
          </a:xfrm>
          <a:prstGeom prst="rect">
            <a:avLst/>
          </a:prstGeom>
        </p:spPr>
      </p:pic>
      <p:sp>
        <p:nvSpPr>
          <p:cNvPr id="5" name="Rectangle 4"/>
          <p:cNvSpPr/>
          <p:nvPr/>
        </p:nvSpPr>
        <p:spPr>
          <a:xfrm>
            <a:off x="6553200" y="2192338"/>
            <a:ext cx="2438400" cy="322262"/>
          </a:xfrm>
          <a:prstGeom prst="rect">
            <a:avLst/>
          </a:prstGeom>
          <a:noFill/>
          <a:ln w="38100" cap="flat" cmpd="sng" algn="ctr">
            <a:solidFill>
              <a:srgbClr val="FF0000"/>
            </a:solidFill>
            <a:prstDash val="solid"/>
            <a:round/>
            <a:headEnd type="none" w="med" len="med"/>
            <a:tailEnd type="none" w="med" len="med"/>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Oval 5"/>
          <p:cNvSpPr/>
          <p:nvPr/>
        </p:nvSpPr>
        <p:spPr>
          <a:xfrm>
            <a:off x="863600" y="3009900"/>
            <a:ext cx="1143000" cy="571500"/>
          </a:xfrm>
          <a:prstGeom prst="ellipse">
            <a:avLst/>
          </a:prstGeom>
          <a:noFill/>
          <a:ln w="38100" cap="flat" cmpd="sng" algn="ctr">
            <a:solidFill>
              <a:srgbClr val="FF0000"/>
            </a:solidFill>
            <a:prstDash val="solid"/>
            <a:round/>
            <a:headEnd type="none" w="med" len="med"/>
            <a:tailEnd type="none" w="med" len="med"/>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8" name="Elbow Connector 7"/>
          <p:cNvCxnSpPr>
            <a:stCxn id="6" idx="7"/>
          </p:cNvCxnSpPr>
          <p:nvPr/>
        </p:nvCxnSpPr>
        <p:spPr>
          <a:xfrm rot="5400000" flipH="1" flipV="1">
            <a:off x="3745578" y="285972"/>
            <a:ext cx="901256" cy="4713988"/>
          </a:xfrm>
          <a:prstGeom prst="bentConnector2">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11"/>
          </p:nvPr>
        </p:nvSpPr>
        <p:spPr/>
        <p:txBody>
          <a:bodyPr/>
          <a:lstStyle/>
          <a:p>
            <a:r>
              <a:rPr lang="en-US" smtClean="0"/>
              <a:t>AMASE   </a:t>
            </a:r>
            <a:endParaRPr lang="en-US"/>
          </a:p>
        </p:txBody>
      </p:sp>
      <p:sp>
        <p:nvSpPr>
          <p:cNvPr id="3" name="Slide Number Placeholder 2"/>
          <p:cNvSpPr>
            <a:spLocks noGrp="1"/>
          </p:cNvSpPr>
          <p:nvPr>
            <p:ph type="sldNum" sz="quarter" idx="12"/>
          </p:nvPr>
        </p:nvSpPr>
        <p:spPr/>
        <p:txBody>
          <a:bodyPr/>
          <a:lstStyle/>
          <a:p>
            <a:fld id="{A3FF127A-2DBF-924B-94E1-163D8C9D5B47}" type="slidenum">
              <a:rPr lang="en-US" smtClean="0"/>
              <a:pPr/>
              <a:t>38</a:t>
            </a:fld>
            <a:endParaRPr lang="en-US"/>
          </a:p>
        </p:txBody>
      </p:sp>
      <p:pic>
        <p:nvPicPr>
          <p:cNvPr id="4" name="Picture 3" descr="selector_annex2.png"/>
          <p:cNvPicPr>
            <a:picLocks noChangeAspect="1"/>
          </p:cNvPicPr>
          <p:nvPr/>
        </p:nvPicPr>
        <p:blipFill>
          <a:blip r:embed="rId2"/>
          <a:stretch>
            <a:fillRect/>
          </a:stretch>
        </p:blipFill>
        <p:spPr>
          <a:xfrm>
            <a:off x="0" y="2255838"/>
            <a:ext cx="9144000" cy="1889125"/>
          </a:xfrm>
          <a:prstGeom prst="rect">
            <a:avLst/>
          </a:prstGeom>
        </p:spPr>
      </p:pic>
      <p:sp>
        <p:nvSpPr>
          <p:cNvPr id="5" name="Rectangle 4"/>
          <p:cNvSpPr/>
          <p:nvPr/>
        </p:nvSpPr>
        <p:spPr>
          <a:xfrm>
            <a:off x="6553200" y="2192338"/>
            <a:ext cx="2438400" cy="322262"/>
          </a:xfrm>
          <a:prstGeom prst="rect">
            <a:avLst/>
          </a:prstGeom>
          <a:noFill/>
          <a:ln w="38100" cap="flat" cmpd="sng" algn="ctr">
            <a:solidFill>
              <a:srgbClr val="FF0000"/>
            </a:solidFill>
            <a:prstDash val="solid"/>
            <a:round/>
            <a:headEnd type="none" w="med" len="med"/>
            <a:tailEnd type="none" w="med" len="med"/>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Oval 5"/>
          <p:cNvSpPr/>
          <p:nvPr/>
        </p:nvSpPr>
        <p:spPr>
          <a:xfrm>
            <a:off x="863600" y="3009900"/>
            <a:ext cx="1143000" cy="571500"/>
          </a:xfrm>
          <a:prstGeom prst="ellipse">
            <a:avLst/>
          </a:prstGeom>
          <a:noFill/>
          <a:ln w="38100" cap="flat" cmpd="sng" algn="ctr">
            <a:solidFill>
              <a:srgbClr val="FF0000"/>
            </a:solidFill>
            <a:prstDash val="solid"/>
            <a:round/>
            <a:headEnd type="none" w="med" len="med"/>
            <a:tailEnd type="none" w="med" len="med"/>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8" name="Elbow Connector 7"/>
          <p:cNvCxnSpPr>
            <a:stCxn id="6" idx="7"/>
          </p:cNvCxnSpPr>
          <p:nvPr/>
        </p:nvCxnSpPr>
        <p:spPr>
          <a:xfrm rot="5400000" flipH="1" flipV="1">
            <a:off x="3745578" y="285972"/>
            <a:ext cx="901256" cy="4713988"/>
          </a:xfrm>
          <a:prstGeom prst="bentConnector2">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cxnSp>
        <p:nvCxnSpPr>
          <p:cNvPr id="10" name="Shape 9"/>
          <p:cNvCxnSpPr>
            <a:stCxn id="5" idx="2"/>
            <a:endCxn id="11" idx="6"/>
          </p:cNvCxnSpPr>
          <p:nvPr/>
        </p:nvCxnSpPr>
        <p:spPr>
          <a:xfrm rot="5400000">
            <a:off x="5175250" y="1022350"/>
            <a:ext cx="1104900" cy="4089400"/>
          </a:xfrm>
          <a:prstGeom prst="bentConnector2">
            <a:avLst/>
          </a:prstGeom>
          <a:ln w="38100" cap="flat" cmpd="sng" algn="ctr">
            <a:solidFill>
              <a:srgbClr val="FF0000"/>
            </a:solidFill>
            <a:prstDash val="solid"/>
            <a:round/>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2705100" y="3390900"/>
            <a:ext cx="977900" cy="457200"/>
          </a:xfrm>
          <a:prstGeom prst="ellipse">
            <a:avLst/>
          </a:prstGeom>
          <a:noFill/>
          <a:ln w="38100" cap="flat" cmpd="sng" algn="ctr">
            <a:solidFill>
              <a:srgbClr val="FF0000"/>
            </a:solidFill>
            <a:prstDash val="solid"/>
            <a:round/>
            <a:headEnd type="none" w="med" len="med"/>
            <a:tailEnd type="none" w="med" len="med"/>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11"/>
          </p:nvPr>
        </p:nvSpPr>
        <p:spPr/>
        <p:txBody>
          <a:bodyPr/>
          <a:lstStyle/>
          <a:p>
            <a:r>
              <a:rPr lang="en-US" smtClean="0"/>
              <a:t>AMASE   </a:t>
            </a:r>
            <a:endParaRPr lang="en-US"/>
          </a:p>
        </p:txBody>
      </p:sp>
      <p:sp>
        <p:nvSpPr>
          <p:cNvPr id="3" name="Slide Number Placeholder 2"/>
          <p:cNvSpPr>
            <a:spLocks noGrp="1"/>
          </p:cNvSpPr>
          <p:nvPr>
            <p:ph type="sldNum" sz="quarter" idx="12"/>
          </p:nvPr>
        </p:nvSpPr>
        <p:spPr/>
        <p:txBody>
          <a:bodyPr/>
          <a:lstStyle/>
          <a:p>
            <a:fld id="{A3FF127A-2DBF-924B-94E1-163D8C9D5B47}" type="slidenum">
              <a:rPr lang="en-US" smtClean="0"/>
              <a:pPr/>
              <a:t>39</a:t>
            </a:fld>
            <a:endParaRPr lang="en-US"/>
          </a:p>
        </p:txBody>
      </p:sp>
      <p:pic>
        <p:nvPicPr>
          <p:cNvPr id="4" name="Picture 3" descr="selector_annex2.png"/>
          <p:cNvPicPr>
            <a:picLocks noChangeAspect="1"/>
          </p:cNvPicPr>
          <p:nvPr/>
        </p:nvPicPr>
        <p:blipFill>
          <a:blip r:embed="rId2"/>
          <a:stretch>
            <a:fillRect/>
          </a:stretch>
        </p:blipFill>
        <p:spPr>
          <a:xfrm>
            <a:off x="0" y="2255838"/>
            <a:ext cx="9144000" cy="1889125"/>
          </a:xfrm>
          <a:prstGeom prst="rect">
            <a:avLst/>
          </a:prstGeom>
        </p:spPr>
      </p:pic>
      <p:cxnSp>
        <p:nvCxnSpPr>
          <p:cNvPr id="13" name="Straight Connector 12"/>
          <p:cNvCxnSpPr/>
          <p:nvPr/>
        </p:nvCxnSpPr>
        <p:spPr>
          <a:xfrm>
            <a:off x="1371600" y="3937000"/>
            <a:ext cx="939800" cy="1588"/>
          </a:xfrm>
          <a:prstGeom prst="line">
            <a:avLst/>
          </a:prstGeom>
          <a:ln w="38100" cap="flat" cmpd="sng" algn="ctr">
            <a:solidFill>
              <a:srgbClr val="FF0000"/>
            </a:solidFill>
            <a:prstDash val="solid"/>
            <a:round/>
            <a:headEnd type="none" w="med" len="med"/>
            <a:tailEnd type="non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afetyAnalysis.pdf"/>
          <p:cNvPicPr>
            <a:picLocks noChangeAspect="1"/>
          </p:cNvPicPr>
          <p:nvPr/>
        </p:nvPicPr>
        <mc:AlternateContent xmlns:mc="http://schemas.openxmlformats.org/markup-compatibility/2006">
          <mc:Choice xmlns:ma="http://schemas.microsoft.com/office/mac/drawingml/2008/main" xmlns:mv="urn:schemas-microsoft-com:mac:vml" xmlns="" Requires="ma">
            <p:blipFill>
              <a:blip r:embed="rId2"/>
              <a:stretch>
                <a:fillRect/>
              </a:stretch>
            </p:blipFill>
          </mc:Choice>
          <mc:Fallback>
            <p:blipFill>
              <a:blip r:embed="rId3"/>
              <a:stretch>
                <a:fillRect/>
              </a:stretch>
            </p:blipFill>
          </mc:Fallback>
        </mc:AlternateContent>
        <p:spPr>
          <a:xfrm>
            <a:off x="374650" y="2260600"/>
            <a:ext cx="8394700" cy="3200400"/>
          </a:xfrm>
          <a:prstGeom prst="rect">
            <a:avLst/>
          </a:prstGeom>
        </p:spPr>
      </p:pic>
      <p:sp>
        <p:nvSpPr>
          <p:cNvPr id="3" name="TextBox 2"/>
          <p:cNvSpPr txBox="1"/>
          <p:nvPr/>
        </p:nvSpPr>
        <p:spPr>
          <a:xfrm>
            <a:off x="374650" y="558800"/>
            <a:ext cx="8394700" cy="584776"/>
          </a:xfrm>
          <a:prstGeom prst="rect">
            <a:avLst/>
          </a:prstGeom>
          <a:noFill/>
        </p:spPr>
        <p:txBody>
          <a:bodyPr wrap="square" rtlCol="0">
            <a:spAutoFit/>
          </a:bodyPr>
          <a:lstStyle/>
          <a:p>
            <a:pPr algn="ctr"/>
            <a:r>
              <a:rPr lang="en-US" sz="3200" dirty="0" smtClean="0"/>
              <a:t>AGREE Extension Point Implementation</a:t>
            </a:r>
            <a:endParaRPr lang="en-US" sz="3200" dirty="0"/>
          </a:p>
        </p:txBody>
      </p:sp>
      <p:sp>
        <p:nvSpPr>
          <p:cNvPr id="4" name="Slide Number Placeholder 3"/>
          <p:cNvSpPr>
            <a:spLocks noGrp="1"/>
          </p:cNvSpPr>
          <p:nvPr>
            <p:ph type="sldNum" sz="quarter" idx="12"/>
          </p:nvPr>
        </p:nvSpPr>
        <p:spPr/>
        <p:txBody>
          <a:bodyPr/>
          <a:lstStyle/>
          <a:p>
            <a:fld id="{A3FF127A-2DBF-924B-94E1-163D8C9D5B47}" type="slidenum">
              <a:rPr lang="en-US" smtClean="0"/>
              <a:pPr/>
              <a:t>40</a:t>
            </a:fld>
            <a:endParaRPr lang="en-US"/>
          </a:p>
        </p:txBody>
      </p:sp>
      <p:sp>
        <p:nvSpPr>
          <p:cNvPr id="5" name="Footer Placeholder 4"/>
          <p:cNvSpPr>
            <a:spLocks noGrp="1"/>
          </p:cNvSpPr>
          <p:nvPr>
            <p:ph type="ftr" sz="quarter" idx="11"/>
          </p:nvPr>
        </p:nvSpPr>
        <p:spPr/>
        <p:txBody>
          <a:bodyPr/>
          <a:lstStyle/>
          <a:p>
            <a:r>
              <a:rPr lang="en-US" smtClean="0"/>
              <a:t>AMASE   </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1">
              <a:buFont typeface="Arial"/>
              <a:buChar char="•"/>
            </a:pPr>
            <a:r>
              <a:rPr lang="en-US" dirty="0" smtClean="0"/>
              <a:t>Locate references to inputs and outputs in AGREE program </a:t>
            </a:r>
            <a:endParaRPr lang="en-US" dirty="0"/>
          </a:p>
        </p:txBody>
      </p:sp>
      <p:sp>
        <p:nvSpPr>
          <p:cNvPr id="4" name="TextBox 3"/>
          <p:cNvSpPr txBox="1"/>
          <p:nvPr/>
        </p:nvSpPr>
        <p:spPr>
          <a:xfrm>
            <a:off x="374650" y="558800"/>
            <a:ext cx="8394700" cy="584776"/>
          </a:xfrm>
          <a:prstGeom prst="rect">
            <a:avLst/>
          </a:prstGeom>
          <a:noFill/>
        </p:spPr>
        <p:txBody>
          <a:bodyPr wrap="square" rtlCol="0">
            <a:spAutoFit/>
          </a:bodyPr>
          <a:lstStyle/>
          <a:p>
            <a:pPr algn="ctr"/>
            <a:r>
              <a:rPr lang="en-US" sz="3200" dirty="0" smtClean="0"/>
              <a:t>Transformation of AGREE AST </a:t>
            </a:r>
            <a:endParaRPr lang="en-US" sz="3200" dirty="0"/>
          </a:p>
        </p:txBody>
      </p:sp>
      <p:sp>
        <p:nvSpPr>
          <p:cNvPr id="5" name="Slide Number Placeholder 4"/>
          <p:cNvSpPr>
            <a:spLocks noGrp="1"/>
          </p:cNvSpPr>
          <p:nvPr>
            <p:ph type="sldNum" sz="quarter" idx="12"/>
          </p:nvPr>
        </p:nvSpPr>
        <p:spPr/>
        <p:txBody>
          <a:bodyPr/>
          <a:lstStyle/>
          <a:p>
            <a:fld id="{A3FF127A-2DBF-924B-94E1-163D8C9D5B47}" type="slidenum">
              <a:rPr lang="en-US" smtClean="0"/>
              <a:pPr/>
              <a:t>41</a:t>
            </a:fld>
            <a:endParaRPr lang="en-US"/>
          </a:p>
        </p:txBody>
      </p:sp>
      <p:sp>
        <p:nvSpPr>
          <p:cNvPr id="6" name="Footer Placeholder 5"/>
          <p:cNvSpPr>
            <a:spLocks noGrp="1"/>
          </p:cNvSpPr>
          <p:nvPr>
            <p:ph type="ftr" sz="quarter" idx="11"/>
          </p:nvPr>
        </p:nvSpPr>
        <p:spPr/>
        <p:txBody>
          <a:bodyPr/>
          <a:lstStyle/>
          <a:p>
            <a:r>
              <a:rPr lang="en-US" smtClean="0"/>
              <a:t>AMASE   </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1">
              <a:buFont typeface="Arial"/>
              <a:buChar char="•"/>
            </a:pPr>
            <a:r>
              <a:rPr lang="en-US" dirty="0" smtClean="0"/>
              <a:t>Locate references to inputs and outputs in AGREE program </a:t>
            </a:r>
            <a:endParaRPr lang="en-US" dirty="0"/>
          </a:p>
        </p:txBody>
      </p:sp>
      <p:sp>
        <p:nvSpPr>
          <p:cNvPr id="4" name="TextBox 3"/>
          <p:cNvSpPr txBox="1"/>
          <p:nvPr/>
        </p:nvSpPr>
        <p:spPr>
          <a:xfrm>
            <a:off x="374650" y="558800"/>
            <a:ext cx="8394700" cy="584776"/>
          </a:xfrm>
          <a:prstGeom prst="rect">
            <a:avLst/>
          </a:prstGeom>
          <a:noFill/>
        </p:spPr>
        <p:txBody>
          <a:bodyPr wrap="square" rtlCol="0">
            <a:spAutoFit/>
          </a:bodyPr>
          <a:lstStyle/>
          <a:p>
            <a:pPr algn="ctr"/>
            <a:r>
              <a:rPr lang="en-US" sz="3200" dirty="0" smtClean="0"/>
              <a:t>Transformation of AGREE AST </a:t>
            </a:r>
            <a:endParaRPr lang="en-US" sz="3200" dirty="0"/>
          </a:p>
        </p:txBody>
      </p:sp>
      <p:pic>
        <p:nvPicPr>
          <p:cNvPr id="5" name="Picture 4" descr="safetyAnnex_inputs_outputs.png"/>
          <p:cNvPicPr>
            <a:picLocks noChangeAspect="1"/>
          </p:cNvPicPr>
          <p:nvPr/>
        </p:nvPicPr>
        <p:blipFill>
          <a:blip r:embed="rId2"/>
          <a:stretch>
            <a:fillRect/>
          </a:stretch>
        </p:blipFill>
        <p:spPr>
          <a:xfrm>
            <a:off x="457200" y="3810000"/>
            <a:ext cx="7819159" cy="1333500"/>
          </a:xfrm>
          <a:prstGeom prst="rect">
            <a:avLst/>
          </a:prstGeom>
        </p:spPr>
      </p:pic>
      <p:sp>
        <p:nvSpPr>
          <p:cNvPr id="8" name="Slide Number Placeholder 7"/>
          <p:cNvSpPr>
            <a:spLocks noGrp="1"/>
          </p:cNvSpPr>
          <p:nvPr>
            <p:ph type="sldNum" sz="quarter" idx="12"/>
          </p:nvPr>
        </p:nvSpPr>
        <p:spPr/>
        <p:txBody>
          <a:bodyPr/>
          <a:lstStyle/>
          <a:p>
            <a:fld id="{A3FF127A-2DBF-924B-94E1-163D8C9D5B47}" type="slidenum">
              <a:rPr lang="en-US" smtClean="0"/>
              <a:pPr/>
              <a:t>42</a:t>
            </a:fld>
            <a:endParaRPr lang="en-US"/>
          </a:p>
        </p:txBody>
      </p:sp>
      <p:sp>
        <p:nvSpPr>
          <p:cNvPr id="9" name="Footer Placeholder 8"/>
          <p:cNvSpPr>
            <a:spLocks noGrp="1"/>
          </p:cNvSpPr>
          <p:nvPr>
            <p:ph type="ftr" sz="quarter" idx="11"/>
          </p:nvPr>
        </p:nvSpPr>
        <p:spPr/>
        <p:txBody>
          <a:bodyPr/>
          <a:lstStyle/>
          <a:p>
            <a:r>
              <a:rPr lang="en-US" smtClean="0"/>
              <a:t>AMASE   </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1">
              <a:buFont typeface="Arial"/>
              <a:buChar char="•"/>
            </a:pPr>
            <a:r>
              <a:rPr lang="en-US" dirty="0" smtClean="0"/>
              <a:t>Locate references to inputs and outputs in AGREE program </a:t>
            </a:r>
            <a:endParaRPr lang="en-US" dirty="0"/>
          </a:p>
        </p:txBody>
      </p:sp>
      <p:sp>
        <p:nvSpPr>
          <p:cNvPr id="4" name="TextBox 3"/>
          <p:cNvSpPr txBox="1"/>
          <p:nvPr/>
        </p:nvSpPr>
        <p:spPr>
          <a:xfrm>
            <a:off x="374650" y="558800"/>
            <a:ext cx="8394700" cy="584776"/>
          </a:xfrm>
          <a:prstGeom prst="rect">
            <a:avLst/>
          </a:prstGeom>
          <a:noFill/>
        </p:spPr>
        <p:txBody>
          <a:bodyPr wrap="square" rtlCol="0">
            <a:spAutoFit/>
          </a:bodyPr>
          <a:lstStyle/>
          <a:p>
            <a:pPr algn="ctr"/>
            <a:r>
              <a:rPr lang="en-US" sz="3200" dirty="0" smtClean="0"/>
              <a:t>Transformation of AGREE AST </a:t>
            </a:r>
            <a:endParaRPr lang="en-US" sz="3200" dirty="0"/>
          </a:p>
        </p:txBody>
      </p:sp>
      <p:pic>
        <p:nvPicPr>
          <p:cNvPr id="5" name="Picture 4" descr="safetyAnnex_inputs_outputs.png"/>
          <p:cNvPicPr>
            <a:picLocks noChangeAspect="1"/>
          </p:cNvPicPr>
          <p:nvPr/>
        </p:nvPicPr>
        <p:blipFill>
          <a:blip r:embed="rId2"/>
          <a:stretch>
            <a:fillRect/>
          </a:stretch>
        </p:blipFill>
        <p:spPr>
          <a:xfrm>
            <a:off x="457200" y="3810000"/>
            <a:ext cx="7819159" cy="1333500"/>
          </a:xfrm>
          <a:prstGeom prst="rect">
            <a:avLst/>
          </a:prstGeom>
        </p:spPr>
      </p:pic>
      <p:sp>
        <p:nvSpPr>
          <p:cNvPr id="6" name="Oval 5"/>
          <p:cNvSpPr/>
          <p:nvPr/>
        </p:nvSpPr>
        <p:spPr>
          <a:xfrm>
            <a:off x="3257551" y="3683000"/>
            <a:ext cx="4521200" cy="622300"/>
          </a:xfrm>
          <a:prstGeom prst="ellipse">
            <a:avLst/>
          </a:prstGeom>
          <a:noFill/>
          <a:ln w="38100" cap="flat" cmpd="sng" algn="ctr">
            <a:solidFill>
              <a:srgbClr val="FF0000"/>
            </a:solidFill>
            <a:prstDash val="solid"/>
            <a:round/>
            <a:headEnd type="none" w="med" len="med"/>
            <a:tailEnd type="none" w="med" len="med"/>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 name="Oval 6"/>
          <p:cNvSpPr/>
          <p:nvPr/>
        </p:nvSpPr>
        <p:spPr>
          <a:xfrm>
            <a:off x="1860551" y="4508500"/>
            <a:ext cx="4521200" cy="749300"/>
          </a:xfrm>
          <a:prstGeom prst="ellipse">
            <a:avLst/>
          </a:prstGeom>
          <a:noFill/>
          <a:ln w="38100" cap="flat" cmpd="sng" algn="ctr">
            <a:solidFill>
              <a:srgbClr val="FF0000"/>
            </a:solidFill>
            <a:prstDash val="solid"/>
            <a:round/>
            <a:headEnd type="none" w="med" len="med"/>
            <a:tailEnd type="none" w="med" len="med"/>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Slide Number Placeholder 7"/>
          <p:cNvSpPr>
            <a:spLocks noGrp="1"/>
          </p:cNvSpPr>
          <p:nvPr>
            <p:ph type="sldNum" sz="quarter" idx="12"/>
          </p:nvPr>
        </p:nvSpPr>
        <p:spPr/>
        <p:txBody>
          <a:bodyPr/>
          <a:lstStyle/>
          <a:p>
            <a:fld id="{A3FF127A-2DBF-924B-94E1-163D8C9D5B47}" type="slidenum">
              <a:rPr lang="en-US" smtClean="0"/>
              <a:pPr/>
              <a:t>43</a:t>
            </a:fld>
            <a:endParaRPr lang="en-US"/>
          </a:p>
        </p:txBody>
      </p:sp>
      <p:sp>
        <p:nvSpPr>
          <p:cNvPr id="9" name="Footer Placeholder 8"/>
          <p:cNvSpPr>
            <a:spLocks noGrp="1"/>
          </p:cNvSpPr>
          <p:nvPr>
            <p:ph type="ftr" sz="quarter" idx="11"/>
          </p:nvPr>
        </p:nvSpPr>
        <p:spPr/>
        <p:txBody>
          <a:bodyPr/>
          <a:lstStyle/>
          <a:p>
            <a:r>
              <a:rPr lang="en-US" smtClean="0"/>
              <a:t>AMASE   </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1">
              <a:buFont typeface="Arial"/>
              <a:buChar char="•"/>
            </a:pPr>
            <a:r>
              <a:rPr lang="en-US" dirty="0" smtClean="0"/>
              <a:t>Locate references to inputs and outputs in AGREE program </a:t>
            </a:r>
          </a:p>
          <a:p>
            <a:pPr lvl="1">
              <a:buFont typeface="Arial"/>
              <a:buChar char="•"/>
            </a:pPr>
            <a:r>
              <a:rPr lang="en-US" dirty="0" smtClean="0"/>
              <a:t>Replace output with nominal fault variable</a:t>
            </a:r>
          </a:p>
          <a:p>
            <a:pPr lvl="1">
              <a:buNone/>
            </a:pPr>
            <a:r>
              <a:rPr lang="en-US" dirty="0" smtClean="0"/>
              <a:t> </a:t>
            </a:r>
            <a:endParaRPr lang="en-US" dirty="0"/>
          </a:p>
        </p:txBody>
      </p:sp>
      <p:sp>
        <p:nvSpPr>
          <p:cNvPr id="4" name="TextBox 3"/>
          <p:cNvSpPr txBox="1"/>
          <p:nvPr/>
        </p:nvSpPr>
        <p:spPr>
          <a:xfrm>
            <a:off x="374650" y="558800"/>
            <a:ext cx="8394700" cy="584776"/>
          </a:xfrm>
          <a:prstGeom prst="rect">
            <a:avLst/>
          </a:prstGeom>
          <a:noFill/>
        </p:spPr>
        <p:txBody>
          <a:bodyPr wrap="square" rtlCol="0">
            <a:spAutoFit/>
          </a:bodyPr>
          <a:lstStyle/>
          <a:p>
            <a:pPr algn="ctr"/>
            <a:r>
              <a:rPr lang="en-US" sz="3200" dirty="0" smtClean="0"/>
              <a:t>Transformation of AGREE AST </a:t>
            </a:r>
            <a:endParaRPr lang="en-US" sz="3200" dirty="0"/>
          </a:p>
        </p:txBody>
      </p:sp>
      <p:sp>
        <p:nvSpPr>
          <p:cNvPr id="5" name="Slide Number Placeholder 4"/>
          <p:cNvSpPr>
            <a:spLocks noGrp="1"/>
          </p:cNvSpPr>
          <p:nvPr>
            <p:ph type="sldNum" sz="quarter" idx="12"/>
          </p:nvPr>
        </p:nvSpPr>
        <p:spPr/>
        <p:txBody>
          <a:bodyPr/>
          <a:lstStyle/>
          <a:p>
            <a:fld id="{A3FF127A-2DBF-924B-94E1-163D8C9D5B47}" type="slidenum">
              <a:rPr lang="en-US" smtClean="0"/>
              <a:pPr/>
              <a:t>44</a:t>
            </a:fld>
            <a:endParaRPr lang="en-US"/>
          </a:p>
        </p:txBody>
      </p:sp>
      <p:sp>
        <p:nvSpPr>
          <p:cNvPr id="6" name="Footer Placeholder 5"/>
          <p:cNvSpPr>
            <a:spLocks noGrp="1"/>
          </p:cNvSpPr>
          <p:nvPr>
            <p:ph type="ftr" sz="quarter" idx="11"/>
          </p:nvPr>
        </p:nvSpPr>
        <p:spPr/>
        <p:txBody>
          <a:bodyPr/>
          <a:lstStyle/>
          <a:p>
            <a:r>
              <a:rPr lang="en-US" smtClean="0"/>
              <a:t>AMASE   </a:t>
            </a:r>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1">
              <a:buFont typeface="Arial"/>
              <a:buChar char="•"/>
            </a:pPr>
            <a:r>
              <a:rPr lang="en-US" dirty="0" smtClean="0"/>
              <a:t>Locate references to inputs and outputs in AGREE program </a:t>
            </a:r>
          </a:p>
          <a:p>
            <a:pPr lvl="1">
              <a:buFont typeface="Arial"/>
              <a:buChar char="•"/>
            </a:pPr>
            <a:r>
              <a:rPr lang="en-US" dirty="0" smtClean="0"/>
              <a:t>Replace output with nominal fault variable</a:t>
            </a:r>
          </a:p>
          <a:p>
            <a:pPr lvl="1">
              <a:buNone/>
            </a:pPr>
            <a:r>
              <a:rPr lang="en-US" dirty="0" smtClean="0"/>
              <a:t> </a:t>
            </a:r>
            <a:endParaRPr lang="en-US" dirty="0"/>
          </a:p>
        </p:txBody>
      </p:sp>
      <p:sp>
        <p:nvSpPr>
          <p:cNvPr id="4" name="TextBox 3"/>
          <p:cNvSpPr txBox="1"/>
          <p:nvPr/>
        </p:nvSpPr>
        <p:spPr>
          <a:xfrm>
            <a:off x="374650" y="558800"/>
            <a:ext cx="8394700" cy="584776"/>
          </a:xfrm>
          <a:prstGeom prst="rect">
            <a:avLst/>
          </a:prstGeom>
          <a:noFill/>
        </p:spPr>
        <p:txBody>
          <a:bodyPr wrap="square" rtlCol="0">
            <a:spAutoFit/>
          </a:bodyPr>
          <a:lstStyle/>
          <a:p>
            <a:pPr algn="ctr"/>
            <a:r>
              <a:rPr lang="en-US" sz="3200" dirty="0" smtClean="0"/>
              <a:t>Transformation of AGREE AST </a:t>
            </a:r>
            <a:endParaRPr lang="en-US" sz="3200" dirty="0"/>
          </a:p>
        </p:txBody>
      </p:sp>
      <p:sp>
        <p:nvSpPr>
          <p:cNvPr id="5" name="Slide Number Placeholder 4"/>
          <p:cNvSpPr>
            <a:spLocks noGrp="1"/>
          </p:cNvSpPr>
          <p:nvPr>
            <p:ph type="sldNum" sz="quarter" idx="12"/>
          </p:nvPr>
        </p:nvSpPr>
        <p:spPr/>
        <p:txBody>
          <a:bodyPr/>
          <a:lstStyle/>
          <a:p>
            <a:fld id="{A3FF127A-2DBF-924B-94E1-163D8C9D5B47}" type="slidenum">
              <a:rPr lang="en-US" smtClean="0"/>
              <a:pPr/>
              <a:t>45</a:t>
            </a:fld>
            <a:endParaRPr lang="en-US"/>
          </a:p>
        </p:txBody>
      </p:sp>
      <p:sp>
        <p:nvSpPr>
          <p:cNvPr id="6" name="Footer Placeholder 5"/>
          <p:cNvSpPr>
            <a:spLocks noGrp="1"/>
          </p:cNvSpPr>
          <p:nvPr>
            <p:ph type="ftr" sz="quarter" idx="11"/>
          </p:nvPr>
        </p:nvSpPr>
        <p:spPr/>
        <p:txBody>
          <a:bodyPr/>
          <a:lstStyle/>
          <a:p>
            <a:r>
              <a:rPr lang="en-US" smtClean="0"/>
              <a:t>AMASE   </a:t>
            </a:r>
            <a:endParaRPr lang="en-US"/>
          </a:p>
        </p:txBody>
      </p:sp>
      <p:sp>
        <p:nvSpPr>
          <p:cNvPr id="7" name="TextBox 6"/>
          <p:cNvSpPr txBox="1"/>
          <p:nvPr/>
        </p:nvSpPr>
        <p:spPr>
          <a:xfrm>
            <a:off x="1104900" y="5156200"/>
            <a:ext cx="6908800" cy="369332"/>
          </a:xfrm>
          <a:prstGeom prst="rect">
            <a:avLst/>
          </a:prstGeom>
          <a:noFill/>
        </p:spPr>
        <p:txBody>
          <a:bodyPr wrap="square" rtlCol="0">
            <a:spAutoFit/>
          </a:bodyPr>
          <a:lstStyle/>
          <a:p>
            <a:pPr algn="ctr"/>
            <a:r>
              <a:rPr lang="en-US" b="1" dirty="0" err="1" smtClean="0">
                <a:latin typeface="Courier New"/>
                <a:cs typeface="Courier New"/>
              </a:rPr>
              <a:t>fault_nominal_green_output</a:t>
            </a:r>
            <a:endParaRPr lang="en-US" b="1" dirty="0">
              <a:latin typeface="Courier New"/>
              <a:cs typeface="Courier New"/>
            </a:endParaRPr>
          </a:p>
        </p:txBody>
      </p:sp>
      <p:sp>
        <p:nvSpPr>
          <p:cNvPr id="9" name="TextBox 8"/>
          <p:cNvSpPr txBox="1"/>
          <p:nvPr/>
        </p:nvSpPr>
        <p:spPr>
          <a:xfrm>
            <a:off x="1104900" y="3187700"/>
            <a:ext cx="6908800" cy="369332"/>
          </a:xfrm>
          <a:prstGeom prst="rect">
            <a:avLst/>
          </a:prstGeom>
          <a:noFill/>
        </p:spPr>
        <p:txBody>
          <a:bodyPr wrap="square" rtlCol="0">
            <a:spAutoFit/>
          </a:bodyPr>
          <a:lstStyle/>
          <a:p>
            <a:pPr algn="ctr"/>
            <a:r>
              <a:rPr lang="en-US" b="1" dirty="0" err="1" smtClean="0">
                <a:latin typeface="Courier New"/>
                <a:cs typeface="Courier New"/>
              </a:rPr>
              <a:t>selector.green_output</a:t>
            </a:r>
            <a:endParaRPr lang="en-US" b="1" dirty="0">
              <a:latin typeface="Courier New"/>
              <a:cs typeface="Courier New"/>
            </a:endParaRPr>
          </a:p>
        </p:txBody>
      </p:sp>
      <p:cxnSp>
        <p:nvCxnSpPr>
          <p:cNvPr id="11" name="Straight Arrow Connector 10"/>
          <p:cNvCxnSpPr/>
          <p:nvPr/>
        </p:nvCxnSpPr>
        <p:spPr>
          <a:xfrm rot="16200000" flipH="1">
            <a:off x="3968750" y="4387850"/>
            <a:ext cx="1193800" cy="12700"/>
          </a:xfrm>
          <a:prstGeom prst="straightConnector1">
            <a:avLst/>
          </a:prstGeom>
          <a:ln w="38100" cap="flat" cmpd="sng" algn="ctr">
            <a:solidFill>
              <a:srgbClr val="FF0000"/>
            </a:solidFill>
            <a:prstDash val="solid"/>
            <a:round/>
            <a:headEnd type="none" w="med" len="med"/>
            <a:tailEnd type="arrow"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1">
              <a:buFont typeface="Arial"/>
              <a:buChar char="•"/>
            </a:pPr>
            <a:r>
              <a:rPr lang="en-US" dirty="0" smtClean="0"/>
              <a:t>Locate references to inputs and outputs in AGREE program </a:t>
            </a:r>
          </a:p>
          <a:p>
            <a:pPr lvl="1">
              <a:buFont typeface="Arial"/>
              <a:buChar char="•"/>
            </a:pPr>
            <a:r>
              <a:rPr lang="en-US" dirty="0" smtClean="0"/>
              <a:t>Replace output with nominal fault variable</a:t>
            </a:r>
          </a:p>
          <a:p>
            <a:pPr lvl="1">
              <a:buFont typeface="Arial"/>
              <a:buChar char="•"/>
            </a:pPr>
            <a:r>
              <a:rPr lang="en-US" dirty="0" smtClean="0"/>
              <a:t>Link nominal fault variable to nominal output</a:t>
            </a:r>
          </a:p>
          <a:p>
            <a:pPr lvl="1">
              <a:buNone/>
            </a:pPr>
            <a:endParaRPr lang="en-US" dirty="0" smtClean="0"/>
          </a:p>
          <a:p>
            <a:pPr lvl="1">
              <a:buNone/>
            </a:pPr>
            <a:r>
              <a:rPr lang="en-US" dirty="0" smtClean="0"/>
              <a:t> </a:t>
            </a:r>
            <a:endParaRPr lang="en-US" dirty="0"/>
          </a:p>
        </p:txBody>
      </p:sp>
      <p:sp>
        <p:nvSpPr>
          <p:cNvPr id="4" name="TextBox 3"/>
          <p:cNvSpPr txBox="1"/>
          <p:nvPr/>
        </p:nvSpPr>
        <p:spPr>
          <a:xfrm>
            <a:off x="374650" y="558800"/>
            <a:ext cx="8394700" cy="584776"/>
          </a:xfrm>
          <a:prstGeom prst="rect">
            <a:avLst/>
          </a:prstGeom>
          <a:noFill/>
        </p:spPr>
        <p:txBody>
          <a:bodyPr wrap="square" rtlCol="0">
            <a:spAutoFit/>
          </a:bodyPr>
          <a:lstStyle/>
          <a:p>
            <a:pPr algn="ctr"/>
            <a:r>
              <a:rPr lang="en-US" sz="3200" dirty="0" smtClean="0"/>
              <a:t>Transformation of AGREE AST </a:t>
            </a:r>
            <a:endParaRPr lang="en-US" sz="3200" dirty="0"/>
          </a:p>
        </p:txBody>
      </p:sp>
      <p:sp>
        <p:nvSpPr>
          <p:cNvPr id="5" name="Slide Number Placeholder 4"/>
          <p:cNvSpPr>
            <a:spLocks noGrp="1"/>
          </p:cNvSpPr>
          <p:nvPr>
            <p:ph type="sldNum" sz="quarter" idx="12"/>
          </p:nvPr>
        </p:nvSpPr>
        <p:spPr/>
        <p:txBody>
          <a:bodyPr/>
          <a:lstStyle/>
          <a:p>
            <a:fld id="{A3FF127A-2DBF-924B-94E1-163D8C9D5B47}" type="slidenum">
              <a:rPr lang="en-US" smtClean="0"/>
              <a:pPr/>
              <a:t>46</a:t>
            </a:fld>
            <a:endParaRPr lang="en-US"/>
          </a:p>
        </p:txBody>
      </p:sp>
      <p:sp>
        <p:nvSpPr>
          <p:cNvPr id="6" name="Footer Placeholder 5"/>
          <p:cNvSpPr>
            <a:spLocks noGrp="1"/>
          </p:cNvSpPr>
          <p:nvPr>
            <p:ph type="ftr" sz="quarter" idx="11"/>
          </p:nvPr>
        </p:nvSpPr>
        <p:spPr/>
        <p:txBody>
          <a:bodyPr/>
          <a:lstStyle/>
          <a:p>
            <a:r>
              <a:rPr lang="en-US" smtClean="0"/>
              <a:t>AMASE   </a:t>
            </a:r>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1">
              <a:buFont typeface="Arial"/>
              <a:buChar char="•"/>
            </a:pPr>
            <a:r>
              <a:rPr lang="en-US" dirty="0" smtClean="0"/>
              <a:t>Locate references to inputs and outputs in AGREE program </a:t>
            </a:r>
          </a:p>
          <a:p>
            <a:pPr lvl="1">
              <a:buFont typeface="Arial"/>
              <a:buChar char="•"/>
            </a:pPr>
            <a:r>
              <a:rPr lang="en-US" dirty="0" smtClean="0"/>
              <a:t>Replace output with nominal fault variable</a:t>
            </a:r>
          </a:p>
          <a:p>
            <a:pPr lvl="1">
              <a:buFont typeface="Arial"/>
              <a:buChar char="•"/>
            </a:pPr>
            <a:r>
              <a:rPr lang="en-US" dirty="0" smtClean="0"/>
              <a:t>Link nominal fault variable to nominal output</a:t>
            </a:r>
          </a:p>
          <a:p>
            <a:pPr lvl="1">
              <a:buNone/>
            </a:pPr>
            <a:r>
              <a:rPr lang="en-US" dirty="0" smtClean="0"/>
              <a:t> </a:t>
            </a:r>
            <a:endParaRPr lang="en-US" dirty="0"/>
          </a:p>
        </p:txBody>
      </p:sp>
      <p:sp>
        <p:nvSpPr>
          <p:cNvPr id="4" name="TextBox 3"/>
          <p:cNvSpPr txBox="1"/>
          <p:nvPr/>
        </p:nvSpPr>
        <p:spPr>
          <a:xfrm>
            <a:off x="374650" y="558800"/>
            <a:ext cx="8394700" cy="584776"/>
          </a:xfrm>
          <a:prstGeom prst="rect">
            <a:avLst/>
          </a:prstGeom>
          <a:noFill/>
        </p:spPr>
        <p:txBody>
          <a:bodyPr wrap="square" rtlCol="0">
            <a:spAutoFit/>
          </a:bodyPr>
          <a:lstStyle/>
          <a:p>
            <a:pPr algn="ctr"/>
            <a:r>
              <a:rPr lang="en-US" sz="3200" dirty="0" smtClean="0"/>
              <a:t>Transformation of AGREE AST </a:t>
            </a:r>
            <a:endParaRPr lang="en-US" sz="3200" dirty="0"/>
          </a:p>
        </p:txBody>
      </p:sp>
      <p:sp>
        <p:nvSpPr>
          <p:cNvPr id="5" name="Slide Number Placeholder 4"/>
          <p:cNvSpPr>
            <a:spLocks noGrp="1"/>
          </p:cNvSpPr>
          <p:nvPr>
            <p:ph type="sldNum" sz="quarter" idx="12"/>
          </p:nvPr>
        </p:nvSpPr>
        <p:spPr/>
        <p:txBody>
          <a:bodyPr/>
          <a:lstStyle/>
          <a:p>
            <a:fld id="{A3FF127A-2DBF-924B-94E1-163D8C9D5B47}" type="slidenum">
              <a:rPr lang="en-US" smtClean="0"/>
              <a:pPr/>
              <a:t>47</a:t>
            </a:fld>
            <a:endParaRPr lang="en-US"/>
          </a:p>
        </p:txBody>
      </p:sp>
      <p:sp>
        <p:nvSpPr>
          <p:cNvPr id="6" name="Footer Placeholder 5"/>
          <p:cNvSpPr>
            <a:spLocks noGrp="1"/>
          </p:cNvSpPr>
          <p:nvPr>
            <p:ph type="ftr" sz="quarter" idx="11"/>
          </p:nvPr>
        </p:nvSpPr>
        <p:spPr/>
        <p:txBody>
          <a:bodyPr/>
          <a:lstStyle/>
          <a:p>
            <a:r>
              <a:rPr lang="en-US" smtClean="0"/>
              <a:t>AMASE   </a:t>
            </a:r>
            <a:endParaRPr lang="en-US"/>
          </a:p>
        </p:txBody>
      </p:sp>
      <p:sp>
        <p:nvSpPr>
          <p:cNvPr id="9" name="TextBox 8"/>
          <p:cNvSpPr txBox="1"/>
          <p:nvPr/>
        </p:nvSpPr>
        <p:spPr>
          <a:xfrm>
            <a:off x="749300" y="4051300"/>
            <a:ext cx="7387810" cy="369332"/>
          </a:xfrm>
          <a:prstGeom prst="rect">
            <a:avLst/>
          </a:prstGeom>
          <a:noFill/>
        </p:spPr>
        <p:txBody>
          <a:bodyPr wrap="none" rtlCol="0">
            <a:spAutoFit/>
          </a:bodyPr>
          <a:lstStyle/>
          <a:p>
            <a:r>
              <a:rPr lang="en-US" b="1" dirty="0" smtClean="0">
                <a:latin typeface="Courier"/>
                <a:cs typeface="Courier"/>
              </a:rPr>
              <a:t>assert: </a:t>
            </a:r>
            <a:r>
              <a:rPr lang="en-US" b="1" dirty="0" err="1" smtClean="0">
                <a:latin typeface="Courier"/>
                <a:cs typeface="Courier"/>
              </a:rPr>
              <a:t>selector_fault_#_node_val_out</a:t>
            </a:r>
            <a:r>
              <a:rPr lang="en-US" b="1" dirty="0" smtClean="0">
                <a:latin typeface="Courier"/>
                <a:cs typeface="Courier"/>
              </a:rPr>
              <a:t> = </a:t>
            </a:r>
            <a:r>
              <a:rPr lang="en-US" b="1" dirty="0" err="1" smtClean="0">
                <a:latin typeface="Courier"/>
                <a:cs typeface="Courier"/>
              </a:rPr>
              <a:t>green_output</a:t>
            </a:r>
            <a:r>
              <a:rPr lang="en-US" b="1" dirty="0" smtClean="0">
                <a:latin typeface="Courier"/>
                <a:cs typeface="Courier"/>
              </a:rPr>
              <a:t>  </a:t>
            </a:r>
            <a:endParaRPr lang="en-US" b="1" dirty="0">
              <a:latin typeface="Courier"/>
              <a:cs typeface="Courier"/>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1">
              <a:buFont typeface="Arial"/>
              <a:buChar char="•"/>
            </a:pPr>
            <a:r>
              <a:rPr lang="en-US" dirty="0" smtClean="0"/>
              <a:t>Locate references to inputs and outputs in AGREE program </a:t>
            </a:r>
          </a:p>
          <a:p>
            <a:pPr lvl="1">
              <a:buFont typeface="Arial"/>
              <a:buChar char="•"/>
            </a:pPr>
            <a:r>
              <a:rPr lang="en-US" dirty="0" smtClean="0"/>
              <a:t>Replace output with nominal fault variable</a:t>
            </a:r>
          </a:p>
          <a:p>
            <a:pPr lvl="1">
              <a:buFont typeface="Arial"/>
              <a:buChar char="•"/>
            </a:pPr>
            <a:r>
              <a:rPr lang="en-US" dirty="0" smtClean="0"/>
              <a:t>Link nominal fault variable to nominal output</a:t>
            </a:r>
          </a:p>
          <a:p>
            <a:pPr lvl="1">
              <a:buFont typeface="Arial"/>
              <a:buChar char="•"/>
            </a:pPr>
            <a:r>
              <a:rPr lang="en-US" dirty="0" smtClean="0"/>
              <a:t>Replace references to nominal variables with nominal fault variables</a:t>
            </a:r>
          </a:p>
          <a:p>
            <a:pPr lvl="1">
              <a:buNone/>
            </a:pPr>
            <a:endParaRPr lang="en-US" dirty="0" smtClean="0"/>
          </a:p>
          <a:p>
            <a:pPr lvl="1">
              <a:buNone/>
            </a:pPr>
            <a:r>
              <a:rPr lang="en-US" dirty="0" smtClean="0"/>
              <a:t> </a:t>
            </a:r>
            <a:endParaRPr lang="en-US" dirty="0"/>
          </a:p>
        </p:txBody>
      </p:sp>
      <p:sp>
        <p:nvSpPr>
          <p:cNvPr id="4" name="TextBox 3"/>
          <p:cNvSpPr txBox="1"/>
          <p:nvPr/>
        </p:nvSpPr>
        <p:spPr>
          <a:xfrm>
            <a:off x="374650" y="558800"/>
            <a:ext cx="8394700" cy="584776"/>
          </a:xfrm>
          <a:prstGeom prst="rect">
            <a:avLst/>
          </a:prstGeom>
          <a:noFill/>
        </p:spPr>
        <p:txBody>
          <a:bodyPr wrap="square" rtlCol="0">
            <a:spAutoFit/>
          </a:bodyPr>
          <a:lstStyle/>
          <a:p>
            <a:pPr algn="ctr"/>
            <a:r>
              <a:rPr lang="en-US" sz="3200" dirty="0" smtClean="0"/>
              <a:t>Transformation of AGREE AST </a:t>
            </a:r>
            <a:endParaRPr lang="en-US" sz="3200" dirty="0"/>
          </a:p>
        </p:txBody>
      </p:sp>
      <p:sp>
        <p:nvSpPr>
          <p:cNvPr id="5" name="Slide Number Placeholder 4"/>
          <p:cNvSpPr>
            <a:spLocks noGrp="1"/>
          </p:cNvSpPr>
          <p:nvPr>
            <p:ph type="sldNum" sz="quarter" idx="12"/>
          </p:nvPr>
        </p:nvSpPr>
        <p:spPr/>
        <p:txBody>
          <a:bodyPr/>
          <a:lstStyle/>
          <a:p>
            <a:fld id="{A3FF127A-2DBF-924B-94E1-163D8C9D5B47}" type="slidenum">
              <a:rPr lang="en-US" smtClean="0"/>
              <a:pPr/>
              <a:t>48</a:t>
            </a:fld>
            <a:endParaRPr lang="en-US"/>
          </a:p>
        </p:txBody>
      </p:sp>
      <p:sp>
        <p:nvSpPr>
          <p:cNvPr id="6" name="Footer Placeholder 5"/>
          <p:cNvSpPr>
            <a:spLocks noGrp="1"/>
          </p:cNvSpPr>
          <p:nvPr>
            <p:ph type="ftr" sz="quarter" idx="11"/>
          </p:nvPr>
        </p:nvSpPr>
        <p:spPr/>
        <p:txBody>
          <a:bodyPr/>
          <a:lstStyle/>
          <a:p>
            <a:r>
              <a:rPr lang="en-US" smtClean="0"/>
              <a:t>AMASE   </a:t>
            </a:r>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1">
              <a:buFont typeface="Arial"/>
              <a:buChar char="•"/>
            </a:pPr>
            <a:r>
              <a:rPr lang="en-US" dirty="0" smtClean="0"/>
              <a:t>Locate references to inputs and outputs in AGREE program </a:t>
            </a:r>
          </a:p>
          <a:p>
            <a:pPr lvl="1">
              <a:buFont typeface="Arial"/>
              <a:buChar char="•"/>
            </a:pPr>
            <a:r>
              <a:rPr lang="en-US" dirty="0" smtClean="0"/>
              <a:t>Replace output with nominal fault variable</a:t>
            </a:r>
          </a:p>
          <a:p>
            <a:pPr lvl="1">
              <a:buFont typeface="Arial"/>
              <a:buChar char="•"/>
            </a:pPr>
            <a:r>
              <a:rPr lang="en-US" dirty="0" smtClean="0"/>
              <a:t>Link nominal fault variable to nominal output</a:t>
            </a:r>
          </a:p>
          <a:p>
            <a:pPr lvl="1">
              <a:buFont typeface="Arial"/>
              <a:buChar char="•"/>
            </a:pPr>
            <a:r>
              <a:rPr lang="en-US" dirty="0" smtClean="0"/>
              <a:t>Replace references to nominal variables with nominal fault variables</a:t>
            </a:r>
          </a:p>
          <a:p>
            <a:pPr lvl="1">
              <a:buNone/>
            </a:pPr>
            <a:endParaRPr lang="en-US" dirty="0" smtClean="0"/>
          </a:p>
          <a:p>
            <a:pPr lvl="1">
              <a:buNone/>
            </a:pPr>
            <a:r>
              <a:rPr lang="en-US" dirty="0" smtClean="0"/>
              <a:t> </a:t>
            </a:r>
            <a:endParaRPr lang="en-US" dirty="0"/>
          </a:p>
        </p:txBody>
      </p:sp>
      <p:sp>
        <p:nvSpPr>
          <p:cNvPr id="4" name="TextBox 3"/>
          <p:cNvSpPr txBox="1"/>
          <p:nvPr/>
        </p:nvSpPr>
        <p:spPr>
          <a:xfrm>
            <a:off x="374650" y="558800"/>
            <a:ext cx="8394700" cy="584776"/>
          </a:xfrm>
          <a:prstGeom prst="rect">
            <a:avLst/>
          </a:prstGeom>
          <a:noFill/>
        </p:spPr>
        <p:txBody>
          <a:bodyPr wrap="square" rtlCol="0">
            <a:spAutoFit/>
          </a:bodyPr>
          <a:lstStyle/>
          <a:p>
            <a:pPr algn="ctr"/>
            <a:r>
              <a:rPr lang="en-US" sz="3200" dirty="0" smtClean="0"/>
              <a:t>Transformation of AGREE AST </a:t>
            </a:r>
            <a:endParaRPr lang="en-US" sz="3200" dirty="0"/>
          </a:p>
        </p:txBody>
      </p:sp>
      <p:sp>
        <p:nvSpPr>
          <p:cNvPr id="5" name="Slide Number Placeholder 4"/>
          <p:cNvSpPr>
            <a:spLocks noGrp="1"/>
          </p:cNvSpPr>
          <p:nvPr>
            <p:ph type="sldNum" sz="quarter" idx="12"/>
          </p:nvPr>
        </p:nvSpPr>
        <p:spPr/>
        <p:txBody>
          <a:bodyPr/>
          <a:lstStyle/>
          <a:p>
            <a:fld id="{A3FF127A-2DBF-924B-94E1-163D8C9D5B47}" type="slidenum">
              <a:rPr lang="en-US" smtClean="0"/>
              <a:pPr/>
              <a:t>49</a:t>
            </a:fld>
            <a:endParaRPr lang="en-US"/>
          </a:p>
        </p:txBody>
      </p:sp>
      <p:sp>
        <p:nvSpPr>
          <p:cNvPr id="6" name="Footer Placeholder 5"/>
          <p:cNvSpPr>
            <a:spLocks noGrp="1"/>
          </p:cNvSpPr>
          <p:nvPr>
            <p:ph type="ftr" sz="quarter" idx="11"/>
          </p:nvPr>
        </p:nvSpPr>
        <p:spPr/>
        <p:txBody>
          <a:bodyPr/>
          <a:lstStyle/>
          <a:p>
            <a:r>
              <a:rPr lang="en-US" smtClean="0"/>
              <a:t>AMASE   </a:t>
            </a:r>
            <a:endParaRPr lang="en-US"/>
          </a:p>
        </p:txBody>
      </p:sp>
      <p:sp>
        <p:nvSpPr>
          <p:cNvPr id="8" name="TextBox 7"/>
          <p:cNvSpPr txBox="1"/>
          <p:nvPr/>
        </p:nvSpPr>
        <p:spPr>
          <a:xfrm>
            <a:off x="800100" y="4659868"/>
            <a:ext cx="6695199" cy="369332"/>
          </a:xfrm>
          <a:prstGeom prst="rect">
            <a:avLst/>
          </a:prstGeom>
          <a:noFill/>
        </p:spPr>
        <p:txBody>
          <a:bodyPr wrap="none" rtlCol="0">
            <a:spAutoFit/>
          </a:bodyPr>
          <a:lstStyle/>
          <a:p>
            <a:r>
              <a:rPr lang="en-US" b="1" dirty="0" smtClean="0">
                <a:latin typeface="Courier"/>
                <a:cs typeface="Courier"/>
              </a:rPr>
              <a:t>guarantee: </a:t>
            </a:r>
            <a:r>
              <a:rPr lang="en-US" b="1" dirty="0" err="1" smtClean="0">
                <a:latin typeface="Courier"/>
                <a:cs typeface="Courier"/>
              </a:rPr>
              <a:t>green_output.val</a:t>
            </a:r>
            <a:r>
              <a:rPr lang="en-US" b="1" dirty="0" smtClean="0">
                <a:latin typeface="Courier"/>
                <a:cs typeface="Courier"/>
              </a:rPr>
              <a:t> &lt;= </a:t>
            </a:r>
            <a:r>
              <a:rPr lang="en-US" b="1" dirty="0" err="1" smtClean="0">
                <a:latin typeface="Courier"/>
                <a:cs typeface="Courier"/>
              </a:rPr>
              <a:t>green_input.val</a:t>
            </a:r>
            <a:r>
              <a:rPr lang="en-US" b="1" dirty="0" smtClean="0">
                <a:latin typeface="Courier"/>
                <a:cs typeface="Courier"/>
              </a:rPr>
              <a:t>; </a:t>
            </a:r>
            <a:endParaRPr lang="en-US" b="1" dirty="0">
              <a:latin typeface="Courier"/>
              <a:cs typeface="Courier"/>
            </a:endParaRPr>
          </a:p>
        </p:txBody>
      </p:sp>
      <p:sp>
        <p:nvSpPr>
          <p:cNvPr id="9" name="TextBox 8"/>
          <p:cNvSpPr txBox="1"/>
          <p:nvPr/>
        </p:nvSpPr>
        <p:spPr>
          <a:xfrm>
            <a:off x="457200" y="5581134"/>
            <a:ext cx="8634508" cy="369332"/>
          </a:xfrm>
          <a:prstGeom prst="rect">
            <a:avLst/>
          </a:prstGeom>
          <a:noFill/>
        </p:spPr>
        <p:txBody>
          <a:bodyPr wrap="none" rtlCol="0">
            <a:spAutoFit/>
          </a:bodyPr>
          <a:lstStyle/>
          <a:p>
            <a:r>
              <a:rPr lang="en-US" b="1" dirty="0" smtClean="0">
                <a:latin typeface="Courier"/>
                <a:cs typeface="Courier"/>
              </a:rPr>
              <a:t>guarantee: </a:t>
            </a:r>
            <a:r>
              <a:rPr lang="en-US" b="1" dirty="0" err="1" smtClean="0">
                <a:latin typeface="Courier"/>
                <a:cs typeface="Courier"/>
              </a:rPr>
              <a:t>nominal_fault_green_output.val</a:t>
            </a:r>
            <a:r>
              <a:rPr lang="en-US" b="1" dirty="0" smtClean="0">
                <a:latin typeface="Courier"/>
                <a:cs typeface="Courier"/>
              </a:rPr>
              <a:t> &lt;= </a:t>
            </a:r>
            <a:r>
              <a:rPr lang="en-US" b="1" dirty="0" err="1" smtClean="0">
                <a:latin typeface="Courier"/>
                <a:cs typeface="Courier"/>
              </a:rPr>
              <a:t>green_input.val</a:t>
            </a:r>
            <a:r>
              <a:rPr lang="en-US" b="1" dirty="0" smtClean="0">
                <a:latin typeface="Courier"/>
                <a:cs typeface="Courier"/>
              </a:rPr>
              <a:t>; </a:t>
            </a:r>
            <a:endParaRPr lang="en-US" b="1" dirty="0">
              <a:latin typeface="Courier"/>
              <a:cs typeface="Courier"/>
            </a:endParaRPr>
          </a:p>
        </p:txBody>
      </p:sp>
      <p:cxnSp>
        <p:nvCxnSpPr>
          <p:cNvPr id="11" name="Straight Arrow Connector 10"/>
          <p:cNvCxnSpPr/>
          <p:nvPr/>
        </p:nvCxnSpPr>
        <p:spPr>
          <a:xfrm rot="5400000">
            <a:off x="3996789" y="5324217"/>
            <a:ext cx="514628" cy="794"/>
          </a:xfrm>
          <a:prstGeom prst="straightConnector1">
            <a:avLst/>
          </a:prstGeom>
          <a:ln w="38100" cap="flat" cmpd="sng" algn="ctr">
            <a:solidFill>
              <a:srgbClr val="FF0000"/>
            </a:solidFill>
            <a:prstDash val="solid"/>
            <a:round/>
            <a:headEnd type="none" w="med" len="med"/>
            <a:tailEnd type="arrow"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1382</Words>
  <Application>Microsoft Office PowerPoint</Application>
  <PresentationFormat>Bildschirmpräsentation (4:3)</PresentationFormat>
  <Paragraphs>433</Paragraphs>
  <Slides>49</Slides>
  <Notes>12</Notes>
  <HiddenSlides>0</HiddenSlides>
  <MMClips>0</MMClips>
  <ScaleCrop>false</ScaleCrop>
  <HeadingPairs>
    <vt:vector size="6" baseType="variant">
      <vt:variant>
        <vt:lpstr>Design</vt:lpstr>
      </vt:variant>
      <vt:variant>
        <vt:i4>1</vt:i4>
      </vt:variant>
      <vt:variant>
        <vt:lpstr>Eingebettete OLE-Server</vt:lpstr>
      </vt:variant>
      <vt:variant>
        <vt:i4>2</vt:i4>
      </vt:variant>
      <vt:variant>
        <vt:lpstr>Folientitel</vt:lpstr>
      </vt:variant>
      <vt:variant>
        <vt:i4>49</vt:i4>
      </vt:variant>
    </vt:vector>
  </HeadingPairs>
  <TitlesOfParts>
    <vt:vector size="52" baseType="lpstr">
      <vt:lpstr>Office Theme</vt:lpstr>
      <vt:lpstr>Visio</vt:lpstr>
      <vt:lpstr>VISIO</vt:lpstr>
      <vt:lpstr>Architectural Modeling and Analysis for Safety Engineering (AMASE)</vt:lpstr>
      <vt:lpstr>Motivation</vt:lpstr>
      <vt:lpstr>Model-Based Development</vt:lpstr>
      <vt:lpstr>Model-Based Safety Analysis</vt:lpstr>
      <vt:lpstr>Wheel Brake System</vt:lpstr>
      <vt:lpstr>Wheel Brake System</vt:lpstr>
      <vt:lpstr>Wheel Brake System</vt:lpstr>
      <vt:lpstr>Wheel Brake System</vt:lpstr>
      <vt:lpstr>Architecture Analysis and Design Language (AADL)</vt:lpstr>
      <vt:lpstr>Architecture Analysis and Design Language (AADL)</vt:lpstr>
      <vt:lpstr>WBS AADL Model</vt:lpstr>
      <vt:lpstr>PowerPoint-Präsentation</vt:lpstr>
      <vt:lpstr>Architecture Modeling and Analysis Tools</vt:lpstr>
      <vt:lpstr>Architecture Modeling and Analysis Tools</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WBS Top Level Contract</vt:lpstr>
      <vt:lpstr>Manual Fault Injection</vt:lpstr>
      <vt:lpstr>Manual Fault Injection</vt:lpstr>
      <vt:lpstr>Summary of Nominal Model Changes</vt:lpstr>
      <vt:lpstr>WBS AADL Model</vt:lpstr>
      <vt:lpstr>Summary of Nominal Model Changes</vt:lpstr>
      <vt:lpstr>New Top Level Contract</vt:lpstr>
      <vt:lpstr>Summary of Nominal Model Changes</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Architecture Modeling and Analysis for Safety Engineering</dc:title>
  <dc:creator>Danielle Stewart</dc:creator>
  <cp:lastModifiedBy>Danielle Kristen Stewart</cp:lastModifiedBy>
  <cp:revision>107</cp:revision>
  <dcterms:created xsi:type="dcterms:W3CDTF">2017-09-14T09:39:38Z</dcterms:created>
  <dcterms:modified xsi:type="dcterms:W3CDTF">2018-08-23T06:53:15Z</dcterms:modified>
</cp:coreProperties>
</file>