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wmf" ContentType="image/x-w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9" r:id="rId1"/>
    <p:sldMasterId id="2147483703" r:id="rId2"/>
  </p:sldMasterIdLst>
  <p:notesMasterIdLst>
    <p:notesMasterId r:id="rId42"/>
  </p:notesMasterIdLst>
  <p:handoutMasterIdLst>
    <p:handoutMasterId r:id="rId43"/>
  </p:handoutMasterIdLst>
  <p:sldIdLst>
    <p:sldId id="257" r:id="rId3"/>
    <p:sldId id="789" r:id="rId4"/>
    <p:sldId id="762" r:id="rId5"/>
    <p:sldId id="763" r:id="rId6"/>
    <p:sldId id="796" r:id="rId7"/>
    <p:sldId id="799" r:id="rId8"/>
    <p:sldId id="809" r:id="rId9"/>
    <p:sldId id="810" r:id="rId10"/>
    <p:sldId id="800" r:id="rId11"/>
    <p:sldId id="764" r:id="rId12"/>
    <p:sldId id="765" r:id="rId13"/>
    <p:sldId id="766" r:id="rId14"/>
    <p:sldId id="767" r:id="rId15"/>
    <p:sldId id="768" r:id="rId16"/>
    <p:sldId id="769" r:id="rId17"/>
    <p:sldId id="778" r:id="rId18"/>
    <p:sldId id="770" r:id="rId19"/>
    <p:sldId id="771" r:id="rId20"/>
    <p:sldId id="772" r:id="rId21"/>
    <p:sldId id="773" r:id="rId22"/>
    <p:sldId id="775" r:id="rId23"/>
    <p:sldId id="785" r:id="rId24"/>
    <p:sldId id="725" r:id="rId25"/>
    <p:sldId id="781" r:id="rId26"/>
    <p:sldId id="786" r:id="rId27"/>
    <p:sldId id="727" r:id="rId28"/>
    <p:sldId id="805" r:id="rId29"/>
    <p:sldId id="806" r:id="rId30"/>
    <p:sldId id="808" r:id="rId31"/>
    <p:sldId id="807" r:id="rId32"/>
    <p:sldId id="788" r:id="rId33"/>
    <p:sldId id="820" r:id="rId34"/>
    <p:sldId id="821" r:id="rId35"/>
    <p:sldId id="819" r:id="rId36"/>
    <p:sldId id="817" r:id="rId37"/>
    <p:sldId id="813" r:id="rId38"/>
    <p:sldId id="814" r:id="rId39"/>
    <p:sldId id="815" r:id="rId40"/>
    <p:sldId id="816" r:id="rId41"/>
  </p:sldIdLst>
  <p:sldSz cx="9144000" cy="6858000" type="screen4x3"/>
  <p:notesSz cx="7010400" cy="9296400"/>
  <p:defaultTextStyle>
    <a:defPPr>
      <a:defRPr lang="en-US"/>
    </a:defPPr>
    <a:lvl1pPr algn="l" rtl="0" fontAlgn="base">
      <a:spcBef>
        <a:spcPct val="0"/>
      </a:spcBef>
      <a:spcAft>
        <a:spcPct val="0"/>
      </a:spcAft>
      <a:defRPr kern="1200">
        <a:solidFill>
          <a:schemeClr val="tx1"/>
        </a:solidFill>
        <a:latin typeface="Arial" pitchFamily="34" charset="0"/>
        <a:ea typeface="+mn-ea"/>
        <a:cs typeface="Arial" pitchFamily="34" charset="0"/>
      </a:defRPr>
    </a:lvl1pPr>
    <a:lvl2pPr marL="457200" algn="l" rtl="0" fontAlgn="base">
      <a:spcBef>
        <a:spcPct val="0"/>
      </a:spcBef>
      <a:spcAft>
        <a:spcPct val="0"/>
      </a:spcAft>
      <a:defRPr kern="1200">
        <a:solidFill>
          <a:schemeClr val="tx1"/>
        </a:solidFill>
        <a:latin typeface="Arial" pitchFamily="34" charset="0"/>
        <a:ea typeface="+mn-ea"/>
        <a:cs typeface="Arial" pitchFamily="34" charset="0"/>
      </a:defRPr>
    </a:lvl2pPr>
    <a:lvl3pPr marL="914400" algn="l" rtl="0" fontAlgn="base">
      <a:spcBef>
        <a:spcPct val="0"/>
      </a:spcBef>
      <a:spcAft>
        <a:spcPct val="0"/>
      </a:spcAft>
      <a:defRPr kern="1200">
        <a:solidFill>
          <a:schemeClr val="tx1"/>
        </a:solidFill>
        <a:latin typeface="Arial" pitchFamily="34" charset="0"/>
        <a:ea typeface="+mn-ea"/>
        <a:cs typeface="Arial" pitchFamily="34" charset="0"/>
      </a:defRPr>
    </a:lvl3pPr>
    <a:lvl4pPr marL="1371600" algn="l" rtl="0" fontAlgn="base">
      <a:spcBef>
        <a:spcPct val="0"/>
      </a:spcBef>
      <a:spcAft>
        <a:spcPct val="0"/>
      </a:spcAft>
      <a:defRPr kern="1200">
        <a:solidFill>
          <a:schemeClr val="tx1"/>
        </a:solidFill>
        <a:latin typeface="Arial" pitchFamily="34" charset="0"/>
        <a:ea typeface="+mn-ea"/>
        <a:cs typeface="Arial" pitchFamily="34" charset="0"/>
      </a:defRPr>
    </a:lvl4pPr>
    <a:lvl5pPr marL="1828800" algn="l" rtl="0" fontAlgn="base">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 uri="{2D200454-40CA-4A62-9FC3-DE9A4176ACB9}">
      <p15:notesGuideLst xmlns=""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dcofer" initials="dc"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693B8"/>
    <a:srgbClr val="0066FF"/>
    <a:srgbClr val="990000"/>
    <a:srgbClr val="3333CC"/>
    <a:srgbClr val="FF9900"/>
    <a:srgbClr val="A3A3FF"/>
    <a:srgbClr val="9999FF"/>
    <a:srgbClr val="9393FF"/>
    <a:srgbClr val="BDBDFF"/>
    <a:srgbClr val="C3D7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62" autoAdjust="0"/>
    <p:restoredTop sz="93036" autoAdjust="0"/>
  </p:normalViewPr>
  <p:slideViewPr>
    <p:cSldViewPr>
      <p:cViewPr varScale="1">
        <p:scale>
          <a:sx n="90" d="100"/>
          <a:sy n="90" d="100"/>
        </p:scale>
        <p:origin x="-408" y="-114"/>
      </p:cViewPr>
      <p:guideLst>
        <p:guide orient="horz" pos="2160"/>
        <p:guide pos="2880"/>
      </p:guideLst>
    </p:cSldViewPr>
  </p:slideViewPr>
  <p:notesTextViewPr>
    <p:cViewPr>
      <p:scale>
        <a:sx n="1" d="1"/>
        <a:sy n="1" d="1"/>
      </p:scale>
      <p:origin x="0" y="0"/>
    </p:cViewPr>
  </p:notesTextViewPr>
  <p:notesViewPr>
    <p:cSldViewPr>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handoutMaster" Target="handoutMasters/handoutMaster1.xml"/><Relationship Id="rId48"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13.emf"/><Relationship Id="rId1" Type="http://schemas.openxmlformats.org/officeDocument/2006/relationships/image" Target="../media/image12.e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image" Target="../media/image1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2642" name="Rectangle 2"/>
          <p:cNvSpPr>
            <a:spLocks noGrp="1" noChangeArrowheads="1"/>
          </p:cNvSpPr>
          <p:nvPr>
            <p:ph type="hdr" sz="quarter"/>
          </p:nvPr>
        </p:nvSpPr>
        <p:spPr bwMode="auto">
          <a:xfrm>
            <a:off x="0" y="0"/>
            <a:ext cx="3009832" cy="452257"/>
          </a:xfrm>
          <a:prstGeom prst="rect">
            <a:avLst/>
          </a:prstGeom>
          <a:noFill/>
          <a:ln w="9525">
            <a:noFill/>
            <a:miter lim="800000"/>
            <a:headEnd/>
            <a:tailEnd/>
          </a:ln>
          <a:effectLst/>
        </p:spPr>
        <p:txBody>
          <a:bodyPr vert="horz" wrap="square" lIns="90379" tIns="45190" rIns="90379" bIns="45190" numCol="1" anchor="t" anchorCtr="0" compatLnSpc="1">
            <a:prstTxWarp prst="textNoShape">
              <a:avLst/>
            </a:prstTxWarp>
          </a:bodyPr>
          <a:lstStyle>
            <a:lvl1pPr>
              <a:defRPr sz="1200" smtClean="0">
                <a:latin typeface="Arial" charset="0"/>
                <a:cs typeface="Arial" charset="0"/>
              </a:defRPr>
            </a:lvl1pPr>
          </a:lstStyle>
          <a:p>
            <a:pPr>
              <a:defRPr/>
            </a:pPr>
            <a:endParaRPr lang="en-US" dirty="0"/>
          </a:p>
        </p:txBody>
      </p:sp>
      <p:sp>
        <p:nvSpPr>
          <p:cNvPr id="112643" name="Rectangle 3"/>
          <p:cNvSpPr>
            <a:spLocks noGrp="1" noChangeArrowheads="1"/>
          </p:cNvSpPr>
          <p:nvPr>
            <p:ph type="dt" sz="quarter" idx="1"/>
          </p:nvPr>
        </p:nvSpPr>
        <p:spPr bwMode="auto">
          <a:xfrm>
            <a:off x="3988027" y="0"/>
            <a:ext cx="3009832" cy="452257"/>
          </a:xfrm>
          <a:prstGeom prst="rect">
            <a:avLst/>
          </a:prstGeom>
          <a:noFill/>
          <a:ln w="9525">
            <a:noFill/>
            <a:miter lim="800000"/>
            <a:headEnd/>
            <a:tailEnd/>
          </a:ln>
          <a:effectLst/>
        </p:spPr>
        <p:txBody>
          <a:bodyPr vert="horz" wrap="square" lIns="90379" tIns="45190" rIns="90379" bIns="45190" numCol="1" anchor="t" anchorCtr="0" compatLnSpc="1">
            <a:prstTxWarp prst="textNoShape">
              <a:avLst/>
            </a:prstTxWarp>
          </a:bodyPr>
          <a:lstStyle>
            <a:lvl1pPr algn="r">
              <a:defRPr sz="1200" smtClean="0">
                <a:latin typeface="Arial" charset="0"/>
                <a:cs typeface="Arial" charset="0"/>
              </a:defRPr>
            </a:lvl1pPr>
          </a:lstStyle>
          <a:p>
            <a:pPr>
              <a:defRPr/>
            </a:pPr>
            <a:endParaRPr lang="en-US" dirty="0"/>
          </a:p>
        </p:txBody>
      </p:sp>
      <p:sp>
        <p:nvSpPr>
          <p:cNvPr id="112644" name="Rectangle 4"/>
          <p:cNvSpPr>
            <a:spLocks noGrp="1" noChangeArrowheads="1"/>
          </p:cNvSpPr>
          <p:nvPr>
            <p:ph type="ftr" sz="quarter" idx="2"/>
          </p:nvPr>
        </p:nvSpPr>
        <p:spPr bwMode="auto">
          <a:xfrm>
            <a:off x="0" y="8819017"/>
            <a:ext cx="3009832" cy="452257"/>
          </a:xfrm>
          <a:prstGeom prst="rect">
            <a:avLst/>
          </a:prstGeom>
          <a:noFill/>
          <a:ln w="9525">
            <a:noFill/>
            <a:miter lim="800000"/>
            <a:headEnd/>
            <a:tailEnd/>
          </a:ln>
          <a:effectLst/>
        </p:spPr>
        <p:txBody>
          <a:bodyPr vert="horz" wrap="square" lIns="90379" tIns="45190" rIns="90379" bIns="45190" numCol="1" anchor="b" anchorCtr="0" compatLnSpc="1">
            <a:prstTxWarp prst="textNoShape">
              <a:avLst/>
            </a:prstTxWarp>
          </a:bodyPr>
          <a:lstStyle>
            <a:lvl1pPr>
              <a:defRPr sz="1200" smtClean="0">
                <a:latin typeface="Arial" charset="0"/>
                <a:cs typeface="Arial" charset="0"/>
              </a:defRPr>
            </a:lvl1pPr>
          </a:lstStyle>
          <a:p>
            <a:pPr>
              <a:defRPr/>
            </a:pPr>
            <a:endParaRPr lang="en-US" dirty="0"/>
          </a:p>
        </p:txBody>
      </p:sp>
      <p:sp>
        <p:nvSpPr>
          <p:cNvPr id="112645" name="Rectangle 5"/>
          <p:cNvSpPr>
            <a:spLocks noGrp="1" noChangeArrowheads="1"/>
          </p:cNvSpPr>
          <p:nvPr>
            <p:ph type="sldNum" sz="quarter" idx="3"/>
          </p:nvPr>
        </p:nvSpPr>
        <p:spPr bwMode="auto">
          <a:xfrm>
            <a:off x="3988027" y="8819017"/>
            <a:ext cx="3009832" cy="452257"/>
          </a:xfrm>
          <a:prstGeom prst="rect">
            <a:avLst/>
          </a:prstGeom>
          <a:noFill/>
          <a:ln w="9525">
            <a:noFill/>
            <a:miter lim="800000"/>
            <a:headEnd/>
            <a:tailEnd/>
          </a:ln>
          <a:effectLst/>
        </p:spPr>
        <p:txBody>
          <a:bodyPr vert="horz" wrap="square" lIns="90379" tIns="45190" rIns="90379" bIns="45190" numCol="1" anchor="b" anchorCtr="0" compatLnSpc="1">
            <a:prstTxWarp prst="textNoShape">
              <a:avLst/>
            </a:prstTxWarp>
          </a:bodyPr>
          <a:lstStyle>
            <a:lvl1pPr algn="r">
              <a:defRPr sz="1200" smtClean="0">
                <a:latin typeface="Arial" charset="0"/>
                <a:cs typeface="Arial" charset="0"/>
              </a:defRPr>
            </a:lvl1pPr>
          </a:lstStyle>
          <a:p>
            <a:pPr>
              <a:defRPr/>
            </a:pPr>
            <a:fld id="{F4DD4B8B-0B08-4E22-96F0-6475601545F2}" type="slidenum">
              <a:rPr lang="en-US"/>
              <a:pPr>
                <a:defRPr/>
              </a:pPr>
              <a:t>‹Nr.›</a:t>
            </a:fld>
            <a:endParaRPr lang="en-US" dirty="0"/>
          </a:p>
        </p:txBody>
      </p:sp>
    </p:spTree>
    <p:extLst>
      <p:ext uri="{BB962C8B-B14F-4D97-AF65-F5344CB8AC3E}">
        <p14:creationId xmlns:p14="http://schemas.microsoft.com/office/powerpoint/2010/main" val="27395404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38049" cy="46482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lvl1pPr defTabSz="932036">
              <a:defRPr sz="1200" smtClean="0">
                <a:latin typeface="Arial" charset="0"/>
                <a:cs typeface="Arial" charset="0"/>
              </a:defRPr>
            </a:lvl1pPr>
          </a:lstStyle>
          <a:p>
            <a:pPr>
              <a:defRPr/>
            </a:pPr>
            <a:endParaRPr lang="en-US" dirty="0"/>
          </a:p>
        </p:txBody>
      </p:sp>
      <p:sp>
        <p:nvSpPr>
          <p:cNvPr id="5123" name="Rectangle 3"/>
          <p:cNvSpPr>
            <a:spLocks noGrp="1" noChangeArrowheads="1"/>
          </p:cNvSpPr>
          <p:nvPr>
            <p:ph type="dt" idx="1"/>
          </p:nvPr>
        </p:nvSpPr>
        <p:spPr bwMode="auto">
          <a:xfrm>
            <a:off x="3970784" y="0"/>
            <a:ext cx="3038049" cy="46482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lvl1pPr algn="r" defTabSz="932036">
              <a:defRPr sz="1200" smtClean="0">
                <a:latin typeface="Arial" charset="0"/>
                <a:cs typeface="Arial" charset="0"/>
              </a:defRPr>
            </a:lvl1pPr>
          </a:lstStyle>
          <a:p>
            <a:pPr>
              <a:defRPr/>
            </a:pPr>
            <a:endParaRPr lang="en-US" dirty="0"/>
          </a:p>
        </p:txBody>
      </p:sp>
      <p:sp>
        <p:nvSpPr>
          <p:cNvPr id="22532" name="Rectangle 4"/>
          <p:cNvSpPr>
            <a:spLocks noGrp="1" noRot="1" noChangeAspect="1" noChangeArrowheads="1" noTextEdit="1"/>
          </p:cNvSpPr>
          <p:nvPr>
            <p:ph type="sldImg" idx="2"/>
          </p:nvPr>
        </p:nvSpPr>
        <p:spPr bwMode="auto">
          <a:xfrm>
            <a:off x="1181100" y="696913"/>
            <a:ext cx="4648200"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0727" y="4415790"/>
            <a:ext cx="5608947" cy="418338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5126" name="Rectangle 6"/>
          <p:cNvSpPr>
            <a:spLocks noGrp="1" noChangeArrowheads="1"/>
          </p:cNvSpPr>
          <p:nvPr>
            <p:ph type="ftr" sz="quarter" idx="4"/>
          </p:nvPr>
        </p:nvSpPr>
        <p:spPr bwMode="auto">
          <a:xfrm>
            <a:off x="1" y="8830010"/>
            <a:ext cx="3038049" cy="464820"/>
          </a:xfrm>
          <a:prstGeom prst="rect">
            <a:avLst/>
          </a:prstGeom>
          <a:noFill/>
          <a:ln w="9525">
            <a:noFill/>
            <a:miter lim="800000"/>
            <a:headEnd/>
            <a:tailEnd/>
          </a:ln>
          <a:effectLst/>
        </p:spPr>
        <p:txBody>
          <a:bodyPr vert="horz" wrap="square" lIns="93172" tIns="46586" rIns="93172" bIns="46586" numCol="1" anchor="b" anchorCtr="0" compatLnSpc="1">
            <a:prstTxWarp prst="textNoShape">
              <a:avLst/>
            </a:prstTxWarp>
          </a:bodyPr>
          <a:lstStyle>
            <a:lvl1pPr defTabSz="932036">
              <a:defRPr sz="1200" smtClean="0">
                <a:latin typeface="Arial" charset="0"/>
                <a:cs typeface="Arial" charset="0"/>
              </a:defRPr>
            </a:lvl1pPr>
          </a:lstStyle>
          <a:p>
            <a:pPr>
              <a:defRPr/>
            </a:pPr>
            <a:endParaRPr lang="en-US" dirty="0"/>
          </a:p>
        </p:txBody>
      </p:sp>
      <p:sp>
        <p:nvSpPr>
          <p:cNvPr id="5127" name="Rectangle 7"/>
          <p:cNvSpPr>
            <a:spLocks noGrp="1" noChangeArrowheads="1"/>
          </p:cNvSpPr>
          <p:nvPr>
            <p:ph type="sldNum" sz="quarter" idx="5"/>
          </p:nvPr>
        </p:nvSpPr>
        <p:spPr bwMode="auto">
          <a:xfrm>
            <a:off x="3970784" y="8830010"/>
            <a:ext cx="3038049" cy="464820"/>
          </a:xfrm>
          <a:prstGeom prst="rect">
            <a:avLst/>
          </a:prstGeom>
          <a:noFill/>
          <a:ln w="9525">
            <a:noFill/>
            <a:miter lim="800000"/>
            <a:headEnd/>
            <a:tailEnd/>
          </a:ln>
          <a:effectLst/>
        </p:spPr>
        <p:txBody>
          <a:bodyPr vert="horz" wrap="square" lIns="93172" tIns="46586" rIns="93172" bIns="46586" numCol="1" anchor="b" anchorCtr="0" compatLnSpc="1">
            <a:prstTxWarp prst="textNoShape">
              <a:avLst/>
            </a:prstTxWarp>
          </a:bodyPr>
          <a:lstStyle>
            <a:lvl1pPr algn="r" defTabSz="932036">
              <a:defRPr sz="1200" smtClean="0">
                <a:latin typeface="Arial" charset="0"/>
                <a:cs typeface="Arial" charset="0"/>
              </a:defRPr>
            </a:lvl1pPr>
          </a:lstStyle>
          <a:p>
            <a:pPr>
              <a:defRPr/>
            </a:pPr>
            <a:fld id="{62D8EB32-0A30-4BE1-8F61-0C745B92912B}" type="slidenum">
              <a:rPr lang="en-US"/>
              <a:pPr>
                <a:defRPr/>
              </a:pPr>
              <a:t>‹Nr.›</a:t>
            </a:fld>
            <a:endParaRPr lang="en-US" dirty="0"/>
          </a:p>
        </p:txBody>
      </p:sp>
    </p:spTree>
    <p:extLst>
      <p:ext uri="{BB962C8B-B14F-4D97-AF65-F5344CB8AC3E}">
        <p14:creationId xmlns:p14="http://schemas.microsoft.com/office/powerpoint/2010/main" val="2565531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2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2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2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2036" eaLnBrk="0" hangingPunct="0">
              <a:defRPr>
                <a:solidFill>
                  <a:schemeClr val="tx1"/>
                </a:solidFill>
                <a:latin typeface="Arial" pitchFamily="34" charset="0"/>
                <a:cs typeface="Arial" pitchFamily="34" charset="0"/>
              </a:defRPr>
            </a:lvl1pPr>
            <a:lvl2pPr marL="734332" indent="-282435" defTabSz="932036" eaLnBrk="0" hangingPunct="0">
              <a:defRPr>
                <a:solidFill>
                  <a:schemeClr val="tx1"/>
                </a:solidFill>
                <a:latin typeface="Arial" pitchFamily="34" charset="0"/>
                <a:cs typeface="Arial" pitchFamily="34" charset="0"/>
              </a:defRPr>
            </a:lvl2pPr>
            <a:lvl3pPr marL="1129741" indent="-225948" defTabSz="932036" eaLnBrk="0" hangingPunct="0">
              <a:defRPr>
                <a:solidFill>
                  <a:schemeClr val="tx1"/>
                </a:solidFill>
                <a:latin typeface="Arial" pitchFamily="34" charset="0"/>
                <a:cs typeface="Arial" pitchFamily="34" charset="0"/>
              </a:defRPr>
            </a:lvl3pPr>
            <a:lvl4pPr marL="1581638" indent="-225948" defTabSz="932036" eaLnBrk="0" hangingPunct="0">
              <a:defRPr>
                <a:solidFill>
                  <a:schemeClr val="tx1"/>
                </a:solidFill>
                <a:latin typeface="Arial" pitchFamily="34" charset="0"/>
                <a:cs typeface="Arial" pitchFamily="34" charset="0"/>
              </a:defRPr>
            </a:lvl4pPr>
            <a:lvl5pPr marL="2033534" indent="-225948" defTabSz="932036" eaLnBrk="0" hangingPunct="0">
              <a:defRPr>
                <a:solidFill>
                  <a:schemeClr val="tx1"/>
                </a:solidFill>
                <a:latin typeface="Arial" pitchFamily="34" charset="0"/>
                <a:cs typeface="Arial" pitchFamily="34" charset="0"/>
              </a:defRPr>
            </a:lvl5pPr>
            <a:lvl6pPr marL="2485431" indent="-225948" defTabSz="932036" eaLnBrk="0" fontAlgn="base" hangingPunct="0">
              <a:spcBef>
                <a:spcPct val="0"/>
              </a:spcBef>
              <a:spcAft>
                <a:spcPct val="0"/>
              </a:spcAft>
              <a:defRPr>
                <a:solidFill>
                  <a:schemeClr val="tx1"/>
                </a:solidFill>
                <a:latin typeface="Arial" pitchFamily="34" charset="0"/>
                <a:cs typeface="Arial" pitchFamily="34" charset="0"/>
              </a:defRPr>
            </a:lvl6pPr>
            <a:lvl7pPr marL="2937327" indent="-225948" defTabSz="932036" eaLnBrk="0" fontAlgn="base" hangingPunct="0">
              <a:spcBef>
                <a:spcPct val="0"/>
              </a:spcBef>
              <a:spcAft>
                <a:spcPct val="0"/>
              </a:spcAft>
              <a:defRPr>
                <a:solidFill>
                  <a:schemeClr val="tx1"/>
                </a:solidFill>
                <a:latin typeface="Arial" pitchFamily="34" charset="0"/>
                <a:cs typeface="Arial" pitchFamily="34" charset="0"/>
              </a:defRPr>
            </a:lvl7pPr>
            <a:lvl8pPr marL="3389224" indent="-225948" defTabSz="932036" eaLnBrk="0" fontAlgn="base" hangingPunct="0">
              <a:spcBef>
                <a:spcPct val="0"/>
              </a:spcBef>
              <a:spcAft>
                <a:spcPct val="0"/>
              </a:spcAft>
              <a:defRPr>
                <a:solidFill>
                  <a:schemeClr val="tx1"/>
                </a:solidFill>
                <a:latin typeface="Arial" pitchFamily="34" charset="0"/>
                <a:cs typeface="Arial" pitchFamily="34" charset="0"/>
              </a:defRPr>
            </a:lvl8pPr>
            <a:lvl9pPr marL="3841120" indent="-225948" defTabSz="932036" eaLnBrk="0" fontAlgn="base" hangingPunct="0">
              <a:spcBef>
                <a:spcPct val="0"/>
              </a:spcBef>
              <a:spcAft>
                <a:spcPct val="0"/>
              </a:spcAft>
              <a:defRPr>
                <a:solidFill>
                  <a:schemeClr val="tx1"/>
                </a:solidFill>
                <a:latin typeface="Arial" pitchFamily="34" charset="0"/>
                <a:cs typeface="Arial" pitchFamily="34" charset="0"/>
              </a:defRPr>
            </a:lvl9pPr>
          </a:lstStyle>
          <a:p>
            <a:pPr eaLnBrk="1" hangingPunct="1"/>
            <a:fld id="{F07951DB-2D6E-497D-83D0-D1AFA43BF5B7}" type="slidenum">
              <a:rPr lang="en-US"/>
              <a:pPr eaLnBrk="1" hangingPunct="1"/>
              <a:t>1</a:t>
            </a:fld>
            <a:endParaRPr lang="en-US" dirty="0"/>
          </a:p>
        </p:txBody>
      </p:sp>
      <p:sp>
        <p:nvSpPr>
          <p:cNvPr id="23555" name="Rectangle 2"/>
          <p:cNvSpPr>
            <a:spLocks noGrp="1" noRot="1" noChangeAspect="1" noChangeArrowheads="1" noTextEdit="1"/>
          </p:cNvSpPr>
          <p:nvPr>
            <p:ph type="sldImg"/>
          </p:nvPr>
        </p:nvSpPr>
        <p:spPr>
          <a:xfrm>
            <a:off x="1184275" y="698500"/>
            <a:ext cx="4643438" cy="3484563"/>
          </a:xfrm>
          <a:ln/>
        </p:spPr>
      </p:sp>
      <p:sp>
        <p:nvSpPr>
          <p:cNvPr id="23556" name="Rectangle 3"/>
          <p:cNvSpPr>
            <a:spLocks noGrp="1" noChangeArrowheads="1"/>
          </p:cNvSpPr>
          <p:nvPr>
            <p:ph type="body" idx="1"/>
          </p:nvPr>
        </p:nvSpPr>
        <p:spPr>
          <a:xfrm>
            <a:off x="700727"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dirty="0" smtClean="0">
              <a:latin typeface="Arial" pitchFamily="34" charset="0"/>
              <a:cs typeface="Arial"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34E4300-A61B-44AF-911E-DAE508F0D26A}" type="slidenum">
              <a:rPr lang="en-US" altLang="en-US"/>
              <a:pPr/>
              <a:t>2</a:t>
            </a:fld>
            <a:endParaRPr lang="en-US" altLang="en-US" dirty="0"/>
          </a:p>
        </p:txBody>
      </p:sp>
      <p:sp>
        <p:nvSpPr>
          <p:cNvPr id="120834" name="Rectangle 2"/>
          <p:cNvSpPr>
            <a:spLocks noGrp="1" noRot="1" noChangeAspect="1" noChangeArrowheads="1" noTextEdit="1"/>
          </p:cNvSpPr>
          <p:nvPr>
            <p:ph type="sldImg"/>
          </p:nvPr>
        </p:nvSpPr>
        <p:spPr>
          <a:ln/>
        </p:spPr>
      </p:sp>
      <p:sp>
        <p:nvSpPr>
          <p:cNvPr id="120835" name="Rectangle 3"/>
          <p:cNvSpPr>
            <a:spLocks noGrp="1" noChangeArrowheads="1"/>
          </p:cNvSpPr>
          <p:nvPr>
            <p:ph type="body" idx="1"/>
          </p:nvPr>
        </p:nvSpPr>
        <p:spPr/>
        <p:txBody>
          <a:bodyPr/>
          <a:lstStyle/>
          <a:p>
            <a:r>
              <a:rPr lang="en-US" altLang="en-US" dirty="0"/>
              <a:t>Safety engineers do most of the analysis activities like fault tree creation manually, based on a lot of informal requirements and design documents. These analyses seem to be quite subjective and highly dependent on the skill and experience of the safety engineers. Thus, it is not surprising that different safety engineers will quite often produce fault trees, which may differ in substantial ways. It is only through a rigorous review process that a concensus will be built on the correct fault tree, which captures the right fault behavior. We think that the review process implicitly consolidates existing information from various documents and then completes it with unspecified details architectural and fault behaviors. It would be great if all these activities would be based off a comprehensive system architecture.</a:t>
            </a:r>
          </a:p>
          <a:p>
            <a:r>
              <a:rPr lang="en-US" altLang="en-US" dirty="0"/>
              <a:t>We also observe that due to the complexity of the systems involved, it is possible that the fault trees may not capture involved fault scenarios that may occur due to complex interactions between components.</a:t>
            </a:r>
          </a:p>
        </p:txBody>
      </p:sp>
    </p:spTree>
    <p:extLst>
      <p:ext uri="{BB962C8B-B14F-4D97-AF65-F5344CB8AC3E}">
        <p14:creationId xmlns:p14="http://schemas.microsoft.com/office/powerpoint/2010/main" val="42669341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6BBC98-642B-44AD-AB42-CC1AD7162FD5}" type="slidenum">
              <a:rPr lang="en-US" altLang="en-US"/>
              <a:pPr/>
              <a:t>3</a:t>
            </a:fld>
            <a:endParaRPr lang="en-US" altLang="en-US" dirty="0"/>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03451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A9241D-9E0E-4214-8660-AA7652DDB682}" type="slidenum">
              <a:rPr lang="en-US" altLang="en-US"/>
              <a:pPr/>
              <a:t>4</a:t>
            </a:fld>
            <a:endParaRPr lang="en-US" altLang="en-US" dirty="0"/>
          </a:p>
        </p:txBody>
      </p:sp>
      <p:sp>
        <p:nvSpPr>
          <p:cNvPr id="211970" name="Rectangle 2"/>
          <p:cNvSpPr>
            <a:spLocks noGrp="1" noRot="1" noChangeAspect="1" noChangeArrowheads="1" noTextEdit="1"/>
          </p:cNvSpPr>
          <p:nvPr>
            <p:ph type="sldImg"/>
          </p:nvPr>
        </p:nvSpPr>
        <p:spPr>
          <a:ln/>
        </p:spPr>
      </p:sp>
      <p:sp>
        <p:nvSpPr>
          <p:cNvPr id="211971" name="Rectangle 3"/>
          <p:cNvSpPr>
            <a:spLocks noGrp="1" noChangeArrowheads="1"/>
          </p:cNvSpPr>
          <p:nvPr>
            <p:ph type="body" idx="1"/>
          </p:nvPr>
        </p:nvSpPr>
        <p:spPr/>
        <p:txBody>
          <a:bodyPr/>
          <a:lstStyle/>
          <a:p>
            <a:r>
              <a:rPr lang="en-US" altLang="en-US" dirty="0"/>
              <a:t>Steve’s slide </a:t>
            </a:r>
          </a:p>
        </p:txBody>
      </p:sp>
    </p:spTree>
    <p:extLst>
      <p:ext uri="{BB962C8B-B14F-4D97-AF65-F5344CB8AC3E}">
        <p14:creationId xmlns:p14="http://schemas.microsoft.com/office/powerpoint/2010/main" val="871714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B3C9815-E08C-418E-BC2D-06EAB45843E5}" type="slidenum">
              <a:rPr lang="en-US" altLang="en-US"/>
              <a:pPr/>
              <a:t>10</a:t>
            </a:fld>
            <a:endParaRPr lang="en-US" altLang="en-US" dirty="0"/>
          </a:p>
        </p:txBody>
      </p:sp>
      <p:sp>
        <p:nvSpPr>
          <p:cNvPr id="238594" name="Rectangle 2"/>
          <p:cNvSpPr>
            <a:spLocks noGrp="1" noRot="1" noChangeAspect="1" noChangeArrowheads="1" noTextEdit="1"/>
          </p:cNvSpPr>
          <p:nvPr>
            <p:ph type="sldImg"/>
          </p:nvPr>
        </p:nvSpPr>
        <p:spPr>
          <a:ln/>
        </p:spPr>
      </p:sp>
      <p:sp>
        <p:nvSpPr>
          <p:cNvPr id="238595"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71495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START AGREE HERE</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15</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17</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18</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19</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20</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4"/>
          <p:cNvSpPr>
            <a:spLocks/>
          </p:cNvSpPr>
          <p:nvPr/>
        </p:nvSpPr>
        <p:spPr bwMode="auto">
          <a:xfrm>
            <a:off x="-31750" y="0"/>
            <a:ext cx="3781425" cy="6861175"/>
          </a:xfrm>
          <a:custGeom>
            <a:avLst/>
            <a:gdLst/>
            <a:ahLst/>
            <a:cxnLst>
              <a:cxn ang="0">
                <a:pos x="0" y="4320"/>
              </a:cxn>
              <a:cxn ang="0">
                <a:pos x="0" y="0"/>
              </a:cxn>
              <a:cxn ang="0">
                <a:pos x="2382" y="0"/>
              </a:cxn>
              <a:cxn ang="0">
                <a:pos x="446" y="4322"/>
              </a:cxn>
              <a:cxn ang="0">
                <a:pos x="0" y="4320"/>
              </a:cxn>
            </a:cxnLst>
            <a:rect l="0" t="0" r="r" b="b"/>
            <a:pathLst>
              <a:path w="2382" h="4322">
                <a:moveTo>
                  <a:pt x="0" y="4320"/>
                </a:moveTo>
                <a:lnTo>
                  <a:pt x="0" y="0"/>
                </a:lnTo>
                <a:lnTo>
                  <a:pt x="2382" y="0"/>
                </a:lnTo>
                <a:lnTo>
                  <a:pt x="446" y="4322"/>
                </a:lnTo>
                <a:lnTo>
                  <a:pt x="0" y="4320"/>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grpSp>
        <p:nvGrpSpPr>
          <p:cNvPr id="5" name="Group 30"/>
          <p:cNvGrpSpPr>
            <a:grpSpLocks/>
          </p:cNvGrpSpPr>
          <p:nvPr/>
        </p:nvGrpSpPr>
        <p:grpSpPr bwMode="auto">
          <a:xfrm>
            <a:off x="7172325" y="0"/>
            <a:ext cx="1562100" cy="209550"/>
            <a:chOff x="4518" y="0"/>
            <a:chExt cx="984" cy="132"/>
          </a:xfrm>
        </p:grpSpPr>
        <p:sp>
          <p:nvSpPr>
            <p:cNvPr id="6" name="Freeform 27"/>
            <p:cNvSpPr>
              <a:spLocks/>
            </p:cNvSpPr>
            <p:nvPr/>
          </p:nvSpPr>
          <p:spPr bwMode="auto">
            <a:xfrm>
              <a:off x="45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sp>
          <p:nvSpPr>
            <p:cNvPr id="7" name="Freeform 28"/>
            <p:cNvSpPr>
              <a:spLocks/>
            </p:cNvSpPr>
            <p:nvPr/>
          </p:nvSpPr>
          <p:spPr bwMode="auto">
            <a:xfrm>
              <a:off x="4870"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sp>
          <p:nvSpPr>
            <p:cNvPr id="8" name="Freeform 29"/>
            <p:cNvSpPr>
              <a:spLocks/>
            </p:cNvSpPr>
            <p:nvPr/>
          </p:nvSpPr>
          <p:spPr bwMode="auto">
            <a:xfrm>
              <a:off x="52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grpSp>
      <p:pic>
        <p:nvPicPr>
          <p:cNvPr id="9" name="Picture 20" descr="RClogo_col_spot"/>
          <p:cNvPicPr>
            <a:picLocks noChangeAspect="1" noChangeArrowheads="1"/>
          </p:cNvPicPr>
          <p:nvPr/>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6311900" y="5895975"/>
            <a:ext cx="2403475" cy="56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04" name="Rectangle 8"/>
          <p:cNvSpPr>
            <a:spLocks noGrp="1" noChangeArrowheads="1"/>
          </p:cNvSpPr>
          <p:nvPr>
            <p:ph type="ctrTitle"/>
          </p:nvPr>
        </p:nvSpPr>
        <p:spPr>
          <a:xfrm>
            <a:off x="609600" y="2130425"/>
            <a:ext cx="7848600" cy="612775"/>
          </a:xfrm>
        </p:spPr>
        <p:txBody>
          <a:bodyPr/>
          <a:lstStyle>
            <a:lvl1pPr>
              <a:defRPr sz="2800" b="0">
                <a:solidFill>
                  <a:schemeClr val="tx1"/>
                </a:solidFill>
              </a:defRPr>
            </a:lvl1pPr>
          </a:lstStyle>
          <a:p>
            <a:r>
              <a:rPr lang="en-US" smtClean="0"/>
              <a:t>Click to edit Master title style</a:t>
            </a:r>
            <a:endParaRPr lang="en-US"/>
          </a:p>
        </p:txBody>
      </p:sp>
      <p:sp>
        <p:nvSpPr>
          <p:cNvPr id="80905" name="Rectangle 9"/>
          <p:cNvSpPr>
            <a:spLocks noGrp="1" noChangeArrowheads="1"/>
          </p:cNvSpPr>
          <p:nvPr>
            <p:ph type="subTitle" idx="1"/>
          </p:nvPr>
        </p:nvSpPr>
        <p:spPr>
          <a:xfrm>
            <a:off x="609600" y="3124200"/>
            <a:ext cx="6477000" cy="1371600"/>
          </a:xfrm>
        </p:spPr>
        <p:txBody>
          <a:bodyPr/>
          <a:lstStyle>
            <a:lvl1pPr marL="0" indent="0">
              <a:buFontTx/>
              <a:buNone/>
              <a:defRPr sz="2200"/>
            </a:lvl1pPr>
          </a:lstStyle>
          <a:p>
            <a:r>
              <a:rPr lang="en-US" smtClean="0"/>
              <a:t>Click to edit Master subtitle style</a:t>
            </a:r>
            <a:endParaRPr lang="en-US"/>
          </a:p>
        </p:txBody>
      </p:sp>
      <p:pic>
        <p:nvPicPr>
          <p:cNvPr id="1031" name="Picture 7" descr="C:\Documents and Settings\ddcofer\My Documents\Projects\hacms\logos\UMN-v2.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4914900" y="5928898"/>
            <a:ext cx="952500" cy="6243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6854325"/>
      </p:ext>
    </p:extLst>
  </p:cSld>
  <p:clrMapOvr>
    <a:masterClrMapping/>
  </p:clrMapOvr>
  <p:transition>
    <p:wipe dir="r"/>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pPr>
              <a:defRPr/>
            </a:pPr>
            <a:fld id="{7486D9C8-0CDB-4BF0-99FF-D7490CE4EFA3}" type="slidenum">
              <a:rPr lang="en-US"/>
              <a:pPr>
                <a:defRPr/>
              </a:pPr>
              <a:t>‹Nr.›</a:t>
            </a:fld>
            <a:endParaRPr lang="en-US" dirty="0"/>
          </a:p>
        </p:txBody>
      </p:sp>
    </p:spTree>
    <p:extLst>
      <p:ext uri="{BB962C8B-B14F-4D97-AF65-F5344CB8AC3E}">
        <p14:creationId xmlns:p14="http://schemas.microsoft.com/office/powerpoint/2010/main" val="277217001"/>
      </p:ext>
    </p:extLst>
  </p:cSld>
  <p:clrMapOvr>
    <a:masterClrMapping/>
  </p:clrMapOvr>
  <p:transition>
    <p:wipe dir="r"/>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smtClean="0"/>
              <a:t>Click to edit Master text styles</a:t>
            </a:r>
          </a:p>
        </p:txBody>
      </p:sp>
      <p:sp>
        <p:nvSpPr>
          <p:cNvPr id="4" name="Rectangle 6"/>
          <p:cNvSpPr>
            <a:spLocks noGrp="1" noChangeArrowheads="1"/>
          </p:cNvSpPr>
          <p:nvPr>
            <p:ph type="sldNum" sz="quarter" idx="10"/>
          </p:nvPr>
        </p:nvSpPr>
        <p:spPr>
          <a:ln/>
        </p:spPr>
        <p:txBody>
          <a:bodyPr/>
          <a:lstStyle>
            <a:lvl1pPr>
              <a:defRPr/>
            </a:lvl1pPr>
          </a:lstStyle>
          <a:p>
            <a:pPr>
              <a:defRPr/>
            </a:pPr>
            <a:fld id="{07BEBAD3-AF3F-4A89-9B03-21F6ECFAE9EB}" type="slidenum">
              <a:rPr lang="en-US"/>
              <a:pPr>
                <a:defRPr/>
              </a:pPr>
              <a:t>‹Nr.›</a:t>
            </a:fld>
            <a:endParaRPr lang="en-US" dirty="0"/>
          </a:p>
        </p:txBody>
      </p:sp>
    </p:spTree>
    <p:extLst>
      <p:ext uri="{BB962C8B-B14F-4D97-AF65-F5344CB8AC3E}">
        <p14:creationId xmlns:p14="http://schemas.microsoft.com/office/powerpoint/2010/main" val="211983093"/>
      </p:ext>
    </p:extLst>
  </p:cSld>
  <p:clrMapOvr>
    <a:masterClrMapping/>
  </p:clrMapOvr>
  <p:transition>
    <p:wipe dir="r"/>
  </p:transition>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762000" y="1600200"/>
            <a:ext cx="38862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800600" y="1600200"/>
            <a:ext cx="38862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Rectangle 6"/>
          <p:cNvSpPr>
            <a:spLocks noGrp="1" noChangeArrowheads="1"/>
          </p:cNvSpPr>
          <p:nvPr>
            <p:ph type="sldNum" sz="quarter" idx="10"/>
          </p:nvPr>
        </p:nvSpPr>
        <p:spPr>
          <a:ln/>
        </p:spPr>
        <p:txBody>
          <a:bodyPr/>
          <a:lstStyle>
            <a:lvl1pPr>
              <a:defRPr/>
            </a:lvl1pPr>
          </a:lstStyle>
          <a:p>
            <a:pPr>
              <a:defRPr/>
            </a:pPr>
            <a:fld id="{77F30389-1DEC-4A7E-9278-B25F5FA25EC7}" type="slidenum">
              <a:rPr lang="en-US"/>
              <a:pPr>
                <a:defRPr/>
              </a:pPr>
              <a:t>‹Nr.›</a:t>
            </a:fld>
            <a:endParaRPr lang="en-US" dirty="0"/>
          </a:p>
        </p:txBody>
      </p:sp>
    </p:spTree>
    <p:extLst>
      <p:ext uri="{BB962C8B-B14F-4D97-AF65-F5344CB8AC3E}">
        <p14:creationId xmlns:p14="http://schemas.microsoft.com/office/powerpoint/2010/main" val="3400658915"/>
      </p:ext>
    </p:extLst>
  </p:cSld>
  <p:clrMapOvr>
    <a:masterClrMapping/>
  </p:clrMapOvr>
  <p:transition>
    <p:wipe dir="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Rectangle 6"/>
          <p:cNvSpPr>
            <a:spLocks noGrp="1" noChangeArrowheads="1"/>
          </p:cNvSpPr>
          <p:nvPr>
            <p:ph type="sldNum" sz="quarter" idx="10"/>
          </p:nvPr>
        </p:nvSpPr>
        <p:spPr>
          <a:ln/>
        </p:spPr>
        <p:txBody>
          <a:bodyPr/>
          <a:lstStyle>
            <a:lvl1pPr>
              <a:defRPr/>
            </a:lvl1pPr>
          </a:lstStyle>
          <a:p>
            <a:pPr>
              <a:defRPr/>
            </a:pPr>
            <a:fld id="{69FB2711-254E-440B-8ED8-5AE118580B8A}" type="slidenum">
              <a:rPr lang="en-US"/>
              <a:pPr>
                <a:defRPr/>
              </a:pPr>
              <a:t>‹Nr.›</a:t>
            </a:fld>
            <a:endParaRPr lang="en-US" dirty="0"/>
          </a:p>
        </p:txBody>
      </p:sp>
    </p:spTree>
    <p:extLst>
      <p:ext uri="{BB962C8B-B14F-4D97-AF65-F5344CB8AC3E}">
        <p14:creationId xmlns:p14="http://schemas.microsoft.com/office/powerpoint/2010/main" val="2692751647"/>
      </p:ext>
    </p:extLst>
  </p:cSld>
  <p:clrMapOvr>
    <a:masterClrMapping/>
  </p:clrMapOvr>
  <p:transition>
    <p:wipe dir="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Rectangle 6"/>
          <p:cNvSpPr>
            <a:spLocks noGrp="1" noChangeArrowheads="1"/>
          </p:cNvSpPr>
          <p:nvPr>
            <p:ph type="sldNum" sz="quarter" idx="10"/>
          </p:nvPr>
        </p:nvSpPr>
        <p:spPr>
          <a:ln/>
        </p:spPr>
        <p:txBody>
          <a:bodyPr/>
          <a:lstStyle>
            <a:lvl1pPr>
              <a:defRPr/>
            </a:lvl1pPr>
          </a:lstStyle>
          <a:p>
            <a:pPr>
              <a:defRPr/>
            </a:pPr>
            <a:fld id="{0913AD8B-6753-4D8D-9DCF-DBA38AAB592C}" type="slidenum">
              <a:rPr lang="en-US"/>
              <a:pPr>
                <a:defRPr/>
              </a:pPr>
              <a:t>‹Nr.›</a:t>
            </a:fld>
            <a:endParaRPr lang="en-US" dirty="0"/>
          </a:p>
        </p:txBody>
      </p:sp>
    </p:spTree>
    <p:extLst>
      <p:ext uri="{BB962C8B-B14F-4D97-AF65-F5344CB8AC3E}">
        <p14:creationId xmlns:p14="http://schemas.microsoft.com/office/powerpoint/2010/main" val="2949654491"/>
      </p:ext>
    </p:extLst>
  </p:cSld>
  <p:clrMapOvr>
    <a:masterClrMapping/>
  </p:clrMapOvr>
  <p:transition>
    <p:wipe dir="r"/>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ln/>
        </p:spPr>
        <p:txBody>
          <a:bodyPr/>
          <a:lstStyle>
            <a:lvl1pPr>
              <a:defRPr/>
            </a:lvl1pPr>
          </a:lstStyle>
          <a:p>
            <a:pPr>
              <a:defRPr/>
            </a:pPr>
            <a:fld id="{8A7DEF6D-193A-43B9-A88F-EFE847976AC6}" type="slidenum">
              <a:rPr lang="en-US"/>
              <a:pPr>
                <a:defRPr/>
              </a:pPr>
              <a:t>‹Nr.›</a:t>
            </a:fld>
            <a:endParaRPr lang="en-US" dirty="0"/>
          </a:p>
        </p:txBody>
      </p:sp>
    </p:spTree>
    <p:extLst>
      <p:ext uri="{BB962C8B-B14F-4D97-AF65-F5344CB8AC3E}">
        <p14:creationId xmlns:p14="http://schemas.microsoft.com/office/powerpoint/2010/main" val="2210693936"/>
      </p:ext>
    </p:extLst>
  </p:cSld>
  <p:clrMapOvr>
    <a:masterClrMapping/>
  </p:clrMapOvr>
  <p:transition>
    <p:wipe dir="r"/>
  </p:transition>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Rectangle 6"/>
          <p:cNvSpPr>
            <a:spLocks noGrp="1" noChangeArrowheads="1"/>
          </p:cNvSpPr>
          <p:nvPr>
            <p:ph type="sldNum" sz="quarter" idx="10"/>
          </p:nvPr>
        </p:nvSpPr>
        <p:spPr>
          <a:ln/>
        </p:spPr>
        <p:txBody>
          <a:bodyPr/>
          <a:lstStyle>
            <a:lvl1pPr>
              <a:defRPr/>
            </a:lvl1pPr>
          </a:lstStyle>
          <a:p>
            <a:pPr>
              <a:defRPr/>
            </a:pPr>
            <a:fld id="{0323AFB3-A7A9-4065-A543-86CB95746188}" type="slidenum">
              <a:rPr lang="en-US"/>
              <a:pPr>
                <a:defRPr/>
              </a:pPr>
              <a:t>‹Nr.›</a:t>
            </a:fld>
            <a:endParaRPr lang="en-US" dirty="0"/>
          </a:p>
        </p:txBody>
      </p:sp>
    </p:spTree>
    <p:extLst>
      <p:ext uri="{BB962C8B-B14F-4D97-AF65-F5344CB8AC3E}">
        <p14:creationId xmlns:p14="http://schemas.microsoft.com/office/powerpoint/2010/main" val="2163219021"/>
      </p:ext>
    </p:extLst>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smtClean="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Rectangle 6"/>
          <p:cNvSpPr>
            <a:spLocks noGrp="1" noChangeArrowheads="1"/>
          </p:cNvSpPr>
          <p:nvPr>
            <p:ph type="sldNum" sz="quarter" idx="10"/>
          </p:nvPr>
        </p:nvSpPr>
        <p:spPr>
          <a:ln/>
        </p:spPr>
        <p:txBody>
          <a:bodyPr/>
          <a:lstStyle>
            <a:lvl1pPr>
              <a:defRPr/>
            </a:lvl1pPr>
          </a:lstStyle>
          <a:p>
            <a:pPr>
              <a:defRPr/>
            </a:pPr>
            <a:fld id="{020F6297-55CF-46FA-BCD9-C51E80AB2E2C}" type="slidenum">
              <a:rPr lang="en-US"/>
              <a:pPr>
                <a:defRPr/>
              </a:pPr>
              <a:t>‹Nr.›</a:t>
            </a:fld>
            <a:endParaRPr lang="en-US" dirty="0"/>
          </a:p>
        </p:txBody>
      </p:sp>
    </p:spTree>
    <p:extLst>
      <p:ext uri="{BB962C8B-B14F-4D97-AF65-F5344CB8AC3E}">
        <p14:creationId xmlns:p14="http://schemas.microsoft.com/office/powerpoint/2010/main" val="1878239697"/>
      </p:ext>
    </p:extLst>
  </p:cSld>
  <p:clrMapOvr>
    <a:masterClrMapping/>
  </p:clrMapOvr>
  <p:transition>
    <p:wipe dir="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pPr>
              <a:defRPr/>
            </a:pPr>
            <a:fld id="{A7133AE0-5302-4CC4-8AE7-7FEAC9BB32C4}" type="slidenum">
              <a:rPr lang="en-US"/>
              <a:pPr>
                <a:defRPr/>
              </a:pPr>
              <a:t>‹Nr.›</a:t>
            </a:fld>
            <a:endParaRPr lang="en-US" dirty="0"/>
          </a:p>
        </p:txBody>
      </p:sp>
    </p:spTree>
    <p:extLst>
      <p:ext uri="{BB962C8B-B14F-4D97-AF65-F5344CB8AC3E}">
        <p14:creationId xmlns:p14="http://schemas.microsoft.com/office/powerpoint/2010/main" val="3718381786"/>
      </p:ext>
    </p:extLst>
  </p:cSld>
  <p:clrMapOvr>
    <a:masterClrMapping/>
  </p:clrMapOvr>
  <p:transition>
    <p:wipe dir="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05600" y="868363"/>
            <a:ext cx="1981200" cy="52578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762000" y="868363"/>
            <a:ext cx="5791200" cy="52578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pPr>
              <a:defRPr/>
            </a:pPr>
            <a:fld id="{3B38E08D-5B21-43BE-BFE9-88252EB91AF8}" type="slidenum">
              <a:rPr lang="en-US"/>
              <a:pPr>
                <a:defRPr/>
              </a:pPr>
              <a:t>‹Nr.›</a:t>
            </a:fld>
            <a:endParaRPr lang="en-US" dirty="0"/>
          </a:p>
        </p:txBody>
      </p:sp>
    </p:spTree>
    <p:extLst>
      <p:ext uri="{BB962C8B-B14F-4D97-AF65-F5344CB8AC3E}">
        <p14:creationId xmlns:p14="http://schemas.microsoft.com/office/powerpoint/2010/main" val="3289391497"/>
      </p:ext>
    </p:extLst>
  </p:cSld>
  <p:clrMapOvr>
    <a:masterClrMapping/>
  </p:clrMapOvr>
  <p:transition>
    <p:wipe dir="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3"/>
            <a:ext cx="7772400" cy="503237"/>
          </a:xfrm>
        </p:spPr>
        <p:txBody>
          <a:bodyPr/>
          <a:lstStyle/>
          <a:p>
            <a:r>
              <a:rPr lang="en-US" smtClean="0"/>
              <a:t>Click to edit Master title style</a:t>
            </a:r>
            <a:endParaRPr lang="en-US"/>
          </a:p>
        </p:txBody>
      </p:sp>
      <p:sp>
        <p:nvSpPr>
          <p:cNvPr id="3" name="Chart Placeholder 2"/>
          <p:cNvSpPr>
            <a:spLocks noGrp="1"/>
          </p:cNvSpPr>
          <p:nvPr>
            <p:ph type="chart" idx="1"/>
          </p:nvPr>
        </p:nvSpPr>
        <p:spPr>
          <a:xfrm>
            <a:off x="762000" y="1600200"/>
            <a:ext cx="7924800" cy="4525963"/>
          </a:xfrm>
        </p:spPr>
        <p:txBody>
          <a:bodyPr/>
          <a:lstStyle/>
          <a:p>
            <a:pPr lvl="0"/>
            <a:r>
              <a:rPr lang="en-US" noProof="0" dirty="0" smtClean="0"/>
              <a:t>Click icon to add chart</a:t>
            </a:r>
          </a:p>
        </p:txBody>
      </p:sp>
      <p:sp>
        <p:nvSpPr>
          <p:cNvPr id="4" name="Rectangle 6"/>
          <p:cNvSpPr>
            <a:spLocks noGrp="1" noChangeArrowheads="1"/>
          </p:cNvSpPr>
          <p:nvPr>
            <p:ph type="sldNum" sz="quarter" idx="10"/>
          </p:nvPr>
        </p:nvSpPr>
        <p:spPr>
          <a:ln/>
        </p:spPr>
        <p:txBody>
          <a:bodyPr/>
          <a:lstStyle>
            <a:lvl1pPr>
              <a:defRPr/>
            </a:lvl1pPr>
          </a:lstStyle>
          <a:p>
            <a:pPr>
              <a:defRPr/>
            </a:pPr>
            <a:fld id="{5E3BFFDF-0626-469B-AB2D-9C367C48781D}" type="slidenum">
              <a:rPr lang="en-US"/>
              <a:pPr>
                <a:defRPr/>
              </a:pPr>
              <a:t>‹Nr.›</a:t>
            </a:fld>
            <a:endParaRPr lang="en-US" dirty="0"/>
          </a:p>
        </p:txBody>
      </p:sp>
    </p:spTree>
    <p:extLst>
      <p:ext uri="{BB962C8B-B14F-4D97-AF65-F5344CB8AC3E}">
        <p14:creationId xmlns:p14="http://schemas.microsoft.com/office/powerpoint/2010/main" val="1541958768"/>
      </p:ext>
    </p:extLst>
  </p:cSld>
  <p:clrMapOvr>
    <a:masterClrMapping/>
  </p:clrMapOvr>
  <p:transition>
    <p:wipe dir="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3"/>
            <a:ext cx="7772400" cy="503237"/>
          </a:xfrm>
        </p:spPr>
        <p:txBody>
          <a:bodyPr/>
          <a:lstStyle/>
          <a:p>
            <a:r>
              <a:rPr lang="en-US" smtClean="0"/>
              <a:t>Click to edit Master title style</a:t>
            </a:r>
            <a:endParaRPr lang="en-US"/>
          </a:p>
        </p:txBody>
      </p:sp>
      <p:sp>
        <p:nvSpPr>
          <p:cNvPr id="3" name="Table Placeholder 2"/>
          <p:cNvSpPr>
            <a:spLocks noGrp="1"/>
          </p:cNvSpPr>
          <p:nvPr>
            <p:ph type="tbl" idx="1"/>
          </p:nvPr>
        </p:nvSpPr>
        <p:spPr>
          <a:xfrm>
            <a:off x="762000" y="1600200"/>
            <a:ext cx="7924800" cy="4525963"/>
          </a:xfrm>
        </p:spPr>
        <p:txBody>
          <a:bodyPr/>
          <a:lstStyle/>
          <a:p>
            <a:pPr lvl="0"/>
            <a:r>
              <a:rPr lang="en-US" noProof="0" dirty="0" smtClean="0"/>
              <a:t>Click icon to add table</a:t>
            </a:r>
          </a:p>
        </p:txBody>
      </p:sp>
      <p:sp>
        <p:nvSpPr>
          <p:cNvPr id="4" name="Rectangle 6"/>
          <p:cNvSpPr>
            <a:spLocks noGrp="1" noChangeArrowheads="1"/>
          </p:cNvSpPr>
          <p:nvPr>
            <p:ph type="sldNum" sz="quarter" idx="10"/>
          </p:nvPr>
        </p:nvSpPr>
        <p:spPr>
          <a:ln/>
        </p:spPr>
        <p:txBody>
          <a:bodyPr/>
          <a:lstStyle>
            <a:lvl1pPr>
              <a:defRPr/>
            </a:lvl1pPr>
          </a:lstStyle>
          <a:p>
            <a:pPr>
              <a:defRPr/>
            </a:pPr>
            <a:fld id="{363C41CE-CB0A-4C53-9688-B3615EF8FCD8}" type="slidenum">
              <a:rPr lang="en-US"/>
              <a:pPr>
                <a:defRPr/>
              </a:pPr>
              <a:t>‹Nr.›</a:t>
            </a:fld>
            <a:endParaRPr lang="en-US" dirty="0"/>
          </a:p>
        </p:txBody>
      </p:sp>
    </p:spTree>
    <p:extLst>
      <p:ext uri="{BB962C8B-B14F-4D97-AF65-F5344CB8AC3E}">
        <p14:creationId xmlns:p14="http://schemas.microsoft.com/office/powerpoint/2010/main" val="2542998175"/>
      </p:ext>
    </p:extLst>
  </p:cSld>
  <p:clrMapOvr>
    <a:masterClrMapping/>
  </p:clrMapOvr>
  <p:transition>
    <p:wipe dir="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itle, Sub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36130" y="457201"/>
            <a:ext cx="8485556" cy="295466"/>
          </a:xfrm>
        </p:spPr>
        <p:txBody>
          <a:bodyPr/>
          <a:lstStyle/>
          <a:p>
            <a:r>
              <a:rPr lang="en-US" smtClean="0"/>
              <a:t>Click to edit Master title style</a:t>
            </a:r>
            <a:endParaRPr lang="en-US" dirty="0"/>
          </a:p>
        </p:txBody>
      </p:sp>
      <p:sp>
        <p:nvSpPr>
          <p:cNvPr id="7" name="Text Placeholder 6"/>
          <p:cNvSpPr>
            <a:spLocks noGrp="1"/>
          </p:cNvSpPr>
          <p:nvPr>
            <p:ph type="body" sz="quarter" idx="12"/>
          </p:nvPr>
        </p:nvSpPr>
        <p:spPr>
          <a:xfrm>
            <a:off x="336130" y="777241"/>
            <a:ext cx="8485556" cy="253916"/>
          </a:xfrm>
        </p:spPr>
        <p:txBody>
          <a:bodyPr tIns="45720"/>
          <a:lstStyle>
            <a:lvl1pPr>
              <a:buNone/>
              <a:defRPr b="0">
                <a:solidFill>
                  <a:sysClr val="windowText" lastClr="000000"/>
                </a:solidFill>
              </a:defRPr>
            </a:lvl1pPr>
          </a:lstStyle>
          <a:p>
            <a:pPr lvl="0"/>
            <a:r>
              <a:rPr lang="en-US" smtClean="0"/>
              <a:t>Click to edit Master text styles</a:t>
            </a:r>
          </a:p>
        </p:txBody>
      </p:sp>
      <p:sp>
        <p:nvSpPr>
          <p:cNvPr id="5" name="Slide Number Placeholder 4"/>
          <p:cNvSpPr>
            <a:spLocks noGrp="1"/>
          </p:cNvSpPr>
          <p:nvPr>
            <p:ph type="sldNum" sz="quarter" idx="14"/>
          </p:nvPr>
        </p:nvSpPr>
        <p:spPr/>
        <p:txBody>
          <a:bodyPr/>
          <a:lstStyle/>
          <a:p>
            <a:fld id="{B6F15528-21DE-4FAA-801E-634DDDAF4B2B}" type="slidenum">
              <a:rPr lang="en-US" smtClean="0"/>
              <a:pPr/>
              <a:t>‹Nr.›</a:t>
            </a:fld>
            <a:endParaRPr lang="en-US" dirty="0"/>
          </a:p>
        </p:txBody>
      </p:sp>
      <p:sp>
        <p:nvSpPr>
          <p:cNvPr id="8" name="Content Placeholder 5"/>
          <p:cNvSpPr>
            <a:spLocks noGrp="1"/>
          </p:cNvSpPr>
          <p:nvPr>
            <p:ph sz="quarter" idx="16"/>
          </p:nvPr>
        </p:nvSpPr>
        <p:spPr>
          <a:xfrm>
            <a:off x="304117" y="1283209"/>
            <a:ext cx="8485556" cy="1001813"/>
          </a:xfrm>
        </p:spPr>
        <p:txBody>
          <a:bodyPr/>
          <a:lstStyle>
            <a:lvl3pPr>
              <a:defRPr sz="1050"/>
            </a:lvl3pPr>
            <a:lvl4pPr>
              <a:defRPr sz="1050"/>
            </a:lvl4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p:txBody>
      </p:sp>
    </p:spTree>
    <p:extLst>
      <p:ext uri="{BB962C8B-B14F-4D97-AF65-F5344CB8AC3E}">
        <p14:creationId xmlns:p14="http://schemas.microsoft.com/office/powerpoint/2010/main" val="3607181892"/>
      </p:ext>
    </p:extLst>
  </p:cSld>
  <p:clrMapOvr>
    <a:masterClrMapping/>
  </p:clrMapOvr>
  <p:transition>
    <p:wipe dir="r"/>
  </p:transition>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Rectangle 1"/>
          <p:cNvSpPr/>
          <p:nvPr userDrawn="1"/>
        </p:nvSpPr>
        <p:spPr bwMode="auto">
          <a:xfrm>
            <a:off x="-76200" y="0"/>
            <a:ext cx="9220200" cy="6858000"/>
          </a:xfrm>
          <a:prstGeom prst="rect">
            <a:avLst/>
          </a:prstGeom>
          <a:solidFill>
            <a:srgbClr val="FFFFFF"/>
          </a:solidFill>
          <a:ln w="9525" cap="flat" cmpd="sng" algn="ctr">
            <a:no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endParaRPr lang="en-US" sz="2400" dirty="0">
              <a:solidFill>
                <a:srgbClr val="000000"/>
              </a:solidFill>
              <a:latin typeface="Arial" charset="0"/>
              <a:cs typeface="Arial" charset="0"/>
            </a:endParaRPr>
          </a:p>
        </p:txBody>
      </p:sp>
      <p:sp>
        <p:nvSpPr>
          <p:cNvPr id="7" name="Freeform 23"/>
          <p:cNvSpPr>
            <a:spLocks/>
          </p:cNvSpPr>
          <p:nvPr/>
        </p:nvSpPr>
        <p:spPr bwMode="auto">
          <a:xfrm>
            <a:off x="-98622" y="-30269"/>
            <a:ext cx="3793892" cy="6902620"/>
          </a:xfrm>
          <a:custGeom>
            <a:avLst/>
            <a:gdLst>
              <a:gd name="T0" fmla="*/ 12700 w 2381"/>
              <a:gd name="T1" fmla="*/ 0 h 4332"/>
              <a:gd name="T2" fmla="*/ 0 w 2381"/>
              <a:gd name="T3" fmla="*/ 6877050 h 4332"/>
              <a:gd name="T4" fmla="*/ 711200 w 2381"/>
              <a:gd name="T5" fmla="*/ 6870700 h 4332"/>
              <a:gd name="T6" fmla="*/ 3779838 w 2381"/>
              <a:gd name="T7" fmla="*/ 12700 h 4332"/>
              <a:gd name="T8" fmla="*/ 12700 w 2381"/>
              <a:gd name="T9" fmla="*/ 0 h 43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81" h="4332">
                <a:moveTo>
                  <a:pt x="8" y="0"/>
                </a:moveTo>
                <a:lnTo>
                  <a:pt x="0" y="4332"/>
                </a:lnTo>
                <a:lnTo>
                  <a:pt x="448" y="4328"/>
                </a:lnTo>
                <a:lnTo>
                  <a:pt x="2381" y="8"/>
                </a:lnTo>
                <a:lnTo>
                  <a:pt x="8" y="0"/>
                </a:lnTo>
                <a:close/>
              </a:path>
            </a:pathLst>
          </a:custGeom>
          <a:solidFill>
            <a:srgbClr val="E4551F"/>
          </a:solidFill>
          <a:ln>
            <a:noFill/>
          </a:ln>
          <a:effectLst/>
        </p:spPr>
        <p:txBody>
          <a:bodyPr/>
          <a:lstStyle/>
          <a:p>
            <a:endParaRPr lang="en-US" sz="2400" dirty="0">
              <a:solidFill>
                <a:srgbClr val="E4551F"/>
              </a:solidFill>
              <a:cs typeface="Arial"/>
            </a:endParaRPr>
          </a:p>
        </p:txBody>
      </p:sp>
      <p:grpSp>
        <p:nvGrpSpPr>
          <p:cNvPr id="10" name="Group 9"/>
          <p:cNvGrpSpPr>
            <a:grpSpLocks/>
          </p:cNvGrpSpPr>
          <p:nvPr userDrawn="1"/>
        </p:nvGrpSpPr>
        <p:grpSpPr bwMode="auto">
          <a:xfrm>
            <a:off x="7204714" y="-4122"/>
            <a:ext cx="1562100" cy="209550"/>
            <a:chOff x="4518" y="0"/>
            <a:chExt cx="984" cy="132"/>
          </a:xfrm>
          <a:solidFill>
            <a:srgbClr val="E4551F"/>
          </a:solidFill>
        </p:grpSpPr>
        <p:sp>
          <p:nvSpPr>
            <p:cNvPr id="11" name="Freeform 10"/>
            <p:cNvSpPr>
              <a:spLocks/>
            </p:cNvSpPr>
            <p:nvPr userDrawn="1"/>
          </p:nvSpPr>
          <p:spPr bwMode="auto">
            <a:xfrm>
              <a:off x="45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sp>
          <p:nvSpPr>
            <p:cNvPr id="12" name="Freeform 11"/>
            <p:cNvSpPr>
              <a:spLocks/>
            </p:cNvSpPr>
            <p:nvPr userDrawn="1"/>
          </p:nvSpPr>
          <p:spPr bwMode="auto">
            <a:xfrm>
              <a:off x="4870"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sp>
          <p:nvSpPr>
            <p:cNvPr id="13" name="Freeform 12"/>
            <p:cNvSpPr>
              <a:spLocks/>
            </p:cNvSpPr>
            <p:nvPr userDrawn="1"/>
          </p:nvSpPr>
          <p:spPr bwMode="auto">
            <a:xfrm>
              <a:off x="52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grpSp>
      <p:sp>
        <p:nvSpPr>
          <p:cNvPr id="5" name="Rectangle 20"/>
          <p:cNvSpPr>
            <a:spLocks noChangeArrowheads="1"/>
          </p:cNvSpPr>
          <p:nvPr/>
        </p:nvSpPr>
        <p:spPr bwMode="auto">
          <a:xfrm>
            <a:off x="914400" y="6491288"/>
            <a:ext cx="147703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pic>
        <p:nvPicPr>
          <p:cNvPr id="8" name="Picture 11" descr="RCsig2_tag_col_cmyk.png"/>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00800" y="5916613"/>
            <a:ext cx="2319338"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04" name="Rectangle 8"/>
          <p:cNvSpPr>
            <a:spLocks noGrp="1" noChangeArrowheads="1"/>
          </p:cNvSpPr>
          <p:nvPr>
            <p:ph type="ctrTitle"/>
          </p:nvPr>
        </p:nvSpPr>
        <p:spPr>
          <a:xfrm>
            <a:off x="2890838" y="2130425"/>
            <a:ext cx="5567362" cy="612775"/>
          </a:xfrm>
        </p:spPr>
        <p:txBody>
          <a:bodyPr/>
          <a:lstStyle>
            <a:lvl1pPr>
              <a:defRPr sz="2800" b="0">
                <a:solidFill>
                  <a:schemeClr val="tx1"/>
                </a:solidFill>
              </a:defRPr>
            </a:lvl1pPr>
          </a:lstStyle>
          <a:p>
            <a:pPr lvl="0"/>
            <a:r>
              <a:rPr lang="en-US" noProof="0" smtClean="0"/>
              <a:t>Click to edit Master title style</a:t>
            </a:r>
          </a:p>
        </p:txBody>
      </p:sp>
      <p:sp>
        <p:nvSpPr>
          <p:cNvPr id="80905" name="Rectangle 9"/>
          <p:cNvSpPr>
            <a:spLocks noGrp="1" noChangeArrowheads="1"/>
          </p:cNvSpPr>
          <p:nvPr>
            <p:ph type="subTitle" idx="1"/>
          </p:nvPr>
        </p:nvSpPr>
        <p:spPr>
          <a:xfrm>
            <a:off x="2906713" y="3124200"/>
            <a:ext cx="4179887" cy="1371600"/>
          </a:xfrm>
        </p:spPr>
        <p:txBody>
          <a:bodyPr/>
          <a:lstStyle>
            <a:lvl1pPr marL="0" indent="0">
              <a:buFontTx/>
              <a:buNone/>
              <a:defRPr sz="1600"/>
            </a:lvl1pPr>
          </a:lstStyle>
          <a:p>
            <a:pPr lvl="0"/>
            <a:r>
              <a:rPr lang="en-US" noProof="0" smtClean="0"/>
              <a:t>Click to edit Master subtitle style</a:t>
            </a:r>
          </a:p>
        </p:txBody>
      </p:sp>
    </p:spTree>
    <p:extLst>
      <p:ext uri="{BB962C8B-B14F-4D97-AF65-F5344CB8AC3E}">
        <p14:creationId xmlns:p14="http://schemas.microsoft.com/office/powerpoint/2010/main" val="98853689"/>
      </p:ext>
    </p:extLst>
  </p:cSld>
  <p:clrMapOvr>
    <a:masterClrMapping/>
  </p:clrMapOvr>
  <p:transition>
    <p:wipe dir="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Rectangle 1"/>
          <p:cNvSpPr/>
          <p:nvPr userDrawn="1"/>
        </p:nvSpPr>
        <p:spPr bwMode="auto">
          <a:xfrm>
            <a:off x="0" y="0"/>
            <a:ext cx="9144000" cy="6858000"/>
          </a:xfrm>
          <a:prstGeom prst="rect">
            <a:avLst/>
          </a:prstGeom>
          <a:solidFill>
            <a:srgbClr val="FFFFFF"/>
          </a:solidFill>
          <a:ln w="9525" cap="flat" cmpd="sng" algn="ctr">
            <a:no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endParaRPr lang="en-US" sz="2400" dirty="0">
              <a:solidFill>
                <a:srgbClr val="000000"/>
              </a:solidFill>
              <a:latin typeface="Arial" charset="0"/>
              <a:cs typeface="Arial" charset="0"/>
            </a:endParaRPr>
          </a:p>
        </p:txBody>
      </p:sp>
      <p:sp>
        <p:nvSpPr>
          <p:cNvPr id="14" name="Freeform 23"/>
          <p:cNvSpPr>
            <a:spLocks/>
          </p:cNvSpPr>
          <p:nvPr userDrawn="1"/>
        </p:nvSpPr>
        <p:spPr bwMode="auto">
          <a:xfrm>
            <a:off x="-25400" y="-12700"/>
            <a:ext cx="3779838" cy="6877050"/>
          </a:xfrm>
          <a:custGeom>
            <a:avLst/>
            <a:gdLst>
              <a:gd name="T0" fmla="*/ 12700 w 2381"/>
              <a:gd name="T1" fmla="*/ 0 h 4332"/>
              <a:gd name="T2" fmla="*/ 0 w 2381"/>
              <a:gd name="T3" fmla="*/ 6877050 h 4332"/>
              <a:gd name="T4" fmla="*/ 711200 w 2381"/>
              <a:gd name="T5" fmla="*/ 6870700 h 4332"/>
              <a:gd name="T6" fmla="*/ 3779838 w 2381"/>
              <a:gd name="T7" fmla="*/ 12700 h 4332"/>
              <a:gd name="T8" fmla="*/ 12700 w 2381"/>
              <a:gd name="T9" fmla="*/ 0 h 43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81" h="4332">
                <a:moveTo>
                  <a:pt x="8" y="0"/>
                </a:moveTo>
                <a:lnTo>
                  <a:pt x="0" y="4332"/>
                </a:lnTo>
                <a:lnTo>
                  <a:pt x="448" y="4328"/>
                </a:lnTo>
                <a:lnTo>
                  <a:pt x="2381" y="8"/>
                </a:lnTo>
                <a:lnTo>
                  <a:pt x="8" y="0"/>
                </a:lnTo>
                <a:close/>
              </a:path>
            </a:pathLst>
          </a:custGeom>
          <a:solidFill>
            <a:schemeClr val="accent1">
              <a:alpha val="89803"/>
            </a:schemeClr>
          </a:solidFill>
          <a:ln>
            <a:noFill/>
          </a:ln>
          <a:effectLst/>
          <a:extLst/>
        </p:spPr>
        <p:txBody>
          <a:bodyPr/>
          <a:lstStyle/>
          <a:p>
            <a:endParaRPr lang="en-US" sz="2400" dirty="0">
              <a:solidFill>
                <a:srgbClr val="000000"/>
              </a:solidFill>
              <a:cs typeface="Arial"/>
            </a:endParaRPr>
          </a:p>
        </p:txBody>
      </p:sp>
      <p:sp>
        <p:nvSpPr>
          <p:cNvPr id="15" name="Freeform 19"/>
          <p:cNvSpPr>
            <a:spLocks/>
          </p:cNvSpPr>
          <p:nvPr userDrawn="1"/>
        </p:nvSpPr>
        <p:spPr bwMode="auto">
          <a:xfrm>
            <a:off x="668338" y="-3175"/>
            <a:ext cx="8475662" cy="6869113"/>
          </a:xfrm>
          <a:custGeom>
            <a:avLst/>
            <a:gdLst>
              <a:gd name="T0" fmla="*/ 3062287 w 5339"/>
              <a:gd name="T1" fmla="*/ 3175 h 4327"/>
              <a:gd name="T2" fmla="*/ 0 w 5339"/>
              <a:gd name="T3" fmla="*/ 6869113 h 4327"/>
              <a:gd name="T4" fmla="*/ 8475662 w 5339"/>
              <a:gd name="T5" fmla="*/ 6861175 h 4327"/>
              <a:gd name="T6" fmla="*/ 8475662 w 5339"/>
              <a:gd name="T7" fmla="*/ 3175 h 4327"/>
              <a:gd name="T8" fmla="*/ 8085137 w 5339"/>
              <a:gd name="T9" fmla="*/ 0 h 4327"/>
              <a:gd name="T10" fmla="*/ 7994650 w 5339"/>
              <a:gd name="T11" fmla="*/ 212725 h 4327"/>
              <a:gd name="T12" fmla="*/ 7646987 w 5339"/>
              <a:gd name="T13" fmla="*/ 212725 h 4327"/>
              <a:gd name="T14" fmla="*/ 7740650 w 5339"/>
              <a:gd name="T15" fmla="*/ 0 h 4327"/>
              <a:gd name="T16" fmla="*/ 7535862 w 5339"/>
              <a:gd name="T17" fmla="*/ 3175 h 4327"/>
              <a:gd name="T18" fmla="*/ 7440612 w 5339"/>
              <a:gd name="T19" fmla="*/ 212725 h 4327"/>
              <a:gd name="T20" fmla="*/ 7092950 w 5339"/>
              <a:gd name="T21" fmla="*/ 212725 h 4327"/>
              <a:gd name="T22" fmla="*/ 7188200 w 5339"/>
              <a:gd name="T23" fmla="*/ 3175 h 4327"/>
              <a:gd name="T24" fmla="*/ 6983412 w 5339"/>
              <a:gd name="T25" fmla="*/ 3175 h 4327"/>
              <a:gd name="T26" fmla="*/ 6894512 w 5339"/>
              <a:gd name="T27" fmla="*/ 212725 h 4327"/>
              <a:gd name="T28" fmla="*/ 6535737 w 5339"/>
              <a:gd name="T29" fmla="*/ 212725 h 4327"/>
              <a:gd name="T30" fmla="*/ 6637337 w 5339"/>
              <a:gd name="T31" fmla="*/ 3175 h 4327"/>
              <a:gd name="T32" fmla="*/ 3062287 w 5339"/>
              <a:gd name="T33" fmla="*/ 3175 h 43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5339" h="4327">
                <a:moveTo>
                  <a:pt x="1929" y="2"/>
                </a:moveTo>
                <a:lnTo>
                  <a:pt x="0" y="4327"/>
                </a:lnTo>
                <a:lnTo>
                  <a:pt x="5339" y="4322"/>
                </a:lnTo>
                <a:lnTo>
                  <a:pt x="5339" y="2"/>
                </a:lnTo>
                <a:lnTo>
                  <a:pt x="5093" y="0"/>
                </a:lnTo>
                <a:lnTo>
                  <a:pt x="5036" y="134"/>
                </a:lnTo>
                <a:lnTo>
                  <a:pt x="4817" y="134"/>
                </a:lnTo>
                <a:lnTo>
                  <a:pt x="4876" y="0"/>
                </a:lnTo>
                <a:lnTo>
                  <a:pt x="4747" y="2"/>
                </a:lnTo>
                <a:lnTo>
                  <a:pt x="4687" y="134"/>
                </a:lnTo>
                <a:lnTo>
                  <a:pt x="4468" y="134"/>
                </a:lnTo>
                <a:lnTo>
                  <a:pt x="4528" y="2"/>
                </a:lnTo>
                <a:lnTo>
                  <a:pt x="4399" y="2"/>
                </a:lnTo>
                <a:lnTo>
                  <a:pt x="4343" y="134"/>
                </a:lnTo>
                <a:lnTo>
                  <a:pt x="4117" y="134"/>
                </a:lnTo>
                <a:lnTo>
                  <a:pt x="4181" y="2"/>
                </a:lnTo>
                <a:lnTo>
                  <a:pt x="1929" y="2"/>
                </a:lnTo>
                <a:close/>
              </a:path>
            </a:pathLst>
          </a:custGeom>
          <a:solidFill>
            <a:schemeClr val="accent1"/>
          </a:solidFill>
          <a:ln>
            <a:noFill/>
          </a:ln>
          <a:effectLst/>
          <a:extLst/>
        </p:spPr>
        <p:txBody>
          <a:bodyPr/>
          <a:lstStyle/>
          <a:p>
            <a:endParaRPr lang="en-US" sz="2400" dirty="0">
              <a:solidFill>
                <a:srgbClr val="D7451A"/>
              </a:solidFill>
              <a:cs typeface="Arial"/>
            </a:endParaRPr>
          </a:p>
        </p:txBody>
      </p:sp>
      <p:pic>
        <p:nvPicPr>
          <p:cNvPr id="9" name="Picture 8" descr="RCsig2_tag_col_bw.png"/>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400800" y="5924550"/>
            <a:ext cx="2309813" cy="744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Rectangle 11"/>
          <p:cNvSpPr>
            <a:spLocks noChangeArrowheads="1"/>
          </p:cNvSpPr>
          <p:nvPr userDrawn="1"/>
        </p:nvSpPr>
        <p:spPr bwMode="auto">
          <a:xfrm>
            <a:off x="-7175" y="914400"/>
            <a:ext cx="9151175" cy="3135313"/>
          </a:xfrm>
          <a:prstGeom prst="rect">
            <a:avLst/>
          </a:prstGeom>
          <a:solidFill>
            <a:schemeClr val="accent6"/>
          </a:solidFill>
          <a:ln w="12700" cmpd="sng">
            <a:noFill/>
          </a:ln>
          <a:effectLst/>
          <a:extLst/>
        </p:spPr>
        <p:txBody>
          <a:bodyPr wrap="none" anchor="ctr"/>
          <a:lstStyle/>
          <a:p>
            <a:pPr>
              <a:defRPr/>
            </a:pPr>
            <a:endParaRPr lang="en-US" dirty="0">
              <a:solidFill>
                <a:srgbClr val="000000"/>
              </a:solidFill>
              <a:latin typeface="Arial" charset="0"/>
              <a:cs typeface="Arial"/>
            </a:endParaRPr>
          </a:p>
        </p:txBody>
      </p:sp>
      <p:sp>
        <p:nvSpPr>
          <p:cNvPr id="17" name="Line 21"/>
          <p:cNvSpPr>
            <a:spLocks noChangeShapeType="1"/>
          </p:cNvSpPr>
          <p:nvPr userDrawn="1"/>
        </p:nvSpPr>
        <p:spPr bwMode="auto">
          <a:xfrm>
            <a:off x="-7175" y="914400"/>
            <a:ext cx="9151175" cy="0"/>
          </a:xfrm>
          <a:prstGeom prst="line">
            <a:avLst/>
          </a:prstGeom>
          <a:noFill/>
          <a:ln w="9525">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solidFill>
                <a:srgbClr val="000000"/>
              </a:solidFill>
              <a:latin typeface="Arial" charset="0"/>
              <a:cs typeface="Arial"/>
            </a:endParaRPr>
          </a:p>
        </p:txBody>
      </p:sp>
      <p:sp>
        <p:nvSpPr>
          <p:cNvPr id="18" name="Line 22"/>
          <p:cNvSpPr>
            <a:spLocks noChangeShapeType="1"/>
          </p:cNvSpPr>
          <p:nvPr userDrawn="1"/>
        </p:nvSpPr>
        <p:spPr bwMode="auto">
          <a:xfrm>
            <a:off x="-7175" y="4048125"/>
            <a:ext cx="9151175" cy="0"/>
          </a:xfrm>
          <a:prstGeom prst="line">
            <a:avLst/>
          </a:prstGeom>
          <a:noFill/>
          <a:ln w="9525">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solidFill>
                <a:srgbClr val="000000"/>
              </a:solidFill>
              <a:latin typeface="Arial" charset="0"/>
              <a:cs typeface="Arial"/>
            </a:endParaRPr>
          </a:p>
        </p:txBody>
      </p:sp>
      <p:sp>
        <p:nvSpPr>
          <p:cNvPr id="19" name="Rectangle 31"/>
          <p:cNvSpPr>
            <a:spLocks noChangeArrowheads="1"/>
          </p:cNvSpPr>
          <p:nvPr userDrawn="1"/>
        </p:nvSpPr>
        <p:spPr bwMode="auto">
          <a:xfrm>
            <a:off x="920750" y="6491288"/>
            <a:ext cx="147703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spTree>
    <p:extLst>
      <p:ext uri="{BB962C8B-B14F-4D97-AF65-F5344CB8AC3E}">
        <p14:creationId xmlns:p14="http://schemas.microsoft.com/office/powerpoint/2010/main" val="1857719889"/>
      </p:ext>
    </p:extLst>
  </p:cSld>
  <p:clrMapOvr>
    <a:masterClrMapping/>
  </p:clrMapOvr>
  <p:transition>
    <p:wipe dir="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E4551F"/>
                </a:solidFill>
              </a:defRPr>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Rectangle 6"/>
          <p:cNvSpPr>
            <a:spLocks noGrp="1" noChangeArrowheads="1"/>
          </p:cNvSpPr>
          <p:nvPr>
            <p:ph type="sldNum" sz="quarter" idx="10"/>
          </p:nvPr>
        </p:nvSpPr>
        <p:spPr>
          <a:ln/>
        </p:spPr>
        <p:txBody>
          <a:bodyPr/>
          <a:lstStyle>
            <a:lvl1pPr>
              <a:defRPr/>
            </a:lvl1pPr>
          </a:lstStyle>
          <a:p>
            <a:fld id="{6FB38293-AEBC-48C9-B732-3290CCE0D0E2}" type="slidenum">
              <a:rPr lang="en-US" altLang="en-US">
                <a:solidFill>
                  <a:srgbClr val="000000"/>
                </a:solidFill>
              </a:rPr>
              <a:pPr/>
              <a:t>‹Nr.›</a:t>
            </a:fld>
            <a:endParaRPr lang="en-US" altLang="en-US" dirty="0">
              <a:solidFill>
                <a:srgbClr val="000000"/>
              </a:solidFill>
            </a:endParaRPr>
          </a:p>
        </p:txBody>
      </p:sp>
    </p:spTree>
    <p:extLst>
      <p:ext uri="{BB962C8B-B14F-4D97-AF65-F5344CB8AC3E}">
        <p14:creationId xmlns:p14="http://schemas.microsoft.com/office/powerpoint/2010/main" val="3142120624"/>
      </p:ext>
    </p:extLst>
  </p:cSld>
  <p:clrMapOvr>
    <a:masterClrMapping/>
  </p:clrMapOvr>
  <p:transition>
    <p:wipe dir="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E4551F"/>
                </a:solidFill>
              </a:defRPr>
            </a:lvl1pPr>
          </a:lstStyle>
          <a:p>
            <a:r>
              <a:rPr lang="en-US" smtClean="0"/>
              <a:t>Click to edit Master title style</a:t>
            </a:r>
            <a:endParaRPr lang="en-US" dirty="0"/>
          </a:p>
        </p:txBody>
      </p:sp>
      <p:sp>
        <p:nvSpPr>
          <p:cNvPr id="3" name="Content Placeholder 2"/>
          <p:cNvSpPr>
            <a:spLocks noGrp="1"/>
          </p:cNvSpPr>
          <p:nvPr>
            <p:ph sz="half" idx="1"/>
          </p:nvPr>
        </p:nvSpPr>
        <p:spPr>
          <a:xfrm>
            <a:off x="762000" y="1600200"/>
            <a:ext cx="3886200" cy="4525963"/>
          </a:xfrm>
        </p:spPr>
        <p:txBody>
          <a:bodyPr/>
          <a:lstStyle>
            <a:lvl1pPr>
              <a:defRPr sz="1800"/>
            </a:lvl1pPr>
            <a:lvl2pPr>
              <a:defRPr sz="1600"/>
            </a:lvl2pPr>
            <a:lvl3pPr>
              <a:defRPr sz="1400"/>
            </a:lvl3pPr>
            <a:lvl4pPr>
              <a:defRPr sz="1200"/>
            </a:lvl4pPr>
            <a:lvl5pPr>
              <a:defRPr sz="12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800600" y="1600200"/>
            <a:ext cx="3886200" cy="4525963"/>
          </a:xfrm>
        </p:spPr>
        <p:txBody>
          <a:bodyPr/>
          <a:lstStyle>
            <a:lvl1pPr>
              <a:defRPr sz="1800"/>
            </a:lvl1pPr>
            <a:lvl2pPr>
              <a:defRPr sz="1600"/>
            </a:lvl2pPr>
            <a:lvl3pPr>
              <a:defRPr sz="1400"/>
            </a:lvl3pPr>
            <a:lvl4pPr>
              <a:defRPr sz="1200"/>
            </a:lvl4pPr>
            <a:lvl5pPr>
              <a:defRPr sz="12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Rectangle 6"/>
          <p:cNvSpPr>
            <a:spLocks noGrp="1" noChangeArrowheads="1"/>
          </p:cNvSpPr>
          <p:nvPr>
            <p:ph type="sldNum" sz="quarter" idx="10"/>
          </p:nvPr>
        </p:nvSpPr>
        <p:spPr>
          <a:ln/>
        </p:spPr>
        <p:txBody>
          <a:bodyPr/>
          <a:lstStyle>
            <a:lvl1pPr>
              <a:defRPr/>
            </a:lvl1pPr>
          </a:lstStyle>
          <a:p>
            <a:fld id="{23D3C076-B1AA-47AB-ABBA-4FF62BCC70E6}" type="slidenum">
              <a:rPr lang="en-US" altLang="en-US">
                <a:solidFill>
                  <a:srgbClr val="000000"/>
                </a:solidFill>
              </a:rPr>
              <a:pPr/>
              <a:t>‹Nr.›</a:t>
            </a:fld>
            <a:endParaRPr lang="en-US" altLang="en-US" dirty="0">
              <a:solidFill>
                <a:srgbClr val="000000"/>
              </a:solidFill>
            </a:endParaRPr>
          </a:p>
        </p:txBody>
      </p:sp>
    </p:spTree>
    <p:extLst>
      <p:ext uri="{BB962C8B-B14F-4D97-AF65-F5344CB8AC3E}">
        <p14:creationId xmlns:p14="http://schemas.microsoft.com/office/powerpoint/2010/main" val="1377963761"/>
      </p:ext>
    </p:extLst>
  </p:cSld>
  <p:clrMapOvr>
    <a:masterClrMapping/>
  </p:clrMapOvr>
  <p:transition>
    <p:wipe dir="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ln/>
        </p:spPr>
        <p:txBody>
          <a:bodyPr/>
          <a:lstStyle>
            <a:lvl1pPr>
              <a:defRPr/>
            </a:lvl1pPr>
          </a:lstStyle>
          <a:p>
            <a:pPr>
              <a:defRPr/>
            </a:pPr>
            <a:fld id="{8A7DEF6D-193A-43B9-A88F-EFE847976AC6}" type="slidenum">
              <a:rPr lang="en-US">
                <a:solidFill>
                  <a:srgbClr val="000000"/>
                </a:solidFill>
              </a:rPr>
              <a:pPr>
                <a:defRPr/>
              </a:pPr>
              <a:t>‹Nr.›</a:t>
            </a:fld>
            <a:endParaRPr lang="en-US" dirty="0">
              <a:solidFill>
                <a:srgbClr val="000000"/>
              </a:solidFill>
            </a:endParaRPr>
          </a:p>
        </p:txBody>
      </p:sp>
    </p:spTree>
    <p:extLst>
      <p:ext uri="{BB962C8B-B14F-4D97-AF65-F5344CB8AC3E}">
        <p14:creationId xmlns:p14="http://schemas.microsoft.com/office/powerpoint/2010/main" val="2508516565"/>
      </p:ext>
    </p:extLst>
  </p:cSld>
  <p:clrMapOvr>
    <a:masterClrMapping/>
  </p:clrMapOvr>
  <p:transition>
    <p:wipe dir="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Full-page Content - 1 line title">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375" y="1600200"/>
            <a:ext cx="8229600" cy="1283428"/>
          </a:xfrm>
        </p:spPr>
        <p:txBody>
          <a:bodyPr/>
          <a:lstStyle>
            <a:lvl1pPr>
              <a:defRPr/>
            </a:lvl1pPr>
            <a:lvl2pPr marL="182880" indent="-182880">
              <a:spcBef>
                <a:spcPts val="0"/>
              </a:spcBef>
              <a:spcAft>
                <a:spcPts val="600"/>
              </a:spcAft>
              <a:defRPr/>
            </a:lvl2pPr>
            <a:lvl3pPr>
              <a:spcBef>
                <a:spcPts val="0"/>
              </a:spcBef>
              <a:defRPr/>
            </a:lvl3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p:txBody>
      </p:sp>
      <p:sp>
        <p:nvSpPr>
          <p:cNvPr id="16" name="Title 1"/>
          <p:cNvSpPr>
            <a:spLocks noGrp="1"/>
          </p:cNvSpPr>
          <p:nvPr>
            <p:ph type="title" hasCustomPrompt="1"/>
          </p:nvPr>
        </p:nvSpPr>
        <p:spPr>
          <a:xfrm>
            <a:off x="457199" y="320040"/>
            <a:ext cx="8229600" cy="357293"/>
          </a:xfrm>
        </p:spPr>
        <p:txBody>
          <a:bodyPr/>
          <a:lstStyle>
            <a:lvl1pPr>
              <a:defRPr/>
            </a:lvl1pPr>
          </a:lstStyle>
          <a:p>
            <a:r>
              <a:rPr lang="en-US" dirty="0" smtClean="0"/>
              <a:t>Click to edit master title style</a:t>
            </a:r>
            <a:endParaRPr lang="en-US" dirty="0"/>
          </a:p>
        </p:txBody>
      </p:sp>
      <p:sp>
        <p:nvSpPr>
          <p:cNvPr id="4" name="Text Placeholder 7"/>
          <p:cNvSpPr>
            <a:spLocks noGrp="1"/>
          </p:cNvSpPr>
          <p:nvPr>
            <p:ph type="body" sz="quarter" idx="12" hasCustomPrompt="1"/>
          </p:nvPr>
        </p:nvSpPr>
        <p:spPr>
          <a:xfrm>
            <a:off x="457199" y="624841"/>
            <a:ext cx="8229601" cy="307777"/>
          </a:xfrm>
        </p:spPr>
        <p:txBody>
          <a:bodyPr tIns="45720"/>
          <a:lstStyle>
            <a:lvl1pPr marL="0" marR="0" indent="0" algn="l" defTabSz="1020763" rtl="0" eaLnBrk="1" fontAlgn="base" latinLnBrk="0" hangingPunct="1">
              <a:lnSpc>
                <a:spcPct val="85000"/>
              </a:lnSpc>
              <a:spcBef>
                <a:spcPct val="0"/>
              </a:spcBef>
              <a:spcAft>
                <a:spcPct val="0"/>
              </a:spcAft>
              <a:buClrTx/>
              <a:buSzTx/>
              <a:buFontTx/>
              <a:buNone/>
              <a:tabLst/>
              <a:defRPr kumimoji="0" lang="en-US" sz="2000" b="0" i="0" u="none" strike="noStrike" kern="0" cap="none" spc="0" normalizeH="0" baseline="0" noProof="0">
                <a:ln>
                  <a:noFill/>
                </a:ln>
                <a:solidFill>
                  <a:schemeClr val="bg2">
                    <a:lumMod val="75000"/>
                  </a:schemeClr>
                </a:solidFill>
                <a:effectLst/>
                <a:uLnTx/>
                <a:uFillTx/>
              </a:defRPr>
            </a:lvl1pPr>
          </a:lstStyle>
          <a:p>
            <a:pPr marL="0" marR="0" lvl="0" indent="0" algn="l" defTabSz="1020763" rtl="0" eaLnBrk="1" fontAlgn="base" latinLnBrk="0" hangingPunct="1">
              <a:lnSpc>
                <a:spcPct val="85000"/>
              </a:lnSpc>
              <a:spcBef>
                <a:spcPct val="0"/>
              </a:spcBef>
              <a:spcAft>
                <a:spcPct val="0"/>
              </a:spcAft>
              <a:buClrTx/>
              <a:buSzTx/>
              <a:buFontTx/>
              <a:buNone/>
              <a:tabLst/>
              <a:defRPr/>
            </a:pPr>
            <a:r>
              <a:rPr kumimoji="0" lang="en-US" sz="2000" b="0" i="0" u="none" strike="noStrike" kern="0" cap="none" spc="0" normalizeH="0" baseline="0" noProof="0" dirty="0" smtClean="0">
                <a:ln>
                  <a:noFill/>
                </a:ln>
                <a:solidFill>
                  <a:schemeClr val="bg2">
                    <a:lumMod val="75000"/>
                  </a:schemeClr>
                </a:solidFill>
                <a:effectLst/>
                <a:uLnTx/>
                <a:uFillTx/>
                <a:latin typeface="+mj-lt"/>
                <a:ea typeface="+mj-ea"/>
                <a:cs typeface="+mj-cs"/>
              </a:rPr>
              <a:t>Click to add subtitle – font size to 20 pt</a:t>
            </a:r>
            <a:endParaRPr kumimoji="0" lang="en-US" sz="2000" b="0" i="0" u="none" strike="noStrike" kern="0" cap="none" spc="0" normalizeH="0" baseline="0" noProof="0" dirty="0">
              <a:ln>
                <a:noFill/>
              </a:ln>
              <a:solidFill>
                <a:schemeClr val="bg2">
                  <a:lumMod val="75000"/>
                </a:schemeClr>
              </a:solidFill>
              <a:effectLst/>
              <a:uLnTx/>
              <a:uFillTx/>
              <a:latin typeface="+mj-lt"/>
              <a:ea typeface="+mj-ea"/>
              <a:cs typeface="+mj-cs"/>
            </a:endParaRPr>
          </a:p>
        </p:txBody>
      </p:sp>
    </p:spTree>
    <p:extLst>
      <p:ext uri="{BB962C8B-B14F-4D97-AF65-F5344CB8AC3E}">
        <p14:creationId xmlns:p14="http://schemas.microsoft.com/office/powerpoint/2010/main" val="3177318523"/>
      </p:ext>
    </p:extLst>
  </p:cSld>
  <p:clrMapOvr>
    <a:masterClrMapping/>
  </p:clrMapOvr>
  <p:transition>
    <p:wipe dir="r"/>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slideLayout" Target="../slideLayouts/slideLayout17.xml"/><Relationship Id="rId7"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762000" y="868363"/>
            <a:ext cx="777240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4099" name="Rectangle 3"/>
          <p:cNvSpPr>
            <a:spLocks noGrp="1" noChangeArrowheads="1"/>
          </p:cNvSpPr>
          <p:nvPr>
            <p:ph type="body" idx="1"/>
          </p:nvPr>
        </p:nvSpPr>
        <p:spPr bwMode="auto">
          <a:xfrm>
            <a:off x="762000" y="1600200"/>
            <a:ext cx="79248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3078" name="Rectangle 6"/>
          <p:cNvSpPr>
            <a:spLocks noGrp="1" noChangeArrowheads="1"/>
          </p:cNvSpPr>
          <p:nvPr>
            <p:ph type="sldNum" sz="quarter" idx="4"/>
          </p:nvPr>
        </p:nvSpPr>
        <p:spPr bwMode="auto">
          <a:xfrm>
            <a:off x="7848600" y="6477000"/>
            <a:ext cx="849313"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000" smtClean="0">
                <a:latin typeface="+mn-lt"/>
                <a:cs typeface="Arial" charset="0"/>
              </a:defRPr>
            </a:lvl1pPr>
          </a:lstStyle>
          <a:p>
            <a:pPr>
              <a:defRPr/>
            </a:pPr>
            <a:fld id="{BE15C076-9075-4B49-A4B0-DACF630C7820}" type="slidenum">
              <a:rPr lang="en-US"/>
              <a:pPr>
                <a:defRPr/>
              </a:pPr>
              <a:t>‹Nr.›</a:t>
            </a:fld>
            <a:endParaRPr lang="en-US" dirty="0"/>
          </a:p>
        </p:txBody>
      </p:sp>
      <p:sp>
        <p:nvSpPr>
          <p:cNvPr id="3092" name="Freeform 20"/>
          <p:cNvSpPr>
            <a:spLocks/>
          </p:cNvSpPr>
          <p:nvPr/>
        </p:nvSpPr>
        <p:spPr bwMode="auto">
          <a:xfrm>
            <a:off x="1752600" y="0"/>
            <a:ext cx="7391400" cy="419100"/>
          </a:xfrm>
          <a:custGeom>
            <a:avLst/>
            <a:gdLst/>
            <a:ahLst/>
            <a:cxnLst>
              <a:cxn ang="0">
                <a:pos x="0" y="264"/>
              </a:cxn>
              <a:cxn ang="0">
                <a:pos x="4656" y="264"/>
              </a:cxn>
              <a:cxn ang="0">
                <a:pos x="4656" y="0"/>
              </a:cxn>
              <a:cxn ang="0">
                <a:pos x="120" y="0"/>
              </a:cxn>
              <a:cxn ang="0">
                <a:pos x="0" y="264"/>
              </a:cxn>
            </a:cxnLst>
            <a:rect l="0" t="0" r="r" b="b"/>
            <a:pathLst>
              <a:path w="4656" h="264">
                <a:moveTo>
                  <a:pt x="0" y="264"/>
                </a:moveTo>
                <a:lnTo>
                  <a:pt x="4656" y="264"/>
                </a:lnTo>
                <a:lnTo>
                  <a:pt x="4656" y="0"/>
                </a:lnTo>
                <a:lnTo>
                  <a:pt x="120" y="0"/>
                </a:lnTo>
                <a:lnTo>
                  <a:pt x="0" y="264"/>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grpSp>
        <p:nvGrpSpPr>
          <p:cNvPr id="4105" name="Group 21"/>
          <p:cNvGrpSpPr>
            <a:grpSpLocks/>
          </p:cNvGrpSpPr>
          <p:nvPr/>
        </p:nvGrpSpPr>
        <p:grpSpPr bwMode="auto">
          <a:xfrm>
            <a:off x="7772400" y="0"/>
            <a:ext cx="962025" cy="128588"/>
            <a:chOff x="4518" y="0"/>
            <a:chExt cx="984" cy="132"/>
          </a:xfrm>
        </p:grpSpPr>
        <p:sp>
          <p:nvSpPr>
            <p:cNvPr id="3094" name="Freeform 22"/>
            <p:cNvSpPr>
              <a:spLocks/>
            </p:cNvSpPr>
            <p:nvPr/>
          </p:nvSpPr>
          <p:spPr bwMode="auto">
            <a:xfrm>
              <a:off x="45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chemeClr val="bg1"/>
            </a:solidFill>
            <a:ln w="9525">
              <a:noFill/>
              <a:round/>
              <a:headEnd/>
              <a:tailEnd/>
            </a:ln>
            <a:effectLst/>
          </p:spPr>
          <p:txBody>
            <a:bodyPr wrap="none" anchor="ctr"/>
            <a:lstStyle/>
            <a:p>
              <a:pPr>
                <a:defRPr/>
              </a:pPr>
              <a:endParaRPr lang="en-US" dirty="0">
                <a:latin typeface="Arial" charset="0"/>
                <a:cs typeface="Arial" charset="0"/>
              </a:endParaRPr>
            </a:p>
          </p:txBody>
        </p:sp>
        <p:sp>
          <p:nvSpPr>
            <p:cNvPr id="3095" name="Freeform 23"/>
            <p:cNvSpPr>
              <a:spLocks/>
            </p:cNvSpPr>
            <p:nvPr/>
          </p:nvSpPr>
          <p:spPr bwMode="auto">
            <a:xfrm>
              <a:off x="4870"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chemeClr val="bg1"/>
            </a:solidFill>
            <a:ln w="9525">
              <a:noFill/>
              <a:round/>
              <a:headEnd/>
              <a:tailEnd/>
            </a:ln>
            <a:effectLst/>
          </p:spPr>
          <p:txBody>
            <a:bodyPr wrap="none" anchor="ctr"/>
            <a:lstStyle/>
            <a:p>
              <a:pPr>
                <a:defRPr/>
              </a:pPr>
              <a:endParaRPr lang="en-US" dirty="0">
                <a:latin typeface="Arial" charset="0"/>
                <a:cs typeface="Arial" charset="0"/>
              </a:endParaRPr>
            </a:p>
          </p:txBody>
        </p:sp>
        <p:sp>
          <p:nvSpPr>
            <p:cNvPr id="3096" name="Freeform 24"/>
            <p:cNvSpPr>
              <a:spLocks/>
            </p:cNvSpPr>
            <p:nvPr/>
          </p:nvSpPr>
          <p:spPr bwMode="auto">
            <a:xfrm>
              <a:off x="52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chemeClr val="bg1"/>
            </a:solidFill>
            <a:ln w="9525">
              <a:noFill/>
              <a:round/>
              <a:headEnd/>
              <a:tailEnd/>
            </a:ln>
            <a:effectLst/>
          </p:spPr>
          <p:txBody>
            <a:bodyPr wrap="none" anchor="ctr"/>
            <a:lstStyle/>
            <a:p>
              <a:pPr>
                <a:defRPr/>
              </a:pPr>
              <a:endParaRPr lang="en-US" dirty="0">
                <a:latin typeface="Arial" charset="0"/>
                <a:cs typeface="Arial" charset="0"/>
              </a:endParaRPr>
            </a:p>
          </p:txBody>
        </p:sp>
      </p:grpSp>
    </p:spTree>
  </p:cSld>
  <p:clrMap bg1="lt1" tx1="dk1" bg2="lt2" tx2="dk2" accent1="accent1" accent2="accent2" accent3="accent3" accent4="accent4" accent5="accent5" accent6="accent6" hlink="hlink" folHlink="folHlink"/>
  <p:sldLayoutIdLst>
    <p:sldLayoutId id="2147483700"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701" r:id="rId14"/>
  </p:sldLayoutIdLst>
  <p:transition>
    <p:wipe dir="r"/>
  </p:transition>
  <p:timing>
    <p:tnLst>
      <p:par>
        <p:cTn id="1" dur="indefinite" restart="never" nodeType="tmRoot"/>
      </p:par>
    </p:tnLst>
  </p:timing>
  <p:hf hdr="0" ftr="0" dt="0"/>
  <p:txStyles>
    <p:titleStyle>
      <a:lvl1pPr algn="l" rtl="0" eaLnBrk="1" fontAlgn="base" hangingPunct="1">
        <a:spcBef>
          <a:spcPct val="0"/>
        </a:spcBef>
        <a:spcAft>
          <a:spcPct val="0"/>
        </a:spcAft>
        <a:defRPr sz="2200" b="1">
          <a:solidFill>
            <a:srgbClr val="777777"/>
          </a:solidFill>
          <a:latin typeface="+mj-lt"/>
          <a:ea typeface="+mj-ea"/>
          <a:cs typeface="+mj-cs"/>
        </a:defRPr>
      </a:lvl1pPr>
      <a:lvl2pPr algn="l" rtl="0" eaLnBrk="1" fontAlgn="base" hangingPunct="1">
        <a:spcBef>
          <a:spcPct val="0"/>
        </a:spcBef>
        <a:spcAft>
          <a:spcPct val="0"/>
        </a:spcAft>
        <a:defRPr sz="2200" b="1">
          <a:solidFill>
            <a:srgbClr val="777777"/>
          </a:solidFill>
          <a:latin typeface="Verdana" pitchFamily="34" charset="0"/>
          <a:cs typeface="Arial" charset="0"/>
        </a:defRPr>
      </a:lvl2pPr>
      <a:lvl3pPr algn="l" rtl="0" eaLnBrk="1" fontAlgn="base" hangingPunct="1">
        <a:spcBef>
          <a:spcPct val="0"/>
        </a:spcBef>
        <a:spcAft>
          <a:spcPct val="0"/>
        </a:spcAft>
        <a:defRPr sz="2200" b="1">
          <a:solidFill>
            <a:srgbClr val="777777"/>
          </a:solidFill>
          <a:latin typeface="Verdana" pitchFamily="34" charset="0"/>
          <a:cs typeface="Arial" charset="0"/>
        </a:defRPr>
      </a:lvl3pPr>
      <a:lvl4pPr algn="l" rtl="0" eaLnBrk="1" fontAlgn="base" hangingPunct="1">
        <a:spcBef>
          <a:spcPct val="0"/>
        </a:spcBef>
        <a:spcAft>
          <a:spcPct val="0"/>
        </a:spcAft>
        <a:defRPr sz="2200" b="1">
          <a:solidFill>
            <a:srgbClr val="777777"/>
          </a:solidFill>
          <a:latin typeface="Verdana" pitchFamily="34" charset="0"/>
          <a:cs typeface="Arial" charset="0"/>
        </a:defRPr>
      </a:lvl4pPr>
      <a:lvl5pPr algn="l" rtl="0" eaLnBrk="1" fontAlgn="base" hangingPunct="1">
        <a:spcBef>
          <a:spcPct val="0"/>
        </a:spcBef>
        <a:spcAft>
          <a:spcPct val="0"/>
        </a:spcAft>
        <a:defRPr sz="2200" b="1">
          <a:solidFill>
            <a:srgbClr val="777777"/>
          </a:solidFill>
          <a:latin typeface="Verdana" pitchFamily="34" charset="0"/>
          <a:cs typeface="Arial" charset="0"/>
        </a:defRPr>
      </a:lvl5pPr>
      <a:lvl6pPr marL="457200" algn="l" rtl="0" eaLnBrk="1" fontAlgn="base" hangingPunct="1">
        <a:spcBef>
          <a:spcPct val="0"/>
        </a:spcBef>
        <a:spcAft>
          <a:spcPct val="0"/>
        </a:spcAft>
        <a:defRPr sz="2200" b="1">
          <a:solidFill>
            <a:srgbClr val="777777"/>
          </a:solidFill>
          <a:latin typeface="Verdana" pitchFamily="34" charset="0"/>
          <a:cs typeface="Arial" charset="0"/>
        </a:defRPr>
      </a:lvl6pPr>
      <a:lvl7pPr marL="914400" algn="l" rtl="0" eaLnBrk="1" fontAlgn="base" hangingPunct="1">
        <a:spcBef>
          <a:spcPct val="0"/>
        </a:spcBef>
        <a:spcAft>
          <a:spcPct val="0"/>
        </a:spcAft>
        <a:defRPr sz="2200" b="1">
          <a:solidFill>
            <a:srgbClr val="777777"/>
          </a:solidFill>
          <a:latin typeface="Verdana" pitchFamily="34" charset="0"/>
          <a:cs typeface="Arial" charset="0"/>
        </a:defRPr>
      </a:lvl7pPr>
      <a:lvl8pPr marL="1371600" algn="l" rtl="0" eaLnBrk="1" fontAlgn="base" hangingPunct="1">
        <a:spcBef>
          <a:spcPct val="0"/>
        </a:spcBef>
        <a:spcAft>
          <a:spcPct val="0"/>
        </a:spcAft>
        <a:defRPr sz="2200" b="1">
          <a:solidFill>
            <a:srgbClr val="777777"/>
          </a:solidFill>
          <a:latin typeface="Verdana" pitchFamily="34" charset="0"/>
          <a:cs typeface="Arial" charset="0"/>
        </a:defRPr>
      </a:lvl8pPr>
      <a:lvl9pPr marL="1828800" algn="l" rtl="0" eaLnBrk="1" fontAlgn="base" hangingPunct="1">
        <a:spcBef>
          <a:spcPct val="0"/>
        </a:spcBef>
        <a:spcAft>
          <a:spcPct val="0"/>
        </a:spcAft>
        <a:defRPr sz="2200" b="1">
          <a:solidFill>
            <a:srgbClr val="777777"/>
          </a:solidFill>
          <a:latin typeface="Verdana" pitchFamily="34" charset="0"/>
          <a:cs typeface="Arial" charset="0"/>
        </a:defRPr>
      </a:lvl9pPr>
    </p:titleStyle>
    <p:body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Picture 15" descr="gray-header"/>
          <p:cNvPicPr>
            <a:picLocks noChangeAspect="1" noChangeArrowheads="1"/>
          </p:cNvPicPr>
          <p:nvPr/>
        </p:nvPicPr>
        <p:blipFill>
          <a:blip r:embed="rId8">
            <a:extLst>
              <a:ext uri="{28A0092B-C50C-407E-A947-70E740481C1C}">
                <a14:useLocalDpi xmlns:a14="http://schemas.microsoft.com/office/drawing/2010/main" val="0"/>
              </a:ext>
            </a:extLst>
          </a:blip>
          <a:srcRect r="81667"/>
          <a:stretch>
            <a:fillRect/>
          </a:stretch>
        </p:blipFill>
        <p:spPr bwMode="auto">
          <a:xfrm>
            <a:off x="0" y="0"/>
            <a:ext cx="167640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Freeform 20"/>
          <p:cNvSpPr>
            <a:spLocks/>
          </p:cNvSpPr>
          <p:nvPr/>
        </p:nvSpPr>
        <p:spPr bwMode="auto">
          <a:xfrm>
            <a:off x="1752600" y="0"/>
            <a:ext cx="7391400" cy="419100"/>
          </a:xfrm>
          <a:custGeom>
            <a:avLst/>
            <a:gdLst>
              <a:gd name="T0" fmla="*/ 0 w 4656"/>
              <a:gd name="T1" fmla="*/ 419100 h 264"/>
              <a:gd name="T2" fmla="*/ 7391400 w 4656"/>
              <a:gd name="T3" fmla="*/ 419100 h 264"/>
              <a:gd name="T4" fmla="*/ 7391400 w 4656"/>
              <a:gd name="T5" fmla="*/ 0 h 264"/>
              <a:gd name="T6" fmla="*/ 190500 w 4656"/>
              <a:gd name="T7" fmla="*/ 0 h 264"/>
              <a:gd name="T8" fmla="*/ 0 w 4656"/>
              <a:gd name="T9" fmla="*/ 419100 h 2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56" h="264">
                <a:moveTo>
                  <a:pt x="0" y="264"/>
                </a:moveTo>
                <a:lnTo>
                  <a:pt x="4656" y="264"/>
                </a:lnTo>
                <a:lnTo>
                  <a:pt x="4656" y="0"/>
                </a:lnTo>
                <a:lnTo>
                  <a:pt x="120" y="0"/>
                </a:lnTo>
                <a:lnTo>
                  <a:pt x="0" y="264"/>
                </a:lnTo>
                <a:close/>
              </a:path>
            </a:pathLst>
          </a:custGeom>
          <a:solidFill>
            <a:schemeClr val="accent1"/>
          </a:solidFill>
          <a:ln>
            <a:noFill/>
          </a:ln>
          <a:effectLst/>
        </p:spPr>
        <p:txBody>
          <a:bodyPr wrap="none" anchor="ctr"/>
          <a:lstStyle/>
          <a:p>
            <a:endParaRPr lang="en-US" sz="2400" dirty="0">
              <a:solidFill>
                <a:srgbClr val="000000"/>
              </a:solidFill>
              <a:cs typeface="Arial"/>
            </a:endParaRPr>
          </a:p>
        </p:txBody>
      </p:sp>
      <p:sp>
        <p:nvSpPr>
          <p:cNvPr id="3074" name="Rectangle 2"/>
          <p:cNvSpPr>
            <a:spLocks noGrp="1" noChangeArrowheads="1"/>
          </p:cNvSpPr>
          <p:nvPr>
            <p:ph type="title"/>
          </p:nvPr>
        </p:nvSpPr>
        <p:spPr bwMode="auto">
          <a:xfrm>
            <a:off x="762000" y="868363"/>
            <a:ext cx="7772400" cy="503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endParaRPr lang="en-US" dirty="0"/>
          </a:p>
        </p:txBody>
      </p:sp>
      <p:sp>
        <p:nvSpPr>
          <p:cNvPr id="3075" name="Rectangle 3"/>
          <p:cNvSpPr>
            <a:spLocks noGrp="1" noChangeArrowheads="1"/>
          </p:cNvSpPr>
          <p:nvPr>
            <p:ph type="body" idx="1"/>
          </p:nvPr>
        </p:nvSpPr>
        <p:spPr bwMode="auto">
          <a:xfrm>
            <a:off x="762000" y="1600200"/>
            <a:ext cx="7924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3078" name="Rectangle 6"/>
          <p:cNvSpPr>
            <a:spLocks noGrp="1" noChangeArrowheads="1"/>
          </p:cNvSpPr>
          <p:nvPr>
            <p:ph type="sldNum" sz="quarter" idx="4"/>
          </p:nvPr>
        </p:nvSpPr>
        <p:spPr bwMode="auto">
          <a:xfrm>
            <a:off x="7848600" y="6477000"/>
            <a:ext cx="849313"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algn="r">
              <a:defRPr sz="1000">
                <a:latin typeface="Verdana" pitchFamily="34" charset="0"/>
              </a:defRPr>
            </a:lvl1pPr>
          </a:lstStyle>
          <a:p>
            <a:fld id="{84BE33A8-B07C-4AE5-8AD6-5B92B3138622}" type="slidenum">
              <a:rPr lang="en-US" altLang="en-US">
                <a:solidFill>
                  <a:srgbClr val="000000"/>
                </a:solidFill>
                <a:cs typeface="Arial"/>
              </a:rPr>
              <a:pPr/>
              <a:t>‹Nr.›</a:t>
            </a:fld>
            <a:endParaRPr lang="en-US" altLang="en-US" dirty="0">
              <a:solidFill>
                <a:srgbClr val="000000"/>
              </a:solidFill>
              <a:cs typeface="Arial"/>
            </a:endParaRPr>
          </a:p>
        </p:txBody>
      </p:sp>
      <p:sp>
        <p:nvSpPr>
          <p:cNvPr id="3085" name="Rectangle 13"/>
          <p:cNvSpPr>
            <a:spLocks noChangeArrowheads="1"/>
          </p:cNvSpPr>
          <p:nvPr/>
        </p:nvSpPr>
        <p:spPr bwMode="auto">
          <a:xfrm>
            <a:off x="381000" y="6491288"/>
            <a:ext cx="147703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grpSp>
        <p:nvGrpSpPr>
          <p:cNvPr id="8" name="Group 30"/>
          <p:cNvGrpSpPr>
            <a:grpSpLocks/>
          </p:cNvGrpSpPr>
          <p:nvPr/>
        </p:nvGrpSpPr>
        <p:grpSpPr bwMode="auto">
          <a:xfrm>
            <a:off x="7697795" y="1"/>
            <a:ext cx="1036629" cy="139060"/>
            <a:chOff x="4518" y="0"/>
            <a:chExt cx="984" cy="132"/>
          </a:xfrm>
        </p:grpSpPr>
        <p:sp>
          <p:nvSpPr>
            <p:cNvPr id="10" name="Freeform 27"/>
            <p:cNvSpPr>
              <a:spLocks/>
            </p:cNvSpPr>
            <p:nvPr/>
          </p:nvSpPr>
          <p:spPr bwMode="auto">
            <a:xfrm>
              <a:off x="45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sp>
          <p:nvSpPr>
            <p:cNvPr id="11" name="Freeform 28"/>
            <p:cNvSpPr>
              <a:spLocks/>
            </p:cNvSpPr>
            <p:nvPr/>
          </p:nvSpPr>
          <p:spPr bwMode="auto">
            <a:xfrm>
              <a:off x="4870"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sp>
          <p:nvSpPr>
            <p:cNvPr id="12" name="Freeform 29"/>
            <p:cNvSpPr>
              <a:spLocks/>
            </p:cNvSpPr>
            <p:nvPr/>
          </p:nvSpPr>
          <p:spPr bwMode="auto">
            <a:xfrm>
              <a:off x="52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grpSp>
    </p:spTree>
    <p:extLst>
      <p:ext uri="{BB962C8B-B14F-4D97-AF65-F5344CB8AC3E}">
        <p14:creationId xmlns:p14="http://schemas.microsoft.com/office/powerpoint/2010/main" val="1400566664"/>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10" r:id="rId6"/>
  </p:sldLayoutIdLst>
  <p:transition>
    <p:wipe dir="r"/>
  </p:transition>
  <p:timing>
    <p:tnLst>
      <p:par>
        <p:cTn id="1" dur="indefinite" restart="never" nodeType="tmRoot"/>
      </p:par>
    </p:tnLst>
  </p:timing>
  <p:hf hdr="0" ftr="0" dt="0"/>
  <p:txStyles>
    <p:titleStyle>
      <a:lvl1pPr algn="l" rtl="0" eaLnBrk="1" fontAlgn="base" hangingPunct="1">
        <a:spcBef>
          <a:spcPct val="0"/>
        </a:spcBef>
        <a:spcAft>
          <a:spcPct val="0"/>
        </a:spcAft>
        <a:defRPr sz="2200" b="1">
          <a:solidFill>
            <a:schemeClr val="accent1"/>
          </a:solidFill>
          <a:latin typeface="+mj-lt"/>
          <a:ea typeface="+mj-ea"/>
          <a:cs typeface="+mj-cs"/>
        </a:defRPr>
      </a:lvl1pPr>
      <a:lvl2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2pPr>
      <a:lvl3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3pPr>
      <a:lvl4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4pPr>
      <a:lvl5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5pPr>
      <a:lvl6pPr marL="4572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6pPr>
      <a:lvl7pPr marL="9144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7pPr>
      <a:lvl8pPr marL="13716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8pPr>
      <a:lvl9pPr marL="18288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9pPr>
    </p:titleStyle>
    <p:body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ea typeface="Arial" charset="0"/>
          <a:cs typeface="+mn-cs"/>
        </a:defRPr>
      </a:lvl2pPr>
      <a:lvl3pPr marL="1143000" indent="-228600" algn="l" rtl="0" eaLnBrk="1" fontAlgn="base" hangingPunct="1">
        <a:spcBef>
          <a:spcPct val="20000"/>
        </a:spcBef>
        <a:spcAft>
          <a:spcPct val="0"/>
        </a:spcAft>
        <a:buChar char="•"/>
        <a:defRPr sz="1400">
          <a:solidFill>
            <a:schemeClr val="tx1"/>
          </a:solidFill>
          <a:latin typeface="+mn-lt"/>
          <a:ea typeface="Arial" charset="0"/>
          <a:cs typeface="+mn-cs"/>
        </a:defRPr>
      </a:lvl3pPr>
      <a:lvl4pPr marL="1600200" indent="-228600" algn="l" rtl="0" eaLnBrk="1" fontAlgn="base" hangingPunct="1">
        <a:spcBef>
          <a:spcPct val="20000"/>
        </a:spcBef>
        <a:spcAft>
          <a:spcPct val="0"/>
        </a:spcAft>
        <a:buChar char="–"/>
        <a:defRPr sz="1400">
          <a:solidFill>
            <a:schemeClr val="tx1"/>
          </a:solidFill>
          <a:latin typeface="+mn-lt"/>
          <a:ea typeface="Arial" charset="0"/>
          <a:cs typeface="+mn-cs"/>
        </a:defRPr>
      </a:lvl4pPr>
      <a:lvl5pPr marL="2057400" indent="-228600" algn="l" rtl="0" eaLnBrk="1" fontAlgn="base" hangingPunct="1">
        <a:spcBef>
          <a:spcPct val="20000"/>
        </a:spcBef>
        <a:spcAft>
          <a:spcPct val="0"/>
        </a:spcAft>
        <a:buChar char="»"/>
        <a:defRPr sz="1400">
          <a:solidFill>
            <a:schemeClr val="tx1"/>
          </a:solidFill>
          <a:latin typeface="+mn-lt"/>
          <a:ea typeface="Arial" charset="0"/>
          <a:cs typeface="+mn-cs"/>
        </a:defRPr>
      </a:lvl5pPr>
      <a:lvl6pPr marL="2514600" indent="-228600" algn="l" rtl="0" eaLnBrk="1" fontAlgn="base" hangingPunct="1">
        <a:spcBef>
          <a:spcPct val="20000"/>
        </a:spcBef>
        <a:spcAft>
          <a:spcPct val="0"/>
        </a:spcAft>
        <a:buChar char="»"/>
        <a:defRPr sz="1400">
          <a:solidFill>
            <a:schemeClr val="tx1"/>
          </a:solidFill>
          <a:latin typeface="+mn-lt"/>
          <a:ea typeface="Arial" charset="0"/>
          <a:cs typeface="+mn-cs"/>
        </a:defRPr>
      </a:lvl6pPr>
      <a:lvl7pPr marL="2971800" indent="-228600" algn="l" rtl="0" eaLnBrk="1" fontAlgn="base" hangingPunct="1">
        <a:spcBef>
          <a:spcPct val="20000"/>
        </a:spcBef>
        <a:spcAft>
          <a:spcPct val="0"/>
        </a:spcAft>
        <a:buChar char="»"/>
        <a:defRPr sz="1400">
          <a:solidFill>
            <a:schemeClr val="tx1"/>
          </a:solidFill>
          <a:latin typeface="+mn-lt"/>
          <a:ea typeface="Arial" charset="0"/>
          <a:cs typeface="+mn-cs"/>
        </a:defRPr>
      </a:lvl7pPr>
      <a:lvl8pPr marL="3429000" indent="-228600" algn="l" rtl="0" eaLnBrk="1" fontAlgn="base" hangingPunct="1">
        <a:spcBef>
          <a:spcPct val="20000"/>
        </a:spcBef>
        <a:spcAft>
          <a:spcPct val="0"/>
        </a:spcAft>
        <a:buChar char="»"/>
        <a:defRPr sz="1400">
          <a:solidFill>
            <a:schemeClr val="tx1"/>
          </a:solidFill>
          <a:latin typeface="+mn-lt"/>
          <a:ea typeface="Arial" charset="0"/>
          <a:cs typeface="+mn-cs"/>
        </a:defRPr>
      </a:lvl8pPr>
      <a:lvl9pPr marL="3886200" indent="-228600" algn="l" rtl="0" eaLnBrk="1" fontAlgn="base" hangingPunct="1">
        <a:spcBef>
          <a:spcPct val="20000"/>
        </a:spcBef>
        <a:spcAft>
          <a:spcPct val="0"/>
        </a:spcAft>
        <a:buChar char="»"/>
        <a:defRPr sz="1400">
          <a:solidFill>
            <a:schemeClr val="tx1"/>
          </a:solidFill>
          <a:latin typeface="+mn-lt"/>
          <a:ea typeface="Arial" charset="0"/>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6.jpg"/></Relationships>
</file>

<file path=ppt/slides/_rels/slide2.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2.xml"/><Relationship Id="rId7"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8.wmf"/><Relationship Id="rId5" Type="http://schemas.openxmlformats.org/officeDocument/2006/relationships/image" Target="../media/image7.emf"/><Relationship Id="rId4" Type="http://schemas.openxmlformats.org/officeDocument/2006/relationships/oleObject" Target="../embeddings/oleObject1.bin"/><Relationship Id="rId9" Type="http://schemas.openxmlformats.org/officeDocument/2006/relationships/image" Target="../media/image11.wmf"/></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notesSlide" Target="../notesSlides/notesSlide3.xml"/><Relationship Id="rId7" Type="http://schemas.openxmlformats.org/officeDocument/2006/relationships/image" Target="../media/image13.emf"/><Relationship Id="rId2" Type="http://schemas.openxmlformats.org/officeDocument/2006/relationships/slideLayout" Target="../slideLayouts/slideLayout6.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12.emf"/><Relationship Id="rId4" Type="http://schemas.openxmlformats.org/officeDocument/2006/relationships/oleObject" Target="../embeddings/oleObject2.bin"/><Relationship Id="rId9" Type="http://schemas.openxmlformats.org/officeDocument/2006/relationships/image" Target="../media/image7.emf"/></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7" Type="http://schemas.openxmlformats.org/officeDocument/2006/relationships/image" Target="../media/image15.emf"/><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6.bin"/><Relationship Id="rId5" Type="http://schemas.openxmlformats.org/officeDocument/2006/relationships/image" Target="../media/image14.emf"/><Relationship Id="rId4" Type="http://schemas.openxmlformats.org/officeDocument/2006/relationships/oleObject" Target="../embeddings/oleObject5.bin"/></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emf"/><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e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6.jpeg"/><Relationship Id="rId5" Type="http://schemas.openxmlformats.org/officeDocument/2006/relationships/image" Target="../media/image25.png"/><Relationship Id="rId4" Type="http://schemas.openxmlformats.org/officeDocument/2006/relationships/image" Target="../media/image24.wmf"/></Relationships>
</file>

<file path=ppt/slides/_rels/slide16.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1981200"/>
            <a:ext cx="7848600" cy="993775"/>
          </a:xfrm>
        </p:spPr>
        <p:txBody>
          <a:bodyPr/>
          <a:lstStyle/>
          <a:p>
            <a:r>
              <a:rPr lang="en-US" dirty="0" smtClean="0"/>
              <a:t>Architectural Modeling and Analysis for Safety Engineering (AMASE)</a:t>
            </a:r>
            <a:endParaRPr lang="en-US" dirty="0"/>
          </a:p>
        </p:txBody>
      </p:sp>
      <p:sp>
        <p:nvSpPr>
          <p:cNvPr id="3" name="Subtitle 2"/>
          <p:cNvSpPr>
            <a:spLocks noGrp="1"/>
          </p:cNvSpPr>
          <p:nvPr>
            <p:ph type="subTitle" idx="1"/>
          </p:nvPr>
        </p:nvSpPr>
        <p:spPr>
          <a:xfrm>
            <a:off x="762000" y="4267200"/>
            <a:ext cx="3962400" cy="1066800"/>
          </a:xfrm>
        </p:spPr>
        <p:txBody>
          <a:bodyPr/>
          <a:lstStyle/>
          <a:p>
            <a:r>
              <a:rPr lang="en-US" sz="1600" dirty="0" smtClean="0"/>
              <a:t>Danielle Stewart</a:t>
            </a:r>
          </a:p>
          <a:p>
            <a:r>
              <a:rPr lang="en-US" sz="1600" dirty="0" smtClean="0"/>
              <a:t>Oral Preliminary Exam</a:t>
            </a:r>
          </a:p>
          <a:p>
            <a:r>
              <a:rPr lang="en-US" sz="1600" dirty="0" smtClean="0"/>
              <a:t>September 2018</a:t>
            </a:r>
            <a:endParaRPr lang="en-US" sz="1600" dirty="0"/>
          </a:p>
        </p:txBody>
      </p:sp>
      <p:sp>
        <p:nvSpPr>
          <p:cNvPr id="6" name="Subtitle 2"/>
          <p:cNvSpPr txBox="1">
            <a:spLocks/>
          </p:cNvSpPr>
          <p:nvPr/>
        </p:nvSpPr>
        <p:spPr bwMode="auto">
          <a:xfrm>
            <a:off x="762000" y="3203575"/>
            <a:ext cx="76200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0" indent="0" algn="l" rtl="0" eaLnBrk="1" fontAlgn="base" hangingPunct="1">
              <a:spcBef>
                <a:spcPct val="20000"/>
              </a:spcBef>
              <a:spcAft>
                <a:spcPct val="0"/>
              </a:spcAft>
              <a:buFontTx/>
              <a:buNone/>
              <a:defRPr sz="2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pPr marL="0" lvl="1" indent="0">
              <a:buNone/>
            </a:pPr>
            <a:r>
              <a:rPr lang="en-US" dirty="0" smtClean="0"/>
              <a:t>Model-based </a:t>
            </a:r>
            <a:r>
              <a:rPr lang="en-US" dirty="0"/>
              <a:t>safety analysis of </a:t>
            </a:r>
            <a:r>
              <a:rPr lang="en-US" dirty="0" smtClean="0"/>
              <a:t>critical </a:t>
            </a:r>
            <a:r>
              <a:rPr lang="en-US" dirty="0"/>
              <a:t>systems</a:t>
            </a:r>
          </a:p>
          <a:p>
            <a:endParaRPr lang="en-US" sz="1800" b="1" dirty="0"/>
          </a:p>
        </p:txBody>
      </p:sp>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07979" y="5559425"/>
            <a:ext cx="2016421" cy="1298575"/>
          </a:xfrm>
          <a:prstGeom prst="rect">
            <a:avLst/>
          </a:prstGeom>
        </p:spPr>
      </p:pic>
    </p:spTree>
  </p:cSld>
  <p:clrMapOvr>
    <a:overrideClrMapping bg1="lt1" tx1="dk1" bg2="lt2" tx2="dk2" accent1="accent1" accent2="accent2" accent3="accent3" accent4="accent4" accent5="accent5" accent6="accent6" hlink="hlink" folHlink="folHlink"/>
  </p:clrMapOvr>
  <p:transition>
    <p:wipe dir="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9" name="Rectangle 3"/>
          <p:cNvSpPr>
            <a:spLocks noGrp="1" noChangeArrowheads="1"/>
          </p:cNvSpPr>
          <p:nvPr>
            <p:ph type="title"/>
          </p:nvPr>
        </p:nvSpPr>
        <p:spPr/>
        <p:txBody>
          <a:bodyPr/>
          <a:lstStyle/>
          <a:p>
            <a:r>
              <a:rPr lang="en-US" altLang="en-US" dirty="0"/>
              <a:t>Motivation</a:t>
            </a:r>
          </a:p>
        </p:txBody>
      </p:sp>
      <p:grpSp>
        <p:nvGrpSpPr>
          <p:cNvPr id="3" name="Group 32"/>
          <p:cNvGrpSpPr>
            <a:grpSpLocks/>
          </p:cNvGrpSpPr>
          <p:nvPr/>
        </p:nvGrpSpPr>
        <p:grpSpPr bwMode="auto">
          <a:xfrm>
            <a:off x="207963" y="3733800"/>
            <a:ext cx="2840037" cy="2428875"/>
            <a:chOff x="131" y="2352"/>
            <a:chExt cx="1789" cy="1530"/>
          </a:xfrm>
        </p:grpSpPr>
        <p:graphicFrame>
          <p:nvGraphicFramePr>
            <p:cNvPr id="86018" name="Object 2"/>
            <p:cNvGraphicFramePr>
              <a:graphicFrameLocks noChangeAspect="1"/>
            </p:cNvGraphicFramePr>
            <p:nvPr/>
          </p:nvGraphicFramePr>
          <p:xfrm>
            <a:off x="131" y="2496"/>
            <a:ext cx="1789" cy="1386"/>
          </p:xfrm>
          <a:graphic>
            <a:graphicData uri="http://schemas.openxmlformats.org/presentationml/2006/ole">
              <mc:AlternateContent xmlns:mc="http://schemas.openxmlformats.org/markup-compatibility/2006">
                <mc:Choice xmlns:v="urn:schemas-microsoft-com:vml" Requires="v">
                  <p:oleObj spid="_x0000_s5176" name="Visio" r:id="rId4" imgW="7073900" imgH="5549900" progId="">
                    <p:embed/>
                  </p:oleObj>
                </mc:Choice>
                <mc:Fallback>
                  <p:oleObj name="Visio" r:id="rId4" imgW="7073900" imgH="5549900" progId="">
                    <p:embed/>
                    <p:pic>
                      <p:nvPicPr>
                        <p:cNvPr id="86018"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1" y="2496"/>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6029" name="Line 13"/>
            <p:cNvSpPr>
              <a:spLocks noChangeShapeType="1"/>
            </p:cNvSpPr>
            <p:nvPr/>
          </p:nvSpPr>
          <p:spPr bwMode="auto">
            <a:xfrm>
              <a:off x="720" y="2352"/>
              <a:ext cx="96" cy="33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4" name="Group 33"/>
          <p:cNvGrpSpPr>
            <a:grpSpLocks/>
          </p:cNvGrpSpPr>
          <p:nvPr/>
        </p:nvGrpSpPr>
        <p:grpSpPr bwMode="auto">
          <a:xfrm>
            <a:off x="7010400" y="3810000"/>
            <a:ext cx="1524000" cy="2438400"/>
            <a:chOff x="4416" y="2400"/>
            <a:chExt cx="890" cy="1536"/>
          </a:xfrm>
        </p:grpSpPr>
        <p:pic>
          <p:nvPicPr>
            <p:cNvPr id="86024" name="Picture 8"/>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416" y="2832"/>
              <a:ext cx="890" cy="1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6034" name="Line 18"/>
            <p:cNvSpPr>
              <a:spLocks noChangeShapeType="1"/>
            </p:cNvSpPr>
            <p:nvPr/>
          </p:nvSpPr>
          <p:spPr bwMode="auto">
            <a:xfrm flipH="1">
              <a:off x="4944" y="2400"/>
              <a:ext cx="144" cy="288"/>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5" name="Group 29"/>
          <p:cNvGrpSpPr>
            <a:grpSpLocks/>
          </p:cNvGrpSpPr>
          <p:nvPr/>
        </p:nvGrpSpPr>
        <p:grpSpPr bwMode="auto">
          <a:xfrm>
            <a:off x="2514600" y="1295400"/>
            <a:ext cx="4038600" cy="990600"/>
            <a:chOff x="1584" y="816"/>
            <a:chExt cx="2544" cy="624"/>
          </a:xfrm>
        </p:grpSpPr>
        <p:sp>
          <p:nvSpPr>
            <p:cNvPr id="86020" name="Document"/>
            <p:cNvSpPr>
              <a:spLocks noEditPoints="1" noChangeArrowheads="1"/>
            </p:cNvSpPr>
            <p:nvPr/>
          </p:nvSpPr>
          <p:spPr bwMode="auto">
            <a:xfrm>
              <a:off x="1584" y="816"/>
              <a:ext cx="338" cy="554"/>
            </a:xfrm>
            <a:custGeom>
              <a:avLst/>
              <a:gdLst>
                <a:gd name="T0" fmla="*/ 10757 w 21600"/>
                <a:gd name="T1" fmla="*/ 21632 h 21600"/>
                <a:gd name="T2" fmla="*/ 85 w 21600"/>
                <a:gd name="T3" fmla="*/ 10849 h 21600"/>
                <a:gd name="T4" fmla="*/ 10757 w 21600"/>
                <a:gd name="T5" fmla="*/ 81 h 21600"/>
                <a:gd name="T6" fmla="*/ 21706 w 21600"/>
                <a:gd name="T7" fmla="*/ 10652 h 21600"/>
                <a:gd name="T8" fmla="*/ 10757 w 21600"/>
                <a:gd name="T9" fmla="*/ 21632 h 21600"/>
                <a:gd name="T10" fmla="*/ 0 w 21600"/>
                <a:gd name="T11" fmla="*/ 0 h 21600"/>
                <a:gd name="T12" fmla="*/ 21600 w 21600"/>
                <a:gd name="T13" fmla="*/ 0 h 21600"/>
                <a:gd name="T14" fmla="*/ 21600 w 21600"/>
                <a:gd name="T15" fmla="*/ 21600 h 21600"/>
                <a:gd name="T16" fmla="*/ 977 w 21600"/>
                <a:gd name="T17" fmla="*/ 818 h 21600"/>
                <a:gd name="T18" fmla="*/ 20622 w 21600"/>
                <a:gd name="T19" fmla="*/ 16429 h 21600"/>
              </a:gdLst>
              <a:ahLst/>
              <a:cxnLst>
                <a:cxn ang="0">
                  <a:pos x="T0" y="T1"/>
                </a:cxn>
                <a:cxn ang="0">
                  <a:pos x="T2" y="T3"/>
                </a:cxn>
                <a:cxn ang="0">
                  <a:pos x="T4" y="T5"/>
                </a:cxn>
                <a:cxn ang="0">
                  <a:pos x="T6" y="T7"/>
                </a:cxn>
                <a:cxn ang="0">
                  <a:pos x="T8" y="T9"/>
                </a:cxn>
                <a:cxn ang="0">
                  <a:pos x="T10" y="T11"/>
                </a:cxn>
                <a:cxn ang="0">
                  <a:pos x="T12" y="T13"/>
                </a:cxn>
                <a:cxn ang="0">
                  <a:pos x="T14" y="T15"/>
                </a:cxn>
              </a:cxnLst>
              <a:rect l="T16" t="T17" r="T18" b="T19"/>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pic>
          <p:nvPicPr>
            <p:cNvPr id="86021" name="Picture 5"/>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64" y="816"/>
              <a:ext cx="450" cy="564"/>
            </a:xfrm>
            <a:prstGeom prst="rect">
              <a:avLst/>
            </a:prstGeom>
            <a:noFill/>
            <a:ln>
              <a:noFill/>
            </a:ln>
            <a:effectLst/>
            <a:extLst>
              <a:ext uri="{909E8E84-426E-40DD-AFC4-6F175D3DCCD1}">
                <a14:hiddenFill xmlns:a14="http://schemas.microsoft.com/office/drawing/2010/main">
                  <a:solidFill>
                    <a:schemeClr val="tx2"/>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022" name="Documents"/>
            <p:cNvSpPr>
              <a:spLocks noEditPoints="1" noChangeArrowheads="1"/>
            </p:cNvSpPr>
            <p:nvPr/>
          </p:nvSpPr>
          <p:spPr bwMode="auto">
            <a:xfrm>
              <a:off x="3696" y="816"/>
              <a:ext cx="432" cy="624"/>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sp>
          <p:nvSpPr>
            <p:cNvPr id="86035" name="Text Box 19"/>
            <p:cNvSpPr txBox="1">
              <a:spLocks noChangeArrowheads="1"/>
            </p:cNvSpPr>
            <p:nvPr/>
          </p:nvSpPr>
          <p:spPr bwMode="auto">
            <a:xfrm>
              <a:off x="2544" y="912"/>
              <a:ext cx="1127" cy="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spcBef>
                  <a:spcPct val="20000"/>
                </a:spcBef>
                <a:buClr>
                  <a:srgbClr val="FFD300"/>
                </a:buClr>
                <a:buSzPct val="59000"/>
                <a:buFont typeface="Monotype Sorts" pitchFamily="2" charset="2"/>
                <a:buNone/>
              </a:pPr>
              <a:r>
                <a:rPr lang="en-US" altLang="en-US" sz="1400" b="1" dirty="0"/>
                <a:t>Requirements and </a:t>
              </a:r>
            </a:p>
            <a:p>
              <a:pPr algn="ctr" eaLnBrk="0" hangingPunct="0">
                <a:spcBef>
                  <a:spcPct val="20000"/>
                </a:spcBef>
                <a:buClr>
                  <a:srgbClr val="FFD300"/>
                </a:buClr>
                <a:buSzPct val="59000"/>
                <a:buFont typeface="Monotype Sorts" pitchFamily="2" charset="2"/>
                <a:buNone/>
              </a:pPr>
              <a:r>
                <a:rPr lang="en-US" altLang="en-US" sz="1400" b="1" dirty="0"/>
                <a:t>Design Documents</a:t>
              </a:r>
            </a:p>
          </p:txBody>
        </p:sp>
      </p:grpSp>
      <p:grpSp>
        <p:nvGrpSpPr>
          <p:cNvPr id="6" name="Group 34"/>
          <p:cNvGrpSpPr>
            <a:grpSpLocks/>
          </p:cNvGrpSpPr>
          <p:nvPr/>
        </p:nvGrpSpPr>
        <p:grpSpPr bwMode="auto">
          <a:xfrm>
            <a:off x="2667000" y="4622800"/>
            <a:ext cx="4114800" cy="1854200"/>
            <a:chOff x="1680" y="2912"/>
            <a:chExt cx="2592" cy="1168"/>
          </a:xfrm>
        </p:grpSpPr>
        <p:pic>
          <p:nvPicPr>
            <p:cNvPr id="86023" name="Picture 7" descr="MCj02309870000[1]"/>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208" y="2912"/>
              <a:ext cx="1584" cy="1168"/>
            </a:xfrm>
            <a:prstGeom prst="rect">
              <a:avLst/>
            </a:prstGeom>
            <a:noFill/>
            <a:extLst>
              <a:ext uri="{909E8E84-426E-40DD-AFC4-6F175D3DCCD1}">
                <a14:hiddenFill xmlns:a14="http://schemas.microsoft.com/office/drawing/2010/main">
                  <a:solidFill>
                    <a:srgbClr val="FFFFFF"/>
                  </a:solidFill>
                </a14:hiddenFill>
              </a:ext>
            </a:extLst>
          </p:spPr>
        </p:pic>
        <p:sp>
          <p:nvSpPr>
            <p:cNvPr id="86037" name="Line 21"/>
            <p:cNvSpPr>
              <a:spLocks noChangeShapeType="1"/>
            </p:cNvSpPr>
            <p:nvPr/>
          </p:nvSpPr>
          <p:spPr bwMode="auto">
            <a:xfrm rot="-10800000" flipH="1" flipV="1">
              <a:off x="1680" y="3312"/>
              <a:ext cx="480" cy="9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8" name="Line 22"/>
            <p:cNvSpPr>
              <a:spLocks noChangeShapeType="1"/>
            </p:cNvSpPr>
            <p:nvPr/>
          </p:nvSpPr>
          <p:spPr bwMode="auto">
            <a:xfrm rot="10800000" flipV="1">
              <a:off x="3840" y="3360"/>
              <a:ext cx="432" cy="9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7" name="Group 30"/>
          <p:cNvGrpSpPr>
            <a:grpSpLocks/>
          </p:cNvGrpSpPr>
          <p:nvPr/>
        </p:nvGrpSpPr>
        <p:grpSpPr bwMode="auto">
          <a:xfrm>
            <a:off x="228600" y="1735138"/>
            <a:ext cx="5638800" cy="1971675"/>
            <a:chOff x="144" y="1093"/>
            <a:chExt cx="3552" cy="1242"/>
          </a:xfrm>
        </p:grpSpPr>
        <p:pic>
          <p:nvPicPr>
            <p:cNvPr id="86025" name="Picture 9"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92"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26" name="Line 10"/>
            <p:cNvSpPr>
              <a:spLocks noChangeShapeType="1"/>
            </p:cNvSpPr>
            <p:nvPr/>
          </p:nvSpPr>
          <p:spPr bwMode="auto">
            <a:xfrm flipH="1">
              <a:off x="1008" y="1392"/>
              <a:ext cx="576" cy="28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7" name="Line 11"/>
            <p:cNvSpPr>
              <a:spLocks noChangeShapeType="1"/>
            </p:cNvSpPr>
            <p:nvPr/>
          </p:nvSpPr>
          <p:spPr bwMode="auto">
            <a:xfrm flipH="1">
              <a:off x="1152" y="1392"/>
              <a:ext cx="1104" cy="43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8" name="Line 12"/>
            <p:cNvSpPr>
              <a:spLocks noChangeShapeType="1"/>
            </p:cNvSpPr>
            <p:nvPr/>
          </p:nvSpPr>
          <p:spPr bwMode="auto">
            <a:xfrm flipH="1">
              <a:off x="1152" y="1440"/>
              <a:ext cx="2544" cy="52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1" name="Text Box 25"/>
            <p:cNvSpPr txBox="1">
              <a:spLocks noChangeArrowheads="1"/>
            </p:cNvSpPr>
            <p:nvPr/>
          </p:nvSpPr>
          <p:spPr bwMode="auto">
            <a:xfrm>
              <a:off x="14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A</a:t>
              </a:r>
            </a:p>
          </p:txBody>
        </p:sp>
      </p:grpSp>
      <p:grpSp>
        <p:nvGrpSpPr>
          <p:cNvPr id="8" name="Group 31"/>
          <p:cNvGrpSpPr>
            <a:grpSpLocks/>
          </p:cNvGrpSpPr>
          <p:nvPr/>
        </p:nvGrpSpPr>
        <p:grpSpPr bwMode="auto">
          <a:xfrm>
            <a:off x="2895600" y="1735138"/>
            <a:ext cx="5905500" cy="1971675"/>
            <a:chOff x="1824" y="1093"/>
            <a:chExt cx="3720" cy="1242"/>
          </a:xfrm>
        </p:grpSpPr>
        <p:sp>
          <p:nvSpPr>
            <p:cNvPr id="86031" name="Line 15"/>
            <p:cNvSpPr>
              <a:spLocks noChangeShapeType="1"/>
            </p:cNvSpPr>
            <p:nvPr/>
          </p:nvSpPr>
          <p:spPr bwMode="auto">
            <a:xfrm>
              <a:off x="1824" y="1488"/>
              <a:ext cx="2688"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3" name="Line 17"/>
            <p:cNvSpPr>
              <a:spLocks noChangeShapeType="1"/>
            </p:cNvSpPr>
            <p:nvPr/>
          </p:nvSpPr>
          <p:spPr bwMode="auto">
            <a:xfrm>
              <a:off x="2544" y="1344"/>
              <a:ext cx="2064"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pic>
          <p:nvPicPr>
            <p:cNvPr id="86030" name="Picture 14"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08"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32" name="Line 16"/>
            <p:cNvSpPr>
              <a:spLocks noChangeShapeType="1"/>
            </p:cNvSpPr>
            <p:nvPr/>
          </p:nvSpPr>
          <p:spPr bwMode="auto">
            <a:xfrm>
              <a:off x="4224" y="1488"/>
              <a:ext cx="336" cy="192"/>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2" name="Text Box 26"/>
            <p:cNvSpPr txBox="1">
              <a:spLocks noChangeArrowheads="1"/>
            </p:cNvSpPr>
            <p:nvPr/>
          </p:nvSpPr>
          <p:spPr bwMode="auto">
            <a:xfrm>
              <a:off x="470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B</a:t>
              </a:r>
            </a:p>
          </p:txBody>
        </p:sp>
      </p:grpSp>
      <p:grpSp>
        <p:nvGrpSpPr>
          <p:cNvPr id="9" name="Group 36"/>
          <p:cNvGrpSpPr>
            <a:grpSpLocks/>
          </p:cNvGrpSpPr>
          <p:nvPr/>
        </p:nvGrpSpPr>
        <p:grpSpPr bwMode="auto">
          <a:xfrm>
            <a:off x="2093912" y="3276600"/>
            <a:ext cx="5526088" cy="1101725"/>
            <a:chOff x="1552" y="2074"/>
            <a:chExt cx="3481" cy="694"/>
          </a:xfrm>
        </p:grpSpPr>
        <p:sp>
          <p:nvSpPr>
            <p:cNvPr id="86040" name="Text Box 24"/>
            <p:cNvSpPr txBox="1">
              <a:spLocks noChangeArrowheads="1"/>
            </p:cNvSpPr>
            <p:nvPr/>
          </p:nvSpPr>
          <p:spPr bwMode="auto">
            <a:xfrm>
              <a:off x="1552" y="2074"/>
              <a:ext cx="2086"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System Safety Analysis is</a:t>
              </a:r>
            </a:p>
          </p:txBody>
        </p:sp>
        <p:sp>
          <p:nvSpPr>
            <p:cNvPr id="86043" name="Text Box 27"/>
            <p:cNvSpPr txBox="1">
              <a:spLocks noChangeArrowheads="1"/>
            </p:cNvSpPr>
            <p:nvPr/>
          </p:nvSpPr>
          <p:spPr bwMode="auto">
            <a:xfrm>
              <a:off x="1696" y="2305"/>
              <a:ext cx="2773"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Based on Informal Specifications</a:t>
              </a:r>
            </a:p>
          </p:txBody>
        </p:sp>
        <p:sp>
          <p:nvSpPr>
            <p:cNvPr id="86044" name="Text Box 28"/>
            <p:cNvSpPr txBox="1">
              <a:spLocks noChangeArrowheads="1"/>
            </p:cNvSpPr>
            <p:nvPr/>
          </p:nvSpPr>
          <p:spPr bwMode="auto">
            <a:xfrm>
              <a:off x="1696" y="2545"/>
              <a:ext cx="3337"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Highly Dependent on Skill of the Analyst</a:t>
              </a:r>
            </a:p>
          </p:txBody>
        </p:sp>
      </p:grpSp>
    </p:spTree>
    <p:extLst>
      <p:ext uri="{BB962C8B-B14F-4D97-AF65-F5344CB8AC3E}">
        <p14:creationId xmlns:p14="http://schemas.microsoft.com/office/powerpoint/2010/main" val="273928453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500" name="Rectangle 4"/>
          <p:cNvSpPr>
            <a:spLocks noGrp="1" noChangeArrowheads="1"/>
          </p:cNvSpPr>
          <p:nvPr>
            <p:ph type="title"/>
          </p:nvPr>
        </p:nvSpPr>
        <p:spPr/>
        <p:txBody>
          <a:bodyPr/>
          <a:lstStyle/>
          <a:p>
            <a:r>
              <a:rPr lang="en-US" altLang="en-US" dirty="0"/>
              <a:t>Model-Based Development</a:t>
            </a:r>
          </a:p>
        </p:txBody>
      </p:sp>
      <p:grpSp>
        <p:nvGrpSpPr>
          <p:cNvPr id="3" name="Group 14"/>
          <p:cNvGrpSpPr>
            <a:grpSpLocks/>
          </p:cNvGrpSpPr>
          <p:nvPr/>
        </p:nvGrpSpPr>
        <p:grpSpPr bwMode="auto">
          <a:xfrm>
            <a:off x="609600" y="1600200"/>
            <a:ext cx="4800600" cy="4724400"/>
            <a:chOff x="384" y="1008"/>
            <a:chExt cx="3024" cy="2976"/>
          </a:xfrm>
        </p:grpSpPr>
        <p:grpSp>
          <p:nvGrpSpPr>
            <p:cNvPr id="4" name="Group 5"/>
            <p:cNvGrpSpPr>
              <a:grpSpLocks/>
            </p:cNvGrpSpPr>
            <p:nvPr/>
          </p:nvGrpSpPr>
          <p:grpSpPr bwMode="auto">
            <a:xfrm>
              <a:off x="384" y="1008"/>
              <a:ext cx="3024" cy="2232"/>
              <a:chOff x="3120" y="960"/>
              <a:chExt cx="2476" cy="1752"/>
            </a:xfrm>
          </p:grpSpPr>
          <p:graphicFrame>
            <p:nvGraphicFramePr>
              <p:cNvPr id="234502" name="Object 6"/>
              <p:cNvGraphicFramePr>
                <a:graphicFrameLocks noChangeAspect="1"/>
              </p:cNvGraphicFramePr>
              <p:nvPr/>
            </p:nvGraphicFramePr>
            <p:xfrm>
              <a:off x="3120" y="960"/>
              <a:ext cx="2476" cy="1752"/>
            </p:xfrm>
            <a:graphic>
              <a:graphicData uri="http://schemas.openxmlformats.org/presentationml/2006/ole">
                <mc:AlternateContent xmlns:mc="http://schemas.openxmlformats.org/markup-compatibility/2006">
                  <mc:Choice xmlns:v="urn:schemas-microsoft-com:vml" Requires="v">
                    <p:oleObj spid="_x0000_s3299" name="VISIO" r:id="rId4" imgW="3937000" imgH="2781300" progId="">
                      <p:embed/>
                    </p:oleObj>
                  </mc:Choice>
                  <mc:Fallback>
                    <p:oleObj name="VISIO" r:id="rId4" imgW="3937000" imgH="27813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0" y="960"/>
                            <a:ext cx="2476" cy="1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34503" name="Object 7" descr="c2sdocs"/>
              <p:cNvGraphicFramePr>
                <a:graphicFrameLocks noChangeAspect="1"/>
              </p:cNvGraphicFramePr>
              <p:nvPr/>
            </p:nvGraphicFramePr>
            <p:xfrm>
              <a:off x="3967" y="1392"/>
              <a:ext cx="737" cy="756"/>
            </p:xfrm>
            <a:graphic>
              <a:graphicData uri="http://schemas.openxmlformats.org/presentationml/2006/ole">
                <mc:AlternateContent xmlns:mc="http://schemas.openxmlformats.org/markup-compatibility/2006">
                  <mc:Choice xmlns:v="urn:schemas-microsoft-com:vml" Requires="v">
                    <p:oleObj spid="_x0000_s3300" name="VISIO" r:id="rId6" imgW="2336800" imgH="2108200" progId="">
                      <p:embed/>
                    </p:oleObj>
                  </mc:Choice>
                  <mc:Fallback>
                    <p:oleObj name="VISIO" r:id="rId6" imgW="2336800" imgH="21082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l="11728" t="8691" r="11728" b="4346"/>
                          <a:stretch>
                            <a:fillRect/>
                          </a:stretch>
                        </p:blipFill>
                        <p:spPr bwMode="auto">
                          <a:xfrm>
                            <a:off x="3967" y="1392"/>
                            <a:ext cx="737" cy="75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34508" name="Text Box 12"/>
            <p:cNvSpPr txBox="1">
              <a:spLocks noChangeArrowheads="1"/>
            </p:cNvSpPr>
            <p:nvPr/>
          </p:nvSpPr>
          <p:spPr bwMode="auto">
            <a:xfrm>
              <a:off x="924" y="3344"/>
              <a:ext cx="1901" cy="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We Base the Entire </a:t>
              </a:r>
            </a:p>
            <a:p>
              <a:pPr algn="ctr"/>
              <a:r>
                <a:rPr lang="en-US" altLang="en-US" sz="2000" b="1" dirty="0">
                  <a:solidFill>
                    <a:schemeClr val="tx2"/>
                  </a:solidFill>
                  <a:latin typeface="+mn-lt"/>
                </a:rPr>
                <a:t>Development Cycle</a:t>
              </a:r>
            </a:p>
            <a:p>
              <a:pPr algn="ctr"/>
              <a:r>
                <a:rPr lang="en-US" altLang="en-US" sz="2000" b="1" dirty="0">
                  <a:solidFill>
                    <a:schemeClr val="tx2"/>
                  </a:solidFill>
                  <a:latin typeface="+mn-lt"/>
                </a:rPr>
                <a:t>Around the Model</a:t>
              </a:r>
            </a:p>
          </p:txBody>
        </p:sp>
      </p:grpSp>
      <p:grpSp>
        <p:nvGrpSpPr>
          <p:cNvPr id="5" name="Group 15"/>
          <p:cNvGrpSpPr>
            <a:grpSpLocks/>
          </p:cNvGrpSpPr>
          <p:nvPr/>
        </p:nvGrpSpPr>
        <p:grpSpPr bwMode="auto">
          <a:xfrm>
            <a:off x="5562601" y="2184400"/>
            <a:ext cx="3271838" cy="3140075"/>
            <a:chOff x="3504" y="1376"/>
            <a:chExt cx="2061" cy="1978"/>
          </a:xfrm>
        </p:grpSpPr>
        <p:graphicFrame>
          <p:nvGraphicFramePr>
            <p:cNvPr id="234505" name="Object 9"/>
            <p:cNvGraphicFramePr>
              <a:graphicFrameLocks noChangeAspect="1"/>
            </p:cNvGraphicFramePr>
            <p:nvPr/>
          </p:nvGraphicFramePr>
          <p:xfrm>
            <a:off x="3648" y="1968"/>
            <a:ext cx="1789" cy="1386"/>
          </p:xfrm>
          <a:graphic>
            <a:graphicData uri="http://schemas.openxmlformats.org/presentationml/2006/ole">
              <mc:AlternateContent xmlns:mc="http://schemas.openxmlformats.org/markup-compatibility/2006">
                <mc:Choice xmlns:v="urn:schemas-microsoft-com:vml" Requires="v">
                  <p:oleObj spid="_x0000_s3301" name="Visio" r:id="rId8" imgW="7073900" imgH="5549900" progId="">
                    <p:embed/>
                  </p:oleObj>
                </mc:Choice>
                <mc:Fallback>
                  <p:oleObj name="Visio" r:id="rId8" imgW="7073900" imgH="5549900" progId="">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648" y="1968"/>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34507" name="AutoShape 11"/>
            <p:cNvSpPr>
              <a:spLocks noChangeArrowheads="1"/>
            </p:cNvSpPr>
            <p:nvPr/>
          </p:nvSpPr>
          <p:spPr bwMode="auto">
            <a:xfrm rot="1303765">
              <a:off x="3504" y="2160"/>
              <a:ext cx="432" cy="288"/>
            </a:xfrm>
            <a:prstGeom prst="rightArrow">
              <a:avLst>
                <a:gd name="adj1" fmla="val 50000"/>
                <a:gd name="adj2" fmla="val 37500"/>
              </a:avLst>
            </a:prstGeom>
            <a:solidFill>
              <a:schemeClr val="tx2"/>
            </a:solidFill>
            <a:ln w="17526" algn="ctr">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234509" name="Text Box 13"/>
            <p:cNvSpPr txBox="1">
              <a:spLocks noChangeArrowheads="1"/>
            </p:cNvSpPr>
            <p:nvPr/>
          </p:nvSpPr>
          <p:spPr bwMode="auto">
            <a:xfrm>
              <a:off x="3959" y="1376"/>
              <a:ext cx="1606"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Why Not the</a:t>
              </a:r>
            </a:p>
            <a:p>
              <a:pPr algn="ctr"/>
              <a:r>
                <a:rPr lang="en-US" altLang="en-US" sz="2000" b="1" dirty="0">
                  <a:solidFill>
                    <a:schemeClr val="tx2"/>
                  </a:solidFill>
                  <a:latin typeface="+mn-lt"/>
                </a:rPr>
                <a:t>Safety Analysis?</a:t>
              </a:r>
            </a:p>
          </p:txBody>
        </p:sp>
      </p:grpSp>
    </p:spTree>
    <p:extLst>
      <p:ext uri="{BB962C8B-B14F-4D97-AF65-F5344CB8AC3E}">
        <p14:creationId xmlns:p14="http://schemas.microsoft.com/office/powerpoint/2010/main" val="240215787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a:xfrm>
            <a:off x="15876" y="542926"/>
            <a:ext cx="7772400" cy="503237"/>
          </a:xfrm>
        </p:spPr>
        <p:txBody>
          <a:bodyPr/>
          <a:lstStyle/>
          <a:p>
            <a:r>
              <a:rPr lang="en-US" altLang="en-US" sz="2400" dirty="0"/>
              <a:t>Model-Based Safety Analysis</a:t>
            </a:r>
          </a:p>
        </p:txBody>
      </p:sp>
      <p:sp>
        <p:nvSpPr>
          <p:cNvPr id="154627" name="Rectangle 3"/>
          <p:cNvSpPr>
            <a:spLocks noGrp="1" noChangeArrowheads="1"/>
          </p:cNvSpPr>
          <p:nvPr>
            <p:ph type="body" idx="1"/>
          </p:nvPr>
        </p:nvSpPr>
        <p:spPr>
          <a:xfrm>
            <a:off x="254000" y="5130800"/>
            <a:ext cx="4559300" cy="374650"/>
          </a:xfrm>
        </p:spPr>
        <p:txBody>
          <a:bodyPr/>
          <a:lstStyle/>
          <a:p>
            <a:pPr>
              <a:lnSpc>
                <a:spcPct val="80000"/>
              </a:lnSpc>
              <a:buSzPct val="70000"/>
            </a:pPr>
            <a:r>
              <a:rPr lang="en-US" altLang="en-US" sz="1700" dirty="0"/>
              <a:t>Add Fault Model for Physical </a:t>
            </a:r>
            <a:r>
              <a:rPr lang="en-US" altLang="en-US" sz="1700" dirty="0" smtClean="0"/>
              <a:t>System</a:t>
            </a:r>
            <a:endParaRPr lang="en-US" altLang="en-US" sz="1700" dirty="0"/>
          </a:p>
        </p:txBody>
      </p:sp>
      <p:grpSp>
        <p:nvGrpSpPr>
          <p:cNvPr id="4" name="Group 4"/>
          <p:cNvGrpSpPr>
            <a:grpSpLocks/>
          </p:cNvGrpSpPr>
          <p:nvPr/>
        </p:nvGrpSpPr>
        <p:grpSpPr bwMode="auto">
          <a:xfrm>
            <a:off x="277813" y="2035175"/>
            <a:ext cx="1595437" cy="2438400"/>
            <a:chOff x="175" y="1282"/>
            <a:chExt cx="1005" cy="1536"/>
          </a:xfrm>
        </p:grpSpPr>
        <p:sp>
          <p:nvSpPr>
            <p:cNvPr id="154629"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30"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31"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2"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3"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4"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5"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54636"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54637"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54638"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54639"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0"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54641"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54642"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54643"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54644"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5"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54646"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47"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48"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54649"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0"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51"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52"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53"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54654"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5"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6"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7"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8"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9"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0"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1"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2"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3"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4"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5"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54666"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7"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8"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9"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0"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1"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2"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3"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4"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5"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6"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7"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5" name="Group 54"/>
          <p:cNvGrpSpPr>
            <a:grpSpLocks/>
          </p:cNvGrpSpPr>
          <p:nvPr/>
        </p:nvGrpSpPr>
        <p:grpSpPr bwMode="auto">
          <a:xfrm>
            <a:off x="1876425" y="1412875"/>
            <a:ext cx="2941638" cy="3205163"/>
            <a:chOff x="1176" y="890"/>
            <a:chExt cx="1853" cy="2019"/>
          </a:xfrm>
        </p:grpSpPr>
        <p:sp>
          <p:nvSpPr>
            <p:cNvPr id="154679" name="Rectangle 55"/>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0" name="Rectangle 56"/>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1" name="Line 57"/>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82" name="Freeform 58"/>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3" name="Freeform 59"/>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4" name="Rectangle 60"/>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5" name="Rectangle 61"/>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6" name="Freeform 62"/>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54687" name="Freeform 63"/>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8" name="Rectangle 64"/>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9" name="Rectangle 65"/>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0" name="Freeform 66"/>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54691" name="Freeform 67"/>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2" name="Rectangle 68"/>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3" name="Rectangle 69"/>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4" name="Freeform 70"/>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54695" name="Freeform 71"/>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6" name="Rectangle 72"/>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7" name="Rectangle 73"/>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8" name="Rectangle 74"/>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9" name="Rectangle 75"/>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0" name="Rectangle 76"/>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1" name="Rectangle 77"/>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2" name="Rectangle 78"/>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3" name="Rectangle 79"/>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4" name="Rectangle 80"/>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5" name="Rectangle 81"/>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6" name="Rectangle 82"/>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7" name="Rectangle 83"/>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8" name="Freeform 84"/>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9" name="Freeform 85"/>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10" name="Line 86"/>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1" name="Line 87"/>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2" name="Line 88"/>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3" name="Line 89"/>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4" name="Line 90"/>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5" name="Line 91"/>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6" name="Line 92"/>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7" name="Freeform 93"/>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8" name="Freeform 94"/>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9" name="Line 95"/>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0" name="Freeform 96"/>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54721" name="Freeform 97"/>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2" name="Rectangle 98"/>
            <p:cNvSpPr>
              <a:spLocks noChangeArrowheads="1"/>
            </p:cNvSpPr>
            <p:nvPr/>
          </p:nvSpPr>
          <p:spPr bwMode="auto">
            <a:xfrm>
              <a:off x="2741" y="2659"/>
              <a:ext cx="17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54723" name="Rectangle 99"/>
            <p:cNvSpPr>
              <a:spLocks noChangeArrowheads="1"/>
            </p:cNvSpPr>
            <p:nvPr/>
          </p:nvSpPr>
          <p:spPr bwMode="auto">
            <a:xfrm>
              <a:off x="2728" y="2736"/>
              <a:ext cx="18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54724" name="Line 100"/>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5" name="Line 101"/>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6" name="Rectangle 102"/>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27" name="Rectangle 103"/>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8" name="Freeform 104"/>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9" name="Line 105"/>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0" name="Freeform 106"/>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1" name="Line 107"/>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2" name="Freeform 108"/>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3" name="Line 109"/>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4" name="Freeform 110"/>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5" name="Rectangle 111"/>
            <p:cNvSpPr>
              <a:spLocks noChangeArrowheads="1"/>
            </p:cNvSpPr>
            <p:nvPr/>
          </p:nvSpPr>
          <p:spPr bwMode="auto">
            <a:xfrm>
              <a:off x="1473" y="2197"/>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36" name="Rectangle 112"/>
            <p:cNvSpPr>
              <a:spLocks noChangeArrowheads="1"/>
            </p:cNvSpPr>
            <p:nvPr/>
          </p:nvSpPr>
          <p:spPr bwMode="auto">
            <a:xfrm>
              <a:off x="1448" y="2274"/>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37" name="Rectangle 113"/>
            <p:cNvSpPr>
              <a:spLocks noChangeArrowheads="1"/>
            </p:cNvSpPr>
            <p:nvPr/>
          </p:nvSpPr>
          <p:spPr bwMode="auto">
            <a:xfrm>
              <a:off x="1455" y="2410"/>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54738" name="Rectangle 114"/>
            <p:cNvSpPr>
              <a:spLocks noChangeArrowheads="1"/>
            </p:cNvSpPr>
            <p:nvPr/>
          </p:nvSpPr>
          <p:spPr bwMode="auto">
            <a:xfrm>
              <a:off x="1689" y="2410"/>
              <a:ext cx="5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54739" name="Rectangle 115"/>
            <p:cNvSpPr>
              <a:spLocks noChangeArrowheads="1"/>
            </p:cNvSpPr>
            <p:nvPr/>
          </p:nvSpPr>
          <p:spPr bwMode="auto">
            <a:xfrm>
              <a:off x="1473" y="2488"/>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40" name="Rectangle 116"/>
            <p:cNvSpPr>
              <a:spLocks noChangeArrowheads="1"/>
            </p:cNvSpPr>
            <p:nvPr/>
          </p:nvSpPr>
          <p:spPr bwMode="auto">
            <a:xfrm>
              <a:off x="1448" y="2565"/>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41" name="Rectangle 117"/>
            <p:cNvSpPr>
              <a:spLocks noChangeArrowheads="1"/>
            </p:cNvSpPr>
            <p:nvPr/>
          </p:nvSpPr>
          <p:spPr bwMode="auto">
            <a:xfrm>
              <a:off x="1713" y="890"/>
              <a:ext cx="38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54742" name="Rectangle 118"/>
            <p:cNvSpPr>
              <a:spLocks noChangeArrowheads="1"/>
            </p:cNvSpPr>
            <p:nvPr/>
          </p:nvSpPr>
          <p:spPr bwMode="auto">
            <a:xfrm>
              <a:off x="2252" y="890"/>
              <a:ext cx="33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54743" name="Rectangle 119"/>
            <p:cNvSpPr>
              <a:spLocks noChangeArrowheads="1"/>
            </p:cNvSpPr>
            <p:nvPr/>
          </p:nvSpPr>
          <p:spPr bwMode="auto">
            <a:xfrm>
              <a:off x="2165"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4" name="Rectangle 120"/>
            <p:cNvSpPr>
              <a:spLocks noChangeArrowheads="1"/>
            </p:cNvSpPr>
            <p:nvPr/>
          </p:nvSpPr>
          <p:spPr bwMode="auto">
            <a:xfrm>
              <a:off x="1662"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5" name="Rectangle 121"/>
            <p:cNvSpPr>
              <a:spLocks noChangeArrowheads="1"/>
            </p:cNvSpPr>
            <p:nvPr/>
          </p:nvSpPr>
          <p:spPr bwMode="auto">
            <a:xfrm>
              <a:off x="1438" y="1654"/>
              <a:ext cx="16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54746" name="Rectangle 122"/>
            <p:cNvSpPr>
              <a:spLocks noChangeArrowheads="1"/>
            </p:cNvSpPr>
            <p:nvPr/>
          </p:nvSpPr>
          <p:spPr bwMode="auto">
            <a:xfrm>
              <a:off x="1405" y="1731"/>
              <a:ext cx="2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54747" name="Rectangle 123"/>
            <p:cNvSpPr>
              <a:spLocks noChangeArrowheads="1"/>
            </p:cNvSpPr>
            <p:nvPr/>
          </p:nvSpPr>
          <p:spPr bwMode="auto">
            <a:xfrm>
              <a:off x="1400" y="1808"/>
              <a:ext cx="22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54748" name="Rectangle 124"/>
            <p:cNvSpPr>
              <a:spLocks noChangeArrowheads="1"/>
            </p:cNvSpPr>
            <p:nvPr/>
          </p:nvSpPr>
          <p:spPr bwMode="auto">
            <a:xfrm>
              <a:off x="1808" y="175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54749" name="Rectangle 125"/>
            <p:cNvSpPr>
              <a:spLocks noChangeArrowheads="1"/>
            </p:cNvSpPr>
            <p:nvPr/>
          </p:nvSpPr>
          <p:spPr bwMode="auto">
            <a:xfrm>
              <a:off x="1806" y="1825"/>
              <a:ext cx="4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54750" name="Rectangle 126"/>
            <p:cNvSpPr>
              <a:spLocks noChangeArrowheads="1"/>
            </p:cNvSpPr>
            <p:nvPr/>
          </p:nvSpPr>
          <p:spPr bwMode="auto">
            <a:xfrm>
              <a:off x="1808" y="1891"/>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54751" name="Rectangle 127"/>
            <p:cNvSpPr>
              <a:spLocks noChangeArrowheads="1"/>
            </p:cNvSpPr>
            <p:nvPr/>
          </p:nvSpPr>
          <p:spPr bwMode="auto">
            <a:xfrm>
              <a:off x="1806" y="1961"/>
              <a:ext cx="47"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54752" name="Rectangle 128"/>
            <p:cNvSpPr>
              <a:spLocks noChangeArrowheads="1"/>
            </p:cNvSpPr>
            <p:nvPr/>
          </p:nvSpPr>
          <p:spPr bwMode="auto">
            <a:xfrm>
              <a:off x="1808" y="202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54753" name="Rectangle 129"/>
            <p:cNvSpPr>
              <a:spLocks noChangeArrowheads="1"/>
            </p:cNvSpPr>
            <p:nvPr/>
          </p:nvSpPr>
          <p:spPr bwMode="auto">
            <a:xfrm>
              <a:off x="1807" y="2095"/>
              <a:ext cx="3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54754" name="Rectangle 130"/>
            <p:cNvSpPr>
              <a:spLocks noChangeArrowheads="1"/>
            </p:cNvSpPr>
            <p:nvPr/>
          </p:nvSpPr>
          <p:spPr bwMode="auto">
            <a:xfrm>
              <a:off x="2245" y="1731"/>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55" name="Rectangle 131"/>
            <p:cNvSpPr>
              <a:spLocks noChangeArrowheads="1"/>
            </p:cNvSpPr>
            <p:nvPr/>
          </p:nvSpPr>
          <p:spPr bwMode="auto">
            <a:xfrm>
              <a:off x="2246" y="181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54756" name="Rectangle 132"/>
            <p:cNvSpPr>
              <a:spLocks noChangeArrowheads="1"/>
            </p:cNvSpPr>
            <p:nvPr/>
          </p:nvSpPr>
          <p:spPr bwMode="auto">
            <a:xfrm>
              <a:off x="2246" y="1888"/>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57" name="Rectangle 133"/>
            <p:cNvSpPr>
              <a:spLocks noChangeArrowheads="1"/>
            </p:cNvSpPr>
            <p:nvPr/>
          </p:nvSpPr>
          <p:spPr bwMode="auto">
            <a:xfrm>
              <a:off x="2245" y="1965"/>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58" name="Rectangle 134"/>
            <p:cNvSpPr>
              <a:spLocks noChangeArrowheads="1"/>
            </p:cNvSpPr>
            <p:nvPr/>
          </p:nvSpPr>
          <p:spPr bwMode="auto">
            <a:xfrm>
              <a:off x="2245" y="2046"/>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54759" name="Rectangle 135"/>
            <p:cNvSpPr>
              <a:spLocks noChangeArrowheads="1"/>
            </p:cNvSpPr>
            <p:nvPr/>
          </p:nvSpPr>
          <p:spPr bwMode="auto">
            <a:xfrm>
              <a:off x="2245" y="2123"/>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54760" name="Rectangle 136"/>
            <p:cNvSpPr>
              <a:spLocks noChangeArrowheads="1"/>
            </p:cNvSpPr>
            <p:nvPr/>
          </p:nvSpPr>
          <p:spPr bwMode="auto">
            <a:xfrm>
              <a:off x="2245" y="2204"/>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61" name="Rectangle 137"/>
            <p:cNvSpPr>
              <a:spLocks noChangeArrowheads="1"/>
            </p:cNvSpPr>
            <p:nvPr/>
          </p:nvSpPr>
          <p:spPr bwMode="auto">
            <a:xfrm>
              <a:off x="2246" y="228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62" name="Rectangle 138"/>
            <p:cNvSpPr>
              <a:spLocks noChangeArrowheads="1"/>
            </p:cNvSpPr>
            <p:nvPr/>
          </p:nvSpPr>
          <p:spPr bwMode="auto">
            <a:xfrm>
              <a:off x="2245" y="2358"/>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63" name="Rectangle 139"/>
            <p:cNvSpPr>
              <a:spLocks noChangeArrowheads="1"/>
            </p:cNvSpPr>
            <p:nvPr/>
          </p:nvSpPr>
          <p:spPr bwMode="auto">
            <a:xfrm>
              <a:off x="2619" y="2007"/>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64" name="Rectangle 140"/>
            <p:cNvSpPr>
              <a:spLocks noChangeArrowheads="1"/>
            </p:cNvSpPr>
            <p:nvPr/>
          </p:nvSpPr>
          <p:spPr bwMode="auto">
            <a:xfrm>
              <a:off x="2712" y="2085"/>
              <a:ext cx="1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54765" name="Rectangle 141"/>
            <p:cNvSpPr>
              <a:spLocks noChangeArrowheads="1"/>
            </p:cNvSpPr>
            <p:nvPr/>
          </p:nvSpPr>
          <p:spPr bwMode="auto">
            <a:xfrm>
              <a:off x="1953" y="2428"/>
              <a:ext cx="18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54766" name="Rectangle 142"/>
            <p:cNvSpPr>
              <a:spLocks noChangeArrowheads="1"/>
            </p:cNvSpPr>
            <p:nvPr/>
          </p:nvSpPr>
          <p:spPr bwMode="auto">
            <a:xfrm>
              <a:off x="1955" y="2505"/>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67" name="Rectangle 143"/>
            <p:cNvSpPr>
              <a:spLocks noChangeArrowheads="1"/>
            </p:cNvSpPr>
            <p:nvPr/>
          </p:nvSpPr>
          <p:spPr bwMode="auto">
            <a:xfrm>
              <a:off x="2317" y="2463"/>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68" name="Rectangle 144"/>
            <p:cNvSpPr>
              <a:spLocks noChangeArrowheads="1"/>
            </p:cNvSpPr>
            <p:nvPr/>
          </p:nvSpPr>
          <p:spPr bwMode="auto">
            <a:xfrm>
              <a:off x="2316" y="2509"/>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69" name="Rectangle 145"/>
            <p:cNvSpPr>
              <a:spLocks noChangeArrowheads="1"/>
            </p:cNvSpPr>
            <p:nvPr/>
          </p:nvSpPr>
          <p:spPr bwMode="auto">
            <a:xfrm>
              <a:off x="2317" y="2211"/>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70" name="Rectangle 146"/>
            <p:cNvSpPr>
              <a:spLocks noChangeArrowheads="1"/>
            </p:cNvSpPr>
            <p:nvPr/>
          </p:nvSpPr>
          <p:spPr bwMode="auto">
            <a:xfrm>
              <a:off x="2316" y="2256"/>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71" name="Rectangle 147"/>
            <p:cNvSpPr>
              <a:spLocks noChangeArrowheads="1"/>
            </p:cNvSpPr>
            <p:nvPr/>
          </p:nvSpPr>
          <p:spPr bwMode="auto">
            <a:xfrm>
              <a:off x="2352" y="1755"/>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72" name="Rectangle 148"/>
            <p:cNvSpPr>
              <a:spLocks noChangeArrowheads="1"/>
            </p:cNvSpPr>
            <p:nvPr/>
          </p:nvSpPr>
          <p:spPr bwMode="auto">
            <a:xfrm>
              <a:off x="2451" y="1832"/>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73" name="Rectangle 149"/>
            <p:cNvSpPr>
              <a:spLocks noChangeArrowheads="1"/>
            </p:cNvSpPr>
            <p:nvPr/>
          </p:nvSpPr>
          <p:spPr bwMode="auto">
            <a:xfrm>
              <a:off x="2602" y="2270"/>
              <a:ext cx="36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54774" name="Rectangle 150"/>
            <p:cNvSpPr>
              <a:spLocks noChangeArrowheads="1"/>
            </p:cNvSpPr>
            <p:nvPr/>
          </p:nvSpPr>
          <p:spPr bwMode="auto">
            <a:xfrm>
              <a:off x="2677" y="2347"/>
              <a:ext cx="17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54775" name="Rectangle 151"/>
            <p:cNvSpPr>
              <a:spLocks noChangeArrowheads="1"/>
            </p:cNvSpPr>
            <p:nvPr/>
          </p:nvSpPr>
          <p:spPr bwMode="auto">
            <a:xfrm>
              <a:off x="2011" y="1531"/>
              <a:ext cx="44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54776" name="Line 152"/>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7" name="Line 153"/>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8" name="Line 154"/>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9" name="Line 155"/>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80" name="Line 156"/>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6" name="Group 157"/>
          <p:cNvGrpSpPr>
            <a:grpSpLocks/>
          </p:cNvGrpSpPr>
          <p:nvPr/>
        </p:nvGrpSpPr>
        <p:grpSpPr bwMode="auto">
          <a:xfrm>
            <a:off x="1643063" y="2271713"/>
            <a:ext cx="171450" cy="1303337"/>
            <a:chOff x="1035" y="1431"/>
            <a:chExt cx="108" cy="821"/>
          </a:xfrm>
        </p:grpSpPr>
        <p:sp>
          <p:nvSpPr>
            <p:cNvPr id="154782" name="Rectangle 158"/>
            <p:cNvSpPr>
              <a:spLocks noChangeArrowheads="1"/>
            </p:cNvSpPr>
            <p:nvPr/>
          </p:nvSpPr>
          <p:spPr bwMode="auto">
            <a:xfrm>
              <a:off x="1041" y="1431"/>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3" name="Rectangle 159"/>
            <p:cNvSpPr>
              <a:spLocks noChangeArrowheads="1"/>
            </p:cNvSpPr>
            <p:nvPr/>
          </p:nvSpPr>
          <p:spPr bwMode="auto">
            <a:xfrm>
              <a:off x="1044" y="1539"/>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4" name="Rectangle 160"/>
            <p:cNvSpPr>
              <a:spLocks noChangeArrowheads="1"/>
            </p:cNvSpPr>
            <p:nvPr/>
          </p:nvSpPr>
          <p:spPr bwMode="auto">
            <a:xfrm>
              <a:off x="1041" y="1668"/>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5" name="Rectangle 161"/>
            <p:cNvSpPr>
              <a:spLocks noChangeArrowheads="1"/>
            </p:cNvSpPr>
            <p:nvPr/>
          </p:nvSpPr>
          <p:spPr bwMode="auto">
            <a:xfrm>
              <a:off x="1038" y="20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6" name="Rectangle 162"/>
            <p:cNvSpPr>
              <a:spLocks noChangeArrowheads="1"/>
            </p:cNvSpPr>
            <p:nvPr/>
          </p:nvSpPr>
          <p:spPr bwMode="auto">
            <a:xfrm>
              <a:off x="1035" y="198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7" name="Rectangle 163"/>
            <p:cNvSpPr>
              <a:spLocks noChangeArrowheads="1"/>
            </p:cNvSpPr>
            <p:nvPr/>
          </p:nvSpPr>
          <p:spPr bwMode="auto">
            <a:xfrm>
              <a:off x="1038" y="222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8" name="Rectangle 164"/>
            <p:cNvSpPr>
              <a:spLocks noChangeArrowheads="1"/>
            </p:cNvSpPr>
            <p:nvPr/>
          </p:nvSpPr>
          <p:spPr bwMode="auto">
            <a:xfrm>
              <a:off x="1116" y="14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9" name="Rectangle 165"/>
            <p:cNvSpPr>
              <a:spLocks noChangeArrowheads="1"/>
            </p:cNvSpPr>
            <p:nvPr/>
          </p:nvSpPr>
          <p:spPr bwMode="auto">
            <a:xfrm>
              <a:off x="1077" y="182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0" name="Rectangle 166"/>
            <p:cNvSpPr>
              <a:spLocks noChangeArrowheads="1"/>
            </p:cNvSpPr>
            <p:nvPr/>
          </p:nvSpPr>
          <p:spPr bwMode="auto">
            <a:xfrm>
              <a:off x="1047" y="2166"/>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7" name="Group 167"/>
          <p:cNvGrpSpPr>
            <a:grpSpLocks/>
          </p:cNvGrpSpPr>
          <p:nvPr/>
        </p:nvGrpSpPr>
        <p:grpSpPr bwMode="auto">
          <a:xfrm>
            <a:off x="2933700" y="1719263"/>
            <a:ext cx="876300" cy="2289175"/>
            <a:chOff x="1848" y="1083"/>
            <a:chExt cx="552" cy="1442"/>
          </a:xfrm>
        </p:grpSpPr>
        <p:sp>
          <p:nvSpPr>
            <p:cNvPr id="154792" name="Rectangle 168"/>
            <p:cNvSpPr>
              <a:spLocks noChangeArrowheads="1"/>
            </p:cNvSpPr>
            <p:nvPr/>
          </p:nvSpPr>
          <p:spPr bwMode="auto">
            <a:xfrm>
              <a:off x="1851" y="132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3" name="Rectangle 169"/>
            <p:cNvSpPr>
              <a:spLocks noChangeArrowheads="1"/>
            </p:cNvSpPr>
            <p:nvPr/>
          </p:nvSpPr>
          <p:spPr bwMode="auto">
            <a:xfrm>
              <a:off x="1848" y="108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4" name="Rectangle 170"/>
            <p:cNvSpPr>
              <a:spLocks noChangeArrowheads="1"/>
            </p:cNvSpPr>
            <p:nvPr/>
          </p:nvSpPr>
          <p:spPr bwMode="auto">
            <a:xfrm>
              <a:off x="2367" y="108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5" name="Rectangle 171"/>
            <p:cNvSpPr>
              <a:spLocks noChangeArrowheads="1"/>
            </p:cNvSpPr>
            <p:nvPr/>
          </p:nvSpPr>
          <p:spPr bwMode="auto">
            <a:xfrm>
              <a:off x="2373" y="132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6" name="Rectangle 172"/>
            <p:cNvSpPr>
              <a:spLocks noChangeArrowheads="1"/>
            </p:cNvSpPr>
            <p:nvPr/>
          </p:nvSpPr>
          <p:spPr bwMode="auto">
            <a:xfrm>
              <a:off x="2151" y="1632"/>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7" name="Rectangle 173"/>
            <p:cNvSpPr>
              <a:spLocks noChangeArrowheads="1"/>
            </p:cNvSpPr>
            <p:nvPr/>
          </p:nvSpPr>
          <p:spPr bwMode="auto">
            <a:xfrm>
              <a:off x="2367" y="189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8" name="Rectangle 174"/>
            <p:cNvSpPr>
              <a:spLocks noChangeArrowheads="1"/>
            </p:cNvSpPr>
            <p:nvPr/>
          </p:nvSpPr>
          <p:spPr bwMode="auto">
            <a:xfrm>
              <a:off x="2367" y="225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9" name="Rectangle 175"/>
            <p:cNvSpPr>
              <a:spLocks noChangeArrowheads="1"/>
            </p:cNvSpPr>
            <p:nvPr/>
          </p:nvSpPr>
          <p:spPr bwMode="auto">
            <a:xfrm>
              <a:off x="1848" y="2490"/>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800" name="Rectangle 176"/>
            <p:cNvSpPr>
              <a:spLocks noChangeArrowheads="1"/>
            </p:cNvSpPr>
            <p:nvPr/>
          </p:nvSpPr>
          <p:spPr bwMode="auto">
            <a:xfrm>
              <a:off x="2367" y="2481"/>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8" name="Group 177"/>
          <p:cNvGrpSpPr>
            <a:grpSpLocks/>
          </p:cNvGrpSpPr>
          <p:nvPr/>
        </p:nvGrpSpPr>
        <p:grpSpPr bwMode="auto">
          <a:xfrm>
            <a:off x="4884738" y="1757363"/>
            <a:ext cx="4030662" cy="2281237"/>
            <a:chOff x="2925" y="1053"/>
            <a:chExt cx="2539" cy="1437"/>
          </a:xfrm>
        </p:grpSpPr>
        <p:graphicFrame>
          <p:nvGraphicFramePr>
            <p:cNvPr id="154802" name="Object 178"/>
            <p:cNvGraphicFramePr>
              <a:graphicFrameLocks noChangeAspect="1"/>
            </p:cNvGraphicFramePr>
            <p:nvPr/>
          </p:nvGraphicFramePr>
          <p:xfrm>
            <a:off x="3498" y="1053"/>
            <a:ext cx="1966" cy="1437"/>
          </p:xfrm>
          <a:graphic>
            <a:graphicData uri="http://schemas.openxmlformats.org/presentationml/2006/ole">
              <mc:AlternateContent xmlns:mc="http://schemas.openxmlformats.org/markup-compatibility/2006">
                <mc:Choice xmlns:v="urn:schemas-microsoft-com:vml" Requires="v">
                  <p:oleObj spid="_x0000_s4250" name="VISIO" r:id="rId4" imgW="7073900" imgH="4876800" progId="">
                    <p:embed/>
                  </p:oleObj>
                </mc:Choice>
                <mc:Fallback>
                  <p:oleObj name="VISIO" r:id="rId4" imgW="7073900" imgH="48768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8" y="1053"/>
                          <a:ext cx="1966" cy="1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54803" name="Object 179"/>
            <p:cNvGraphicFramePr>
              <a:graphicFrameLocks noChangeAspect="1"/>
            </p:cNvGraphicFramePr>
            <p:nvPr/>
          </p:nvGraphicFramePr>
          <p:xfrm>
            <a:off x="2925" y="1501"/>
            <a:ext cx="522" cy="285"/>
          </p:xfrm>
          <a:graphic>
            <a:graphicData uri="http://schemas.openxmlformats.org/presentationml/2006/ole">
              <mc:AlternateContent xmlns:mc="http://schemas.openxmlformats.org/markup-compatibility/2006">
                <mc:Choice xmlns:v="urn:schemas-microsoft-com:vml" Requires="v">
                  <p:oleObj spid="_x0000_s4251" name="VISIO" r:id="rId6" imgW="952500" imgH="495300" progId="">
                    <p:embed/>
                  </p:oleObj>
                </mc:Choice>
                <mc:Fallback>
                  <p:oleObj name="VISIO" r:id="rId6" imgW="952500" imgH="4953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25" y="1501"/>
                          <a:ext cx="522"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154804" name="Rectangle 180"/>
          <p:cNvSpPr>
            <a:spLocks noChangeArrowheads="1"/>
          </p:cNvSpPr>
          <p:nvPr/>
        </p:nvSpPr>
        <p:spPr bwMode="auto">
          <a:xfrm>
            <a:off x="228600" y="4724400"/>
            <a:ext cx="52578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Model the Digital Controller Architecture</a:t>
            </a:r>
          </a:p>
        </p:txBody>
      </p:sp>
      <p:sp>
        <p:nvSpPr>
          <p:cNvPr id="154805" name="Rectangle 181"/>
          <p:cNvSpPr>
            <a:spLocks noChangeArrowheads="1"/>
          </p:cNvSpPr>
          <p:nvPr/>
        </p:nvSpPr>
        <p:spPr bwMode="auto">
          <a:xfrm>
            <a:off x="254000" y="58610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Automation Enables “What-If” Consideration of System Designs</a:t>
            </a:r>
          </a:p>
          <a:p>
            <a:pPr>
              <a:lnSpc>
                <a:spcPct val="90000"/>
              </a:lnSpc>
              <a:buClrTx/>
              <a:buFont typeface="Arial" panose="020B0604020202020204" pitchFamily="34" charset="0"/>
              <a:buChar char="•"/>
            </a:pPr>
            <a:endParaRPr lang="en-US" altLang="en-US" sz="1700" b="0" dirty="0">
              <a:solidFill>
                <a:schemeClr val="tx1"/>
              </a:solidFill>
              <a:latin typeface="+mn-lt"/>
            </a:endParaRPr>
          </a:p>
        </p:txBody>
      </p:sp>
      <p:sp>
        <p:nvSpPr>
          <p:cNvPr id="154806" name="Rectangle 182"/>
          <p:cNvSpPr>
            <a:spLocks noChangeArrowheads="1"/>
          </p:cNvSpPr>
          <p:nvPr/>
        </p:nvSpPr>
        <p:spPr bwMode="auto">
          <a:xfrm>
            <a:off x="647700" y="5410200"/>
            <a:ext cx="8496300" cy="34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80000"/>
              </a:lnSpc>
              <a:buFont typeface="Wingdings" panose="05000000000000000000" pitchFamily="2" charset="2"/>
              <a:buNone/>
            </a:pPr>
            <a:endParaRPr lang="en-US" altLang="en-US" sz="1800" dirty="0"/>
          </a:p>
        </p:txBody>
      </p:sp>
      <p:sp>
        <p:nvSpPr>
          <p:cNvPr id="154807" name="Rectangle 183"/>
          <p:cNvSpPr>
            <a:spLocks noChangeArrowheads="1"/>
          </p:cNvSpPr>
          <p:nvPr/>
        </p:nvSpPr>
        <p:spPr bwMode="auto">
          <a:xfrm>
            <a:off x="4677459" y="5087938"/>
            <a:ext cx="3929281" cy="353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700" dirty="0">
                <a:latin typeface="+mn-lt"/>
              </a:rPr>
              <a:t>and Digital Controller Architecture</a:t>
            </a:r>
          </a:p>
        </p:txBody>
      </p:sp>
      <p:sp>
        <p:nvSpPr>
          <p:cNvPr id="154808" name="Rectangle 184"/>
          <p:cNvSpPr>
            <a:spLocks noChangeArrowheads="1"/>
          </p:cNvSpPr>
          <p:nvPr/>
        </p:nvSpPr>
        <p:spPr bwMode="auto">
          <a:xfrm>
            <a:off x="254000" y="54673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Integrates System and Safety Engineering About a Common Model</a:t>
            </a:r>
          </a:p>
        </p:txBody>
      </p:sp>
      <p:sp>
        <p:nvSpPr>
          <p:cNvPr id="154809" name="Rectangle 185"/>
          <p:cNvSpPr>
            <a:spLocks noChangeArrowheads="1"/>
          </p:cNvSpPr>
          <p:nvPr/>
        </p:nvSpPr>
        <p:spPr bwMode="auto">
          <a:xfrm>
            <a:off x="5054600" y="4724400"/>
            <a:ext cx="40894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Font typeface="Wingdings" panose="05000000000000000000" pitchFamily="2" charset="2"/>
              <a:buNone/>
            </a:pPr>
            <a:r>
              <a:rPr lang="en-US" altLang="en-US" sz="1700" b="0" dirty="0">
                <a:solidFill>
                  <a:schemeClr val="tx1"/>
                </a:solidFill>
                <a:latin typeface="+mn-lt"/>
              </a:rPr>
              <a:t>and the Physical System</a:t>
            </a:r>
          </a:p>
        </p:txBody>
      </p:sp>
      <p:sp>
        <p:nvSpPr>
          <p:cNvPr id="3" name="Rectangle 2"/>
          <p:cNvSpPr/>
          <p:nvPr/>
        </p:nvSpPr>
        <p:spPr>
          <a:xfrm>
            <a:off x="6172200" y="582364"/>
            <a:ext cx="2971800" cy="108902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Wheel Braking System</a:t>
            </a:r>
          </a:p>
          <a:p>
            <a:pPr algn="ctr"/>
            <a:r>
              <a:rPr lang="en-US" dirty="0" smtClean="0"/>
              <a:t>AIR6110</a:t>
            </a:r>
          </a:p>
          <a:p>
            <a:pPr algn="ctr"/>
            <a:r>
              <a:rPr lang="en-US" sz="1200" dirty="0"/>
              <a:t>CONTIGUOUS AIRCRAFT/SYSTEM DEVELOPMENT PROCESS </a:t>
            </a:r>
            <a:r>
              <a:rPr lang="en-US" sz="1200" dirty="0" smtClean="0"/>
              <a:t>EXAMPLE</a:t>
            </a:r>
            <a:endParaRPr lang="en-US" sz="1200" dirty="0"/>
          </a:p>
        </p:txBody>
      </p:sp>
    </p:spTree>
    <p:extLst>
      <p:ext uri="{BB962C8B-B14F-4D97-AF65-F5344CB8AC3E}">
        <p14:creationId xmlns:p14="http://schemas.microsoft.com/office/powerpoint/2010/main" val="130074722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154809"/>
                                        </p:tgtEl>
                                        <p:attrNameLst>
                                          <p:attrName>style.visibility</p:attrName>
                                        </p:attrNameLst>
                                      </p:cBhvr>
                                      <p:to>
                                        <p:strVal val="visible"/>
                                      </p:to>
                                    </p:set>
                                    <p:anim calcmode="lin" valueType="num">
                                      <p:cBhvr additive="base">
                                        <p:cTn id="11" dur="1000" fill="hold"/>
                                        <p:tgtEl>
                                          <p:spTgt spid="154809"/>
                                        </p:tgtEl>
                                        <p:attrNameLst>
                                          <p:attrName>ppt_x</p:attrName>
                                        </p:attrNameLst>
                                      </p:cBhvr>
                                      <p:tavLst>
                                        <p:tav tm="0">
                                          <p:val>
                                            <p:strVal val="1+#ppt_w/2"/>
                                          </p:val>
                                        </p:tav>
                                        <p:tav tm="100000">
                                          <p:val>
                                            <p:strVal val="#ppt_x"/>
                                          </p:val>
                                        </p:tav>
                                      </p:tavLst>
                                    </p:anim>
                                    <p:anim calcmode="lin" valueType="num">
                                      <p:cBhvr additive="base">
                                        <p:cTn id="12" dur="1000" fill="hold"/>
                                        <p:tgtEl>
                                          <p:spTgt spid="154809"/>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2"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1000" fill="hold"/>
                                        <p:tgtEl>
                                          <p:spTgt spid="7"/>
                                        </p:tgtEl>
                                        <p:attrNameLst>
                                          <p:attrName>ppt_x</p:attrName>
                                        </p:attrNameLst>
                                      </p:cBhvr>
                                      <p:tavLst>
                                        <p:tav tm="0">
                                          <p:val>
                                            <p:strVal val="1+#ppt_w/2"/>
                                          </p:val>
                                        </p:tav>
                                        <p:tav tm="100000">
                                          <p:val>
                                            <p:strVal val="#ppt_x"/>
                                          </p:val>
                                        </p:tav>
                                      </p:tavLst>
                                    </p:anim>
                                    <p:anim calcmode="lin" valueType="num">
                                      <p:cBhvr additive="base">
                                        <p:cTn id="18" dur="1000" fill="hold"/>
                                        <p:tgtEl>
                                          <p:spTgt spid="7"/>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154627">
                                            <p:txEl>
                                              <p:pRg st="0" end="0"/>
                                            </p:txEl>
                                          </p:spTgt>
                                        </p:tgtEl>
                                        <p:attrNameLst>
                                          <p:attrName>style.visibility</p:attrName>
                                        </p:attrNameLst>
                                      </p:cBhvr>
                                      <p:to>
                                        <p:strVal val="visible"/>
                                      </p:to>
                                    </p:set>
                                    <p:anim calcmode="lin" valueType="num">
                                      <p:cBhvr additive="base">
                                        <p:cTn id="21" dur="1000" fill="hold"/>
                                        <p:tgtEl>
                                          <p:spTgt spid="154627">
                                            <p:txEl>
                                              <p:pRg st="0" end="0"/>
                                            </p:txEl>
                                          </p:spTgt>
                                        </p:tgtEl>
                                        <p:attrNameLst>
                                          <p:attrName>ppt_x</p:attrName>
                                        </p:attrNameLst>
                                      </p:cBhvr>
                                      <p:tavLst>
                                        <p:tav tm="0">
                                          <p:val>
                                            <p:strVal val="0-#ppt_w/2"/>
                                          </p:val>
                                        </p:tav>
                                        <p:tav tm="100000">
                                          <p:val>
                                            <p:strVal val="#ppt_x"/>
                                          </p:val>
                                        </p:tav>
                                      </p:tavLst>
                                    </p:anim>
                                    <p:anim calcmode="lin" valueType="num">
                                      <p:cBhvr additive="base">
                                        <p:cTn id="22" dur="1000" fill="hold"/>
                                        <p:tgtEl>
                                          <p:spTgt spid="1546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7" dur="1000" fill="hold"/>
                                        <p:tgtEl>
                                          <p:spTgt spid="6"/>
                                        </p:tgtEl>
                                        <p:attrNameLst>
                                          <p:attrName>ppt_x</p:attrName>
                                        </p:attrNameLst>
                                      </p:cBhvr>
                                      <p:tavLst>
                                        <p:tav tm="0">
                                          <p:val>
                                            <p:strVal val="0-#ppt_w/2"/>
                                          </p:val>
                                        </p:tav>
                                        <p:tav tm="100000">
                                          <p:val>
                                            <p:strVal val="#ppt_x"/>
                                          </p:val>
                                        </p:tav>
                                      </p:tavLst>
                                    </p:anim>
                                    <p:anim calcmode="lin" valueType="num">
                                      <p:cBhvr additive="base">
                                        <p:cTn id="28" dur="1000" fill="hold"/>
                                        <p:tgtEl>
                                          <p:spTgt spid="6"/>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154807"/>
                                        </p:tgtEl>
                                        <p:attrNameLst>
                                          <p:attrName>style.visibility</p:attrName>
                                        </p:attrNameLst>
                                      </p:cBhvr>
                                      <p:to>
                                        <p:strVal val="visible"/>
                                      </p:to>
                                    </p:set>
                                    <p:anim calcmode="lin" valueType="num">
                                      <p:cBhvr additive="base">
                                        <p:cTn id="31" dur="1000" fill="hold"/>
                                        <p:tgtEl>
                                          <p:spTgt spid="154807"/>
                                        </p:tgtEl>
                                        <p:attrNameLst>
                                          <p:attrName>ppt_x</p:attrName>
                                        </p:attrNameLst>
                                      </p:cBhvr>
                                      <p:tavLst>
                                        <p:tav tm="0">
                                          <p:val>
                                            <p:strVal val="1+#ppt_w/2"/>
                                          </p:val>
                                        </p:tav>
                                        <p:tav tm="100000">
                                          <p:val>
                                            <p:strVal val="#ppt_x"/>
                                          </p:val>
                                        </p:tav>
                                      </p:tavLst>
                                    </p:anim>
                                    <p:anim calcmode="lin" valueType="num">
                                      <p:cBhvr additive="base">
                                        <p:cTn id="32" dur="1000" fill="hold"/>
                                        <p:tgtEl>
                                          <p:spTgt spid="154807"/>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4808"/>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48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154805" grpId="0"/>
      <p:bldP spid="154807" grpId="0"/>
      <p:bldP spid="154808" grpId="0"/>
      <p:bldP spid="15480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5</a:t>
            </a:fld>
            <a:endParaRPr lang="en-US" dirty="0"/>
          </a:p>
        </p:txBody>
      </p:sp>
    </p:spTree>
    <p:extLst>
      <p:ext uri="{BB962C8B-B14F-4D97-AF65-F5344CB8AC3E}">
        <p14:creationId xmlns:p14="http://schemas.microsoft.com/office/powerpoint/2010/main" val="2479716108"/>
      </p:ext>
    </p:extLst>
  </p:cSld>
  <p:clrMapOvr>
    <a:masterClrMapping/>
  </p:clrMapOvr>
  <p:transition>
    <p:wipe dir="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err="1" smtClean="0"/>
              <a:t>Directional</a:t>
            </a:r>
            <a:r>
              <a:rPr lang="de-DE" dirty="0" smtClean="0"/>
              <a:t> </a:t>
            </a:r>
            <a:r>
              <a:rPr lang="de-DE" dirty="0" err="1" smtClean="0"/>
              <a:t>vs</a:t>
            </a:r>
            <a:r>
              <a:rPr lang="de-DE" dirty="0" smtClean="0"/>
              <a:t> </a:t>
            </a:r>
            <a:r>
              <a:rPr lang="de-DE" dirty="0" err="1" smtClean="0"/>
              <a:t>Bidirectional</a:t>
            </a:r>
            <a:r>
              <a:rPr lang="de-DE" dirty="0" smtClean="0"/>
              <a:t> </a:t>
            </a:r>
            <a:r>
              <a:rPr lang="de-DE" dirty="0" err="1" smtClean="0"/>
              <a:t>flows</a:t>
            </a: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6</a:t>
            </a:fld>
            <a:endParaRPr lang="en-US" dirty="0"/>
          </a:p>
        </p:txBody>
      </p:sp>
    </p:spTree>
    <p:extLst>
      <p:ext uri="{BB962C8B-B14F-4D97-AF65-F5344CB8AC3E}">
        <p14:creationId xmlns:p14="http://schemas.microsoft.com/office/powerpoint/2010/main" val="2745756025"/>
      </p:ext>
    </p:extLst>
  </p:cSld>
  <p:clrMapOvr>
    <a:masterClrMapping/>
  </p:clrMapOvr>
  <p:transition>
    <p:wipe dir="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a:t> </a:t>
            </a:r>
            <a:r>
              <a:rPr lang="de-DE" dirty="0" err="1"/>
              <a:t>Directional</a:t>
            </a:r>
            <a:r>
              <a:rPr lang="de-DE" dirty="0"/>
              <a:t> </a:t>
            </a:r>
            <a:r>
              <a:rPr lang="de-DE" dirty="0" err="1"/>
              <a:t>vs</a:t>
            </a:r>
            <a:r>
              <a:rPr lang="de-DE" dirty="0"/>
              <a:t> </a:t>
            </a:r>
            <a:r>
              <a:rPr lang="de-DE" dirty="0" err="1"/>
              <a:t>Bidirectional</a:t>
            </a:r>
            <a:r>
              <a:rPr lang="de-DE" dirty="0"/>
              <a:t> </a:t>
            </a:r>
            <a:r>
              <a:rPr lang="de-DE" dirty="0" err="1"/>
              <a:t>flows</a:t>
            </a:r>
            <a:r>
              <a:rPr lang="de-DE" dirty="0"/>
              <a:t> </a:t>
            </a:r>
            <a:endParaRPr lang="de-DE" dirty="0" smtClean="0"/>
          </a:p>
          <a:p>
            <a:r>
              <a:rPr lang="de-DE" dirty="0" err="1" smtClean="0"/>
              <a:t>Purpose</a:t>
            </a:r>
            <a:r>
              <a:rPr lang="de-DE" dirty="0" smtClean="0"/>
              <a:t> </a:t>
            </a:r>
            <a:r>
              <a:rPr lang="de-DE" dirty="0" err="1"/>
              <a:t>Built</a:t>
            </a:r>
            <a:r>
              <a:rPr lang="de-DE" dirty="0"/>
              <a:t> Fault Model </a:t>
            </a:r>
            <a:r>
              <a:rPr lang="de-DE" dirty="0" err="1"/>
              <a:t>vs</a:t>
            </a:r>
            <a:r>
              <a:rPr lang="de-DE" dirty="0"/>
              <a:t> Extension </a:t>
            </a:r>
            <a:r>
              <a:rPr lang="de-DE" dirty="0" err="1"/>
              <a:t>of</a:t>
            </a:r>
            <a:r>
              <a:rPr lang="de-DE" dirty="0"/>
              <a:t> System </a:t>
            </a:r>
            <a:r>
              <a:rPr lang="de-DE" dirty="0" smtClean="0"/>
              <a:t>Model</a:t>
            </a:r>
          </a:p>
          <a:p>
            <a:pPr marL="0" indent="0">
              <a:buNone/>
            </a:pP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7</a:t>
            </a:fld>
            <a:endParaRPr lang="en-US" dirty="0"/>
          </a:p>
        </p:txBody>
      </p:sp>
    </p:spTree>
    <p:extLst>
      <p:ext uri="{BB962C8B-B14F-4D97-AF65-F5344CB8AC3E}">
        <p14:creationId xmlns:p14="http://schemas.microsoft.com/office/powerpoint/2010/main" val="418035380"/>
      </p:ext>
    </p:extLst>
  </p:cSld>
  <p:clrMapOvr>
    <a:masterClrMapping/>
  </p:clrMapOvr>
  <p:transition>
    <p:wipe dir="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a:t> </a:t>
            </a:r>
            <a:r>
              <a:rPr lang="de-DE" dirty="0" err="1"/>
              <a:t>Directional</a:t>
            </a:r>
            <a:r>
              <a:rPr lang="de-DE" dirty="0"/>
              <a:t> </a:t>
            </a:r>
            <a:r>
              <a:rPr lang="de-DE" dirty="0" err="1"/>
              <a:t>vs</a:t>
            </a:r>
            <a:r>
              <a:rPr lang="de-DE" dirty="0"/>
              <a:t> </a:t>
            </a:r>
            <a:r>
              <a:rPr lang="de-DE" dirty="0" err="1"/>
              <a:t>Bidirectional</a:t>
            </a:r>
            <a:r>
              <a:rPr lang="de-DE" dirty="0"/>
              <a:t> </a:t>
            </a:r>
            <a:r>
              <a:rPr lang="de-DE" dirty="0" err="1"/>
              <a:t>flows</a:t>
            </a:r>
            <a:r>
              <a:rPr lang="de-DE" dirty="0"/>
              <a:t> </a:t>
            </a:r>
            <a:endParaRPr lang="de-DE" dirty="0" smtClean="0"/>
          </a:p>
          <a:p>
            <a:r>
              <a:rPr lang="de-DE" dirty="0" err="1" smtClean="0"/>
              <a:t>Purpose</a:t>
            </a:r>
            <a:r>
              <a:rPr lang="de-DE" dirty="0" smtClean="0"/>
              <a:t> </a:t>
            </a:r>
            <a:r>
              <a:rPr lang="de-DE" dirty="0" err="1"/>
              <a:t>Built</a:t>
            </a:r>
            <a:r>
              <a:rPr lang="de-DE" dirty="0"/>
              <a:t> Fault Model </a:t>
            </a:r>
            <a:r>
              <a:rPr lang="de-DE" dirty="0" err="1"/>
              <a:t>vs</a:t>
            </a:r>
            <a:r>
              <a:rPr lang="de-DE" dirty="0"/>
              <a:t> Extension </a:t>
            </a:r>
            <a:r>
              <a:rPr lang="de-DE" dirty="0" err="1"/>
              <a:t>of</a:t>
            </a:r>
            <a:r>
              <a:rPr lang="de-DE" dirty="0"/>
              <a:t> System </a:t>
            </a:r>
            <a:r>
              <a:rPr lang="de-DE" dirty="0" smtClean="0"/>
              <a:t>Model</a:t>
            </a:r>
          </a:p>
          <a:p>
            <a:r>
              <a:rPr lang="de-DE" dirty="0" err="1"/>
              <a:t>Compositional</a:t>
            </a:r>
            <a:r>
              <a:rPr lang="de-DE" dirty="0"/>
              <a:t> Analysis </a:t>
            </a:r>
            <a:r>
              <a:rPr lang="de-DE" dirty="0" err="1"/>
              <a:t>or</a:t>
            </a:r>
            <a:r>
              <a:rPr lang="de-DE" dirty="0"/>
              <a:t> </a:t>
            </a:r>
            <a:r>
              <a:rPr lang="de-DE" dirty="0" err="1"/>
              <a:t>Monolithic</a:t>
            </a:r>
            <a:r>
              <a:rPr lang="de-DE" dirty="0"/>
              <a:t> Analysis</a:t>
            </a:r>
            <a:endParaRPr lang="de-DE" dirty="0" smtClean="0"/>
          </a:p>
          <a:p>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8</a:t>
            </a:fld>
            <a:endParaRPr lang="en-US" dirty="0"/>
          </a:p>
        </p:txBody>
      </p:sp>
    </p:spTree>
    <p:extLst>
      <p:ext uri="{BB962C8B-B14F-4D97-AF65-F5344CB8AC3E}">
        <p14:creationId xmlns:p14="http://schemas.microsoft.com/office/powerpoint/2010/main" val="1880289460"/>
      </p:ext>
    </p:extLst>
  </p:cSld>
  <p:clrMapOvr>
    <a:masterClrMapping/>
  </p:clrMapOvr>
  <p:transition>
    <p:wipe dir="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Existing Tools and Methods</a:t>
            </a:r>
            <a:endParaRPr lang="de-DE" sz="2400"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9</a:t>
            </a:fld>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215570050"/>
              </p:ext>
            </p:extLst>
          </p:nvPr>
        </p:nvGraphicFramePr>
        <p:xfrm>
          <a:off x="228599" y="1371601"/>
          <a:ext cx="8534402" cy="4615854"/>
        </p:xfrm>
        <a:graphic>
          <a:graphicData uri="http://schemas.openxmlformats.org/drawingml/2006/table">
            <a:tbl>
              <a:tblPr firstRow="1" bandRow="1">
                <a:tableStyleId>{5C22544A-7EE6-4342-B048-85BDC9FD1C3A}</a:tableStyleId>
              </a:tblPr>
              <a:tblGrid>
                <a:gridCol w="1524001"/>
                <a:gridCol w="838200"/>
                <a:gridCol w="1447800"/>
                <a:gridCol w="1676400"/>
                <a:gridCol w="777379"/>
                <a:gridCol w="782973"/>
                <a:gridCol w="704675"/>
                <a:gridCol w="782974"/>
              </a:tblGrid>
              <a:tr h="1022668">
                <a:tc>
                  <a:txBody>
                    <a:bodyPr/>
                    <a:lstStyle/>
                    <a:p>
                      <a:pPr algn="ct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FLM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 </a:t>
                      </a:r>
                      <a:r>
                        <a:rPr lang="de-DE" sz="1600" dirty="0" err="1" smtClean="0">
                          <a:solidFill>
                            <a:schemeClr val="tx1"/>
                          </a:solidFill>
                        </a:rPr>
                        <a:t>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a:t>
                      </a:r>
                    </a:p>
                    <a:p>
                      <a:pPr algn="ctr"/>
                      <a:r>
                        <a:rPr lang="de-DE" sz="1600" dirty="0" err="1" smtClean="0">
                          <a:solidFill>
                            <a:schemeClr val="tx1"/>
                          </a:solidFill>
                        </a:rPr>
                        <a:t>Bidirectional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C</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PB</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ESM</a:t>
                      </a:r>
                      <a:endParaRPr lang="de-DE" sz="1600" dirty="0">
                        <a:solidFill>
                          <a:schemeClr val="tx1"/>
                        </a:solidFill>
                      </a:endParaRPr>
                    </a:p>
                  </a:txBody>
                  <a:tcPr>
                    <a:solidFill>
                      <a:schemeClr val="accent6">
                        <a:lumMod val="20000"/>
                        <a:lumOff val="80000"/>
                      </a:schemeClr>
                    </a:solidFill>
                  </a:tcPr>
                </a:tc>
              </a:tr>
              <a:tr h="436505">
                <a:tc>
                  <a:txBody>
                    <a:bodyPr/>
                    <a:lstStyle/>
                    <a:p>
                      <a:pPr algn="ctr"/>
                      <a:r>
                        <a:rPr lang="de-DE" sz="1600" b="1" dirty="0" smtClean="0">
                          <a:solidFill>
                            <a:schemeClr val="tx1"/>
                          </a:solidFill>
                        </a:rPr>
                        <a:t>EMV2</a:t>
                      </a:r>
                      <a:endParaRPr lang="de-DE" sz="1600" b="1" dirty="0">
                        <a:solidFill>
                          <a:schemeClr val="tx1"/>
                        </a:solidFill>
                      </a:endParaRPr>
                    </a:p>
                  </a:txBody>
                  <a:tcPr>
                    <a:solidFill>
                      <a:schemeClr val="accent6">
                        <a:lumMod val="20000"/>
                        <a:lumOff val="80000"/>
                      </a:schemeClr>
                    </a:solidFill>
                  </a:tcPr>
                </a:tc>
                <a:tc>
                  <a:txBody>
                    <a:bodyPr/>
                    <a:lstStyle/>
                    <a:p>
                      <a:pPr algn="ctr"/>
                      <a:r>
                        <a:rPr lang="de-DE" dirty="0" smtClean="0">
                          <a:solidFill>
                            <a:schemeClr val="tx1"/>
                          </a:solidFill>
                          <a:latin typeface="Wingdings" panose="05000000000000000000" pitchFamily="2" charset="2"/>
                          <a:sym typeface="Wingdings"/>
                        </a:rPr>
                        <a:t></a:t>
                      </a:r>
                      <a:endParaRPr lang="de-DE" dirty="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r h="535264">
                <a:tc>
                  <a:txBody>
                    <a:bodyPr/>
                    <a:lstStyle/>
                    <a:p>
                      <a:pPr algn="ctr"/>
                      <a:r>
                        <a:rPr lang="de-DE" sz="1600" b="1" dirty="0" err="1" smtClean="0">
                          <a:solidFill>
                            <a:schemeClr val="tx1"/>
                          </a:solidFill>
                        </a:rPr>
                        <a:t>Compass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SLIM</a:t>
                      </a:r>
                    </a:p>
                  </a:txBody>
                  <a:tcPr>
                    <a:solidFill>
                      <a:schemeClr val="bg1">
                        <a:lumMod val="95000"/>
                      </a:schemeClr>
                    </a:solidFill>
                  </a:tcPr>
                </a:tc>
              </a:tr>
              <a:tr h="535264">
                <a:tc>
                  <a:txBody>
                    <a:bodyPr/>
                    <a:lstStyle/>
                    <a:p>
                      <a:pPr algn="ctr"/>
                      <a:r>
                        <a:rPr lang="de-DE" sz="1600" b="1" dirty="0" err="1" smtClean="0">
                          <a:solidFill>
                            <a:schemeClr val="tx1"/>
                          </a:solidFill>
                        </a:rPr>
                        <a:t>SmartIFlow</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436505">
                <a:tc>
                  <a:txBody>
                    <a:bodyPr/>
                    <a:lstStyle/>
                    <a:p>
                      <a:pPr algn="ctr"/>
                      <a:r>
                        <a:rPr lang="de-DE" sz="1600" b="1" dirty="0" smtClean="0">
                          <a:solidFill>
                            <a:schemeClr val="tx1"/>
                          </a:solidFill>
                        </a:rPr>
                        <a:t>SAML</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AltaRica</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HipHops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East-ADL</a:t>
                      </a:r>
                    </a:p>
                  </a:txBody>
                  <a:tcPr>
                    <a:solidFill>
                      <a:schemeClr val="bg1">
                        <a:lumMod val="95000"/>
                      </a:schemeClr>
                    </a:solidFill>
                  </a:tcPr>
                </a:tc>
              </a:tr>
              <a:tr h="535264">
                <a:tc>
                  <a:txBody>
                    <a:bodyPr/>
                    <a:lstStyle/>
                    <a:p>
                      <a:pPr algn="ct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endParaRPr lang="de-DE" dirty="0"/>
                    </a:p>
                  </a:txBody>
                  <a:tcPr>
                    <a:solidFill>
                      <a:schemeClr val="bg1">
                        <a:lumMod val="95000"/>
                      </a:schemeClr>
                    </a:solidFill>
                  </a:tcPr>
                </a:tc>
                <a:tc>
                  <a:txBody>
                    <a:bodyPr/>
                    <a:lstStyle/>
                    <a:p>
                      <a:endParaRPr lang="de-DE" dirty="0"/>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r>
            </a:tbl>
          </a:graphicData>
        </a:graphic>
      </p:graphicFrame>
    </p:spTree>
    <p:extLst>
      <p:ext uri="{BB962C8B-B14F-4D97-AF65-F5344CB8AC3E}">
        <p14:creationId xmlns:p14="http://schemas.microsoft.com/office/powerpoint/2010/main" val="2550249705"/>
      </p:ext>
    </p:extLst>
  </p:cSld>
  <p:clrMapOvr>
    <a:masterClrMapping/>
  </p:clrMapOvr>
  <p:transition>
    <p:wipe dir="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title"/>
          </p:nvPr>
        </p:nvSpPr>
        <p:spPr>
          <a:xfrm>
            <a:off x="762000" y="838200"/>
            <a:ext cx="7772400" cy="503237"/>
          </a:xfrm>
        </p:spPr>
        <p:txBody>
          <a:bodyPr/>
          <a:lstStyle/>
          <a:p>
            <a:r>
              <a:rPr lang="en-US" altLang="en-US" sz="2400" dirty="0"/>
              <a:t>Creation of Nominal System Model</a:t>
            </a:r>
          </a:p>
        </p:txBody>
      </p:sp>
      <p:grpSp>
        <p:nvGrpSpPr>
          <p:cNvPr id="4" name="Group 228"/>
          <p:cNvGrpSpPr>
            <a:grpSpLocks/>
          </p:cNvGrpSpPr>
          <p:nvPr/>
        </p:nvGrpSpPr>
        <p:grpSpPr bwMode="auto">
          <a:xfrm>
            <a:off x="146051" y="1447800"/>
            <a:ext cx="3359150" cy="2819399"/>
            <a:chOff x="252" y="912"/>
            <a:chExt cx="2116" cy="1776"/>
          </a:xfrm>
        </p:grpSpPr>
        <p:grpSp>
          <p:nvGrpSpPr>
            <p:cNvPr id="5" name="Group 4"/>
            <p:cNvGrpSpPr>
              <a:grpSpLocks/>
            </p:cNvGrpSpPr>
            <p:nvPr/>
          </p:nvGrpSpPr>
          <p:grpSpPr bwMode="auto">
            <a:xfrm>
              <a:off x="432" y="1152"/>
              <a:ext cx="1005" cy="1536"/>
              <a:chOff x="175" y="1282"/>
              <a:chExt cx="1005" cy="1536"/>
            </a:xfrm>
          </p:grpSpPr>
          <p:sp>
            <p:nvSpPr>
              <p:cNvPr id="173061"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062"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63"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4"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5"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6"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7"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068"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069"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070"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071"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2"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073"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074"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075"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076"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7"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73078"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79"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0"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081"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2"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83"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84"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5"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086"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7"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8"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9"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0"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1"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2"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3"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4"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5"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6"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7"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098"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9"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0"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1"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2"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3"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4"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5"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6"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7"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8"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9"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sp>
          <p:nvSpPr>
            <p:cNvPr id="173110" name="Rectangle 54"/>
            <p:cNvSpPr>
              <a:spLocks noChangeArrowheads="1"/>
            </p:cNvSpPr>
            <p:nvPr/>
          </p:nvSpPr>
          <p:spPr bwMode="auto">
            <a:xfrm>
              <a:off x="252" y="912"/>
              <a:ext cx="2116" cy="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a:t>
              </a:r>
            </a:p>
          </p:txBody>
        </p:sp>
      </p:grpSp>
      <p:grpSp>
        <p:nvGrpSpPr>
          <p:cNvPr id="7" name="Group 232"/>
          <p:cNvGrpSpPr>
            <a:grpSpLocks/>
          </p:cNvGrpSpPr>
          <p:nvPr/>
        </p:nvGrpSpPr>
        <p:grpSpPr bwMode="auto">
          <a:xfrm>
            <a:off x="2491961" y="2817782"/>
            <a:ext cx="4267200" cy="3732213"/>
            <a:chOff x="1488" y="1728"/>
            <a:chExt cx="2688" cy="2351"/>
          </a:xfrm>
        </p:grpSpPr>
        <p:sp>
          <p:nvSpPr>
            <p:cNvPr id="173114" name="AutoShape 58"/>
            <p:cNvSpPr>
              <a:spLocks noChangeArrowheads="1"/>
            </p:cNvSpPr>
            <p:nvPr/>
          </p:nvSpPr>
          <p:spPr bwMode="auto">
            <a:xfrm rot="2700000">
              <a:off x="1584" y="1872"/>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173118" name="AutoShape 62"/>
            <p:cNvSpPr>
              <a:spLocks noChangeArrowheads="1"/>
            </p:cNvSpPr>
            <p:nvPr/>
          </p:nvSpPr>
          <p:spPr bwMode="auto">
            <a:xfrm rot="8100000">
              <a:off x="3696" y="1920"/>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nvGrpSpPr>
            <p:cNvPr id="8" name="Group 68"/>
            <p:cNvGrpSpPr>
              <a:grpSpLocks/>
            </p:cNvGrpSpPr>
            <p:nvPr/>
          </p:nvGrpSpPr>
          <p:grpSpPr bwMode="auto">
            <a:xfrm>
              <a:off x="1488" y="1920"/>
              <a:ext cx="2484" cy="1779"/>
              <a:chOff x="519" y="1197"/>
              <a:chExt cx="2926" cy="2019"/>
            </a:xfrm>
          </p:grpSpPr>
          <p:grpSp>
            <p:nvGrpSpPr>
              <p:cNvPr id="9" name="Group 69"/>
              <p:cNvGrpSpPr>
                <a:grpSpLocks/>
              </p:cNvGrpSpPr>
              <p:nvPr/>
            </p:nvGrpSpPr>
            <p:grpSpPr bwMode="auto">
              <a:xfrm>
                <a:off x="1555" y="1197"/>
                <a:ext cx="1890" cy="2019"/>
                <a:chOff x="1176" y="890"/>
                <a:chExt cx="1890" cy="2019"/>
              </a:xfrm>
            </p:grpSpPr>
            <p:sp>
              <p:nvSpPr>
                <p:cNvPr id="173126" name="Rectangle 70"/>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27" name="Rectangle 71"/>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28" name="Line 72"/>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29" name="Freeform 73"/>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0" name="Freeform 74"/>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1" name="Rectangle 75"/>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2" name="Rectangle 76"/>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3" name="Freeform 77"/>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73134" name="Freeform 78"/>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5" name="Rectangle 79"/>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6" name="Rectangle 80"/>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7" name="Freeform 81"/>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73138" name="Freeform 82"/>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9" name="Rectangle 83"/>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0" name="Rectangle 84"/>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1" name="Freeform 85"/>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73142" name="Freeform 86"/>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3" name="Rectangle 87"/>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4" name="Rectangle 88"/>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5" name="Rectangle 89"/>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6" name="Rectangle 90"/>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7" name="Rectangle 91"/>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8" name="Rectangle 92"/>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9" name="Rectangle 93"/>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0" name="Rectangle 94"/>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1" name="Rectangle 95"/>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2" name="Rectangle 96"/>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3" name="Rectangle 97"/>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4" name="Rectangle 98"/>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5" name="Freeform 99"/>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6" name="Freeform 100"/>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57" name="Line 101"/>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8" name="Line 102"/>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9" name="Line 103"/>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0" name="Line 104"/>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1" name="Line 105"/>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2" name="Line 106"/>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3" name="Line 107"/>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4" name="Freeform 108"/>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5" name="Freeform 109"/>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6" name="Line 110"/>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7" name="Freeform 111"/>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73168" name="Freeform 112"/>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9" name="Rectangle 113"/>
                <p:cNvSpPr>
                  <a:spLocks noChangeArrowheads="1"/>
                </p:cNvSpPr>
                <p:nvPr/>
              </p:nvSpPr>
              <p:spPr bwMode="auto">
                <a:xfrm>
                  <a:off x="2725" y="2659"/>
                  <a:ext cx="207"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73170" name="Rectangle 114"/>
                <p:cNvSpPr>
                  <a:spLocks noChangeArrowheads="1"/>
                </p:cNvSpPr>
                <p:nvPr/>
              </p:nvSpPr>
              <p:spPr bwMode="auto">
                <a:xfrm>
                  <a:off x="2711" y="2736"/>
                  <a:ext cx="21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73171" name="Line 115"/>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2" name="Line 116"/>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3" name="Rectangle 117"/>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74" name="Rectangle 118"/>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5" name="Freeform 119"/>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6" name="Line 120"/>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7" name="Freeform 121"/>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78" name="Line 122"/>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9" name="Freeform 123"/>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0" name="Line 124"/>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81" name="Freeform 125"/>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2" name="Rectangle 126"/>
                <p:cNvSpPr>
                  <a:spLocks noChangeArrowheads="1"/>
                </p:cNvSpPr>
                <p:nvPr/>
              </p:nvSpPr>
              <p:spPr bwMode="auto">
                <a:xfrm>
                  <a:off x="1448" y="2197"/>
                  <a:ext cx="32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3" name="Rectangle 127"/>
                <p:cNvSpPr>
                  <a:spLocks noChangeArrowheads="1"/>
                </p:cNvSpPr>
                <p:nvPr/>
              </p:nvSpPr>
              <p:spPr bwMode="auto">
                <a:xfrm>
                  <a:off x="1420" y="2273"/>
                  <a:ext cx="3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4" name="Rectangle 128"/>
                <p:cNvSpPr>
                  <a:spLocks noChangeArrowheads="1"/>
                </p:cNvSpPr>
                <p:nvPr/>
              </p:nvSpPr>
              <p:spPr bwMode="auto">
                <a:xfrm>
                  <a:off x="1433" y="2410"/>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73185" name="Rectangle 129"/>
                <p:cNvSpPr>
                  <a:spLocks noChangeArrowheads="1"/>
                </p:cNvSpPr>
                <p:nvPr/>
              </p:nvSpPr>
              <p:spPr bwMode="auto">
                <a:xfrm>
                  <a:off x="1684" y="2410"/>
                  <a:ext cx="6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73186" name="Rectangle 130"/>
                <p:cNvSpPr>
                  <a:spLocks noChangeArrowheads="1"/>
                </p:cNvSpPr>
                <p:nvPr/>
              </p:nvSpPr>
              <p:spPr bwMode="auto">
                <a:xfrm>
                  <a:off x="1448" y="2488"/>
                  <a:ext cx="328"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7" name="Rectangle 131"/>
                <p:cNvSpPr>
                  <a:spLocks noChangeArrowheads="1"/>
                </p:cNvSpPr>
                <p:nvPr/>
              </p:nvSpPr>
              <p:spPr bwMode="auto">
                <a:xfrm>
                  <a:off x="1420" y="2565"/>
                  <a:ext cx="3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8" name="Rectangle 132"/>
                <p:cNvSpPr>
                  <a:spLocks noChangeArrowheads="1"/>
                </p:cNvSpPr>
                <p:nvPr/>
              </p:nvSpPr>
              <p:spPr bwMode="auto">
                <a:xfrm>
                  <a:off x="1679" y="890"/>
                  <a:ext cx="45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73189" name="Rectangle 133"/>
                <p:cNvSpPr>
                  <a:spLocks noChangeArrowheads="1"/>
                </p:cNvSpPr>
                <p:nvPr/>
              </p:nvSpPr>
              <p:spPr bwMode="auto">
                <a:xfrm>
                  <a:off x="2222" y="890"/>
                  <a:ext cx="39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73190" name="Rectangle 134"/>
                <p:cNvSpPr>
                  <a:spLocks noChangeArrowheads="1"/>
                </p:cNvSpPr>
                <p:nvPr/>
              </p:nvSpPr>
              <p:spPr bwMode="auto">
                <a:xfrm>
                  <a:off x="2125" y="1184"/>
                  <a:ext cx="531"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1" name="Rectangle 135"/>
                <p:cNvSpPr>
                  <a:spLocks noChangeArrowheads="1"/>
                </p:cNvSpPr>
                <p:nvPr/>
              </p:nvSpPr>
              <p:spPr bwMode="auto">
                <a:xfrm>
                  <a:off x="1621" y="1184"/>
                  <a:ext cx="532"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2" name="Rectangle 136"/>
                <p:cNvSpPr>
                  <a:spLocks noChangeArrowheads="1"/>
                </p:cNvSpPr>
                <p:nvPr/>
              </p:nvSpPr>
              <p:spPr bwMode="auto">
                <a:xfrm>
                  <a:off x="1423" y="1654"/>
                  <a:ext cx="18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73193" name="Rectangle 137"/>
                <p:cNvSpPr>
                  <a:spLocks noChangeArrowheads="1"/>
                </p:cNvSpPr>
                <p:nvPr/>
              </p:nvSpPr>
              <p:spPr bwMode="auto">
                <a:xfrm>
                  <a:off x="1383" y="1731"/>
                  <a:ext cx="282"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73194" name="Rectangle 138"/>
                <p:cNvSpPr>
                  <a:spLocks noChangeArrowheads="1"/>
                </p:cNvSpPr>
                <p:nvPr/>
              </p:nvSpPr>
              <p:spPr bwMode="auto">
                <a:xfrm>
                  <a:off x="1380" y="1808"/>
                  <a:ext cx="27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73195" name="Rectangle 139"/>
                <p:cNvSpPr>
                  <a:spLocks noChangeArrowheads="1"/>
                </p:cNvSpPr>
                <p:nvPr/>
              </p:nvSpPr>
              <p:spPr bwMode="auto">
                <a:xfrm>
                  <a:off x="1804" y="1758"/>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73196" name="Rectangle 140"/>
                <p:cNvSpPr>
                  <a:spLocks noChangeArrowheads="1"/>
                </p:cNvSpPr>
                <p:nvPr/>
              </p:nvSpPr>
              <p:spPr bwMode="auto">
                <a:xfrm>
                  <a:off x="1803" y="1825"/>
                  <a:ext cx="52"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73197" name="Rectangle 141"/>
                <p:cNvSpPr>
                  <a:spLocks noChangeArrowheads="1"/>
                </p:cNvSpPr>
                <p:nvPr/>
              </p:nvSpPr>
              <p:spPr bwMode="auto">
                <a:xfrm>
                  <a:off x="1804" y="1891"/>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73198" name="Rectangle 142"/>
                <p:cNvSpPr>
                  <a:spLocks noChangeArrowheads="1"/>
                </p:cNvSpPr>
                <p:nvPr/>
              </p:nvSpPr>
              <p:spPr bwMode="auto">
                <a:xfrm>
                  <a:off x="1803" y="1961"/>
                  <a:ext cx="55"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73199" name="Rectangle 143"/>
                <p:cNvSpPr>
                  <a:spLocks noChangeArrowheads="1"/>
                </p:cNvSpPr>
                <p:nvPr/>
              </p:nvSpPr>
              <p:spPr bwMode="auto">
                <a:xfrm>
                  <a:off x="1804" y="2028"/>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73200" name="Rectangle 144"/>
                <p:cNvSpPr>
                  <a:spLocks noChangeArrowheads="1"/>
                </p:cNvSpPr>
                <p:nvPr/>
              </p:nvSpPr>
              <p:spPr bwMode="auto">
                <a:xfrm>
                  <a:off x="1804" y="2095"/>
                  <a:ext cx="40"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73201" name="Rectangle 145"/>
                <p:cNvSpPr>
                  <a:spLocks noChangeArrowheads="1"/>
                </p:cNvSpPr>
                <p:nvPr/>
              </p:nvSpPr>
              <p:spPr bwMode="auto">
                <a:xfrm>
                  <a:off x="2241" y="1731"/>
                  <a:ext cx="54"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2" name="Rectangle 146"/>
                <p:cNvSpPr>
                  <a:spLocks noChangeArrowheads="1"/>
                </p:cNvSpPr>
                <p:nvPr/>
              </p:nvSpPr>
              <p:spPr bwMode="auto">
                <a:xfrm>
                  <a:off x="2242" y="1812"/>
                  <a:ext cx="4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73203" name="Rectangle 147"/>
                <p:cNvSpPr>
                  <a:spLocks noChangeArrowheads="1"/>
                </p:cNvSpPr>
                <p:nvPr/>
              </p:nvSpPr>
              <p:spPr bwMode="auto">
                <a:xfrm>
                  <a:off x="2242" y="1888"/>
                  <a:ext cx="4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4" name="Rectangle 148"/>
                <p:cNvSpPr>
                  <a:spLocks noChangeArrowheads="1"/>
                </p:cNvSpPr>
                <p:nvPr/>
              </p:nvSpPr>
              <p:spPr bwMode="auto">
                <a:xfrm>
                  <a:off x="2241" y="1965"/>
                  <a:ext cx="51"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05" name="Rectangle 149"/>
                <p:cNvSpPr>
                  <a:spLocks noChangeArrowheads="1"/>
                </p:cNvSpPr>
                <p:nvPr/>
              </p:nvSpPr>
              <p:spPr bwMode="auto">
                <a:xfrm>
                  <a:off x="2241" y="2046"/>
                  <a:ext cx="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73206" name="Rectangle 150"/>
                <p:cNvSpPr>
                  <a:spLocks noChangeArrowheads="1"/>
                </p:cNvSpPr>
                <p:nvPr/>
              </p:nvSpPr>
              <p:spPr bwMode="auto">
                <a:xfrm>
                  <a:off x="2241" y="2123"/>
                  <a:ext cx="54"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73207" name="Rectangle 151"/>
                <p:cNvSpPr>
                  <a:spLocks noChangeArrowheads="1"/>
                </p:cNvSpPr>
                <p:nvPr/>
              </p:nvSpPr>
              <p:spPr bwMode="auto">
                <a:xfrm>
                  <a:off x="2241" y="2204"/>
                  <a:ext cx="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8" name="Rectangle 152"/>
                <p:cNvSpPr>
                  <a:spLocks noChangeArrowheads="1"/>
                </p:cNvSpPr>
                <p:nvPr/>
              </p:nvSpPr>
              <p:spPr bwMode="auto">
                <a:xfrm>
                  <a:off x="2242" y="2281"/>
                  <a:ext cx="4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9" name="Rectangle 153"/>
                <p:cNvSpPr>
                  <a:spLocks noChangeArrowheads="1"/>
                </p:cNvSpPr>
                <p:nvPr/>
              </p:nvSpPr>
              <p:spPr bwMode="auto">
                <a:xfrm>
                  <a:off x="2241" y="2357"/>
                  <a:ext cx="5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10" name="Rectangle 154"/>
                <p:cNvSpPr>
                  <a:spLocks noChangeArrowheads="1"/>
                </p:cNvSpPr>
                <p:nvPr/>
              </p:nvSpPr>
              <p:spPr bwMode="auto">
                <a:xfrm>
                  <a:off x="2583" y="2007"/>
                  <a:ext cx="48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1" name="Rectangle 155"/>
                <p:cNvSpPr>
                  <a:spLocks noChangeArrowheads="1"/>
                </p:cNvSpPr>
                <p:nvPr/>
              </p:nvSpPr>
              <p:spPr bwMode="auto">
                <a:xfrm>
                  <a:off x="2697" y="2085"/>
                  <a:ext cx="20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73212" name="Rectangle 156"/>
                <p:cNvSpPr>
                  <a:spLocks noChangeArrowheads="1"/>
                </p:cNvSpPr>
                <p:nvPr/>
              </p:nvSpPr>
              <p:spPr bwMode="auto">
                <a:xfrm>
                  <a:off x="1937" y="2428"/>
                  <a:ext cx="22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73213" name="Rectangle 157"/>
                <p:cNvSpPr>
                  <a:spLocks noChangeArrowheads="1"/>
                </p:cNvSpPr>
                <p:nvPr/>
              </p:nvSpPr>
              <p:spPr bwMode="auto">
                <a:xfrm>
                  <a:off x="1941" y="2505"/>
                  <a:ext cx="19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14" name="Rectangle 158"/>
                <p:cNvSpPr>
                  <a:spLocks noChangeArrowheads="1"/>
                </p:cNvSpPr>
                <p:nvPr/>
              </p:nvSpPr>
              <p:spPr bwMode="auto">
                <a:xfrm>
                  <a:off x="2308" y="2463"/>
                  <a:ext cx="132" cy="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5" name="Rectangle 159"/>
                <p:cNvSpPr>
                  <a:spLocks noChangeArrowheads="1"/>
                </p:cNvSpPr>
                <p:nvPr/>
              </p:nvSpPr>
              <p:spPr bwMode="auto">
                <a:xfrm>
                  <a:off x="2308" y="2510"/>
                  <a:ext cx="118" cy="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6" name="Rectangle 160"/>
                <p:cNvSpPr>
                  <a:spLocks noChangeArrowheads="1"/>
                </p:cNvSpPr>
                <p:nvPr/>
              </p:nvSpPr>
              <p:spPr bwMode="auto">
                <a:xfrm>
                  <a:off x="2308" y="2211"/>
                  <a:ext cx="132"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7" name="Rectangle 161"/>
                <p:cNvSpPr>
                  <a:spLocks noChangeArrowheads="1"/>
                </p:cNvSpPr>
                <p:nvPr/>
              </p:nvSpPr>
              <p:spPr bwMode="auto">
                <a:xfrm>
                  <a:off x="2308" y="2256"/>
                  <a:ext cx="118"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8" name="Rectangle 162"/>
                <p:cNvSpPr>
                  <a:spLocks noChangeArrowheads="1"/>
                </p:cNvSpPr>
                <p:nvPr/>
              </p:nvSpPr>
              <p:spPr bwMode="auto">
                <a:xfrm>
                  <a:off x="2315" y="1755"/>
                  <a:ext cx="48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9" name="Rectangle 163"/>
                <p:cNvSpPr>
                  <a:spLocks noChangeArrowheads="1"/>
                </p:cNvSpPr>
                <p:nvPr/>
              </p:nvSpPr>
              <p:spPr bwMode="auto">
                <a:xfrm>
                  <a:off x="2436" y="1832"/>
                  <a:ext cx="20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20" name="Rectangle 164"/>
                <p:cNvSpPr>
                  <a:spLocks noChangeArrowheads="1"/>
                </p:cNvSpPr>
                <p:nvPr/>
              </p:nvSpPr>
              <p:spPr bwMode="auto">
                <a:xfrm>
                  <a:off x="2570" y="2270"/>
                  <a:ext cx="43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73221" name="Rectangle 165"/>
                <p:cNvSpPr>
                  <a:spLocks noChangeArrowheads="1"/>
                </p:cNvSpPr>
                <p:nvPr/>
              </p:nvSpPr>
              <p:spPr bwMode="auto">
                <a:xfrm>
                  <a:off x="2661" y="2347"/>
                  <a:ext cx="203"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73222" name="Rectangle 166"/>
                <p:cNvSpPr>
                  <a:spLocks noChangeArrowheads="1"/>
                </p:cNvSpPr>
                <p:nvPr/>
              </p:nvSpPr>
              <p:spPr bwMode="auto">
                <a:xfrm>
                  <a:off x="1972" y="1531"/>
                  <a:ext cx="5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73223" name="Line 167"/>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4" name="Line 168"/>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5" name="Line 169"/>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6" name="Line 170"/>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7" name="Line 171"/>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10" name="Group 172"/>
              <p:cNvGrpSpPr>
                <a:grpSpLocks/>
              </p:cNvGrpSpPr>
              <p:nvPr/>
            </p:nvGrpSpPr>
            <p:grpSpPr bwMode="auto">
              <a:xfrm>
                <a:off x="519" y="1589"/>
                <a:ext cx="1034" cy="1546"/>
                <a:chOff x="146" y="1282"/>
                <a:chExt cx="1034" cy="1546"/>
              </a:xfrm>
            </p:grpSpPr>
            <p:sp>
              <p:nvSpPr>
                <p:cNvPr id="173229" name="Rectangle 173"/>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230" name="Rectangle 174"/>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31" name="Line 175"/>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2" name="Freeform 176"/>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3" name="Line 177"/>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4" name="Freeform 178"/>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5" name="Rectangle 179"/>
                <p:cNvSpPr>
                  <a:spLocks noChangeArrowheads="1"/>
                </p:cNvSpPr>
                <p:nvPr/>
              </p:nvSpPr>
              <p:spPr bwMode="auto">
                <a:xfrm>
                  <a:off x="234" y="1365"/>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236" name="Rectangle 180"/>
                <p:cNvSpPr>
                  <a:spLocks noChangeArrowheads="1"/>
                </p:cNvSpPr>
                <p:nvPr/>
              </p:nvSpPr>
              <p:spPr bwMode="auto">
                <a:xfrm>
                  <a:off x="271" y="1560"/>
                  <a:ext cx="26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237" name="Rectangle 181"/>
                <p:cNvSpPr>
                  <a:spLocks noChangeArrowheads="1"/>
                </p:cNvSpPr>
                <p:nvPr/>
              </p:nvSpPr>
              <p:spPr bwMode="auto">
                <a:xfrm>
                  <a:off x="146" y="1876"/>
                  <a:ext cx="39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238" name="Rectangle 182"/>
                <p:cNvSpPr>
                  <a:spLocks noChangeArrowheads="1"/>
                </p:cNvSpPr>
                <p:nvPr/>
              </p:nvSpPr>
              <p:spPr bwMode="auto">
                <a:xfrm>
                  <a:off x="299" y="1770"/>
                  <a:ext cx="18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239" name="Rectangle 183"/>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0" name="Rectangle 184"/>
                <p:cNvSpPr>
                  <a:spLocks noChangeArrowheads="1"/>
                </p:cNvSpPr>
                <p:nvPr/>
              </p:nvSpPr>
              <p:spPr bwMode="auto">
                <a:xfrm>
                  <a:off x="603" y="2460"/>
                  <a:ext cx="5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241" name="Rectangle 185"/>
                <p:cNvSpPr>
                  <a:spLocks noChangeArrowheads="1"/>
                </p:cNvSpPr>
                <p:nvPr/>
              </p:nvSpPr>
              <p:spPr bwMode="auto">
                <a:xfrm>
                  <a:off x="623" y="2628"/>
                  <a:ext cx="45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242" name="Rectangle 186"/>
                <p:cNvSpPr>
                  <a:spLocks noChangeArrowheads="1"/>
                </p:cNvSpPr>
                <p:nvPr/>
              </p:nvSpPr>
              <p:spPr bwMode="auto">
                <a:xfrm>
                  <a:off x="706" y="2741"/>
                  <a:ext cx="30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243" name="Rectangle 187"/>
                <p:cNvSpPr>
                  <a:spLocks noChangeArrowheads="1"/>
                </p:cNvSpPr>
                <p:nvPr/>
              </p:nvSpPr>
              <p:spPr bwMode="auto">
                <a:xfrm>
                  <a:off x="580" y="2542"/>
                  <a:ext cx="59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244" name="Rectangle 188"/>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5" name="Rectangle 189"/>
                <p:cNvSpPr>
                  <a:spLocks noChangeArrowheads="1"/>
                </p:cNvSpPr>
                <p:nvPr/>
              </p:nvSpPr>
              <p:spPr bwMode="auto">
                <a:xfrm>
                  <a:off x="857" y="1492"/>
                  <a:ext cx="24"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 </a:t>
                  </a:r>
                  <a:endParaRPr lang="en-US" altLang="en-US" sz="900" dirty="0"/>
                </a:p>
              </p:txBody>
            </p:sp>
            <p:sp>
              <p:nvSpPr>
                <p:cNvPr id="173246" name="Line 190"/>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47" name="Freeform 191"/>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48" name="Rectangle 192"/>
                <p:cNvSpPr>
                  <a:spLocks noChangeArrowheads="1"/>
                </p:cNvSpPr>
                <p:nvPr/>
              </p:nvSpPr>
              <p:spPr bwMode="auto">
                <a:xfrm>
                  <a:off x="229" y="2174"/>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249" name="Line 193"/>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0" name="Freeform 194"/>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51" name="Line 195"/>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52" name="Freeform 196"/>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53" name="Rectangle 197"/>
                <p:cNvSpPr>
                  <a:spLocks noChangeArrowheads="1"/>
                </p:cNvSpPr>
                <p:nvPr/>
              </p:nvSpPr>
              <p:spPr bwMode="auto">
                <a:xfrm>
                  <a:off x="274" y="2038"/>
                  <a:ext cx="26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254" name="Line 198"/>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5" name="Line 199"/>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6" name="Line 200"/>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7" name="Line 201"/>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8" name="Line 202"/>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9" name="Line 203"/>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0" name="Line 204"/>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1" name="Line 205"/>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2" name="Line 206"/>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3" name="Line 207"/>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4" name="Line 208"/>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5" name="Rectangle 209"/>
                <p:cNvSpPr>
                  <a:spLocks noChangeArrowheads="1"/>
                </p:cNvSpPr>
                <p:nvPr/>
              </p:nvSpPr>
              <p:spPr bwMode="auto">
                <a:xfrm>
                  <a:off x="706" y="2032"/>
                  <a:ext cx="302"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266" name="Line 210"/>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7" name="Line 211"/>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8" name="Line 212"/>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9" name="Line 213"/>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0" name="Line 214"/>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1" name="Line 215"/>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2" name="Line 216"/>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3" name="Line 217"/>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4" name="Line 218"/>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5" name="Line 219"/>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6" name="Line 220"/>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7" name="Line 221"/>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sp>
          <p:nvSpPr>
            <p:cNvPr id="173278" name="Rectangle 222"/>
            <p:cNvSpPr>
              <a:spLocks noChangeArrowheads="1"/>
            </p:cNvSpPr>
            <p:nvPr/>
          </p:nvSpPr>
          <p:spPr bwMode="auto">
            <a:xfrm>
              <a:off x="1610" y="3711"/>
              <a:ext cx="2445"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 + </a:t>
              </a:r>
            </a:p>
            <a:p>
              <a:pPr algn="ctr"/>
              <a:r>
                <a:rPr lang="en-US" altLang="en-US" sz="1600" b="1" dirty="0">
                  <a:solidFill>
                    <a:schemeClr val="tx2"/>
                  </a:solidFill>
                  <a:latin typeface="+mn-lt"/>
                </a:rPr>
                <a:t>Model of the Mechanical System</a:t>
              </a:r>
            </a:p>
          </p:txBody>
        </p:sp>
      </p:grpSp>
      <p:sp>
        <p:nvSpPr>
          <p:cNvPr id="3" name="Rounded Rectangular Callout 2"/>
          <p:cNvSpPr/>
          <p:nvPr/>
        </p:nvSpPr>
        <p:spPr>
          <a:xfrm>
            <a:off x="2971800" y="1886952"/>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dirty="0">
                <a:solidFill>
                  <a:schemeClr val="accent2"/>
                </a:solidFill>
              </a:rPr>
              <a:t>Verify safety properties of the nominal digital system</a:t>
            </a:r>
          </a:p>
        </p:txBody>
      </p:sp>
      <p:sp>
        <p:nvSpPr>
          <p:cNvPr id="220" name="Rounded Rectangular Callout 219"/>
          <p:cNvSpPr/>
          <p:nvPr/>
        </p:nvSpPr>
        <p:spPr>
          <a:xfrm>
            <a:off x="7391400" y="4494680"/>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dirty="0">
                <a:solidFill>
                  <a:schemeClr val="accent2"/>
                </a:solidFill>
              </a:rPr>
              <a:t>Verify safety properties of the nominal</a:t>
            </a:r>
            <a:r>
              <a:rPr lang="en-US" altLang="en-US" sz="1200" dirty="0" smtClean="0">
                <a:solidFill>
                  <a:schemeClr val="accent2"/>
                </a:solidFill>
              </a:rPr>
              <a:t> mechanical system</a:t>
            </a:r>
            <a:endParaRPr lang="en-US" altLang="en-US" sz="1200" dirty="0">
              <a:solidFill>
                <a:schemeClr val="accent2"/>
              </a:solidFill>
            </a:endParaRPr>
          </a:p>
        </p:txBody>
      </p:sp>
    </p:spTree>
    <p:extLst>
      <p:ext uri="{BB962C8B-B14F-4D97-AF65-F5344CB8AC3E}">
        <p14:creationId xmlns:p14="http://schemas.microsoft.com/office/powerpoint/2010/main" val="155420324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738604"/>
          </a:xfrm>
        </p:spPr>
        <p:txBody>
          <a:bodyPr>
            <a:normAutofit/>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Tree>
    <p:extLst>
      <p:ext uri="{BB962C8B-B14F-4D97-AF65-F5344CB8AC3E}">
        <p14:creationId xmlns:p14="http://schemas.microsoft.com/office/powerpoint/2010/main" val="3376058119"/>
      </p:ext>
    </p:extLst>
  </p:cSld>
  <p:clrMapOvr>
    <a:masterClrMapping/>
  </p:clrMapOvr>
  <p:transition>
    <p:wipe dir="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04825"/>
            <a:ext cx="8305800" cy="503237"/>
          </a:xfrm>
        </p:spPr>
        <p:txBody>
          <a:bodyPr>
            <a:normAutofit/>
          </a:bodyPr>
          <a:lstStyle/>
          <a:p>
            <a:r>
              <a:rPr lang="en-US" dirty="0" smtClean="0"/>
              <a:t>Architecture Analysis and Design Language (AADL)</a:t>
            </a:r>
            <a:endParaRPr lang="en-US" dirty="0"/>
          </a:p>
        </p:txBody>
      </p:sp>
      <p:sp>
        <p:nvSpPr>
          <p:cNvPr id="19" name="Rectangle 18"/>
          <p:cNvSpPr/>
          <p:nvPr/>
        </p:nvSpPr>
        <p:spPr>
          <a:xfrm>
            <a:off x="1447800" y="4953000"/>
            <a:ext cx="6477000" cy="1371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smtClean="0"/>
              <a:t>AADL = SAE AS5506 standard</a:t>
            </a:r>
          </a:p>
          <a:p>
            <a:pPr marL="285750" indent="-285750">
              <a:buFont typeface="Arial" panose="020B0604020202020204" pitchFamily="34" charset="0"/>
              <a:buChar char="•"/>
            </a:pPr>
            <a:r>
              <a:rPr lang="en-US" sz="1600" dirty="0" smtClean="0"/>
              <a:t>Target: Embedded, real-time, distributed systems</a:t>
            </a:r>
          </a:p>
          <a:p>
            <a:pPr marL="285750" indent="-285750">
              <a:buFont typeface="Arial" panose="020B0604020202020204" pitchFamily="34" charset="0"/>
              <a:buChar char="•"/>
            </a:pPr>
            <a:r>
              <a:rPr lang="en-US" sz="1600" dirty="0" smtClean="0"/>
              <a:t>Describes both hardware and software</a:t>
            </a:r>
          </a:p>
          <a:p>
            <a:pPr marL="285750" indent="-285750">
              <a:buFont typeface="Arial" panose="020B0604020202020204" pitchFamily="34" charset="0"/>
              <a:buChar char="•"/>
            </a:pPr>
            <a:r>
              <a:rPr lang="en-US" sz="1600" dirty="0" smtClean="0"/>
              <a:t>Extensible syntax (annex)</a:t>
            </a:r>
          </a:p>
          <a:p>
            <a:pPr marL="285750" indent="-285750">
              <a:buFont typeface="Arial" panose="020B0604020202020204" pitchFamily="34" charset="0"/>
              <a:buChar char="•"/>
            </a:pPr>
            <a:r>
              <a:rPr lang="en-US" sz="1600" dirty="0" smtClean="0"/>
              <a:t>Open source tools, supported by SEI</a:t>
            </a:r>
            <a:endParaRPr lang="en-US" sz="1600" dirty="0"/>
          </a:p>
        </p:txBody>
      </p:sp>
      <p:grpSp>
        <p:nvGrpSpPr>
          <p:cNvPr id="3" name="Group 3"/>
          <p:cNvGrpSpPr/>
          <p:nvPr/>
        </p:nvGrpSpPr>
        <p:grpSpPr>
          <a:xfrm>
            <a:off x="533400" y="1676400"/>
            <a:ext cx="5734646" cy="3030224"/>
            <a:chOff x="1371600" y="1389376"/>
            <a:chExt cx="6553200" cy="3462753"/>
          </a:xfrm>
        </p:grpSpPr>
        <p:pic>
          <p:nvPicPr>
            <p:cNvPr id="21" name="Picture 3"/>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371600" y="1389376"/>
              <a:ext cx="6553200" cy="3462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 name="Picture 24" descr="pixhawk.jpg"/>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2297057" y="3581400"/>
              <a:ext cx="838200" cy="838200"/>
            </a:xfrm>
            <a:prstGeom prst="rect">
              <a:avLst/>
            </a:prstGeom>
          </p:spPr>
        </p:pic>
        <p:pic>
          <p:nvPicPr>
            <p:cNvPr id="26" name="Picture 2" descr="http://dn.odroid.com/homebackup/ODROID-XU3.jpg"/>
            <p:cNvPicPr>
              <a:picLocks noChangeAspect="1" noChangeArrowheads="1"/>
            </p:cNvPicPr>
            <p:nvPr/>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4724400" y="3581400"/>
              <a:ext cx="1161394" cy="67360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 name="Group 2049"/>
          <p:cNvGrpSpPr/>
          <p:nvPr/>
        </p:nvGrpSpPr>
        <p:grpSpPr>
          <a:xfrm>
            <a:off x="4343400" y="1371600"/>
            <a:ext cx="4595523" cy="2080852"/>
            <a:chOff x="4343400" y="1371600"/>
            <a:chExt cx="4595523" cy="2080852"/>
          </a:xfrm>
        </p:grpSpPr>
        <p:pic>
          <p:nvPicPr>
            <p:cNvPr id="27"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0" y="1371600"/>
              <a:ext cx="3604923" cy="208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28" name="Straight Connector 27"/>
            <p:cNvCxnSpPr/>
            <p:nvPr/>
          </p:nvCxnSpPr>
          <p:spPr>
            <a:xfrm flipV="1">
              <a:off x="4343400" y="1381126"/>
              <a:ext cx="1511930" cy="447674"/>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4343400" y="2514600"/>
              <a:ext cx="1447800" cy="838200"/>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67292010"/>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71600"/>
            <a:ext cx="1905000" cy="1066800"/>
          </a:xfrm>
        </p:spPr>
        <p:txBody>
          <a:bodyPr>
            <a:normAutofit/>
          </a:bodyPr>
          <a:lstStyle/>
          <a:p>
            <a:r>
              <a:rPr lang="en-US" dirty="0" smtClean="0"/>
              <a:t>WBS AADL Model</a:t>
            </a:r>
            <a:endParaRPr lang="en-US" dirty="0"/>
          </a:p>
        </p:txBody>
      </p:sp>
      <p:pic>
        <p:nvPicPr>
          <p:cNvPr id="4" name="Content Placeholder 3" descr="wbs_aadl.png"/>
          <p:cNvPicPr>
            <a:picLocks noGrp="1" noChangeAspect="1"/>
          </p:cNvPicPr>
          <p:nvPr>
            <p:ph idx="1"/>
          </p:nvPr>
        </p:nvPicPr>
        <p:blipFill>
          <a:blip r:embed="rId2"/>
          <a:srcRect l="-46366" r="-46366"/>
          <a:stretch>
            <a:fillRect/>
          </a:stretch>
        </p:blipFill>
        <p:spPr>
          <a:xfrm>
            <a:off x="-685800" y="609600"/>
            <a:ext cx="10665029" cy="6012491"/>
          </a:xfrm>
        </p:spPr>
      </p:pic>
    </p:spTree>
    <p:extLst>
      <p:ext uri="{BB962C8B-B14F-4D97-AF65-F5344CB8AC3E}">
        <p14:creationId xmlns:p14="http://schemas.microsoft.com/office/powerpoint/2010/main" val="2472002333"/>
      </p:ext>
    </p:extLst>
  </p:cSld>
  <p:clrMapOvr>
    <a:masterClrMapping/>
  </p:clrMapOvr>
  <p:transition>
    <p:wipe dir="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bs_aadl_bscu.png"/>
          <p:cNvPicPr>
            <a:picLocks noChangeAspect="1"/>
          </p:cNvPicPr>
          <p:nvPr/>
        </p:nvPicPr>
        <p:blipFill>
          <a:blip r:embed="rId2"/>
          <a:stretch>
            <a:fillRect/>
          </a:stretch>
        </p:blipFill>
        <p:spPr>
          <a:xfrm>
            <a:off x="1752600" y="609600"/>
            <a:ext cx="5638799" cy="6248400"/>
          </a:xfrm>
          <a:prstGeom prst="rect">
            <a:avLst/>
          </a:prstGeom>
        </p:spPr>
      </p:pic>
    </p:spTree>
    <p:extLst>
      <p:ext uri="{BB962C8B-B14F-4D97-AF65-F5344CB8AC3E}">
        <p14:creationId xmlns:p14="http://schemas.microsoft.com/office/powerpoint/2010/main" val="696453907"/>
      </p:ext>
    </p:extLst>
  </p:cSld>
  <p:clrMapOvr>
    <a:masterClrMapping/>
  </p:clrMapOvr>
  <p:transition>
    <p:wipe dir="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Architecture Modeling and Analysis Tools</a:t>
            </a:r>
            <a:endParaRPr lang="en-US" dirty="0"/>
          </a:p>
        </p:txBody>
      </p:sp>
      <p:pic>
        <p:nvPicPr>
          <p:cNvPr id="94" name="Picture 1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24200" y="1524000"/>
            <a:ext cx="3048000" cy="189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Group 94"/>
          <p:cNvGrpSpPr/>
          <p:nvPr/>
        </p:nvGrpSpPr>
        <p:grpSpPr>
          <a:xfrm>
            <a:off x="1836396" y="2628900"/>
            <a:ext cx="3661087" cy="3870187"/>
            <a:chOff x="1836396" y="2628900"/>
            <a:chExt cx="3661087" cy="3870187"/>
          </a:xfrm>
        </p:grpSpPr>
        <p:grpSp>
          <p:nvGrpSpPr>
            <p:cNvPr id="5" name="Group 95"/>
            <p:cNvGrpSpPr/>
            <p:nvPr/>
          </p:nvGrpSpPr>
          <p:grpSpPr>
            <a:xfrm>
              <a:off x="1873646" y="2628900"/>
              <a:ext cx="1110265" cy="533400"/>
              <a:chOff x="1129973" y="1950482"/>
              <a:chExt cx="1110265" cy="533400"/>
            </a:xfrm>
          </p:grpSpPr>
          <p:grpSp>
            <p:nvGrpSpPr>
              <p:cNvPr id="6" name="Group 102"/>
              <p:cNvGrpSpPr/>
              <p:nvPr/>
            </p:nvGrpSpPr>
            <p:grpSpPr>
              <a:xfrm flipH="1">
                <a:off x="1129973" y="1950482"/>
                <a:ext cx="1110265" cy="533400"/>
                <a:chOff x="6640902" y="1295400"/>
                <a:chExt cx="1110265" cy="533400"/>
              </a:xfrm>
            </p:grpSpPr>
            <p:sp>
              <p:nvSpPr>
                <p:cNvPr id="105" name="Rectangle 10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6" name="Oval 10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7" name="Rectangle 10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8" name="Rectangle 10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04" name="TextBox 103"/>
              <p:cNvSpPr txBox="1"/>
              <p:nvPr/>
            </p:nvSpPr>
            <p:spPr>
              <a:xfrm>
                <a:off x="1165880" y="1960662"/>
                <a:ext cx="947695" cy="523220"/>
              </a:xfrm>
              <a:prstGeom prst="rect">
                <a:avLst/>
              </a:prstGeom>
              <a:noFill/>
            </p:spPr>
            <p:txBody>
              <a:bodyPr wrap="non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Trusted</a:t>
                </a:r>
              </a:p>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Build</a:t>
                </a:r>
              </a:p>
            </p:txBody>
          </p:sp>
        </p:grpSp>
        <p:grpSp>
          <p:nvGrpSpPr>
            <p:cNvPr id="7" name="Group 96"/>
            <p:cNvGrpSpPr/>
            <p:nvPr/>
          </p:nvGrpSpPr>
          <p:grpSpPr>
            <a:xfrm>
              <a:off x="1836396" y="3000374"/>
              <a:ext cx="3661087" cy="3498713"/>
              <a:chOff x="1836396" y="3000374"/>
              <a:chExt cx="3661087" cy="3498713"/>
            </a:xfrm>
          </p:grpSpPr>
          <p:pic>
            <p:nvPicPr>
              <p:cNvPr id="98" name="Picture 3" descr="C:\Users\ddcofer\AppData\Local\Microsoft\Windows\Temporary Internet Files\Content.IE5\HWJ81UGS\MC900389552[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74805" y="4544457"/>
                <a:ext cx="900112" cy="930275"/>
              </a:xfrm>
              <a:prstGeom prst="rect">
                <a:avLst/>
              </a:prstGeom>
              <a:noFill/>
              <a:extLst>
                <a:ext uri="{909E8E84-426E-40DD-AFC4-6F175D3DCCD1}">
                  <a14:hiddenFill xmlns:a14="http://schemas.microsoft.com/office/drawing/2010/main">
                    <a:solidFill>
                      <a:srgbClr val="FFFFFF"/>
                    </a:solidFill>
                  </a14:hiddenFill>
                </a:ext>
              </a:extLst>
            </p:spPr>
          </p:pic>
          <p:sp>
            <p:nvSpPr>
              <p:cNvPr id="99" name="TextBox 98"/>
              <p:cNvSpPr txBox="1"/>
              <p:nvPr/>
            </p:nvSpPr>
            <p:spPr>
              <a:xfrm>
                <a:off x="2563025" y="4114800"/>
                <a:ext cx="29344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Translation</a:t>
                </a:r>
              </a:p>
            </p:txBody>
          </p:sp>
          <p:sp>
            <p:nvSpPr>
              <p:cNvPr id="100" name="Freeform 99"/>
              <p:cNvSpPr/>
              <p:nvPr/>
            </p:nvSpPr>
            <p:spPr>
              <a:xfrm>
                <a:off x="1836396" y="3000374"/>
                <a:ext cx="1883808" cy="1082159"/>
              </a:xfrm>
              <a:custGeom>
                <a:avLst/>
                <a:gdLst>
                  <a:gd name="connsiteX0" fmla="*/ 105442 w 2210467"/>
                  <a:gd name="connsiteY0" fmla="*/ 0 h 866775"/>
                  <a:gd name="connsiteX1" fmla="*/ 191167 w 2210467"/>
                  <a:gd name="connsiteY1" fmla="*/ 333375 h 866775"/>
                  <a:gd name="connsiteX2" fmla="*/ 1858042 w 2210467"/>
                  <a:gd name="connsiteY2" fmla="*/ 609600 h 866775"/>
                  <a:gd name="connsiteX3" fmla="*/ 2210467 w 2210467"/>
                  <a:gd name="connsiteY3" fmla="*/ 866775 h 866775"/>
                  <a:gd name="connsiteX0" fmla="*/ 89354 w 2232479"/>
                  <a:gd name="connsiteY0" fmla="*/ 0 h 914400"/>
                  <a:gd name="connsiteX1" fmla="*/ 213179 w 2232479"/>
                  <a:gd name="connsiteY1" fmla="*/ 381000 h 914400"/>
                  <a:gd name="connsiteX2" fmla="*/ 1880054 w 2232479"/>
                  <a:gd name="connsiteY2" fmla="*/ 657225 h 914400"/>
                  <a:gd name="connsiteX3" fmla="*/ 2232479 w 2232479"/>
                  <a:gd name="connsiteY3" fmla="*/ 914400 h 914400"/>
                  <a:gd name="connsiteX0" fmla="*/ 74468 w 2217593"/>
                  <a:gd name="connsiteY0" fmla="*/ 0 h 914400"/>
                  <a:gd name="connsiteX1" fmla="*/ 198293 w 2217593"/>
                  <a:gd name="connsiteY1" fmla="*/ 381000 h 914400"/>
                  <a:gd name="connsiteX2" fmla="*/ 1865168 w 2217593"/>
                  <a:gd name="connsiteY2" fmla="*/ 657225 h 914400"/>
                  <a:gd name="connsiteX3" fmla="*/ 2217593 w 2217593"/>
                  <a:gd name="connsiteY3" fmla="*/ 914400 h 914400"/>
                  <a:gd name="connsiteX0" fmla="*/ 78130 w 2221255"/>
                  <a:gd name="connsiteY0" fmla="*/ 0 h 914400"/>
                  <a:gd name="connsiteX1" fmla="*/ 201955 w 2221255"/>
                  <a:gd name="connsiteY1" fmla="*/ 381000 h 914400"/>
                  <a:gd name="connsiteX2" fmla="*/ 1868830 w 2221255"/>
                  <a:gd name="connsiteY2" fmla="*/ 657225 h 914400"/>
                  <a:gd name="connsiteX3" fmla="*/ 2221255 w 2221255"/>
                  <a:gd name="connsiteY3" fmla="*/ 914400 h 914400"/>
                </a:gdLst>
                <a:ahLst/>
                <a:cxnLst>
                  <a:cxn ang="0">
                    <a:pos x="connsiteX0" y="connsiteY0"/>
                  </a:cxn>
                  <a:cxn ang="0">
                    <a:pos x="connsiteX1" y="connsiteY1"/>
                  </a:cxn>
                  <a:cxn ang="0">
                    <a:pos x="connsiteX2" y="connsiteY2"/>
                  </a:cxn>
                  <a:cxn ang="0">
                    <a:pos x="connsiteX3" y="connsiteY3"/>
                  </a:cxn>
                </a:cxnLst>
                <a:rect l="l" t="t" r="r" b="b"/>
                <a:pathLst>
                  <a:path w="2221255" h="914400">
                    <a:moveTo>
                      <a:pt x="78130" y="0"/>
                    </a:moveTo>
                    <a:cubicBezTo>
                      <a:pt x="3517" y="77787"/>
                      <a:pt x="-96495" y="271463"/>
                      <a:pt x="201955" y="381000"/>
                    </a:cubicBezTo>
                    <a:cubicBezTo>
                      <a:pt x="500405" y="490538"/>
                      <a:pt x="1532280" y="568325"/>
                      <a:pt x="1868830" y="657225"/>
                    </a:cubicBezTo>
                    <a:cubicBezTo>
                      <a:pt x="2205380" y="746125"/>
                      <a:pt x="2213317" y="830262"/>
                      <a:pt x="2221255" y="914400"/>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1" name="TextBox 100"/>
              <p:cNvSpPr txBox="1"/>
              <p:nvPr/>
            </p:nvSpPr>
            <p:spPr>
              <a:xfrm>
                <a:off x="3225271" y="5486400"/>
                <a:ext cx="853119"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seL4</a:t>
                </a:r>
              </a:p>
            </p:txBody>
          </p:sp>
          <p:sp>
            <p:nvSpPr>
              <p:cNvPr id="102" name="TextBox 101"/>
              <p:cNvSpPr txBox="1"/>
              <p:nvPr/>
            </p:nvSpPr>
            <p:spPr>
              <a:xfrm>
                <a:off x="3200400" y="5791201"/>
                <a:ext cx="1383712" cy="70788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eChronos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VxWorks</a:t>
                </a:r>
              </a:p>
            </p:txBody>
          </p:sp>
        </p:grpSp>
      </p:grpSp>
      <p:grpSp>
        <p:nvGrpSpPr>
          <p:cNvPr id="8" name="Group 108"/>
          <p:cNvGrpSpPr/>
          <p:nvPr/>
        </p:nvGrpSpPr>
        <p:grpSpPr>
          <a:xfrm>
            <a:off x="5035675" y="4126468"/>
            <a:ext cx="3651125" cy="2277770"/>
            <a:chOff x="5035675" y="4126468"/>
            <a:chExt cx="3651125" cy="2277770"/>
          </a:xfrm>
        </p:grpSpPr>
        <p:grpSp>
          <p:nvGrpSpPr>
            <p:cNvPr id="9" name="Group 109"/>
            <p:cNvGrpSpPr/>
            <p:nvPr/>
          </p:nvGrpSpPr>
          <p:grpSpPr>
            <a:xfrm>
              <a:off x="6028890" y="4474379"/>
              <a:ext cx="2657910" cy="1181292"/>
              <a:chOff x="4038600" y="3886200"/>
              <a:chExt cx="4800601" cy="2133600"/>
            </a:xfrm>
          </p:grpSpPr>
          <p:sp>
            <p:nvSpPr>
              <p:cNvPr id="113" name="Rectangle 112"/>
              <p:cNvSpPr/>
              <p:nvPr/>
            </p:nvSpPr>
            <p:spPr>
              <a:xfrm>
                <a:off x="4038600" y="3886200"/>
                <a:ext cx="4800599" cy="2133600"/>
              </a:xfrm>
              <a:prstGeom prst="rect">
                <a:avLst/>
              </a:prstGeom>
              <a:solidFill>
                <a:srgbClr val="F8F8F8"/>
              </a:solidFill>
              <a:ln w="25400" cap="flat" cmpd="sng" algn="ctr">
                <a:solidFill>
                  <a:schemeClr val="tx2"/>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000000"/>
                  </a:solidFill>
                  <a:effectLst/>
                  <a:uLnTx/>
                  <a:uFillTx/>
                  <a:latin typeface="Verdana"/>
                  <a:ea typeface="ＭＳ Ｐゴシック"/>
                  <a:cs typeface="Arial"/>
                </a:endParaRPr>
              </a:p>
            </p:txBody>
          </p:sp>
          <p:cxnSp>
            <p:nvCxnSpPr>
              <p:cNvPr id="114" name="Straight Connector 113"/>
              <p:cNvCxnSpPr>
                <a:stCxn id="127" idx="0"/>
                <a:endCxn id="136" idx="3"/>
              </p:cNvCxnSpPr>
              <p:nvPr/>
            </p:nvCxnSpPr>
            <p:spPr>
              <a:xfrm>
                <a:off x="4090988" y="4279900"/>
                <a:ext cx="357187" cy="3175"/>
              </a:xfrm>
              <a:prstGeom prst="line">
                <a:avLst/>
              </a:prstGeom>
              <a:noFill/>
              <a:ln w="9525" cap="flat" cmpd="sng" algn="ctr">
                <a:solidFill>
                  <a:srgbClr val="000000">
                    <a:shade val="95000"/>
                    <a:satMod val="105000"/>
                  </a:srgbClr>
                </a:solidFill>
                <a:prstDash val="solid"/>
              </a:ln>
              <a:effectLst/>
            </p:spPr>
          </p:cxnSp>
          <p:cxnSp>
            <p:nvCxnSpPr>
              <p:cNvPr id="115" name="Straight Connector 34"/>
              <p:cNvCxnSpPr>
                <a:stCxn id="137" idx="0"/>
                <a:endCxn id="133" idx="3"/>
              </p:cNvCxnSpPr>
              <p:nvPr/>
            </p:nvCxnSpPr>
            <p:spPr>
              <a:xfrm>
                <a:off x="5562601" y="4283075"/>
                <a:ext cx="333375" cy="1125538"/>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6" name="Straight Connector 36"/>
              <p:cNvCxnSpPr>
                <a:stCxn id="134" idx="0"/>
                <a:endCxn id="129" idx="3"/>
              </p:cNvCxnSpPr>
              <p:nvPr/>
            </p:nvCxnSpPr>
            <p:spPr>
              <a:xfrm flipV="1">
                <a:off x="7010401" y="4487069"/>
                <a:ext cx="380999" cy="921544"/>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7" name="Straight Connector 116"/>
              <p:cNvCxnSpPr>
                <a:stCxn id="137" idx="0"/>
                <a:endCxn id="130" idx="3"/>
              </p:cNvCxnSpPr>
              <p:nvPr/>
            </p:nvCxnSpPr>
            <p:spPr>
              <a:xfrm flipV="1">
                <a:off x="5562601" y="4282283"/>
                <a:ext cx="1828799" cy="792"/>
              </a:xfrm>
              <a:prstGeom prst="line">
                <a:avLst/>
              </a:prstGeom>
              <a:noFill/>
              <a:ln w="9525" cap="flat" cmpd="sng" algn="ctr">
                <a:solidFill>
                  <a:srgbClr val="000000">
                    <a:shade val="95000"/>
                    <a:satMod val="105000"/>
                  </a:srgbClr>
                </a:solidFill>
                <a:prstDash val="solid"/>
              </a:ln>
              <a:effectLst/>
            </p:spPr>
          </p:cxnSp>
          <p:cxnSp>
            <p:nvCxnSpPr>
              <p:cNvPr id="118" name="Straight Connector 117"/>
              <p:cNvCxnSpPr>
                <a:stCxn id="131" idx="0"/>
                <a:endCxn id="122" idx="3"/>
              </p:cNvCxnSpPr>
              <p:nvPr/>
            </p:nvCxnSpPr>
            <p:spPr>
              <a:xfrm>
                <a:off x="8504238" y="4384675"/>
                <a:ext cx="282576" cy="0"/>
              </a:xfrm>
              <a:prstGeom prst="line">
                <a:avLst/>
              </a:prstGeom>
              <a:noFill/>
              <a:ln w="9525" cap="flat" cmpd="sng" algn="ctr">
                <a:solidFill>
                  <a:srgbClr val="000000">
                    <a:shade val="95000"/>
                    <a:satMod val="105000"/>
                  </a:srgbClr>
                </a:solidFill>
                <a:prstDash val="solid"/>
              </a:ln>
              <a:effectLst/>
            </p:spPr>
          </p:cxnSp>
          <p:grpSp>
            <p:nvGrpSpPr>
              <p:cNvPr id="10" name="Group 118"/>
              <p:cNvGrpSpPr/>
              <p:nvPr/>
            </p:nvGrpSpPr>
            <p:grpSpPr>
              <a:xfrm>
                <a:off x="4448175" y="3975100"/>
                <a:ext cx="1114425" cy="614363"/>
                <a:chOff x="3800475" y="4076700"/>
                <a:chExt cx="1114425" cy="614363"/>
              </a:xfrm>
            </p:grpSpPr>
            <p:sp>
              <p:nvSpPr>
                <p:cNvPr id="135" name="Rectangle 134"/>
                <p:cNvSpPr>
                  <a:spLocks noChangeArrowheads="1"/>
                </p:cNvSpPr>
                <p:nvPr/>
              </p:nvSpPr>
              <p:spPr bwMode="auto">
                <a:xfrm>
                  <a:off x="3800475" y="4076700"/>
                  <a:ext cx="1114425"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A</a:t>
                  </a:r>
                </a:p>
              </p:txBody>
            </p:sp>
            <p:sp>
              <p:nvSpPr>
                <p:cNvPr id="136" name="Isosceles Triangle 135"/>
                <p:cNvSpPr>
                  <a:spLocks noChangeArrowheads="1"/>
                </p:cNvSpPr>
                <p:nvPr/>
              </p:nvSpPr>
              <p:spPr bwMode="auto">
                <a:xfrm rot="5400000">
                  <a:off x="38012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7" name="Isosceles Triangle 136"/>
                <p:cNvSpPr>
                  <a:spLocks noChangeArrowheads="1"/>
                </p:cNvSpPr>
                <p:nvPr/>
              </p:nvSpPr>
              <p:spPr bwMode="auto">
                <a:xfrm rot="5400000">
                  <a:off x="4862513" y="4357687"/>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1" name="Group 119"/>
              <p:cNvGrpSpPr/>
              <p:nvPr/>
            </p:nvGrpSpPr>
            <p:grpSpPr>
              <a:xfrm>
                <a:off x="5884862" y="5075238"/>
                <a:ext cx="1125538" cy="614362"/>
                <a:chOff x="5486400" y="5075238"/>
                <a:chExt cx="1125538" cy="614362"/>
              </a:xfrm>
            </p:grpSpPr>
            <p:sp>
              <p:nvSpPr>
                <p:cNvPr id="132" name="Rectangle 131"/>
                <p:cNvSpPr>
                  <a:spLocks noChangeArrowheads="1"/>
                </p:cNvSpPr>
                <p:nvPr/>
              </p:nvSpPr>
              <p:spPr bwMode="auto">
                <a:xfrm>
                  <a:off x="5486400" y="5075238"/>
                  <a:ext cx="1114425" cy="614362"/>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B</a:t>
                  </a:r>
                </a:p>
              </p:txBody>
            </p:sp>
            <p:sp>
              <p:nvSpPr>
                <p:cNvPr id="133" name="Isosceles Triangle 132"/>
                <p:cNvSpPr>
                  <a:spLocks noChangeArrowheads="1"/>
                </p:cNvSpPr>
                <p:nvPr/>
              </p:nvSpPr>
              <p:spPr bwMode="auto">
                <a:xfrm rot="5400000">
                  <a:off x="5498307" y="5382419"/>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4" name="Isosceles Triangle 133"/>
                <p:cNvSpPr>
                  <a:spLocks noChangeArrowheads="1"/>
                </p:cNvSpPr>
                <p:nvPr/>
              </p:nvSpPr>
              <p:spPr bwMode="auto">
                <a:xfrm rot="5400000">
                  <a:off x="6559551" y="5381625"/>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2" name="Group 120"/>
              <p:cNvGrpSpPr/>
              <p:nvPr/>
            </p:nvGrpSpPr>
            <p:grpSpPr>
              <a:xfrm>
                <a:off x="7391400" y="4051300"/>
                <a:ext cx="1112838" cy="614363"/>
                <a:chOff x="7248525" y="4051300"/>
                <a:chExt cx="1112838" cy="614363"/>
              </a:xfrm>
            </p:grpSpPr>
            <p:sp>
              <p:nvSpPr>
                <p:cNvPr id="128" name="Rectangle 127"/>
                <p:cNvSpPr>
                  <a:spLocks noChangeArrowheads="1"/>
                </p:cNvSpPr>
                <p:nvPr/>
              </p:nvSpPr>
              <p:spPr bwMode="auto">
                <a:xfrm>
                  <a:off x="7248525" y="4051300"/>
                  <a:ext cx="1112838"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C</a:t>
                  </a:r>
                </a:p>
              </p:txBody>
            </p:sp>
            <p:sp>
              <p:nvSpPr>
                <p:cNvPr id="129" name="Isosceles Triangle 128"/>
                <p:cNvSpPr>
                  <a:spLocks noChangeArrowheads="1"/>
                </p:cNvSpPr>
                <p:nvPr/>
              </p:nvSpPr>
              <p:spPr bwMode="auto">
                <a:xfrm rot="5400000">
                  <a:off x="7248525" y="4460875"/>
                  <a:ext cx="52388"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0" name="Isosceles Triangle 129"/>
                <p:cNvSpPr>
                  <a:spLocks noChangeArrowheads="1"/>
                </p:cNvSpPr>
                <p:nvPr/>
              </p:nvSpPr>
              <p:spPr bwMode="auto">
                <a:xfrm rot="5400000">
                  <a:off x="7248525" y="4256088"/>
                  <a:ext cx="52387"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1" name="Isosceles Triangle 130"/>
                <p:cNvSpPr>
                  <a:spLocks noChangeArrowheads="1"/>
                </p:cNvSpPr>
                <p:nvPr/>
              </p:nvSpPr>
              <p:spPr bwMode="auto">
                <a:xfrm rot="5400000">
                  <a:off x="83097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22" name="Isosceles Triangle 121"/>
              <p:cNvSpPr>
                <a:spLocks noChangeArrowheads="1"/>
              </p:cNvSpPr>
              <p:nvPr/>
            </p:nvSpPr>
            <p:spPr bwMode="auto">
              <a:xfrm rot="5400000">
                <a:off x="8787607" y="4358481"/>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23" name="TextBox 43"/>
              <p:cNvSpPr txBox="1">
                <a:spLocks noChangeArrowheads="1"/>
              </p:cNvSpPr>
              <p:nvPr/>
            </p:nvSpPr>
            <p:spPr bwMode="auto">
              <a:xfrm>
                <a:off x="4227513" y="4572000"/>
                <a:ext cx="1639889"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2*Input</a:t>
                </a:r>
              </a:p>
            </p:txBody>
          </p:sp>
          <p:sp>
            <p:nvSpPr>
              <p:cNvPr id="124" name="TextBox 44"/>
              <p:cNvSpPr txBox="1">
                <a:spLocks noChangeArrowheads="1"/>
              </p:cNvSpPr>
              <p:nvPr/>
            </p:nvSpPr>
            <p:spPr bwMode="auto">
              <a:xfrm>
                <a:off x="5724524" y="5654675"/>
                <a:ext cx="1743075"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Input + 15</a:t>
                </a:r>
              </a:p>
            </p:txBody>
          </p:sp>
          <p:sp>
            <p:nvSpPr>
              <p:cNvPr id="125" name="TextBox 45"/>
              <p:cNvSpPr txBox="1">
                <a:spLocks noChangeArrowheads="1"/>
              </p:cNvSpPr>
              <p:nvPr/>
            </p:nvSpPr>
            <p:spPr bwMode="auto">
              <a:xfrm>
                <a:off x="7300912" y="4648200"/>
                <a:ext cx="1538287"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none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 Input1 + Input2</a:t>
                </a:r>
              </a:p>
            </p:txBody>
          </p:sp>
          <p:sp>
            <p:nvSpPr>
              <p:cNvPr id="126" name="TextBox 46"/>
              <p:cNvSpPr txBox="1">
                <a:spLocks noChangeArrowheads="1"/>
              </p:cNvSpPr>
              <p:nvPr/>
            </p:nvSpPr>
            <p:spPr bwMode="auto">
              <a:xfrm>
                <a:off x="7443790" y="5650467"/>
                <a:ext cx="1395411" cy="33353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10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50</a:t>
                </a:r>
              </a:p>
            </p:txBody>
          </p:sp>
          <p:sp>
            <p:nvSpPr>
              <p:cNvPr id="127" name="Isosceles Triangle 17"/>
              <p:cNvSpPr>
                <a:spLocks noChangeArrowheads="1"/>
              </p:cNvSpPr>
              <p:nvPr/>
            </p:nvSpPr>
            <p:spPr bwMode="auto">
              <a:xfrm rot="5400000">
                <a:off x="4039394" y="4253706"/>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11" name="TextBox 110"/>
            <p:cNvSpPr txBox="1"/>
            <p:nvPr/>
          </p:nvSpPr>
          <p:spPr>
            <a:xfrm>
              <a:off x="6019800" y="4126468"/>
              <a:ext cx="261962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Analysis</a:t>
              </a:r>
            </a:p>
          </p:txBody>
        </p:sp>
        <p:pic>
          <p:nvPicPr>
            <p:cNvPr id="112" name="Picture 2" descr="C:\Users\ddcofer\Documents\Projects\hacms\svn_smaccm\meetings\2013-July-PI-meeting\slides\Rockwell\resolute_screen_shots\verbose_graph.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35675" y="5090293"/>
              <a:ext cx="1796847" cy="1313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37"/>
          <p:cNvGrpSpPr/>
          <p:nvPr/>
        </p:nvGrpSpPr>
        <p:grpSpPr>
          <a:xfrm>
            <a:off x="306132" y="1752600"/>
            <a:ext cx="2624822" cy="4304874"/>
            <a:chOff x="306132" y="1752600"/>
            <a:chExt cx="2624822" cy="4304874"/>
          </a:xfrm>
        </p:grpSpPr>
        <p:grpSp>
          <p:nvGrpSpPr>
            <p:cNvPr id="14" name="Group 138"/>
            <p:cNvGrpSpPr/>
            <p:nvPr/>
          </p:nvGrpSpPr>
          <p:grpSpPr>
            <a:xfrm>
              <a:off x="457200" y="1752600"/>
              <a:ext cx="2473754" cy="2895601"/>
              <a:chOff x="457200" y="1752600"/>
              <a:chExt cx="2473754" cy="2895601"/>
            </a:xfrm>
          </p:grpSpPr>
          <p:pic>
            <p:nvPicPr>
              <p:cNvPr id="141" name="Picture 2" descr="https://encrypted-tbn0.gstatic.com/images?q=tbn:ANd9GcQyR5lXe_e8Fx9HyDitWCJgBJAjBpV0KbUBCI4CfK9l44Rg0zil"/>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200" y="4267200"/>
                <a:ext cx="1476375" cy="381001"/>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p:cNvSpPr txBox="1"/>
              <p:nvPr/>
            </p:nvSpPr>
            <p:spPr>
              <a:xfrm>
                <a:off x="457200" y="3810000"/>
                <a:ext cx="24737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Models</a:t>
                </a:r>
              </a:p>
            </p:txBody>
          </p:sp>
          <p:grpSp>
            <p:nvGrpSpPr>
              <p:cNvPr id="15" name="Group 142"/>
              <p:cNvGrpSpPr/>
              <p:nvPr/>
            </p:nvGrpSpPr>
            <p:grpSpPr>
              <a:xfrm>
                <a:off x="1469873" y="1752600"/>
                <a:ext cx="1112138" cy="533400"/>
                <a:chOff x="1129973" y="1950482"/>
                <a:chExt cx="1112138" cy="533400"/>
              </a:xfrm>
            </p:grpSpPr>
            <p:grpSp>
              <p:nvGrpSpPr>
                <p:cNvPr id="16" name="Group 144"/>
                <p:cNvGrpSpPr/>
                <p:nvPr/>
              </p:nvGrpSpPr>
              <p:grpSpPr>
                <a:xfrm flipH="1">
                  <a:off x="1129973" y="1950482"/>
                  <a:ext cx="1112138" cy="533400"/>
                  <a:chOff x="6639029" y="1295400"/>
                  <a:chExt cx="1112138" cy="533400"/>
                </a:xfrm>
              </p:grpSpPr>
              <p:sp>
                <p:nvSpPr>
                  <p:cNvPr id="147" name="Rectangle 146"/>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8" name="Oval 147"/>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9" name="Rectangle 148"/>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0" name="Rectangle 149"/>
                  <p:cNvSpPr/>
                  <p:nvPr/>
                </p:nvSpPr>
                <p:spPr>
                  <a:xfrm>
                    <a:off x="6639029"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46" name="TextBox 145"/>
                <p:cNvSpPr txBox="1"/>
                <p:nvPr/>
              </p:nvSpPr>
              <p:spPr>
                <a:xfrm>
                  <a:off x="1245236" y="2017157"/>
                  <a:ext cx="863570"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rPr>
                    <a:t>OSATE</a:t>
                  </a:r>
                  <a:endParaRPr kumimoji="0" lang="en-US" sz="24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endParaRPr>
                </a:p>
              </p:txBody>
            </p:sp>
          </p:grpSp>
          <p:sp>
            <p:nvSpPr>
              <p:cNvPr id="144" name="Freeform 143"/>
              <p:cNvSpPr/>
              <p:nvPr/>
            </p:nvSpPr>
            <p:spPr>
              <a:xfrm>
                <a:off x="1143000" y="2032517"/>
                <a:ext cx="403073" cy="1739384"/>
              </a:xfrm>
              <a:custGeom>
                <a:avLst/>
                <a:gdLst>
                  <a:gd name="connsiteX0" fmla="*/ 400072 w 400072"/>
                  <a:gd name="connsiteY0" fmla="*/ 55644 h 1179594"/>
                  <a:gd name="connsiteX1" fmla="*/ 22 w 400072"/>
                  <a:gd name="connsiteY1" fmla="*/ 84219 h 1179594"/>
                  <a:gd name="connsiteX2" fmla="*/ 381022 w 400072"/>
                  <a:gd name="connsiteY2" fmla="*/ 855744 h 1179594"/>
                  <a:gd name="connsiteX3" fmla="*/ 304822 w 400072"/>
                  <a:gd name="connsiteY3" fmla="*/ 1160544 h 1179594"/>
                  <a:gd name="connsiteX4" fmla="*/ 304822 w 400072"/>
                  <a:gd name="connsiteY4" fmla="*/ 1160544 h 1179594"/>
                  <a:gd name="connsiteX5" fmla="*/ 304822 w 400072"/>
                  <a:gd name="connsiteY5" fmla="*/ 1179594 h 1179594"/>
                  <a:gd name="connsiteX0" fmla="*/ 409597 w 409597"/>
                  <a:gd name="connsiteY0" fmla="*/ 14182 h 1138132"/>
                  <a:gd name="connsiteX1" fmla="*/ 22 w 409597"/>
                  <a:gd name="connsiteY1" fmla="*/ 195157 h 1138132"/>
                  <a:gd name="connsiteX2" fmla="*/ 390547 w 409597"/>
                  <a:gd name="connsiteY2" fmla="*/ 814282 h 1138132"/>
                  <a:gd name="connsiteX3" fmla="*/ 314347 w 409597"/>
                  <a:gd name="connsiteY3" fmla="*/ 1119082 h 1138132"/>
                  <a:gd name="connsiteX4" fmla="*/ 314347 w 409597"/>
                  <a:gd name="connsiteY4" fmla="*/ 1119082 h 1138132"/>
                  <a:gd name="connsiteX5" fmla="*/ 314347 w 409597"/>
                  <a:gd name="connsiteY5" fmla="*/ 1138132 h 1138132"/>
                  <a:gd name="connsiteX0" fmla="*/ 390525 w 403073"/>
                  <a:gd name="connsiteY0" fmla="*/ 11255 h 1182830"/>
                  <a:gd name="connsiteX1" fmla="*/ 0 w 403073"/>
                  <a:gd name="connsiteY1" fmla="*/ 239855 h 1182830"/>
                  <a:gd name="connsiteX2" fmla="*/ 390525 w 403073"/>
                  <a:gd name="connsiteY2" fmla="*/ 858980 h 1182830"/>
                  <a:gd name="connsiteX3" fmla="*/ 314325 w 403073"/>
                  <a:gd name="connsiteY3" fmla="*/ 1163780 h 1182830"/>
                  <a:gd name="connsiteX4" fmla="*/ 314325 w 403073"/>
                  <a:gd name="connsiteY4" fmla="*/ 1163780 h 1182830"/>
                  <a:gd name="connsiteX5" fmla="*/ 314325 w 403073"/>
                  <a:gd name="connsiteY5" fmla="*/ 1182830 h 1182830"/>
                  <a:gd name="connsiteX0" fmla="*/ 390525 w 403073"/>
                  <a:gd name="connsiteY0" fmla="*/ 0 h 1171575"/>
                  <a:gd name="connsiteX1" fmla="*/ 0 w 403073"/>
                  <a:gd name="connsiteY1" fmla="*/ 228600 h 1171575"/>
                  <a:gd name="connsiteX2" fmla="*/ 390525 w 403073"/>
                  <a:gd name="connsiteY2" fmla="*/ 847725 h 1171575"/>
                  <a:gd name="connsiteX3" fmla="*/ 314325 w 403073"/>
                  <a:gd name="connsiteY3" fmla="*/ 1152525 h 1171575"/>
                  <a:gd name="connsiteX4" fmla="*/ 314325 w 403073"/>
                  <a:gd name="connsiteY4" fmla="*/ 1152525 h 1171575"/>
                  <a:gd name="connsiteX5" fmla="*/ 314325 w 403073"/>
                  <a:gd name="connsiteY5" fmla="*/ 1171575 h 117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73" h="1171575">
                    <a:moveTo>
                      <a:pt x="390525" y="0"/>
                    </a:moveTo>
                    <a:cubicBezTo>
                      <a:pt x="201612" y="23812"/>
                      <a:pt x="0" y="87313"/>
                      <a:pt x="0" y="228600"/>
                    </a:cubicBezTo>
                    <a:cubicBezTo>
                      <a:pt x="0" y="369887"/>
                      <a:pt x="338137" y="693737"/>
                      <a:pt x="390525" y="847725"/>
                    </a:cubicBezTo>
                    <a:cubicBezTo>
                      <a:pt x="442913" y="1001713"/>
                      <a:pt x="314325" y="1152525"/>
                      <a:pt x="314325" y="1152525"/>
                    </a:cubicBezTo>
                    <a:lnTo>
                      <a:pt x="314325" y="1152525"/>
                    </a:lnTo>
                    <a:lnTo>
                      <a:pt x="314325" y="1171575"/>
                    </a:ln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pic>
          <p:nvPicPr>
            <p:cNvPr id="140" name="Picture 7"/>
            <p:cNvPicPr>
              <a:picLocks noChangeAspect="1" noChangeArrowheads="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06132" y="4807057"/>
              <a:ext cx="2166255" cy="1250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7" name="Group 150"/>
          <p:cNvGrpSpPr/>
          <p:nvPr/>
        </p:nvGrpSpPr>
        <p:grpSpPr>
          <a:xfrm>
            <a:off x="6497183" y="1381125"/>
            <a:ext cx="2099617" cy="2790825"/>
            <a:chOff x="6497183" y="1381125"/>
            <a:chExt cx="2099617" cy="2790825"/>
          </a:xfrm>
        </p:grpSpPr>
        <p:sp>
          <p:nvSpPr>
            <p:cNvPr id="152" name="Freeform 151"/>
            <p:cNvSpPr/>
            <p:nvPr/>
          </p:nvSpPr>
          <p:spPr>
            <a:xfrm>
              <a:off x="7580508" y="1647825"/>
              <a:ext cx="1016292" cy="2524125"/>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001"/>
                <a:gd name="connsiteY0" fmla="*/ 0 h 1657350"/>
                <a:gd name="connsiteX1" fmla="*/ 581025 w 598001"/>
                <a:gd name="connsiteY1" fmla="*/ 200025 h 1657350"/>
                <a:gd name="connsiteX2" fmla="*/ 429787 w 598001"/>
                <a:gd name="connsiteY2" fmla="*/ 1301296 h 1657350"/>
                <a:gd name="connsiteX3" fmla="*/ 295275 w 598001"/>
                <a:gd name="connsiteY3" fmla="*/ 1657350 h 1657350"/>
                <a:gd name="connsiteX0" fmla="*/ 0 w 598001"/>
                <a:gd name="connsiteY0" fmla="*/ 0 h 1742848"/>
                <a:gd name="connsiteX1" fmla="*/ 581025 w 598001"/>
                <a:gd name="connsiteY1" fmla="*/ 200025 h 1742848"/>
                <a:gd name="connsiteX2" fmla="*/ 429787 w 598001"/>
                <a:gd name="connsiteY2" fmla="*/ 1301296 h 1742848"/>
                <a:gd name="connsiteX3" fmla="*/ 463415 w 598001"/>
                <a:gd name="connsiteY3" fmla="*/ 1742848 h 1742848"/>
              </a:gdLst>
              <a:ahLst/>
              <a:cxnLst>
                <a:cxn ang="0">
                  <a:pos x="connsiteX0" y="connsiteY0"/>
                </a:cxn>
                <a:cxn ang="0">
                  <a:pos x="connsiteX1" y="connsiteY1"/>
                </a:cxn>
                <a:cxn ang="0">
                  <a:pos x="connsiteX2" y="connsiteY2"/>
                </a:cxn>
                <a:cxn ang="0">
                  <a:pos x="connsiteX3" y="connsiteY3"/>
                </a:cxn>
              </a:cxnLst>
              <a:rect l="l" t="t" r="r" b="b"/>
              <a:pathLst>
                <a:path w="598001" h="1742848">
                  <a:moveTo>
                    <a:pt x="0" y="0"/>
                  </a:moveTo>
                  <a:cubicBezTo>
                    <a:pt x="265906" y="19050"/>
                    <a:pt x="509394" y="-16858"/>
                    <a:pt x="581025" y="200025"/>
                  </a:cubicBezTo>
                  <a:cubicBezTo>
                    <a:pt x="652656" y="416908"/>
                    <a:pt x="477412" y="1058409"/>
                    <a:pt x="429787" y="1301296"/>
                  </a:cubicBezTo>
                  <a:cubicBezTo>
                    <a:pt x="382162" y="1544184"/>
                    <a:pt x="439602" y="1692842"/>
                    <a:pt x="463415" y="1742848"/>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18" name="Group 152"/>
            <p:cNvGrpSpPr/>
            <p:nvPr/>
          </p:nvGrpSpPr>
          <p:grpSpPr>
            <a:xfrm>
              <a:off x="6497183" y="1381125"/>
              <a:ext cx="1503817" cy="533400"/>
              <a:chOff x="6640902" y="1295400"/>
              <a:chExt cx="1503817" cy="533400"/>
            </a:xfrm>
          </p:grpSpPr>
          <p:grpSp>
            <p:nvGrpSpPr>
              <p:cNvPr id="19" name="Group 153"/>
              <p:cNvGrpSpPr/>
              <p:nvPr/>
            </p:nvGrpSpPr>
            <p:grpSpPr>
              <a:xfrm>
                <a:off x="6640902" y="1295400"/>
                <a:ext cx="1503817" cy="533400"/>
                <a:chOff x="6640902" y="1295400"/>
                <a:chExt cx="1503817" cy="533400"/>
              </a:xfrm>
            </p:grpSpPr>
            <p:sp>
              <p:nvSpPr>
                <p:cNvPr id="156" name="Rectangle 155"/>
                <p:cNvSpPr/>
                <p:nvPr/>
              </p:nvSpPr>
              <p:spPr>
                <a:xfrm>
                  <a:off x="6783673" y="1295400"/>
                  <a:ext cx="1095567"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7" name="Oval 156"/>
                <p:cNvSpPr/>
                <p:nvPr/>
              </p:nvSpPr>
              <p:spPr>
                <a:xfrm>
                  <a:off x="7632552"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8" name="Rectangle 157"/>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9" name="Rectangle 158"/>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55" name="TextBox 154"/>
              <p:cNvSpPr txBox="1"/>
              <p:nvPr/>
            </p:nvSpPr>
            <p:spPr>
              <a:xfrm>
                <a:off x="6766755" y="1329035"/>
                <a:ext cx="1352875"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dirty="0" smtClean="0">
                    <a:ln>
                      <a:noFill/>
                    </a:ln>
                    <a:solidFill>
                      <a:srgbClr val="000000"/>
                    </a:solidFill>
                    <a:effectLst/>
                    <a:uLnTx/>
                    <a:uFillTx/>
                    <a:latin typeface="Tw Cen MT" pitchFamily="34" charset="0"/>
                    <a:ea typeface="ＭＳ Ｐゴシック" pitchFamily="34" charset="-128"/>
                    <a:cs typeface="Arial"/>
                  </a:rPr>
                  <a:t>Resolute</a:t>
                </a:r>
              </a:p>
            </p:txBody>
          </p:sp>
        </p:grpSp>
      </p:grpSp>
      <p:grpSp>
        <p:nvGrpSpPr>
          <p:cNvPr id="20" name="Group 159"/>
          <p:cNvGrpSpPr/>
          <p:nvPr/>
        </p:nvGrpSpPr>
        <p:grpSpPr>
          <a:xfrm>
            <a:off x="6477000" y="1981200"/>
            <a:ext cx="1807644" cy="2199650"/>
            <a:chOff x="6540793" y="2133600"/>
            <a:chExt cx="1807644" cy="2199650"/>
          </a:xfrm>
        </p:grpSpPr>
        <p:grpSp>
          <p:nvGrpSpPr>
            <p:cNvPr id="21" name="Group 160"/>
            <p:cNvGrpSpPr/>
            <p:nvPr/>
          </p:nvGrpSpPr>
          <p:grpSpPr>
            <a:xfrm>
              <a:off x="6540793" y="2133600"/>
              <a:ext cx="1110265" cy="533400"/>
              <a:chOff x="6640902" y="1295400"/>
              <a:chExt cx="1110265" cy="533400"/>
            </a:xfrm>
          </p:grpSpPr>
          <p:grpSp>
            <p:nvGrpSpPr>
              <p:cNvPr id="22" name="Group 162"/>
              <p:cNvGrpSpPr/>
              <p:nvPr/>
            </p:nvGrpSpPr>
            <p:grpSpPr>
              <a:xfrm>
                <a:off x="6640902" y="1295400"/>
                <a:ext cx="1110265" cy="533400"/>
                <a:chOff x="6640902" y="1295400"/>
                <a:chExt cx="1110265" cy="533400"/>
              </a:xfrm>
            </p:grpSpPr>
            <p:sp>
              <p:nvSpPr>
                <p:cNvPr id="165" name="Rectangle 16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6" name="Oval 16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7" name="Rectangle 16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8" name="Rectangle 16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64" name="TextBox 163"/>
              <p:cNvSpPr txBox="1"/>
              <p:nvPr/>
            </p:nvSpPr>
            <p:spPr>
              <a:xfrm>
                <a:off x="6766755" y="1371600"/>
                <a:ext cx="92525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rPr>
                  <a:t>AGREE</a:t>
                </a:r>
                <a:endParaRPr kumimoji="0" lang="en-US" sz="20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endParaRPr>
              </a:p>
            </p:txBody>
          </p:sp>
        </p:grpSp>
        <p:sp>
          <p:nvSpPr>
            <p:cNvPr id="162" name="Freeform 161"/>
            <p:cNvSpPr/>
            <p:nvPr/>
          </p:nvSpPr>
          <p:spPr>
            <a:xfrm>
              <a:off x="7589076" y="2400299"/>
              <a:ext cx="759361" cy="1932951"/>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294"/>
                <a:gd name="connsiteY0" fmla="*/ 0 h 1657350"/>
                <a:gd name="connsiteX1" fmla="*/ 581025 w 598294"/>
                <a:gd name="connsiteY1" fmla="*/ 200025 h 1657350"/>
                <a:gd name="connsiteX2" fmla="*/ 432001 w 598294"/>
                <a:gd name="connsiteY2" fmla="*/ 1287852 h 1657350"/>
                <a:gd name="connsiteX3" fmla="*/ 295275 w 598294"/>
                <a:gd name="connsiteY3" fmla="*/ 1657350 h 1657350"/>
                <a:gd name="connsiteX0" fmla="*/ 0 w 598294"/>
                <a:gd name="connsiteY0" fmla="*/ 0 h 1799205"/>
                <a:gd name="connsiteX1" fmla="*/ 581025 w 598294"/>
                <a:gd name="connsiteY1" fmla="*/ 200025 h 1799205"/>
                <a:gd name="connsiteX2" fmla="*/ 432001 w 598294"/>
                <a:gd name="connsiteY2" fmla="*/ 1287852 h 1799205"/>
                <a:gd name="connsiteX3" fmla="*/ 530746 w 598294"/>
                <a:gd name="connsiteY3" fmla="*/ 1799205 h 1799205"/>
                <a:gd name="connsiteX0" fmla="*/ 0 w 605563"/>
                <a:gd name="connsiteY0" fmla="*/ 0 h 1799205"/>
                <a:gd name="connsiteX1" fmla="*/ 581025 w 605563"/>
                <a:gd name="connsiteY1" fmla="*/ 200025 h 1799205"/>
                <a:gd name="connsiteX2" fmla="*/ 477576 w 605563"/>
                <a:gd name="connsiteY2" fmla="*/ 1287852 h 1799205"/>
                <a:gd name="connsiteX3" fmla="*/ 530746 w 605563"/>
                <a:gd name="connsiteY3" fmla="*/ 1799205 h 1799205"/>
              </a:gdLst>
              <a:ahLst/>
              <a:cxnLst>
                <a:cxn ang="0">
                  <a:pos x="connsiteX0" y="connsiteY0"/>
                </a:cxn>
                <a:cxn ang="0">
                  <a:pos x="connsiteX1" y="connsiteY1"/>
                </a:cxn>
                <a:cxn ang="0">
                  <a:pos x="connsiteX2" y="connsiteY2"/>
                </a:cxn>
                <a:cxn ang="0">
                  <a:pos x="connsiteX3" y="connsiteY3"/>
                </a:cxn>
              </a:cxnLst>
              <a:rect l="l" t="t" r="r" b="b"/>
              <a:pathLst>
                <a:path w="605563" h="1799205">
                  <a:moveTo>
                    <a:pt x="0" y="0"/>
                  </a:moveTo>
                  <a:cubicBezTo>
                    <a:pt x="265906" y="19050"/>
                    <a:pt x="501429" y="-14617"/>
                    <a:pt x="581025" y="200025"/>
                  </a:cubicBezTo>
                  <a:cubicBezTo>
                    <a:pt x="660621" y="414667"/>
                    <a:pt x="525201" y="1044965"/>
                    <a:pt x="477576" y="1287852"/>
                  </a:cubicBezTo>
                  <a:cubicBezTo>
                    <a:pt x="429951" y="1530740"/>
                    <a:pt x="506933" y="1749199"/>
                    <a:pt x="530746" y="17992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grpSp>
        <p:nvGrpSpPr>
          <p:cNvPr id="23" name="Group 168"/>
          <p:cNvGrpSpPr/>
          <p:nvPr/>
        </p:nvGrpSpPr>
        <p:grpSpPr>
          <a:xfrm>
            <a:off x="6477000" y="2590800"/>
            <a:ext cx="1504101" cy="1590675"/>
            <a:chOff x="6387559" y="2933700"/>
            <a:chExt cx="1504101" cy="1590675"/>
          </a:xfrm>
        </p:grpSpPr>
        <p:grpSp>
          <p:nvGrpSpPr>
            <p:cNvPr id="24" name="Group 169"/>
            <p:cNvGrpSpPr/>
            <p:nvPr/>
          </p:nvGrpSpPr>
          <p:grpSpPr>
            <a:xfrm>
              <a:off x="6387559" y="2933700"/>
              <a:ext cx="1110265" cy="533400"/>
              <a:chOff x="6640902" y="1295400"/>
              <a:chExt cx="1110265" cy="533400"/>
            </a:xfrm>
          </p:grpSpPr>
          <p:sp>
            <p:nvSpPr>
              <p:cNvPr id="172" name="Oval 171"/>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3" name="Rectangle 172"/>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4" name="Rectangle 173"/>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5" name="Rectangle 17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Black" panose="020B0A04020102020204" pitchFamily="34" charset="0"/>
                    <a:ea typeface="ＭＳ Ｐゴシック"/>
                    <a:cs typeface="Aharoni" panose="02010803020104030203" pitchFamily="2" charset="-79"/>
                  </a:rPr>
                  <a:t>SIM</a:t>
                </a:r>
              </a:p>
            </p:txBody>
          </p:sp>
        </p:grpSp>
        <p:sp>
          <p:nvSpPr>
            <p:cNvPr id="171" name="Freeform 170"/>
            <p:cNvSpPr/>
            <p:nvPr/>
          </p:nvSpPr>
          <p:spPr>
            <a:xfrm>
              <a:off x="7467017" y="3180070"/>
              <a:ext cx="424643" cy="1344305"/>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413550"/>
                <a:gd name="connsiteY0" fmla="*/ 594 h 867369"/>
                <a:gd name="connsiteX1" fmla="*/ 409575 w 413550"/>
                <a:gd name="connsiteY1" fmla="*/ 133944 h 867369"/>
                <a:gd name="connsiteX2" fmla="*/ 219075 w 413550"/>
                <a:gd name="connsiteY2" fmla="*/ 638769 h 867369"/>
                <a:gd name="connsiteX3" fmla="*/ 257175 w 413550"/>
                <a:gd name="connsiteY3" fmla="*/ 867369 h 867369"/>
                <a:gd name="connsiteX0" fmla="*/ 0 w 434273"/>
                <a:gd name="connsiteY0" fmla="*/ 1280 h 868055"/>
                <a:gd name="connsiteX1" fmla="*/ 409575 w 434273"/>
                <a:gd name="connsiteY1" fmla="*/ 134630 h 868055"/>
                <a:gd name="connsiteX2" fmla="*/ 390525 w 434273"/>
                <a:gd name="connsiteY2" fmla="*/ 791855 h 868055"/>
                <a:gd name="connsiteX3" fmla="*/ 257175 w 434273"/>
                <a:gd name="connsiteY3" fmla="*/ 868055 h 868055"/>
                <a:gd name="connsiteX0" fmla="*/ 0 w 434273"/>
                <a:gd name="connsiteY0" fmla="*/ 1280 h 1344305"/>
                <a:gd name="connsiteX1" fmla="*/ 409575 w 434273"/>
                <a:gd name="connsiteY1" fmla="*/ 134630 h 1344305"/>
                <a:gd name="connsiteX2" fmla="*/ 390525 w 434273"/>
                <a:gd name="connsiteY2" fmla="*/ 791855 h 1344305"/>
                <a:gd name="connsiteX3" fmla="*/ 400050 w 434273"/>
                <a:gd name="connsiteY3" fmla="*/ 1344305 h 1344305"/>
                <a:gd name="connsiteX0" fmla="*/ 0 w 424643"/>
                <a:gd name="connsiteY0" fmla="*/ 1280 h 1344305"/>
                <a:gd name="connsiteX1" fmla="*/ 409575 w 424643"/>
                <a:gd name="connsiteY1" fmla="*/ 134630 h 1344305"/>
                <a:gd name="connsiteX2" fmla="*/ 342900 w 424643"/>
                <a:gd name="connsiteY2" fmla="*/ 791855 h 1344305"/>
                <a:gd name="connsiteX3" fmla="*/ 400050 w 424643"/>
                <a:gd name="connsiteY3" fmla="*/ 1344305 h 1344305"/>
              </a:gdLst>
              <a:ahLst/>
              <a:cxnLst>
                <a:cxn ang="0">
                  <a:pos x="connsiteX0" y="connsiteY0"/>
                </a:cxn>
                <a:cxn ang="0">
                  <a:pos x="connsiteX1" y="connsiteY1"/>
                </a:cxn>
                <a:cxn ang="0">
                  <a:pos x="connsiteX2" y="connsiteY2"/>
                </a:cxn>
                <a:cxn ang="0">
                  <a:pos x="connsiteX3" y="connsiteY3"/>
                </a:cxn>
              </a:cxnLst>
              <a:rect l="l" t="t" r="r" b="b"/>
              <a:pathLst>
                <a:path w="424643" h="1344305">
                  <a:moveTo>
                    <a:pt x="0" y="1280"/>
                  </a:moveTo>
                  <a:cubicBezTo>
                    <a:pt x="157956" y="-4276"/>
                    <a:pt x="352425" y="2868"/>
                    <a:pt x="409575" y="134630"/>
                  </a:cubicBezTo>
                  <a:cubicBezTo>
                    <a:pt x="466725" y="266392"/>
                    <a:pt x="342900" y="669618"/>
                    <a:pt x="342900" y="791855"/>
                  </a:cubicBezTo>
                  <a:cubicBezTo>
                    <a:pt x="342900" y="914092"/>
                    <a:pt x="377825" y="1281599"/>
                    <a:pt x="400050" y="13443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76" name="Rectangle 175"/>
          <p:cNvSpPr/>
          <p:nvPr/>
        </p:nvSpPr>
        <p:spPr>
          <a:xfrm>
            <a:off x="6985656" y="5747265"/>
            <a:ext cx="1701144" cy="656973"/>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rPr>
              <a:t>Kind/JKind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smtClean="0">
                <a:ln>
                  <a:noFill/>
                </a:ln>
                <a:solidFill>
                  <a:srgbClr val="F8F8F8"/>
                </a:solidFill>
                <a:effectLst/>
                <a:uLnTx/>
                <a:uFillTx/>
                <a:latin typeface="Verdana"/>
                <a:ea typeface="ＭＳ Ｐゴシック"/>
                <a:cs typeface="Arial"/>
              </a:rPr>
              <a:t>Model Checker</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25" name="Group 176"/>
          <p:cNvGrpSpPr/>
          <p:nvPr/>
        </p:nvGrpSpPr>
        <p:grpSpPr>
          <a:xfrm>
            <a:off x="6477000" y="3200400"/>
            <a:ext cx="1288220" cy="1000126"/>
            <a:chOff x="6387559" y="2933700"/>
            <a:chExt cx="1288220" cy="1000126"/>
          </a:xfrm>
        </p:grpSpPr>
        <p:grpSp>
          <p:nvGrpSpPr>
            <p:cNvPr id="26" name="Group 177"/>
            <p:cNvGrpSpPr/>
            <p:nvPr/>
          </p:nvGrpSpPr>
          <p:grpSpPr>
            <a:xfrm>
              <a:off x="6387559" y="2933700"/>
              <a:ext cx="1110265" cy="533400"/>
              <a:chOff x="6640902" y="1295400"/>
              <a:chExt cx="1110265" cy="533400"/>
            </a:xfrm>
          </p:grpSpPr>
          <p:sp>
            <p:nvSpPr>
              <p:cNvPr id="180" name="Oval 179"/>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1" name="Rectangle 180"/>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2" name="Rectangle 181"/>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3" name="Rectangle 182"/>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Tw Cen MT" panose="020B0602020104020603" pitchFamily="34" charset="0"/>
                    <a:ea typeface="ＭＳ Ｐゴシック"/>
                    <a:cs typeface="Arial"/>
                  </a:rPr>
                  <a:t>TCG</a:t>
                </a:r>
              </a:p>
            </p:txBody>
          </p:sp>
        </p:grpSp>
        <p:sp>
          <p:nvSpPr>
            <p:cNvPr id="179" name="Freeform 178"/>
            <p:cNvSpPr/>
            <p:nvPr/>
          </p:nvSpPr>
          <p:spPr>
            <a:xfrm>
              <a:off x="7467017" y="3180964"/>
              <a:ext cx="208762" cy="752862"/>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262756"/>
                <a:gd name="connsiteY0" fmla="*/ 387 h 867162"/>
                <a:gd name="connsiteX1" fmla="*/ 257175 w 262756"/>
                <a:gd name="connsiteY1" fmla="*/ 133737 h 867162"/>
                <a:gd name="connsiteX2" fmla="*/ 183110 w 262756"/>
                <a:gd name="connsiteY2" fmla="*/ 505212 h 867162"/>
                <a:gd name="connsiteX3" fmla="*/ 257175 w 262756"/>
                <a:gd name="connsiteY3" fmla="*/ 867162 h 867162"/>
                <a:gd name="connsiteX0" fmla="*/ 0 w 262756"/>
                <a:gd name="connsiteY0" fmla="*/ 387 h 752862"/>
                <a:gd name="connsiteX1" fmla="*/ 257175 w 262756"/>
                <a:gd name="connsiteY1" fmla="*/ 133737 h 752862"/>
                <a:gd name="connsiteX2" fmla="*/ 183110 w 262756"/>
                <a:gd name="connsiteY2" fmla="*/ 505212 h 752862"/>
                <a:gd name="connsiteX3" fmla="*/ 197233 w 262756"/>
                <a:gd name="connsiteY3" fmla="*/ 752862 h 752862"/>
              </a:gdLst>
              <a:ahLst/>
              <a:cxnLst>
                <a:cxn ang="0">
                  <a:pos x="connsiteX0" y="connsiteY0"/>
                </a:cxn>
                <a:cxn ang="0">
                  <a:pos x="connsiteX1" y="connsiteY1"/>
                </a:cxn>
                <a:cxn ang="0">
                  <a:pos x="connsiteX2" y="connsiteY2"/>
                </a:cxn>
                <a:cxn ang="0">
                  <a:pos x="connsiteX3" y="connsiteY3"/>
                </a:cxn>
              </a:cxnLst>
              <a:rect l="l" t="t" r="r" b="b"/>
              <a:pathLst>
                <a:path w="262756" h="752862">
                  <a:moveTo>
                    <a:pt x="0" y="387"/>
                  </a:moveTo>
                  <a:cubicBezTo>
                    <a:pt x="157956" y="-5169"/>
                    <a:pt x="226657" y="49600"/>
                    <a:pt x="257175" y="133737"/>
                  </a:cubicBezTo>
                  <a:cubicBezTo>
                    <a:pt x="287693" y="217874"/>
                    <a:pt x="183110" y="382975"/>
                    <a:pt x="183110" y="505212"/>
                  </a:cubicBezTo>
                  <a:cubicBezTo>
                    <a:pt x="183110" y="627449"/>
                    <a:pt x="175008" y="690156"/>
                    <a:pt x="197233" y="752862"/>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Tree>
    <p:extLst>
      <p:ext uri="{BB962C8B-B14F-4D97-AF65-F5344CB8AC3E}">
        <p14:creationId xmlns:p14="http://schemas.microsoft.com/office/powerpoint/2010/main" val="1298268407"/>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14866"/>
          <a:stretch/>
        </p:blipFill>
        <p:spPr bwMode="auto">
          <a:xfrm>
            <a:off x="4728193" y="4876800"/>
            <a:ext cx="2072657" cy="1752600"/>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
        <p:nvSpPr>
          <p:cNvPr id="2" name="Title 1"/>
          <p:cNvSpPr>
            <a:spLocks noGrp="1"/>
          </p:cNvSpPr>
          <p:nvPr>
            <p:ph type="title"/>
          </p:nvPr>
        </p:nvSpPr>
        <p:spPr>
          <a:xfrm>
            <a:off x="762000" y="609600"/>
            <a:ext cx="7772400" cy="1104899"/>
          </a:xfrm>
        </p:spPr>
        <p:txBody>
          <a:bodyPr/>
          <a:lstStyle/>
          <a:p>
            <a:r>
              <a:rPr lang="en-US" dirty="0" smtClean="0"/>
              <a:t>AGREE:</a:t>
            </a:r>
            <a:br>
              <a:rPr lang="en-US" dirty="0" smtClean="0"/>
            </a:br>
            <a:r>
              <a:rPr lang="en-US" dirty="0" smtClean="0"/>
              <a:t>Assume Guarantee</a:t>
            </a:r>
            <a:br>
              <a:rPr lang="en-US" dirty="0" smtClean="0"/>
            </a:br>
            <a:r>
              <a:rPr lang="en-US" dirty="0" smtClean="0"/>
              <a:t>Reasoning Environment</a:t>
            </a:r>
            <a:endParaRPr lang="en-US" dirty="0"/>
          </a:p>
        </p:txBody>
      </p:sp>
      <p:sp>
        <p:nvSpPr>
          <p:cNvPr id="3" name="Content Placeholder 2"/>
          <p:cNvSpPr>
            <a:spLocks noGrp="1"/>
          </p:cNvSpPr>
          <p:nvPr>
            <p:ph idx="1"/>
          </p:nvPr>
        </p:nvSpPr>
        <p:spPr>
          <a:xfrm>
            <a:off x="457200" y="1828800"/>
            <a:ext cx="4419600" cy="4297363"/>
          </a:xfrm>
        </p:spPr>
        <p:txBody>
          <a:bodyPr/>
          <a:lstStyle/>
          <a:p>
            <a:r>
              <a:rPr lang="en-US" dirty="0"/>
              <a:t>Each component has a contract consisting of assumptions and guarantees</a:t>
            </a:r>
          </a:p>
          <a:p>
            <a:pPr lvl="1"/>
            <a:r>
              <a:rPr lang="en-US" dirty="0"/>
              <a:t>Assumptions: Constraints over what a component expects </a:t>
            </a:r>
            <a:r>
              <a:rPr lang="en-US" dirty="0" smtClean="0"/>
              <a:t>from </a:t>
            </a:r>
            <a:r>
              <a:rPr lang="en-US" dirty="0"/>
              <a:t>its environment</a:t>
            </a:r>
          </a:p>
          <a:p>
            <a:pPr lvl="1"/>
            <a:r>
              <a:rPr lang="en-US" dirty="0"/>
              <a:t>Guarantees: Constraints over how a component behaves in response to its </a:t>
            </a:r>
            <a:r>
              <a:rPr lang="en-US" dirty="0" smtClean="0"/>
              <a:t>environment (requirements)</a:t>
            </a:r>
            <a:endParaRPr lang="en-US" dirty="0"/>
          </a:p>
          <a:p>
            <a:r>
              <a:rPr lang="en-US" dirty="0"/>
              <a:t>The contract of a component abstracts the behavior of its </a:t>
            </a:r>
            <a:r>
              <a:rPr lang="en-US" dirty="0" smtClean="0"/>
              <a:t>implementation</a:t>
            </a:r>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7486D9C8-0CDB-4BF0-99FF-D7490CE4EFA3}" type="slidenum">
              <a:rPr lang="en-US" smtClean="0">
                <a:solidFill>
                  <a:srgbClr val="000000"/>
                </a:solidFill>
              </a:rPr>
              <a:pPr>
                <a:defRPr/>
              </a:pPr>
              <a:t>16</a:t>
            </a:fld>
            <a:endParaRPr lang="en-US" dirty="0">
              <a:solidFill>
                <a:srgbClr val="000000"/>
              </a:solidFill>
            </a:endParaRPr>
          </a:p>
        </p:txBody>
      </p:sp>
      <p:sp>
        <p:nvSpPr>
          <p:cNvPr id="5" name="Rounded Rectangle 4"/>
          <p:cNvSpPr/>
          <p:nvPr/>
        </p:nvSpPr>
        <p:spPr>
          <a:xfrm>
            <a:off x="6019800" y="2432304"/>
            <a:ext cx="2362200" cy="1066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6" name="Flowchart: Data 5"/>
          <p:cNvSpPr/>
          <p:nvPr/>
        </p:nvSpPr>
        <p:spPr>
          <a:xfrm>
            <a:off x="6324600" y="2737104"/>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7" name="Flowchart: Data 6"/>
          <p:cNvSpPr/>
          <p:nvPr/>
        </p:nvSpPr>
        <p:spPr>
          <a:xfrm>
            <a:off x="7200900" y="2737104"/>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8" name="Flowchart: Data 7"/>
          <p:cNvSpPr/>
          <p:nvPr/>
        </p:nvSpPr>
        <p:spPr>
          <a:xfrm>
            <a:off x="6172200" y="3733800"/>
            <a:ext cx="1905000" cy="768096"/>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Flowchart: Data 8"/>
          <p:cNvSpPr/>
          <p:nvPr/>
        </p:nvSpPr>
        <p:spPr>
          <a:xfrm>
            <a:off x="6362700" y="3962400"/>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0" name="Flowchart: Data 9"/>
          <p:cNvSpPr/>
          <p:nvPr/>
        </p:nvSpPr>
        <p:spPr>
          <a:xfrm>
            <a:off x="7086600" y="3962400"/>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pic>
        <p:nvPicPr>
          <p:cNvPr id="11"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8155" t="3514" r="8140" b="15359"/>
          <a:stretch/>
        </p:blipFill>
        <p:spPr bwMode="auto">
          <a:xfrm>
            <a:off x="6972000" y="4800600"/>
            <a:ext cx="2019600" cy="1885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ounded Rectangle 12"/>
          <p:cNvSpPr/>
          <p:nvPr/>
        </p:nvSpPr>
        <p:spPr>
          <a:xfrm>
            <a:off x="5945495" y="609600"/>
            <a:ext cx="2735861" cy="144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4" name="Rounded Rectangle 13"/>
          <p:cNvSpPr/>
          <p:nvPr/>
        </p:nvSpPr>
        <p:spPr>
          <a:xfrm>
            <a:off x="6170725" y="8382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5" name="Rounded Rectangle 14"/>
          <p:cNvSpPr/>
          <p:nvPr/>
        </p:nvSpPr>
        <p:spPr>
          <a:xfrm>
            <a:off x="7448550" y="7620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6" name="Rounded Rectangle 15"/>
          <p:cNvSpPr/>
          <p:nvPr/>
        </p:nvSpPr>
        <p:spPr>
          <a:xfrm>
            <a:off x="7057287" y="14478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0" name="Down Arrow 19"/>
          <p:cNvSpPr/>
          <p:nvPr/>
        </p:nvSpPr>
        <p:spPr>
          <a:xfrm>
            <a:off x="7313425" y="1905000"/>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1" name="Down Arrow 20"/>
          <p:cNvSpPr/>
          <p:nvPr/>
        </p:nvSpPr>
        <p:spPr>
          <a:xfrm>
            <a:off x="7313425" y="3206496"/>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2" name="Down Arrow 21"/>
          <p:cNvSpPr/>
          <p:nvPr/>
        </p:nvSpPr>
        <p:spPr>
          <a:xfrm rot="1283352">
            <a:off x="6297084" y="4157770"/>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3" name="Down Arrow 22"/>
          <p:cNvSpPr/>
          <p:nvPr/>
        </p:nvSpPr>
        <p:spPr>
          <a:xfrm rot="20253590">
            <a:off x="7445405" y="4128815"/>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4" name="Freeform 23"/>
          <p:cNvSpPr/>
          <p:nvPr/>
        </p:nvSpPr>
        <p:spPr>
          <a:xfrm>
            <a:off x="5648325" y="600075"/>
            <a:ext cx="219075" cy="3876675"/>
          </a:xfrm>
          <a:custGeom>
            <a:avLst/>
            <a:gdLst>
              <a:gd name="connsiteX0" fmla="*/ 219075 w 219075"/>
              <a:gd name="connsiteY0" fmla="*/ 0 h 3876675"/>
              <a:gd name="connsiteX1" fmla="*/ 0 w 219075"/>
              <a:gd name="connsiteY1" fmla="*/ 0 h 3876675"/>
              <a:gd name="connsiteX2" fmla="*/ 9525 w 219075"/>
              <a:gd name="connsiteY2" fmla="*/ 3876675 h 3876675"/>
              <a:gd name="connsiteX3" fmla="*/ 200025 w 219075"/>
              <a:gd name="connsiteY3" fmla="*/ 3876675 h 3876675"/>
            </a:gdLst>
            <a:ahLst/>
            <a:cxnLst>
              <a:cxn ang="0">
                <a:pos x="connsiteX0" y="connsiteY0"/>
              </a:cxn>
              <a:cxn ang="0">
                <a:pos x="connsiteX1" y="connsiteY1"/>
              </a:cxn>
              <a:cxn ang="0">
                <a:pos x="connsiteX2" y="connsiteY2"/>
              </a:cxn>
              <a:cxn ang="0">
                <a:pos x="connsiteX3" y="connsiteY3"/>
              </a:cxn>
            </a:cxnLst>
            <a:rect l="l" t="t" r="r" b="b"/>
            <a:pathLst>
              <a:path w="219075" h="3876675">
                <a:moveTo>
                  <a:pt x="219075" y="0"/>
                </a:moveTo>
                <a:lnTo>
                  <a:pt x="0" y="0"/>
                </a:lnTo>
                <a:lnTo>
                  <a:pt x="9525" y="3876675"/>
                </a:lnTo>
                <a:lnTo>
                  <a:pt x="200025" y="3876675"/>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5" name="TextBox 24"/>
          <p:cNvSpPr txBox="1"/>
          <p:nvPr/>
        </p:nvSpPr>
        <p:spPr>
          <a:xfrm rot="16200000">
            <a:off x="4353065" y="2286000"/>
            <a:ext cx="2178802" cy="369332"/>
          </a:xfrm>
          <a:prstGeom prst="rect">
            <a:avLst/>
          </a:prstGeom>
          <a:noFill/>
        </p:spPr>
        <p:txBody>
          <a:bodyPr wrap="none" rtlCol="0">
            <a:spAutoFit/>
          </a:bodyPr>
          <a:lstStyle/>
          <a:p>
            <a:r>
              <a:rPr lang="en-US" b="1" dirty="0">
                <a:solidFill>
                  <a:srgbClr val="ABB41D"/>
                </a:solidFill>
              </a:rPr>
              <a:t>AGREE analysis</a:t>
            </a:r>
          </a:p>
        </p:txBody>
      </p:sp>
      <p:sp>
        <p:nvSpPr>
          <p:cNvPr id="26" name="TextBox 25"/>
          <p:cNvSpPr txBox="1"/>
          <p:nvPr/>
        </p:nvSpPr>
        <p:spPr>
          <a:xfrm rot="16200000">
            <a:off x="3469810" y="5461933"/>
            <a:ext cx="1811714" cy="523220"/>
          </a:xfrm>
          <a:prstGeom prst="rect">
            <a:avLst/>
          </a:prstGeom>
          <a:noFill/>
        </p:spPr>
        <p:txBody>
          <a:bodyPr wrap="none" rtlCol="0">
            <a:spAutoFit/>
          </a:bodyPr>
          <a:lstStyle/>
          <a:p>
            <a:pPr algn="ctr"/>
            <a:r>
              <a:rPr lang="en-US" sz="1400" b="1" dirty="0">
                <a:solidFill>
                  <a:srgbClr val="ABB41D"/>
                </a:solidFill>
              </a:rPr>
              <a:t>Component</a:t>
            </a:r>
          </a:p>
          <a:p>
            <a:pPr algn="ctr"/>
            <a:r>
              <a:rPr lang="en-US" sz="1400" b="1" dirty="0">
                <a:solidFill>
                  <a:srgbClr val="ABB41D"/>
                </a:solidFill>
              </a:rPr>
              <a:t>Implementation</a:t>
            </a:r>
          </a:p>
        </p:txBody>
      </p:sp>
      <p:sp>
        <p:nvSpPr>
          <p:cNvPr id="27" name="TextBox 26"/>
          <p:cNvSpPr txBox="1"/>
          <p:nvPr/>
        </p:nvSpPr>
        <p:spPr>
          <a:xfrm>
            <a:off x="6214514" y="816918"/>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8" name="TextBox 27"/>
          <p:cNvSpPr txBox="1"/>
          <p:nvPr/>
        </p:nvSpPr>
        <p:spPr>
          <a:xfrm>
            <a:off x="7508352" y="762000"/>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9" name="TextBox 28"/>
          <p:cNvSpPr txBox="1"/>
          <p:nvPr/>
        </p:nvSpPr>
        <p:spPr>
          <a:xfrm>
            <a:off x="7088515" y="1447800"/>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0" name="TextBox 29"/>
          <p:cNvSpPr txBox="1"/>
          <p:nvPr/>
        </p:nvSpPr>
        <p:spPr>
          <a:xfrm>
            <a:off x="6477000" y="2734872"/>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1" name="TextBox 30"/>
          <p:cNvSpPr txBox="1"/>
          <p:nvPr/>
        </p:nvSpPr>
        <p:spPr>
          <a:xfrm>
            <a:off x="7365083" y="2747826"/>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2" name="TextBox 31"/>
          <p:cNvSpPr txBox="1"/>
          <p:nvPr/>
        </p:nvSpPr>
        <p:spPr>
          <a:xfrm>
            <a:off x="6403231" y="3943910"/>
            <a:ext cx="663964"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
        <p:nvSpPr>
          <p:cNvPr id="33" name="TextBox 32"/>
          <p:cNvSpPr txBox="1"/>
          <p:nvPr/>
        </p:nvSpPr>
        <p:spPr>
          <a:xfrm>
            <a:off x="7134225" y="3943910"/>
            <a:ext cx="663964"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Tree>
    <p:extLst>
      <p:ext uri="{BB962C8B-B14F-4D97-AF65-F5344CB8AC3E}">
        <p14:creationId xmlns:p14="http://schemas.microsoft.com/office/powerpoint/2010/main" val="691549559"/>
      </p:ext>
    </p:extLst>
  </p:cSld>
  <p:clrMapOvr>
    <a:masterClrMapping/>
  </p:clrMapOvr>
  <p:transition>
    <p:wipe dir="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17</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Tree>
    <p:extLst>
      <p:ext uri="{BB962C8B-B14F-4D97-AF65-F5344CB8AC3E}">
        <p14:creationId xmlns:p14="http://schemas.microsoft.com/office/powerpoint/2010/main" val="3127778043"/>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18</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5" name="Oval 64"/>
          <p:cNvSpPr/>
          <p:nvPr/>
        </p:nvSpPr>
        <p:spPr>
          <a:xfrm>
            <a:off x="457200" y="3733800"/>
            <a:ext cx="5132311" cy="2408198"/>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47143990"/>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19</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6" name="Oval 65"/>
          <p:cNvSpPr/>
          <p:nvPr/>
        </p:nvSpPr>
        <p:spPr>
          <a:xfrm>
            <a:off x="5181600" y="3200400"/>
            <a:ext cx="3962400" cy="315595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590207041"/>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stew_da\Desktop\Universität\Images for NASA Presentation\sensor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399" y="1828800"/>
            <a:ext cx="8924615" cy="24384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p:cNvSpPr/>
          <p:nvPr/>
        </p:nvSpPr>
        <p:spPr>
          <a:xfrm>
            <a:off x="143185" y="1583324"/>
            <a:ext cx="8924615" cy="2988676"/>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Nominal Model Component in AADL and AGREE</a:t>
            </a:r>
            <a:endParaRPr lang="en-US" altLang="en-US" sz="2000" b="1" dirty="0">
              <a:solidFill>
                <a:schemeClr val="bg1">
                  <a:lumMod val="50000"/>
                </a:schemeClr>
              </a:solidFill>
              <a:latin typeface="Verdana" pitchFamily="34" charset="0"/>
            </a:endParaRPr>
          </a:p>
        </p:txBody>
      </p:sp>
    </p:spTree>
    <p:extLst>
      <p:ext uri="{BB962C8B-B14F-4D97-AF65-F5344CB8AC3E}">
        <p14:creationId xmlns:p14="http://schemas.microsoft.com/office/powerpoint/2010/main" val="4116959721"/>
      </p:ext>
    </p:extLst>
  </p:cSld>
  <p:clrMapOvr>
    <a:masterClrMapping/>
  </p:clrMapOvr>
  <p:transition>
    <p:wipe dir="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457200" y="2349500"/>
            <a:ext cx="8229600" cy="3776663"/>
          </a:xfrm>
        </p:spPr>
        <p:txBody>
          <a:bodyPr/>
          <a:lstStyle/>
          <a:p>
            <a:r>
              <a:rPr lang="en-US" dirty="0" smtClean="0"/>
              <a:t>Wrap nominal component in fault</a:t>
            </a:r>
          </a:p>
          <a:p>
            <a:r>
              <a:rPr lang="en-US" dirty="0" smtClean="0"/>
              <a:t>Watch behavior of system through AGREE contracts</a:t>
            </a:r>
          </a:p>
          <a:p>
            <a:pPr>
              <a:buNone/>
            </a:pPr>
            <a:endParaRPr lang="en-US" dirty="0"/>
          </a:p>
        </p:txBody>
      </p:sp>
      <p:sp>
        <p:nvSpPr>
          <p:cNvPr id="4"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Creation of the Fault Model</a:t>
            </a:r>
            <a:endParaRPr lang="en-US" altLang="en-US" sz="2000" b="1" dirty="0">
              <a:solidFill>
                <a:schemeClr val="bg1">
                  <a:lumMod val="50000"/>
                </a:schemeClr>
              </a:solidFill>
              <a:latin typeface="Verdana" pitchFamily="34" charset="0"/>
            </a:endParaRPr>
          </a:p>
        </p:txBody>
      </p:sp>
    </p:spTree>
    <p:extLst>
      <p:ext uri="{BB962C8B-B14F-4D97-AF65-F5344CB8AC3E}">
        <p14:creationId xmlns:p14="http://schemas.microsoft.com/office/powerpoint/2010/main" val="4121686759"/>
      </p:ext>
    </p:extLst>
  </p:cSld>
  <p:clrMapOvr>
    <a:masterClrMapping/>
  </p:clrMapOvr>
  <p:transition>
    <p:wipe dir="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35316" y="2119299"/>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p:cNvSpPr/>
          <p:nvPr/>
        </p:nvSpPr>
        <p:spPr>
          <a:xfrm>
            <a:off x="6734875" y="2141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895600" y="1752600"/>
            <a:ext cx="1582549" cy="369332"/>
          </a:xfrm>
          <a:prstGeom prst="rect">
            <a:avLst/>
          </a:prstGeom>
          <a:noFill/>
        </p:spPr>
        <p:txBody>
          <a:bodyPr wrap="none" rtlCol="0">
            <a:spAutoFit/>
          </a:bodyPr>
          <a:lstStyle/>
          <a:p>
            <a:r>
              <a:rPr lang="en-US" dirty="0" smtClean="0"/>
              <a:t>Component A</a:t>
            </a:r>
            <a:endParaRPr lang="en-US" dirty="0"/>
          </a:p>
        </p:txBody>
      </p:sp>
      <p:sp>
        <p:nvSpPr>
          <p:cNvPr id="6" name="TextBox 5"/>
          <p:cNvSpPr txBox="1"/>
          <p:nvPr/>
        </p:nvSpPr>
        <p:spPr>
          <a:xfrm>
            <a:off x="6371525" y="1760688"/>
            <a:ext cx="1595309" cy="369332"/>
          </a:xfrm>
          <a:prstGeom prst="rect">
            <a:avLst/>
          </a:prstGeom>
          <a:noFill/>
        </p:spPr>
        <p:txBody>
          <a:bodyPr wrap="none" rtlCol="0">
            <a:spAutoFit/>
          </a:bodyPr>
          <a:lstStyle/>
          <a:p>
            <a:r>
              <a:rPr lang="en-US" dirty="0" smtClean="0"/>
              <a:t>Component B</a:t>
            </a:r>
            <a:endParaRPr lang="en-US" dirty="0"/>
          </a:p>
        </p:txBody>
      </p:sp>
      <p:cxnSp>
        <p:nvCxnSpPr>
          <p:cNvPr id="8" name="Straight Arrow Connector 7"/>
          <p:cNvCxnSpPr>
            <a:stCxn id="2" idx="3"/>
          </p:cNvCxnSpPr>
          <p:nvPr/>
        </p:nvCxnSpPr>
        <p:spPr>
          <a:xfrm>
            <a:off x="4149716" y="2576499"/>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4149715" y="2240845"/>
            <a:ext cx="556563" cy="369332"/>
          </a:xfrm>
          <a:prstGeom prst="rect">
            <a:avLst/>
          </a:prstGeom>
          <a:noFill/>
        </p:spPr>
        <p:txBody>
          <a:bodyPr wrap="none" rtlCol="0">
            <a:spAutoFit/>
          </a:bodyPr>
          <a:lstStyle/>
          <a:p>
            <a:r>
              <a:rPr lang="en-US" dirty="0" smtClean="0"/>
              <a:t>Out</a:t>
            </a:r>
            <a:endParaRPr lang="en-US" dirty="0"/>
          </a:p>
        </p:txBody>
      </p:sp>
      <p:sp>
        <p:nvSpPr>
          <p:cNvPr id="11" name="TextBox 10"/>
          <p:cNvSpPr txBox="1"/>
          <p:nvPr/>
        </p:nvSpPr>
        <p:spPr>
          <a:xfrm>
            <a:off x="6357848" y="2240845"/>
            <a:ext cx="377026" cy="369332"/>
          </a:xfrm>
          <a:prstGeom prst="rect">
            <a:avLst/>
          </a:prstGeom>
          <a:noFill/>
        </p:spPr>
        <p:txBody>
          <a:bodyPr wrap="none" rtlCol="0">
            <a:spAutoFit/>
          </a:bodyPr>
          <a:lstStyle/>
          <a:p>
            <a:r>
              <a:rPr lang="en-US" dirty="0" smtClean="0"/>
              <a:t>In</a:t>
            </a:r>
            <a:endParaRPr lang="en-US" dirty="0"/>
          </a:p>
        </p:txBody>
      </p:sp>
      <p:sp>
        <p:nvSpPr>
          <p:cNvPr id="12" name="Rectangle 11"/>
          <p:cNvSpPr/>
          <p:nvPr/>
        </p:nvSpPr>
        <p:spPr>
          <a:xfrm>
            <a:off x="3240207" y="4427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6739766" y="4450077"/>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2900491" y="4060989"/>
            <a:ext cx="1582549" cy="369332"/>
          </a:xfrm>
          <a:prstGeom prst="rect">
            <a:avLst/>
          </a:prstGeom>
          <a:noFill/>
        </p:spPr>
        <p:txBody>
          <a:bodyPr wrap="none" rtlCol="0">
            <a:spAutoFit/>
          </a:bodyPr>
          <a:lstStyle/>
          <a:p>
            <a:r>
              <a:rPr lang="en-US" dirty="0" smtClean="0"/>
              <a:t>Component A</a:t>
            </a:r>
            <a:endParaRPr lang="en-US" dirty="0"/>
          </a:p>
        </p:txBody>
      </p:sp>
      <p:sp>
        <p:nvSpPr>
          <p:cNvPr id="15" name="TextBox 14"/>
          <p:cNvSpPr txBox="1"/>
          <p:nvPr/>
        </p:nvSpPr>
        <p:spPr>
          <a:xfrm>
            <a:off x="6405691" y="4069077"/>
            <a:ext cx="1595309" cy="369332"/>
          </a:xfrm>
          <a:prstGeom prst="rect">
            <a:avLst/>
          </a:prstGeom>
          <a:noFill/>
        </p:spPr>
        <p:txBody>
          <a:bodyPr wrap="none" rtlCol="0">
            <a:spAutoFit/>
          </a:bodyPr>
          <a:lstStyle/>
          <a:p>
            <a:r>
              <a:rPr lang="en-US" dirty="0" smtClean="0"/>
              <a:t>Component B</a:t>
            </a:r>
            <a:endParaRPr lang="en-US" dirty="0"/>
          </a:p>
        </p:txBody>
      </p:sp>
      <p:cxnSp>
        <p:nvCxnSpPr>
          <p:cNvPr id="16" name="Straight Arrow Connector 15"/>
          <p:cNvCxnSpPr>
            <a:stCxn id="12" idx="3"/>
          </p:cNvCxnSpPr>
          <p:nvPr/>
        </p:nvCxnSpPr>
        <p:spPr>
          <a:xfrm>
            <a:off x="4154607" y="4884888"/>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54606" y="4549234"/>
            <a:ext cx="556563" cy="369332"/>
          </a:xfrm>
          <a:prstGeom prst="rect">
            <a:avLst/>
          </a:prstGeom>
          <a:noFill/>
        </p:spPr>
        <p:txBody>
          <a:bodyPr wrap="none" rtlCol="0">
            <a:spAutoFit/>
          </a:bodyPr>
          <a:lstStyle/>
          <a:p>
            <a:r>
              <a:rPr lang="en-US" dirty="0" smtClean="0"/>
              <a:t>Out</a:t>
            </a:r>
            <a:endParaRPr lang="en-US" dirty="0"/>
          </a:p>
        </p:txBody>
      </p:sp>
      <p:sp>
        <p:nvSpPr>
          <p:cNvPr id="18" name="TextBox 17"/>
          <p:cNvSpPr txBox="1"/>
          <p:nvPr/>
        </p:nvSpPr>
        <p:spPr>
          <a:xfrm>
            <a:off x="6362739" y="4549234"/>
            <a:ext cx="377026" cy="369332"/>
          </a:xfrm>
          <a:prstGeom prst="rect">
            <a:avLst/>
          </a:prstGeom>
          <a:noFill/>
        </p:spPr>
        <p:txBody>
          <a:bodyPr wrap="none" rtlCol="0">
            <a:spAutoFit/>
          </a:bodyPr>
          <a:lstStyle/>
          <a:p>
            <a:r>
              <a:rPr lang="en-US" dirty="0" smtClean="0"/>
              <a:t>In</a:t>
            </a:r>
            <a:endParaRPr lang="en-US" dirty="0"/>
          </a:p>
        </p:txBody>
      </p:sp>
      <p:sp>
        <p:nvSpPr>
          <p:cNvPr id="19" name="TextBox 18"/>
          <p:cNvSpPr txBox="1"/>
          <p:nvPr/>
        </p:nvSpPr>
        <p:spPr>
          <a:xfrm>
            <a:off x="672735" y="2425511"/>
            <a:ext cx="2133918" cy="369332"/>
          </a:xfrm>
          <a:prstGeom prst="rect">
            <a:avLst/>
          </a:prstGeom>
          <a:noFill/>
        </p:spPr>
        <p:txBody>
          <a:bodyPr wrap="none" rtlCol="0">
            <a:spAutoFit/>
          </a:bodyPr>
          <a:lstStyle/>
          <a:p>
            <a:r>
              <a:rPr lang="en-US" dirty="0" smtClean="0"/>
              <a:t>Nominal Behavior: </a:t>
            </a:r>
            <a:endParaRPr lang="en-US" dirty="0"/>
          </a:p>
        </p:txBody>
      </p:sp>
      <p:sp>
        <p:nvSpPr>
          <p:cNvPr id="27" name="TextBox 26"/>
          <p:cNvSpPr txBox="1"/>
          <p:nvPr/>
        </p:nvSpPr>
        <p:spPr>
          <a:xfrm>
            <a:off x="685229" y="4733900"/>
            <a:ext cx="1800493" cy="369332"/>
          </a:xfrm>
          <a:prstGeom prst="rect">
            <a:avLst/>
          </a:prstGeom>
          <a:noFill/>
        </p:spPr>
        <p:txBody>
          <a:bodyPr wrap="none" rtlCol="0">
            <a:spAutoFit/>
          </a:bodyPr>
          <a:lstStyle/>
          <a:p>
            <a:r>
              <a:rPr lang="en-US" dirty="0" smtClean="0"/>
              <a:t>Fault Behavior: </a:t>
            </a:r>
            <a:endParaRPr lang="en-US" dirty="0"/>
          </a:p>
        </p:txBody>
      </p:sp>
      <p:sp>
        <p:nvSpPr>
          <p:cNvPr id="28" name="Oval 27"/>
          <p:cNvSpPr/>
          <p:nvPr/>
        </p:nvSpPr>
        <p:spPr>
          <a:xfrm>
            <a:off x="5034192" y="4461366"/>
            <a:ext cx="914400" cy="9144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Fault</a:t>
            </a:r>
            <a:endParaRPr lang="en-US" sz="1400" dirty="0"/>
          </a:p>
        </p:txBody>
      </p:sp>
    </p:spTree>
    <p:extLst>
      <p:ext uri="{BB962C8B-B14F-4D97-AF65-F5344CB8AC3E}">
        <p14:creationId xmlns:p14="http://schemas.microsoft.com/office/powerpoint/2010/main" val="394881479"/>
      </p:ext>
    </p:extLst>
  </p:cSld>
  <p:clrMapOvr>
    <a:masterClrMapping/>
  </p:clrMapOvr>
  <p:transition>
    <p:wipe dir="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3"/>
            <a:ext cx="7981950" cy="503237"/>
          </a:xfrm>
        </p:spPr>
        <p:txBody>
          <a:bodyPr/>
          <a:lstStyle/>
          <a:p>
            <a:r>
              <a:rPr lang="en-US" dirty="0" smtClean="0"/>
              <a:t>WBS Top Level Property : No inadvertent braking</a:t>
            </a:r>
            <a:endParaRPr lang="en-US" dirty="0"/>
          </a:p>
        </p:txBody>
      </p:sp>
      <p:sp>
        <p:nvSpPr>
          <p:cNvPr id="3" name="Content Placeholder 2"/>
          <p:cNvSpPr>
            <a:spLocks noGrp="1"/>
          </p:cNvSpPr>
          <p:nvPr>
            <p:ph idx="1"/>
          </p:nvPr>
        </p:nvSpPr>
        <p:spPr>
          <a:xfrm>
            <a:off x="762000" y="1600201"/>
            <a:ext cx="7924800" cy="1600200"/>
          </a:xfrm>
        </p:spPr>
        <p:txBody>
          <a:bodyPr/>
          <a:lstStyle/>
          <a:p>
            <a:pPr marL="0" indent="0">
              <a:buNone/>
            </a:pPr>
            <a:r>
              <a:rPr lang="en-US" dirty="0" smtClean="0"/>
              <a:t>Normal Operating Mode: </a:t>
            </a:r>
          </a:p>
          <a:p>
            <a:r>
              <a:rPr lang="en-US" dirty="0" smtClean="0"/>
              <a:t>Mechanical pedal pressed (brakes commanded)</a:t>
            </a:r>
          </a:p>
          <a:p>
            <a:r>
              <a:rPr lang="en-US" dirty="0" smtClean="0"/>
              <a:t>Sensor on pedal converts to electrical signal</a:t>
            </a:r>
          </a:p>
          <a:p>
            <a:r>
              <a:rPr lang="en-US" dirty="0" smtClean="0"/>
              <a:t>Signal sent to BSCU to command brakes</a:t>
            </a:r>
          </a:p>
          <a:p>
            <a:endParaRPr lang="en-US" dirty="0"/>
          </a:p>
        </p:txBody>
      </p:sp>
    </p:spTree>
    <p:extLst>
      <p:ext uri="{BB962C8B-B14F-4D97-AF65-F5344CB8AC3E}">
        <p14:creationId xmlns:p14="http://schemas.microsoft.com/office/powerpoint/2010/main" val="3060480428"/>
      </p:ext>
    </p:extLst>
  </p:cSld>
  <p:clrMapOvr>
    <a:masterClrMapping/>
  </p:clrMapOvr>
  <p:transition>
    <p:wipe dir="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 Fault on the Pedal </a:t>
            </a:r>
            <a:r>
              <a:rPr lang="en-US" dirty="0"/>
              <a:t>S</a:t>
            </a:r>
            <a:r>
              <a:rPr lang="en-US" dirty="0" smtClean="0"/>
              <a:t>ensor </a:t>
            </a:r>
            <a:r>
              <a:rPr lang="en-US" dirty="0"/>
              <a:t>C</a:t>
            </a:r>
            <a:r>
              <a:rPr lang="en-US" dirty="0" smtClean="0"/>
              <a:t>omponent</a:t>
            </a:r>
            <a:endParaRPr lang="en-US" dirty="0"/>
          </a:p>
        </p:txBody>
      </p:sp>
      <p:pic>
        <p:nvPicPr>
          <p:cNvPr id="7170" name="Picture 2" descr="C:\Users\stew_da\Desktop\Universität\Images for NASA Presentation\sensorcode.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66" y="1904999"/>
            <a:ext cx="8569934" cy="364906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5"/>
          <p:cNvSpPr/>
          <p:nvPr/>
        </p:nvSpPr>
        <p:spPr>
          <a:xfrm>
            <a:off x="152400" y="1583324"/>
            <a:ext cx="8686800" cy="4588876"/>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hteck 4"/>
          <p:cNvSpPr/>
          <p:nvPr/>
        </p:nvSpPr>
        <p:spPr>
          <a:xfrm>
            <a:off x="338913" y="3877762"/>
            <a:ext cx="8458200" cy="1380038"/>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676526169"/>
      </p:ext>
    </p:extLst>
  </p:cSld>
  <p:clrMapOvr>
    <a:masterClrMapping/>
  </p:clrMapOvr>
  <p:transition>
    <p:wipe dir="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Behavioral Fault Propagation</a:t>
            </a:r>
            <a:endParaRPr lang="en-US" dirty="0"/>
          </a:p>
        </p:txBody>
      </p:sp>
      <p:pic>
        <p:nvPicPr>
          <p:cNvPr id="5123" name="Picture 3" descr="C:\Users\stew_da\Desktop\DLR_presentations\current_work\images\SA_approach.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9" y="2057400"/>
            <a:ext cx="8458201" cy="3962400"/>
          </a:xfrm>
          <a:prstGeom prst="rect">
            <a:avLst/>
          </a:prstGeom>
          <a:noFill/>
          <a:extLst>
            <a:ext uri="{909E8E84-426E-40DD-AFC4-6F175D3DCCD1}">
              <a14:hiddenFill xmlns:a14="http://schemas.microsoft.com/office/drawing/2010/main">
                <a:solidFill>
                  <a:srgbClr val="FFFFFF"/>
                </a:solidFill>
              </a14:hiddenFill>
            </a:ext>
          </a:extLst>
        </p:spPr>
      </p:pic>
      <p:sp>
        <p:nvSpPr>
          <p:cNvPr id="6" name="Rechteck 5"/>
          <p:cNvSpPr/>
          <p:nvPr/>
        </p:nvSpPr>
        <p:spPr>
          <a:xfrm>
            <a:off x="304799" y="5715000"/>
            <a:ext cx="1905001" cy="609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980274912"/>
      </p:ext>
    </p:extLst>
  </p:cSld>
  <p:clrMapOvr>
    <a:masterClrMapping/>
  </p:clrMapOvr>
  <p:transition>
    <p:wipe dir="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Active Sensor </a:t>
            </a:r>
            <a:r>
              <a:rPr lang="en-US" dirty="0"/>
              <a:t>F</a:t>
            </a:r>
            <a:r>
              <a:rPr lang="en-US" dirty="0" smtClean="0"/>
              <a:t>ault</a:t>
            </a:r>
            <a:endParaRPr lang="en-US" dirty="0"/>
          </a:p>
        </p:txBody>
      </p:sp>
      <p:sp>
        <p:nvSpPr>
          <p:cNvPr id="3" name="Content Placeholder 2"/>
          <p:cNvSpPr>
            <a:spLocks noGrp="1"/>
          </p:cNvSpPr>
          <p:nvPr>
            <p:ph idx="1"/>
          </p:nvPr>
        </p:nvSpPr>
        <p:spPr/>
        <p:txBody>
          <a:bodyPr/>
          <a:lstStyle/>
          <a:p>
            <a:r>
              <a:rPr lang="en-US" dirty="0" smtClean="0"/>
              <a:t>Mechanical pedal is not pressed</a:t>
            </a:r>
          </a:p>
          <a:p>
            <a:r>
              <a:rPr lang="en-US" dirty="0" smtClean="0"/>
              <a:t>Inverted Boolean failure on sensor activated</a:t>
            </a:r>
          </a:p>
          <a:p>
            <a:r>
              <a:rPr lang="en-US" dirty="0" smtClean="0"/>
              <a:t>Electrical signal is true and braking is commanded through BSCU</a:t>
            </a:r>
          </a:p>
          <a:p>
            <a:r>
              <a:rPr lang="en-US" dirty="0" smtClean="0"/>
              <a:t>Top level lemma fails (Unintentional braking occurs)</a:t>
            </a:r>
            <a:endParaRPr lang="en-US" dirty="0"/>
          </a:p>
        </p:txBody>
      </p:sp>
    </p:spTree>
    <p:extLst>
      <p:ext uri="{BB962C8B-B14F-4D97-AF65-F5344CB8AC3E}">
        <p14:creationId xmlns:p14="http://schemas.microsoft.com/office/powerpoint/2010/main" val="319705141"/>
      </p:ext>
    </p:extLst>
  </p:cSld>
  <p:clrMapOvr>
    <a:masterClrMapping/>
  </p:clrMapOvr>
  <p:transition>
    <p:wipe dir="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4930" y="5264199"/>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176270" y="1222872"/>
            <a:ext cx="5277079" cy="3446482"/>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8317739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4930" y="5264199"/>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297457" y="4637137"/>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34013130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879" y="5341318"/>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297457" y="5541485"/>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2827078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7" name="Picture 5" descr="C:\Users\stew_da\Desktop\Universität\endinst.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pic>
        <p:nvPicPr>
          <p:cNvPr id="55298" name="Picture 2" descr="C:\Users\stew_da\Desktop\Universität\sacode2.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0862" y="5316824"/>
            <a:ext cx="1714500" cy="1133475"/>
          </a:xfrm>
          <a:prstGeom prst="rect">
            <a:avLst/>
          </a:prstGeom>
          <a:noFill/>
          <a:extLst>
            <a:ext uri="{909E8E84-426E-40DD-AFC4-6F175D3DCCD1}">
              <a14:hiddenFill xmlns:a14="http://schemas.microsoft.com/office/drawing/2010/main">
                <a:solidFill>
                  <a:srgbClr val="FFFFFF"/>
                </a:solidFill>
              </a14:hiddenFill>
            </a:ext>
          </a:extLst>
        </p:spPr>
      </p:pic>
      <p:sp>
        <p:nvSpPr>
          <p:cNvPr id="13" name="Abgerundetes Rechteck 12"/>
          <p:cNvSpPr/>
          <p:nvPr/>
        </p:nvSpPr>
        <p:spPr>
          <a:xfrm>
            <a:off x="297457" y="5541485"/>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5096078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Current Support</a:t>
            </a:r>
            <a:endParaRPr lang="de-DE" dirty="0"/>
          </a:p>
        </p:txBody>
      </p:sp>
      <p:sp>
        <p:nvSpPr>
          <p:cNvPr id="3" name="Inhaltsplatzhalter 2"/>
          <p:cNvSpPr>
            <a:spLocks noGrp="1"/>
          </p:cNvSpPr>
          <p:nvPr>
            <p:ph idx="1"/>
          </p:nvPr>
        </p:nvSpPr>
        <p:spPr/>
        <p:txBody>
          <a:bodyPr/>
          <a:lstStyle/>
          <a:p>
            <a:r>
              <a:rPr lang="de-DE" dirty="0" smtClean="0"/>
              <a:t>Maximum number of faults </a:t>
            </a:r>
          </a:p>
          <a:p>
            <a:r>
              <a:rPr lang="de-DE" dirty="0" smtClean="0"/>
              <a:t>Probabilistic analysis</a:t>
            </a:r>
          </a:p>
          <a:p>
            <a:r>
              <a:rPr lang="de-DE" dirty="0" smtClean="0"/>
              <a:t>Hardware and software faults</a:t>
            </a: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31</a:t>
            </a:fld>
            <a:endParaRPr lang="en-US" dirty="0"/>
          </a:p>
        </p:txBody>
      </p:sp>
    </p:spTree>
    <p:extLst>
      <p:ext uri="{BB962C8B-B14F-4D97-AF65-F5344CB8AC3E}">
        <p14:creationId xmlns:p14="http://schemas.microsoft.com/office/powerpoint/2010/main" val="734251690"/>
      </p:ext>
    </p:extLst>
  </p:cSld>
  <p:clrMapOvr>
    <a:masterClrMapping/>
  </p:clrMapOvr>
  <p:transition>
    <p:wipe dir="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err="1" smtClean="0"/>
              <a:t>Where</a:t>
            </a:r>
            <a:r>
              <a:rPr lang="de-DE" dirty="0" smtClean="0"/>
              <a:t> </a:t>
            </a:r>
            <a:r>
              <a:rPr lang="de-DE" dirty="0" err="1" smtClean="0"/>
              <a:t>does</a:t>
            </a:r>
            <a:r>
              <a:rPr lang="de-DE" dirty="0" smtClean="0"/>
              <a:t> </a:t>
            </a:r>
            <a:r>
              <a:rPr lang="de-DE" dirty="0" err="1" smtClean="0"/>
              <a:t>the</a:t>
            </a:r>
            <a:r>
              <a:rPr lang="de-DE" dirty="0" smtClean="0"/>
              <a:t> </a:t>
            </a:r>
            <a:r>
              <a:rPr lang="de-DE" dirty="0" err="1" smtClean="0"/>
              <a:t>Safety</a:t>
            </a:r>
            <a:r>
              <a:rPr lang="de-DE" dirty="0" smtClean="0"/>
              <a:t> Annex fit?</a:t>
            </a:r>
            <a:endParaRPr lang="de-DE" dirty="0"/>
          </a:p>
        </p:txBody>
      </p:sp>
      <p:sp>
        <p:nvSpPr>
          <p:cNvPr id="3" name="Inhaltsplatzhalter 2"/>
          <p:cNvSpPr>
            <a:spLocks noGrp="1"/>
          </p:cNvSpPr>
          <p:nvPr>
            <p:ph idx="1"/>
          </p:nvPr>
        </p:nvSpPr>
        <p:spPr/>
        <p:txBody>
          <a:bodyPr/>
          <a:lstStyle/>
          <a:p>
            <a:r>
              <a:rPr lang="de-DE" dirty="0" err="1" smtClean="0"/>
              <a:t>Extend</a:t>
            </a:r>
            <a:r>
              <a:rPr lang="de-DE" dirty="0" smtClean="0"/>
              <a:t> System Model  </a:t>
            </a:r>
          </a:p>
          <a:p>
            <a:r>
              <a:rPr lang="de-DE" dirty="0" err="1" smtClean="0"/>
              <a:t>Compositional</a:t>
            </a:r>
            <a:r>
              <a:rPr lang="de-DE" dirty="0" smtClean="0"/>
              <a:t> Analysis</a:t>
            </a:r>
          </a:p>
          <a:p>
            <a:r>
              <a:rPr lang="de-DE" dirty="0" err="1" smtClean="0"/>
              <a:t>Implicit</a:t>
            </a:r>
            <a:r>
              <a:rPr lang="de-DE" dirty="0" smtClean="0"/>
              <a:t> </a:t>
            </a:r>
            <a:r>
              <a:rPr lang="de-DE" dirty="0" err="1" smtClean="0"/>
              <a:t>Failure</a:t>
            </a:r>
            <a:r>
              <a:rPr lang="de-DE" dirty="0" smtClean="0"/>
              <a:t> Propagation (FEM)</a:t>
            </a: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32</a:t>
            </a:fld>
            <a:endParaRPr lang="en-US" dirty="0"/>
          </a:p>
        </p:txBody>
      </p:sp>
    </p:spTree>
    <p:extLst>
      <p:ext uri="{BB962C8B-B14F-4D97-AF65-F5344CB8AC3E}">
        <p14:creationId xmlns:p14="http://schemas.microsoft.com/office/powerpoint/2010/main" val="4089089191"/>
      </p:ext>
    </p:extLst>
  </p:cSld>
  <p:clrMapOvr>
    <a:masterClrMapping/>
  </p:clrMapOvr>
  <p:transition>
    <p:wipe dir="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Existing Tools and Methods</a:t>
            </a:r>
            <a:endParaRPr lang="de-DE" sz="2400"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33</a:t>
            </a:fld>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2917850688"/>
              </p:ext>
            </p:extLst>
          </p:nvPr>
        </p:nvGraphicFramePr>
        <p:xfrm>
          <a:off x="228599" y="1371601"/>
          <a:ext cx="8534402" cy="4659710"/>
        </p:xfrm>
        <a:graphic>
          <a:graphicData uri="http://schemas.openxmlformats.org/drawingml/2006/table">
            <a:tbl>
              <a:tblPr firstRow="1" bandRow="1">
                <a:tableStyleId>{5C22544A-7EE6-4342-B048-85BDC9FD1C3A}</a:tableStyleId>
              </a:tblPr>
              <a:tblGrid>
                <a:gridCol w="1524001"/>
                <a:gridCol w="838200"/>
                <a:gridCol w="1447800"/>
                <a:gridCol w="1676400"/>
                <a:gridCol w="777379"/>
                <a:gridCol w="782973"/>
                <a:gridCol w="704675"/>
                <a:gridCol w="782974"/>
              </a:tblGrid>
              <a:tr h="1022668">
                <a:tc>
                  <a:txBody>
                    <a:bodyPr/>
                    <a:lstStyle/>
                    <a:p>
                      <a:pPr algn="ct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FLM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 </a:t>
                      </a:r>
                      <a:r>
                        <a:rPr lang="de-DE" sz="1600" dirty="0" err="1" smtClean="0">
                          <a:solidFill>
                            <a:schemeClr val="tx1"/>
                          </a:solidFill>
                        </a:rPr>
                        <a:t>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a:t>
                      </a:r>
                    </a:p>
                    <a:p>
                      <a:pPr algn="ctr"/>
                      <a:r>
                        <a:rPr lang="de-DE" sz="1600" dirty="0" err="1" smtClean="0">
                          <a:solidFill>
                            <a:schemeClr val="tx1"/>
                          </a:solidFill>
                        </a:rPr>
                        <a:t>Bidirectional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C</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PB</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ESM</a:t>
                      </a:r>
                      <a:endParaRPr lang="de-DE" sz="1600" dirty="0">
                        <a:solidFill>
                          <a:schemeClr val="tx1"/>
                        </a:solidFill>
                      </a:endParaRPr>
                    </a:p>
                  </a:txBody>
                  <a:tcPr>
                    <a:solidFill>
                      <a:schemeClr val="accent6">
                        <a:lumMod val="20000"/>
                        <a:lumOff val="80000"/>
                      </a:schemeClr>
                    </a:solidFill>
                  </a:tcPr>
                </a:tc>
              </a:tr>
              <a:tr h="436505">
                <a:tc>
                  <a:txBody>
                    <a:bodyPr/>
                    <a:lstStyle/>
                    <a:p>
                      <a:pPr algn="ctr"/>
                      <a:r>
                        <a:rPr lang="de-DE" sz="1600" b="1" dirty="0" smtClean="0">
                          <a:solidFill>
                            <a:schemeClr val="tx1"/>
                          </a:solidFill>
                        </a:rPr>
                        <a:t>EMV2</a:t>
                      </a:r>
                      <a:endParaRPr lang="de-DE" sz="1600" b="1" dirty="0">
                        <a:solidFill>
                          <a:schemeClr val="tx1"/>
                        </a:solidFill>
                      </a:endParaRPr>
                    </a:p>
                  </a:txBody>
                  <a:tcPr>
                    <a:solidFill>
                      <a:schemeClr val="accent6">
                        <a:lumMod val="20000"/>
                        <a:lumOff val="80000"/>
                      </a:schemeClr>
                    </a:solidFill>
                  </a:tcPr>
                </a:tc>
                <a:tc>
                  <a:txBody>
                    <a:bodyPr/>
                    <a:lstStyle/>
                    <a:p>
                      <a:pPr algn="ctr"/>
                      <a:r>
                        <a:rPr lang="de-DE" dirty="0" smtClean="0">
                          <a:solidFill>
                            <a:schemeClr val="tx1"/>
                          </a:solidFill>
                          <a:latin typeface="Wingdings" panose="05000000000000000000" pitchFamily="2" charset="2"/>
                          <a:sym typeface="Wingdings"/>
                        </a:rPr>
                        <a:t></a:t>
                      </a:r>
                      <a:endParaRPr lang="de-DE" dirty="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r h="535264">
                <a:tc>
                  <a:txBody>
                    <a:bodyPr/>
                    <a:lstStyle/>
                    <a:p>
                      <a:pPr algn="ctr"/>
                      <a:r>
                        <a:rPr lang="de-DE" sz="1600" b="1" dirty="0" err="1" smtClean="0">
                          <a:solidFill>
                            <a:schemeClr val="tx1"/>
                          </a:solidFill>
                        </a:rPr>
                        <a:t>Compass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SLIM</a:t>
                      </a:r>
                    </a:p>
                  </a:txBody>
                  <a:tcPr>
                    <a:solidFill>
                      <a:schemeClr val="bg1">
                        <a:lumMod val="95000"/>
                      </a:schemeClr>
                    </a:solidFill>
                  </a:tcPr>
                </a:tc>
              </a:tr>
              <a:tr h="535264">
                <a:tc>
                  <a:txBody>
                    <a:bodyPr/>
                    <a:lstStyle/>
                    <a:p>
                      <a:pPr algn="ctr"/>
                      <a:r>
                        <a:rPr lang="de-DE" sz="1600" b="1" dirty="0" err="1" smtClean="0">
                          <a:solidFill>
                            <a:schemeClr val="tx1"/>
                          </a:solidFill>
                        </a:rPr>
                        <a:t>SmartIFlow</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436505">
                <a:tc>
                  <a:txBody>
                    <a:bodyPr/>
                    <a:lstStyle/>
                    <a:p>
                      <a:pPr algn="ctr"/>
                      <a:r>
                        <a:rPr lang="de-DE" sz="1600" b="1" dirty="0" smtClean="0">
                          <a:solidFill>
                            <a:schemeClr val="tx1"/>
                          </a:solidFill>
                        </a:rPr>
                        <a:t>SAML</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AltaRica</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HipHops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East-ADL</a:t>
                      </a:r>
                    </a:p>
                  </a:txBody>
                  <a:tcPr>
                    <a:solidFill>
                      <a:schemeClr val="bg1">
                        <a:lumMod val="95000"/>
                      </a:schemeClr>
                    </a:solidFill>
                  </a:tcPr>
                </a:tc>
              </a:tr>
              <a:tr h="535264">
                <a:tc>
                  <a:txBody>
                    <a:bodyPr/>
                    <a:lstStyle/>
                    <a:p>
                      <a:pPr algn="ctr"/>
                      <a:r>
                        <a:rPr lang="de-DE" sz="1600" b="1" dirty="0" err="1" smtClean="0">
                          <a:solidFill>
                            <a:schemeClr val="tx1"/>
                          </a:solidFill>
                        </a:rPr>
                        <a:t>Safety</a:t>
                      </a:r>
                      <a:r>
                        <a:rPr lang="de-DE" sz="1600" b="1" dirty="0" smtClean="0">
                          <a:solidFill>
                            <a:schemeClr val="tx1"/>
                          </a:solidFill>
                        </a:rPr>
                        <a:t> Annex</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bl>
          </a:graphicData>
        </a:graphic>
      </p:graphicFrame>
    </p:spTree>
    <p:extLst>
      <p:ext uri="{BB962C8B-B14F-4D97-AF65-F5344CB8AC3E}">
        <p14:creationId xmlns:p14="http://schemas.microsoft.com/office/powerpoint/2010/main" val="1521369368"/>
      </p:ext>
    </p:extLst>
  </p:cSld>
  <p:clrMapOvr>
    <a:masterClrMapping/>
  </p:clrMapOvr>
  <p:transition>
    <p:wipe dir="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Future Work</a:t>
            </a:r>
            <a:endParaRPr lang="de-DE" dirty="0"/>
          </a:p>
        </p:txBody>
      </p:sp>
      <p:sp>
        <p:nvSpPr>
          <p:cNvPr id="3" name="Inhaltsplatzhalter 2"/>
          <p:cNvSpPr>
            <a:spLocks noGrp="1"/>
          </p:cNvSpPr>
          <p:nvPr>
            <p:ph idx="1"/>
          </p:nvPr>
        </p:nvSpPr>
        <p:spPr/>
        <p:txBody>
          <a:bodyPr/>
          <a:lstStyle/>
          <a:p>
            <a:r>
              <a:rPr lang="de-DE" dirty="0" err="1"/>
              <a:t>Compositional</a:t>
            </a:r>
            <a:r>
              <a:rPr lang="de-DE" dirty="0"/>
              <a:t> Fault </a:t>
            </a:r>
            <a:r>
              <a:rPr lang="de-DE" dirty="0" err="1"/>
              <a:t>Tree</a:t>
            </a:r>
            <a:r>
              <a:rPr lang="de-DE" dirty="0"/>
              <a:t> Generation</a:t>
            </a:r>
          </a:p>
          <a:p>
            <a:r>
              <a:rPr lang="de-DE" dirty="0" err="1"/>
              <a:t>Byzantine</a:t>
            </a:r>
            <a:r>
              <a:rPr lang="de-DE" dirty="0"/>
              <a:t> </a:t>
            </a:r>
            <a:r>
              <a:rPr lang="de-DE" dirty="0" err="1"/>
              <a:t>Faults</a:t>
            </a:r>
            <a:endParaRPr lang="de-DE" dirty="0"/>
          </a:p>
          <a:p>
            <a:r>
              <a:rPr lang="de-DE" dirty="0"/>
              <a:t>Transient </a:t>
            </a:r>
            <a:r>
              <a:rPr lang="de-DE" dirty="0" err="1"/>
              <a:t>Faults</a:t>
            </a:r>
            <a:r>
              <a:rPr lang="de-DE" dirty="0"/>
              <a:t> Analysis</a:t>
            </a: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34</a:t>
            </a:fld>
            <a:endParaRPr lang="en-US" dirty="0"/>
          </a:p>
        </p:txBody>
      </p:sp>
    </p:spTree>
    <p:extLst>
      <p:ext uri="{BB962C8B-B14F-4D97-AF65-F5344CB8AC3E}">
        <p14:creationId xmlns:p14="http://schemas.microsoft.com/office/powerpoint/2010/main" val="2993860926"/>
      </p:ext>
    </p:extLst>
  </p:cSld>
  <p:clrMapOvr>
    <a:masterClrMapping/>
  </p:clrMapOvr>
  <p:transition>
    <p:wipe dir="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35</a:t>
            </a:fld>
            <a:endParaRPr lang="en-US" dirty="0"/>
          </a:p>
        </p:txBody>
      </p:sp>
      <p:sp>
        <p:nvSpPr>
          <p:cNvPr id="21"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22"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24"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25"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6" name="Rounded Rectangle 20"/>
          <p:cNvSpPr/>
          <p:nvPr/>
        </p:nvSpPr>
        <p:spPr>
          <a:xfrm>
            <a:off x="2564084" y="4288155"/>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28"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29" name="TextBox 40"/>
          <p:cNvSpPr txBox="1"/>
          <p:nvPr/>
        </p:nvSpPr>
        <p:spPr>
          <a:xfrm>
            <a:off x="3318086" y="4816818"/>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0" name="TextBox 41"/>
          <p:cNvSpPr txBox="1"/>
          <p:nvPr/>
        </p:nvSpPr>
        <p:spPr>
          <a:xfrm>
            <a:off x="3318087" y="5676829"/>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33" name="Abgerundetes Rechteck 32"/>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Monolithic</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a:t>
            </a:r>
            <a:endParaRPr lang="de-DE" dirty="0">
              <a:solidFill>
                <a:schemeClr val="tx1"/>
              </a:solidFill>
            </a:endParaRPr>
          </a:p>
          <a:p>
            <a:pPr algn="ctr"/>
            <a:endParaRPr lang="de-DE" dirty="0"/>
          </a:p>
        </p:txBody>
      </p:sp>
      <p:cxnSp>
        <p:nvCxnSpPr>
          <p:cNvPr id="34" name="Gekrümmte Verbindung 33"/>
          <p:cNvCxnSpPr>
            <a:stCxn id="26" idx="1"/>
            <a:endCxn id="28" idx="1"/>
          </p:cNvCxnSpPr>
          <p:nvPr/>
        </p:nvCxnSpPr>
        <p:spPr>
          <a:xfrm rot="10800000">
            <a:off x="1058902" y="1283957"/>
            <a:ext cx="1505183" cy="3957916"/>
          </a:xfrm>
          <a:prstGeom prst="curvedConnector3">
            <a:avLst>
              <a:gd name="adj1" fmla="val 142738"/>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182644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randombar(horizont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randombar(horizontal)">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randombar(horizontal)">
                                      <p:cBhvr>
                                        <p:cTn id="1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1" name="Rounded Rectangle 20"/>
          <p:cNvSpPr/>
          <p:nvPr/>
        </p:nvSpPr>
        <p:spPr>
          <a:xfrm>
            <a:off x="2564084" y="4288155"/>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5" name="TextBox 40"/>
          <p:cNvSpPr txBox="1"/>
          <p:nvPr/>
        </p:nvSpPr>
        <p:spPr>
          <a:xfrm>
            <a:off x="3318086" y="4816818"/>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318087" y="5676829"/>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12" name="Abgerundetes Rechteck 11"/>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2018845990"/>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randombar(horizontal)">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randombar(horizontal)">
                                      <p:cBhvr>
                                        <p:cTn id="17"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1" name="Rounded Rectangle 20"/>
          <p:cNvSpPr/>
          <p:nvPr/>
        </p:nvSpPr>
        <p:spPr>
          <a:xfrm>
            <a:off x="2564084" y="4288155"/>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5" name="TextBox 40"/>
          <p:cNvSpPr txBox="1"/>
          <p:nvPr/>
        </p:nvSpPr>
        <p:spPr>
          <a:xfrm>
            <a:off x="3318086" y="4816818"/>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318087" y="5676829"/>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6"/>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a:stCxn id="21" idx="3"/>
          </p:cNvCxnSpPr>
          <p:nvPr/>
        </p:nvCxnSpPr>
        <p:spPr>
          <a:xfrm flipH="1" flipV="1">
            <a:off x="5538562" y="3822854"/>
            <a:ext cx="470224" cy="1419019"/>
          </a:xfrm>
          <a:prstGeom prst="curvedConnector4">
            <a:avLst>
              <a:gd name="adj1" fmla="val -48615"/>
              <a:gd name="adj2" fmla="val 99909"/>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3026186" y="364738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4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Abgerundetes Rechteck 13"/>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945640320"/>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randombar(horizontal)">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randombar(horizontal)">
                                      <p:cBhvr>
                                        <p:cTn id="17" dur="5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randombar(horizontal)">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2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012611" y="4674294"/>
            <a:ext cx="1912703"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Layer 4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6"/>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p:nvPr/>
        </p:nvCxnSpPr>
        <p:spPr>
          <a:xfrm flipH="1" flipV="1">
            <a:off x="5074071" y="3055242"/>
            <a:ext cx="470224" cy="1419019"/>
          </a:xfrm>
          <a:prstGeom prst="curvedConnector4">
            <a:avLst>
              <a:gd name="adj1" fmla="val -48615"/>
              <a:gd name="adj2" fmla="val 99909"/>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3026186" y="364738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4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TextBox 40"/>
          <p:cNvSpPr txBox="1"/>
          <p:nvPr/>
        </p:nvSpPr>
        <p:spPr>
          <a:xfrm>
            <a:off x="2517574" y="2762854"/>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3" name="Abgerundetes Rechteck 12"/>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3850433315"/>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randombar(horizontal)">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randombar(horizontal)">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randombar(horizontal)">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26" grpId="0" animBg="1"/>
      <p:bldP spid="1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2517574" y="3764751"/>
            <a:ext cx="2282997" cy="338554"/>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6"/>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a:stCxn id="11" idx="3"/>
          </p:cNvCxnSpPr>
          <p:nvPr/>
        </p:nvCxnSpPr>
        <p:spPr>
          <a:xfrm flipH="1" flipV="1">
            <a:off x="4663900" y="2014455"/>
            <a:ext cx="396596" cy="1506089"/>
          </a:xfrm>
          <a:prstGeom prst="curvedConnector4">
            <a:avLst>
              <a:gd name="adj1" fmla="val -57641"/>
              <a:gd name="adj2" fmla="val 99218"/>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2244017" y="1884690"/>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2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TextBox 40"/>
          <p:cNvSpPr txBox="1"/>
          <p:nvPr/>
        </p:nvSpPr>
        <p:spPr>
          <a:xfrm>
            <a:off x="2517574" y="2762854"/>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2" name="Abgerundetes Rechteck 11"/>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2293922657"/>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randombar(horizontal)">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randombar(horizontal)">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randombar(horizontal)">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26" grpId="0" animBg="1"/>
      <p:bldP spid="14" grpId="0" animBg="1"/>
    </p:bldLst>
  </p:timing>
</p:sld>
</file>

<file path=ppt/theme/theme1.xml><?xml version="1.0" encoding="utf-8"?>
<a:theme xmlns:a="http://schemas.openxmlformats.org/drawingml/2006/main" name="RC_standard_grey">
  <a:themeElements>
    <a:clrScheme name="RC_standard_grey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fontScheme name="RC_standard_grey">
      <a:majorFont>
        <a:latin typeface="Verdana"/>
        <a:ea typeface=""/>
        <a:cs typeface="Arial"/>
      </a:majorFont>
      <a:minorFont>
        <a:latin typeface="Verdana"/>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RC_standard_grey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clrMap bg1="lt1" tx1="dk1" bg2="lt2" tx2="dk2" accent1="accent1" accent2="accent2" accent3="accent3" accent4="accent4" accent5="accent5" accent6="accent6" hlink="hlink" folHlink="folHlink"/>
    </a:extraClrScheme>
    <a:extraClrScheme>
      <a:clrScheme name="RC_standard_grey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RC_presentation_terra_cotta">
  <a:themeElements>
    <a:clrScheme name="Custom 3">
      <a:dk1>
        <a:srgbClr val="000000"/>
      </a:dk1>
      <a:lt1>
        <a:srgbClr val="F8F8F8"/>
      </a:lt1>
      <a:dk2>
        <a:srgbClr val="F8F8F8"/>
      </a:dk2>
      <a:lt2>
        <a:srgbClr val="F8F8F8"/>
      </a:lt2>
      <a:accent1>
        <a:srgbClr val="E4551F"/>
      </a:accent1>
      <a:accent2>
        <a:srgbClr val="EEB10F"/>
      </a:accent2>
      <a:accent3>
        <a:srgbClr val="8B6900"/>
      </a:accent3>
      <a:accent4>
        <a:srgbClr val="AFBC1F"/>
      </a:accent4>
      <a:accent5>
        <a:srgbClr val="007DC5"/>
      </a:accent5>
      <a:accent6>
        <a:srgbClr val="C9C1B8"/>
      </a:accent6>
      <a:hlink>
        <a:srgbClr val="005288"/>
      </a:hlink>
      <a:folHlink>
        <a:srgbClr val="A1958A"/>
      </a:folHlink>
    </a:clrScheme>
    <a:fontScheme name="Custom Design">
      <a:majorFont>
        <a:latin typeface="Verdana"/>
        <a:ea typeface="ＭＳ Ｐゴシック"/>
        <a:cs typeface="Arial"/>
      </a:majorFont>
      <a:minorFont>
        <a:latin typeface="Verdana"/>
        <a:ea typeface="ＭＳ Ｐゴシック"/>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Arial" charset="0"/>
          </a:defRPr>
        </a:defPPr>
      </a:lstStyle>
    </a:lnDef>
  </a:objectDefaults>
  <a:extraClrSchemeLst>
    <a:extraClrScheme>
      <a:clrScheme name="Custom Design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RC_standard_grey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themeOverride>
</file>

<file path=docProps/app.xml><?xml version="1.0" encoding="utf-8"?>
<Properties xmlns="http://schemas.openxmlformats.org/officeDocument/2006/extended-properties" xmlns:vt="http://schemas.openxmlformats.org/officeDocument/2006/docPropsVTypes">
  <Template>RC_standard_grey</Template>
  <TotalTime>0</TotalTime>
  <Words>1521</Words>
  <Application>Microsoft Office PowerPoint</Application>
  <PresentationFormat>Bildschirmpräsentation (4:3)</PresentationFormat>
  <Paragraphs>549</Paragraphs>
  <Slides>39</Slides>
  <Notes>10</Notes>
  <HiddenSlides>0</HiddenSlides>
  <MMClips>0</MMClips>
  <ScaleCrop>false</ScaleCrop>
  <HeadingPairs>
    <vt:vector size="6" baseType="variant">
      <vt:variant>
        <vt:lpstr>Design</vt:lpstr>
      </vt:variant>
      <vt:variant>
        <vt:i4>2</vt:i4>
      </vt:variant>
      <vt:variant>
        <vt:lpstr>Eingebettete OLE-Server</vt:lpstr>
      </vt:variant>
      <vt:variant>
        <vt:i4>2</vt:i4>
      </vt:variant>
      <vt:variant>
        <vt:lpstr>Folientitel</vt:lpstr>
      </vt:variant>
      <vt:variant>
        <vt:i4>39</vt:i4>
      </vt:variant>
    </vt:vector>
  </HeadingPairs>
  <TitlesOfParts>
    <vt:vector size="43" baseType="lpstr">
      <vt:lpstr>RC_standard_grey</vt:lpstr>
      <vt:lpstr>RC_presentation_terra_cotta</vt:lpstr>
      <vt:lpstr>Visio</vt:lpstr>
      <vt:lpstr>VISIO</vt:lpstr>
      <vt:lpstr>Architectural Modeling and Analysis for Safety Engineering (AMASE)</vt:lpstr>
      <vt:lpstr>Motivation</vt:lpstr>
      <vt:lpstr>Model-Based Development</vt:lpstr>
      <vt:lpstr>Model-Based Safety Analysis</vt:lpstr>
      <vt:lpstr>Conceptions of MBSA</vt:lpstr>
      <vt:lpstr>Conceptions of MBSA</vt:lpstr>
      <vt:lpstr>Conceptions of MBSA</vt:lpstr>
      <vt:lpstr>Conceptions of MBSA</vt:lpstr>
      <vt:lpstr>Existing Tools and Methods</vt:lpstr>
      <vt:lpstr>Creation of Nominal System Model</vt:lpstr>
      <vt:lpstr>Wheel Brake System</vt:lpstr>
      <vt:lpstr>Architecture Analysis and Design Language (AADL)</vt:lpstr>
      <vt:lpstr>WBS AADL Model</vt:lpstr>
      <vt:lpstr>PowerPoint-Präsentation</vt:lpstr>
      <vt:lpstr>Architecture Modeling and Analysis Tools</vt:lpstr>
      <vt:lpstr>AGREE: Assume Guarantee Reasoning Environment</vt:lpstr>
      <vt:lpstr>PowerPoint-Präsentation</vt:lpstr>
      <vt:lpstr>PowerPoint-Präsentation</vt:lpstr>
      <vt:lpstr>PowerPoint-Präsentation</vt:lpstr>
      <vt:lpstr>PowerPoint-Präsentation</vt:lpstr>
      <vt:lpstr>PowerPoint-Präsentation</vt:lpstr>
      <vt:lpstr>PowerPoint-Präsentation</vt:lpstr>
      <vt:lpstr>WBS Top Level Property : No inadvertent braking</vt:lpstr>
      <vt:lpstr>A Fault on the Pedal Sensor Component</vt:lpstr>
      <vt:lpstr>Behavioral Fault Propagation</vt:lpstr>
      <vt:lpstr>Active Sensor Fault</vt:lpstr>
      <vt:lpstr>Maximum Fault vs Probabilistic Analysis</vt:lpstr>
      <vt:lpstr>Maximum Fault vs Probabilistic Analysis</vt:lpstr>
      <vt:lpstr>Maximum Fault vs Probabilistic Analysis</vt:lpstr>
      <vt:lpstr>Maximum Fault vs Probabilistic Analysis</vt:lpstr>
      <vt:lpstr>Current Support</vt:lpstr>
      <vt:lpstr>Where does the Safety Annex fit?</vt:lpstr>
      <vt:lpstr>Existing Tools and Methods</vt:lpstr>
      <vt:lpstr>Future Work</vt:lpstr>
      <vt:lpstr>PowerPoint-Präsentation</vt:lpstr>
      <vt:lpstr>PowerPoint-Präsentation</vt:lpstr>
      <vt:lpstr>PowerPoint-Präsentation</vt:lpstr>
      <vt:lpstr>PowerPoint-Präsentation</vt:lpstr>
      <vt:lpstr>PowerPoint-Präsentation</vt:lpstr>
    </vt:vector>
  </TitlesOfParts>
  <Company>Rockwell Collins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ddcofer</dc:creator>
  <cp:lastModifiedBy>Danielle Kristen Stewart</cp:lastModifiedBy>
  <cp:revision>711</cp:revision>
  <cp:lastPrinted>2015-07-31T15:07:47Z</cp:lastPrinted>
  <dcterms:created xsi:type="dcterms:W3CDTF">2012-01-31T16:19:15Z</dcterms:created>
  <dcterms:modified xsi:type="dcterms:W3CDTF">2018-09-13T07:08:49Z</dcterms:modified>
</cp:coreProperties>
</file>