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7" r:id="rId1"/>
  </p:sldMasterIdLst>
  <p:notesMasterIdLst>
    <p:notesMasterId r:id="rId41"/>
  </p:notesMasterIdLst>
  <p:sldIdLst>
    <p:sldId id="256" r:id="rId2"/>
    <p:sldId id="257" r:id="rId3"/>
    <p:sldId id="297" r:id="rId4"/>
    <p:sldId id="298" r:id="rId5"/>
    <p:sldId id="300" r:id="rId6"/>
    <p:sldId id="259" r:id="rId7"/>
    <p:sldId id="260" r:id="rId8"/>
    <p:sldId id="261" r:id="rId9"/>
    <p:sldId id="266" r:id="rId10"/>
    <p:sldId id="268" r:id="rId11"/>
    <p:sldId id="269" r:id="rId12"/>
    <p:sldId id="270" r:id="rId13"/>
    <p:sldId id="262" r:id="rId14"/>
    <p:sldId id="271" r:id="rId15"/>
    <p:sldId id="301" r:id="rId16"/>
    <p:sldId id="302" r:id="rId17"/>
    <p:sldId id="263" r:id="rId18"/>
    <p:sldId id="273" r:id="rId19"/>
    <p:sldId id="277" r:id="rId20"/>
    <p:sldId id="299" r:id="rId21"/>
    <p:sldId id="276" r:id="rId22"/>
    <p:sldId id="278" r:id="rId23"/>
    <p:sldId id="279" r:id="rId24"/>
    <p:sldId id="280" r:id="rId25"/>
    <p:sldId id="264" r:id="rId26"/>
    <p:sldId id="289" r:id="rId27"/>
    <p:sldId id="283" r:id="rId28"/>
    <p:sldId id="281" r:id="rId29"/>
    <p:sldId id="290" r:id="rId30"/>
    <p:sldId id="265" r:id="rId31"/>
    <p:sldId id="292" r:id="rId32"/>
    <p:sldId id="293" r:id="rId33"/>
    <p:sldId id="294" r:id="rId34"/>
    <p:sldId id="291" r:id="rId35"/>
    <p:sldId id="295" r:id="rId36"/>
    <p:sldId id="284" r:id="rId37"/>
    <p:sldId id="285" r:id="rId38"/>
    <p:sldId id="286" r:id="rId39"/>
    <p:sldId id="28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8" autoAdjust="0"/>
    <p:restoredTop sz="94660"/>
  </p:normalViewPr>
  <p:slideViewPr>
    <p:cSldViewPr snapToGrid="0">
      <p:cViewPr varScale="1">
        <p:scale>
          <a:sx n="65" d="100"/>
          <a:sy n="65" d="100"/>
        </p:scale>
        <p:origin x="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4BA46-65E4-4926-BBF5-BD1A87F21426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6AB7-3EC5-4025-8D6F-3DA60828F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D56E-041D-4885-8BAE-2A6C32A2323C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89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7C8E-FB8B-4424-B616-B67A93C9159B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6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0DE8-4527-43B1-871B-845AA691F219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06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7BAFE-EA69-42C3-BBC9-8AD3A396DF2B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6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7CAD-FC13-47E9-AF14-F125FB9D131B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05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3045-D23D-42A9-815C-C7273D41DC38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8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DA2F-B925-4320-B39A-DBAB5933A0A7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3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AE5968-348F-4C7E-ACD4-1B37579FFBC5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67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FEFD-DAFD-455D-9EA5-4BE782C24721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8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78D4-4868-47A9-AC9D-716350C335EE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86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31902-BFC7-4CD8-B9C2-C11B306CFFF7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7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3D68D8-ECC3-4A25-B2A4-B93FAF0FACC5}" type="datetime1">
              <a:rPr lang="en-US" smtClean="0"/>
              <a:t>12/4/2019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9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0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3.png"/><Relationship Id="rId4" Type="http://schemas.openxmlformats.org/officeDocument/2006/relationships/image" Target="../media/image210.png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8.png"/><Relationship Id="rId7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Architectural </a:t>
            </a:r>
            <a:r>
              <a:rPr lang="en-US" dirty="0" smtClean="0"/>
              <a:t>Modeling and Analysis for Safety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Thesis Proposal, Dec 5</a:t>
            </a:r>
            <a:r>
              <a:rPr lang="en-US" baseline="30000" dirty="0" smtClean="0"/>
              <a:t>th</a:t>
            </a:r>
            <a:r>
              <a:rPr lang="en-US" dirty="0" smtClean="0"/>
              <a:t> 2019</a:t>
            </a:r>
          </a:p>
          <a:p>
            <a:r>
              <a:rPr lang="en-US" dirty="0" smtClean="0"/>
              <a:t>University of Minnesota</a:t>
            </a:r>
          </a:p>
          <a:p>
            <a:r>
              <a:rPr lang="en-US" dirty="0" smtClean="0"/>
              <a:t>Danielle Stewart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609" y="4833384"/>
            <a:ext cx="1634855" cy="12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207" y="2002364"/>
            <a:ext cx="7633251" cy="4192417"/>
          </a:xfrm>
          <a:prstGeom prst="rect">
            <a:avLst/>
          </a:prstGeom>
        </p:spPr>
      </p:pic>
      <p:sp>
        <p:nvSpPr>
          <p:cNvPr id="69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System Development and Safety Assessment</a:t>
            </a: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195819" y="2002364"/>
            <a:ext cx="180292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Development</a:t>
            </a:r>
            <a:endParaRPr lang="en-US" dirty="0"/>
          </a:p>
        </p:txBody>
      </p:sp>
      <p:sp>
        <p:nvSpPr>
          <p:cNvPr id="75" name="Rounded Rectangle 74"/>
          <p:cNvSpPr/>
          <p:nvPr/>
        </p:nvSpPr>
        <p:spPr>
          <a:xfrm>
            <a:off x="8704053" y="5788325"/>
            <a:ext cx="1852417" cy="40645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Safety Analysis</a:t>
            </a:r>
            <a:endParaRPr lang="en-US" dirty="0"/>
          </a:p>
        </p:txBody>
      </p:sp>
      <p:cxnSp>
        <p:nvCxnSpPr>
          <p:cNvPr id="77" name="Elbow Connector 76"/>
          <p:cNvCxnSpPr/>
          <p:nvPr/>
        </p:nvCxnSpPr>
        <p:spPr>
          <a:xfrm rot="16200000" flipV="1">
            <a:off x="9324944" y="4605416"/>
            <a:ext cx="1522313" cy="813820"/>
          </a:xfrm>
          <a:prstGeom prst="bentConnector3">
            <a:avLst>
              <a:gd name="adj1" fmla="val 10005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129159" y="2537064"/>
            <a:ext cx="2502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998839" y="2989006"/>
            <a:ext cx="6508955" cy="25664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Elbow Connector 92"/>
          <p:cNvCxnSpPr/>
          <p:nvPr/>
        </p:nvCxnSpPr>
        <p:spPr>
          <a:xfrm rot="16200000" flipH="1">
            <a:off x="1890422" y="2059475"/>
            <a:ext cx="3080913" cy="456610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22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5" grpId="0" animBg="1"/>
      <p:bldP spid="9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Based Safety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1618467" y="1737949"/>
            <a:ext cx="4800600" cy="4681538"/>
            <a:chOff x="362" y="1035"/>
            <a:chExt cx="3024" cy="2949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362" y="1035"/>
              <a:ext cx="3024" cy="2232"/>
              <a:chOff x="3102" y="981"/>
              <a:chExt cx="2476" cy="1752"/>
            </a:xfrm>
          </p:grpSpPr>
          <p:graphicFrame>
            <p:nvGraphicFramePr>
              <p:cNvPr id="9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1858103"/>
                  </p:ext>
                </p:extLst>
              </p:nvPr>
            </p:nvGraphicFramePr>
            <p:xfrm>
              <a:off x="3102" y="981"/>
              <a:ext cx="2476" cy="17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6" name="VISIO" r:id="rId4" imgW="3937000" imgH="2781300" progId="">
                      <p:embed/>
                    </p:oleObj>
                  </mc:Choice>
                  <mc:Fallback>
                    <p:oleObj name="VISIO" r:id="rId4" imgW="3937000" imgH="2781300" progId="">
                      <p:embed/>
                      <p:pic>
                        <p:nvPicPr>
                          <p:cNvPr id="23450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2" y="981"/>
                            <a:ext cx="2476" cy="17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7" descr="c2sdocs"/>
              <p:cNvGraphicFramePr>
                <a:graphicFrameLocks noChangeAspect="1"/>
              </p:cNvGraphicFramePr>
              <p:nvPr/>
            </p:nvGraphicFramePr>
            <p:xfrm>
              <a:off x="3967" y="1392"/>
              <a:ext cx="737" cy="7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7" name="VISIO" r:id="rId6" imgW="2336800" imgH="2108200" progId="">
                      <p:embed/>
                    </p:oleObj>
                  </mc:Choice>
                  <mc:Fallback>
                    <p:oleObj name="VISIO" r:id="rId6" imgW="2336800" imgH="2108200" progId="">
                      <p:embed/>
                      <p:pic>
                        <p:nvPicPr>
                          <p:cNvPr id="234503" name="Object 7" descr="c2sdocs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1728" t="8691" r="11728" b="4346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" y="1392"/>
                            <a:ext cx="737" cy="7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924" y="3344"/>
              <a:ext cx="1901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7526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We Base the Entire 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Development Cycle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Around the Model</a:t>
              </a:r>
            </a:p>
          </p:txBody>
        </p:sp>
      </p:grp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6606395" y="2218904"/>
            <a:ext cx="4313239" cy="3157538"/>
            <a:chOff x="3504" y="1376"/>
            <a:chExt cx="2717" cy="1989"/>
          </a:xfrm>
        </p:grpSpPr>
        <p:graphicFrame>
          <p:nvGraphicFramePr>
            <p:cNvPr id="1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5976309"/>
                </p:ext>
              </p:extLst>
            </p:nvPr>
          </p:nvGraphicFramePr>
          <p:xfrm>
            <a:off x="4203" y="1979"/>
            <a:ext cx="1789" cy="1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8" name="Visio" r:id="rId8" imgW="7073900" imgH="5549900" progId="">
                    <p:embed/>
                  </p:oleObj>
                </mc:Choice>
                <mc:Fallback>
                  <p:oleObj name="Visio" r:id="rId8" imgW="7073900" imgH="5549900" progId="">
                    <p:embed/>
                    <p:pic>
                      <p:nvPicPr>
                        <p:cNvPr id="23450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" y="1979"/>
                          <a:ext cx="1789" cy="1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 rot="1303765">
              <a:off x="3504" y="2160"/>
              <a:ext cx="432" cy="288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tx2"/>
            </a:solidFill>
            <a:ln w="17526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59" y="1376"/>
              <a:ext cx="226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7526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Why Not the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Safety Analysis?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90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57532" y="1509623"/>
            <a:ext cx="10584611" cy="500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89151" y="219794"/>
            <a:ext cx="1483743" cy="1492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Dev Model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400744" y="219794"/>
            <a:ext cx="1483743" cy="1492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Fault Model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5755973" y="823643"/>
            <a:ext cx="1216325" cy="3278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789150" y="2022715"/>
            <a:ext cx="1483743" cy="135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Dev Model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400744" y="2022715"/>
            <a:ext cx="1483743" cy="135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Very complex Model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5755972" y="2717141"/>
            <a:ext cx="1216325" cy="32780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518229" y="2070810"/>
            <a:ext cx="1691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Add fault model</a:t>
            </a:r>
          </a:p>
          <a:p>
            <a:pPr algn="ctr"/>
            <a:r>
              <a:rPr lang="en-US" dirty="0" smtClean="0"/>
              <a:t>information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789150" y="3799756"/>
            <a:ext cx="1483743" cy="13543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Dev Model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400744" y="3799756"/>
            <a:ext cx="1483743" cy="13543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Fault Model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 rot="3173693">
            <a:off x="5058470" y="5186304"/>
            <a:ext cx="558248" cy="2375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8069633">
            <a:off x="6973508" y="5174385"/>
            <a:ext cx="558248" cy="2375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34588" y="5154102"/>
            <a:ext cx="1483743" cy="99778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Shared Model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916398" y="642813"/>
            <a:ext cx="16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One approach: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721841" y="2511711"/>
            <a:ext cx="20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Another approach: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967306" y="4357922"/>
            <a:ext cx="15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Our approach: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8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808383" y="1431235"/>
            <a:ext cx="10681252" cy="543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utoShape 4"/>
          <p:cNvSpPr>
            <a:spLocks noChangeArrowheads="1"/>
          </p:cNvSpPr>
          <p:nvPr/>
        </p:nvSpPr>
        <p:spPr bwMode="auto">
          <a:xfrm>
            <a:off x="453520" y="1070538"/>
            <a:ext cx="5246611" cy="9262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</a:t>
            </a:r>
            <a:r>
              <a:rPr lang="en-US" sz="2400" dirty="0"/>
              <a:t> </a:t>
            </a:r>
            <a:r>
              <a:rPr lang="en-US" sz="2400" dirty="0" smtClean="0"/>
              <a:t>Functional </a:t>
            </a:r>
          </a:p>
          <a:p>
            <a:pPr algn="ctr"/>
            <a:r>
              <a:rPr lang="en-US" sz="2400" dirty="0" smtClean="0"/>
              <a:t>Hazard Assessment (FHA)</a:t>
            </a:r>
            <a:endParaRPr lang="en-US" sz="2400" dirty="0"/>
          </a:p>
        </p:txBody>
      </p:sp>
      <p:cxnSp>
        <p:nvCxnSpPr>
          <p:cNvPr id="44" name="AutoShape 12"/>
          <p:cNvCxnSpPr>
            <a:cxnSpLocks noChangeShapeType="1"/>
            <a:stCxn id="47" idx="2"/>
            <a:endCxn id="46" idx="0"/>
          </p:cNvCxnSpPr>
          <p:nvPr/>
        </p:nvCxnSpPr>
        <p:spPr bwMode="auto">
          <a:xfrm flipH="1">
            <a:off x="3072619" y="4637240"/>
            <a:ext cx="7241" cy="52198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25"/>
          <p:cNvCxnSpPr>
            <a:cxnSpLocks noChangeShapeType="1"/>
            <a:stCxn id="43" idx="2"/>
            <a:endCxn id="47" idx="0"/>
          </p:cNvCxnSpPr>
          <p:nvPr/>
        </p:nvCxnSpPr>
        <p:spPr bwMode="auto">
          <a:xfrm>
            <a:off x="3076826" y="1996806"/>
            <a:ext cx="3034" cy="41699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AutoShape 4"/>
          <p:cNvSpPr>
            <a:spLocks noChangeArrowheads="1"/>
          </p:cNvSpPr>
          <p:nvPr/>
        </p:nvSpPr>
        <p:spPr bwMode="auto">
          <a:xfrm>
            <a:off x="465217" y="5159226"/>
            <a:ext cx="5214804" cy="9262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Safety </a:t>
            </a:r>
          </a:p>
          <a:p>
            <a:pPr algn="ctr"/>
            <a:r>
              <a:rPr lang="en-US" sz="2400" dirty="0" smtClean="0"/>
              <a:t>Assessment (SSA)</a:t>
            </a:r>
            <a:endParaRPr lang="en-US" sz="2400" dirty="0"/>
          </a:p>
        </p:txBody>
      </p:sp>
      <p:sp>
        <p:nvSpPr>
          <p:cNvPr id="47" name="AutoShape 2"/>
          <p:cNvSpPr>
            <a:spLocks noChangeArrowheads="1"/>
          </p:cNvSpPr>
          <p:nvPr/>
        </p:nvSpPr>
        <p:spPr bwMode="auto">
          <a:xfrm>
            <a:off x="467171" y="2413803"/>
            <a:ext cx="5225377" cy="22234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auto">
          <a:xfrm>
            <a:off x="3131013" y="3215718"/>
            <a:ext cx="2194913" cy="106044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Fault Tree </a:t>
            </a:r>
          </a:p>
          <a:p>
            <a:pPr algn="ctr"/>
            <a:r>
              <a:rPr lang="en-US" sz="2400" dirty="0" smtClean="0"/>
              <a:t>Analysis (FTA)</a:t>
            </a:r>
            <a:endParaRPr lang="en-US" sz="2400" dirty="0"/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1042726" y="2417839"/>
            <a:ext cx="370764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>
                <a:latin typeface="+mn-lt"/>
              </a:rPr>
              <a:t>Preliminary System </a:t>
            </a:r>
            <a:r>
              <a:rPr lang="en-US" sz="2400" dirty="0" smtClean="0">
                <a:latin typeface="+mn-lt"/>
              </a:rPr>
              <a:t>Safety </a:t>
            </a:r>
            <a:r>
              <a:rPr lang="en-US" sz="2400" dirty="0">
                <a:latin typeface="+mn-lt"/>
              </a:rPr>
              <a:t>Assessment </a:t>
            </a:r>
            <a:r>
              <a:rPr lang="en-US" sz="2400" dirty="0" smtClean="0">
                <a:latin typeface="+mn-lt"/>
              </a:rPr>
              <a:t>(</a:t>
            </a:r>
            <a:r>
              <a:rPr lang="en-US" sz="2400" dirty="0">
                <a:latin typeface="+mn-lt"/>
              </a:rPr>
              <a:t>PSSA)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668235" y="3215718"/>
            <a:ext cx="2225702" cy="107497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Common Cause </a:t>
            </a:r>
          </a:p>
          <a:p>
            <a:pPr algn="ctr"/>
            <a:r>
              <a:rPr lang="en-US" sz="2400" dirty="0" smtClean="0"/>
              <a:t>Analyses (CCA)</a:t>
            </a:r>
            <a:endParaRPr lang="en-US" sz="2400" dirty="0"/>
          </a:p>
        </p:txBody>
      </p:sp>
      <p:sp>
        <p:nvSpPr>
          <p:cNvPr id="51" name="AutoShape 4"/>
          <p:cNvSpPr>
            <a:spLocks noChangeArrowheads="1"/>
          </p:cNvSpPr>
          <p:nvPr/>
        </p:nvSpPr>
        <p:spPr bwMode="auto">
          <a:xfrm>
            <a:off x="8138207" y="895377"/>
            <a:ext cx="3508441" cy="73215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Development of </a:t>
            </a:r>
          </a:p>
          <a:p>
            <a:pPr algn="ctr"/>
            <a:r>
              <a:rPr lang="en-US" sz="2400" dirty="0" smtClean="0"/>
              <a:t>System Architecture</a:t>
            </a:r>
            <a:endParaRPr lang="en-US" sz="2400" dirty="0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 flipV="1">
            <a:off x="6973212" y="617051"/>
            <a:ext cx="35094" cy="6132972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1021612" y="246141"/>
            <a:ext cx="37076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 smtClean="0">
                <a:solidFill>
                  <a:srgbClr val="FF0000"/>
                </a:solidFill>
                <a:latin typeface="+mn-lt"/>
              </a:rPr>
              <a:t>Safety Assessment Process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7816359" y="185216"/>
            <a:ext cx="4168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 smtClean="0">
                <a:solidFill>
                  <a:srgbClr val="0000FF"/>
                </a:solidFill>
                <a:latin typeface="+mn-lt"/>
              </a:rPr>
              <a:t>System Development Process</a:t>
            </a:r>
            <a:endParaRPr lang="en-US" sz="24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55" name="AutoShape 4"/>
          <p:cNvSpPr>
            <a:spLocks noChangeArrowheads="1"/>
          </p:cNvSpPr>
          <p:nvPr/>
        </p:nvSpPr>
        <p:spPr bwMode="auto">
          <a:xfrm>
            <a:off x="8138206" y="1978006"/>
            <a:ext cx="3508441" cy="11802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Allocation of System </a:t>
            </a:r>
          </a:p>
          <a:p>
            <a:pPr algn="ctr"/>
            <a:r>
              <a:rPr lang="en-US" sz="2400" dirty="0" smtClean="0"/>
              <a:t>Requirements to </a:t>
            </a:r>
          </a:p>
          <a:p>
            <a:pPr algn="ctr"/>
            <a:r>
              <a:rPr lang="en-US" sz="2400" dirty="0" smtClean="0"/>
              <a:t>Hardware and Software</a:t>
            </a:r>
            <a:endParaRPr lang="en-US" sz="2400" dirty="0"/>
          </a:p>
        </p:txBody>
      </p:sp>
      <p:sp>
        <p:nvSpPr>
          <p:cNvPr id="56" name="AutoShape 4"/>
          <p:cNvSpPr>
            <a:spLocks noChangeArrowheads="1"/>
          </p:cNvSpPr>
          <p:nvPr/>
        </p:nvSpPr>
        <p:spPr bwMode="auto">
          <a:xfrm>
            <a:off x="8138205" y="3583325"/>
            <a:ext cx="3508441" cy="619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Implementation</a:t>
            </a:r>
            <a:endParaRPr lang="en-US" sz="2400" dirty="0"/>
          </a:p>
        </p:txBody>
      </p:sp>
      <p:sp>
        <p:nvSpPr>
          <p:cNvPr id="57" name="AutoShape 4"/>
          <p:cNvSpPr>
            <a:spLocks noChangeArrowheads="1"/>
          </p:cNvSpPr>
          <p:nvPr/>
        </p:nvSpPr>
        <p:spPr bwMode="auto">
          <a:xfrm>
            <a:off x="8138204" y="4673728"/>
            <a:ext cx="3508441" cy="97359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Integration &amp; </a:t>
            </a:r>
          </a:p>
          <a:p>
            <a:pPr algn="ctr"/>
            <a:r>
              <a:rPr lang="en-US" sz="2400" dirty="0" smtClean="0"/>
              <a:t>Verification</a:t>
            </a:r>
            <a:endParaRPr lang="en-US" sz="2400" dirty="0"/>
          </a:p>
        </p:txBody>
      </p:sp>
      <p:cxnSp>
        <p:nvCxnSpPr>
          <p:cNvPr id="58" name="AutoShape 25"/>
          <p:cNvCxnSpPr>
            <a:cxnSpLocks noChangeShapeType="1"/>
            <a:endCxn id="55" idx="0"/>
          </p:cNvCxnSpPr>
          <p:nvPr/>
        </p:nvCxnSpPr>
        <p:spPr bwMode="auto">
          <a:xfrm>
            <a:off x="9892423" y="1627528"/>
            <a:ext cx="4" cy="3504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25"/>
          <p:cNvCxnSpPr>
            <a:cxnSpLocks noChangeShapeType="1"/>
            <a:endCxn id="56" idx="0"/>
          </p:cNvCxnSpPr>
          <p:nvPr/>
        </p:nvCxnSpPr>
        <p:spPr bwMode="auto">
          <a:xfrm>
            <a:off x="9892423" y="3191856"/>
            <a:ext cx="3" cy="39146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25"/>
          <p:cNvCxnSpPr>
            <a:cxnSpLocks noChangeShapeType="1"/>
            <a:stCxn id="56" idx="2"/>
          </p:cNvCxnSpPr>
          <p:nvPr/>
        </p:nvCxnSpPr>
        <p:spPr bwMode="auto">
          <a:xfrm flipH="1">
            <a:off x="9892416" y="4202628"/>
            <a:ext cx="10" cy="48545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5"/>
          <p:cNvCxnSpPr>
            <a:cxnSpLocks noChangeShapeType="1"/>
          </p:cNvCxnSpPr>
          <p:nvPr/>
        </p:nvCxnSpPr>
        <p:spPr bwMode="auto">
          <a:xfrm flipV="1">
            <a:off x="10278292" y="1627528"/>
            <a:ext cx="0" cy="35048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AutoShape 4"/>
          <p:cNvSpPr>
            <a:spLocks noChangeArrowheads="1"/>
          </p:cNvSpPr>
          <p:nvPr/>
        </p:nvSpPr>
        <p:spPr bwMode="auto">
          <a:xfrm>
            <a:off x="6192946" y="895174"/>
            <a:ext cx="1711793" cy="5315579"/>
          </a:xfrm>
          <a:prstGeom prst="roundRect">
            <a:avLst>
              <a:gd name="adj" fmla="val 16667"/>
            </a:avLst>
          </a:prstGeom>
          <a:solidFill>
            <a:srgbClr val="FFC000">
              <a:alpha val="43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dirty="0" smtClean="0"/>
              <a:t>Shared </a:t>
            </a:r>
          </a:p>
          <a:p>
            <a:pPr algn="ctr"/>
            <a:r>
              <a:rPr lang="en-US" sz="2400" dirty="0" smtClean="0"/>
              <a:t>Model</a:t>
            </a:r>
            <a:endParaRPr lang="en-US" sz="2400" dirty="0"/>
          </a:p>
        </p:txBody>
      </p:sp>
      <p:cxnSp>
        <p:nvCxnSpPr>
          <p:cNvPr id="63" name="AutoShape 21"/>
          <p:cNvCxnSpPr>
            <a:cxnSpLocks noChangeShapeType="1"/>
            <a:stCxn id="51" idx="1"/>
          </p:cNvCxnSpPr>
          <p:nvPr/>
        </p:nvCxnSpPr>
        <p:spPr bwMode="auto">
          <a:xfrm flipH="1">
            <a:off x="7672787" y="1261453"/>
            <a:ext cx="465420" cy="8156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1"/>
          <p:cNvCxnSpPr>
            <a:cxnSpLocks noChangeShapeType="1"/>
            <a:stCxn id="55" idx="1"/>
          </p:cNvCxnSpPr>
          <p:nvPr/>
        </p:nvCxnSpPr>
        <p:spPr bwMode="auto">
          <a:xfrm flipH="1" flipV="1">
            <a:off x="7672787" y="2568138"/>
            <a:ext cx="465419" cy="1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1"/>
          <p:cNvCxnSpPr>
            <a:cxnSpLocks noChangeShapeType="1"/>
            <a:stCxn id="56" idx="1"/>
          </p:cNvCxnSpPr>
          <p:nvPr/>
        </p:nvCxnSpPr>
        <p:spPr bwMode="auto">
          <a:xfrm flipH="1" flipV="1">
            <a:off x="7598353" y="3883953"/>
            <a:ext cx="539852" cy="9024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1"/>
          <p:cNvCxnSpPr>
            <a:cxnSpLocks noChangeShapeType="1"/>
            <a:stCxn id="57" idx="1"/>
          </p:cNvCxnSpPr>
          <p:nvPr/>
        </p:nvCxnSpPr>
        <p:spPr bwMode="auto">
          <a:xfrm flipH="1">
            <a:off x="7598353" y="5160523"/>
            <a:ext cx="539851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33"/>
          <p:cNvCxnSpPr>
            <a:cxnSpLocks noChangeShapeType="1"/>
            <a:stCxn id="43" idx="3"/>
          </p:cNvCxnSpPr>
          <p:nvPr/>
        </p:nvCxnSpPr>
        <p:spPr bwMode="auto">
          <a:xfrm>
            <a:off x="5700131" y="1533672"/>
            <a:ext cx="728604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33"/>
          <p:cNvCxnSpPr>
            <a:cxnSpLocks noChangeShapeType="1"/>
            <a:stCxn id="47" idx="3"/>
          </p:cNvCxnSpPr>
          <p:nvPr/>
        </p:nvCxnSpPr>
        <p:spPr bwMode="auto">
          <a:xfrm flipV="1">
            <a:off x="5692548" y="3525521"/>
            <a:ext cx="795805" cy="1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33"/>
          <p:cNvCxnSpPr>
            <a:cxnSpLocks noChangeShapeType="1"/>
            <a:stCxn id="46" idx="3"/>
          </p:cNvCxnSpPr>
          <p:nvPr/>
        </p:nvCxnSpPr>
        <p:spPr bwMode="auto">
          <a:xfrm>
            <a:off x="5680021" y="5622360"/>
            <a:ext cx="76323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8612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4538207" cy="4023360"/>
          </a:xfrm>
        </p:spPr>
        <p:txBody>
          <a:bodyPr/>
          <a:lstStyle/>
          <a:p>
            <a:r>
              <a:rPr lang="en-US" u="sng" dirty="0" smtClean="0"/>
              <a:t>Formal Verification in Safety Analysis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and prove relationships between verification artifacts and safety artifacts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245418" y="1945239"/>
            <a:ext cx="453820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Implementation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Implement algorithms that utilize formal verification relationships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01168" lvl="1" indent="0">
              <a:buFont typeface="Calibri" pitchFamily="34" charset="0"/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47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and implement a Safety Annex to enable fault modeling in </a:t>
            </a:r>
            <a:r>
              <a:rPr lang="en-US" dirty="0" smtClean="0"/>
              <a:t>a modeling </a:t>
            </a:r>
            <a:r>
              <a:rPr lang="en-US" dirty="0" smtClean="0"/>
              <a:t>language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compositional verification capabilities in the face of component failures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Evaluate the results using representative </a:t>
            </a:r>
            <a:r>
              <a:rPr lang="en-US" dirty="0" smtClean="0"/>
              <a:t>models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2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b="1" dirty="0" smtClean="0"/>
              <a:t>Define and implement a Safety Annex to enable fault modeling in </a:t>
            </a:r>
            <a:r>
              <a:rPr lang="en-US" b="1" dirty="0" smtClean="0"/>
              <a:t>a modeling </a:t>
            </a:r>
            <a:r>
              <a:rPr lang="en-US" b="1" dirty="0" smtClean="0"/>
              <a:t>language</a:t>
            </a:r>
            <a:endParaRPr lang="en-US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compositional verification capabilities in the face of component failures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Evaluate the results using representative </a:t>
            </a:r>
            <a:r>
              <a:rPr lang="en-US" dirty="0" smtClean="0"/>
              <a:t>models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6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Analysis and Design Language (AADL)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6227" y="2147997"/>
            <a:ext cx="3357042" cy="21655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AADL = SAE AS5506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Target: Embedded, real-time, distributed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Describes both hardware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Extensible syntax (annex)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Open source tools</a:t>
            </a:r>
            <a:endParaRPr lang="en-US" sz="1600" dirty="0"/>
          </a:p>
        </p:txBody>
      </p:sp>
      <p:grpSp>
        <p:nvGrpSpPr>
          <p:cNvPr id="7" name="Group 3"/>
          <p:cNvGrpSpPr/>
          <p:nvPr/>
        </p:nvGrpSpPr>
        <p:grpSpPr>
          <a:xfrm>
            <a:off x="3965416" y="2246243"/>
            <a:ext cx="5215590" cy="3379306"/>
            <a:chOff x="1371600" y="1389376"/>
            <a:chExt cx="6553200" cy="346275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389376"/>
              <a:ext cx="6553200" cy="3462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8" descr="pixhawk.jpg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97057" y="3581400"/>
              <a:ext cx="838200" cy="838200"/>
            </a:xfrm>
            <a:prstGeom prst="rect">
              <a:avLst/>
            </a:prstGeom>
          </p:spPr>
        </p:pic>
        <p:pic>
          <p:nvPicPr>
            <p:cNvPr id="10" name="Picture 2" descr="http://dn.odroid.com/homebackup/ODROID-XU3.jpg"/>
            <p:cNvPicPr>
              <a:picLocks noChangeAspect="1" noChangeArrowheads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581400"/>
              <a:ext cx="1161394" cy="673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2049"/>
          <p:cNvGrpSpPr/>
          <p:nvPr/>
        </p:nvGrpSpPr>
        <p:grpSpPr>
          <a:xfrm>
            <a:off x="7558192" y="1977887"/>
            <a:ext cx="3897001" cy="2120685"/>
            <a:chOff x="4343400" y="1371600"/>
            <a:chExt cx="4595523" cy="2080852"/>
          </a:xfrm>
        </p:grpSpPr>
        <p:pic>
          <p:nvPicPr>
            <p:cNvPr id="12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0" y="1371600"/>
              <a:ext cx="3604923" cy="2080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 flipV="1">
              <a:off x="4343400" y="1381126"/>
              <a:ext cx="1511930" cy="447674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343400" y="2514600"/>
              <a:ext cx="1447800" cy="838200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800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Assume-Guarantee Reasoning Environment (AGREE)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4294967295"/>
          </p:nvPr>
        </p:nvSpPr>
        <p:spPr>
          <a:xfrm>
            <a:off x="1101705" y="4100459"/>
            <a:ext cx="4648200" cy="227029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Each component has a contract consisting of assumptions and guarantees</a:t>
            </a:r>
          </a:p>
          <a:p>
            <a:pPr marL="0" indent="0">
              <a:buNone/>
            </a:pPr>
            <a:r>
              <a:rPr lang="en-US" dirty="0" smtClean="0"/>
              <a:t>Allows for compositional or monolithic    verification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66"/>
          <a:stretch/>
        </p:blipFill>
        <p:spPr bwMode="auto">
          <a:xfrm>
            <a:off x="1721601" y="2152310"/>
            <a:ext cx="1594756" cy="13484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3514" r="8140" b="15359"/>
          <a:stretch/>
        </p:blipFill>
        <p:spPr bwMode="auto">
          <a:xfrm>
            <a:off x="3392557" y="2119235"/>
            <a:ext cx="1522343" cy="142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867370" y="1737360"/>
            <a:ext cx="289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>Component Implementation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336909" y="2487255"/>
            <a:ext cx="2735861" cy="14478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62139" y="2715855"/>
            <a:ext cx="83967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839964" y="2639655"/>
            <a:ext cx="83967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48701" y="3325455"/>
            <a:ext cx="83967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Down Arrow 28"/>
          <p:cNvSpPr/>
          <p:nvPr/>
        </p:nvSpPr>
        <p:spPr>
          <a:xfrm>
            <a:off x="9686675" y="3679349"/>
            <a:ext cx="363725" cy="52730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586456" y="1946852"/>
            <a:ext cx="219075" cy="3876675"/>
          </a:xfrm>
          <a:custGeom>
            <a:avLst/>
            <a:gdLst>
              <a:gd name="connsiteX0" fmla="*/ 219075 w 219075"/>
              <a:gd name="connsiteY0" fmla="*/ 0 h 3876675"/>
              <a:gd name="connsiteX1" fmla="*/ 0 w 219075"/>
              <a:gd name="connsiteY1" fmla="*/ 0 h 3876675"/>
              <a:gd name="connsiteX2" fmla="*/ 9525 w 219075"/>
              <a:gd name="connsiteY2" fmla="*/ 3876675 h 3876675"/>
              <a:gd name="connsiteX3" fmla="*/ 200025 w 219075"/>
              <a:gd name="connsiteY3" fmla="*/ 3876675 h 387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075" h="3876675">
                <a:moveTo>
                  <a:pt x="219075" y="0"/>
                </a:moveTo>
                <a:lnTo>
                  <a:pt x="0" y="0"/>
                </a:lnTo>
                <a:lnTo>
                  <a:pt x="9525" y="3876675"/>
                </a:lnTo>
                <a:lnTo>
                  <a:pt x="200025" y="387667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6862154" y="3586611"/>
            <a:ext cx="1036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</a:rPr>
              <a:t>AGREE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05928" y="2694573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smtClean="0">
                <a:solidFill>
                  <a:schemeClr val="accent1"/>
                </a:solidFill>
                <a:latin typeface="+mn-lt"/>
              </a:rPr>
              <a:t>contract</a:t>
            </a:r>
            <a:endParaRPr lang="en-US" sz="9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99766" y="2639655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smtClean="0">
                <a:solidFill>
                  <a:schemeClr val="accent1"/>
                </a:solidFill>
                <a:latin typeface="+mn-lt"/>
              </a:rPr>
              <a:t>contract</a:t>
            </a:r>
            <a:endParaRPr lang="en-US" sz="9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79929" y="3325455"/>
            <a:ext cx="7200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smtClean="0">
                <a:solidFill>
                  <a:schemeClr val="accent1"/>
                </a:solidFill>
                <a:latin typeface="+mn-lt"/>
              </a:rPr>
              <a:t>contract</a:t>
            </a:r>
            <a:endParaRPr lang="en-US" sz="9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0" name="Down Arrow 39"/>
          <p:cNvSpPr/>
          <p:nvPr/>
        </p:nvSpPr>
        <p:spPr>
          <a:xfrm rot="16200000">
            <a:off x="6063481" y="2205647"/>
            <a:ext cx="541150" cy="62506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591450" y="4579824"/>
            <a:ext cx="2316316" cy="12437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2013" y="4620590"/>
            <a:ext cx="1910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1"/>
                </a:solidFill>
                <a:latin typeface="+mn-lt"/>
              </a:rPr>
              <a:t>Assumptions (input)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24913" y="5421541"/>
            <a:ext cx="1919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1"/>
                </a:solidFill>
                <a:latin typeface="+mn-lt"/>
              </a:rPr>
              <a:t>Guarantees (output)</a:t>
            </a:r>
            <a:endParaRPr lang="en-US" sz="1600" b="1"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8397135" y="4785701"/>
            <a:ext cx="5248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781306" y="5603096"/>
            <a:ext cx="5294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97135" y="2108651"/>
            <a:ext cx="2785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1"/>
                </a:solidFill>
              </a:rPr>
              <a:t>A system with subcomponents</a:t>
            </a:r>
            <a:endParaRPr 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17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JKind</a:t>
            </a:r>
            <a:r>
              <a:rPr lang="en-US" dirty="0" smtClean="0"/>
              <a:t> Model Checker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4294967295"/>
          </p:nvPr>
        </p:nvSpPr>
        <p:spPr>
          <a:xfrm>
            <a:off x="1097280" y="1983425"/>
            <a:ext cx="10058400" cy="227029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Structured as parallel engines that coordinate to prove properties and perform other verification tasks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8725146" y="2813444"/>
            <a:ext cx="2712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lus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815797" y="3678744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3538330" y="3369365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18748" y="3568003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590256" y="3657599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8262829" y="3652629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39089" y="3411654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1281" y="3369365"/>
            <a:ext cx="2176670" cy="2773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55982" y="3478325"/>
            <a:ext cx="21371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dirty="0">
                <a:latin typeface="Lucida Console" panose="020B0609040504020204" pitchFamily="49" charset="0"/>
              </a:rPr>
              <a:t>Implementation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endParaRPr lang="en-US" dirty="0">
              <a:latin typeface="Lucida Console" panose="020B0609040504020204" pitchFamily="49" charset="0"/>
            </a:endParaRP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78281" y="3568003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708" y="2784589"/>
            <a:ext cx="195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aadl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65030" y="2784589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 rot="5400000">
            <a:off x="9753296" y="4403686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094305" y="3478325"/>
            <a:ext cx="1940560" cy="692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12725" y="3529579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Lucida Console" panose="020B0609040504020204" pitchFamily="49" charset="0"/>
              </a:rPr>
              <a:t>JKind</a:t>
            </a:r>
            <a:r>
              <a:rPr lang="en-US" dirty="0">
                <a:latin typeface="Lucida Console" panose="020B0609040504020204" pitchFamily="49" charset="0"/>
              </a:rPr>
              <a:t> Program </a:t>
            </a:r>
          </a:p>
          <a:p>
            <a:pPr algn="ctr"/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Lustre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55" name="Rounded Rectangle 54"/>
          <p:cNvSpPr/>
          <p:nvPr/>
        </p:nvSpPr>
        <p:spPr>
          <a:xfrm>
            <a:off x="9412357" y="4954219"/>
            <a:ext cx="1441173" cy="650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640300" y="5072494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Lucida Console" panose="020B0609040504020204" pitchFamily="49" charset="0"/>
              </a:rPr>
              <a:t>JKind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Implementation of the Safety </a:t>
            </a:r>
            <a:r>
              <a:rPr lang="en-US" dirty="0"/>
              <a:t>Annex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316063" y="2007042"/>
            <a:ext cx="2712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lus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483695" y="2833918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3206228" y="2524539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86646" y="272317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258154" y="2812773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7930727" y="2807803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06987" y="2566828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9179" y="2524539"/>
            <a:ext cx="2204516" cy="3011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3880" y="2633499"/>
            <a:ext cx="227658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dirty="0">
                <a:latin typeface="Lucida Console" panose="020B0609040504020204" pitchFamily="49" charset="0"/>
              </a:rPr>
              <a:t>Implementation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 smtClean="0"/>
          </a:p>
          <a:p>
            <a:r>
              <a:rPr lang="en-US" dirty="0">
                <a:latin typeface="Lucida Console" panose="020B0609040504020204" pitchFamily="49" charset="0"/>
              </a:rPr>
              <a:t>annex </a:t>
            </a:r>
            <a:r>
              <a:rPr lang="en-US" dirty="0" smtClean="0">
                <a:latin typeface="Lucida Console" panose="020B0609040504020204" pitchFamily="49" charset="0"/>
              </a:rPr>
              <a:t>safety{**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smtClean="0">
                <a:latin typeface="Lucida Console" panose="020B0609040504020204" pitchFamily="49" charset="0"/>
              </a:rPr>
              <a:t>faults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6179" y="2723177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606" y="1939763"/>
            <a:ext cx="195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aadl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32928" y="1939763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 rot="5400000">
            <a:off x="10920682" y="3597284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685222" y="2671923"/>
            <a:ext cx="1940560" cy="692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603642" y="2723177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Lucida Console" panose="020B0609040504020204" pitchFamily="49" charset="0"/>
              </a:rPr>
              <a:t>JKind</a:t>
            </a:r>
            <a:r>
              <a:rPr lang="en-US" dirty="0">
                <a:latin typeface="Lucida Console" panose="020B0609040504020204" pitchFamily="49" charset="0"/>
              </a:rPr>
              <a:t> Program </a:t>
            </a:r>
          </a:p>
          <a:p>
            <a:pPr algn="ctr"/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Lustre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55" name="Rounded Rectangle 54"/>
          <p:cNvSpPr/>
          <p:nvPr/>
        </p:nvSpPr>
        <p:spPr>
          <a:xfrm>
            <a:off x="10579743" y="4147817"/>
            <a:ext cx="1441173" cy="650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807686" y="4266092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Lucida Console" panose="020B0609040504020204" pitchFamily="49" charset="0"/>
              </a:rPr>
              <a:t>JKind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8597585" y="2633499"/>
            <a:ext cx="725777" cy="6064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9346113" y="2809069"/>
            <a:ext cx="339109" cy="2273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240209" y="3275358"/>
            <a:ext cx="1326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AGREE Plugin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2483695" y="5040406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3206228" y="4731027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86646" y="4929665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Safety Parser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248215" y="5019261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06987" y="4773316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096477" y="4939287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Lucida Console" panose="020B0609040504020204" pitchFamily="49" charset="0"/>
              </a:rPr>
              <a:t>Fault Model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95744" y="5601524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7943195" y="5020527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620336" y="4848694"/>
            <a:ext cx="725777" cy="6064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16548" y="5555358"/>
            <a:ext cx="1287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Safety Plugin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8586709" y="3646507"/>
            <a:ext cx="10876" cy="988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9272385" y="3678806"/>
            <a:ext cx="0" cy="967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62775" y="3820384"/>
            <a:ext cx="1147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Extension </a:t>
            </a:r>
          </a:p>
          <a:p>
            <a:r>
              <a:rPr lang="en-US" dirty="0" smtClean="0"/>
              <a:t>Point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9229974" y="3747015"/>
            <a:ext cx="173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AGREE AST with </a:t>
            </a:r>
          </a:p>
          <a:p>
            <a:r>
              <a:rPr lang="en-US" dirty="0" smtClean="0"/>
              <a:t>fault</a:t>
            </a:r>
          </a:p>
          <a:p>
            <a:r>
              <a:rPr lang="en-US" dirty="0" smtClean="0"/>
              <a:t>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4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6" grpId="0" animBg="1"/>
      <p:bldP spid="37" grpId="0" animBg="1"/>
      <p:bldP spid="38" grpId="0"/>
      <p:bldP spid="39" grpId="0" animBg="1"/>
      <p:bldP spid="49" grpId="0" animBg="1"/>
      <p:bldP spid="7" grpId="0" animBg="1"/>
      <p:bldP spid="8" grpId="0" animBg="1"/>
      <p:bldP spid="9" grpId="0"/>
      <p:bldP spid="10" grpId="0"/>
      <p:bldP spid="52" grpId="0"/>
      <p:bldP spid="53" grpId="0"/>
      <p:bldP spid="54" grpId="0" animBg="1"/>
      <p:bldP spid="11" grpId="0" animBg="1"/>
      <p:bldP spid="12" grpId="0"/>
      <p:bldP spid="55" grpId="0" animBg="1"/>
      <p:bldP spid="56" grpId="0"/>
      <p:bldP spid="3" grpId="0" animBg="1"/>
      <p:bldP spid="24" grpId="0" animBg="1"/>
      <p:bldP spid="25" grpId="0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18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and implement a Safety Annex to enable fault modeling in AADL modeling language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b="1" dirty="0" smtClean="0"/>
              <a:t>Define verification capabilities in the face of component failures</a:t>
            </a:r>
            <a:endParaRPr lang="en-US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Evaluate the results using representative models in AADL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Verification in the Face of </a:t>
            </a:r>
            <a:r>
              <a:rPr lang="en-US" dirty="0"/>
              <a:t>C</a:t>
            </a:r>
            <a:r>
              <a:rPr lang="en-US" dirty="0" smtClean="0"/>
              <a:t>omponent </a:t>
            </a:r>
            <a:r>
              <a:rPr lang="en-US" dirty="0"/>
              <a:t>F</a:t>
            </a:r>
            <a:r>
              <a:rPr lang="en-US" dirty="0" smtClean="0"/>
              <a:t>ailures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4538207" cy="4023360"/>
          </a:xfrm>
        </p:spPr>
        <p:txBody>
          <a:bodyPr/>
          <a:lstStyle/>
          <a:p>
            <a:r>
              <a:rPr lang="en-US" u="sng" dirty="0" smtClean="0"/>
              <a:t>Maximum no. of faults analysis threshold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Are contracts violated in the presence of </a:t>
            </a:r>
            <a:r>
              <a:rPr lang="en-US" i="1" dirty="0" smtClean="0"/>
              <a:t>n</a:t>
            </a:r>
            <a:r>
              <a:rPr lang="en-US" dirty="0" smtClean="0"/>
              <a:t> active faults?</a:t>
            </a:r>
            <a:endParaRPr lang="en-US" dirty="0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6245418" y="1945239"/>
            <a:ext cx="476713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Probabilistic analysis threshold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Are contracts violated with a probability greater than </a:t>
            </a:r>
            <a:r>
              <a:rPr lang="en-US" i="1" dirty="0" smtClean="0"/>
              <a:t>x</a:t>
            </a:r>
            <a:r>
              <a:rPr lang="en-US" dirty="0" smtClean="0"/>
              <a:t>?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01168" lvl="1" indent="0">
              <a:buFont typeface="Calibri" pitchFamily="34" charset="0"/>
              <a:buNone/>
            </a:pPr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705" y="3721537"/>
            <a:ext cx="3991274" cy="9100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99" y="3721537"/>
            <a:ext cx="3488709" cy="91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7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Flexible Fault Modeling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4538207" cy="4023360"/>
          </a:xfrm>
        </p:spPr>
        <p:txBody>
          <a:bodyPr/>
          <a:lstStyle/>
          <a:p>
            <a:r>
              <a:rPr lang="en-US" u="sng" dirty="0" smtClean="0"/>
              <a:t>Behavioral Propagation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 smtClean="0"/>
              <a:t>The effects of an active fault propagate through the system naturally</a:t>
            </a:r>
            <a:endParaRPr lang="en-US" dirty="0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6245418" y="1945239"/>
            <a:ext cx="476713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Explicit Propagation (dependencies)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 smtClean="0"/>
              <a:t>Analyst explicitly states dependencies and propagations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01168" lvl="1" indent="0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3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Published Papers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236581" y="2068746"/>
            <a:ext cx="7779798" cy="3636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Stewart, D., Whalen, M., </a:t>
            </a:r>
            <a:r>
              <a:rPr lang="en-US" dirty="0" err="1" smtClean="0"/>
              <a:t>Cofer</a:t>
            </a:r>
            <a:r>
              <a:rPr lang="en-US" dirty="0" smtClean="0"/>
              <a:t>, D., </a:t>
            </a:r>
            <a:r>
              <a:rPr lang="en-US" dirty="0" err="1" smtClean="0"/>
              <a:t>Heimdahl</a:t>
            </a:r>
            <a:r>
              <a:rPr lang="en-US" dirty="0" smtClean="0"/>
              <a:t>, M.P. “Architecture modeling and analysis for safety engineering.” IMBSA, (2017)</a:t>
            </a:r>
          </a:p>
          <a:p>
            <a:endParaRPr lang="en-US" dirty="0"/>
          </a:p>
          <a:p>
            <a:r>
              <a:rPr lang="en-US" dirty="0"/>
              <a:t>Stewart, D</a:t>
            </a:r>
            <a:r>
              <a:rPr lang="en-US" dirty="0" smtClean="0"/>
              <a:t>., Liu, J., </a:t>
            </a:r>
            <a:r>
              <a:rPr lang="en-US" dirty="0"/>
              <a:t>Whalen, M., </a:t>
            </a:r>
            <a:r>
              <a:rPr lang="en-US" dirty="0" err="1"/>
              <a:t>Cofer</a:t>
            </a:r>
            <a:r>
              <a:rPr lang="en-US" dirty="0"/>
              <a:t>, D., </a:t>
            </a:r>
            <a:r>
              <a:rPr lang="en-US" dirty="0" err="1"/>
              <a:t>Heimdahl</a:t>
            </a:r>
            <a:r>
              <a:rPr lang="en-US" dirty="0"/>
              <a:t>, M.P</a:t>
            </a:r>
            <a:r>
              <a:rPr lang="en-US" dirty="0" smtClean="0"/>
              <a:t>., </a:t>
            </a:r>
            <a:r>
              <a:rPr lang="en-US" dirty="0" err="1" smtClean="0"/>
              <a:t>Cofer</a:t>
            </a:r>
            <a:r>
              <a:rPr lang="en-US" dirty="0" smtClean="0"/>
              <a:t>, D., Whalen, M.W., Peterson, M. “The safety annex for architecture analysis and design language.” To appear ERTS, (2020)</a:t>
            </a:r>
          </a:p>
          <a:p>
            <a:endParaRPr lang="en-US" dirty="0"/>
          </a:p>
          <a:p>
            <a:r>
              <a:rPr lang="en-US" dirty="0" smtClean="0"/>
              <a:t>Stewart, D., Liu, J., </a:t>
            </a:r>
            <a:r>
              <a:rPr lang="en-US" dirty="0" err="1" smtClean="0"/>
              <a:t>Heimdahl</a:t>
            </a:r>
            <a:r>
              <a:rPr lang="en-US" dirty="0" smtClean="0"/>
              <a:t>, M., Whalen, M.W., </a:t>
            </a:r>
            <a:r>
              <a:rPr lang="en-US" dirty="0" err="1" smtClean="0"/>
              <a:t>Cofer</a:t>
            </a:r>
            <a:r>
              <a:rPr lang="en-US" dirty="0" smtClean="0"/>
              <a:t>, D., Peterson, M. “Architectural modeling and analysis for safety engineering (AMASE), NASA Final Report, (2019).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2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and implement a Safety Annex to enable fault modeling in AADL modeling language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compositional verification capabilities in the face of component failures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Evaluate the results using representative models in AADL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36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</a:t>
            </a:r>
            <a:r>
              <a:rPr lang="en-US" dirty="0" smtClean="0"/>
              <a:t>Cut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1258" y="1945239"/>
            <a:ext cx="6732617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u="sng" dirty="0"/>
          </a:p>
          <a:p>
            <a:pPr lvl="1"/>
            <a:r>
              <a:rPr lang="de-DE" sz="2000" dirty="0" smtClean="0"/>
              <a:t>Minimal </a:t>
            </a:r>
            <a:r>
              <a:rPr lang="de-DE" sz="2000" dirty="0"/>
              <a:t>Cut Sets : </a:t>
            </a:r>
            <a:r>
              <a:rPr lang="de-DE" sz="2000" dirty="0" smtClean="0"/>
              <a:t>Minimal </a:t>
            </a:r>
            <a:r>
              <a:rPr lang="de-DE" sz="2000" dirty="0"/>
              <a:t>set of faults that cause top level </a:t>
            </a:r>
            <a:r>
              <a:rPr lang="de-DE" sz="2000" dirty="0" smtClean="0"/>
              <a:t>event</a:t>
            </a:r>
          </a:p>
          <a:p>
            <a:pPr lvl="1"/>
            <a:endParaRPr lang="de-DE" sz="2000" dirty="0"/>
          </a:p>
          <a:p>
            <a:pPr lvl="1"/>
            <a:endParaRPr lang="de-DE" sz="2000" dirty="0" smtClean="0"/>
          </a:p>
          <a:p>
            <a:pPr lvl="1"/>
            <a:r>
              <a:rPr lang="de-DE" sz="2000" dirty="0" smtClean="0"/>
              <a:t>Currently computed monolithically</a:t>
            </a:r>
            <a:endParaRPr lang="de-DE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173149"/>
            <a:ext cx="40100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4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Constraint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4"/>
              <p:cNvSpPr txBox="1"/>
              <p:nvPr/>
            </p:nvSpPr>
            <p:spPr>
              <a:xfrm>
                <a:off x="2139727" y="2402647"/>
                <a:ext cx="7973505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𝑆𝑦𝑠𝑡𝑒𝑚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𝑂𝑟𝑑𝑒𝑟𝑒𝑑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𝑐𝑜𝑛𝑠𝑡𝑟𝑎𝑖𝑛𝑡𝑠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𝑣𝑒𝑟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𝑣𝑎𝑟𝑖𝑎𝑏𝑙𝑒𝑠</m:t>
                      </m:r>
                    </m:oMath>
                  </m:oMathPara>
                </a14:m>
                <a:endParaRPr lang="de-DE" sz="2800" dirty="0"/>
              </a:p>
              <a:p>
                <a:pPr/>
                <a:endParaRPr lang="de-DE" sz="28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8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de-DE" sz="2800" dirty="0" smtClean="0"/>
                  <a:t> : Satisfiable</a:t>
                </a:r>
              </a:p>
              <a:p>
                <a:pPr algn="ctr"/>
                <a:endParaRPr lang="de-DE" sz="28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800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de-DE" sz="2800" dirty="0" smtClean="0"/>
                  <a:t>: Unsatisfiable</a:t>
                </a:r>
                <a:endParaRPr lang="de-DE" sz="2800" dirty="0"/>
              </a:p>
              <a:p>
                <a:pPr/>
                <a:endParaRPr lang="de-DE" sz="2800" dirty="0"/>
              </a:p>
            </p:txBody>
          </p:sp>
        </mc:Choice>
        <mc:Fallback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727" y="2402647"/>
                <a:ext cx="7973505" cy="310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0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9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Unsatisfiable Subsets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4"/>
              <p:cNvSpPr txBox="1"/>
              <p:nvPr/>
            </p:nvSpPr>
            <p:spPr>
              <a:xfrm>
                <a:off x="2139727" y="1889760"/>
                <a:ext cx="797350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𝑆𝑦𝑠𝑡𝑒𝑚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2800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727" y="1889760"/>
                <a:ext cx="7973505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4"/>
              <p:cNvSpPr txBox="1"/>
              <p:nvPr/>
            </p:nvSpPr>
            <p:spPr>
              <a:xfrm>
                <a:off x="1965628" y="3836032"/>
                <a:ext cx="34561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𝑎𝑠𝑠𝑖𝑔𝑛𝑚𝑒𝑛𝑡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28" y="3836032"/>
                <a:ext cx="3456167" cy="923330"/>
              </a:xfrm>
              <a:prstGeom prst="rect">
                <a:avLst/>
              </a:prstGeom>
              <a:blipFill>
                <a:blip r:embed="rId4"/>
                <a:stretch>
                  <a:fillRect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4"/>
              <p:cNvSpPr txBox="1"/>
              <p:nvPr/>
            </p:nvSpPr>
            <p:spPr>
              <a:xfrm>
                <a:off x="6097407" y="3356754"/>
                <a:ext cx="474560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𝐖𝐡𝐚𝐭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𝐚𝐫𝐞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𝐦𝐢𝐧𝐢𝐦𝐚𝐥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𝐫𝐞𝐚𝐬𝐨𝐧𝐬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𝐮𝐧𝐬𝐚𝐭𝐢𝐬𝐟𝐢𝐚𝐛𝐢𝐥𝐢𝐭𝐲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407" y="3356754"/>
                <a:ext cx="4745603" cy="1754326"/>
              </a:xfrm>
              <a:prstGeom prst="rect">
                <a:avLst/>
              </a:prstGeom>
              <a:blipFill>
                <a:blip r:embed="rId5"/>
                <a:stretch>
                  <a:fillRect b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84480" y="5254774"/>
                <a:ext cx="778879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latin typeface="Cambria Math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𝐢𝐧𝐢𝐦𝐚𝐥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𝐒𝐮𝐛𝐬𝐞𝐭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𝑈𝑁</m:t>
                      </m:r>
                      <m:r>
                        <a:rPr lang="de-DE" i="1">
                          <a:latin typeface="Cambria Math"/>
                        </a:rPr>
                        <m:t>𝑆𝐴𝑇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i="1">
                          <a:latin typeface="Cambria Math"/>
                        </a:rPr>
                        <m:t>𝑛𝑑</m:t>
                      </m:r>
                      <m:r>
                        <a:rPr lang="de-DE" i="1">
                          <a:latin typeface="Cambria Math"/>
                        </a:rPr>
                        <m:t> 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\</m:t>
                      </m:r>
                      <m:r>
                        <m:rPr>
                          <m:lit/>
                        </m:rPr>
                        <a:rPr lang="de-DE" i="1">
                          <a:latin typeface="Cambria Math"/>
                          <a:ea typeface="Cambria Math"/>
                        </a:rPr>
                        <m:t>{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𝑆𝐴𝑇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80" y="5254774"/>
                <a:ext cx="7788799" cy="646331"/>
              </a:xfrm>
              <a:prstGeom prst="rect">
                <a:avLst/>
              </a:prstGeom>
              <a:blipFill>
                <a:blip r:embed="rId6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2469931" y="5187280"/>
            <a:ext cx="7703348" cy="7138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4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9" grpId="0"/>
      <p:bldP spid="10" grpId="0" animBg="1"/>
      <p:bldP spid="13" grpId="0"/>
      <p:bldP spid="15" grpId="0"/>
      <p:bldP spid="16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Inductive Validity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 </a:t>
            </a:r>
            <a:r>
              <a:rPr lang="de-DE" dirty="0"/>
              <a:t>Given </a:t>
            </a:r>
            <a:r>
              <a:rPr lang="de-DE" dirty="0" smtClean="0"/>
              <a:t>a </a:t>
            </a:r>
            <a:r>
              <a:rPr lang="de-DE" dirty="0"/>
              <a:t>constraint system, </a:t>
            </a:r>
            <a:r>
              <a:rPr lang="de-DE" dirty="0" smtClean="0"/>
              <a:t>MIVC </a:t>
            </a:r>
            <a:r>
              <a:rPr lang="de-DE" dirty="0"/>
              <a:t>algorithm returns the minimal set of elements necessary to find proof of property </a:t>
            </a:r>
            <a:r>
              <a:rPr lang="de-DE" dirty="0" smtClean="0"/>
              <a:t>P.</a:t>
            </a:r>
            <a:endParaRPr lang="de-DE" dirty="0"/>
          </a:p>
        </p:txBody>
      </p:sp>
      <p:pic>
        <p:nvPicPr>
          <p:cNvPr id="7" name="Picture 4" descr="C:\Users\stew_da\Downloads\clipboard-guy-9725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897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975" y="2979336"/>
            <a:ext cx="1825031" cy="306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4760844" y="2925867"/>
                <a:ext cx="60198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Minimal</m:t>
                      </m:r>
                      <m:r>
                        <a:rPr lang="de-DE" sz="2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Unsatisfiable</m:t>
                      </m:r>
                      <m:r>
                        <a:rPr lang="de-DE" sz="2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Subsets</m:t>
                      </m:r>
                    </m:oMath>
                  </m:oMathPara>
                </a14:m>
                <a:endParaRPr lang="de-DE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Minimal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Inductive</m:t>
                          </m:r>
                          <m:r>
                            <a:rPr lang="de-DE" sz="28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Validity</m:t>
                          </m:r>
                          <m:r>
                            <a:rPr lang="de-DE" sz="28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Cores</m:t>
                          </m:r>
                        </m:e>
                      </m:d>
                    </m:oMath>
                  </m:oMathPara>
                </a14:m>
                <a:endParaRPr lang="de-DE" sz="2800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𝐴𝑙𝑙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𝑐𝑜𝑢𝑛𝑡𝑒𝑟𝑒𝑥𝑎𝑚𝑝𝑙𝑒𝑠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𝑓𝑜𝑟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𝑡h𝑒</m:t>
                      </m:r>
                    </m:oMath>
                  </m:oMathPara>
                </a14:m>
                <a:endParaRPr lang="de-D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𝑢𝑛𝑠𝑎𝑡𝑖𝑠𝑓𝑖𝑎𝑏𝑙𝑒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𝑐𝑜𝑛𝑠𝑡𝑟𝑎𝑖𝑛𝑡</m:t>
                      </m:r>
                    </m:oMath>
                  </m:oMathPara>
                </a14:m>
                <a:endParaRPr lang="de-D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𝑠𝑦𝑠𝑡𝑒𝑚</m:t>
                      </m:r>
                      <m:r>
                        <a:rPr lang="de-DE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de-DE" b="0" dirty="0" smtClean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44" y="2925867"/>
                <a:ext cx="6019800" cy="2062103"/>
              </a:xfrm>
              <a:prstGeom prst="rect">
                <a:avLst/>
              </a:prstGeom>
              <a:blipFill>
                <a:blip r:embed="rId5"/>
                <a:stretch>
                  <a:fillRect b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4532244" y="2753348"/>
            <a:ext cx="6477000" cy="271203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7"/>
          <p:cNvSpPr txBox="1"/>
          <p:nvPr/>
        </p:nvSpPr>
        <p:spPr>
          <a:xfrm>
            <a:off x="1990498" y="59918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Model </a:t>
            </a:r>
            <a:r>
              <a:rPr lang="de-DE" dirty="0" err="1" smtClean="0"/>
              <a:t>Checker</a:t>
            </a:r>
            <a:endParaRPr lang="de-DE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26565" y="4224130"/>
            <a:ext cx="7056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00650" y="5153025"/>
            <a:ext cx="6107430" cy="1079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9"/>
          <p:cNvSpPr txBox="1"/>
          <p:nvPr/>
        </p:nvSpPr>
        <p:spPr>
          <a:xfrm>
            <a:off x="5307330" y="5242458"/>
            <a:ext cx="55987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 smtClean="0"/>
              <a:t>Ghassabani</a:t>
            </a:r>
            <a:r>
              <a:rPr lang="en-US" sz="2000" dirty="0"/>
              <a:t>, E., Whalen, </a:t>
            </a:r>
            <a:r>
              <a:rPr lang="en-US" sz="2000" dirty="0" smtClean="0"/>
              <a:t>M.W., </a:t>
            </a:r>
            <a:r>
              <a:rPr lang="en-US" sz="2000" dirty="0"/>
              <a:t>and </a:t>
            </a:r>
            <a:r>
              <a:rPr lang="en-US" sz="2000" dirty="0" smtClean="0"/>
              <a:t>Gacek, A. “Efficient generation of all minimal inductive validity cores” </a:t>
            </a:r>
            <a:r>
              <a:rPr lang="en-US" sz="2000" i="1" dirty="0" smtClean="0"/>
              <a:t>FMCAD</a:t>
            </a:r>
            <a:r>
              <a:rPr lang="en-US" sz="2000" dirty="0" smtClean="0"/>
              <a:t>, </a:t>
            </a:r>
            <a:r>
              <a:rPr lang="en-US" sz="2000" dirty="0"/>
              <a:t>(</a:t>
            </a:r>
            <a:r>
              <a:rPr lang="en-US" sz="2000" dirty="0" smtClean="0"/>
              <a:t>2017)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406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Inductive Validity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249680" y="2097639"/>
                <a:ext cx="10058400" cy="402336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2400" dirty="0" smtClean="0"/>
                  <a:t>A requirement of the MIVC algorithm is that the safety property </a:t>
                </a:r>
                <a:r>
                  <a:rPr lang="en-US" sz="2400" i="1" dirty="0" smtClean="0"/>
                  <a:t>P</a:t>
                </a:r>
                <a:r>
                  <a:rPr lang="en-US" sz="2400" dirty="0" smtClean="0"/>
                  <a:t> proves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given constraints,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/>
                  <a:t>.</a:t>
                </a:r>
              </a:p>
              <a:p>
                <a:pPr lvl="1"/>
                <a:r>
                  <a:rPr lang="en-US" sz="2400" dirty="0" smtClean="0"/>
                  <a:t>The constraint system for the MIVC algorithm is: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lvl="1"/>
                <a:r>
                  <a:rPr lang="en-US" sz="2400" dirty="0" smtClean="0"/>
                  <a:t>Given the assumption above, this constraint system is UNSAT</a:t>
                </a:r>
              </a:p>
              <a:p>
                <a:pPr marL="201168" lvl="1" indent="0">
                  <a:buNone/>
                </a:pPr>
                <a:endParaRPr lang="en-US" sz="2400" dirty="0"/>
              </a:p>
              <a:p>
                <a:pPr marL="201168" lvl="1" indent="0" algn="ctr">
                  <a:buNone/>
                </a:pPr>
                <a:r>
                  <a:rPr lang="en-US" sz="3200" dirty="0" smtClean="0"/>
                  <a:t>MIVC algorithm finds the minimal UNSAT cores for the unsatisfiable constraint system.</a:t>
                </a:r>
                <a:endParaRPr lang="en-US" sz="32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2097639"/>
                <a:ext cx="10058400" cy="4023360"/>
              </a:xfrm>
              <a:prstGeom prst="rect">
                <a:avLst/>
              </a:prstGeom>
              <a:blipFill>
                <a:blip r:embed="rId3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1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Correction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3035739" y="1937783"/>
                <a:ext cx="60198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𝑆𝑦𝑠𝑡𝑒𝑚</m:t>
                      </m:r>
                    </m:oMath>
                  </m:oMathPara>
                </a14:m>
                <a:endParaRPr lang="de-DE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2800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39" y="1937783"/>
                <a:ext cx="6019800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4"/>
              <p:cNvSpPr txBox="1"/>
              <p:nvPr/>
            </p:nvSpPr>
            <p:spPr>
              <a:xfrm>
                <a:off x="1965628" y="3418698"/>
                <a:ext cx="34561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𝑎𝑠𝑠𝑖𝑔𝑛𝑚𝑒𝑛𝑡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28" y="3418698"/>
                <a:ext cx="3456167" cy="923330"/>
              </a:xfrm>
              <a:prstGeom prst="rect">
                <a:avLst/>
              </a:prstGeom>
              <a:blipFill>
                <a:blip r:embed="rId4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4"/>
              <p:cNvSpPr txBox="1"/>
              <p:nvPr/>
            </p:nvSpPr>
            <p:spPr>
              <a:xfrm>
                <a:off x="6045639" y="3161662"/>
                <a:ext cx="474560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𝐖𝐡𝐚𝐭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𝐚𝐫𝐞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𝐦𝐢𝐧𝐢𝐦𝐚𝐥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𝐜𝐨𝐫𝐫𝐞𝐜𝐭𝐢𝐨𝐧𝐬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𝐜𝐚𝐧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𝐛𝐞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𝐦𝐚𝐝𝐞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𝐭𝐨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𝐦𝐚𝐤𝐞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𝐒𝐀𝐓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3:{¬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639" y="3161662"/>
                <a:ext cx="4745603" cy="2308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84480" y="5254774"/>
                <a:ext cx="704821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latin typeface="Cambria Math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𝐢𝐧𝐢𝐦𝐚𝐥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𝐂𝐨𝐫𝐫𝐞𝐜𝐭𝐢𝐨𝐧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𝐒𝐞𝐭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a:rPr lang="de-DE" i="1">
                          <a:latin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𝑆𝐴𝑇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i="1">
                          <a:latin typeface="Cambria Math"/>
                        </a:rPr>
                        <m:t>𝑛𝑑</m:t>
                      </m:r>
                      <m:r>
                        <a:rPr lang="de-DE" i="1">
                          <a:latin typeface="Cambria Math"/>
                        </a:rPr>
                        <m:t>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𝑈𝑁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𝑆𝐴𝑇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80" y="5254774"/>
                <a:ext cx="7048212" cy="646331"/>
              </a:xfrm>
              <a:prstGeom prst="rect">
                <a:avLst/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2469931" y="5187280"/>
            <a:ext cx="7703348" cy="7138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9" grpId="0"/>
      <p:bldP spid="10" grpId="0" animBg="1"/>
      <p:bldP spid="13" grpId="0"/>
      <p:bldP spid="15" grpId="0"/>
      <p:bldP spid="16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Duality of MUS and </a:t>
            </a:r>
            <a:r>
              <a:rPr lang="en-US" dirty="0" smtClean="0"/>
              <a:t>MCS: </a:t>
            </a:r>
            <a:br>
              <a:rPr lang="en-US" dirty="0" smtClean="0"/>
            </a:br>
            <a:r>
              <a:rPr lang="en-US" dirty="0" smtClean="0"/>
              <a:t>Minimal Hitting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4"/>
              <p:cNvSpPr txBox="1"/>
              <p:nvPr/>
            </p:nvSpPr>
            <p:spPr>
              <a:xfrm>
                <a:off x="3051228" y="2115588"/>
                <a:ext cx="26421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228" y="2115588"/>
                <a:ext cx="2642145" cy="646331"/>
              </a:xfrm>
              <a:prstGeom prst="rect">
                <a:avLst/>
              </a:prstGeom>
              <a:blipFill>
                <a:blip r:embed="rId3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4"/>
              <p:cNvSpPr txBox="1"/>
              <p:nvPr/>
            </p:nvSpPr>
            <p:spPr>
              <a:xfrm>
                <a:off x="7060497" y="2017036"/>
                <a:ext cx="2328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3:{¬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8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97" y="2017036"/>
                <a:ext cx="2328904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4"/>
              <p:cNvSpPr txBox="1"/>
              <p:nvPr/>
            </p:nvSpPr>
            <p:spPr>
              <a:xfrm>
                <a:off x="3802711" y="3217365"/>
                <a:ext cx="47456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Minimal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Hitting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Sets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dirty="0" smtClean="0"/>
              </a:p>
              <a:p>
                <a:r>
                  <a:rPr lang="de-DE" dirty="0" smtClean="0"/>
                  <a:t>A hitting set of a collection of sets A is a set H such that every set in A is </a:t>
                </a:r>
                <a:r>
                  <a:rPr lang="de-DE" i="1" dirty="0" smtClean="0"/>
                  <a:t>hit</a:t>
                </a:r>
                <a:r>
                  <a:rPr lang="de-DE" dirty="0" smtClean="0"/>
                  <a:t> by H. </a:t>
                </a:r>
                <a:endParaRPr lang="de-DE" dirty="0"/>
              </a:p>
            </p:txBody>
          </p:sp>
        </mc:Choice>
        <mc:Fallback xmlns="">
          <p:sp>
            <p:nvSpPr>
              <p:cNvPr id="1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711" y="3217365"/>
                <a:ext cx="4745603" cy="923330"/>
              </a:xfrm>
              <a:prstGeom prst="rect">
                <a:avLst/>
              </a:prstGeom>
              <a:blipFill>
                <a:blip r:embed="rId5"/>
                <a:stretch>
                  <a:fillRect l="-115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4"/>
              <p:cNvSpPr txBox="1"/>
              <p:nvPr/>
            </p:nvSpPr>
            <p:spPr>
              <a:xfrm>
                <a:off x="3590677" y="4611756"/>
                <a:ext cx="5284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𝑀𝑈𝑆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𝑀𝑈𝑆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b="0" dirty="0" smtClean="0"/>
                  <a:t>, 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}}; 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677" y="4611756"/>
                <a:ext cx="528496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bgerundetes Rechteck 5"/>
          <p:cNvSpPr/>
          <p:nvPr/>
        </p:nvSpPr>
        <p:spPr>
          <a:xfrm>
            <a:off x="2643808" y="4502180"/>
            <a:ext cx="6927575" cy="120288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83676" y="5156448"/>
                <a:ext cx="1148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1={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76" y="5156448"/>
                <a:ext cx="114890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69041" y="5156448"/>
                <a:ext cx="171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041" y="5156448"/>
                <a:ext cx="1711815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744275" y="5150858"/>
                <a:ext cx="21342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275" y="5150858"/>
                <a:ext cx="2134239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13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10" grpId="0" animBg="1"/>
      <p:bldP spid="14" grpId="0"/>
      <p:bldP spid="18" grpId="0"/>
      <p:bldP spid="19" grpId="0"/>
      <p:bldP spid="20" grpId="0"/>
      <p:bldP spid="22" grpId="0" animBg="1"/>
      <p:bldP spid="11" grpId="0"/>
      <p:bldP spid="23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MCSs have to do with safety?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945239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 If the constraints found in an MCS are removed from the constraint system, it becomes SAT.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i="1" dirty="0" smtClean="0"/>
              </a:p>
              <a:p>
                <a:pPr marL="0" indent="0" algn="ctr">
                  <a:buNone/>
                </a:pPr>
                <a:r>
                  <a:rPr lang="en-US" i="1" dirty="0" smtClean="0"/>
                  <a:t>MUSs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MCSs</a:t>
                </a:r>
                <a:r>
                  <a:rPr lang="en-US" dirty="0" smtClean="0"/>
                  <a:t> will now contain fault information: </a:t>
                </a:r>
                <a:endParaRPr lang="en-US" i="1" dirty="0" smtClean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i="1" dirty="0" smtClean="0"/>
                  <a:t> MCS</a:t>
                </a:r>
                <a:r>
                  <a:rPr lang="en-US" dirty="0" smtClean="0"/>
                  <a:t> now contains faults and if these </a:t>
                </a:r>
                <a:r>
                  <a:rPr lang="en-US" i="1" dirty="0" smtClean="0"/>
                  <a:t>fault</a:t>
                </a:r>
                <a:r>
                  <a:rPr lang="en-US" dirty="0" smtClean="0"/>
                  <a:t> constraints are removed from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, the system is SAT </a:t>
                </a:r>
                <a:r>
                  <a:rPr lang="en-US" i="1" dirty="0" smtClean="0"/>
                  <a:t>with respect to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/>
                        <a:ea typeface="Cambria Math"/>
                      </a:rPr>
                      <m:t>¬</m:t>
                    </m:r>
                    <m:r>
                      <a:rPr lang="de-DE" i="1">
                        <a:latin typeface="Cambria Math"/>
                        <a:ea typeface="Cambria Math"/>
                      </a:rPr>
                      <m:t>𝑃</m:t>
                    </m:r>
                  </m:oMath>
                </a14:m>
                <a:r>
                  <a:rPr lang="en-US" dirty="0" smtClean="0"/>
                  <a:t> which is the Top Level Event.</a:t>
                </a:r>
                <a:endParaRPr lang="en-US" i="1" dirty="0" smtClean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i="1" dirty="0"/>
              </a:p>
              <a:p>
                <a:pPr marL="201168" lvl="1" indent="0">
                  <a:buNone/>
                </a:pPr>
                <a:endParaRPr lang="en-US" i="1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945239"/>
                <a:ext cx="10058400" cy="4023360"/>
              </a:xfrm>
              <a:blipFill>
                <a:blip r:embed="rId2"/>
                <a:stretch>
                  <a:fillRect l="-1455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6"/>
              <p:cNvSpPr txBox="1"/>
              <p:nvPr/>
            </p:nvSpPr>
            <p:spPr>
              <a:xfrm>
                <a:off x="2473519" y="2696906"/>
                <a:ext cx="6934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…,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𝑃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519" y="2696906"/>
                <a:ext cx="6934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7"/>
          <p:cNvSpPr/>
          <p:nvPr/>
        </p:nvSpPr>
        <p:spPr>
          <a:xfrm>
            <a:off x="3921319" y="2614711"/>
            <a:ext cx="3886200" cy="6096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15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MCS to MinCutSet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u="sng" dirty="0" smtClean="0"/>
              <a:t>Case 1: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 smtClean="0"/>
              <a:t>MCS only contains fault literals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 →</a:t>
            </a:r>
            <a:r>
              <a:rPr lang="en-US" sz="2200" dirty="0"/>
              <a:t> </a:t>
            </a:r>
            <a:r>
              <a:rPr lang="en-US" sz="2200" dirty="0" smtClean="0"/>
              <a:t>Remove constraints on faults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0" indent="0">
              <a:buNone/>
            </a:pPr>
            <a:r>
              <a:rPr lang="en-US" sz="2600" b="1" u="sng" dirty="0"/>
              <a:t>Case </a:t>
            </a:r>
            <a:r>
              <a:rPr lang="en-US" sz="2600" b="1" u="sng" dirty="0" smtClean="0"/>
              <a:t>2: </a:t>
            </a:r>
            <a:endParaRPr lang="en-US" sz="2600" b="1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 smtClean="0"/>
              <a:t>MCS contains faults and contracts</a:t>
            </a:r>
            <a:endParaRPr lang="en-US" sz="2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→ </a:t>
            </a:r>
            <a:r>
              <a:rPr lang="en-US" sz="2200" dirty="0" smtClean="0"/>
              <a:t>Replace contracts with faults that cause </a:t>
            </a:r>
          </a:p>
          <a:p>
            <a:pPr marL="201168" lvl="1" indent="0">
              <a:buNone/>
            </a:pPr>
            <a:r>
              <a:rPr lang="en-US" sz="2200" dirty="0"/>
              <a:t> </a:t>
            </a:r>
            <a:r>
              <a:rPr lang="en-US" sz="2200" dirty="0" smtClean="0"/>
              <a:t>        their violation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→ </a:t>
            </a:r>
            <a:r>
              <a:rPr lang="en-US" sz="2200" dirty="0"/>
              <a:t>Remove constraints on faults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i="1" dirty="0"/>
          </a:p>
          <a:p>
            <a:pPr marL="201168" lvl="1" indent="0">
              <a:buNone/>
            </a:pPr>
            <a:endParaRPr lang="en-US" i="1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6"/>
              <p:cNvSpPr txBox="1"/>
              <p:nvPr/>
            </p:nvSpPr>
            <p:spPr>
              <a:xfrm>
                <a:off x="5629854" y="1922833"/>
                <a:ext cx="6934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>
                  <a:ea typeface="Cambria Math"/>
                </a:endParaRPr>
              </a:p>
              <a:p>
                <a:pPr algn="ctr"/>
                <a:endParaRPr lang="en-US" dirty="0">
                  <a:ea typeface="Cambria Math"/>
                </a:endParaRPr>
              </a:p>
              <a:p>
                <a:pPr algn="ctr"/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e-DE" i="1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854" y="1922833"/>
                <a:ext cx="6934200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7"/>
          <p:cNvSpPr/>
          <p:nvPr/>
        </p:nvSpPr>
        <p:spPr>
          <a:xfrm>
            <a:off x="7205869" y="1840924"/>
            <a:ext cx="3782171" cy="141988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6"/>
              <p:cNvSpPr txBox="1"/>
              <p:nvPr/>
            </p:nvSpPr>
            <p:spPr>
              <a:xfrm>
                <a:off x="7261573" y="4038048"/>
                <a:ext cx="36707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573" y="4038048"/>
                <a:ext cx="367076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bgerundetes Rechteck 7"/>
          <p:cNvSpPr/>
          <p:nvPr/>
        </p:nvSpPr>
        <p:spPr>
          <a:xfrm>
            <a:off x="7205869" y="3903683"/>
            <a:ext cx="3886200" cy="2238695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own Arrow 9"/>
          <p:cNvSpPr/>
          <p:nvPr/>
        </p:nvSpPr>
        <p:spPr>
          <a:xfrm>
            <a:off x="8965096" y="2391154"/>
            <a:ext cx="268356" cy="32150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6"/>
              <p:cNvSpPr txBox="1"/>
              <p:nvPr/>
            </p:nvSpPr>
            <p:spPr>
              <a:xfrm>
                <a:off x="7039224" y="4554727"/>
                <a:ext cx="412407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𝑢𝑡𝑆𝑒𝑡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𝑔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)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 smtClean="0"/>
              </a:p>
              <a:p>
                <a:endParaRPr lang="de-DE" dirty="0" smtClean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de-DE" i="1">
                          <a:latin typeface="Cambria Math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𝑢𝑡𝑆𝑒𝑡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1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224" y="4554727"/>
                <a:ext cx="4124077" cy="1754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8965096" y="5037398"/>
            <a:ext cx="268356" cy="32150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6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animBg="1"/>
      <p:bldP spid="8" grpId="0"/>
      <p:bldP spid="9" grpId="0" animBg="1"/>
      <p:bldP spid="10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Main Idea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083365" y="2902226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751913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917639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15733" y="3021497"/>
                <a:ext cx="220393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Constraint System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33" y="3021497"/>
                <a:ext cx="2203937" cy="1200329"/>
              </a:xfrm>
              <a:prstGeom prst="rect">
                <a:avLst/>
              </a:prstGeom>
              <a:blipFill>
                <a:blip r:embed="rId2"/>
                <a:stretch>
                  <a:fillRect t="-3046" b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511122" y="4015667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2" y="4015667"/>
                <a:ext cx="506896" cy="50689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215775" y="5255313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75" y="5255313"/>
                <a:ext cx="506896" cy="50689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885410" y="5387099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10" y="5387099"/>
                <a:ext cx="506896" cy="506896"/>
              </a:xfrm>
              <a:prstGeom prst="ellipse">
                <a:avLst/>
              </a:prstGeom>
              <a:blipFill>
                <a:blip r:embed="rId5"/>
                <a:stretch>
                  <a:fillRect l="-2273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rved Up Arrow 15"/>
          <p:cNvSpPr/>
          <p:nvPr/>
        </p:nvSpPr>
        <p:spPr>
          <a:xfrm rot="19199099">
            <a:off x="1573844" y="5209891"/>
            <a:ext cx="1255345" cy="440231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/>
        </p:nvSpPr>
        <p:spPr>
          <a:xfrm rot="18526840">
            <a:off x="-238882" y="3339542"/>
            <a:ext cx="1383700" cy="493331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511122" y="4670259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2" y="4670259"/>
                <a:ext cx="506896" cy="50689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1182329" y="4880203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29" y="4880203"/>
                <a:ext cx="506896" cy="50689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022986" y="2081975"/>
            <a:ext cx="2514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Add constrained faults</a:t>
            </a:r>
          </a:p>
          <a:p>
            <a:r>
              <a:rPr lang="en-US" dirty="0" smtClean="0"/>
              <a:t>to constraint system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87245" y="2081975"/>
            <a:ext cx="2169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Get all </a:t>
            </a:r>
            <a:r>
              <a:rPr lang="en-US" i="1" dirty="0" smtClean="0"/>
              <a:t>MUSs</a:t>
            </a:r>
            <a:r>
              <a:rPr lang="en-US" dirty="0" smtClean="0"/>
              <a:t> from </a:t>
            </a:r>
          </a:p>
          <a:p>
            <a:r>
              <a:rPr lang="en-US" dirty="0" smtClean="0"/>
              <a:t>All-MIVC algorithm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846413" y="5063933"/>
            <a:ext cx="214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Get all </a:t>
            </a:r>
            <a:r>
              <a:rPr lang="en-US" i="1" dirty="0" smtClean="0"/>
              <a:t>MCSs</a:t>
            </a:r>
            <a:r>
              <a:rPr lang="en-US" dirty="0" smtClean="0"/>
              <a:t> from </a:t>
            </a:r>
          </a:p>
          <a:p>
            <a:r>
              <a:rPr lang="en-US" dirty="0" smtClean="0"/>
              <a:t>Hitting Set Algorithm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9586187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586187" y="5048609"/>
            <a:ext cx="1974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Transform </a:t>
            </a:r>
            <a:r>
              <a:rPr lang="en-US" i="1" dirty="0" smtClean="0"/>
              <a:t>MCSs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Into </a:t>
            </a:r>
            <a:r>
              <a:rPr lang="en-US" i="1" dirty="0" smtClean="0"/>
              <a:t>MinCutSets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594" y="3129834"/>
            <a:ext cx="2018393" cy="1433215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056783" y="3129834"/>
            <a:ext cx="1679713" cy="585489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409002" y="3252329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MUSs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7156174" y="3629580"/>
            <a:ext cx="146597" cy="359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6" idx="4"/>
          </p:cNvCxnSpPr>
          <p:nvPr/>
        </p:nvCxnSpPr>
        <p:spPr>
          <a:xfrm flipH="1">
            <a:off x="7896639" y="3715323"/>
            <a:ext cx="1" cy="300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5"/>
          </p:cNvCxnSpPr>
          <p:nvPr/>
        </p:nvCxnSpPr>
        <p:spPr>
          <a:xfrm>
            <a:off x="8490508" y="3629580"/>
            <a:ext cx="176414" cy="265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107417" y="3715323"/>
            <a:ext cx="120944" cy="693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409003" y="3715323"/>
            <a:ext cx="166340" cy="553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86018" y="3931689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018" y="3931689"/>
                <a:ext cx="7863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36512" y="4249256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512" y="4249256"/>
                <a:ext cx="7916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477414" y="3975983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414" y="3975983"/>
                <a:ext cx="79162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05838" y="4373299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838" y="4373299"/>
                <a:ext cx="79162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302823" y="3845737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823" y="3845737"/>
                <a:ext cx="79162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9586187" y="3053246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87" y="3053246"/>
                <a:ext cx="78630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>
            <a:off x="10263162" y="3416338"/>
            <a:ext cx="366118" cy="278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769396" y="3547311"/>
                <a:ext cx="70378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 algn="ctr"/>
                <a:r>
                  <a:rPr lang="en-US" i="1" dirty="0" smtClean="0"/>
                  <a:t>…</a:t>
                </a:r>
                <a:endParaRPr lang="en-US" i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396" y="3547311"/>
                <a:ext cx="703782" cy="1200329"/>
              </a:xfrm>
              <a:prstGeom prst="rect">
                <a:avLst/>
              </a:prstGeom>
              <a:blipFill>
                <a:blip r:embed="rId15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/>
          <p:cNvSpPr/>
          <p:nvPr/>
        </p:nvSpPr>
        <p:spPr>
          <a:xfrm>
            <a:off x="10713464" y="3375076"/>
            <a:ext cx="824948" cy="1374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6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and implement a Safety Annex to enable fault modeling in AADL modeling language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compositional verification capabilities in the face of component failures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Evaluate the results using representative models in AADL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8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Computations over FTs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848" y="2087424"/>
            <a:ext cx="4010025" cy="3438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9917" y="552594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P(f1) = 0.1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97995" y="552594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P(f2) = 0.2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96073" y="5506681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P(f3) = 0.3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94151" y="5506681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P(f4) = 0.4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58508" y="2365513"/>
                <a:ext cx="5996450" cy="27699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i="1" dirty="0" smtClean="0">
                    <a:latin typeface="Cambria Math" panose="02040503050406030204" pitchFamily="18" charset="0"/>
                  </a:rPr>
                  <a:t>Assuming Independence: 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dirty="0" smtClean="0"/>
                  <a:t>       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=0.12</m:t>
                    </m:r>
                  </m:oMath>
                </a14:m>
                <a:endParaRPr lang="en-US" b="0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.02)+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0.02∗0.12)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0.1424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08" y="2365513"/>
                <a:ext cx="5996450" cy="2769989"/>
              </a:xfrm>
              <a:prstGeom prst="rect">
                <a:avLst/>
              </a:prstGeom>
              <a:blipFill>
                <a:blip r:embed="rId4"/>
                <a:stretch>
                  <a:fillRect l="-2337" t="-3084" r="-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869867" y="41200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188811" y="41200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71789" y="226497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0.1424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with this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One must have all </a:t>
            </a:r>
            <a:r>
              <a:rPr lang="en-US" i="1" dirty="0" smtClean="0"/>
              <a:t>MinCutSets</a:t>
            </a:r>
            <a:r>
              <a:rPr lang="en-US" dirty="0" smtClean="0"/>
              <a:t> to make the computation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→ In large scale systems, this is computationally difficult.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Problem often addressed by setting thresholds on cardinality of </a:t>
            </a:r>
            <a:r>
              <a:rPr lang="en-US" i="1" dirty="0" smtClean="0"/>
              <a:t>MinCutSets</a:t>
            </a:r>
          </a:p>
          <a:p>
            <a:pPr marL="0" indent="0">
              <a:buNone/>
            </a:pPr>
            <a:r>
              <a:rPr lang="en-US" b="1" dirty="0" smtClean="0"/>
              <a:t>	→ Assume it is too unlikely for many faults to occur at once.</a:t>
            </a:r>
          </a:p>
          <a:p>
            <a:pPr marL="0" indent="0">
              <a:buNone/>
            </a:pPr>
            <a:r>
              <a:rPr lang="en-US" b="1" dirty="0" smtClean="0"/>
              <a:t>	→ Approximate error by a few orders of magnitude.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Approach to Computation Roll-up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A: Contract: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236552" y="3044483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cxnSp>
        <p:nvCxnSpPr>
          <p:cNvPr id="10" name="Straight Arrow Connector 9"/>
          <p:cNvCxnSpPr>
            <a:stCxn id="7" idx="2"/>
          </p:cNvCxnSpPr>
          <p:nvPr/>
        </p:nvCxnSpPr>
        <p:spPr>
          <a:xfrm>
            <a:off x="3657599" y="2842590"/>
            <a:ext cx="588334" cy="406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14" idx="0"/>
          </p:cNvCxnSpPr>
          <p:nvPr/>
        </p:nvCxnSpPr>
        <p:spPr>
          <a:xfrm>
            <a:off x="3657599" y="2842590"/>
            <a:ext cx="0" cy="725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13" idx="0"/>
          </p:cNvCxnSpPr>
          <p:nvPr/>
        </p:nvCxnSpPr>
        <p:spPr>
          <a:xfrm flipH="1">
            <a:off x="1421295" y="2842590"/>
            <a:ext cx="2236304" cy="10436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B: contracts: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>
                  <a:latin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892286" y="3567703"/>
            <a:ext cx="1530626" cy="65598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>
            <a:off x="3657599" y="4223685"/>
            <a:ext cx="0" cy="3136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37827" y="4329955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Elbow Connector 18"/>
          <p:cNvCxnSpPr>
            <a:stCxn id="13" idx="2"/>
            <a:endCxn id="17" idx="0"/>
          </p:cNvCxnSpPr>
          <p:nvPr/>
        </p:nvCxnSpPr>
        <p:spPr>
          <a:xfrm rot="5400000">
            <a:off x="988944" y="5227981"/>
            <a:ext cx="392594" cy="47210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3" idx="2"/>
            <a:endCxn id="18" idx="0"/>
          </p:cNvCxnSpPr>
          <p:nvPr/>
        </p:nvCxnSpPr>
        <p:spPr>
          <a:xfrm rot="16200000" flipH="1">
            <a:off x="1491213" y="5197820"/>
            <a:ext cx="392594" cy="5324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830577" y="1737360"/>
                <a:ext cx="356572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u="sng" dirty="0" smtClean="0"/>
                  <a:t>Assume: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𝑀𝑖𝑛𝐶𝑢𝑡𝑆𝑒𝑡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𝑀𝑖𝑛𝐶𝑢𝑡𝑆𝑒𝑡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577" y="1737360"/>
                <a:ext cx="3565720" cy="1200329"/>
              </a:xfrm>
              <a:prstGeom prst="rect">
                <a:avLst/>
              </a:prstGeom>
              <a:blipFill>
                <a:blip r:embed="rId7"/>
                <a:stretch>
                  <a:fillRect t="-4061" b="-6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507385" y="3044483"/>
                <a:ext cx="421210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u="sng" dirty="0" smtClean="0"/>
                  <a:t>Assume:</a:t>
                </a:r>
              </a:p>
              <a:p>
                <a:pPr algn="ctr"/>
                <a:r>
                  <a:rPr lang="en-US" sz="2400" i="1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 smtClean="0"/>
                  <a:t> to be violated, </a:t>
                </a:r>
              </a:p>
              <a:p>
                <a:pPr algn="ctr"/>
                <a:r>
                  <a:rPr lang="en-US" sz="2400" i="1" dirty="0"/>
                  <a:t>b</a:t>
                </a:r>
                <a:r>
                  <a:rPr lang="en-US" sz="2400" i="1" dirty="0" smtClean="0"/>
                  <a:t>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 smtClean="0"/>
              </a:p>
              <a:p>
                <a:pPr algn="ctr"/>
                <a:r>
                  <a:rPr lang="en-US" sz="2400" i="1" dirty="0"/>
                  <a:t>m</a:t>
                </a:r>
                <a:r>
                  <a:rPr lang="en-US" sz="2400" i="1" dirty="0" smtClean="0"/>
                  <a:t>ust also be violated.</a:t>
                </a:r>
              </a:p>
              <a:p>
                <a:pPr algn="ctr"/>
                <a:endParaRPr lang="en-US" sz="2400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𝑀𝑖𝑛𝐶𝑢𝑡𝑆𝑒𝑡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(¬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385" y="3044483"/>
                <a:ext cx="4212103" cy="3416320"/>
              </a:xfrm>
              <a:prstGeom prst="rect">
                <a:avLst/>
              </a:prstGeom>
              <a:blipFill>
                <a:blip r:embed="rId8"/>
                <a:stretch>
                  <a:fillRect t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ounded Rectangle 33"/>
          <p:cNvSpPr/>
          <p:nvPr/>
        </p:nvSpPr>
        <p:spPr>
          <a:xfrm>
            <a:off x="6689035" y="1828799"/>
            <a:ext cx="3955774" cy="110889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6689035" y="3088798"/>
            <a:ext cx="3955774" cy="276534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5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9" grpId="0"/>
      <p:bldP spid="13" grpId="0" animBg="1"/>
      <p:bldP spid="14" grpId="0" animBg="1"/>
      <p:bldP spid="16" grpId="0"/>
      <p:bldP spid="17" grpId="0" animBg="1"/>
      <p:bldP spid="18" grpId="0" animBg="1"/>
      <p:bldP spid="22" grpId="0"/>
      <p:bldP spid="23" grpId="0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Approach to Computation Roll-up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A: Contract: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236552" y="3044483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cxnSp>
        <p:nvCxnSpPr>
          <p:cNvPr id="10" name="Straight Arrow Connector 9"/>
          <p:cNvCxnSpPr>
            <a:stCxn id="7" idx="2"/>
          </p:cNvCxnSpPr>
          <p:nvPr/>
        </p:nvCxnSpPr>
        <p:spPr>
          <a:xfrm>
            <a:off x="3657599" y="2842590"/>
            <a:ext cx="588334" cy="406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14" idx="0"/>
          </p:cNvCxnSpPr>
          <p:nvPr/>
        </p:nvCxnSpPr>
        <p:spPr>
          <a:xfrm>
            <a:off x="3657599" y="2842590"/>
            <a:ext cx="0" cy="725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13" idx="0"/>
          </p:cNvCxnSpPr>
          <p:nvPr/>
        </p:nvCxnSpPr>
        <p:spPr>
          <a:xfrm flipH="1">
            <a:off x="1421295" y="2842590"/>
            <a:ext cx="2236304" cy="10436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B: contracts: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>
                  <a:latin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892286" y="3567703"/>
            <a:ext cx="1530626" cy="65598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>
            <a:off x="3657599" y="4223685"/>
            <a:ext cx="0" cy="3136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37827" y="4329955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Elbow Connector 18"/>
          <p:cNvCxnSpPr>
            <a:stCxn id="13" idx="2"/>
            <a:endCxn id="17" idx="0"/>
          </p:cNvCxnSpPr>
          <p:nvPr/>
        </p:nvCxnSpPr>
        <p:spPr>
          <a:xfrm rot="5400000">
            <a:off x="988944" y="5227981"/>
            <a:ext cx="392594" cy="47210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3" idx="2"/>
            <a:endCxn id="18" idx="0"/>
          </p:cNvCxnSpPr>
          <p:nvPr/>
        </p:nvCxnSpPr>
        <p:spPr>
          <a:xfrm rot="16200000" flipH="1">
            <a:off x="1491213" y="5197820"/>
            <a:ext cx="392594" cy="5324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5893902" y="1945239"/>
            <a:ext cx="5261777" cy="1438041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Replace guarantees with probabilities of their MinCutSets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Roll computations from bottom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3902" y="4182868"/>
            <a:ext cx="46966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	→ </a:t>
            </a:r>
            <a:r>
              <a:rPr lang="en-US" sz="2400" b="1" dirty="0"/>
              <a:t>Solves scalability problem of </a:t>
            </a:r>
            <a:endParaRPr lang="en-US" sz="2400" b="1" dirty="0" smtClean="0"/>
          </a:p>
          <a:p>
            <a:r>
              <a:rPr lang="en-US" sz="2400" b="1" dirty="0" smtClean="0"/>
              <a:t>dealing </a:t>
            </a:r>
            <a:r>
              <a:rPr lang="en-US" sz="2400" b="1" dirty="0"/>
              <a:t>with set </a:t>
            </a:r>
            <a:r>
              <a:rPr lang="en-US" sz="2400" b="1" dirty="0" smtClean="0"/>
              <a:t>replacements </a:t>
            </a:r>
            <a:r>
              <a:rPr lang="en-US" sz="2400" b="1" dirty="0"/>
              <a:t>and </a:t>
            </a:r>
            <a:endParaRPr lang="en-US" sz="2400" b="1" dirty="0" smtClean="0"/>
          </a:p>
          <a:p>
            <a:r>
              <a:rPr lang="en-US" sz="2400" b="1" dirty="0" smtClean="0"/>
              <a:t>instead </a:t>
            </a:r>
            <a:r>
              <a:rPr lang="en-US" sz="2400" b="1" dirty="0"/>
              <a:t>only deals with numbers.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 animBg="1"/>
      <p:bldP spid="9" grpId="0"/>
      <p:bldP spid="13" grpId="0" animBg="1"/>
      <p:bldP spid="14" grpId="0" animBg="1"/>
      <p:bldP spid="16" grpId="0"/>
      <p:bldP spid="17" grpId="0" animBg="1"/>
      <p:bldP spid="18" grpId="0" animBg="1"/>
      <p:bldP spid="25" grpId="0" build="p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706" y="271772"/>
            <a:ext cx="10058400" cy="1450757"/>
          </a:xfrm>
        </p:spPr>
        <p:txBody>
          <a:bodyPr/>
          <a:lstStyle/>
          <a:p>
            <a:r>
              <a:rPr lang="en-US" dirty="0" smtClean="0"/>
              <a:t>Naïve Approach to Computation Roll-up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A: Contract: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86" y="1828799"/>
                <a:ext cx="1530626" cy="10137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236552" y="3044483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cxnSp>
        <p:nvCxnSpPr>
          <p:cNvPr id="10" name="Straight Arrow Connector 9"/>
          <p:cNvCxnSpPr>
            <a:stCxn id="7" idx="2"/>
          </p:cNvCxnSpPr>
          <p:nvPr/>
        </p:nvCxnSpPr>
        <p:spPr>
          <a:xfrm>
            <a:off x="3657599" y="2842590"/>
            <a:ext cx="588334" cy="406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14" idx="0"/>
          </p:cNvCxnSpPr>
          <p:nvPr/>
        </p:nvCxnSpPr>
        <p:spPr>
          <a:xfrm>
            <a:off x="3657599" y="2842590"/>
            <a:ext cx="0" cy="725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13" idx="0"/>
          </p:cNvCxnSpPr>
          <p:nvPr/>
        </p:nvCxnSpPr>
        <p:spPr>
          <a:xfrm flipH="1">
            <a:off x="1421295" y="2842590"/>
            <a:ext cx="2236304" cy="10436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 B: contracts: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>
                  <a:latin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3886199"/>
                <a:ext cx="1530626" cy="138153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892286" y="3567703"/>
            <a:ext cx="1530626" cy="65598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>
            <a:off x="3657599" y="4223685"/>
            <a:ext cx="0" cy="3136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37827" y="4329955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" y="5660332"/>
                <a:ext cx="586409" cy="5466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20" y="5660332"/>
                <a:ext cx="586409" cy="5466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Elbow Connector 18"/>
          <p:cNvCxnSpPr>
            <a:stCxn id="13" idx="2"/>
            <a:endCxn id="17" idx="0"/>
          </p:cNvCxnSpPr>
          <p:nvPr/>
        </p:nvCxnSpPr>
        <p:spPr>
          <a:xfrm rot="5400000">
            <a:off x="988944" y="5227981"/>
            <a:ext cx="392594" cy="47210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3" idx="2"/>
            <a:endCxn id="18" idx="0"/>
          </p:cNvCxnSpPr>
          <p:nvPr/>
        </p:nvCxnSpPr>
        <p:spPr>
          <a:xfrm rot="16200000" flipH="1">
            <a:off x="1491213" y="5197820"/>
            <a:ext cx="392594" cy="5324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470159" y="2124958"/>
                <a:ext cx="4742324" cy="717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(¬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𝑀𝑖𝑛𝐶𝑢𝑡𝑆𝑒𝑡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(¬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𝑀𝑖𝑛𝐶𝑢𝑡𝑆𝑒𝑡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159" y="2124958"/>
                <a:ext cx="4742324" cy="717632"/>
              </a:xfrm>
              <a:prstGeom prst="rect">
                <a:avLst/>
              </a:prstGeom>
              <a:blipFill>
                <a:blip r:embed="rId7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70159" y="2483774"/>
                <a:ext cx="536395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i="1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(¬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</a:rPr>
                  <a:t>=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∧¬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 smtClean="0"/>
              </a:p>
              <a:p>
                <a:pPr algn="ctr"/>
                <a:endParaRPr lang="en-US" b="0" dirty="0" smtClean="0"/>
              </a:p>
              <a:p>
                <a:pPr algn="ctr"/>
                <a:endParaRPr lang="en-US" b="0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smtClean="0">
                    <a:latin typeface="Cambria Math" panose="02040503050406030204" pitchFamily="18" charset="0"/>
                  </a:rPr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159" y="2483774"/>
                <a:ext cx="5363953" cy="1477328"/>
              </a:xfrm>
              <a:prstGeom prst="rect">
                <a:avLst/>
              </a:prstGeom>
              <a:blipFill>
                <a:blip r:embed="rId8"/>
                <a:stretch>
                  <a:fillRect r="-227" b="-4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4603188" y="4986981"/>
            <a:ext cx="6730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Unsafe approximation: we report lower probability than the actual.</a:t>
            </a:r>
            <a:endParaRPr lang="en-US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4422912" y="4853175"/>
            <a:ext cx="6549888" cy="123951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4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 animBg="1"/>
      <p:bldP spid="9" grpId="0"/>
      <p:bldP spid="13" grpId="0" animBg="1"/>
      <p:bldP spid="14" grpId="0" animBg="1"/>
      <p:bldP spid="16" grpId="0"/>
      <p:bldP spid="17" grpId="0" animBg="1"/>
      <p:bldP spid="18" grpId="0" animBg="1"/>
      <p:bldP spid="21" grpId="0"/>
      <p:bldP spid="22" grpId="0"/>
      <p:bldP spid="23" grpId="0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Computation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If all </a:t>
            </a:r>
            <a:r>
              <a:rPr lang="en-US" i="1" dirty="0" smtClean="0"/>
              <a:t>MinCutSets</a:t>
            </a:r>
            <a:r>
              <a:rPr lang="en-US" dirty="0" smtClean="0"/>
              <a:t> can be easily found, give full computation results.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If not: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Use cardinality threshold as under approximation and estimate error term.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Give under approximation using naïve approach and over approximation using (?)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Aims of the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and implement a Safety Annex to enable fault modeling in AADL modeling language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compositional verification capabilities in the face of component failures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Define compositional computation of minimal cut sets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Determine accurate compositional probabilistic computations for top-level events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 smtClean="0"/>
              <a:t>Evaluate the results using representative models in AADL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8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using Representative AADL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WBS: Large scale wheel brake system for aircraft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4" descr="C:\Users\stew_da\Desktop\Universität\arch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303" y="2393596"/>
            <a:ext cx="8272122" cy="184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tew_da\Desktop\Universität\agree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233" y="4682306"/>
            <a:ext cx="8022261" cy="110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74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using Representative AADL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WBS: Large scale wheel brake system for aircraft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Scalability: </a:t>
            </a:r>
            <a:r>
              <a:rPr lang="en-US" dirty="0" smtClean="0"/>
              <a:t>The size of the model will give an idea for how useful the tool and algorithms are for industrial sized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MBSA:</a:t>
            </a:r>
            <a:r>
              <a:rPr lang="en-US" dirty="0" smtClean="0"/>
              <a:t> The artifacts generated should give valuable information to analysts for system development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Behavioral analysis: </a:t>
            </a:r>
            <a:r>
              <a:rPr lang="en-US" dirty="0" smtClean="0"/>
              <a:t>The </a:t>
            </a:r>
            <a:r>
              <a:rPr lang="en-US" dirty="0"/>
              <a:t>analysis should show additional information about the </a:t>
            </a:r>
            <a:r>
              <a:rPr lang="en-US" dirty="0" smtClean="0"/>
              <a:t>behavior </a:t>
            </a:r>
            <a:r>
              <a:rPr lang="en-US" dirty="0"/>
              <a:t>of components in the face of </a:t>
            </a:r>
            <a:r>
              <a:rPr lang="en-US" dirty="0" smtClean="0"/>
              <a:t>failure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Certification:</a:t>
            </a:r>
            <a:r>
              <a:rPr lang="en-US" dirty="0" smtClean="0"/>
              <a:t> The artifacts generated should be usable in the certification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Smaller models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MBSA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 smtClean="0"/>
              <a:t>Examples of rich fault modeling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0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Timeline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 Dec </a:t>
            </a:r>
            <a:r>
              <a:rPr lang="en-US" b="1" dirty="0"/>
              <a:t>2019 - Feb 2020</a:t>
            </a:r>
            <a:r>
              <a:rPr lang="en-US" b="1" dirty="0" smtClean="0"/>
              <a:t>:  </a:t>
            </a:r>
            <a:r>
              <a:rPr lang="en-US" dirty="0"/>
              <a:t>Outline and prove probabilistic methods and algorithms for compositional computations</a:t>
            </a:r>
            <a:r>
              <a:rPr lang="en-US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 smtClean="0"/>
              <a:t>Dec </a:t>
            </a:r>
            <a:r>
              <a:rPr lang="en-US" b="1" dirty="0"/>
              <a:t>2019 - Feb 2020</a:t>
            </a:r>
            <a:r>
              <a:rPr lang="en-US" b="1" dirty="0" smtClean="0"/>
              <a:t>: </a:t>
            </a:r>
            <a:r>
              <a:rPr lang="en-US" dirty="0"/>
              <a:t>Complete the implementation of both minimal cut set generation and probabilistic computations.  </a:t>
            </a:r>
            <a:endParaRPr lang="en-US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 smtClean="0"/>
              <a:t>Feb </a:t>
            </a:r>
            <a:r>
              <a:rPr lang="en-US" b="1" dirty="0"/>
              <a:t>- March 2020</a:t>
            </a:r>
            <a:r>
              <a:rPr lang="en-US" b="1" dirty="0" smtClean="0"/>
              <a:t>: </a:t>
            </a:r>
            <a:r>
              <a:rPr lang="en-US" dirty="0" smtClean="0"/>
              <a:t>Complete </a:t>
            </a:r>
            <a:r>
              <a:rPr lang="en-US" dirty="0"/>
              <a:t>the </a:t>
            </a:r>
            <a:r>
              <a:rPr lang="en-US" dirty="0" smtClean="0"/>
              <a:t>implementation </a:t>
            </a:r>
            <a:r>
              <a:rPr lang="en-US" dirty="0"/>
              <a:t>of the graphical representation of hierarchical fault trees</a:t>
            </a:r>
            <a:r>
              <a:rPr lang="en-US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 smtClean="0"/>
              <a:t>Dec </a:t>
            </a:r>
            <a:r>
              <a:rPr lang="en-US" b="1" dirty="0"/>
              <a:t>2019 - April 2020</a:t>
            </a:r>
            <a:r>
              <a:rPr lang="en-US" b="1" dirty="0" smtClean="0"/>
              <a:t>:  </a:t>
            </a:r>
            <a:r>
              <a:rPr lang="en-US" dirty="0"/>
              <a:t>Write the </a:t>
            </a:r>
            <a:r>
              <a:rPr lang="en-US" dirty="0" smtClean="0"/>
              <a:t>dissertation.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 smtClean="0"/>
              <a:t>May </a:t>
            </a:r>
            <a:r>
              <a:rPr lang="en-US" b="1" dirty="0"/>
              <a:t>2020</a:t>
            </a:r>
            <a:r>
              <a:rPr lang="en-US" b="1" dirty="0" smtClean="0"/>
              <a:t>:  </a:t>
            </a:r>
            <a:r>
              <a:rPr lang="en-US" dirty="0"/>
              <a:t>Complete any requested edits on dissertation</a:t>
            </a:r>
            <a:r>
              <a:rPr lang="en-US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 smtClean="0"/>
              <a:t>June </a:t>
            </a:r>
            <a:r>
              <a:rPr lang="en-US" b="1" dirty="0"/>
              <a:t>2020</a:t>
            </a:r>
            <a:r>
              <a:rPr lang="en-US" b="1" dirty="0" smtClean="0"/>
              <a:t>:  </a:t>
            </a:r>
            <a:r>
              <a:rPr lang="en-US" dirty="0"/>
              <a:t>Defend dissertation and complete final changes.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9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84" y="419506"/>
            <a:ext cx="5198688" cy="29200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072" y="419506"/>
            <a:ext cx="5213545" cy="29072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84" y="3402079"/>
            <a:ext cx="5198688" cy="28647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071" y="3326734"/>
            <a:ext cx="5225901" cy="2940101"/>
          </a:xfrm>
          <a:prstGeom prst="rect">
            <a:avLst/>
          </a:prstGeom>
        </p:spPr>
      </p:pic>
      <p:sp>
        <p:nvSpPr>
          <p:cNvPr id="13" name="Action Button: Help 12">
            <a:hlinkClick r:id="" action="ppaction://noaction" highlightClick="1"/>
          </p:cNvPr>
          <p:cNvSpPr/>
          <p:nvPr/>
        </p:nvSpPr>
        <p:spPr>
          <a:xfrm>
            <a:off x="4996190" y="2127452"/>
            <a:ext cx="1585764" cy="1982043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856382" y="-29888"/>
            <a:ext cx="411535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 smtClean="0"/>
              <a:t>Questions?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11534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6342</TotalTime>
  <Words>1858</Words>
  <Application>Microsoft Office PowerPoint</Application>
  <PresentationFormat>Widescreen</PresentationFormat>
  <Paragraphs>448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Courier New</vt:lpstr>
      <vt:lpstr>Lucida Console</vt:lpstr>
      <vt:lpstr>Lucida Sans Typewriter</vt:lpstr>
      <vt:lpstr>Times New Roman</vt:lpstr>
      <vt:lpstr>Retrospect</vt:lpstr>
      <vt:lpstr>VISIO</vt:lpstr>
      <vt:lpstr>Visio</vt:lpstr>
      <vt:lpstr>Architectural Modeling and Analysis for Safety Engineering</vt:lpstr>
      <vt:lpstr>System Development and Safety Assessment</vt:lpstr>
      <vt:lpstr>Model Based Safety Analysis</vt:lpstr>
      <vt:lpstr>PowerPoint Presentation</vt:lpstr>
      <vt:lpstr>PowerPoint Presentation</vt:lpstr>
      <vt:lpstr>Objective of the Proposal</vt:lpstr>
      <vt:lpstr>Aims of the Proposal</vt:lpstr>
      <vt:lpstr>Aims of the Proposal</vt:lpstr>
      <vt:lpstr>Architecture Analysis and Design Language (AADL)</vt:lpstr>
      <vt:lpstr>Assume-Guarantee Reasoning Environment (AGREE)</vt:lpstr>
      <vt:lpstr>JKind Model Checker</vt:lpstr>
      <vt:lpstr>Implementation of the Safety Annex </vt:lpstr>
      <vt:lpstr>Aims of the Proposal</vt:lpstr>
      <vt:lpstr>Verification in the Face of Component Failures</vt:lpstr>
      <vt:lpstr>Flexible Fault Modeling</vt:lpstr>
      <vt:lpstr>Published Papers</vt:lpstr>
      <vt:lpstr>Aims of the Proposal</vt:lpstr>
      <vt:lpstr>Minimal Cut Sets</vt:lpstr>
      <vt:lpstr>Constraint System </vt:lpstr>
      <vt:lpstr>Minimal Unsatisfiable Subsets</vt:lpstr>
      <vt:lpstr>Inductive Validity Cores</vt:lpstr>
      <vt:lpstr>Minimal Inductive Validity Cores</vt:lpstr>
      <vt:lpstr>Minimal Correction Sets</vt:lpstr>
      <vt:lpstr>Duality of MUS and MCS:  Minimal Hitting Sets</vt:lpstr>
      <vt:lpstr>What do MCSs have to do with safety?</vt:lpstr>
      <vt:lpstr>MCS to MinCutSet</vt:lpstr>
      <vt:lpstr>The Main Idea</vt:lpstr>
      <vt:lpstr>Aims of the Proposal</vt:lpstr>
      <vt:lpstr>Probabilistic Computations over FTs</vt:lpstr>
      <vt:lpstr>Problem with this approach</vt:lpstr>
      <vt:lpstr>Naïve Approach to Computation Roll-up</vt:lpstr>
      <vt:lpstr>Naïve Approach to Computation Roll-up</vt:lpstr>
      <vt:lpstr>Naïve Approach to Computation Roll-up</vt:lpstr>
      <vt:lpstr>Probabilistic Computation Solutions</vt:lpstr>
      <vt:lpstr>Aims of the Proposal</vt:lpstr>
      <vt:lpstr>Evaluation using Representative AADL Models</vt:lpstr>
      <vt:lpstr>Evaluation using Representative AADL Models</vt:lpstr>
      <vt:lpstr>Proposed 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Danielle Stewart</dc:creator>
  <cp:lastModifiedBy>Danielle Stewart</cp:lastModifiedBy>
  <cp:revision>121</cp:revision>
  <dcterms:created xsi:type="dcterms:W3CDTF">2019-11-27T15:12:56Z</dcterms:created>
  <dcterms:modified xsi:type="dcterms:W3CDTF">2019-12-06T18:39:37Z</dcterms:modified>
</cp:coreProperties>
</file>