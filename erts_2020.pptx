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08" r:id="rId1"/>
  </p:sldMasterIdLst>
  <p:notesMasterIdLst>
    <p:notesMasterId r:id="rId37"/>
  </p:notesMasterIdLst>
  <p:handoutMasterIdLst>
    <p:handoutMasterId r:id="rId38"/>
  </p:handoutMasterIdLst>
  <p:sldIdLst>
    <p:sldId id="435" r:id="rId2"/>
    <p:sldId id="552" r:id="rId3"/>
    <p:sldId id="553" r:id="rId4"/>
    <p:sldId id="554" r:id="rId5"/>
    <p:sldId id="555" r:id="rId6"/>
    <p:sldId id="556" r:id="rId7"/>
    <p:sldId id="557" r:id="rId8"/>
    <p:sldId id="558" r:id="rId9"/>
    <p:sldId id="559" r:id="rId10"/>
    <p:sldId id="586" r:id="rId11"/>
    <p:sldId id="561" r:id="rId12"/>
    <p:sldId id="562" r:id="rId13"/>
    <p:sldId id="585" r:id="rId14"/>
    <p:sldId id="563" r:id="rId15"/>
    <p:sldId id="564" r:id="rId16"/>
    <p:sldId id="565" r:id="rId17"/>
    <p:sldId id="566" r:id="rId18"/>
    <p:sldId id="567" r:id="rId19"/>
    <p:sldId id="568" r:id="rId20"/>
    <p:sldId id="569" r:id="rId21"/>
    <p:sldId id="570" r:id="rId22"/>
    <p:sldId id="571" r:id="rId23"/>
    <p:sldId id="572" r:id="rId24"/>
    <p:sldId id="573" r:id="rId25"/>
    <p:sldId id="574" r:id="rId26"/>
    <p:sldId id="575" r:id="rId27"/>
    <p:sldId id="576" r:id="rId28"/>
    <p:sldId id="577" r:id="rId29"/>
    <p:sldId id="578" r:id="rId30"/>
    <p:sldId id="579" r:id="rId31"/>
    <p:sldId id="580" r:id="rId32"/>
    <p:sldId id="581" r:id="rId33"/>
    <p:sldId id="582" r:id="rId34"/>
    <p:sldId id="583" r:id="rId35"/>
    <p:sldId id="584" r:id="rId3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9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3A3"/>
    <a:srgbClr val="883290"/>
    <a:srgbClr val="D2451E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solidFill>
                <a:schemeClr val="dk1"/>
              </a:solidFill>
            </a:ln>
          </a:insideH>
          <a:insideV>
            <a:ln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4" autoAdjust="0"/>
    <p:restoredTop sz="93886" autoAdjust="0"/>
  </p:normalViewPr>
  <p:slideViewPr>
    <p:cSldViewPr snapToGrid="0" snapToObjects="1">
      <p:cViewPr varScale="1">
        <p:scale>
          <a:sx n="53" d="100"/>
          <a:sy n="53" d="100"/>
        </p:scale>
        <p:origin x="52" y="472"/>
      </p:cViewPr>
      <p:guideLst>
        <p:guide orient="horz" pos="1620"/>
        <p:guide pos="2880"/>
        <p:guide pos="5494"/>
      </p:guideLst>
    </p:cSldViewPr>
  </p:slideViewPr>
  <p:outlineViewPr>
    <p:cViewPr>
      <p:scale>
        <a:sx n="33" d="100"/>
        <a:sy n="33" d="100"/>
      </p:scale>
      <p:origin x="0" y="-932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 snapToObjects="1">
      <p:cViewPr varScale="1">
        <p:scale>
          <a:sx n="144" d="100"/>
          <a:sy n="144" d="100"/>
        </p:scale>
        <p:origin x="282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strow, Paul W." userId="acc6e854-6a08-4828-a0ee-775c2ee5bbdb" providerId="ADAL" clId="{03B72144-E0B6-4576-94FB-AB987EB48792}"/>
    <pc:docChg chg="modSld modMainMaster">
      <pc:chgData name="Zastrow, Paul W." userId="acc6e854-6a08-4828-a0ee-775c2ee5bbdb" providerId="ADAL" clId="{03B72144-E0B6-4576-94FB-AB987EB48792}" dt="2020-01-13T19:42:32.281" v="0"/>
      <pc:docMkLst>
        <pc:docMk/>
      </pc:docMkLst>
      <pc:sldChg chg="modSp">
        <pc:chgData name="Zastrow, Paul W." userId="acc6e854-6a08-4828-a0ee-775c2ee5bbdb" providerId="ADAL" clId="{03B72144-E0B6-4576-94FB-AB987EB48792}" dt="2020-01-13T19:42:32.281" v="0"/>
        <pc:sldMkLst>
          <pc:docMk/>
          <pc:sldMk cId="3299504520" sldId="435"/>
        </pc:sldMkLst>
        <pc:spChg chg="mod">
          <ac:chgData name="Zastrow, Paul W." userId="acc6e854-6a08-4828-a0ee-775c2ee5bbdb" providerId="ADAL" clId="{03B72144-E0B6-4576-94FB-AB987EB48792}" dt="2020-01-13T19:42:32.281" v="0"/>
          <ac:spMkLst>
            <pc:docMk/>
            <pc:sldMk cId="3299504520" sldId="435"/>
            <ac:spMk id="3" creationId="{747B12D8-7BFE-1F4C-A24C-87EFF07805C7}"/>
          </ac:spMkLst>
        </pc:spChg>
      </pc:sldChg>
      <pc:sldMasterChg chg="modSp modSldLayout">
        <pc:chgData name="Zastrow, Paul W." userId="acc6e854-6a08-4828-a0ee-775c2ee5bbdb" providerId="ADAL" clId="{03B72144-E0B6-4576-94FB-AB987EB48792}" dt="2020-01-13T19:42:32.281" v="0"/>
        <pc:sldMasterMkLst>
          <pc:docMk/>
          <pc:sldMasterMk cId="3490625450" sldId="2147484408"/>
        </pc:sldMasterMkLst>
        <pc:spChg chg="mod">
          <ac:chgData name="Zastrow, Paul W." userId="acc6e854-6a08-4828-a0ee-775c2ee5bbdb" providerId="ADAL" clId="{03B72144-E0B6-4576-94FB-AB987EB48792}" dt="2020-01-13T19:42:32.281" v="0"/>
          <ac:spMkLst>
            <pc:docMk/>
            <pc:sldMasterMk cId="3490625450" sldId="2147484408"/>
            <ac:spMk id="9" creationId="{5CF54B63-FF67-41F9-A6DA-2E8C49D4A399}"/>
          </ac:spMkLst>
        </pc:sp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114608821" sldId="214748410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114608821" sldId="2147484101"/>
              <ac:spMk id="8" creationId="{7A93E8BB-E9BC-481A-B9A0-36A3661A3E5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368497712" sldId="214748410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368497712" sldId="2147484104"/>
              <ac:spMk id="10" creationId="{635752E6-0B15-4060-9233-9EA0618FA60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729620807" sldId="2147484106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729620807" sldId="2147484106"/>
              <ac:spMk id="9" creationId="{BBE68B8C-A1CD-405B-BDC2-C61FD93BAE27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785431181" sldId="2147484108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785431181" sldId="2147484108"/>
              <ac:spMk id="10" creationId="{617EE491-6BA7-4E47-B28D-A3D807A2ACC6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48523045" sldId="214748413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48523045" sldId="2147484133"/>
              <ac:spMk id="9" creationId="{9E0D8548-19E9-40E4-80BB-4CB1F6BBADE7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129638061" sldId="2147484328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129638061" sldId="2147484328"/>
              <ac:spMk id="9" creationId="{5130006F-1D5D-43DB-B30B-E97370330228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409204744" sldId="2147484329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409204744" sldId="2147484329"/>
              <ac:spMk id="9" creationId="{3541CFBA-17CD-43CC-AB75-5D8C20E8AFF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65567767" sldId="214748433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65567767" sldId="2147484335"/>
              <ac:spMk id="9" creationId="{210F7204-956A-4580-A8CA-F4DEC55C5C09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522376453" sldId="214748434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522376453" sldId="2147484343"/>
              <ac:spMk id="9" creationId="{C8080B86-F4A8-4BFF-AFEE-6327D4766C3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836710745" sldId="214748435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836710745" sldId="2147484351"/>
              <ac:spMk id="8" creationId="{5BFD534A-6FF3-4FD8-9AA3-E5F7DBD1F0B5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862514101" sldId="214748435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862514101" sldId="2147484353"/>
              <ac:spMk id="9" creationId="{A7740651-10D3-4996-BF65-8CB70E457791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556226098" sldId="2147484383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556226098" sldId="2147484383"/>
              <ac:spMk id="9" creationId="{A98F9608-51B0-474D-BA5F-F9ECF64ABF5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100383491" sldId="214748438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100383491" sldId="2147484384"/>
              <ac:spMk id="9" creationId="{FADEC670-F06F-4CEE-A2D9-28252A625173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971616241" sldId="214748438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971616241" sldId="2147484385"/>
              <ac:spMk id="9" creationId="{B1E88948-F082-46DD-BB94-5DCBA60EFCC8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601939958" sldId="2147484386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601939958" sldId="2147484386"/>
              <ac:spMk id="9" creationId="{8309BDAA-004B-4140-AABA-BB1364D8F61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472378016" sldId="2147484387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472378016" sldId="2147484387"/>
              <ac:spMk id="9" creationId="{19A03443-77FC-4401-A49C-B5A91E342565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2735846530" sldId="2147484389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2735846530" sldId="2147484389"/>
              <ac:spMk id="9" creationId="{77B64A35-DFC2-4D2A-911D-4C3FE2C78629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42990974" sldId="2147484390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42990974" sldId="2147484390"/>
              <ac:spMk id="9" creationId="{4D0EAC14-8D6E-48EF-A9FA-01AC98D7E16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962838268" sldId="2147484391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962838268" sldId="2147484391"/>
              <ac:spMk id="9" creationId="{B634C8E1-A684-455A-BF70-B7DA8CA9FB72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807585613" sldId="2147484404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807585613" sldId="2147484404"/>
              <ac:spMk id="9" creationId="{F83BE4FA-9633-459F-BE35-179379630BD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28481501" sldId="2147484405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28481501" sldId="2147484405"/>
              <ac:spMk id="9" creationId="{4AC524A5-0E0C-4F96-99A2-403EA3C95970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1386164028" sldId="2147484407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1386164028" sldId="2147484407"/>
              <ac:spMk id="3" creationId="{88F65903-5687-4A73-8751-EACBB5AEF14B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3953047586" sldId="2147484420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3953047586" sldId="2147484420"/>
              <ac:spMk id="15" creationId="{61E743DC-CF5C-44AA-968C-C6DEF6F72FED}"/>
            </ac:spMkLst>
          </pc:spChg>
        </pc:sldLayoutChg>
        <pc:sldLayoutChg chg="modSp">
          <pc:chgData name="Zastrow, Paul W." userId="acc6e854-6a08-4828-a0ee-775c2ee5bbdb" providerId="ADAL" clId="{03B72144-E0B6-4576-94FB-AB987EB48792}" dt="2020-01-13T19:42:32.281" v="0"/>
          <pc:sldLayoutMkLst>
            <pc:docMk/>
            <pc:sldMasterMk cId="3490625450" sldId="2147484408"/>
            <pc:sldLayoutMk cId="748589245" sldId="2147484422"/>
          </pc:sldLayoutMkLst>
          <pc:spChg chg="mod">
            <ac:chgData name="Zastrow, Paul W." userId="acc6e854-6a08-4828-a0ee-775c2ee5bbdb" providerId="ADAL" clId="{03B72144-E0B6-4576-94FB-AB987EB48792}" dt="2020-01-13T19:42:32.281" v="0"/>
            <ac:spMkLst>
              <pc:docMk/>
              <pc:sldMasterMk cId="3490625450" sldId="2147484408"/>
              <pc:sldLayoutMk cId="748589245" sldId="2147484422"/>
              <ac:spMk id="3" creationId="{213F643C-EA7F-4290-95CD-262B9D0728F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40316-3FB0-AC49-9724-FBCD29E0115A}" type="datetime1">
              <a:rPr lang="en-US" smtClean="0">
                <a:latin typeface="Arial Regular"/>
              </a:rPr>
              <a:t>1/15/2020</a:t>
            </a:fld>
            <a:endParaRPr lang="en-US" dirty="0">
              <a:latin typeface="Arial Regul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 Regul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B889C-5E22-FE40-9F91-1D0E80D3B361}" type="slidenum">
              <a:rPr lang="en-US" smtClean="0">
                <a:latin typeface="Arial Regular"/>
              </a:rPr>
              <a:t>‹#›</a:t>
            </a:fld>
            <a:endParaRPr lang="en-US" dirty="0">
              <a:latin typeface="Arial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799558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4C892A5C-EED2-8E42-8700-2077C2BD4744}" type="datetime1">
              <a:rPr lang="en-US" smtClean="0"/>
              <a:pPr/>
              <a:t>1/15/2020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C5520F8E-B86B-724D-83FF-760051E34CC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9237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486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72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271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2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442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8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316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551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26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561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97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343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9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120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37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543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4370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51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75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1790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1732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265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0655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961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894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0209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87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2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526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42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D8EB32-0A30-4BE1-8F61-0C745B92912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90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mbardier Challe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14FA836-F727-B344-91DC-D21741BAED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8E1708-9243-4A88-A0A5-D260B7B623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A93E8BB-E9BC-481A-B9A0-36A3661A3E5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7397E52E-98A3-4984-931D-1E63DCDB9A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11460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IDV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2"/>
            <a:ext cx="9144000" cy="5145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1337E-176E-D249-820B-95250D18CE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BECCCF-F3B2-48A4-9301-3BA7B371C6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35752E6-0B15-4060-9233-9EA0618FA60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A958031-A2A3-44EA-8C57-8DB0B453EA1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36849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Gemini Astron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1A4537-480B-F54B-9F7B-CCC285975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106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9CD399-D091-A64F-8D0A-CC99E50DE9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0C929E-624C-4FE4-9C75-DD3EF37E9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BE68B8C-A1CD-405B-BDC2-C61FD93BAE27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3C090984-216A-4A23-8537-89008586DB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72962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eing 7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F6273-37A3-B740-A7A8-1320539097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311"/>
            <a:ext cx="9144000" cy="5145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33522C-82FB-D942-B60E-F0869B3555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03811E-C557-4BCE-838E-CBE868A581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17EE491-6BA7-4E47-B28D-A3D807A2ACC6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2898796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A7CE48C-440A-4B45-A999-82FB3F90250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56186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785431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Sikorsky UH-60 Black Haw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1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27B312-9E18-AC4A-9526-D7E41C6DD0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838226-92FA-40D6-BAD1-07BD9BE426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30006F-1D5D-43DB-B30B-E97370330228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0A9E72A-2E51-4CB7-92A0-BD87135EF67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12963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Helicop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99B9A2-E91E-F143-A2A0-2DFFBE0383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841A46-E3AE-40E8-B497-FBBD818FAD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9E0D8548-19E9-40E4-80BB-4CB1F6BBADE7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15C6846D-632F-4C5A-969C-DD4D388BDC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485230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Ground Sold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701358-9A67-EE44-9768-A67B8FF555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6ADD1C-314F-4A04-89BB-ECD94B2773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541CFBA-17CD-43CC-AB75-5D8C20E8AFF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0880409E-8895-4CB3-AAE8-77D848563D4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40920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Cabin Ch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8A1E556-6413-2748-8C90-1490CB30C3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"/>
            <a:ext cx="9144000" cy="51450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99B57A7-EA3C-1040-B89F-C7733F789A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D617CBB-A695-4059-8F4D-D7F0A5D74F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10F7204-956A-4580-A8CA-F4DEC55C5C0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826246D-B790-465C-8561-DA598339C9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65567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Ha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39FFCA-C102-834E-AF56-E25BB0BB97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5104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459B6-97D3-4549-836E-6BF07CC5F5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6EE12-2075-4712-88B7-927E2CEC03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C8080B86-F4A8-4BFF-AFEE-6327D4766C3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13795CB-82BB-40B3-85BB-CAE2337CB2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52237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Boeing J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D3350-4D97-FC47-B22E-22F4608B8EEB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" y="313"/>
            <a:ext cx="9144000" cy="51450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1337E-176E-D249-820B-95250D18CE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C90E3C-D267-416C-AE9A-5C84A5ECF9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5BFD534A-6FF3-4FD8-9AA3-E5F7DBD1F0B5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F5201693-29EC-4219-ADE4-FAD4861834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836710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Wing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6310DC6-14A2-4E62-995F-EBA0786E4E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90" t="15" b="15"/>
          <a:stretch/>
        </p:blipFill>
        <p:spPr>
          <a:xfrm>
            <a:off x="0" y="0"/>
            <a:ext cx="9144000" cy="519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DC0082-3DE0-4B04-BF48-7733CE2176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7740651-10D3-4996-BF65-8CB70E457791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733B4E5A-643B-48A7-9A15-65992C4B425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386251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Security Command and Control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AC3ACB-CEF4-C348-B5E4-19B472DC77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23668" y="93136"/>
            <a:ext cx="5868970" cy="50503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83BE4FA-9633-459F-BE35-179379630BD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66D99F-B6D3-4373-92AA-3560843389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04FB63CB-93FC-4AE3-9048-27495C4062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807585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Black | Locomo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90384" y="260269"/>
            <a:ext cx="5329093" cy="4242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492328-EF45-C248-A3F6-4D657BDF65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AC524A5-0E0C-4F96-99A2-403EA3C9597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062EDE-CAB4-47B4-AF8B-72A834EADB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TITLE HERE. ALL CAPS. WHITE. 24 PT.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77ECC5FB-2D20-4497-9909-145C51050D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284815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Boeing 73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81D3C9-6688-CC45-BF54-30A4400776A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3" y="8313"/>
            <a:ext cx="9145104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9DE39F-1219-A44A-AB4A-D47C0435FB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131638-5313-45B8-9754-1FA7D0441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98F9608-51B0-474D-BA5F-F9ECF64ABF5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67AA4070-7CFC-45F6-8A11-958B4586B16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55622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Nacel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7C5CF0-9E37-7A47-9D82-B3A60502BE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05" y="0"/>
            <a:ext cx="9145105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30CC2B-A5A6-BB4A-A8F4-3B00AAEDF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ECB854-D675-4012-A4AC-390DA62756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FADEC670-F06F-4CEE-A2D9-28252A625173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38DCDD02-8449-418B-95C3-E9754A49AD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10038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Sikorsky MH-60 Black Haw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8C3F82-8FA0-924D-8A57-29989F6A4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" y="0"/>
            <a:ext cx="9144000" cy="5145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6474C2-E137-DC46-A951-0FBA354534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1E88948-F082-46DD-BB94-5DCBA60EFCC8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7697A-EAFE-4135-8921-5431440E60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2898796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9EA1E71-B0DD-465E-9427-5EC5252786D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144165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971616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Tai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04FACE-BC53-0847-87C0-EF2E93991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" y="0"/>
            <a:ext cx="9145105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C6D6F6-4941-9E41-A51D-53759FBC12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8309BDAA-004B-4140-AABA-BB1364D8F61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629FB-A82B-419D-8026-16AF265ACD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63B4E96-5136-4A6F-B610-5993E3DD7E2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601939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A34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0AE72-72D5-774B-BB51-17A7F91B79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1"/>
            <a:ext cx="9144000" cy="5145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8268C0-9BA9-8241-A64D-DC266399C4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4238-3694-49D7-BE0D-0692B3D5F8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9A03443-77FC-4401-A49C-B5A91E342565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C085BA19-55C6-4C03-91B2-521DB5A34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472378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M40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A90811-AFCA-A945-9F77-046D8D2EF3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5004"/>
            <a:ext cx="8809703" cy="4498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F0FDA2-4D72-8E46-8787-DB5122FE5A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7E615-EA42-44EE-A1B7-C23B714284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7B64A35-DFC2-4D2A-911D-4C3FE2C7862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9A2BD2B-7056-4FE1-BC33-69B2480A5C1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2735846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JTA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2C6A80-4394-6040-85A5-335D259C0B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DBD5E-9EDA-4683-8F44-A72EA9E8744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4D0EAC14-8D6E-48EF-A9FA-01AC98D7E16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bg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bg1"/>
              </a:solidFill>
              <a:cs typeface="DIN-Light"/>
              <a:sym typeface="Verdana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D03DC87-026F-491E-BD43-AF2688C4C4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4299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| White | Airbus A3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7AE78D-5B24-2D4A-9B7D-A74F88E58E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B634C8E1-A684-455A-BF70-B7DA8CA9FB72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5698D-7197-494D-B3D5-DE75B5BDC3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>
                <a:cs typeface="DIN-Light"/>
              </a:rPr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57200" y="350121"/>
            <a:ext cx="4871884" cy="12132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6A9606B8-3A9E-4A99-93A9-80FF04DC5D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604114"/>
            <a:ext cx="488091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</p:spTree>
    <p:extLst>
      <p:ext uri="{BB962C8B-B14F-4D97-AF65-F5344CB8AC3E}">
        <p14:creationId xmlns:p14="http://schemas.microsoft.com/office/powerpoint/2010/main" val="1962838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1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cxnSp>
        <p:nvCxnSpPr>
          <p:cNvPr id="23" name="Straight Connector 22"/>
          <p:cNvCxnSpPr/>
          <p:nvPr userDrawn="1"/>
        </p:nvCxnSpPr>
        <p:spPr>
          <a:xfrm>
            <a:off x="457200" y="457200"/>
            <a:ext cx="8686800" cy="0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A9C5333A-B230-47F1-B645-49DD0F86AF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AAEC19-A6B2-4318-8059-930560E2463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B0D61B-C032-47A0-817B-E65EADC178ED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41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black.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5E5816-AD7B-6F48-B91A-2A8D449EE7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accent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4A3360-5419-403A-BF9A-FFDBE6F34F28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8E21A3-FD86-4B24-9BF4-D756D4A8106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66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Cover Slide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F4A54FD8-B531-0B4E-8934-C853C4D67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022957"/>
            <a:ext cx="5179806" cy="1213210"/>
          </a:xfrm>
          <a:prstGeom prst="rect">
            <a:avLst/>
          </a:prstGeom>
        </p:spPr>
        <p:txBody>
          <a:bodyPr anchor="b"/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title HERE. ALL CAPS. WHITE. 24 PT.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1D793F-8D60-444C-B182-F47C65D273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2" y="3282132"/>
            <a:ext cx="5179806" cy="460390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457200"/>
            <a:ext cx="8686800" cy="7434"/>
          </a:xfrm>
          <a:prstGeom prst="line">
            <a:avLst/>
          </a:prstGeom>
          <a:ln w="6350" cap="sq">
            <a:solidFill>
              <a:schemeClr val="tx1"/>
            </a:solidFill>
            <a:headEnd type="oval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4E10CE-6D19-4A8A-AAD8-85840FDD8F3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D1D29-7C65-4277-A32E-2FD693FAC8A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162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775191-E448-4A35-BD8D-CDF8EAEF46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EE988F-F066-469F-B9DB-2509596932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B6529-7FFC-481C-8C50-839650D8F5E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30380-8D6C-48ED-B960-5D3CA89888C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9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SUBHEAD HERE. ALL CAPS. TERRA COTTA. 11 PT.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602C9D-8D7C-4247-A742-B5A6A7EBC5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8A2C1F3-FA25-47B6-8A37-E9A0CD151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Black.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2BE83E-D886-418F-9C93-2D5DEA9C3484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A2071B-2C30-49B6-95FF-C5CCFE8BAA7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8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| Solid | Terra Cot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9CF9688B-74D5-7B40-871D-F5EADB2DA9E6}"/>
              </a:ext>
            </a:extLst>
          </p:cNvPr>
          <p:cNvSpPr/>
          <p:nvPr userDrawn="1"/>
        </p:nvSpPr>
        <p:spPr>
          <a:xfrm>
            <a:off x="261674" y="258795"/>
            <a:ext cx="8620665" cy="4235387"/>
          </a:xfrm>
          <a:custGeom>
            <a:avLst/>
            <a:gdLst>
              <a:gd name="connsiteX0" fmla="*/ 385314 w 8620665"/>
              <a:gd name="connsiteY0" fmla="*/ 0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  <a:gd name="connsiteX0" fmla="*/ 304632 w 8620665"/>
              <a:gd name="connsiteY0" fmla="*/ 8965 h 4014159"/>
              <a:gd name="connsiteX1" fmla="*/ 8620665 w 8620665"/>
              <a:gd name="connsiteY1" fmla="*/ 0 h 4014159"/>
              <a:gd name="connsiteX2" fmla="*/ 8620665 w 8620665"/>
              <a:gd name="connsiteY2" fmla="*/ 4014159 h 4014159"/>
              <a:gd name="connsiteX3" fmla="*/ 0 w 8620665"/>
              <a:gd name="connsiteY3" fmla="*/ 4014159 h 4014159"/>
              <a:gd name="connsiteX4" fmla="*/ 0 w 8620665"/>
              <a:gd name="connsiteY4" fmla="*/ 408317 h 4014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0665" h="4014159">
                <a:moveTo>
                  <a:pt x="304632" y="8965"/>
                </a:moveTo>
                <a:lnTo>
                  <a:pt x="8620665" y="0"/>
                </a:lnTo>
                <a:lnTo>
                  <a:pt x="8620665" y="4014159"/>
                </a:lnTo>
                <a:lnTo>
                  <a:pt x="0" y="4014159"/>
                </a:lnTo>
                <a:lnTo>
                  <a:pt x="0" y="408317"/>
                </a:lnTo>
              </a:path>
            </a:pathLst>
          </a:custGeom>
          <a:noFill/>
          <a:ln w="15875">
            <a:solidFill>
              <a:schemeClr val="tx1"/>
            </a:solidFill>
            <a:headEnd type="oval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77F097C-CB5B-3641-B30F-3DA07CE8FD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1882" y="4055356"/>
            <a:ext cx="5185126" cy="313448"/>
          </a:xfrm>
        </p:spPr>
        <p:txBody>
          <a:bodyPr anchor="t">
            <a:noAutofit/>
          </a:bodyPr>
          <a:lstStyle>
            <a:lvl1pPr marL="0" indent="0">
              <a:buNone/>
              <a:defRPr sz="1100" cap="all" spc="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HERE. ALL CAPS. white. 11 PT.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91C7030-7C21-4D01-94C3-78400167FE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374" y="1546054"/>
            <a:ext cx="8238744" cy="250930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4500" spc="500">
                <a:solidFill>
                  <a:schemeClr val="tx1"/>
                </a:solidFill>
                <a:ea typeface="+mn-ea"/>
              </a:defRPr>
            </a:lvl1pPr>
          </a:lstStyle>
          <a:p>
            <a:pPr lvl="0"/>
            <a:r>
              <a:rPr lang="en-US" dirty="0"/>
              <a:t>TRANSITION TITLE. </a:t>
            </a:r>
            <a:br>
              <a:rPr lang="en-US" dirty="0"/>
            </a:br>
            <a:r>
              <a:rPr lang="en-US" dirty="0"/>
              <a:t>ALL CAPS. WHITE. </a:t>
            </a:r>
            <a:br>
              <a:rPr lang="en-US" dirty="0"/>
            </a:br>
            <a:r>
              <a:rPr lang="en-US" dirty="0"/>
              <a:t>45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B9FA3B2-D0F0-46D2-9466-44B642FC905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A297C-A2D6-40CA-AD99-EEB809D81A8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029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White">
    <p:bg>
      <p:bgRef idx="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E5225AB-9C68-48C0-B481-4F436A3B7308}"/>
              </a:ext>
            </a:extLst>
          </p:cNvPr>
          <p:cNvSpPr>
            <a:spLocks noGrp="1"/>
          </p:cNvSpPr>
          <p:nvPr>
            <p:ph type="body" idx="2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229600" cy="5688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48355C-FA3B-4066-92A2-32029C5A17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57200" y="1261872"/>
            <a:ext cx="8229600" cy="3301320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C8824-0868-4FA8-BAE4-101D6897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6730C-B129-4981-BDF8-FCCAB3B2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99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557"/>
            <a:ext cx="8229600" cy="3531731"/>
          </a:xfrm>
          <a:prstGeom prst="rect">
            <a:avLst/>
          </a:prstGeo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E5EA4B-59AD-415B-8D7A-5804883562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F1E04-0B6C-4B81-9C54-243FC5DE3E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965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87E6DC-BC84-4C86-A9DE-0160AC1C9D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AD5D2E-A2AC-4899-90EB-41A4D9D521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3E2829-C632-4D45-94B3-B004173EE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7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85A6D3-BFB1-4C67-96C5-155EB52E99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4C15CF-47DB-495F-9FCC-9F29980C5D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407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45A6B3B-BED3-47B7-ABC7-94D4715C511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F5C344-815E-4E6C-A632-35A2661C7C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EFF72F07-E416-4EC9-BFB1-4C53521819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604ED8E-155F-4A46-8432-A06E849BF6D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27881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83E9807-3886-4F79-9EE8-B285427DC91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10333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C55EE-56F3-4C86-AA4D-E940CBB8B9F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8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Whit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595D5D8-5FFC-44B7-B3F9-A60157051E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B9372DE6-DCF8-476C-A783-0468C556516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05D7251-2D12-4ED9-B64E-0883A8600CE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0609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891B195-2B7F-4952-BE48-9C09438F1A3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146575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3834E-16A5-4F30-87AB-A27ECFD0766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6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DB3C81C-40F3-42DA-9512-9E80A45B22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9D82DC-4516-4CFC-A86F-BFEA28FF5E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4"/>
            <a:ext cx="4040188" cy="3279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45025" y="1315995"/>
            <a:ext cx="4040188" cy="32729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22D29-83B6-4887-8B46-FACDF1A79E7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19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229600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BLACK.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CD36293-A803-4765-A0C6-F9722EFE8E9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1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2"/>
            <a:ext cx="2651760" cy="3305868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4BAAF-F2D1-459C-AC12-D3DB70C0866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5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D2D24D-4C09-1045-A1DC-71AFF869A4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193"/>
          <a:stretch/>
        </p:blipFill>
        <p:spPr>
          <a:xfrm rot="5400000">
            <a:off x="-464277" y="464277"/>
            <a:ext cx="5143501" cy="421494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84B69-E00D-6C48-AA83-A9DA1295FC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99131" y="2806063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563264-7759-FA45-9A58-015466D6032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5099131" y="3179281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073DC-BC1C-4940-80D4-3F38B2AD95E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099131" y="3552499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phone number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18102-057F-FF40-966C-013A6C221B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5099131" y="3925717"/>
            <a:ext cx="3653363" cy="373218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email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AFDEE-92E8-CE48-A6CF-DFDDF3E12574}"/>
              </a:ext>
            </a:extLst>
          </p:cNvPr>
          <p:cNvSpPr txBox="1"/>
          <p:nvPr userDrawn="1"/>
        </p:nvSpPr>
        <p:spPr>
          <a:xfrm>
            <a:off x="5099128" y="2340921"/>
            <a:ext cx="2700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spc="500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D38C1D-56BF-4D49-B2FD-ECDD69907A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E77BC2-6090-4087-8B29-C898F11D776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706B3-B467-43B9-BA08-701CC04B98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827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825543-6B7F-4B41-BD8C-976212A546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882028-C1CE-4B82-A985-EB48E9AC23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313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White | No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4572E7-7425-4C17-972B-9287FED039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F65903-5687-4A73-8751-EACBB5AEF14B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0995-EA19-4990-AF4B-4097FA44D9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64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61B13AE-08FF-4182-B13B-7EB8F4FA053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21514"/>
            <a:ext cx="8229600" cy="3141678"/>
          </a:xfrm>
        </p:spPr>
        <p:txBody>
          <a:bodyPr>
            <a:noAutofit/>
          </a:bodyPr>
          <a:lstStyle>
            <a:lvl1pPr marL="233363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F01E6AB-8035-CC44-8226-FB6BA86CD6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FBE7D4-FDCA-0F4E-B63D-291E8DDF9D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8CEBD0-B598-4282-959B-6D2209CB9E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98B8D-DCA3-4BD6-A11A-ED3B7B2C6A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07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Body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ECF2EFB-1FFD-0640-A59A-CE7F2263547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051034"/>
            <a:ext cx="8229600" cy="3498388"/>
          </a:xfrm>
        </p:spPr>
        <p:txBody>
          <a:bodyPr>
            <a:noAutofit/>
          </a:bodyPr>
          <a:lstStyle>
            <a:lvl1pPr marL="233363" indent="-233363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685800" indent="-225425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tx1"/>
                </a:solidFill>
              </a:defRPr>
            </a:lvl2pPr>
            <a:lvl3pPr marL="1142944" indent="-228588">
              <a:buClr>
                <a:schemeClr val="accent1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rgbClr val="FFFFFF"/>
                </a:solidFill>
              </a:defRPr>
            </a:lvl4pPr>
            <a:lvl5pPr>
              <a:defRPr sz="1200">
                <a:solidFill>
                  <a:srgbClr val="FFFF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39C789-234B-0041-B311-916160AEF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9B8D00-5DA5-4638-B20A-F06736E623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05BD7-0FC8-4CFC-8B71-3CC33B9FBF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4707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A13725E-EEC9-A541-A129-451A9DC7953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33CA67-2743-BE45-A4E6-B088ACBBA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D23D9B-E365-4390-B4C2-73EC374CA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FBCDF-CD63-4BEF-BE6A-CD05B5151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133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Headlin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D42A82-65F5-9643-8C5E-E126C1F2FF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4F9EE2-4406-4C21-92F4-F3E5A020A8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DD45E3-18F7-4B84-9FB9-181D23BEC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3792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+ Sub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7EED0EA-774D-0F41-A218-DE820FFCF14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480303"/>
            <a:ext cx="3108960" cy="684830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A25B962-B6D5-E443-8523-A4362723BE0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97809" y="1480302"/>
            <a:ext cx="6035040" cy="310700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303EEA9-2941-B74E-9117-7A9AD13BCA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165133"/>
            <a:ext cx="3108960" cy="2422174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109CE1B-EC33-4340-989A-4E157D4BA7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AFF837-9556-424F-BF3B-DC25B3885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4FD6C8-43BC-4102-ACE7-BF469C8BBAF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BDE68-94B6-4E33-A15B-7D0201FF59A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6317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3 Collage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BF40DBD9-649C-9E44-A365-E9AF1300ECB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164689"/>
            <a:ext cx="3108960" cy="916359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1115DFFC-CD2E-F041-805B-96932B19DA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97809" y="1166648"/>
            <a:ext cx="6035040" cy="34206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5025509D-C23E-E24C-9625-BD927A967CA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81048"/>
            <a:ext cx="3108960" cy="2506257"/>
          </a:xfrm>
          <a:ln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A98B6A-953C-CB4D-B187-26021C9C7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21283D-BD12-4875-AF80-4F52F686B3D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CF32B8-F448-4736-85DD-63E5A177F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08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wo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044BBBB-5C96-3A4C-B91C-AC2AB125BBA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0FBF85-F908-9543-AF8C-C05EF7A128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401187-5DE5-46F5-BE19-2596CA0E38C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4C5A4B9D-E5EB-4E0B-9B27-98BCC447BC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1315073"/>
            <a:ext cx="4040188" cy="32456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F1C83059-51E5-4C78-98F2-FD7F352BC5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5025" y="1315995"/>
            <a:ext cx="4040188" cy="323914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ED366-2A05-459B-9DF8-5BF698B7A4F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8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Three Columns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229600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82CE58-32D5-3345-8D45-4B2911CEF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HERE. ALL CAPS. WHITE. 24 PT.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A64F6-4B15-444C-BB90-5F5E8F3B38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 marL="1371532" indent="0">
              <a:buClr>
                <a:schemeClr val="bg2"/>
              </a:buClr>
              <a:buNone/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3504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3246120" y="1266131"/>
            <a:ext cx="2651760" cy="3294579"/>
          </a:xfrm>
        </p:spPr>
        <p:txBody>
          <a:bodyPr>
            <a:noAutofit/>
          </a:bodyPr>
          <a:lstStyle>
            <a:lvl1pPr>
              <a:buClr>
                <a:schemeClr val="accent1"/>
              </a:buClr>
              <a:defRPr sz="1600"/>
            </a:lvl1pPr>
            <a:lvl2pPr>
              <a:buClr>
                <a:schemeClr val="accent1"/>
              </a:buClr>
              <a:defRPr sz="1400"/>
            </a:lvl2pPr>
            <a:lvl3pPr>
              <a:buClr>
                <a:schemeClr val="accent1"/>
              </a:buClr>
              <a:defRPr sz="1200"/>
            </a:lvl3pPr>
            <a:lvl4pPr>
              <a:buClr>
                <a:schemeClr val="bg2"/>
              </a:buClr>
              <a:defRPr sz="1200"/>
            </a:lvl4pPr>
            <a:lvl5pPr>
              <a:buClr>
                <a:schemeClr val="bg2"/>
              </a:buCl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9F715-BBA8-46EE-81BA-5AB0ECF70A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458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3E82E80-41F8-5A4F-9047-2FA2E9AB9A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10"/>
            <a:ext cx="9144000" cy="5145024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BF84B69-E00D-6C48-AA83-A9DA1295FC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5" y="944993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563264-7759-FA45-9A58-015466D6032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57205" y="1318211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5C073DC-BC1C-4940-80D4-3F38B2AD95E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457205" y="1691429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phone number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218102-057F-FF40-966C-013A6C221BE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57205" y="2064647"/>
            <a:ext cx="3662979" cy="373218"/>
          </a:xfrm>
        </p:spPr>
        <p:txBody>
          <a:bodyPr anchor="ctr"/>
          <a:lstStyle>
            <a:lvl1pPr marL="0" indent="0">
              <a:buFont typeface="Arial"/>
              <a:buNone/>
              <a:defRPr baseline="0">
                <a:solidFill>
                  <a:schemeClr val="tx1"/>
                </a:solidFill>
              </a:defRPr>
            </a:lvl1pPr>
            <a:lvl2pPr marL="742913" indent="-285736">
              <a:buFont typeface="Arial"/>
              <a:buChar char="•"/>
              <a:defRPr>
                <a:solidFill>
                  <a:schemeClr val="bg1"/>
                </a:solidFill>
              </a:defRPr>
            </a:lvl2pPr>
            <a:lvl3pPr marL="1200090" indent="-285736">
              <a:buFont typeface="Arial"/>
              <a:buChar char="•"/>
              <a:defRPr>
                <a:solidFill>
                  <a:schemeClr val="bg1"/>
                </a:solidFill>
              </a:defRPr>
            </a:lvl3pPr>
            <a:lvl4pPr marL="1657268" indent="-285736">
              <a:buFont typeface="Arial"/>
              <a:buChar char="•"/>
              <a:defRPr>
                <a:solidFill>
                  <a:schemeClr val="bg1"/>
                </a:solidFill>
              </a:defRPr>
            </a:lvl4pPr>
            <a:lvl5pPr marL="2114445" indent="-285736">
              <a:buFont typeface="Arial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email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AFDEE-92E8-CE48-A6CF-DFDDF3E12574}"/>
              </a:ext>
            </a:extLst>
          </p:cNvPr>
          <p:cNvSpPr txBox="1"/>
          <p:nvPr userDrawn="1"/>
        </p:nvSpPr>
        <p:spPr>
          <a:xfrm>
            <a:off x="457204" y="404545"/>
            <a:ext cx="2700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all" spc="500" baseline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F7BA75-769F-DA48-8DE0-8D4D2DEC76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278E9DC-11A7-CF4E-B1F7-52C339AF06AB}"/>
              </a:ext>
            </a:extLst>
          </p:cNvPr>
          <p:cNvSpPr/>
          <p:nvPr userDrawn="1"/>
        </p:nvSpPr>
        <p:spPr>
          <a:xfrm>
            <a:off x="8503920" y="4747423"/>
            <a:ext cx="182880" cy="200055"/>
          </a:xfrm>
          <a:prstGeom prst="rect">
            <a:avLst/>
          </a:prstGeom>
        </p:spPr>
        <p:txBody>
          <a:bodyPr wrap="square" lIns="0" rIns="0" anchor="ctr">
            <a:spAutoFit/>
          </a:bodyPr>
          <a:lstStyle/>
          <a:p>
            <a:pPr algn="r"/>
            <a:fld id="{84BE33A8-B07C-4AE5-8AD6-5B92B3138622}" type="slidenum">
              <a:rPr lang="en-US" altLang="en-US" sz="700" b="0" i="0" smtClean="0">
                <a:solidFill>
                  <a:schemeClr val="bg1"/>
                </a:solidFill>
                <a:latin typeface="Arial Regular"/>
                <a:cs typeface="DIN-Light"/>
              </a:rPr>
              <a:pPr algn="r"/>
              <a:t>‹#›</a:t>
            </a:fld>
            <a:endParaRPr lang="en-US" sz="700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CF7E62-1891-41BC-9587-0F6EBB49CA1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1E743DC-CF5C-44AA-968C-C6DEF6F72FED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E127E-DD74-471A-8806-229EE1EAA77A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475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A440C-5DF3-4DDD-A00A-84F8F4748E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E18CA-2E4A-41D9-B678-28F90E51E0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411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| Black |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C24002-EE42-4430-9A4A-6C0B504FE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13F643C-EA7F-4290-95CD-262B9D0728F0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FB2B-E08A-4F60-8C05-86602CA65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8924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28034" cy="568875"/>
          </a:xfrm>
        </p:spPr>
        <p:txBody>
          <a:bodyPr/>
          <a:lstStyle/>
          <a:p>
            <a:r>
              <a:rPr lang="en-US" dirty="0"/>
              <a:t>TITLE HERE. ALL CAPS. BLACK.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958B17C-FE6E-4F59-A161-671D59ABF9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57200" y="875030"/>
            <a:ext cx="8428034" cy="30880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marL="0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HERE. ALL CAPS. TERRA COTTA. 11 PT.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95344" y="1231463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9534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2D8180D-0D8E-B642-AD57-6BA7F62375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57300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375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14426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280660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33388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786116" y="326237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Text Placeholder 59">
            <a:extLst>
              <a:ext uri="{FF2B5EF4-FFF2-40B4-BE49-F238E27FC236}">
                <a16:creationId xmlns:a16="http://schemas.microsoft.com/office/drawing/2014/main" id="{AAD068EC-C3F2-0F46-B6CB-4A760746362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54880" y="1354673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6396501-5E4A-4547-BD0E-75445D8F480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2571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603966A-E2D9-824B-A89F-EA677B9EFE1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144268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F306B794-F127-CD4A-AF19-BEEFCAA85BB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14426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34112D37-2205-B848-AC2E-BD4056D73F7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33757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F7F8772C-0E28-B04E-BD81-B40EF87AEC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33757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9227AD50-FBF9-A246-AF49-3CEF5A9B0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144268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9801118-1422-A14E-BD94-22F26787C13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144268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DA83B46F-FD84-814E-B725-028067D91D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895344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7608E6CD-ACB2-4A4E-99C9-BA790309A6C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95344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34273060-1F39-A54E-B595-D24001E81C2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80660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B3F8C38-E7FA-EC4B-B0EA-E8968653CAE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280660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C10AEC33-A230-184B-A765-7D4A74A8F4C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5428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9F2E478C-C4E9-4146-9EC3-D0C9AB7A659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5428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81E76849-5610-2C40-93D4-822EF3028FB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6505674" y="2272598"/>
            <a:ext cx="731520" cy="731520"/>
          </a:xfrm>
          <a:prstGeom prst="rect">
            <a:avLst/>
          </a:prstGeo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29" name="Text Placeholder 59">
            <a:extLst>
              <a:ext uri="{FF2B5EF4-FFF2-40B4-BE49-F238E27FC236}">
                <a16:creationId xmlns:a16="http://schemas.microsoft.com/office/drawing/2014/main" id="{11A9C59D-F39D-D14F-AF46-5BA85F56768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823460" y="2381424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695BFE7-6E66-EB4F-83FA-D531E3D06BC2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823460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81818247-7E1D-6647-BB1B-ACB36AE7600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364928" y="2380721"/>
            <a:ext cx="1554480" cy="365125"/>
          </a:xfrm>
          <a:prstGeom prst="rect">
            <a:avLst/>
          </a:prstGeo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BLACK.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4F1CECA1-565B-7540-B43C-49770A617EC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364928" y="2762403"/>
            <a:ext cx="1554480" cy="241715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5A430AF1-FF22-0A4E-9AAB-B6FEC573BCF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7786116" y="4087288"/>
            <a:ext cx="1099118" cy="218525"/>
          </a:xfrm>
          <a:prstGeom prst="rect">
            <a:avLst/>
          </a:prstGeo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BLACK. 8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99BD1052-19CC-5A4B-9443-95FF06B7100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786116" y="4316678"/>
            <a:ext cx="1099118" cy="246016"/>
          </a:xfrm>
          <a:prstGeom prst="rect">
            <a:avLst/>
          </a:prstGeo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ABBC995-616B-7C4C-B85E-C9DB4F03F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89692"/>
            <a:ext cx="1442719" cy="263723"/>
          </a:xfrm>
          <a:prstGeom prst="rect">
            <a:avLst/>
          </a:prstGeom>
        </p:spPr>
      </p:pic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F1AE9EA-E293-486F-B3CE-4BF2AB9EE23C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06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 |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50120"/>
            <a:ext cx="8492082" cy="568875"/>
          </a:xfrm>
        </p:spPr>
        <p:txBody>
          <a:bodyPr/>
          <a:lstStyle/>
          <a:p>
            <a:r>
              <a:rPr lang="en-US" dirty="0"/>
              <a:t>Title here. All caps. White. 24 pt.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D6962E5-3DA9-814E-8D8E-BA7C9106E7C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57200" y="875030"/>
            <a:ext cx="8492082" cy="308805"/>
          </a:xfrm>
        </p:spPr>
        <p:txBody>
          <a:bodyPr anchor="t">
            <a:normAutofit/>
          </a:bodyPr>
          <a:lstStyle>
            <a:lvl1pPr marL="0" indent="0">
              <a:buNone/>
              <a:defRPr sz="1100" b="0" cap="all" spc="200" baseline="0">
                <a:solidFill>
                  <a:schemeClr val="accent1"/>
                </a:solidFill>
              </a:defRPr>
            </a:lvl1pPr>
            <a:lvl2pPr marL="457178" indent="0">
              <a:buNone/>
              <a:defRPr sz="2000" b="1"/>
            </a:lvl2pPr>
            <a:lvl3pPr marL="914355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4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dirty="0"/>
              <a:t>SUBTITLE | ALL CAPS | TERRA COTTA | 11 PT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BFF238-972F-FB40-BE5D-68E2F1D9EC2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95344" y="1249997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8EC76AE-7BE5-294B-9BF4-53BFFAFF7E7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95344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E6A15E34-936C-DF49-858C-AB3A808ED2C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75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4C68ADBA-D7D6-D342-AE08-FD1C53F945E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14426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02ECDB4-5AD6-7C45-91D3-82FE33CE6D9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95344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B967F4E4-8CE7-2944-A00F-24639A4022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280660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6067C2E-8A1A-C24E-ABBB-BFD08C16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33388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356D8DE8-5B64-8D4D-9781-CB5B72A560F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786116" y="328091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227A2740-AC7D-7345-984A-5BD6779737F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6533388" y="2291132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15" name="Text Placeholder 59">
            <a:extLst>
              <a:ext uri="{FF2B5EF4-FFF2-40B4-BE49-F238E27FC236}">
                <a16:creationId xmlns:a16="http://schemas.microsoft.com/office/drawing/2014/main" id="{4ABFBA9D-330E-B447-889F-71B98260E15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54880" y="1365950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16" name="Text Placeholder 59">
            <a:extLst>
              <a:ext uri="{FF2B5EF4-FFF2-40B4-BE49-F238E27FC236}">
                <a16:creationId xmlns:a16="http://schemas.microsoft.com/office/drawing/2014/main" id="{29383DA9-35EB-A841-B8E8-066B4EA04E9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54880" y="1744247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17" name="Text Placeholder 59">
            <a:extLst>
              <a:ext uri="{FF2B5EF4-FFF2-40B4-BE49-F238E27FC236}">
                <a16:creationId xmlns:a16="http://schemas.microsoft.com/office/drawing/2014/main" id="{B4988776-510F-FE4F-9066-FE58CA4CE6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375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18" name="Text Placeholder 59">
            <a:extLst>
              <a:ext uri="{FF2B5EF4-FFF2-40B4-BE49-F238E27FC236}">
                <a16:creationId xmlns:a16="http://schemas.microsoft.com/office/drawing/2014/main" id="{5CA73BAF-90D6-DF40-BA83-5BBD69EFFCB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3375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EDE97D3D-175D-6149-AF76-3EF0663BC7E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11683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0" name="Text Placeholder 59">
            <a:extLst>
              <a:ext uri="{FF2B5EF4-FFF2-40B4-BE49-F238E27FC236}">
                <a16:creationId xmlns:a16="http://schemas.microsoft.com/office/drawing/2014/main" id="{07AEE21D-ADEA-DA47-A36B-ED05986C0A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1683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A3570388-CF93-E14C-8871-B14FC996C81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895344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B7D95C78-A9DC-5142-80B0-BEE8D025B55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5344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3" name="Text Placeholder 59">
            <a:extLst>
              <a:ext uri="{FF2B5EF4-FFF2-40B4-BE49-F238E27FC236}">
                <a16:creationId xmlns:a16="http://schemas.microsoft.com/office/drawing/2014/main" id="{5C20E454-7D71-6D49-8340-2C2C92BAB60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274485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4" name="Text Placeholder 59">
            <a:extLst>
              <a:ext uri="{FF2B5EF4-FFF2-40B4-BE49-F238E27FC236}">
                <a16:creationId xmlns:a16="http://schemas.microsoft.com/office/drawing/2014/main" id="{DC2A92B2-B90B-AC44-8367-CC89EF3178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274485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5" name="Text Placeholder 59">
            <a:extLst>
              <a:ext uri="{FF2B5EF4-FFF2-40B4-BE49-F238E27FC236}">
                <a16:creationId xmlns:a16="http://schemas.microsoft.com/office/drawing/2014/main" id="{DAA62298-769A-A843-804C-507D94C7C8D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53325" y="4137254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6" name="Text Placeholder 59">
            <a:extLst>
              <a:ext uri="{FF2B5EF4-FFF2-40B4-BE49-F238E27FC236}">
                <a16:creationId xmlns:a16="http://schemas.microsoft.com/office/drawing/2014/main" id="{90DB92DC-5B96-6947-9102-329E9AD6B4B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53325" y="4366644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7" name="Text Placeholder 59">
            <a:extLst>
              <a:ext uri="{FF2B5EF4-FFF2-40B4-BE49-F238E27FC236}">
                <a16:creationId xmlns:a16="http://schemas.microsoft.com/office/drawing/2014/main" id="{11145940-26F6-D345-AEB5-DB00F76C7F1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7786116" y="4134438"/>
            <a:ext cx="1099118" cy="218525"/>
          </a:xfrm>
        </p:spPr>
        <p:txBody>
          <a:bodyPr lIns="0" bIns="0" anchor="b"/>
          <a:lstStyle>
            <a:lvl1pPr marL="7938" marR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800" cap="all" baseline="0">
                <a:solidFill>
                  <a:schemeClr val="tx1"/>
                </a:solidFill>
              </a:defRPr>
            </a:lvl1pPr>
          </a:lstStyle>
          <a:p>
            <a:pPr marL="7938" marR="0" lvl="0" indent="0" algn="l" defTabSz="4571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 HERE. ALL CAPS. WHITE. 8 PT.</a:t>
            </a:r>
          </a:p>
        </p:txBody>
      </p:sp>
      <p:sp>
        <p:nvSpPr>
          <p:cNvPr id="28" name="Text Placeholder 59">
            <a:extLst>
              <a:ext uri="{FF2B5EF4-FFF2-40B4-BE49-F238E27FC236}">
                <a16:creationId xmlns:a16="http://schemas.microsoft.com/office/drawing/2014/main" id="{7FC80356-24FA-3340-B9FC-DE1492BFA62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786116" y="4363828"/>
            <a:ext cx="1099118" cy="246016"/>
          </a:xfrm>
        </p:spPr>
        <p:txBody>
          <a:bodyPr lIns="0" bIns="0" anchor="t" anchorCtr="0"/>
          <a:lstStyle>
            <a:lvl1pPr marL="7938" indent="0">
              <a:buNone/>
              <a:defRPr sz="8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8 pt.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F8E227CA-C8B1-FD4F-9719-AC576682CC3A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53312" y="2275650"/>
            <a:ext cx="731520" cy="731520"/>
          </a:xfrm>
        </p:spPr>
        <p:txBody>
          <a:bodyPr anchor="ctr"/>
          <a:lstStyle>
            <a:lvl1pPr marL="7938" indent="0" algn="ctr">
              <a:buNone/>
              <a:defRPr sz="750"/>
            </a:lvl1pPr>
          </a:lstStyle>
          <a:p>
            <a:r>
              <a:rPr lang="en-US" dirty="0"/>
              <a:t>HEADSHOT HERE</a:t>
            </a: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479DAFC0-5785-0446-A3E7-5BF65BCC02A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4754880" y="241120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1" name="Text Placeholder 59">
            <a:extLst>
              <a:ext uri="{FF2B5EF4-FFF2-40B4-BE49-F238E27FC236}">
                <a16:creationId xmlns:a16="http://schemas.microsoft.com/office/drawing/2014/main" id="{01FF4553-5F63-074B-8CB3-DF55725FEFB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754880" y="2784228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2" name="Text Placeholder 59">
            <a:extLst>
              <a:ext uri="{FF2B5EF4-FFF2-40B4-BE49-F238E27FC236}">
                <a16:creationId xmlns:a16="http://schemas.microsoft.com/office/drawing/2014/main" id="{2ACC479D-100C-AB4A-B437-FFCD18495B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188386" y="2395998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3" name="Text Placeholder 59">
            <a:extLst>
              <a:ext uri="{FF2B5EF4-FFF2-40B4-BE49-F238E27FC236}">
                <a16:creationId xmlns:a16="http://schemas.microsoft.com/office/drawing/2014/main" id="{F88A7EF7-25F7-5349-8978-9A5DA5F3109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188386" y="2774295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4" name="Text Placeholder 59">
            <a:extLst>
              <a:ext uri="{FF2B5EF4-FFF2-40B4-BE49-F238E27FC236}">
                <a16:creationId xmlns:a16="http://schemas.microsoft.com/office/drawing/2014/main" id="{F442EBC6-A1C6-C446-97E7-801C6B76BA9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394802" y="2389659"/>
            <a:ext cx="1554480" cy="365125"/>
          </a:xfrm>
        </p:spPr>
        <p:txBody>
          <a:bodyPr lIns="0" bIns="0" anchor="b"/>
          <a:lstStyle>
            <a:lvl1pPr marL="7938" indent="0">
              <a:buNone/>
              <a:defRPr sz="9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NAME HERE. ALL CAPS. WHITE. 9 PT.</a:t>
            </a:r>
          </a:p>
        </p:txBody>
      </p:sp>
      <p:sp>
        <p:nvSpPr>
          <p:cNvPr id="35" name="Text Placeholder 59">
            <a:extLst>
              <a:ext uri="{FF2B5EF4-FFF2-40B4-BE49-F238E27FC236}">
                <a16:creationId xmlns:a16="http://schemas.microsoft.com/office/drawing/2014/main" id="{AB54CC23-A2BA-0E4F-BE56-2BD32D275D0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7394802" y="2767956"/>
            <a:ext cx="1554480" cy="241715"/>
          </a:xfrm>
        </p:spPr>
        <p:txBody>
          <a:bodyPr lIns="0" bIns="0" anchor="t" anchorCtr="0"/>
          <a:lstStyle>
            <a:lvl1pPr marL="7938" indent="0">
              <a:buNone/>
              <a:defRPr sz="900" cap="none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Title Here. Lowercase. 9 pt.</a:t>
            </a: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EB862910-D742-4D11-A987-CE16A6571602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17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79AB74-2B2F-4AC9-AE75-7BF81C9F8FAB}"/>
              </a:ext>
            </a:extLst>
          </p:cNvPr>
          <p:cNvPicPr>
            <a:picLocks noChangeAspect="1"/>
          </p:cNvPicPr>
          <p:nvPr userDrawn="1"/>
        </p:nvPicPr>
        <p:blipFill>
          <a:blip r:embed="rId5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360" y="4699929"/>
            <a:ext cx="1442719" cy="26372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51560"/>
            <a:ext cx="8229600" cy="3530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50120"/>
            <a:ext cx="8229600" cy="5688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 HERE. ALL CAPS. WHITE. 24 PT.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60F46-2E67-474C-9893-046DAFD1D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0" y="4828032"/>
            <a:ext cx="3936492" cy="13716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lang="en-US" sz="600" spc="0" baseline="0" dirty="0">
                <a:solidFill>
                  <a:schemeClr val="accent1"/>
                </a:solidFill>
              </a:defRPr>
            </a:lvl1pPr>
          </a:lstStyle>
          <a:p>
            <a:r>
              <a:rPr lang="en-US"/>
              <a:t>Collins Aerospace Proprietary. This document contains no export controlled technical data.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CF54B63-FF67-41F9-A6DA-2E8C49D4A399}"/>
              </a:ext>
            </a:extLst>
          </p:cNvPr>
          <p:cNvSpPr txBox="1">
            <a:spLocks/>
          </p:cNvSpPr>
          <p:nvPr userDrawn="1"/>
        </p:nvSpPr>
        <p:spPr>
          <a:xfrm>
            <a:off x="4005943" y="4709977"/>
            <a:ext cx="4497977" cy="13731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600" b="0" kern="800" spc="4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  <a:cs typeface="DIN-Light"/>
              </a:rPr>
              <a:t>© 2020 </a:t>
            </a:r>
            <a:r>
              <a:rPr lang="en-US" dirty="0">
                <a:solidFill>
                  <a:schemeClr val="tx1"/>
                </a:solidFill>
              </a:rPr>
              <a:t>Collins Aerospace, a United Technologies company. All rights reserved.</a:t>
            </a:r>
            <a:endParaRPr lang="en-US" dirty="0">
              <a:solidFill>
                <a:schemeClr val="accent1"/>
              </a:solidFill>
              <a:cs typeface="DIN-Light"/>
              <a:sym typeface="Verdan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26748-83C3-467A-9DF6-CC369EE24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03920" y="4745736"/>
            <a:ext cx="228600" cy="200055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>
              <a:defRPr lang="en-US" sz="700" b="0" i="0" smtClean="0">
                <a:latin typeface="Arial Regular"/>
                <a:cs typeface="DIN-Light"/>
              </a:defRPr>
            </a:lvl1pPr>
          </a:lstStyle>
          <a:p>
            <a:pPr algn="r"/>
            <a:fld id="{01517C5A-21C8-4A78-AA4B-D0D5DD5ADE52}" type="slidenum">
              <a:rPr lang="en-US" smtClean="0"/>
              <a:pPr algn="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254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01" r:id="rId1"/>
    <p:sldLayoutId id="2147484104" r:id="rId2"/>
    <p:sldLayoutId id="2147484106" r:id="rId3"/>
    <p:sldLayoutId id="2147484108" r:id="rId4"/>
    <p:sldLayoutId id="2147484328" r:id="rId5"/>
    <p:sldLayoutId id="2147484133" r:id="rId6"/>
    <p:sldLayoutId id="2147484329" r:id="rId7"/>
    <p:sldLayoutId id="2147484335" r:id="rId8"/>
    <p:sldLayoutId id="2147484343" r:id="rId9"/>
    <p:sldLayoutId id="2147484351" r:id="rId10"/>
    <p:sldLayoutId id="2147484353" r:id="rId11"/>
    <p:sldLayoutId id="2147484404" r:id="rId12"/>
    <p:sldLayoutId id="2147484405" r:id="rId13"/>
    <p:sldLayoutId id="2147484383" r:id="rId14"/>
    <p:sldLayoutId id="2147484384" r:id="rId15"/>
    <p:sldLayoutId id="2147484385" r:id="rId16"/>
    <p:sldLayoutId id="2147484386" r:id="rId17"/>
    <p:sldLayoutId id="2147484387" r:id="rId18"/>
    <p:sldLayoutId id="2147484389" r:id="rId19"/>
    <p:sldLayoutId id="2147484390" r:id="rId20"/>
    <p:sldLayoutId id="2147484391" r:id="rId21"/>
    <p:sldLayoutId id="2147484342" r:id="rId22"/>
    <p:sldLayoutId id="2147484393" r:id="rId23"/>
    <p:sldLayoutId id="2147484406" r:id="rId24"/>
    <p:sldLayoutId id="2147484183" r:id="rId25"/>
    <p:sldLayoutId id="2147484398" r:id="rId26"/>
    <p:sldLayoutId id="2147484399" r:id="rId27"/>
    <p:sldLayoutId id="2147484243" r:id="rId28"/>
    <p:sldLayoutId id="2147484244" r:id="rId29"/>
    <p:sldLayoutId id="2147484245" r:id="rId30"/>
    <p:sldLayoutId id="2147484246" r:id="rId31"/>
    <p:sldLayoutId id="2147484357" r:id="rId32"/>
    <p:sldLayoutId id="2147484358" r:id="rId33"/>
    <p:sldLayoutId id="2147484247" r:id="rId34"/>
    <p:sldLayoutId id="2147484248" r:id="rId35"/>
    <p:sldLayoutId id="2147484316" r:id="rId36"/>
    <p:sldLayoutId id="2147484252" r:id="rId37"/>
    <p:sldLayoutId id="2147484407" r:id="rId38"/>
    <p:sldLayoutId id="2147484409" r:id="rId39"/>
    <p:sldLayoutId id="2147484410" r:id="rId40"/>
    <p:sldLayoutId id="2147484411" r:id="rId41"/>
    <p:sldLayoutId id="2147484412" r:id="rId42"/>
    <p:sldLayoutId id="2147484425" r:id="rId43"/>
    <p:sldLayoutId id="2147484426" r:id="rId44"/>
    <p:sldLayoutId id="2147484417" r:id="rId45"/>
    <p:sldLayoutId id="2147484418" r:id="rId46"/>
    <p:sldLayoutId id="2147484420" r:id="rId47"/>
    <p:sldLayoutId id="2147484421" r:id="rId48"/>
    <p:sldLayoutId id="2147484422" r:id="rId49"/>
    <p:sldLayoutId id="2147484423" r:id="rId50"/>
    <p:sldLayoutId id="2147484424" r:id="rId51"/>
  </p:sldLayoutIdLst>
  <p:hf sldNum="0" hdr="0" dt="0"/>
  <p:txStyles>
    <p:titleStyle>
      <a:lvl1pPr algn="l" defTabSz="457178" rtl="0" eaLnBrk="1" latinLnBrk="0" hangingPunct="1">
        <a:spcBef>
          <a:spcPct val="0"/>
        </a:spcBef>
        <a:buNone/>
        <a:defRPr sz="2400" b="0" i="0" kern="1200" cap="all" spc="3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33363" indent="-233363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5425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4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8" algn="l" defTabSz="457178" rtl="0" eaLnBrk="1" latinLnBrk="0" hangingPunct="1">
        <a:spcBef>
          <a:spcPct val="20000"/>
        </a:spcBef>
        <a:buClr>
          <a:schemeClr val="accent1"/>
        </a:buClr>
        <a:buFont typeface="Arial"/>
        <a:buChar char="–"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8" algn="l" defTabSz="457178" rtl="0" eaLnBrk="1" latinLnBrk="0" hangingPunct="1">
        <a:spcBef>
          <a:spcPct val="20000"/>
        </a:spcBef>
        <a:buClr>
          <a:schemeClr val="accent2"/>
        </a:buClr>
        <a:buFont typeface="Arial"/>
        <a:buChar char="»"/>
        <a:defRPr sz="1200" kern="1200">
          <a:solidFill>
            <a:schemeClr val="accent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4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8" algn="l" defTabSz="457178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4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4571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4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2.png"/><Relationship Id="rId7" Type="http://schemas.openxmlformats.org/officeDocument/2006/relationships/hyperlink" Target="https://urldefense.proofpoint.com/v2/url?u=http-3A__www.ccs.neu.edu_home_pete_research_rams-2D2019.html&amp;d=DwMFaQ&amp;c=ilBQI1lupc9Y65XwNblLtw&amp;r=wcAsJbj9Zd0cSZ1AMD8z5DYALfmeBzM3-u5jDKTTskQ&amp;m=BWwMggdwf8CtqRGM3WjWwiiaAixj7zzkBerPp9rF-Jo&amp;s=DX3jJ9i0D1__JD3ebLvc82ipsRRQesdZs5OTshNylPw&amp;e=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A0DA5B-153E-4AFD-AA74-E41B1469F4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Collins Aerospace Proprietary. This document contains no export controlled technical data.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0A2CDF-3DD7-E541-A880-CC726881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Safety Annex </a:t>
            </a:r>
            <a:r>
              <a:rPr lang="en-US" smtClean="0"/>
              <a:t>for The </a:t>
            </a:r>
            <a:r>
              <a:rPr lang="en-US" dirty="0"/>
              <a:t>Architecture Analysis and Design Language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B12D8-7BFE-1F4C-A24C-87EFF07805C7}"/>
              </a:ext>
            </a:extLst>
          </p:cNvPr>
          <p:cNvSpPr>
            <a:spLocks noGrp="1"/>
          </p:cNvSpPr>
          <p:nvPr>
            <p:ph idx="28"/>
          </p:nvPr>
        </p:nvSpPr>
        <p:spPr/>
        <p:txBody>
          <a:bodyPr/>
          <a:lstStyle/>
          <a:p>
            <a:r>
              <a:rPr lang="en-US" dirty="0"/>
              <a:t>Embedded Real Time Systems </a:t>
            </a:r>
            <a:endParaRPr lang="en-US" dirty="0" smtClean="0"/>
          </a:p>
          <a:p>
            <a:r>
              <a:rPr lang="en-US" dirty="0" smtClean="0"/>
              <a:t>January </a:t>
            </a:r>
            <a:r>
              <a:rPr lang="en-US" dirty="0"/>
              <a:t>2020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 bwMode="auto">
          <a:xfrm>
            <a:off x="457200" y="2064504"/>
            <a:ext cx="57150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en-US" sz="1200" b="1" dirty="0"/>
              <a:t>Danielle Stewart</a:t>
            </a:r>
            <a:r>
              <a:rPr lang="en-US" sz="1200" dirty="0"/>
              <a:t>, Jing (Janet) Liu, Darren </a:t>
            </a:r>
            <a:r>
              <a:rPr lang="en-US" sz="1200" dirty="0" err="1"/>
              <a:t>Cofer</a:t>
            </a:r>
            <a:r>
              <a:rPr lang="en-US" sz="1200" dirty="0"/>
              <a:t>, </a:t>
            </a:r>
          </a:p>
          <a:p>
            <a:r>
              <a:rPr lang="en-US" sz="1200" dirty="0"/>
              <a:t>Mats </a:t>
            </a:r>
            <a:r>
              <a:rPr lang="en-US" sz="1200" dirty="0" err="1"/>
              <a:t>Heimdahl</a:t>
            </a:r>
            <a:r>
              <a:rPr lang="en-US" sz="1200" dirty="0"/>
              <a:t>, Michael Whalen, Michael Peterson</a:t>
            </a:r>
          </a:p>
          <a:p>
            <a:endParaRPr lang="en-US" sz="1200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04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safety assessment process Guidelines</a:t>
            </a:r>
            <a:endParaRPr lang="en-US" dirty="0"/>
          </a:p>
        </p:txBody>
      </p:sp>
      <p:sp>
        <p:nvSpPr>
          <p:cNvPr id="7" name="Cube 6"/>
          <p:cNvSpPr/>
          <p:nvPr/>
        </p:nvSpPr>
        <p:spPr>
          <a:xfrm>
            <a:off x="228600" y="2969335"/>
            <a:ext cx="3613162" cy="974015"/>
          </a:xfrm>
          <a:prstGeom prst="cub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dirty="0">
                <a:solidFill>
                  <a:schemeClr val="tx1"/>
                </a:solidFill>
              </a:rPr>
              <a:t>ARP4761: Guidelines and Methods for Conducting the Safety Assessment Process on Civil Airborne Systems and Equipment</a:t>
            </a:r>
          </a:p>
        </p:txBody>
      </p:sp>
      <p:sp>
        <p:nvSpPr>
          <p:cNvPr id="10" name="TextBox 70"/>
          <p:cNvSpPr txBox="1">
            <a:spLocks noChangeArrowheads="1"/>
          </p:cNvSpPr>
          <p:nvPr/>
        </p:nvSpPr>
        <p:spPr bwMode="auto">
          <a:xfrm>
            <a:off x="2011447" y="2371553"/>
            <a:ext cx="190741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Provides Safety Guidelines and Methods</a:t>
            </a:r>
          </a:p>
        </p:txBody>
      </p:sp>
      <p:cxnSp>
        <p:nvCxnSpPr>
          <p:cNvPr id="11" name="Straight Arrow Connector 10"/>
          <p:cNvCxnSpPr>
            <a:endCxn id="12" idx="3"/>
          </p:cNvCxnSpPr>
          <p:nvPr/>
        </p:nvCxnSpPr>
        <p:spPr>
          <a:xfrm flipH="1" flipV="1">
            <a:off x="1916824" y="2212352"/>
            <a:ext cx="10413" cy="75698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be 11"/>
          <p:cNvSpPr/>
          <p:nvPr/>
        </p:nvSpPr>
        <p:spPr>
          <a:xfrm>
            <a:off x="740919" y="1455369"/>
            <a:ext cx="2541056" cy="756983"/>
          </a:xfrm>
          <a:prstGeom prst="cub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chemeClr val="tx1"/>
                </a:solidFill>
              </a:rPr>
              <a:t>ARP4754A: Guidelines for Development of Civil Aircraft and Systems</a:t>
            </a:r>
            <a:endParaRPr lang="en-US" sz="1200" dirty="0"/>
          </a:p>
        </p:txBody>
      </p:sp>
      <p:sp>
        <p:nvSpPr>
          <p:cNvPr id="6" name="Rectangle 5"/>
          <p:cNvSpPr/>
          <p:nvPr/>
        </p:nvSpPr>
        <p:spPr>
          <a:xfrm>
            <a:off x="3944344" y="961093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33357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350" dirty="0"/>
              <a:t>ARP4754A provides guidance on applying development assurance at each hierarchical level throughout the development life cycle of highly-integrated/complex aircraft systems to establish the assurance process. </a:t>
            </a:r>
          </a:p>
          <a:p>
            <a:pPr marL="233357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350" dirty="0">
                <a:latin typeface="NimbusRomNo9L-Regu"/>
              </a:rPr>
              <a:t>The safety assessment process is used to show compliance with certification requirements and for meeting a company’s internal safety standards.</a:t>
            </a:r>
          </a:p>
          <a:p>
            <a:pPr marL="233357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350" dirty="0"/>
              <a:t>ARP4761 identifies a systematic means to show compliance, including:</a:t>
            </a:r>
          </a:p>
          <a:p>
            <a:pPr marL="576257" lvl="1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350" dirty="0"/>
              <a:t>Preliminary System Safety Assessment (PSSA) that evaluates the proposed system design and defines safety requirements</a:t>
            </a:r>
          </a:p>
          <a:p>
            <a:pPr marL="576257" lvl="1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350" dirty="0"/>
              <a:t>System Safety Assessment (SSA) that evaluates the implemented system to show that safety requirements defined in the PSSA and certification regulation documentation are in fact satisfied.</a:t>
            </a:r>
          </a:p>
          <a:p>
            <a:pPr marL="233357" indent="-225419" defTabSz="457166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35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0095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6134078" y="1037844"/>
            <a:ext cx="2899683" cy="3362706"/>
          </a:xfrm>
        </p:spPr>
        <p:txBody>
          <a:bodyPr/>
          <a:lstStyle/>
          <a:p>
            <a:r>
              <a:rPr lang="en-US" sz="1350" dirty="0"/>
              <a:t>Completeness of the traditional system safety analysis artifacts is subjective and dependent on the skill of the practitioner</a:t>
            </a:r>
          </a:p>
          <a:p>
            <a:r>
              <a:rPr lang="en-US" sz="1350" dirty="0"/>
              <a:t>Based on informal (or non-existent) system models that are incomplete, imprecise, possibly inconsistent</a:t>
            </a:r>
          </a:p>
          <a:p>
            <a:r>
              <a:rPr lang="en-US" sz="1350" dirty="0"/>
              <a:t>Architectural details about the system behavior gathered from multiple sources</a:t>
            </a:r>
          </a:p>
          <a:p>
            <a:r>
              <a:rPr lang="en-US" sz="1350" dirty="0"/>
              <a:t>Developing adequate understanding especially for software components is a difficult and time consuming endeavor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Traditional safety assessment process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66419"/>
            <a:ext cx="5905478" cy="3305556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5388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550"/>
            <a:ext cx="6096001" cy="3429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sz="half" idx="2"/>
          </p:nvPr>
        </p:nvSpPr>
        <p:spPr>
          <a:xfrm>
            <a:off x="5869942" y="1161288"/>
            <a:ext cx="3159758" cy="667512"/>
          </a:xfrm>
        </p:spPr>
        <p:txBody>
          <a:bodyPr/>
          <a:lstStyle/>
          <a:p>
            <a:r>
              <a:rPr lang="en-US" sz="1350" dirty="0"/>
              <a:t>Have system developers and safety engineers use the same system models created during a model-based development process</a:t>
            </a:r>
          </a:p>
          <a:p>
            <a:r>
              <a:rPr lang="en-US" sz="1350" dirty="0"/>
              <a:t>Extend system model to add capabilities for reasoning about faulty behaviors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03244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08097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08097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348463"/>
            <a:ext cx="1584711" cy="138499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56131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58651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2794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89483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3409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89483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38618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85690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46685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69539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39018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58308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721916"/>
            <a:ext cx="0" cy="131710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 rot="2096469">
            <a:off x="7694162" y="1133736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Starts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 rot="1640165">
            <a:off x="3989462" y="3731854"/>
            <a:ext cx="936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</a:rPr>
              <a:t>Ends</a:t>
            </a:r>
            <a:endParaRPr lang="en-US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07107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will help safety analysts do this?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Shared model</a:t>
            </a:r>
          </a:p>
          <a:p>
            <a:pPr lvl="1"/>
            <a:r>
              <a:rPr lang="en-US" dirty="0"/>
              <a:t>Modeling language expressive enough to capture HW/SW, standard language</a:t>
            </a:r>
          </a:p>
          <a:p>
            <a:r>
              <a:rPr lang="en-US" dirty="0" smtClean="0"/>
              <a:t>Flexible </a:t>
            </a:r>
            <a:r>
              <a:rPr lang="en-US" dirty="0"/>
              <a:t>error propagations</a:t>
            </a:r>
          </a:p>
          <a:p>
            <a:pPr lvl="1"/>
            <a:r>
              <a:rPr lang="en-US" dirty="0"/>
              <a:t>Behavioral AND explicit propagations</a:t>
            </a:r>
          </a:p>
          <a:p>
            <a:r>
              <a:rPr lang="en-US" dirty="0" smtClean="0"/>
              <a:t>Flexible </a:t>
            </a:r>
            <a:r>
              <a:rPr lang="en-US" dirty="0"/>
              <a:t>fault modeling</a:t>
            </a:r>
          </a:p>
          <a:p>
            <a:pPr lvl="1"/>
            <a:r>
              <a:rPr lang="en-US" dirty="0"/>
              <a:t>Symmetric, asymmetric, dependent, independent</a:t>
            </a:r>
          </a:p>
          <a:p>
            <a:r>
              <a:rPr lang="en-US" dirty="0" smtClean="0"/>
              <a:t>Backend </a:t>
            </a:r>
            <a:r>
              <a:rPr lang="en-US" dirty="0"/>
              <a:t>model checker</a:t>
            </a:r>
          </a:p>
          <a:p>
            <a:pPr lvl="1"/>
            <a:r>
              <a:rPr lang="en-US" dirty="0"/>
              <a:t>Used to assess design with or without active faults</a:t>
            </a:r>
          </a:p>
          <a:p>
            <a:r>
              <a:rPr lang="en-US" dirty="0" smtClean="0"/>
              <a:t>Ability </a:t>
            </a:r>
            <a:r>
              <a:rPr lang="en-US" dirty="0"/>
              <a:t>to generate assessment artifacts</a:t>
            </a:r>
          </a:p>
          <a:p>
            <a:pPr lvl="1"/>
            <a:r>
              <a:rPr lang="en-US" dirty="0"/>
              <a:t>System traces, counterexamples, minimal cut sets, fault trees, etc.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601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Closely Related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EMV2:</a:t>
            </a:r>
          </a:p>
          <a:p>
            <a:pPr lvl="1"/>
            <a:r>
              <a:rPr lang="en-US" dirty="0"/>
              <a:t>Model based, generates artifacts, captures propagations </a:t>
            </a:r>
            <a:r>
              <a:rPr lang="en-US" dirty="0" smtClean="0"/>
              <a:t>explicitly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COMPASS:</a:t>
            </a:r>
          </a:p>
          <a:p>
            <a:pPr lvl="1"/>
            <a:r>
              <a:rPr lang="en-US" dirty="0"/>
              <a:t>Model based, generates artifacts, captures behavioral and explicit propagations, </a:t>
            </a:r>
            <a:r>
              <a:rPr lang="en-US" dirty="0" smtClean="0"/>
              <a:t>is not an </a:t>
            </a:r>
            <a:r>
              <a:rPr lang="en-US" dirty="0"/>
              <a:t>SAE standard language: not as </a:t>
            </a:r>
            <a:r>
              <a:rPr lang="en-US" dirty="0" smtClean="0"/>
              <a:t>descriptive </a:t>
            </a:r>
            <a:r>
              <a:rPr lang="en-US" dirty="0"/>
              <a:t>as AADL for real-time embedded systems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798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354767"/>
            <a:ext cx="1584711" cy="1384995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728220"/>
            <a:ext cx="0" cy="131710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235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AADL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grpSp>
        <p:nvGrpSpPr>
          <p:cNvPr id="22" name="Group 3"/>
          <p:cNvGrpSpPr/>
          <p:nvPr/>
        </p:nvGrpSpPr>
        <p:grpSpPr>
          <a:xfrm>
            <a:off x="400050" y="1257300"/>
            <a:ext cx="4857750" cy="2457450"/>
            <a:chOff x="1371600" y="1389376"/>
            <a:chExt cx="6553200" cy="3462753"/>
          </a:xfrm>
        </p:grpSpPr>
        <p:pic>
          <p:nvPicPr>
            <p:cNvPr id="23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1600" y="1389376"/>
              <a:ext cx="6553200" cy="34627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" name="Picture 23" descr="pixhawk.jpg"/>
            <p:cNvPicPr>
              <a:picLocks noChangeAspect="1"/>
            </p:cNvPicPr>
            <p:nvPr/>
          </p:nvPicPr>
          <p:blipFill>
            <a:blip r:embed="rId4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97057" y="3581400"/>
              <a:ext cx="838200" cy="838200"/>
            </a:xfrm>
            <a:prstGeom prst="rect">
              <a:avLst/>
            </a:prstGeom>
          </p:spPr>
        </p:pic>
        <p:pic>
          <p:nvPicPr>
            <p:cNvPr id="25" name="Picture 2" descr="http://dn.odroid.com/homebackup/ODROID-XU3.jpg"/>
            <p:cNvPicPr>
              <a:picLocks noChangeAspect="1" noChangeArrowheads="1"/>
            </p:cNvPicPr>
            <p:nvPr/>
          </p:nvPicPr>
          <p:blipFill>
            <a:blip r:embed="rId5" cstate="email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3581400"/>
              <a:ext cx="1161394" cy="6736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Rectangle 19"/>
          <p:cNvSpPr/>
          <p:nvPr/>
        </p:nvSpPr>
        <p:spPr>
          <a:xfrm>
            <a:off x="4834581" y="3371850"/>
            <a:ext cx="4286250" cy="1028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/>
              <a:t>AADL = SAE AS5506 standard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Target: Embedded, real-time, distributed systems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Describes both hardware and software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Extensible syntax (annex)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/>
              <a:t>Open source tools, supported by SEI</a:t>
            </a:r>
          </a:p>
        </p:txBody>
      </p:sp>
      <p:grpSp>
        <p:nvGrpSpPr>
          <p:cNvPr id="26" name="Group 2049"/>
          <p:cNvGrpSpPr/>
          <p:nvPr/>
        </p:nvGrpSpPr>
        <p:grpSpPr>
          <a:xfrm>
            <a:off x="3086099" y="483459"/>
            <a:ext cx="5498144" cy="2576345"/>
            <a:chOff x="4195157" y="1392808"/>
            <a:chExt cx="4753920" cy="2080852"/>
          </a:xfrm>
        </p:grpSpPr>
        <p:pic>
          <p:nvPicPr>
            <p:cNvPr id="27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4154" y="1392808"/>
              <a:ext cx="3604923" cy="2080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28" name="Straight Connector 27"/>
            <p:cNvCxnSpPr/>
            <p:nvPr/>
          </p:nvCxnSpPr>
          <p:spPr>
            <a:xfrm flipV="1">
              <a:off x="4195157" y="1485139"/>
              <a:ext cx="1553086" cy="624999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280410" y="2574213"/>
              <a:ext cx="1447800" cy="838200"/>
            </a:xfrm>
            <a:prstGeom prst="line">
              <a:avLst/>
            </a:prstGeom>
            <a:ln w="57150">
              <a:solidFill>
                <a:srgbClr val="FFC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2763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550"/>
            <a:ext cx="8229600" cy="568875"/>
          </a:xfrm>
        </p:spPr>
        <p:txBody>
          <a:bodyPr/>
          <a:lstStyle/>
          <a:p>
            <a:r>
              <a:rPr lang="en-US" dirty="0"/>
              <a:t>Assume-Guarantee Reasoning Environment (AGREE)</a:t>
            </a:r>
            <a:endParaRPr lang="en-US" sz="135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0"/>
          </p:nvPr>
        </p:nvSpPr>
        <p:spPr>
          <a:xfrm>
            <a:off x="285750" y="2571750"/>
            <a:ext cx="5005559" cy="1714728"/>
          </a:xfrm>
        </p:spPr>
        <p:txBody>
          <a:bodyPr/>
          <a:lstStyle/>
          <a:p>
            <a:r>
              <a:rPr lang="en-US" sz="1500" dirty="0"/>
              <a:t>Each component has a contract consisting of assumptions and guarantees</a:t>
            </a:r>
          </a:p>
          <a:p>
            <a:pPr lvl="1"/>
            <a:r>
              <a:rPr lang="en-US" dirty="0" smtClean="0"/>
              <a:t>Assumptions</a:t>
            </a:r>
            <a:r>
              <a:rPr lang="en-US" dirty="0"/>
              <a:t>: Constraints over what a component expects from its environment</a:t>
            </a:r>
          </a:p>
          <a:p>
            <a:pPr lvl="1"/>
            <a:r>
              <a:rPr lang="en-US" dirty="0"/>
              <a:t>Guarantees: Constraints over how a component behaves in response to its environment (requirements</a:t>
            </a:r>
            <a:r>
              <a:rPr lang="en-US" dirty="0" smtClean="0"/>
              <a:t>)</a:t>
            </a:r>
            <a:endParaRPr 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7130E-3FF9-455A-A1CC-4E75A71694C4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pic>
        <p:nvPicPr>
          <p:cNvPr id="3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66"/>
          <a:stretch/>
        </p:blipFill>
        <p:spPr bwMode="auto">
          <a:xfrm>
            <a:off x="996939" y="1282762"/>
            <a:ext cx="1490329" cy="111013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9" name="Picture 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55" t="3514" r="8140" b="15359"/>
          <a:stretch/>
        </p:blipFill>
        <p:spPr bwMode="auto">
          <a:xfrm>
            <a:off x="2544418" y="1257956"/>
            <a:ext cx="1371600" cy="1134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1250390" y="971550"/>
            <a:ext cx="24737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50" b="1" dirty="0">
                <a:solidFill>
                  <a:schemeClr val="accent1"/>
                </a:solidFill>
              </a:rPr>
              <a:t>Component Implementation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2682" y="1591121"/>
            <a:ext cx="2051896" cy="10858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421605" y="176257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379974" y="170542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086526" y="2219771"/>
            <a:ext cx="629756" cy="400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5" name="Down Arrow 44"/>
          <p:cNvSpPr/>
          <p:nvPr/>
        </p:nvSpPr>
        <p:spPr>
          <a:xfrm>
            <a:off x="7265007" y="2485192"/>
            <a:ext cx="272794" cy="39547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5689843" y="1185820"/>
            <a:ext cx="164306" cy="2907506"/>
          </a:xfrm>
          <a:custGeom>
            <a:avLst/>
            <a:gdLst>
              <a:gd name="connsiteX0" fmla="*/ 219075 w 219075"/>
              <a:gd name="connsiteY0" fmla="*/ 0 h 3876675"/>
              <a:gd name="connsiteX1" fmla="*/ 0 w 219075"/>
              <a:gd name="connsiteY1" fmla="*/ 0 h 3876675"/>
              <a:gd name="connsiteX2" fmla="*/ 9525 w 219075"/>
              <a:gd name="connsiteY2" fmla="*/ 3876675 h 3876675"/>
              <a:gd name="connsiteX3" fmla="*/ 200025 w 219075"/>
              <a:gd name="connsiteY3" fmla="*/ 3876675 h 387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075" h="3876675">
                <a:moveTo>
                  <a:pt x="219075" y="0"/>
                </a:moveTo>
                <a:lnTo>
                  <a:pt x="0" y="0"/>
                </a:lnTo>
                <a:lnTo>
                  <a:pt x="9525" y="3876675"/>
                </a:lnTo>
                <a:lnTo>
                  <a:pt x="200025" y="3876675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 rot="16200000">
            <a:off x="5032748" y="2404097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AGREE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446" y="1746610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4824" y="1705421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09947" y="2219771"/>
            <a:ext cx="526106" cy="196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75" b="1" dirty="0">
                <a:solidFill>
                  <a:schemeClr val="accent1"/>
                </a:solidFill>
              </a:rPr>
              <a:t>contract</a:t>
            </a:r>
          </a:p>
        </p:txBody>
      </p:sp>
      <p:sp>
        <p:nvSpPr>
          <p:cNvPr id="51" name="Down Arrow 50"/>
          <p:cNvSpPr/>
          <p:nvPr/>
        </p:nvSpPr>
        <p:spPr>
          <a:xfrm rot="16200000">
            <a:off x="4556560" y="1568733"/>
            <a:ext cx="405863" cy="46879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443588" y="3160549"/>
            <a:ext cx="1816386" cy="93277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599231" y="3191123"/>
            <a:ext cx="1683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Assumptions (input)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17516" y="3791836"/>
            <a:ext cx="1656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Guarantees (output)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>
            <a:off x="6297851" y="3314956"/>
            <a:ext cx="39365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8085980" y="3928002"/>
            <a:ext cx="39706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6297851" y="1307169"/>
            <a:ext cx="24456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A system with subcomponents</a:t>
            </a:r>
          </a:p>
        </p:txBody>
      </p:sp>
    </p:spTree>
    <p:extLst>
      <p:ext uri="{BB962C8B-B14F-4D97-AF65-F5344CB8AC3E}">
        <p14:creationId xmlns:p14="http://schemas.microsoft.com/office/powerpoint/2010/main" val="283808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060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Wheel brake system (WBS)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20" name="Content Placeholder 3" descr="wbs_sae.ppm"/>
          <p:cNvPicPr>
            <a:picLocks noGrp="1" noChangeAspect="1"/>
          </p:cNvPicPr>
          <p:nvPr>
            <p:ph idx="4294967295"/>
          </p:nvPr>
        </p:nvPicPr>
        <p:blipFill>
          <a:blip r:embed="rId3"/>
          <a:srcRect l="-25397" r="-25397"/>
          <a:stretch>
            <a:fillRect/>
          </a:stretch>
        </p:blipFill>
        <p:spPr>
          <a:xfrm>
            <a:off x="1078004" y="918995"/>
            <a:ext cx="6987992" cy="37719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79282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AADL and 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457199" y="903090"/>
            <a:ext cx="6172200" cy="379452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AGREE is incorporated as an </a:t>
            </a:r>
            <a:r>
              <a:rPr lang="en-US" b="1" dirty="0" smtClean="0">
                <a:solidFill>
                  <a:srgbClr val="C00000"/>
                </a:solidFill>
              </a:rPr>
              <a:t>annex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of AADL	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07348" y="1694576"/>
            <a:ext cx="6082018" cy="241603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440" y="1870402"/>
            <a:ext cx="5423179" cy="200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0120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 requirements for WBS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50" y="1314450"/>
            <a:ext cx="7086600" cy="292322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0250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45572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model analysis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918996"/>
            <a:ext cx="7249937" cy="3514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9219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2677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Nominal model analysis output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4294967295"/>
          </p:nvPr>
        </p:nvSpPr>
        <p:spPr>
          <a:xfrm>
            <a:off x="457199" y="903090"/>
            <a:ext cx="6172200" cy="3794522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Safety syntax is incorporated as an </a:t>
            </a:r>
            <a:r>
              <a:rPr lang="en-US" b="1" dirty="0" smtClean="0">
                <a:solidFill>
                  <a:srgbClr val="C00000"/>
                </a:solidFill>
              </a:rPr>
              <a:t>annex</a:t>
            </a:r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of AADL	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878" y="1439637"/>
            <a:ext cx="5283761" cy="301439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828800" y="2800351"/>
            <a:ext cx="5066839" cy="149941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/>
          <p:cNvSpPr/>
          <p:nvPr/>
        </p:nvSpPr>
        <p:spPr>
          <a:xfrm>
            <a:off x="1485900" y="1257300"/>
            <a:ext cx="5578719" cy="331470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4920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faults on component outputs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Valves</a:t>
            </a:r>
          </a:p>
          <a:p>
            <a:pPr lvl="1"/>
            <a:r>
              <a:rPr lang="en-US" dirty="0"/>
              <a:t>Stuck open</a:t>
            </a:r>
          </a:p>
          <a:p>
            <a:pPr lvl="1"/>
            <a:r>
              <a:rPr lang="en-US" dirty="0"/>
              <a:t>Stuck closed</a:t>
            </a:r>
          </a:p>
          <a:p>
            <a:pPr lvl="1"/>
            <a:r>
              <a:rPr lang="en-US" dirty="0"/>
              <a:t>Stuck non-deterministically</a:t>
            </a:r>
          </a:p>
          <a:p>
            <a:r>
              <a:rPr lang="en-US" dirty="0"/>
              <a:t>Sensors</a:t>
            </a:r>
          </a:p>
          <a:p>
            <a:pPr lvl="1"/>
            <a:r>
              <a:rPr lang="en-US" dirty="0"/>
              <a:t>Output inverted</a:t>
            </a:r>
          </a:p>
          <a:p>
            <a:r>
              <a:rPr lang="en-US" dirty="0"/>
              <a:t>Pumps</a:t>
            </a:r>
          </a:p>
          <a:p>
            <a:pPr lvl="1"/>
            <a:r>
              <a:rPr lang="en-US" dirty="0"/>
              <a:t>Output zero</a:t>
            </a:r>
          </a:p>
          <a:p>
            <a:r>
              <a:rPr lang="en-US" dirty="0"/>
              <a:t>Calculating components and Gates</a:t>
            </a:r>
          </a:p>
          <a:p>
            <a:pPr lvl="1"/>
            <a:r>
              <a:rPr lang="en-US" dirty="0"/>
              <a:t>Erroneous data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37480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fault 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6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259550"/>
            <a:ext cx="8908172" cy="1462393"/>
          </a:xfrm>
        </p:spPr>
      </p:pic>
      <p:sp>
        <p:nvSpPr>
          <p:cNvPr id="7" name="Rectangle 6"/>
          <p:cNvSpPr/>
          <p:nvPr/>
        </p:nvSpPr>
        <p:spPr>
          <a:xfrm>
            <a:off x="3611862" y="3049868"/>
            <a:ext cx="1989719" cy="1085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schemeClr val="tx1"/>
                </a:solidFill>
              </a:rPr>
              <a:t>Selector Valve</a:t>
            </a:r>
            <a:endParaRPr lang="en-US" sz="135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455039" y="3315794"/>
            <a:ext cx="11568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5606119" y="3273048"/>
            <a:ext cx="9089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5622561" y="3771900"/>
            <a:ext cx="892540" cy="34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455039" y="3771900"/>
            <a:ext cx="11568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07559" y="3134548"/>
            <a:ext cx="16604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Blue pump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18" y="3623998"/>
            <a:ext cx="185508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Green pump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7450" y="2990869"/>
            <a:ext cx="211930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Blue line out</a:t>
            </a:r>
          </a:p>
          <a:p>
            <a:r>
              <a:rPr lang="en-US" sz="1350" dirty="0"/>
              <a:t>(blue_select_out)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534" y="3633400"/>
            <a:ext cx="17716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Green line out</a:t>
            </a:r>
          </a:p>
        </p:txBody>
      </p:sp>
      <p:sp>
        <p:nvSpPr>
          <p:cNvPr id="16" name="Oval 15"/>
          <p:cNvSpPr/>
          <p:nvPr/>
        </p:nvSpPr>
        <p:spPr>
          <a:xfrm>
            <a:off x="5907132" y="3108062"/>
            <a:ext cx="289206" cy="32997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7" name="Rectangle 16"/>
          <p:cNvSpPr/>
          <p:nvPr/>
        </p:nvSpPr>
        <p:spPr>
          <a:xfrm>
            <a:off x="971550" y="1211357"/>
            <a:ext cx="380936" cy="963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4941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error propagation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Wrap nominal component output in fault</a:t>
            </a:r>
          </a:p>
          <a:p>
            <a:r>
              <a:rPr lang="en-US" dirty="0"/>
              <a:t>Watch behavior of system through AGREE contracts when fault is activated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3863" y="2195267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8" name="Rectangle 17"/>
          <p:cNvSpPr/>
          <p:nvPr/>
        </p:nvSpPr>
        <p:spPr>
          <a:xfrm>
            <a:off x="6168532" y="2212058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9" name="TextBox 18"/>
          <p:cNvSpPr txBox="1"/>
          <p:nvPr/>
        </p:nvSpPr>
        <p:spPr>
          <a:xfrm>
            <a:off x="3289075" y="1920242"/>
            <a:ext cx="12330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6019" y="1926308"/>
            <a:ext cx="12426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B</a:t>
            </a:r>
          </a:p>
        </p:txBody>
      </p:sp>
      <p:cxnSp>
        <p:nvCxnSpPr>
          <p:cNvPr id="21" name="Straight Arrow Connector 20"/>
          <p:cNvCxnSpPr>
            <a:stCxn id="17" idx="3"/>
          </p:cNvCxnSpPr>
          <p:nvPr/>
        </p:nvCxnSpPr>
        <p:spPr>
          <a:xfrm>
            <a:off x="4229663" y="2538167"/>
            <a:ext cx="19431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29662" y="2286426"/>
            <a:ext cx="4635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5762" y="2286426"/>
            <a:ext cx="3289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7531" y="3926558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6" name="Rectangle 25"/>
          <p:cNvSpPr/>
          <p:nvPr/>
        </p:nvSpPr>
        <p:spPr>
          <a:xfrm>
            <a:off x="6172200" y="3943350"/>
            <a:ext cx="685800" cy="6858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7" name="TextBox 26"/>
          <p:cNvSpPr txBox="1"/>
          <p:nvPr/>
        </p:nvSpPr>
        <p:spPr>
          <a:xfrm>
            <a:off x="3292744" y="3651534"/>
            <a:ext cx="123309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1644" y="3657600"/>
            <a:ext cx="124264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Component B</a:t>
            </a:r>
          </a:p>
        </p:txBody>
      </p:sp>
      <p:cxnSp>
        <p:nvCxnSpPr>
          <p:cNvPr id="29" name="Straight Arrow Connector 28"/>
          <p:cNvCxnSpPr>
            <a:stCxn id="25" idx="3"/>
          </p:cNvCxnSpPr>
          <p:nvPr/>
        </p:nvCxnSpPr>
        <p:spPr>
          <a:xfrm>
            <a:off x="4233331" y="4269458"/>
            <a:ext cx="19431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233330" y="4017718"/>
            <a:ext cx="4635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9430" y="4017718"/>
            <a:ext cx="3289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21927" y="2424925"/>
            <a:ext cx="164660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Nominal Behavior: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1297" y="4156217"/>
            <a:ext cx="139653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Fault Behavior: </a:t>
            </a:r>
          </a:p>
        </p:txBody>
      </p:sp>
      <p:sp>
        <p:nvSpPr>
          <p:cNvPr id="34" name="Oval 33"/>
          <p:cNvSpPr/>
          <p:nvPr/>
        </p:nvSpPr>
        <p:spPr>
          <a:xfrm>
            <a:off x="4893020" y="3951817"/>
            <a:ext cx="685800" cy="685800"/>
          </a:xfrm>
          <a:prstGeom prst="ellipse">
            <a:avLst/>
          </a:prstGeom>
          <a:solidFill>
            <a:srgbClr val="FF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Fault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4213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047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Specify fault hypothesis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pPr marL="7938" indent="0">
              <a:buNone/>
            </a:pPr>
            <a:r>
              <a:rPr lang="en-US" dirty="0" smtClean="0"/>
              <a:t>Specifies type of analysis to perform</a:t>
            </a:r>
          </a:p>
          <a:p>
            <a:r>
              <a:rPr lang="en-US" dirty="0" smtClean="0"/>
              <a:t>Max N Analysis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Probabilistic Analysis</a:t>
            </a:r>
            <a:endParaRPr lang="en-US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559" y="3449140"/>
            <a:ext cx="3545684" cy="80849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1943100"/>
            <a:ext cx="2882326" cy="75191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0701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4604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Fault Analysis 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 smtClean="0"/>
              <a:t>Max 1 Fault Analysis for WBS</a:t>
            </a:r>
          </a:p>
          <a:p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1" y="1549976"/>
            <a:ext cx="5785757" cy="2971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136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914333" lvl="2" indent="0">
              <a:buNone/>
            </a:pP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Generated artifacts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1200150"/>
            <a:ext cx="8046720" cy="308610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11143" indent="-300559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21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14377" indent="-300559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887" indent="-304776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440" indent="-304776" algn="l" defTabSz="609555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/>
              <a:buChar char="–"/>
              <a:defRPr sz="16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742994" indent="-304776" algn="l" defTabSz="609555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1600" kern="120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54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104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658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212" indent="-304776" algn="l" defTabSz="609555" rtl="0" eaLnBrk="1" latinLnBrk="0" hangingPunct="1">
              <a:spcBef>
                <a:spcPct val="20000"/>
              </a:spcBef>
              <a:buFont typeface="Arial"/>
              <a:buChar char="•"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smtClean="0"/>
              <a:t>Counterexamples showing trace of the system</a:t>
            </a:r>
          </a:p>
          <a:p>
            <a:endParaRPr lang="en-US" sz="1600" dirty="0" smtClean="0"/>
          </a:p>
          <a:p>
            <a:r>
              <a:rPr lang="en-US" sz="1600" dirty="0" smtClean="0"/>
              <a:t>Minimal </a:t>
            </a:r>
            <a:r>
              <a:rPr lang="en-US" sz="1600" dirty="0"/>
              <a:t>cut sets</a:t>
            </a:r>
          </a:p>
          <a:p>
            <a:pPr lvl="1"/>
            <a:r>
              <a:rPr lang="en-US" sz="1400" dirty="0"/>
              <a:t>Tally format</a:t>
            </a:r>
          </a:p>
          <a:p>
            <a:pPr lvl="1"/>
            <a:r>
              <a:rPr lang="en-US" sz="1400" dirty="0"/>
              <a:t>Textual format</a:t>
            </a:r>
          </a:p>
          <a:p>
            <a:pPr marL="7938" indent="0">
              <a:buNone/>
            </a:pPr>
            <a:endParaRPr lang="en-US" sz="1600" dirty="0"/>
          </a:p>
          <a:p>
            <a:r>
              <a:rPr lang="en-US" sz="1600" dirty="0"/>
              <a:t>Fault Trees (with or without probabilistic information)</a:t>
            </a:r>
          </a:p>
          <a:p>
            <a:pPr lvl="1"/>
            <a:r>
              <a:rPr lang="en-US" sz="1400" dirty="0"/>
              <a:t>Text format</a:t>
            </a:r>
          </a:p>
          <a:p>
            <a:pPr lvl="1"/>
            <a:r>
              <a:rPr lang="en-US" sz="1400" dirty="0"/>
              <a:t>Graph format</a:t>
            </a:r>
          </a:p>
          <a:p>
            <a:pPr marL="460364" lvl="1" indent="0">
              <a:buNone/>
            </a:pPr>
            <a:endParaRPr lang="en-US" sz="1400" dirty="0"/>
          </a:p>
          <a:p>
            <a:endParaRPr lang="en-US" sz="1600" dirty="0"/>
          </a:p>
          <a:p>
            <a:pPr marL="7938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184389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91440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91440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6243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6243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6495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10909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9578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69712"/>
            <a:ext cx="3197863" cy="1015663"/>
          </a:xfrm>
          <a:prstGeom prst="rect">
            <a:avLst/>
          </a:prstGeom>
          <a:noFill/>
          <a:ln w="9525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9578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34492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9199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952989"/>
            <a:ext cx="3197863" cy="646331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cxnSp>
        <p:nvCxnSpPr>
          <p:cNvPr id="120" name="Straight Arrow Connector 119"/>
          <p:cNvCxnSpPr/>
          <p:nvPr/>
        </p:nvCxnSpPr>
        <p:spPr>
          <a:xfrm flipH="1">
            <a:off x="2686049" y="367584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4045321"/>
            <a:ext cx="1527561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6461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82055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76328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Counterexample 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 smtClean="0"/>
              <a:t>Max 1 Fault Analysis for WBS</a:t>
            </a:r>
          </a:p>
          <a:p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1624690"/>
            <a:ext cx="8805257" cy="254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3455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 behavior with faults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Pedal </a:t>
            </a:r>
            <a:r>
              <a:rPr lang="en-US" dirty="0"/>
              <a:t>not pressed</a:t>
            </a:r>
          </a:p>
          <a:p>
            <a:r>
              <a:rPr lang="en-US" dirty="0"/>
              <a:t>Sensor reports that it was pressed</a:t>
            </a:r>
          </a:p>
          <a:p>
            <a:r>
              <a:rPr lang="en-US" dirty="0"/>
              <a:t>BSCU commands braking</a:t>
            </a:r>
          </a:p>
          <a:p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90" y="1600201"/>
            <a:ext cx="8051430" cy="149593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429001" y="2343150"/>
            <a:ext cx="221456" cy="21856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86118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MBSA process Steps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28823" y="857251"/>
            <a:ext cx="1314451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Safety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857251"/>
            <a:ext cx="1428750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System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9424" y="1205286"/>
            <a:ext cx="1584711" cy="1569660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pPr algn="l"/>
            <a:r>
              <a:rPr lang="en-US" sz="1200" dirty="0"/>
              <a:t>Capture Design Information in a shared AADL/AGREE model (architecture, nominal behavior, system level safety requirements)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2364" y="1205285"/>
            <a:ext cx="1199616" cy="1754326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Check that safety requirements are satisfied by the nominal design model with the backend model checker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25253" y="1307805"/>
            <a:ext cx="3232446" cy="461665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00" dirty="0"/>
              <a:t>Augment the nominal model with the component failure modes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5253" y="2051948"/>
            <a:ext cx="3232446" cy="276999"/>
          </a:xfrm>
          <a:prstGeom prst="rect">
            <a:avLst/>
          </a:prstGeom>
          <a:noFill/>
          <a:ln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Specify the fault hypothesis for the analysis</a:t>
            </a:r>
          </a:p>
        </p:txBody>
      </p:sp>
      <p:cxnSp>
        <p:nvCxnSpPr>
          <p:cNvPr id="50" name="Straight Arrow Connector 49"/>
          <p:cNvCxnSpPr/>
          <p:nvPr/>
        </p:nvCxnSpPr>
        <p:spPr>
          <a:xfrm flipH="1">
            <a:off x="6231979" y="1538636"/>
            <a:ext cx="597446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25254" y="2612562"/>
            <a:ext cx="3197863" cy="1015663"/>
          </a:xfrm>
          <a:prstGeom prst="rect">
            <a:avLst/>
          </a:prstGeom>
          <a:noFill/>
          <a:ln w="9525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Analyze if the safety requirements are satisfied by the design in the presence of faults with the backend model checker, using counterexamples and fault trees produced for diagnosis</a:t>
            </a:r>
          </a:p>
        </p:txBody>
      </p:sp>
      <p:cxnSp>
        <p:nvCxnSpPr>
          <p:cNvPr id="80" name="Straight Arrow Connector 79"/>
          <p:cNvCxnSpPr>
            <a:endCxn id="47" idx="3"/>
          </p:cNvCxnSpPr>
          <p:nvPr/>
        </p:nvCxnSpPr>
        <p:spPr>
          <a:xfrm flipH="1">
            <a:off x="4457699" y="1538637"/>
            <a:ext cx="597446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H="1">
            <a:off x="2686048" y="2287772"/>
            <a:ext cx="2" cy="312112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/>
          <p:nvPr/>
        </p:nvCxnSpPr>
        <p:spPr>
          <a:xfrm>
            <a:off x="2686050" y="1734844"/>
            <a:ext cx="2" cy="31710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H="1">
            <a:off x="2686049" y="3618693"/>
            <a:ext cx="1" cy="256058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857999" y="3988171"/>
            <a:ext cx="1527561" cy="461665"/>
          </a:xfrm>
          <a:prstGeom prst="rect">
            <a:avLst/>
          </a:prstGeom>
          <a:noFill/>
          <a:ln w="38100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Drive for design change</a:t>
            </a:r>
          </a:p>
        </p:txBody>
      </p:sp>
      <p:cxnSp>
        <p:nvCxnSpPr>
          <p:cNvPr id="122" name="Straight Arrow Connector 121"/>
          <p:cNvCxnSpPr>
            <a:stCxn id="119" idx="3"/>
            <a:endCxn id="121" idx="1"/>
          </p:cNvCxnSpPr>
          <p:nvPr/>
        </p:nvCxnSpPr>
        <p:spPr>
          <a:xfrm flipV="1">
            <a:off x="4439119" y="4207462"/>
            <a:ext cx="2418881" cy="1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>
            <a:stCxn id="121" idx="0"/>
            <a:endCxn id="9" idx="2"/>
          </p:cNvCxnSpPr>
          <p:nvPr/>
        </p:nvCxnSpPr>
        <p:spPr>
          <a:xfrm flipV="1">
            <a:off x="7621780" y="2763404"/>
            <a:ext cx="0" cy="122476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241256" y="3895839"/>
            <a:ext cx="3197863" cy="646331"/>
          </a:xfrm>
          <a:prstGeom prst="rect">
            <a:avLst/>
          </a:prstGeom>
          <a:noFill/>
          <a:ln w="9525">
            <a:solidFill>
              <a:srgbClr val="0066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Examine the results to assess the validity of the fault combinations and the fault tolerance level of the 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8105"/>
            <a:ext cx="500088" cy="39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2438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 behavior with faults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Redundancy in the Pedal Sensor</a:t>
            </a:r>
          </a:p>
          <a:p>
            <a:pPr marL="7938" indent="0">
              <a:buNone/>
            </a:pPr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550" y="1714500"/>
            <a:ext cx="6907267" cy="2571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76907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Design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Now resilient to this single fault</a:t>
            </a:r>
            <a:endParaRPr lang="en-US" dirty="0"/>
          </a:p>
          <a:p>
            <a:pPr marL="7938" indent="0">
              <a:buNone/>
            </a:pPr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576758"/>
            <a:ext cx="5728782" cy="29929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6521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22" name="Content Placeholder 2"/>
          <p:cNvSpPr>
            <a:spLocks noGrp="1"/>
          </p:cNvSpPr>
          <p:nvPr>
            <p:ph sz="half" idx="2"/>
          </p:nvPr>
        </p:nvSpPr>
        <p:spPr>
          <a:xfrm>
            <a:off x="457200" y="1200150"/>
            <a:ext cx="8046720" cy="3086100"/>
          </a:xfrm>
        </p:spPr>
        <p:txBody>
          <a:bodyPr/>
          <a:lstStyle/>
          <a:p>
            <a:r>
              <a:rPr lang="en-US" dirty="0"/>
              <a:t>Use the information gleaned from </a:t>
            </a:r>
            <a:r>
              <a:rPr lang="en-US" dirty="0" smtClean="0"/>
              <a:t>the collection </a:t>
            </a:r>
            <a:r>
              <a:rPr lang="en-US" dirty="0"/>
              <a:t>of minimal cut sets for interesting things: </a:t>
            </a:r>
          </a:p>
          <a:p>
            <a:pPr lvl="1"/>
            <a:r>
              <a:rPr lang="en-US" dirty="0"/>
              <a:t>Use fault probabilities to calculate the system threshold</a:t>
            </a:r>
          </a:p>
          <a:p>
            <a:pPr lvl="1"/>
            <a:r>
              <a:rPr lang="en-US" dirty="0"/>
              <a:t>Integrate into hierarchy of system to show more meaningful fault trees</a:t>
            </a:r>
          </a:p>
          <a:p>
            <a:pPr lvl="1"/>
            <a:endParaRPr lang="en-US" dirty="0"/>
          </a:p>
          <a:p>
            <a:r>
              <a:rPr lang="en-US" dirty="0"/>
              <a:t>Plans for use in a large scale aircraft system in 2020</a:t>
            </a:r>
          </a:p>
          <a:p>
            <a:pPr marL="7938" indent="0">
              <a:buNone/>
            </a:pPr>
            <a:endParaRPr lang="en-US" dirty="0"/>
          </a:p>
          <a:p>
            <a:pPr marL="7938" indent="0">
              <a:buNone/>
            </a:pPr>
            <a:endParaRPr lang="en-US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3534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15C076-9075-4B49-A4B0-DACF630C7820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6" name="Content Placeholder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33" y="913723"/>
            <a:ext cx="3341519" cy="17443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60" y="2800350"/>
            <a:ext cx="3857441" cy="18477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1950" y="684031"/>
            <a:ext cx="4139044" cy="1996527"/>
          </a:xfrm>
          <a:prstGeom prst="rect">
            <a:avLst/>
          </a:prstGeom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257551"/>
            <a:ext cx="4373565" cy="1265222"/>
          </a:xfrm>
          <a:prstGeom prst="rect">
            <a:avLst/>
          </a:prstGeom>
        </p:spPr>
      </p:pic>
      <p:sp>
        <p:nvSpPr>
          <p:cNvPr id="14" name="Action Button: Help 13">
            <a:hlinkClick r:id="" action="ppaction://noaction" highlightClick="1"/>
          </p:cNvPr>
          <p:cNvSpPr/>
          <p:nvPr/>
        </p:nvSpPr>
        <p:spPr>
          <a:xfrm>
            <a:off x="3659534" y="1718995"/>
            <a:ext cx="1822649" cy="1856183"/>
          </a:xfrm>
          <a:prstGeom prst="actionButtonHelp">
            <a:avLst/>
          </a:prstGeom>
          <a:solidFill>
            <a:schemeClr val="accent3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64726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914333" lvl="2" indent="0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Safety Artifacts Generated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86D9C8-0CDB-4BF0-99FF-D7490CE4EFA3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3600" y="963457"/>
            <a:ext cx="17716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Fault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963457"/>
            <a:ext cx="22860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Minimal Cut Sets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795" y="4196465"/>
            <a:ext cx="4286250" cy="44347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571" y="1261833"/>
            <a:ext cx="3637955" cy="16345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62070" y="1720867"/>
            <a:ext cx="50484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Text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3030569"/>
            <a:ext cx="4248130" cy="7613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3750" y="2937505"/>
            <a:ext cx="1102129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 smtClean="0"/>
              <a:t>Probabilities</a:t>
            </a:r>
            <a:endParaRPr lang="en-US" sz="12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8018145" y="4057965"/>
            <a:ext cx="9715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Graph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38" y="1218916"/>
            <a:ext cx="4268233" cy="18271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14700" y="1350424"/>
            <a:ext cx="57150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List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237" y="3373989"/>
            <a:ext cx="2992313" cy="6365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38620" y="3256624"/>
            <a:ext cx="52366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Tally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 flipV="1">
            <a:off x="0" y="-121355"/>
            <a:ext cx="177275723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Panagiotis Manolios, Kit Siu, Michael Noorman and Hongwei Liao. A Model-Based Framework for Analyzing the Safety of System Architectures. RAMS, the  65th Annual Reliability and Maintainability Symposium, 2019.  </a:t>
            </a:r>
            <a:r>
              <a:rPr lang="en-US" altLang="en-US" sz="1350">
                <a:solidFill>
                  <a:srgbClr val="1155CC"/>
                </a:solid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http://www.ccs.neu.edu/home/pete/research/rams-2019.html</a:t>
            </a:r>
            <a:r>
              <a:rPr lang="en-US" altLang="en-US" sz="1350"/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550" y="4629150"/>
            <a:ext cx="500088" cy="39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9037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llins Aerospace 16x9">
  <a:themeElements>
    <a:clrScheme name="Collins">
      <a:dk1>
        <a:srgbClr val="000000"/>
      </a:dk1>
      <a:lt1>
        <a:srgbClr val="FFFFFF"/>
      </a:lt1>
      <a:dk2>
        <a:srgbClr val="333333"/>
      </a:dk2>
      <a:lt2>
        <a:srgbClr val="DCDCDC"/>
      </a:lt2>
      <a:accent1>
        <a:srgbClr val="E4551F"/>
      </a:accent1>
      <a:accent2>
        <a:srgbClr val="00AB8E"/>
      </a:accent2>
      <a:accent3>
        <a:srgbClr val="F2A900"/>
      </a:accent3>
      <a:accent4>
        <a:srgbClr val="555555"/>
      </a:accent4>
      <a:accent5>
        <a:srgbClr val="898989"/>
      </a:accent5>
      <a:accent6>
        <a:srgbClr val="BBBBBB"/>
      </a:accent6>
      <a:hlink>
        <a:srgbClr val="CF4520"/>
      </a:hlink>
      <a:folHlink>
        <a:srgbClr val="F2A9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_Collins_No_Tech_Data_16x9.potx" id="{FDF7590F-1AA1-4D58-839A-1A0052E3703F}" vid="{402F7B85-A400-4211-83C4-4FBA84020D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2749</TotalTime>
  <Words>1856</Words>
  <Application>Microsoft Office PowerPoint</Application>
  <PresentationFormat>On-screen Show (16:9)</PresentationFormat>
  <Paragraphs>309</Paragraphs>
  <Slides>35</Slides>
  <Notes>31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Regular</vt:lpstr>
      <vt:lpstr>DIN-Light</vt:lpstr>
      <vt:lpstr>NimbusRomNo9L-Regu</vt:lpstr>
      <vt:lpstr>Verdana</vt:lpstr>
      <vt:lpstr>Collins Aerospace 16x9</vt:lpstr>
      <vt:lpstr>The Safety Annex for The Architecture Analysis and Design Language</vt:lpstr>
      <vt:lpstr>Traditional safety assessment process Guidelines</vt:lpstr>
      <vt:lpstr>Traditional safety assessment process</vt:lpstr>
      <vt:lpstr>MBSA process</vt:lpstr>
      <vt:lpstr>MBSA process Steps</vt:lpstr>
      <vt:lpstr>What will help safety analysts do this?</vt:lpstr>
      <vt:lpstr>Closely Related work</vt:lpstr>
      <vt:lpstr>MBSA process Steps</vt:lpstr>
      <vt:lpstr>AADL</vt:lpstr>
      <vt:lpstr>Assume-Guarantee Reasoning Environment (AGREE)</vt:lpstr>
      <vt:lpstr>MBSA process Steps</vt:lpstr>
      <vt:lpstr>Wheel brake system (WBS)</vt:lpstr>
      <vt:lpstr>AADL and Agree</vt:lpstr>
      <vt:lpstr>Safety requirements for WBS</vt:lpstr>
      <vt:lpstr>MBSA process Steps</vt:lpstr>
      <vt:lpstr>Nominal model analysis output</vt:lpstr>
      <vt:lpstr>MBSA process Steps</vt:lpstr>
      <vt:lpstr>Nominal model analysis output</vt:lpstr>
      <vt:lpstr>Defining faults on component outputs</vt:lpstr>
      <vt:lpstr>A fault definition</vt:lpstr>
      <vt:lpstr>Behavioral error propagation</vt:lpstr>
      <vt:lpstr>MBSA process Steps</vt:lpstr>
      <vt:lpstr>Specify fault hypothesis statement</vt:lpstr>
      <vt:lpstr>MBSA process Steps</vt:lpstr>
      <vt:lpstr>Fault Analysis results</vt:lpstr>
      <vt:lpstr>Other Generated artifacts</vt:lpstr>
      <vt:lpstr>MBSA process Steps</vt:lpstr>
      <vt:lpstr>Counterexample view</vt:lpstr>
      <vt:lpstr>Assess behavior with faults</vt:lpstr>
      <vt:lpstr>MBSA process Steps</vt:lpstr>
      <vt:lpstr>Assess behavior with faults</vt:lpstr>
      <vt:lpstr>Results of Design Change</vt:lpstr>
      <vt:lpstr>Future work</vt:lpstr>
      <vt:lpstr>questions</vt:lpstr>
      <vt:lpstr>Example Safety Artifacts Generated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COLLINS AEROSPACE Non Technical STARTER PRESENTATION</dc:title>
  <dc:creator>Beth Melton</dc:creator>
  <cp:keywords>Non Technical</cp:keywords>
  <cp:lastModifiedBy>Danielle Stewart</cp:lastModifiedBy>
  <cp:revision>23</cp:revision>
  <cp:lastPrinted>2018-05-24T22:27:42Z</cp:lastPrinted>
  <dcterms:created xsi:type="dcterms:W3CDTF">2018-10-17T20:48:40Z</dcterms:created>
  <dcterms:modified xsi:type="dcterms:W3CDTF">2020-01-17T15:16:30Z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ize">
    <vt:lpwstr>W</vt:lpwstr>
  </property>
  <property fmtid="{D5CDD505-2E9C-101B-9397-08002B2CF9AE}" pid="3" name="CATech">
    <vt:lpwstr>None</vt:lpwstr>
  </property>
</Properties>
</file>