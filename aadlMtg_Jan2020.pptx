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08" r:id="rId1"/>
  </p:sldMasterIdLst>
  <p:notesMasterIdLst>
    <p:notesMasterId r:id="rId32"/>
  </p:notesMasterIdLst>
  <p:handoutMasterIdLst>
    <p:handoutMasterId r:id="rId33"/>
  </p:handoutMasterIdLst>
  <p:sldIdLst>
    <p:sldId id="435" r:id="rId2"/>
    <p:sldId id="552" r:id="rId3"/>
    <p:sldId id="553" r:id="rId4"/>
    <p:sldId id="579" r:id="rId5"/>
    <p:sldId id="554" r:id="rId6"/>
    <p:sldId id="555" r:id="rId7"/>
    <p:sldId id="556" r:id="rId8"/>
    <p:sldId id="557" r:id="rId9"/>
    <p:sldId id="580" r:id="rId10"/>
    <p:sldId id="558" r:id="rId11"/>
    <p:sldId id="559" r:id="rId12"/>
    <p:sldId id="560" r:id="rId13"/>
    <p:sldId id="561" r:id="rId14"/>
    <p:sldId id="562" r:id="rId15"/>
    <p:sldId id="563" r:id="rId16"/>
    <p:sldId id="564" r:id="rId17"/>
    <p:sldId id="565" r:id="rId18"/>
    <p:sldId id="566" r:id="rId19"/>
    <p:sldId id="567" r:id="rId20"/>
    <p:sldId id="568" r:id="rId21"/>
    <p:sldId id="569" r:id="rId22"/>
    <p:sldId id="570" r:id="rId23"/>
    <p:sldId id="571" r:id="rId24"/>
    <p:sldId id="572" r:id="rId25"/>
    <p:sldId id="573" r:id="rId26"/>
    <p:sldId id="574" r:id="rId27"/>
    <p:sldId id="575" r:id="rId28"/>
    <p:sldId id="576" r:id="rId29"/>
    <p:sldId id="577" r:id="rId30"/>
    <p:sldId id="578" r:id="rId3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549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3A3"/>
    <a:srgbClr val="883290"/>
    <a:srgbClr val="D2451E"/>
    <a:srgbClr val="041E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25E649-3F16-4E02-A733-19D2CDBF48F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solidFill>
                <a:schemeClr val="dk1"/>
              </a:solidFill>
            </a:ln>
          </a:insideH>
          <a:insideV>
            <a:ln>
              <a:solidFill>
                <a:schemeClr val="dk1"/>
              </a:solidFill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3886" autoAdjust="0"/>
  </p:normalViewPr>
  <p:slideViewPr>
    <p:cSldViewPr snapToGrid="0" snapToObjects="1">
      <p:cViewPr varScale="1">
        <p:scale>
          <a:sx n="76" d="100"/>
          <a:sy n="76" d="100"/>
        </p:scale>
        <p:origin x="52" y="104"/>
      </p:cViewPr>
      <p:guideLst>
        <p:guide orient="horz" pos="1620"/>
        <p:guide pos="2880"/>
        <p:guide pos="5494"/>
      </p:guideLst>
    </p:cSldViewPr>
  </p:slideViewPr>
  <p:outlineViewPr>
    <p:cViewPr>
      <p:scale>
        <a:sx n="33" d="100"/>
        <a:sy n="33" d="100"/>
      </p:scale>
      <p:origin x="0" y="-932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 snapToObjects="1">
      <p:cViewPr varScale="1">
        <p:scale>
          <a:sx n="144" d="100"/>
          <a:sy n="144" d="100"/>
        </p:scale>
        <p:origin x="2824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strow, Paul W." userId="acc6e854-6a08-4828-a0ee-775c2ee5bbdb" providerId="ADAL" clId="{03B72144-E0B6-4576-94FB-AB987EB48792}"/>
    <pc:docChg chg="modSld modMainMaster">
      <pc:chgData name="Zastrow, Paul W." userId="acc6e854-6a08-4828-a0ee-775c2ee5bbdb" providerId="ADAL" clId="{03B72144-E0B6-4576-94FB-AB987EB48792}" dt="2020-01-13T19:42:32.281" v="0"/>
      <pc:docMkLst>
        <pc:docMk/>
      </pc:docMkLst>
      <pc:sldChg chg="modSp">
        <pc:chgData name="Zastrow, Paul W." userId="acc6e854-6a08-4828-a0ee-775c2ee5bbdb" providerId="ADAL" clId="{03B72144-E0B6-4576-94FB-AB987EB48792}" dt="2020-01-13T19:42:32.281" v="0"/>
        <pc:sldMkLst>
          <pc:docMk/>
          <pc:sldMk cId="3299504520" sldId="435"/>
        </pc:sldMkLst>
        <pc:spChg chg="mod">
          <ac:chgData name="Zastrow, Paul W." userId="acc6e854-6a08-4828-a0ee-775c2ee5bbdb" providerId="ADAL" clId="{03B72144-E0B6-4576-94FB-AB987EB48792}" dt="2020-01-13T19:42:32.281" v="0"/>
          <ac:spMkLst>
            <pc:docMk/>
            <pc:sldMk cId="3299504520" sldId="435"/>
            <ac:spMk id="3" creationId="{747B12D8-7BFE-1F4C-A24C-87EFF07805C7}"/>
          </ac:spMkLst>
        </pc:spChg>
      </pc:sldChg>
      <pc:sldMasterChg chg="modSp modSldLayout">
        <pc:chgData name="Zastrow, Paul W." userId="acc6e854-6a08-4828-a0ee-775c2ee5bbdb" providerId="ADAL" clId="{03B72144-E0B6-4576-94FB-AB987EB48792}" dt="2020-01-13T19:42:32.281" v="0"/>
        <pc:sldMasterMkLst>
          <pc:docMk/>
          <pc:sldMasterMk cId="3490625450" sldId="2147484408"/>
        </pc:sldMasterMkLst>
        <pc:spChg chg="mod">
          <ac:chgData name="Zastrow, Paul W." userId="acc6e854-6a08-4828-a0ee-775c2ee5bbdb" providerId="ADAL" clId="{03B72144-E0B6-4576-94FB-AB987EB48792}" dt="2020-01-13T19:42:32.281" v="0"/>
          <ac:spMkLst>
            <pc:docMk/>
            <pc:sldMasterMk cId="3490625450" sldId="2147484408"/>
            <ac:spMk id="9" creationId="{5CF54B63-FF67-41F9-A6DA-2E8C49D4A399}"/>
          </ac:spMkLst>
        </pc:sp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4114608821" sldId="2147484101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4114608821" sldId="2147484101"/>
              <ac:spMk id="8" creationId="{7A93E8BB-E9BC-481A-B9A0-36A3661A3E51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1368497712" sldId="2147484104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1368497712" sldId="2147484104"/>
              <ac:spMk id="10" creationId="{635752E6-0B15-4060-9233-9EA0618FA601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3729620807" sldId="2147484106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3729620807" sldId="2147484106"/>
              <ac:spMk id="9" creationId="{BBE68B8C-A1CD-405B-BDC2-C61FD93BAE27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1785431181" sldId="2147484108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1785431181" sldId="2147484108"/>
              <ac:spMk id="10" creationId="{617EE491-6BA7-4E47-B28D-A3D807A2ACC6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348523045" sldId="2147484133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348523045" sldId="2147484133"/>
              <ac:spMk id="9" creationId="{9E0D8548-19E9-40E4-80BB-4CB1F6BBADE7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1129638061" sldId="2147484328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1129638061" sldId="2147484328"/>
              <ac:spMk id="9" creationId="{5130006F-1D5D-43DB-B30B-E97370330228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3409204744" sldId="2147484329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3409204744" sldId="2147484329"/>
              <ac:spMk id="9" creationId="{3541CFBA-17CD-43CC-AB75-5D8C20E8AFFB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65567767" sldId="2147484335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65567767" sldId="2147484335"/>
              <ac:spMk id="9" creationId="{210F7204-956A-4580-A8CA-F4DEC55C5C09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3522376453" sldId="2147484343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3522376453" sldId="2147484343"/>
              <ac:spMk id="9" creationId="{C8080B86-F4A8-4BFF-AFEE-6327D4766C32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3836710745" sldId="2147484351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3836710745" sldId="2147484351"/>
              <ac:spMk id="8" creationId="{5BFD534A-6FF3-4FD8-9AA3-E5F7DBD1F0B5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3862514101" sldId="2147484353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3862514101" sldId="2147484353"/>
              <ac:spMk id="9" creationId="{A7740651-10D3-4996-BF65-8CB70E457791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1556226098" sldId="2147484383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1556226098" sldId="2147484383"/>
              <ac:spMk id="9" creationId="{A98F9608-51B0-474D-BA5F-F9ECF64ABF5B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4100383491" sldId="2147484384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4100383491" sldId="2147484384"/>
              <ac:spMk id="9" creationId="{FADEC670-F06F-4CEE-A2D9-28252A625173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1971616241" sldId="2147484385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1971616241" sldId="2147484385"/>
              <ac:spMk id="9" creationId="{B1E88948-F082-46DD-BB94-5DCBA60EFCC8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1601939958" sldId="2147484386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1601939958" sldId="2147484386"/>
              <ac:spMk id="9" creationId="{8309BDAA-004B-4140-AABA-BB1364D8F610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1472378016" sldId="2147484387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1472378016" sldId="2147484387"/>
              <ac:spMk id="9" creationId="{19A03443-77FC-4401-A49C-B5A91E342565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2735846530" sldId="2147484389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2735846530" sldId="2147484389"/>
              <ac:spMk id="9" creationId="{77B64A35-DFC2-4D2A-911D-4C3FE2C78629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42990974" sldId="2147484390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42990974" sldId="2147484390"/>
              <ac:spMk id="9" creationId="{4D0EAC14-8D6E-48EF-A9FA-01AC98D7E162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1962838268" sldId="2147484391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1962838268" sldId="2147484391"/>
              <ac:spMk id="9" creationId="{B634C8E1-A684-455A-BF70-B7DA8CA9FB72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807585613" sldId="2147484404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807585613" sldId="2147484404"/>
              <ac:spMk id="9" creationId="{F83BE4FA-9633-459F-BE35-179379630BD0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28481501" sldId="2147484405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28481501" sldId="2147484405"/>
              <ac:spMk id="9" creationId="{4AC524A5-0E0C-4F96-99A2-403EA3C95970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1386164028" sldId="2147484407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1386164028" sldId="2147484407"/>
              <ac:spMk id="3" creationId="{88F65903-5687-4A73-8751-EACBB5AEF14B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3953047586" sldId="2147484420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3953047586" sldId="2147484420"/>
              <ac:spMk id="15" creationId="{61E743DC-CF5C-44AA-968C-C6DEF6F72FED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748589245" sldId="2147484422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748589245" sldId="2147484422"/>
              <ac:spMk id="3" creationId="{213F643C-EA7F-4290-95CD-262B9D0728F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 Regular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840316-3FB0-AC49-9724-FBCD29E0115A}" type="datetime1">
              <a:rPr lang="en-US" smtClean="0">
                <a:latin typeface="Arial Regular"/>
              </a:rPr>
              <a:t>1/14/2020</a:t>
            </a:fld>
            <a:endParaRPr lang="en-US" dirty="0">
              <a:latin typeface="Arial Regular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 Regular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8B889C-5E22-FE40-9F91-1D0E80D3B361}" type="slidenum">
              <a:rPr lang="en-US" smtClean="0">
                <a:latin typeface="Arial Regular"/>
              </a:rPr>
              <a:t>‹#›</a:t>
            </a:fld>
            <a:endParaRPr lang="en-US" dirty="0">
              <a:latin typeface="Arial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47995581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 Regular"/>
              </a:defRPr>
            </a:lvl1pPr>
          </a:lstStyle>
          <a:p>
            <a:fld id="{4C892A5C-EED2-8E42-8700-2077C2BD4744}" type="datetime1">
              <a:rPr lang="en-US" smtClean="0"/>
              <a:pPr/>
              <a:t>1/14/2020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 Regular"/>
              </a:defRPr>
            </a:lvl1pPr>
          </a:lstStyle>
          <a:p>
            <a:fld id="{C5520F8E-B86B-724D-83FF-760051E34CC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92374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1pPr>
    <a:lvl2pPr marL="457200" algn="l" defTabSz="4572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2pPr>
    <a:lvl3pPr marL="914400" algn="l" defTabSz="4572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3pPr>
    <a:lvl4pPr marL="1371600" algn="l" defTabSz="4572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4pPr>
    <a:lvl5pPr marL="1828800" algn="l" defTabSz="4572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132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4173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980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332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112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909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402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3856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268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506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Goal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prove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t</a:t>
            </a:r>
            <a:r>
              <a:rPr lang="de-DE" dirty="0" smtClean="0"/>
              <a:t>op </a:t>
            </a:r>
            <a:r>
              <a:rPr lang="de-DE" dirty="0" err="1" smtClean="0"/>
              <a:t>level</a:t>
            </a:r>
            <a:r>
              <a:rPr lang="de-DE" dirty="0" smtClean="0"/>
              <a:t> </a:t>
            </a:r>
            <a:r>
              <a:rPr lang="de-DE" dirty="0" err="1" smtClean="0"/>
              <a:t>safety</a:t>
            </a:r>
            <a:r>
              <a:rPr lang="de-DE" dirty="0" smtClean="0"/>
              <a:t> </a:t>
            </a:r>
            <a:r>
              <a:rPr lang="de-DE" dirty="0" err="1" smtClean="0"/>
              <a:t>property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system</a:t>
            </a:r>
            <a:r>
              <a:rPr lang="de-DE" baseline="0" dirty="0" smtClean="0"/>
              <a:t>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980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Goal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prove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t</a:t>
            </a:r>
            <a:r>
              <a:rPr lang="de-DE" dirty="0" smtClean="0"/>
              <a:t>op </a:t>
            </a:r>
            <a:r>
              <a:rPr lang="de-DE" dirty="0" err="1" smtClean="0"/>
              <a:t>level</a:t>
            </a:r>
            <a:r>
              <a:rPr lang="de-DE" dirty="0" smtClean="0"/>
              <a:t> </a:t>
            </a:r>
            <a:r>
              <a:rPr lang="de-DE" dirty="0" err="1" smtClean="0"/>
              <a:t>safety</a:t>
            </a:r>
            <a:r>
              <a:rPr lang="de-DE" dirty="0" smtClean="0"/>
              <a:t> </a:t>
            </a:r>
            <a:r>
              <a:rPr lang="de-DE" dirty="0" err="1" smtClean="0"/>
              <a:t>property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system</a:t>
            </a:r>
            <a:r>
              <a:rPr lang="de-DE" baseline="0" dirty="0" smtClean="0"/>
              <a:t>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7892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Goal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prove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t</a:t>
            </a:r>
            <a:r>
              <a:rPr lang="de-DE" dirty="0" smtClean="0"/>
              <a:t>op </a:t>
            </a:r>
            <a:r>
              <a:rPr lang="de-DE" dirty="0" err="1" smtClean="0"/>
              <a:t>level</a:t>
            </a:r>
            <a:r>
              <a:rPr lang="de-DE" dirty="0" smtClean="0"/>
              <a:t> </a:t>
            </a:r>
            <a:r>
              <a:rPr lang="de-DE" dirty="0" err="1" smtClean="0"/>
              <a:t>safety</a:t>
            </a:r>
            <a:r>
              <a:rPr lang="de-DE" dirty="0" smtClean="0"/>
              <a:t> </a:t>
            </a:r>
            <a:r>
              <a:rPr lang="de-DE" dirty="0" err="1" smtClean="0"/>
              <a:t>property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system</a:t>
            </a:r>
            <a:r>
              <a:rPr lang="de-DE" baseline="0" dirty="0" smtClean="0"/>
              <a:t>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2842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Goal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prove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t</a:t>
            </a:r>
            <a:r>
              <a:rPr lang="de-DE" dirty="0" smtClean="0"/>
              <a:t>op </a:t>
            </a:r>
            <a:r>
              <a:rPr lang="de-DE" dirty="0" err="1" smtClean="0"/>
              <a:t>level</a:t>
            </a:r>
            <a:r>
              <a:rPr lang="de-DE" dirty="0" smtClean="0"/>
              <a:t> </a:t>
            </a:r>
            <a:r>
              <a:rPr lang="de-DE" dirty="0" err="1" smtClean="0"/>
              <a:t>safety</a:t>
            </a:r>
            <a:r>
              <a:rPr lang="de-DE" dirty="0" smtClean="0"/>
              <a:t> </a:t>
            </a:r>
            <a:r>
              <a:rPr lang="de-DE" dirty="0" err="1" smtClean="0"/>
              <a:t>property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system</a:t>
            </a:r>
            <a:r>
              <a:rPr lang="de-DE" baseline="0" dirty="0" smtClean="0"/>
              <a:t>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0330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Goal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prove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t</a:t>
            </a:r>
            <a:r>
              <a:rPr lang="de-DE" dirty="0" smtClean="0"/>
              <a:t>op </a:t>
            </a:r>
            <a:r>
              <a:rPr lang="de-DE" dirty="0" err="1" smtClean="0"/>
              <a:t>level</a:t>
            </a:r>
            <a:r>
              <a:rPr lang="de-DE" dirty="0" smtClean="0"/>
              <a:t> </a:t>
            </a:r>
            <a:r>
              <a:rPr lang="de-DE" dirty="0" err="1" smtClean="0"/>
              <a:t>safety</a:t>
            </a:r>
            <a:r>
              <a:rPr lang="de-DE" dirty="0" smtClean="0"/>
              <a:t> </a:t>
            </a:r>
            <a:r>
              <a:rPr lang="de-DE" dirty="0" err="1" smtClean="0"/>
              <a:t>property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system</a:t>
            </a:r>
            <a:r>
              <a:rPr lang="de-DE" baseline="0" dirty="0" smtClean="0"/>
              <a:t>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144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Goal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prove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the</a:t>
            </a:r>
            <a:r>
              <a:rPr lang="de-DE" baseline="0" dirty="0" smtClean="0"/>
              <a:t> t</a:t>
            </a:r>
            <a:r>
              <a:rPr lang="de-DE" dirty="0" smtClean="0"/>
              <a:t>op </a:t>
            </a:r>
            <a:r>
              <a:rPr lang="de-DE" dirty="0" err="1" smtClean="0"/>
              <a:t>level</a:t>
            </a:r>
            <a:r>
              <a:rPr lang="de-DE" dirty="0" smtClean="0"/>
              <a:t> </a:t>
            </a:r>
            <a:r>
              <a:rPr lang="de-DE" dirty="0" err="1" smtClean="0"/>
              <a:t>safety</a:t>
            </a:r>
            <a:r>
              <a:rPr lang="de-DE" dirty="0" smtClean="0"/>
              <a:t> </a:t>
            </a:r>
            <a:r>
              <a:rPr lang="de-DE" dirty="0" err="1" smtClean="0"/>
              <a:t>property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of</a:t>
            </a:r>
            <a:r>
              <a:rPr lang="de-DE" baseline="0" dirty="0" smtClean="0"/>
              <a:t> </a:t>
            </a:r>
            <a:r>
              <a:rPr lang="de-DE" baseline="0" dirty="0" err="1" smtClean="0"/>
              <a:t>system</a:t>
            </a:r>
            <a:r>
              <a:rPr lang="de-DE" baseline="0" dirty="0" smtClean="0"/>
              <a:t>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2928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This figure presents our proposed use of this shared system design and safety analysis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model in the context of the ARP4754A Safety Assessment Process Model (derived from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Figure 7 of ARP4754A). The shared model is one of the system development artifacts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from the “Development of System Architecture” and “Allocation of System Requirements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to Item” activities in the System Development Process, which interacts with the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PSSAs and SSAs activities in the Safety Assessment Process. The shared model can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serve as an interface to capture the information from the system design and implementation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that is relevant for the safety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9618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0149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173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0349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599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Black | Bombardier Challen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8A1E556-6413-2748-8C90-1490CB30C34A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"/>
            <a:ext cx="9144000" cy="51450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4FA836-F727-B344-91DC-D21741BAEDC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D8E1708-9243-4A88-A0A5-D260B7B623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A93E8BB-E9BC-481A-B9A0-36A3661A3E51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bg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bg1"/>
              </a:solidFill>
              <a:cs typeface="DIN-Light"/>
              <a:sym typeface="Verdana"/>
            </a:endParaRPr>
          </a:p>
        </p:txBody>
      </p:sp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TITLE HERE. ALL CAPS. WHITE. 24 PT.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7397E52E-98A3-4984-931D-1E63DCDB9A3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4114608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Black | IDV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8A1E556-6413-2748-8C90-1490CB30C3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2"/>
            <a:ext cx="9144000" cy="51450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C1337E-176E-D249-820B-95250D18CE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8BECCCF-F3B2-48A4-9301-3BA7B371C6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635752E6-0B15-4060-9233-9EA0618FA601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TITLE HERE. ALL CAPS. WHITE. 24 PT.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3A958031-A2A3-44EA-8C57-8DB0B453EA1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1368497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Black | Gemini Astrona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1A4537-480B-F54B-9F7B-CCC2859757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5106" cy="5143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9CD399-D091-A64F-8D0A-CC99E50DE9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A0C929E-624C-4FE4-9C75-DD3EF37E90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BBE68B8C-A1CD-405B-BDC2-C61FD93BAE27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TITLE HERE. ALL CAPS. WHITE. 24 PT.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3C090984-216A-4A23-8537-89008586DB8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3729620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Black | Boeing 7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AF6273-37A3-B740-A7A8-1320539097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311"/>
            <a:ext cx="9144000" cy="51450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33522C-82FB-D942-B60E-F0869B35559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103811E-C557-4BCE-838E-CBE868A581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617EE491-6BA7-4E47-B28D-A3D807A2ACC6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7200" y="2898796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TITLE HERE. ALL CAPS. WHITE. 24 PT.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BA7CE48C-440A-4B45-A999-82FB3F90250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4156186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1785431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Black | Sikorsky UH-60 Black Haw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8A1E556-6413-2748-8C90-1490CB30C3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"/>
            <a:ext cx="9144000" cy="51450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27B312-9E18-AC4A-9526-D7E41C6DD0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C838226-92FA-40D6-BAD1-07BD9BE426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5130006F-1D5D-43DB-B30B-E97370330228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TITLE HERE. ALL CAPS. WHITE. 24 PT.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40A9E72A-2E51-4CB7-92A0-BD87135EF67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1129638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Black | Helicop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99B9A2-E91E-F143-A2A0-2DFFBE0383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9841A46-E3AE-40E8-B497-FBBD818FAD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9E0D8548-19E9-40E4-80BB-4CB1F6BBADE7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bg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bg1"/>
              </a:solidFill>
              <a:cs typeface="DIN-Light"/>
              <a:sym typeface="Verdana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TITLE HERE. ALL CAPS. WHITE. 24 PT.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15C6846D-632F-4C5A-969C-DD4D388BDC1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3485230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Black | Ground Soldi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8A1E556-6413-2748-8C90-1490CB30C3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50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701358-9A67-EE44-9768-A67B8FF555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6ADD1C-314F-4A04-89BB-ECD94B2773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3541CFBA-17CD-43CC-AB75-5D8C20E8AFFB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TITLE HERE. ALL CAPS. WHITE. 24 PT.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0880409E-8895-4CB3-AAE8-77D848563D4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3409204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Black | Cabin Ch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8A1E556-6413-2748-8C90-1490CB30C3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"/>
            <a:ext cx="9144000" cy="51450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9B57A7-EA3C-1040-B89F-C7733F789A1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617CBB-A695-4059-8F4D-D7F0A5D74F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210F7204-956A-4580-A8CA-F4DEC55C5C09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TITLE HERE. ALL CAPS. WHITE. 24 PT.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B826246D-B790-465C-8561-DA598339C9E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65567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Black | Han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39FFCA-C102-834E-AF56-E25BB0BB97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5104" cy="514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4459B6-97D3-4549-836E-6BF07CC5F5F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36EE12-2075-4712-88B7-927E2CEC03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C8080B86-F4A8-4BFF-AFEE-6327D4766C32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TITLE HERE. ALL CAPS. WHITE. 24 PT.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413795CB-82BB-40B3-85BB-CAE2337CB2C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3522376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Black | Boeing J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0D3350-4D97-FC47-B22E-22F4608B8EEB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" y="313"/>
            <a:ext cx="9144000" cy="51450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C1337E-176E-D249-820B-95250D18CE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C90E3C-D267-416C-AE9A-5C84A5ECF9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5BFD534A-6FF3-4FD8-9AA3-E5F7DBD1F0B5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TITLE HERE. ALL CAPS. WHITE. 24 PT.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F5201693-29EC-4219-ADE4-FAD48618340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3836710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Black | Wing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6310DC6-14A2-4E62-995F-EBA0786E4E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90" t="15" b="15"/>
          <a:stretch/>
        </p:blipFill>
        <p:spPr>
          <a:xfrm>
            <a:off x="0" y="0"/>
            <a:ext cx="9144000" cy="51949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492328-EF45-C248-A3F6-4D657BDF65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1DC0082-3DE0-4B04-BF48-7733CE2176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A7740651-10D3-4996-BF65-8CB70E457791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bg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bg1"/>
              </a:solidFill>
              <a:cs typeface="DIN-Light"/>
              <a:sym typeface="Verdana"/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TITLE HERE. ALL CAPS. WHITE. 24 PT.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733B4E5A-643B-48A7-9A15-65992C4B425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3862514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Black | Security Command and Control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AC3ACB-CEF4-C348-B5E4-19B472DC77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23668" y="93136"/>
            <a:ext cx="5868970" cy="50503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492328-EF45-C248-A3F6-4D657BDF65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F83BE4FA-9633-459F-BE35-179379630BD0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66D99F-B6D3-4373-92AA-35608433899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TITLE HERE. ALL CAPS. WHITE. 24 PT.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4FB63CB-93FC-4AE3-9048-27495C4062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8075856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Black | Locomo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90384" y="260269"/>
            <a:ext cx="5329093" cy="42423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492328-EF45-C248-A3F6-4D657BDF65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4AC524A5-0E0C-4F96-99A2-403EA3C95970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062EDE-CAB4-47B4-AF8B-72A834EADB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TITLE HERE. ALL CAPS. WHITE. 24 PT.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77ECC5FB-2D20-4497-9909-145C51050D7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284815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White | Boeing 73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81D3C9-6688-CC45-BF54-30A4400776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03" y="8313"/>
            <a:ext cx="9145104" cy="5143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9DE39F-1219-A44A-AB4A-D47C0435FB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131638-5313-45B8-9754-1FA7D04412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A98F9608-51B0-474D-BA5F-F9ECF64ABF5B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67AA4070-7CFC-45F6-8A11-958B4586B16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15562260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White | Nacel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7C5CF0-9E37-7A47-9D82-B3A60502BE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05" y="0"/>
            <a:ext cx="9145105" cy="5143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30CC2B-A5A6-BB4A-A8F4-3B00AAEDF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ECB854-D675-4012-A4AC-390DA62756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FADEC670-F06F-4CEE-A2D9-28252A625173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38DCDD02-8449-418B-95C3-E9754A49AD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4100383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White | Sikorsky MH-60 Black Haw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8C3F82-8FA0-924D-8A57-29989F6A4B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" y="0"/>
            <a:ext cx="9144000" cy="51450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6474C2-E137-DC46-A951-0FBA354534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B1E88948-F082-46DD-BB94-5DCBA60EFCC8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17697A-EAFE-4135-8921-5431440E60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457200" y="2898796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F9EA1E71-B0DD-465E-9427-5EC5252786D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4144165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19716162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White | Ta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04FACE-BC53-0847-87C0-EF2E93991D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" y="0"/>
            <a:ext cx="9145105" cy="5143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C6D6F6-4941-9E41-A51D-53759FBC12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8309BDAA-004B-4140-AABA-BB1364D8F610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D629FB-A82B-419D-8026-16AF265ACD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463B4E96-5136-4A6F-B610-5993E3DD7E2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16019399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White | Airbus A34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F0AE72-72D5-774B-BB51-17A7F91B79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1"/>
            <a:ext cx="9144000" cy="51450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8268C0-9BA9-8241-A64D-DC266399C48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FB4238-3694-49D7-BE0D-0692B3D5F8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9A03443-77FC-4401-A49C-B5A91E342565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bg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bg1"/>
              </a:solidFill>
              <a:cs typeface="DIN-Light"/>
              <a:sym typeface="Verdana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C085BA19-55C6-4C03-91B2-521DB5A34C4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1472378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White | Airbus M40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A90811-AFCA-A945-9F77-046D8D2EF3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55004"/>
            <a:ext cx="8809703" cy="44984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F0FDA2-4D72-8E46-8787-DB5122FE5A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D7E615-EA42-44EE-A1B7-C23B714284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77B64A35-DFC2-4D2A-911D-4C3FE2C78629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9A2BD2B-7056-4FE1-BC33-69B2480A5C1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2735846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White | JTA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2C6A80-4394-6040-85A5-335D259C0B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ADBD5E-9EDA-4683-8F44-A72EA9E874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4D0EAC14-8D6E-48EF-A9FA-01AC98D7E162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bg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bg1"/>
              </a:solidFill>
              <a:cs typeface="DIN-Light"/>
              <a:sym typeface="Verdana"/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5D03DC87-026F-491E-BD43-AF2688C4C4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42990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White | Airbus A32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7AE78D-5B24-2D4A-9B7D-A74F88E58E3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B634C8E1-A684-455A-BF70-B7DA8CA9FB72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15698D-7197-494D-B3D5-DE75B5BDC3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6A9606B8-3A9E-4A99-93A9-80FF04DC5DA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19628382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Cover Slide | Solid |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F4A54FD8-B531-0B4E-8934-C853C4D67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022957"/>
            <a:ext cx="5179806" cy="1213210"/>
          </a:xfrm>
          <a:prstGeom prst="rect">
            <a:avLst/>
          </a:prstGeom>
        </p:spPr>
        <p:txBody>
          <a:bodyPr anchor="b"/>
          <a:lstStyle>
            <a:lvl1pPr marL="0" marR="0" indent="0" algn="l" defTabSz="4571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title HERE. ALL CAPS. white. 24 PT.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D31D793F-8D60-444C-B182-F47C65D273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1" y="3282132"/>
            <a:ext cx="517980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  <p:cxnSp>
        <p:nvCxnSpPr>
          <p:cNvPr id="23" name="Straight Connector 22"/>
          <p:cNvCxnSpPr/>
          <p:nvPr userDrawn="1"/>
        </p:nvCxnSpPr>
        <p:spPr>
          <a:xfrm>
            <a:off x="457200" y="457200"/>
            <a:ext cx="8686800" cy="0"/>
          </a:xfrm>
          <a:prstGeom prst="line">
            <a:avLst/>
          </a:prstGeom>
          <a:ln w="6350" cap="sq">
            <a:solidFill>
              <a:schemeClr val="accent1"/>
            </a:solidFill>
            <a:headEnd type="oval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A9C5333A-B230-47F1-B645-49DD0F86AF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AAEC19-A6B2-4318-8059-930560E2463A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B0D61B-C032-47A0-817B-E65EADC178E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410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Cover Slide | Solid |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F4A54FD8-B531-0B4E-8934-C853C4D67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022957"/>
            <a:ext cx="5179806" cy="1213210"/>
          </a:xfrm>
          <a:prstGeom prst="rect">
            <a:avLst/>
          </a:prstGeom>
        </p:spPr>
        <p:txBody>
          <a:bodyPr anchor="b"/>
          <a:lstStyle>
            <a:lvl1pPr marL="0" marR="0" indent="0" algn="l" defTabSz="4571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title HERE. ALL CAPS. black. 24 PT.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D31D793F-8D60-444C-B182-F47C65D273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2" y="3282132"/>
            <a:ext cx="517980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5E5816-AD7B-6F48-B91A-2A8D449EE7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457200" y="457200"/>
            <a:ext cx="8686800" cy="7434"/>
          </a:xfrm>
          <a:prstGeom prst="line">
            <a:avLst/>
          </a:prstGeom>
          <a:ln w="6350" cap="sq">
            <a:solidFill>
              <a:schemeClr val="accent1"/>
            </a:solidFill>
            <a:headEnd type="oval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4A3360-5419-403A-BF9A-FFDBE6F34F28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8E21A3-FD86-4B24-9BF4-D756D4A8106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663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Cover Slide | Solid | Terra Cott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F4A54FD8-B531-0B4E-8934-C853C4D67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022957"/>
            <a:ext cx="5179806" cy="1213210"/>
          </a:xfrm>
          <a:prstGeom prst="rect">
            <a:avLst/>
          </a:prstGeom>
        </p:spPr>
        <p:txBody>
          <a:bodyPr anchor="b"/>
          <a:lstStyle>
            <a:lvl1pPr marL="0" marR="0" indent="0" algn="l" defTabSz="4571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title HERE. ALL CAPS. WHITE. 24 PT.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D31D793F-8D60-444C-B182-F47C65D273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2" y="3282132"/>
            <a:ext cx="517980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HERE. ALL CAPS. white. 11 PT.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457200"/>
            <a:ext cx="8686800" cy="7434"/>
          </a:xfrm>
          <a:prstGeom prst="line">
            <a:avLst/>
          </a:prstGeom>
          <a:ln w="6350" cap="sq">
            <a:solidFill>
              <a:schemeClr val="tx1"/>
            </a:solidFill>
            <a:headEnd type="oval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24E10CE-6D19-4A8A-AAD8-85840FDD8F3C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D1D29-7C65-4277-A32E-2FD693FAC8A7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1625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| Solid |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>
            <a:extLst>
              <a:ext uri="{FF2B5EF4-FFF2-40B4-BE49-F238E27FC236}">
                <a16:creationId xmlns:a16="http://schemas.microsoft.com/office/drawing/2014/main" id="{9CF9688B-74D5-7B40-871D-F5EADB2DA9E6}"/>
              </a:ext>
            </a:extLst>
          </p:cNvPr>
          <p:cNvSpPr/>
          <p:nvPr userDrawn="1"/>
        </p:nvSpPr>
        <p:spPr>
          <a:xfrm>
            <a:off x="261674" y="258795"/>
            <a:ext cx="8620665" cy="4235387"/>
          </a:xfrm>
          <a:custGeom>
            <a:avLst/>
            <a:gdLst>
              <a:gd name="connsiteX0" fmla="*/ 385314 w 8620665"/>
              <a:gd name="connsiteY0" fmla="*/ 0 h 4014159"/>
              <a:gd name="connsiteX1" fmla="*/ 8620665 w 8620665"/>
              <a:gd name="connsiteY1" fmla="*/ 0 h 4014159"/>
              <a:gd name="connsiteX2" fmla="*/ 8620665 w 8620665"/>
              <a:gd name="connsiteY2" fmla="*/ 4014159 h 4014159"/>
              <a:gd name="connsiteX3" fmla="*/ 0 w 8620665"/>
              <a:gd name="connsiteY3" fmla="*/ 4014159 h 4014159"/>
              <a:gd name="connsiteX4" fmla="*/ 0 w 8620665"/>
              <a:gd name="connsiteY4" fmla="*/ 408317 h 4014159"/>
              <a:gd name="connsiteX0" fmla="*/ 304632 w 8620665"/>
              <a:gd name="connsiteY0" fmla="*/ 8965 h 4014159"/>
              <a:gd name="connsiteX1" fmla="*/ 8620665 w 8620665"/>
              <a:gd name="connsiteY1" fmla="*/ 0 h 4014159"/>
              <a:gd name="connsiteX2" fmla="*/ 8620665 w 8620665"/>
              <a:gd name="connsiteY2" fmla="*/ 4014159 h 4014159"/>
              <a:gd name="connsiteX3" fmla="*/ 0 w 8620665"/>
              <a:gd name="connsiteY3" fmla="*/ 4014159 h 4014159"/>
              <a:gd name="connsiteX4" fmla="*/ 0 w 8620665"/>
              <a:gd name="connsiteY4" fmla="*/ 408317 h 4014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20665" h="4014159">
                <a:moveTo>
                  <a:pt x="304632" y="8965"/>
                </a:moveTo>
                <a:lnTo>
                  <a:pt x="8620665" y="0"/>
                </a:lnTo>
                <a:lnTo>
                  <a:pt x="8620665" y="4014159"/>
                </a:lnTo>
                <a:lnTo>
                  <a:pt x="0" y="4014159"/>
                </a:lnTo>
                <a:lnTo>
                  <a:pt x="0" y="408317"/>
                </a:lnTo>
              </a:path>
            </a:pathLst>
          </a:custGeom>
          <a:noFill/>
          <a:ln w="15875">
            <a:solidFill>
              <a:schemeClr val="tx1"/>
            </a:solidFill>
            <a:headEnd type="oval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77F097C-CB5B-3641-B30F-3DA07CE8FD3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1882" y="4055356"/>
            <a:ext cx="5185126" cy="313448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775191-E448-4A35-BD8D-CDF8EAEF46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EE988F-F066-469F-B9DB-2509596932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374" y="1546054"/>
            <a:ext cx="8238744" cy="250930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500" spc="500">
                <a:ea typeface="+mn-ea"/>
              </a:defRPr>
            </a:lvl1pPr>
          </a:lstStyle>
          <a:p>
            <a:pPr lvl="0"/>
            <a:r>
              <a:rPr lang="en-US" dirty="0"/>
              <a:t>TRANSITION TITLE. </a:t>
            </a:r>
            <a:br>
              <a:rPr lang="en-US" dirty="0"/>
            </a:br>
            <a:r>
              <a:rPr lang="en-US" dirty="0"/>
              <a:t>ALL CAPS. WHITE. </a:t>
            </a:r>
            <a:br>
              <a:rPr lang="en-US" dirty="0"/>
            </a:br>
            <a:r>
              <a:rPr lang="en-US" dirty="0"/>
              <a:t>45 PT.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DB6529-7FFC-481C-8C50-839650D8F5EB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30380-8D6C-48ED-B960-5D3CA89888C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709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| Solid |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>
            <a:extLst>
              <a:ext uri="{FF2B5EF4-FFF2-40B4-BE49-F238E27FC236}">
                <a16:creationId xmlns:a16="http://schemas.microsoft.com/office/drawing/2014/main" id="{9CF9688B-74D5-7B40-871D-F5EADB2DA9E6}"/>
              </a:ext>
            </a:extLst>
          </p:cNvPr>
          <p:cNvSpPr/>
          <p:nvPr userDrawn="1"/>
        </p:nvSpPr>
        <p:spPr>
          <a:xfrm>
            <a:off x="261674" y="258795"/>
            <a:ext cx="8620665" cy="4235387"/>
          </a:xfrm>
          <a:custGeom>
            <a:avLst/>
            <a:gdLst>
              <a:gd name="connsiteX0" fmla="*/ 385314 w 8620665"/>
              <a:gd name="connsiteY0" fmla="*/ 0 h 4014159"/>
              <a:gd name="connsiteX1" fmla="*/ 8620665 w 8620665"/>
              <a:gd name="connsiteY1" fmla="*/ 0 h 4014159"/>
              <a:gd name="connsiteX2" fmla="*/ 8620665 w 8620665"/>
              <a:gd name="connsiteY2" fmla="*/ 4014159 h 4014159"/>
              <a:gd name="connsiteX3" fmla="*/ 0 w 8620665"/>
              <a:gd name="connsiteY3" fmla="*/ 4014159 h 4014159"/>
              <a:gd name="connsiteX4" fmla="*/ 0 w 8620665"/>
              <a:gd name="connsiteY4" fmla="*/ 408317 h 4014159"/>
              <a:gd name="connsiteX0" fmla="*/ 304632 w 8620665"/>
              <a:gd name="connsiteY0" fmla="*/ 8965 h 4014159"/>
              <a:gd name="connsiteX1" fmla="*/ 8620665 w 8620665"/>
              <a:gd name="connsiteY1" fmla="*/ 0 h 4014159"/>
              <a:gd name="connsiteX2" fmla="*/ 8620665 w 8620665"/>
              <a:gd name="connsiteY2" fmla="*/ 4014159 h 4014159"/>
              <a:gd name="connsiteX3" fmla="*/ 0 w 8620665"/>
              <a:gd name="connsiteY3" fmla="*/ 4014159 h 4014159"/>
              <a:gd name="connsiteX4" fmla="*/ 0 w 8620665"/>
              <a:gd name="connsiteY4" fmla="*/ 408317 h 4014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20665" h="4014159">
                <a:moveTo>
                  <a:pt x="304632" y="8965"/>
                </a:moveTo>
                <a:lnTo>
                  <a:pt x="8620665" y="0"/>
                </a:lnTo>
                <a:lnTo>
                  <a:pt x="8620665" y="4014159"/>
                </a:lnTo>
                <a:lnTo>
                  <a:pt x="0" y="4014159"/>
                </a:lnTo>
                <a:lnTo>
                  <a:pt x="0" y="408317"/>
                </a:lnTo>
              </a:path>
            </a:pathLst>
          </a:custGeom>
          <a:noFill/>
          <a:ln w="15875">
            <a:solidFill>
              <a:schemeClr val="tx1"/>
            </a:solidFill>
            <a:headEnd type="oval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77F097C-CB5B-3641-B30F-3DA07CE8FD3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1882" y="4055356"/>
            <a:ext cx="5185126" cy="313448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602C9D-8D7C-4247-A742-B5A6A7EBC5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8A2C1F3-FA25-47B6-8A37-E9A0CD151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374" y="1546054"/>
            <a:ext cx="8238744" cy="250930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500" spc="500">
                <a:ea typeface="+mn-ea"/>
              </a:defRPr>
            </a:lvl1pPr>
          </a:lstStyle>
          <a:p>
            <a:pPr lvl="0"/>
            <a:r>
              <a:rPr lang="en-US" dirty="0"/>
              <a:t>TRANSITION TITLE. </a:t>
            </a:r>
            <a:br>
              <a:rPr lang="en-US" dirty="0"/>
            </a:br>
            <a:r>
              <a:rPr lang="en-US" dirty="0"/>
              <a:t>ALL CAPS. Black. </a:t>
            </a:r>
            <a:br>
              <a:rPr lang="en-US" dirty="0"/>
            </a:br>
            <a:r>
              <a:rPr lang="en-US" dirty="0"/>
              <a:t>45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2BE83E-D886-418F-9C93-2D5DEA9C3484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A2071B-2C30-49B6-95FF-C5CCFE8BAA7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3983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| Solid | Terra Cott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>
            <a:extLst>
              <a:ext uri="{FF2B5EF4-FFF2-40B4-BE49-F238E27FC236}">
                <a16:creationId xmlns:a16="http://schemas.microsoft.com/office/drawing/2014/main" id="{9CF9688B-74D5-7B40-871D-F5EADB2DA9E6}"/>
              </a:ext>
            </a:extLst>
          </p:cNvPr>
          <p:cNvSpPr/>
          <p:nvPr userDrawn="1"/>
        </p:nvSpPr>
        <p:spPr>
          <a:xfrm>
            <a:off x="261674" y="258795"/>
            <a:ext cx="8620665" cy="4235387"/>
          </a:xfrm>
          <a:custGeom>
            <a:avLst/>
            <a:gdLst>
              <a:gd name="connsiteX0" fmla="*/ 385314 w 8620665"/>
              <a:gd name="connsiteY0" fmla="*/ 0 h 4014159"/>
              <a:gd name="connsiteX1" fmla="*/ 8620665 w 8620665"/>
              <a:gd name="connsiteY1" fmla="*/ 0 h 4014159"/>
              <a:gd name="connsiteX2" fmla="*/ 8620665 w 8620665"/>
              <a:gd name="connsiteY2" fmla="*/ 4014159 h 4014159"/>
              <a:gd name="connsiteX3" fmla="*/ 0 w 8620665"/>
              <a:gd name="connsiteY3" fmla="*/ 4014159 h 4014159"/>
              <a:gd name="connsiteX4" fmla="*/ 0 w 8620665"/>
              <a:gd name="connsiteY4" fmla="*/ 408317 h 4014159"/>
              <a:gd name="connsiteX0" fmla="*/ 304632 w 8620665"/>
              <a:gd name="connsiteY0" fmla="*/ 8965 h 4014159"/>
              <a:gd name="connsiteX1" fmla="*/ 8620665 w 8620665"/>
              <a:gd name="connsiteY1" fmla="*/ 0 h 4014159"/>
              <a:gd name="connsiteX2" fmla="*/ 8620665 w 8620665"/>
              <a:gd name="connsiteY2" fmla="*/ 4014159 h 4014159"/>
              <a:gd name="connsiteX3" fmla="*/ 0 w 8620665"/>
              <a:gd name="connsiteY3" fmla="*/ 4014159 h 4014159"/>
              <a:gd name="connsiteX4" fmla="*/ 0 w 8620665"/>
              <a:gd name="connsiteY4" fmla="*/ 408317 h 4014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20665" h="4014159">
                <a:moveTo>
                  <a:pt x="304632" y="8965"/>
                </a:moveTo>
                <a:lnTo>
                  <a:pt x="8620665" y="0"/>
                </a:lnTo>
                <a:lnTo>
                  <a:pt x="8620665" y="4014159"/>
                </a:lnTo>
                <a:lnTo>
                  <a:pt x="0" y="4014159"/>
                </a:lnTo>
                <a:lnTo>
                  <a:pt x="0" y="408317"/>
                </a:lnTo>
              </a:path>
            </a:pathLst>
          </a:custGeom>
          <a:noFill/>
          <a:ln w="15875">
            <a:solidFill>
              <a:schemeClr val="tx1"/>
            </a:solidFill>
            <a:headEnd type="oval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77F097C-CB5B-3641-B30F-3DA07CE8FD3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1882" y="4055356"/>
            <a:ext cx="5185126" cy="313448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HERE. ALL CAPS. white. 11 PT.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91C7030-7C21-4D01-94C3-78400167FE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374" y="1546054"/>
            <a:ext cx="8238744" cy="250930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500" spc="500">
                <a:solidFill>
                  <a:schemeClr val="tx1"/>
                </a:solidFill>
                <a:ea typeface="+mn-ea"/>
              </a:defRPr>
            </a:lvl1pPr>
          </a:lstStyle>
          <a:p>
            <a:pPr lvl="0"/>
            <a:r>
              <a:rPr lang="en-US" dirty="0"/>
              <a:t>TRANSITION TITLE. </a:t>
            </a:r>
            <a:br>
              <a:rPr lang="en-US" dirty="0"/>
            </a:br>
            <a:r>
              <a:rPr lang="en-US" dirty="0"/>
              <a:t>ALL CAPS. WHITE. </a:t>
            </a:r>
            <a:br>
              <a:rPr lang="en-US" dirty="0"/>
            </a:br>
            <a:r>
              <a:rPr lang="en-US" dirty="0"/>
              <a:t>45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B9FA3B2-D0F0-46D2-9466-44B642FC905B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3A297C-A2D6-40CA-AD99-EEB809D81A8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029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Headline + Sub + Body | White">
    <p:bg>
      <p:bgRef idx="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E5225AB-9C68-48C0-B481-4F436A3B7308}"/>
              </a:ext>
            </a:extLst>
          </p:cNvPr>
          <p:cNvSpPr>
            <a:spLocks noGrp="1"/>
          </p:cNvSpPr>
          <p:nvPr>
            <p:ph type="body" idx="2" hasCustomPrompt="1"/>
          </p:nvPr>
        </p:nvSpPr>
        <p:spPr>
          <a:xfrm>
            <a:off x="457200" y="875030"/>
            <a:ext cx="8229600" cy="30880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100" b="0" cap="all" spc="2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HERE. ALL CAPS. TERRA COTTA. 11 PT.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FBE7D4-FDCA-0F4E-B63D-291E8DDF9D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50120"/>
            <a:ext cx="8229600" cy="5688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BLACK. 24 PT.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8355C-FA3B-4066-92A2-32029C5A1754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57200" y="1261872"/>
            <a:ext cx="8229600" cy="3301320"/>
          </a:xfrm>
          <a:prstGeom prst="rect">
            <a:avLst/>
          </a:prstGeom>
        </p:spPr>
        <p:txBody>
          <a:bodyPr>
            <a:noAutofit/>
          </a:bodyPr>
          <a:lstStyle>
            <a:lvl1pPr marL="233363" indent="-225425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685800" indent="-225425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</a:defRPr>
            </a:lvl2pPr>
            <a:lvl3pPr marL="1142944" indent="-228588"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rgbClr val="FFFFFF"/>
                </a:solidFill>
              </a:defRPr>
            </a:lvl4pPr>
            <a:lvl5pPr>
              <a:defRPr sz="1200">
                <a:solidFill>
                  <a:srgbClr val="FFFF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C8824-0868-4FA8-BAE4-101D6897D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BBC995-616B-7C4C-B85E-C9DB4F03F7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6730C-B129-4981-BDF8-FCCAB3B25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4599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Headline + Body |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ECF2EFB-1FFD-0640-A59A-CE7F2263547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200" y="1051557"/>
            <a:ext cx="8229600" cy="3531731"/>
          </a:xfrm>
          <a:prstGeom prst="rect">
            <a:avLst/>
          </a:prstGeom>
        </p:spPr>
        <p:txBody>
          <a:bodyPr>
            <a:noAutofit/>
          </a:bodyPr>
          <a:lstStyle>
            <a:lvl1pPr marL="233363" indent="-225425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685800" indent="-225425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</a:defRPr>
            </a:lvl2pPr>
            <a:lvl3pPr marL="1142944" indent="-228588"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rgbClr val="FFFFFF"/>
                </a:solidFill>
              </a:defRPr>
            </a:lvl4pPr>
            <a:lvl5pPr>
              <a:defRPr sz="1200">
                <a:solidFill>
                  <a:srgbClr val="FFFF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539C789-234B-0041-B311-916160AEF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BLACK.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9E5EA4B-59AD-415B-8D7A-5804883562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BBC995-616B-7C4C-B85E-C9DB4F03F7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6F1E04-0B6C-4B81-9C54-243FC5DE3E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9656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Headline + Sub |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387E6DC-BC84-4C86-A9DE-0160AC1C9D9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875030"/>
            <a:ext cx="8229600" cy="30880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100" b="0" cap="all" spc="2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HERE. ALL CAPS. TERRA COTTA. 11 PT.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33CA67-2743-BE45-A4E6-B088ACBBAB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Black.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AD5D2E-A2AC-4899-90EB-41A4D9D521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BBC995-616B-7C4C-B85E-C9DB4F03F7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3E2829-C632-4D45-94B3-B004173EEE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2972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Headline |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D42A82-65F5-9643-8C5E-E126C1F2FF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Black.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85A6D3-BFB1-4C67-96C5-155EB52E99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BBC995-616B-7C4C-B85E-C9DB4F03F7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4C15CF-47DB-495F-9FCC-9F29980C5D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4407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3 Collage + Sub | Whit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45A6B3B-BED3-47B7-ABC7-94D4715C511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875030"/>
            <a:ext cx="8229600" cy="30880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100" b="0" cap="all" spc="2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HERE. ALL CAPS. TERRA COTTA. 11 PT.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AFF837-9556-424F-BF3B-DC25B3885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BLACK.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0F5C344-815E-4E6C-A632-35A2661C7C8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EFF72F07-E416-4EC9-BFB1-4C53521819A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480303"/>
            <a:ext cx="3108960" cy="68483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B604ED8E-155F-4A46-8432-A06E849BF6D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97809" y="1480302"/>
            <a:ext cx="6035040" cy="278816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B83E9807-3886-4F79-9EE8-B285427DC91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2165133"/>
            <a:ext cx="3108960" cy="2103337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ABBC995-616B-7C4C-B85E-C9DB4F03F7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EC55EE-56F3-4C86-AA4D-E940CBB8B9F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870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3 Collage | Whit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A98B6A-953C-CB4D-B187-26021C9C7C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BLACK.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595D5D8-5FFC-44B7-B3F9-A60157051E2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B9372DE6-DCF8-476C-A783-0468C556516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164689"/>
            <a:ext cx="3108960" cy="91635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05D7251-2D12-4ED9-B64E-0883A8600C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097809" y="1166648"/>
            <a:ext cx="6035040" cy="3060975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891B195-2B7F-4952-BE48-9C09438F1A3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2081048"/>
            <a:ext cx="3108960" cy="2146575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BBC995-616B-7C4C-B85E-C9DB4F03F7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13834E-16A5-4F30-87AB-A27ECFD0766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0607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Two Columns |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DB3C81C-40F3-42DA-9512-9E80A45B22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875030"/>
            <a:ext cx="8229600" cy="30880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100" b="0" cap="all" spc="2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HERE. ALL CAPS. TERRA COTTA. 11 PT.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0FBF85-F908-9543-AF8C-C05EF7A128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BLACK.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9D82DC-4516-4CFC-A86F-BFEA28FF5E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BBC995-616B-7C4C-B85E-C9DB4F03F7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4C5A4B9D-E5EB-4E0B-9B27-98BCC447BC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200" y="1315074"/>
            <a:ext cx="4040188" cy="3279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F1C83059-51E5-4C78-98F2-FD7F352BC5B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45025" y="1315995"/>
            <a:ext cx="4040188" cy="32729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22D29-83B6-4887-8B46-FACDF1A79E7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194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Three Columns |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958B17C-FE6E-4F59-A161-671D59ABF97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57200" y="875030"/>
            <a:ext cx="8229600" cy="30880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100" b="0" cap="all" spc="2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HERE. ALL CAPS. TERRA COTTA. 11 PT.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82CE58-32D5-3345-8D45-4B2911CEF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BLACK.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CD36293-A803-4765-A0C6-F9722EFE8E9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ABBC995-616B-7C4C-B85E-C9DB4F03F7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1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66132"/>
            <a:ext cx="2651760" cy="3305868"/>
          </a:xfrm>
        </p:spPr>
        <p:txBody>
          <a:bodyPr>
            <a:noAutofit/>
          </a:bodyPr>
          <a:lstStyle>
            <a:lvl1pPr>
              <a:buClr>
                <a:schemeClr val="accent1"/>
              </a:buClr>
              <a:defRPr sz="1600"/>
            </a:lvl1pPr>
            <a:lvl2pPr>
              <a:buClr>
                <a:schemeClr val="accent1"/>
              </a:buClr>
              <a:defRPr sz="1400"/>
            </a:lvl2pPr>
            <a:lvl3pPr>
              <a:buClr>
                <a:schemeClr val="accent1"/>
              </a:buClr>
              <a:defRPr sz="1200"/>
            </a:lvl3pPr>
            <a:lvl4pPr marL="1371532" indent="0">
              <a:buClr>
                <a:schemeClr val="bg2"/>
              </a:buClr>
              <a:buNone/>
              <a:defRPr sz="1200"/>
            </a:lvl4pPr>
            <a:lvl5pPr>
              <a:buClr>
                <a:schemeClr val="bg2"/>
              </a:buCl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35040" y="1266132"/>
            <a:ext cx="2651760" cy="3305868"/>
          </a:xfrm>
        </p:spPr>
        <p:txBody>
          <a:bodyPr>
            <a:noAutofit/>
          </a:bodyPr>
          <a:lstStyle>
            <a:lvl1pPr>
              <a:buClr>
                <a:schemeClr val="accent1"/>
              </a:buClr>
              <a:defRPr sz="1600"/>
            </a:lvl1pPr>
            <a:lvl2pPr>
              <a:buClr>
                <a:schemeClr val="accent1"/>
              </a:buClr>
              <a:defRPr sz="1400"/>
            </a:lvl2pPr>
            <a:lvl3pPr>
              <a:buClr>
                <a:schemeClr val="accent1"/>
              </a:buClr>
              <a:defRPr sz="1200"/>
            </a:lvl3pPr>
            <a:lvl4pPr>
              <a:buClr>
                <a:schemeClr val="bg2"/>
              </a:buClr>
              <a:defRPr sz="1200"/>
            </a:lvl4pPr>
            <a:lvl5pPr>
              <a:buClr>
                <a:schemeClr val="bg2"/>
              </a:buCl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half" idx="12" hasCustomPrompt="1"/>
          </p:nvPr>
        </p:nvSpPr>
        <p:spPr>
          <a:xfrm>
            <a:off x="3246120" y="1266132"/>
            <a:ext cx="2651760" cy="3305868"/>
          </a:xfrm>
        </p:spPr>
        <p:txBody>
          <a:bodyPr>
            <a:noAutofit/>
          </a:bodyPr>
          <a:lstStyle>
            <a:lvl1pPr>
              <a:buClr>
                <a:schemeClr val="accent1"/>
              </a:buClr>
              <a:defRPr sz="1600"/>
            </a:lvl1pPr>
            <a:lvl2pPr>
              <a:buClr>
                <a:schemeClr val="accent1"/>
              </a:buClr>
              <a:defRPr sz="1400"/>
            </a:lvl2pPr>
            <a:lvl3pPr>
              <a:buClr>
                <a:schemeClr val="accent1"/>
              </a:buClr>
              <a:defRPr sz="1200"/>
            </a:lvl3pPr>
            <a:lvl4pPr>
              <a:buClr>
                <a:schemeClr val="bg2"/>
              </a:buClr>
              <a:defRPr sz="1200"/>
            </a:lvl4pPr>
            <a:lvl5pPr>
              <a:buClr>
                <a:schemeClr val="bg2"/>
              </a:buCl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4BAAF-F2D1-459C-AC12-D3DB70C0866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758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|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D2D24D-4C09-1045-A1DC-71AFF869A4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193"/>
          <a:stretch/>
        </p:blipFill>
        <p:spPr>
          <a:xfrm rot="5400000">
            <a:off x="-464277" y="464277"/>
            <a:ext cx="5143501" cy="421494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BF84B69-E00D-6C48-AA83-A9DA1295FC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99131" y="2806063"/>
            <a:ext cx="3653363" cy="373218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/>
              <a:buNone/>
              <a:defRPr b="0">
                <a:solidFill>
                  <a:schemeClr val="tx1"/>
                </a:solidFill>
              </a:defRPr>
            </a:lvl1pPr>
            <a:lvl2pPr marL="742913" indent="-285736">
              <a:buFont typeface="Arial"/>
              <a:buChar char="•"/>
              <a:defRPr>
                <a:solidFill>
                  <a:schemeClr val="bg1"/>
                </a:solidFill>
              </a:defRPr>
            </a:lvl2pPr>
            <a:lvl3pPr marL="1200090" indent="-285736">
              <a:buFont typeface="Arial"/>
              <a:buChar char="•"/>
              <a:defRPr>
                <a:solidFill>
                  <a:schemeClr val="bg1"/>
                </a:solidFill>
              </a:defRPr>
            </a:lvl3pPr>
            <a:lvl4pPr marL="1657268" indent="-285736">
              <a:buFont typeface="Arial"/>
              <a:buChar char="•"/>
              <a:defRPr>
                <a:solidFill>
                  <a:schemeClr val="bg1"/>
                </a:solidFill>
              </a:defRPr>
            </a:lvl4pPr>
            <a:lvl5pPr marL="2114445" indent="-285736">
              <a:buFont typeface="Arial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563264-7759-FA45-9A58-015466D6032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5099131" y="3179281"/>
            <a:ext cx="3653363" cy="373218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/>
              <a:buNone/>
              <a:defRPr baseline="0">
                <a:solidFill>
                  <a:schemeClr val="tx1"/>
                </a:solidFill>
              </a:defRPr>
            </a:lvl1pPr>
            <a:lvl2pPr marL="742913" indent="-285736">
              <a:buFont typeface="Arial"/>
              <a:buChar char="•"/>
              <a:defRPr>
                <a:solidFill>
                  <a:schemeClr val="bg1"/>
                </a:solidFill>
              </a:defRPr>
            </a:lvl2pPr>
            <a:lvl3pPr marL="1200090" indent="-285736">
              <a:buFont typeface="Arial"/>
              <a:buChar char="•"/>
              <a:defRPr>
                <a:solidFill>
                  <a:schemeClr val="bg1"/>
                </a:solidFill>
              </a:defRPr>
            </a:lvl3pPr>
            <a:lvl4pPr marL="1657268" indent="-285736">
              <a:buFont typeface="Arial"/>
              <a:buChar char="•"/>
              <a:defRPr>
                <a:solidFill>
                  <a:schemeClr val="bg1"/>
                </a:solidFill>
              </a:defRPr>
            </a:lvl4pPr>
            <a:lvl5pPr marL="2114445" indent="-285736">
              <a:buFont typeface="Arial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5C073DC-BC1C-4940-80D4-3F38B2AD95E9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5099131" y="3552499"/>
            <a:ext cx="3653363" cy="373218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/>
              <a:buNone/>
              <a:defRPr baseline="0">
                <a:solidFill>
                  <a:schemeClr val="tx1"/>
                </a:solidFill>
              </a:defRPr>
            </a:lvl1pPr>
            <a:lvl2pPr marL="742913" indent="-285736">
              <a:buFont typeface="Arial"/>
              <a:buChar char="•"/>
              <a:defRPr>
                <a:solidFill>
                  <a:schemeClr val="bg1"/>
                </a:solidFill>
              </a:defRPr>
            </a:lvl2pPr>
            <a:lvl3pPr marL="1200090" indent="-285736">
              <a:buFont typeface="Arial"/>
              <a:buChar char="•"/>
              <a:defRPr>
                <a:solidFill>
                  <a:schemeClr val="bg1"/>
                </a:solidFill>
              </a:defRPr>
            </a:lvl3pPr>
            <a:lvl4pPr marL="1657268" indent="-285736">
              <a:buFont typeface="Arial"/>
              <a:buChar char="•"/>
              <a:defRPr>
                <a:solidFill>
                  <a:schemeClr val="bg1"/>
                </a:solidFill>
              </a:defRPr>
            </a:lvl4pPr>
            <a:lvl5pPr marL="2114445" indent="-285736">
              <a:buFont typeface="Arial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phone number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B218102-057F-FF40-966C-013A6C221BE1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5099131" y="3925717"/>
            <a:ext cx="3653363" cy="373218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/>
              <a:buNone/>
              <a:defRPr baseline="0">
                <a:solidFill>
                  <a:schemeClr val="tx1"/>
                </a:solidFill>
              </a:defRPr>
            </a:lvl1pPr>
            <a:lvl2pPr marL="742913" indent="-285736">
              <a:buFont typeface="Arial"/>
              <a:buChar char="•"/>
              <a:defRPr>
                <a:solidFill>
                  <a:schemeClr val="bg1"/>
                </a:solidFill>
              </a:defRPr>
            </a:lvl2pPr>
            <a:lvl3pPr marL="1200090" indent="-285736">
              <a:buFont typeface="Arial"/>
              <a:buChar char="•"/>
              <a:defRPr>
                <a:solidFill>
                  <a:schemeClr val="bg1"/>
                </a:solidFill>
              </a:defRPr>
            </a:lvl3pPr>
            <a:lvl4pPr marL="1657268" indent="-285736">
              <a:buFont typeface="Arial"/>
              <a:buChar char="•"/>
              <a:defRPr>
                <a:solidFill>
                  <a:schemeClr val="bg1"/>
                </a:solidFill>
              </a:defRPr>
            </a:lvl4pPr>
            <a:lvl5pPr marL="2114445" indent="-285736">
              <a:buFont typeface="Arial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email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1AFDEE-92E8-CE48-A6CF-DFDDF3E12574}"/>
              </a:ext>
            </a:extLst>
          </p:cNvPr>
          <p:cNvSpPr txBox="1"/>
          <p:nvPr userDrawn="1"/>
        </p:nvSpPr>
        <p:spPr>
          <a:xfrm>
            <a:off x="5099128" y="2340921"/>
            <a:ext cx="27006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cap="all" spc="500" baseline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D38C1D-56BF-4D49-B2FD-ECDD69907AD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E77BC2-6090-4087-8B29-C898F11D776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2706B3-B467-43B9-BA08-701CC04B987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827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|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E825543-6B7F-4B41-BD8C-976212A546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BBC995-616B-7C4C-B85E-C9DB4F03F7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882028-C1CE-4B82-A985-EB48E9AC23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1313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| White | No Log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4572E7-7425-4C17-972B-9287FED039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8F65903-5687-4A73-8751-EACBB5AEF14B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DB0995-EA19-4990-AF4B-4097FA44D9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164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Headline + Sub + Body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61B13AE-08FF-4182-B13B-7EB8F4FA053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200" y="1421514"/>
            <a:ext cx="8229600" cy="3141678"/>
          </a:xfrm>
        </p:spPr>
        <p:txBody>
          <a:bodyPr>
            <a:noAutofit/>
          </a:bodyPr>
          <a:lstStyle>
            <a:lvl1pPr marL="233363" indent="-225425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685800" indent="-225425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</a:defRPr>
            </a:lvl2pPr>
            <a:lvl3pPr marL="1142944" indent="-228588"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rgbClr val="FFFFFF"/>
                </a:solidFill>
              </a:defRPr>
            </a:lvl4pPr>
            <a:lvl5pPr>
              <a:defRPr sz="1200">
                <a:solidFill>
                  <a:srgbClr val="FFFF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F01E6AB-8035-CC44-8226-FB6BA86CD6B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875030"/>
            <a:ext cx="8229600" cy="308805"/>
          </a:xfrm>
        </p:spPr>
        <p:txBody>
          <a:bodyPr anchor="t">
            <a:normAutofit/>
          </a:bodyPr>
          <a:lstStyle>
            <a:lvl1pPr marL="0" indent="0">
              <a:buNone/>
              <a:defRPr sz="1100" b="0" cap="all" spc="2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dirty="0"/>
              <a:t>SUBTITLE | ALL CAPS | TERRA COTTA | 11 PT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FBE7D4-FDCA-0F4E-B63D-291E8DDF9D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WHITE.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98CEBD0-B598-4282-959B-6D2209CB9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D98B8D-DCA3-4BD6-A11A-ED3B7B2C6A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6072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Headline + Body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ECF2EFB-1FFD-0640-A59A-CE7F2263547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200" y="1051034"/>
            <a:ext cx="8229600" cy="3498388"/>
          </a:xfrm>
        </p:spPr>
        <p:txBody>
          <a:bodyPr>
            <a:noAutofit/>
          </a:bodyPr>
          <a:lstStyle>
            <a:lvl1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685800" indent="-225425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</a:defRPr>
            </a:lvl2pPr>
            <a:lvl3pPr marL="1142944" indent="-228588"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rgbClr val="FFFFFF"/>
                </a:solidFill>
              </a:defRPr>
            </a:lvl4pPr>
            <a:lvl5pPr>
              <a:defRPr sz="1200">
                <a:solidFill>
                  <a:srgbClr val="FFFF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539C789-234B-0041-B311-916160AEF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WHITE.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49B8D00-5DA5-4638-B20A-F06736E623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805BD7-0FC8-4CFC-8B71-3CC33B9FBF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4707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Headline + Sub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A13725E-EEC9-A541-A129-451A9DC7953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875030"/>
            <a:ext cx="8229600" cy="308805"/>
          </a:xfrm>
        </p:spPr>
        <p:txBody>
          <a:bodyPr anchor="t">
            <a:normAutofit/>
          </a:bodyPr>
          <a:lstStyle>
            <a:lvl1pPr marL="0" indent="0">
              <a:buNone/>
              <a:defRPr sz="1100" b="0" cap="all" spc="2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dirty="0"/>
              <a:t>SUBTITLE | ALL CAPS | TERRA COTTA | 11 PT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33CA67-2743-BE45-A4E6-B088ACBBAB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WHITE.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DD23D9B-E365-4390-B4C2-73EC374CAB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4FBCDF-CD63-4BEF-BE6A-CD05B51514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71333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Headline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D42A82-65F5-9643-8C5E-E126C1F2FF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WHITE.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24F9EE2-4406-4C21-92F4-F3E5A020A8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DD45E3-18F7-4B84-9FB9-181D23BECA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37922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3 Collage + Sub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77EED0EA-774D-0F41-A218-DE820FFCF14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480303"/>
            <a:ext cx="3108960" cy="684830"/>
          </a:xfr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A25B962-B6D5-E443-8523-A4362723BE0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97809" y="1480302"/>
            <a:ext cx="6035040" cy="3107004"/>
          </a:xfr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9303EEA9-2941-B74E-9117-7A9AD13BCAF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2165133"/>
            <a:ext cx="3108960" cy="2422174"/>
          </a:xfr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109CE1B-EC33-4340-989A-4E157D4BA7D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875030"/>
            <a:ext cx="8229600" cy="308805"/>
          </a:xfrm>
        </p:spPr>
        <p:txBody>
          <a:bodyPr anchor="t">
            <a:normAutofit/>
          </a:bodyPr>
          <a:lstStyle>
            <a:lvl1pPr marL="0" indent="0">
              <a:buNone/>
              <a:defRPr sz="1100" b="0" cap="all" spc="2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dirty="0"/>
              <a:t>SUBTITLE | ALL CAPS | TERRA COTTA | 11 PT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AFF837-9556-424F-BF3B-DC25B3885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WHITE.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94FD6C8-43BC-4102-ACE7-BF469C8BBAF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1BDE68-94B6-4E33-A15B-7D0201FF59A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63173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3 Collage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BF40DBD9-649C-9E44-A365-E9AF1300ECB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164689"/>
            <a:ext cx="3108960" cy="916359"/>
          </a:xfr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1115DFFC-CD2E-F041-805B-96932B19DA1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097809" y="1166648"/>
            <a:ext cx="6035040" cy="3420657"/>
          </a:xfr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5025509D-C23E-E24C-9625-BD927A967CA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2081048"/>
            <a:ext cx="3108960" cy="2506257"/>
          </a:xfr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A98B6A-953C-CB4D-B187-26021C9C7C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WHITE.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821283D-BD12-4875-AF80-4F52F686B3D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CF32B8-F448-4736-85DD-63E5A177F60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06081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Two Columns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044BBBB-5C96-3A4C-B91C-AC2AB125BBA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875030"/>
            <a:ext cx="8229600" cy="308805"/>
          </a:xfrm>
        </p:spPr>
        <p:txBody>
          <a:bodyPr anchor="t">
            <a:normAutofit/>
          </a:bodyPr>
          <a:lstStyle>
            <a:lvl1pPr marL="0" indent="0">
              <a:buNone/>
              <a:defRPr sz="1100" b="0" cap="all" spc="2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dirty="0"/>
              <a:t>SUBTITLE | ALL CAPS | TERRA COTTA | 11 PT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0FBF85-F908-9543-AF8C-C05EF7A128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WHITE.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D401187-5DE5-46F5-BE19-2596CA0E38C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4C5A4B9D-E5EB-4E0B-9B27-98BCC447BC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200" y="1315073"/>
            <a:ext cx="4040188" cy="324563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F1C83059-51E5-4C78-98F2-FD7F352BC5B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5025" y="1315995"/>
            <a:ext cx="4040188" cy="323914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ED366-2A05-459B-9DF8-5BF698B7A4F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7085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Three Columns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D6962E5-3DA9-814E-8D8E-BA7C9106E7CA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57200" y="875030"/>
            <a:ext cx="8229600" cy="308805"/>
          </a:xfrm>
        </p:spPr>
        <p:txBody>
          <a:bodyPr anchor="t">
            <a:normAutofit/>
          </a:bodyPr>
          <a:lstStyle>
            <a:lvl1pPr marL="0" indent="0">
              <a:buNone/>
              <a:defRPr sz="1100" b="0" cap="all" spc="2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dirty="0"/>
              <a:t>SUBTITLE | ALL CAPS | TERRA COTTA | 11 PT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82CE58-32D5-3345-8D45-4B2911CEF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WHITE.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8A64F6-4B15-444C-BB90-5F5E8F3B383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66131"/>
            <a:ext cx="2651760" cy="3294579"/>
          </a:xfrm>
        </p:spPr>
        <p:txBody>
          <a:bodyPr>
            <a:noAutofit/>
          </a:bodyPr>
          <a:lstStyle>
            <a:lvl1pPr>
              <a:buClr>
                <a:schemeClr val="accent1"/>
              </a:buClr>
              <a:defRPr sz="1600"/>
            </a:lvl1pPr>
            <a:lvl2pPr>
              <a:buClr>
                <a:schemeClr val="accent1"/>
              </a:buClr>
              <a:defRPr sz="1400"/>
            </a:lvl2pPr>
            <a:lvl3pPr>
              <a:buClr>
                <a:schemeClr val="accent1"/>
              </a:buClr>
              <a:defRPr sz="1200"/>
            </a:lvl3pPr>
            <a:lvl4pPr marL="1371532" indent="0">
              <a:buClr>
                <a:schemeClr val="bg2"/>
              </a:buClr>
              <a:buNone/>
              <a:defRPr sz="1200"/>
            </a:lvl4pPr>
            <a:lvl5pPr>
              <a:buClr>
                <a:schemeClr val="bg2"/>
              </a:buCl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35040" y="1266131"/>
            <a:ext cx="2651760" cy="3294579"/>
          </a:xfrm>
        </p:spPr>
        <p:txBody>
          <a:bodyPr>
            <a:noAutofit/>
          </a:bodyPr>
          <a:lstStyle>
            <a:lvl1pPr>
              <a:buClr>
                <a:schemeClr val="accent1"/>
              </a:buClr>
              <a:defRPr sz="1600"/>
            </a:lvl1pPr>
            <a:lvl2pPr>
              <a:buClr>
                <a:schemeClr val="accent1"/>
              </a:buClr>
              <a:defRPr sz="1400"/>
            </a:lvl2pPr>
            <a:lvl3pPr>
              <a:buClr>
                <a:schemeClr val="accent1"/>
              </a:buClr>
              <a:defRPr sz="1200"/>
            </a:lvl3pPr>
            <a:lvl4pPr>
              <a:buClr>
                <a:schemeClr val="bg2"/>
              </a:buClr>
              <a:defRPr sz="1200"/>
            </a:lvl4pPr>
            <a:lvl5pPr>
              <a:buClr>
                <a:schemeClr val="bg2"/>
              </a:buCl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12" hasCustomPrompt="1"/>
          </p:nvPr>
        </p:nvSpPr>
        <p:spPr>
          <a:xfrm>
            <a:off x="3246120" y="1266131"/>
            <a:ext cx="2651760" cy="3294579"/>
          </a:xfrm>
        </p:spPr>
        <p:txBody>
          <a:bodyPr>
            <a:noAutofit/>
          </a:bodyPr>
          <a:lstStyle>
            <a:lvl1pPr>
              <a:buClr>
                <a:schemeClr val="accent1"/>
              </a:buClr>
              <a:defRPr sz="1600"/>
            </a:lvl1pPr>
            <a:lvl2pPr>
              <a:buClr>
                <a:schemeClr val="accent1"/>
              </a:buClr>
              <a:defRPr sz="1400"/>
            </a:lvl2pPr>
            <a:lvl3pPr>
              <a:buClr>
                <a:schemeClr val="accent1"/>
              </a:buClr>
              <a:defRPr sz="1200"/>
            </a:lvl3pPr>
            <a:lvl4pPr>
              <a:buClr>
                <a:schemeClr val="bg2"/>
              </a:buClr>
              <a:defRPr sz="1200"/>
            </a:lvl4pPr>
            <a:lvl5pPr>
              <a:buClr>
                <a:schemeClr val="bg2"/>
              </a:buCl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9F715-BBA8-46EE-81BA-5AB0ECF70A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54582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3E82E80-41F8-5A4F-9047-2FA2E9AB9A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0"/>
            <a:ext cx="9144000" cy="5145024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BF84B69-E00D-6C48-AA83-A9DA1295FC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5" y="944993"/>
            <a:ext cx="3662979" cy="373218"/>
          </a:xfrm>
        </p:spPr>
        <p:txBody>
          <a:bodyPr anchor="ctr"/>
          <a:lstStyle>
            <a:lvl1pPr marL="0" indent="0">
              <a:buFont typeface="Arial"/>
              <a:buNone/>
              <a:defRPr b="0">
                <a:solidFill>
                  <a:schemeClr val="tx1"/>
                </a:solidFill>
              </a:defRPr>
            </a:lvl1pPr>
            <a:lvl2pPr marL="742913" indent="-285736">
              <a:buFont typeface="Arial"/>
              <a:buChar char="•"/>
              <a:defRPr>
                <a:solidFill>
                  <a:schemeClr val="bg1"/>
                </a:solidFill>
              </a:defRPr>
            </a:lvl2pPr>
            <a:lvl3pPr marL="1200090" indent="-285736">
              <a:buFont typeface="Arial"/>
              <a:buChar char="•"/>
              <a:defRPr>
                <a:solidFill>
                  <a:schemeClr val="bg1"/>
                </a:solidFill>
              </a:defRPr>
            </a:lvl3pPr>
            <a:lvl4pPr marL="1657268" indent="-285736">
              <a:buFont typeface="Arial"/>
              <a:buChar char="•"/>
              <a:defRPr>
                <a:solidFill>
                  <a:schemeClr val="bg1"/>
                </a:solidFill>
              </a:defRPr>
            </a:lvl4pPr>
            <a:lvl5pPr marL="2114445" indent="-285736">
              <a:buFont typeface="Arial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563264-7759-FA45-9A58-015466D6032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57205" y="1318211"/>
            <a:ext cx="3662979" cy="373218"/>
          </a:xfrm>
        </p:spPr>
        <p:txBody>
          <a:bodyPr anchor="ctr"/>
          <a:lstStyle>
            <a:lvl1pPr marL="0" indent="0">
              <a:buFont typeface="Arial"/>
              <a:buNone/>
              <a:defRPr baseline="0">
                <a:solidFill>
                  <a:schemeClr val="tx1"/>
                </a:solidFill>
              </a:defRPr>
            </a:lvl1pPr>
            <a:lvl2pPr marL="742913" indent="-285736">
              <a:buFont typeface="Arial"/>
              <a:buChar char="•"/>
              <a:defRPr>
                <a:solidFill>
                  <a:schemeClr val="bg1"/>
                </a:solidFill>
              </a:defRPr>
            </a:lvl2pPr>
            <a:lvl3pPr marL="1200090" indent="-285736">
              <a:buFont typeface="Arial"/>
              <a:buChar char="•"/>
              <a:defRPr>
                <a:solidFill>
                  <a:schemeClr val="bg1"/>
                </a:solidFill>
              </a:defRPr>
            </a:lvl3pPr>
            <a:lvl4pPr marL="1657268" indent="-285736">
              <a:buFont typeface="Arial"/>
              <a:buChar char="•"/>
              <a:defRPr>
                <a:solidFill>
                  <a:schemeClr val="bg1"/>
                </a:solidFill>
              </a:defRPr>
            </a:lvl4pPr>
            <a:lvl5pPr marL="2114445" indent="-285736">
              <a:buFont typeface="Arial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5C073DC-BC1C-4940-80D4-3F38B2AD95E9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57205" y="1691429"/>
            <a:ext cx="3662979" cy="373218"/>
          </a:xfrm>
        </p:spPr>
        <p:txBody>
          <a:bodyPr anchor="ctr"/>
          <a:lstStyle>
            <a:lvl1pPr marL="0" indent="0">
              <a:buFont typeface="Arial"/>
              <a:buNone/>
              <a:defRPr baseline="0">
                <a:solidFill>
                  <a:schemeClr val="tx1"/>
                </a:solidFill>
              </a:defRPr>
            </a:lvl1pPr>
            <a:lvl2pPr marL="742913" indent="-285736">
              <a:buFont typeface="Arial"/>
              <a:buChar char="•"/>
              <a:defRPr>
                <a:solidFill>
                  <a:schemeClr val="bg1"/>
                </a:solidFill>
              </a:defRPr>
            </a:lvl2pPr>
            <a:lvl3pPr marL="1200090" indent="-285736">
              <a:buFont typeface="Arial"/>
              <a:buChar char="•"/>
              <a:defRPr>
                <a:solidFill>
                  <a:schemeClr val="bg1"/>
                </a:solidFill>
              </a:defRPr>
            </a:lvl3pPr>
            <a:lvl4pPr marL="1657268" indent="-285736">
              <a:buFont typeface="Arial"/>
              <a:buChar char="•"/>
              <a:defRPr>
                <a:solidFill>
                  <a:schemeClr val="bg1"/>
                </a:solidFill>
              </a:defRPr>
            </a:lvl4pPr>
            <a:lvl5pPr marL="2114445" indent="-285736">
              <a:buFont typeface="Arial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phone number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B218102-057F-FF40-966C-013A6C221BE1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457205" y="2064647"/>
            <a:ext cx="3662979" cy="373218"/>
          </a:xfrm>
        </p:spPr>
        <p:txBody>
          <a:bodyPr anchor="ctr"/>
          <a:lstStyle>
            <a:lvl1pPr marL="0" indent="0">
              <a:buFont typeface="Arial"/>
              <a:buNone/>
              <a:defRPr baseline="0">
                <a:solidFill>
                  <a:schemeClr val="tx1"/>
                </a:solidFill>
              </a:defRPr>
            </a:lvl1pPr>
            <a:lvl2pPr marL="742913" indent="-285736">
              <a:buFont typeface="Arial"/>
              <a:buChar char="•"/>
              <a:defRPr>
                <a:solidFill>
                  <a:schemeClr val="bg1"/>
                </a:solidFill>
              </a:defRPr>
            </a:lvl2pPr>
            <a:lvl3pPr marL="1200090" indent="-285736">
              <a:buFont typeface="Arial"/>
              <a:buChar char="•"/>
              <a:defRPr>
                <a:solidFill>
                  <a:schemeClr val="bg1"/>
                </a:solidFill>
              </a:defRPr>
            </a:lvl3pPr>
            <a:lvl4pPr marL="1657268" indent="-285736">
              <a:buFont typeface="Arial"/>
              <a:buChar char="•"/>
              <a:defRPr>
                <a:solidFill>
                  <a:schemeClr val="bg1"/>
                </a:solidFill>
              </a:defRPr>
            </a:lvl4pPr>
            <a:lvl5pPr marL="2114445" indent="-285736">
              <a:buFont typeface="Arial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email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1AFDEE-92E8-CE48-A6CF-DFDDF3E12574}"/>
              </a:ext>
            </a:extLst>
          </p:cNvPr>
          <p:cNvSpPr txBox="1"/>
          <p:nvPr userDrawn="1"/>
        </p:nvSpPr>
        <p:spPr>
          <a:xfrm>
            <a:off x="457204" y="404545"/>
            <a:ext cx="27006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cap="all" spc="500" baseline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F7BA75-769F-DA48-8DE0-8D4D2DEC76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278E9DC-11A7-CF4E-B1F7-52C339AF06AB}"/>
              </a:ext>
            </a:extLst>
          </p:cNvPr>
          <p:cNvSpPr/>
          <p:nvPr userDrawn="1"/>
        </p:nvSpPr>
        <p:spPr>
          <a:xfrm>
            <a:off x="8503920" y="4747423"/>
            <a:ext cx="182880" cy="200055"/>
          </a:xfrm>
          <a:prstGeom prst="rect">
            <a:avLst/>
          </a:prstGeom>
        </p:spPr>
        <p:txBody>
          <a:bodyPr wrap="square" lIns="0" rIns="0" anchor="ctr">
            <a:spAutoFit/>
          </a:bodyPr>
          <a:lstStyle/>
          <a:p>
            <a:pPr algn="r"/>
            <a:fld id="{84BE33A8-B07C-4AE5-8AD6-5B92B3138622}" type="slidenum">
              <a:rPr lang="en-US" altLang="en-US" sz="700" b="0" i="0" smtClean="0">
                <a:solidFill>
                  <a:schemeClr val="bg1"/>
                </a:solidFill>
                <a:latin typeface="Arial Regular"/>
                <a:cs typeface="DIN-Light"/>
              </a:rPr>
              <a:pPr algn="r"/>
              <a:t>‹#›</a:t>
            </a:fld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CF7E62-1891-41BC-9587-0F6EBB49CA1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61E743DC-CF5C-44AA-968C-C6DEF6F72FED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E127E-DD74-471A-8806-229EE1EAA77A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04758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6A440C-5DF3-4DDD-A00A-84F8F4748E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4E18CA-2E4A-41D9-B678-28F90E51E0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9411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| Black |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5C24002-EE42-4430-9A4A-6C0B504FEA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13F643C-EA7F-4290-95CD-262B9D0728F0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0FB2B-E08A-4F60-8C05-86602CA65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8924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 |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50120"/>
            <a:ext cx="8428034" cy="568875"/>
          </a:xfrm>
        </p:spPr>
        <p:txBody>
          <a:bodyPr/>
          <a:lstStyle/>
          <a:p>
            <a:r>
              <a:rPr lang="en-US" dirty="0"/>
              <a:t>TITLE HERE. ALL CAPS. BLACK. 24 PT.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958B17C-FE6E-4F59-A161-671D59ABF97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57200" y="875030"/>
            <a:ext cx="8428034" cy="30880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100" b="0" cap="all" spc="2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HERE. ALL CAPS. TERRA COTTA. 11 PT.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5ABFF238-972F-FB40-BE5D-68E2F1D9EC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95344" y="1231463"/>
            <a:ext cx="731520" cy="731520"/>
          </a:xfrm>
          <a:prstGeom prst="rect">
            <a:avLst/>
          </a:prstGeo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8EC76AE-7BE5-294B-9BF4-53BFFAFF7E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95344" y="2272598"/>
            <a:ext cx="731520" cy="731520"/>
          </a:xfrm>
          <a:prstGeom prst="rect">
            <a:avLst/>
          </a:prstGeo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2D8180D-0D8E-B642-AD57-6BA7F62375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57300" y="2272598"/>
            <a:ext cx="731520" cy="731520"/>
          </a:xfrm>
          <a:prstGeom prst="rect">
            <a:avLst/>
          </a:prstGeo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E6A15E34-936C-DF49-858C-AB3A808ED2C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3756" y="3262378"/>
            <a:ext cx="731520" cy="731520"/>
          </a:xfrm>
          <a:prstGeom prst="rect">
            <a:avLst/>
          </a:prstGeo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4C68ADBA-D7D6-D342-AE08-FD1C53F945E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144268" y="3262378"/>
            <a:ext cx="731520" cy="731520"/>
          </a:xfrm>
          <a:prstGeom prst="rect">
            <a:avLst/>
          </a:prstGeo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E02ECDB4-5AD6-7C45-91D3-82FE33CE6D9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895344" y="3262378"/>
            <a:ext cx="731520" cy="731520"/>
          </a:xfrm>
          <a:prstGeom prst="rect">
            <a:avLst/>
          </a:prstGeo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B967F4E4-8CE7-2944-A00F-24639A4022F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280660" y="3262378"/>
            <a:ext cx="731520" cy="731520"/>
          </a:xfrm>
          <a:prstGeom prst="rect">
            <a:avLst/>
          </a:prstGeo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B6067C2E-8A1A-C24E-ABBB-BFD08C1671B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533388" y="3262378"/>
            <a:ext cx="731520" cy="731520"/>
          </a:xfrm>
          <a:prstGeom prst="rect">
            <a:avLst/>
          </a:prstGeo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356D8DE8-5B64-8D4D-9781-CB5B72A560F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786116" y="3262378"/>
            <a:ext cx="731520" cy="731520"/>
          </a:xfrm>
          <a:prstGeom prst="rect">
            <a:avLst/>
          </a:prstGeo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4" name="Text Placeholder 59">
            <a:extLst>
              <a:ext uri="{FF2B5EF4-FFF2-40B4-BE49-F238E27FC236}">
                <a16:creationId xmlns:a16="http://schemas.microsoft.com/office/drawing/2014/main" id="{AAD068EC-C3F2-0F46-B6CB-4A760746362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54880" y="1354673"/>
            <a:ext cx="1554480" cy="365125"/>
          </a:xfrm>
          <a:prstGeom prst="rect">
            <a:avLst/>
          </a:prstGeom>
        </p:spPr>
        <p:txBody>
          <a:bodyPr lIns="0" bIns="0" anchor="b"/>
          <a:lstStyle>
            <a:lvl1pPr marL="7938" indent="0">
              <a:buNone/>
              <a:defRPr sz="9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 HERE. ALL CAPS. BLACK. 9 PT.</a:t>
            </a:r>
          </a:p>
        </p:txBody>
      </p:sp>
      <p:sp>
        <p:nvSpPr>
          <p:cNvPr id="15" name="Text Placeholder 59">
            <a:extLst>
              <a:ext uri="{FF2B5EF4-FFF2-40B4-BE49-F238E27FC236}">
                <a16:creationId xmlns:a16="http://schemas.microsoft.com/office/drawing/2014/main" id="{46396501-5E4A-4547-BD0E-75445D8F480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54880" y="1725713"/>
            <a:ext cx="1554480" cy="241715"/>
          </a:xfrm>
          <a:prstGeom prst="rect">
            <a:avLst/>
          </a:prstGeom>
        </p:spPr>
        <p:txBody>
          <a:bodyPr lIns="0" bIns="0" anchor="t" anchorCtr="0"/>
          <a:lstStyle>
            <a:lvl1pPr marL="7938" indent="0">
              <a:buNone/>
              <a:defRPr sz="9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9 pt.</a:t>
            </a:r>
          </a:p>
        </p:txBody>
      </p:sp>
      <p:sp>
        <p:nvSpPr>
          <p:cNvPr id="16" name="Text Placeholder 59">
            <a:extLst>
              <a:ext uri="{FF2B5EF4-FFF2-40B4-BE49-F238E27FC236}">
                <a16:creationId xmlns:a16="http://schemas.microsoft.com/office/drawing/2014/main" id="{2603966A-E2D9-824B-A89F-EA677B9EFE1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144268" y="2381424"/>
            <a:ext cx="1554480" cy="365125"/>
          </a:xfrm>
          <a:prstGeom prst="rect">
            <a:avLst/>
          </a:prstGeom>
        </p:spPr>
        <p:txBody>
          <a:bodyPr lIns="0" bIns="0" anchor="b"/>
          <a:lstStyle>
            <a:lvl1pPr marL="7938" indent="0">
              <a:buNone/>
              <a:defRPr sz="9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 HERE. ALL CAPS. BLACK. 9 PT.</a:t>
            </a:r>
          </a:p>
        </p:txBody>
      </p:sp>
      <p:sp>
        <p:nvSpPr>
          <p:cNvPr id="17" name="Text Placeholder 59">
            <a:extLst>
              <a:ext uri="{FF2B5EF4-FFF2-40B4-BE49-F238E27FC236}">
                <a16:creationId xmlns:a16="http://schemas.microsoft.com/office/drawing/2014/main" id="{F306B794-F127-CD4A-AF19-BEEFCAA85BB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144268" y="2762403"/>
            <a:ext cx="1554480" cy="241715"/>
          </a:xfrm>
          <a:prstGeom prst="rect">
            <a:avLst/>
          </a:prstGeom>
        </p:spPr>
        <p:txBody>
          <a:bodyPr lIns="0" bIns="0" anchor="t" anchorCtr="0"/>
          <a:lstStyle>
            <a:lvl1pPr marL="7938" indent="0">
              <a:buNone/>
              <a:defRPr sz="9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9 pt.</a:t>
            </a:r>
          </a:p>
        </p:txBody>
      </p:sp>
      <p:sp>
        <p:nvSpPr>
          <p:cNvPr id="18" name="Text Placeholder 59">
            <a:extLst>
              <a:ext uri="{FF2B5EF4-FFF2-40B4-BE49-F238E27FC236}">
                <a16:creationId xmlns:a16="http://schemas.microsoft.com/office/drawing/2014/main" id="{34112D37-2205-B848-AC2E-BD4056D73F7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33757" y="4087288"/>
            <a:ext cx="1099118" cy="218525"/>
          </a:xfrm>
          <a:prstGeom prst="rect">
            <a:avLst/>
          </a:prstGeo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BLACK. 8 PT.</a:t>
            </a:r>
          </a:p>
        </p:txBody>
      </p:sp>
      <p:sp>
        <p:nvSpPr>
          <p:cNvPr id="19" name="Text Placeholder 59">
            <a:extLst>
              <a:ext uri="{FF2B5EF4-FFF2-40B4-BE49-F238E27FC236}">
                <a16:creationId xmlns:a16="http://schemas.microsoft.com/office/drawing/2014/main" id="{F7F8772C-0E28-B04E-BD81-B40EF87AEC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33757" y="4316678"/>
            <a:ext cx="1099118" cy="246016"/>
          </a:xfrm>
          <a:prstGeom prst="rect">
            <a:avLst/>
          </a:prstGeom>
        </p:spPr>
        <p:txBody>
          <a:bodyPr lIns="0" bIns="0" anchor="t" anchorCtr="0"/>
          <a:lstStyle>
            <a:lvl1pPr marL="7938" indent="0">
              <a:buNone/>
              <a:defRPr sz="8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20" name="Text Placeholder 59">
            <a:extLst>
              <a:ext uri="{FF2B5EF4-FFF2-40B4-BE49-F238E27FC236}">
                <a16:creationId xmlns:a16="http://schemas.microsoft.com/office/drawing/2014/main" id="{9227AD50-FBF9-A246-AF49-3CEF5A9B092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144268" y="4087288"/>
            <a:ext cx="1099118" cy="218525"/>
          </a:xfrm>
          <a:prstGeom prst="rect">
            <a:avLst/>
          </a:prstGeo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BLACK. 8 PT.</a:t>
            </a:r>
          </a:p>
        </p:txBody>
      </p:sp>
      <p:sp>
        <p:nvSpPr>
          <p:cNvPr id="21" name="Text Placeholder 59">
            <a:extLst>
              <a:ext uri="{FF2B5EF4-FFF2-40B4-BE49-F238E27FC236}">
                <a16:creationId xmlns:a16="http://schemas.microsoft.com/office/drawing/2014/main" id="{A9801118-1422-A14E-BD94-22F26787C13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144268" y="4316678"/>
            <a:ext cx="1099118" cy="246016"/>
          </a:xfrm>
          <a:prstGeom prst="rect">
            <a:avLst/>
          </a:prstGeom>
        </p:spPr>
        <p:txBody>
          <a:bodyPr lIns="0" bIns="0" anchor="t" anchorCtr="0"/>
          <a:lstStyle>
            <a:lvl1pPr marL="7938" indent="0">
              <a:buNone/>
              <a:defRPr sz="8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22" name="Text Placeholder 59">
            <a:extLst>
              <a:ext uri="{FF2B5EF4-FFF2-40B4-BE49-F238E27FC236}">
                <a16:creationId xmlns:a16="http://schemas.microsoft.com/office/drawing/2014/main" id="{DA83B46F-FD84-814E-B725-028067D91D9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895344" y="4087288"/>
            <a:ext cx="1099118" cy="218525"/>
          </a:xfrm>
          <a:prstGeom prst="rect">
            <a:avLst/>
          </a:prstGeo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BLACK. 8 PT.</a:t>
            </a:r>
          </a:p>
        </p:txBody>
      </p:sp>
      <p:sp>
        <p:nvSpPr>
          <p:cNvPr id="23" name="Text Placeholder 59">
            <a:extLst>
              <a:ext uri="{FF2B5EF4-FFF2-40B4-BE49-F238E27FC236}">
                <a16:creationId xmlns:a16="http://schemas.microsoft.com/office/drawing/2014/main" id="{7608E6CD-ACB2-4A4E-99C9-BA790309A6C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895344" y="4316678"/>
            <a:ext cx="1099118" cy="246016"/>
          </a:xfrm>
          <a:prstGeom prst="rect">
            <a:avLst/>
          </a:prstGeom>
        </p:spPr>
        <p:txBody>
          <a:bodyPr lIns="0" bIns="0" anchor="t" anchorCtr="0"/>
          <a:lstStyle>
            <a:lvl1pPr marL="7938" indent="0">
              <a:buNone/>
              <a:defRPr sz="8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24" name="Text Placeholder 59">
            <a:extLst>
              <a:ext uri="{FF2B5EF4-FFF2-40B4-BE49-F238E27FC236}">
                <a16:creationId xmlns:a16="http://schemas.microsoft.com/office/drawing/2014/main" id="{34273060-1F39-A54E-B595-D24001E81C2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280660" y="4087288"/>
            <a:ext cx="1099118" cy="218525"/>
          </a:xfrm>
          <a:prstGeom prst="rect">
            <a:avLst/>
          </a:prstGeo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BLACK. 8 PT.</a:t>
            </a:r>
          </a:p>
        </p:txBody>
      </p:sp>
      <p:sp>
        <p:nvSpPr>
          <p:cNvPr id="25" name="Text Placeholder 59">
            <a:extLst>
              <a:ext uri="{FF2B5EF4-FFF2-40B4-BE49-F238E27FC236}">
                <a16:creationId xmlns:a16="http://schemas.microsoft.com/office/drawing/2014/main" id="{DB3F8C38-E7FA-EC4B-B0EA-E8968653CAEB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280660" y="4316678"/>
            <a:ext cx="1099118" cy="246016"/>
          </a:xfrm>
          <a:prstGeom prst="rect">
            <a:avLst/>
          </a:prstGeom>
        </p:spPr>
        <p:txBody>
          <a:bodyPr lIns="0" bIns="0" anchor="t" anchorCtr="0"/>
          <a:lstStyle>
            <a:lvl1pPr marL="7938" indent="0">
              <a:buNone/>
              <a:defRPr sz="8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26" name="Text Placeholder 59">
            <a:extLst>
              <a:ext uri="{FF2B5EF4-FFF2-40B4-BE49-F238E27FC236}">
                <a16:creationId xmlns:a16="http://schemas.microsoft.com/office/drawing/2014/main" id="{C10AEC33-A230-184B-A765-7D4A74A8F4C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542816" y="4087288"/>
            <a:ext cx="1099118" cy="218525"/>
          </a:xfrm>
          <a:prstGeom prst="rect">
            <a:avLst/>
          </a:prstGeo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BLACK. 8 PT.</a:t>
            </a:r>
          </a:p>
        </p:txBody>
      </p:sp>
      <p:sp>
        <p:nvSpPr>
          <p:cNvPr id="27" name="Text Placeholder 59">
            <a:extLst>
              <a:ext uri="{FF2B5EF4-FFF2-40B4-BE49-F238E27FC236}">
                <a16:creationId xmlns:a16="http://schemas.microsoft.com/office/drawing/2014/main" id="{9F2E478C-C4E9-4146-9EC3-D0C9AB7A659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542816" y="4316678"/>
            <a:ext cx="1099118" cy="246016"/>
          </a:xfrm>
          <a:prstGeom prst="rect">
            <a:avLst/>
          </a:prstGeom>
        </p:spPr>
        <p:txBody>
          <a:bodyPr lIns="0" bIns="0" anchor="t" anchorCtr="0"/>
          <a:lstStyle>
            <a:lvl1pPr marL="7938" indent="0">
              <a:buNone/>
              <a:defRPr sz="8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28" name="Picture Placeholder 5">
            <a:extLst>
              <a:ext uri="{FF2B5EF4-FFF2-40B4-BE49-F238E27FC236}">
                <a16:creationId xmlns:a16="http://schemas.microsoft.com/office/drawing/2014/main" id="{81E76849-5610-2C40-93D4-822EF3028FBB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6505674" y="2272598"/>
            <a:ext cx="731520" cy="731520"/>
          </a:xfrm>
          <a:prstGeom prst="rect">
            <a:avLst/>
          </a:prstGeo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29" name="Text Placeholder 59">
            <a:extLst>
              <a:ext uri="{FF2B5EF4-FFF2-40B4-BE49-F238E27FC236}">
                <a16:creationId xmlns:a16="http://schemas.microsoft.com/office/drawing/2014/main" id="{11A9C59D-F39D-D14F-AF46-5BA85F56768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823460" y="2381424"/>
            <a:ext cx="1554480" cy="365125"/>
          </a:xfrm>
          <a:prstGeom prst="rect">
            <a:avLst/>
          </a:prstGeom>
        </p:spPr>
        <p:txBody>
          <a:bodyPr lIns="0" bIns="0" anchor="b"/>
          <a:lstStyle>
            <a:lvl1pPr marL="7938" indent="0">
              <a:buNone/>
              <a:defRPr sz="9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 HERE. ALL CAPS. BLACK. 9 PT.</a:t>
            </a:r>
          </a:p>
        </p:txBody>
      </p:sp>
      <p:sp>
        <p:nvSpPr>
          <p:cNvPr id="30" name="Text Placeholder 59">
            <a:extLst>
              <a:ext uri="{FF2B5EF4-FFF2-40B4-BE49-F238E27FC236}">
                <a16:creationId xmlns:a16="http://schemas.microsoft.com/office/drawing/2014/main" id="{4695BFE7-6E66-EB4F-83FA-D531E3D06BC2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823460" y="2762403"/>
            <a:ext cx="1554480" cy="241715"/>
          </a:xfrm>
          <a:prstGeom prst="rect">
            <a:avLst/>
          </a:prstGeom>
        </p:spPr>
        <p:txBody>
          <a:bodyPr lIns="0" bIns="0" anchor="t" anchorCtr="0"/>
          <a:lstStyle>
            <a:lvl1pPr marL="7938" indent="0">
              <a:buNone/>
              <a:defRPr sz="9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9 pt.</a:t>
            </a:r>
          </a:p>
        </p:txBody>
      </p:sp>
      <p:sp>
        <p:nvSpPr>
          <p:cNvPr id="31" name="Text Placeholder 59">
            <a:extLst>
              <a:ext uri="{FF2B5EF4-FFF2-40B4-BE49-F238E27FC236}">
                <a16:creationId xmlns:a16="http://schemas.microsoft.com/office/drawing/2014/main" id="{81818247-7E1D-6647-BB1B-ACB36AE76005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364928" y="2380721"/>
            <a:ext cx="1554480" cy="365125"/>
          </a:xfrm>
          <a:prstGeom prst="rect">
            <a:avLst/>
          </a:prstGeom>
        </p:spPr>
        <p:txBody>
          <a:bodyPr lIns="0" bIns="0" anchor="b"/>
          <a:lstStyle>
            <a:lvl1pPr marL="7938" indent="0">
              <a:buNone/>
              <a:defRPr sz="9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 HERE. ALL CAPS. BLACK. 9 PT.</a:t>
            </a:r>
          </a:p>
        </p:txBody>
      </p:sp>
      <p:sp>
        <p:nvSpPr>
          <p:cNvPr id="32" name="Text Placeholder 59">
            <a:extLst>
              <a:ext uri="{FF2B5EF4-FFF2-40B4-BE49-F238E27FC236}">
                <a16:creationId xmlns:a16="http://schemas.microsoft.com/office/drawing/2014/main" id="{4F1CECA1-565B-7540-B43C-49770A617EC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364928" y="2762403"/>
            <a:ext cx="1554480" cy="241715"/>
          </a:xfrm>
          <a:prstGeom prst="rect">
            <a:avLst/>
          </a:prstGeom>
        </p:spPr>
        <p:txBody>
          <a:bodyPr lIns="0" bIns="0" anchor="t" anchorCtr="0"/>
          <a:lstStyle>
            <a:lvl1pPr marL="7938" indent="0">
              <a:buNone/>
              <a:defRPr sz="9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9 pt.</a:t>
            </a:r>
          </a:p>
        </p:txBody>
      </p:sp>
      <p:sp>
        <p:nvSpPr>
          <p:cNvPr id="33" name="Text Placeholder 59">
            <a:extLst>
              <a:ext uri="{FF2B5EF4-FFF2-40B4-BE49-F238E27FC236}">
                <a16:creationId xmlns:a16="http://schemas.microsoft.com/office/drawing/2014/main" id="{5A430AF1-FF22-0A4E-9AAB-B6FEC573BCF7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786116" y="4087288"/>
            <a:ext cx="1099118" cy="218525"/>
          </a:xfrm>
          <a:prstGeom prst="rect">
            <a:avLst/>
          </a:prstGeo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BLACK. 8 PT.</a:t>
            </a:r>
          </a:p>
        </p:txBody>
      </p:sp>
      <p:sp>
        <p:nvSpPr>
          <p:cNvPr id="34" name="Text Placeholder 59">
            <a:extLst>
              <a:ext uri="{FF2B5EF4-FFF2-40B4-BE49-F238E27FC236}">
                <a16:creationId xmlns:a16="http://schemas.microsoft.com/office/drawing/2014/main" id="{99BD1052-19CC-5A4B-9443-95FF06B7100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786116" y="4316678"/>
            <a:ext cx="1099118" cy="246016"/>
          </a:xfrm>
          <a:prstGeom prst="rect">
            <a:avLst/>
          </a:prstGeom>
        </p:spPr>
        <p:txBody>
          <a:bodyPr lIns="0" bIns="0" anchor="t" anchorCtr="0"/>
          <a:lstStyle>
            <a:lvl1pPr marL="7938" indent="0">
              <a:buNone/>
              <a:defRPr sz="8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ABBC995-616B-7C4C-B85E-C9DB4F03F7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5F1AE9EA-E293-486F-B3CE-4BF2AB9EE23C}"/>
              </a:ext>
            </a:extLst>
          </p:cNvPr>
          <p:cNvSpPr>
            <a:spLocks noGrp="1"/>
          </p:cNvSpPr>
          <p:nvPr>
            <p:ph type="sldNum" sz="quarter" idx="67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2069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50120"/>
            <a:ext cx="8492082" cy="568875"/>
          </a:xfrm>
        </p:spPr>
        <p:txBody>
          <a:bodyPr/>
          <a:lstStyle/>
          <a:p>
            <a:r>
              <a:rPr lang="en-US" dirty="0"/>
              <a:t>Title here. All caps. White. 24 pt.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D6962E5-3DA9-814E-8D8E-BA7C9106E7CA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57200" y="875030"/>
            <a:ext cx="8492082" cy="308805"/>
          </a:xfrm>
        </p:spPr>
        <p:txBody>
          <a:bodyPr anchor="t">
            <a:normAutofit/>
          </a:bodyPr>
          <a:lstStyle>
            <a:lvl1pPr marL="0" indent="0">
              <a:buNone/>
              <a:defRPr sz="1100" b="0" cap="all" spc="2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dirty="0"/>
              <a:t>SUBTITLE | ALL CAPS | TERRA COTTA | 11 PT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ABFF238-972F-FB40-BE5D-68E2F1D9EC2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95344" y="1249997"/>
            <a:ext cx="731520" cy="731520"/>
          </a:xfr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8EC76AE-7BE5-294B-9BF4-53BFFAFF7E7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895344" y="2291132"/>
            <a:ext cx="731520" cy="731520"/>
          </a:xfr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E6A15E34-936C-DF49-858C-AB3A808ED2C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756" y="3280912"/>
            <a:ext cx="731520" cy="731520"/>
          </a:xfr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4C68ADBA-D7D6-D342-AE08-FD1C53F945E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144268" y="3280912"/>
            <a:ext cx="731520" cy="731520"/>
          </a:xfr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E02ECDB4-5AD6-7C45-91D3-82FE33CE6D9F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895344" y="3280912"/>
            <a:ext cx="731520" cy="731520"/>
          </a:xfr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B967F4E4-8CE7-2944-A00F-24639A4022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280660" y="3280912"/>
            <a:ext cx="731520" cy="731520"/>
          </a:xfr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B6067C2E-8A1A-C24E-ABBB-BFD08C1671B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533388" y="3280912"/>
            <a:ext cx="731520" cy="731520"/>
          </a:xfr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356D8DE8-5B64-8D4D-9781-CB5B72A560F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7786116" y="3280912"/>
            <a:ext cx="731520" cy="731520"/>
          </a:xfr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227A2740-AC7D-7345-984A-5BD6779737F4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533388" y="2291132"/>
            <a:ext cx="731520" cy="731520"/>
          </a:xfr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5" name="Text Placeholder 59">
            <a:extLst>
              <a:ext uri="{FF2B5EF4-FFF2-40B4-BE49-F238E27FC236}">
                <a16:creationId xmlns:a16="http://schemas.microsoft.com/office/drawing/2014/main" id="{4ABFBA9D-330E-B447-889F-71B98260E15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754880" y="1365950"/>
            <a:ext cx="1554480" cy="365125"/>
          </a:xfrm>
        </p:spPr>
        <p:txBody>
          <a:bodyPr lIns="0" bIns="0" anchor="b"/>
          <a:lstStyle>
            <a:lvl1pPr marL="7938" indent="0">
              <a:buNone/>
              <a:defRPr sz="9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 HERE. ALL CAPS. WHITE. 9 PT.</a:t>
            </a:r>
          </a:p>
        </p:txBody>
      </p:sp>
      <p:sp>
        <p:nvSpPr>
          <p:cNvPr id="16" name="Text Placeholder 59">
            <a:extLst>
              <a:ext uri="{FF2B5EF4-FFF2-40B4-BE49-F238E27FC236}">
                <a16:creationId xmlns:a16="http://schemas.microsoft.com/office/drawing/2014/main" id="{29383DA9-35EB-A841-B8E8-066B4EA04E9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54880" y="1744247"/>
            <a:ext cx="1554480" cy="241715"/>
          </a:xfrm>
        </p:spPr>
        <p:txBody>
          <a:bodyPr lIns="0" bIns="0" anchor="t" anchorCtr="0"/>
          <a:lstStyle>
            <a:lvl1pPr marL="7938" indent="0">
              <a:buNone/>
              <a:defRPr sz="9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9 pt.</a:t>
            </a:r>
          </a:p>
        </p:txBody>
      </p:sp>
      <p:sp>
        <p:nvSpPr>
          <p:cNvPr id="17" name="Text Placeholder 59">
            <a:extLst>
              <a:ext uri="{FF2B5EF4-FFF2-40B4-BE49-F238E27FC236}">
                <a16:creationId xmlns:a16="http://schemas.microsoft.com/office/drawing/2014/main" id="{B4988776-510F-FE4F-9066-FE58CA4CE68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3756" y="4134438"/>
            <a:ext cx="1099118" cy="218525"/>
          </a:xfr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WHITE. 8 PT.</a:t>
            </a:r>
          </a:p>
        </p:txBody>
      </p:sp>
      <p:sp>
        <p:nvSpPr>
          <p:cNvPr id="18" name="Text Placeholder 59">
            <a:extLst>
              <a:ext uri="{FF2B5EF4-FFF2-40B4-BE49-F238E27FC236}">
                <a16:creationId xmlns:a16="http://schemas.microsoft.com/office/drawing/2014/main" id="{5CA73BAF-90D6-DF40-BA83-5BBD69EFFCB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33756" y="4363828"/>
            <a:ext cx="1099118" cy="246016"/>
          </a:xfrm>
        </p:spPr>
        <p:txBody>
          <a:bodyPr lIns="0" bIns="0" anchor="t" anchorCtr="0"/>
          <a:lstStyle>
            <a:lvl1pPr marL="7938" indent="0">
              <a:buNone/>
              <a:defRPr sz="8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19" name="Text Placeholder 59">
            <a:extLst>
              <a:ext uri="{FF2B5EF4-FFF2-40B4-BE49-F238E27FC236}">
                <a16:creationId xmlns:a16="http://schemas.microsoft.com/office/drawing/2014/main" id="{EDE97D3D-175D-6149-AF76-3EF0663BC7E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116836" y="4134438"/>
            <a:ext cx="1099118" cy="218525"/>
          </a:xfr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WHITE. 8 PT.</a:t>
            </a:r>
          </a:p>
        </p:txBody>
      </p:sp>
      <p:sp>
        <p:nvSpPr>
          <p:cNvPr id="20" name="Text Placeholder 59">
            <a:extLst>
              <a:ext uri="{FF2B5EF4-FFF2-40B4-BE49-F238E27FC236}">
                <a16:creationId xmlns:a16="http://schemas.microsoft.com/office/drawing/2014/main" id="{07AEE21D-ADEA-DA47-A36B-ED05986C0AD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116836" y="4363828"/>
            <a:ext cx="1099118" cy="246016"/>
          </a:xfrm>
        </p:spPr>
        <p:txBody>
          <a:bodyPr lIns="0" bIns="0" anchor="t" anchorCtr="0"/>
          <a:lstStyle>
            <a:lvl1pPr marL="7938" indent="0">
              <a:buNone/>
              <a:defRPr sz="8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21" name="Text Placeholder 59">
            <a:extLst>
              <a:ext uri="{FF2B5EF4-FFF2-40B4-BE49-F238E27FC236}">
                <a16:creationId xmlns:a16="http://schemas.microsoft.com/office/drawing/2014/main" id="{A3570388-CF93-E14C-8871-B14FC996C81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895344" y="4134438"/>
            <a:ext cx="1099118" cy="218525"/>
          </a:xfr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WHITE. 8 PT.</a:t>
            </a:r>
          </a:p>
        </p:txBody>
      </p:sp>
      <p:sp>
        <p:nvSpPr>
          <p:cNvPr id="22" name="Text Placeholder 59">
            <a:extLst>
              <a:ext uri="{FF2B5EF4-FFF2-40B4-BE49-F238E27FC236}">
                <a16:creationId xmlns:a16="http://schemas.microsoft.com/office/drawing/2014/main" id="{B7D95C78-A9DC-5142-80B0-BEE8D025B55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895344" y="4363828"/>
            <a:ext cx="1099118" cy="246016"/>
          </a:xfrm>
        </p:spPr>
        <p:txBody>
          <a:bodyPr lIns="0" bIns="0" anchor="t" anchorCtr="0"/>
          <a:lstStyle>
            <a:lvl1pPr marL="7938" indent="0">
              <a:buNone/>
              <a:defRPr sz="8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23" name="Text Placeholder 59">
            <a:extLst>
              <a:ext uri="{FF2B5EF4-FFF2-40B4-BE49-F238E27FC236}">
                <a16:creationId xmlns:a16="http://schemas.microsoft.com/office/drawing/2014/main" id="{5C20E454-7D71-6D49-8340-2C2C92BAB60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274485" y="4134438"/>
            <a:ext cx="1099118" cy="218525"/>
          </a:xfr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WHITE. 8 PT.</a:t>
            </a:r>
          </a:p>
        </p:txBody>
      </p:sp>
      <p:sp>
        <p:nvSpPr>
          <p:cNvPr id="24" name="Text Placeholder 59">
            <a:extLst>
              <a:ext uri="{FF2B5EF4-FFF2-40B4-BE49-F238E27FC236}">
                <a16:creationId xmlns:a16="http://schemas.microsoft.com/office/drawing/2014/main" id="{DC2A92B2-B90B-AC44-8367-CC89EF31785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274485" y="4363828"/>
            <a:ext cx="1099118" cy="246016"/>
          </a:xfrm>
        </p:spPr>
        <p:txBody>
          <a:bodyPr lIns="0" bIns="0" anchor="t" anchorCtr="0"/>
          <a:lstStyle>
            <a:lvl1pPr marL="7938" indent="0">
              <a:buNone/>
              <a:defRPr sz="8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25" name="Text Placeholder 59">
            <a:extLst>
              <a:ext uri="{FF2B5EF4-FFF2-40B4-BE49-F238E27FC236}">
                <a16:creationId xmlns:a16="http://schemas.microsoft.com/office/drawing/2014/main" id="{DAA62298-769A-A843-804C-507D94C7C8D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553325" y="4137254"/>
            <a:ext cx="1099118" cy="218525"/>
          </a:xfr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WHITE. 8 PT.</a:t>
            </a:r>
          </a:p>
        </p:txBody>
      </p:sp>
      <p:sp>
        <p:nvSpPr>
          <p:cNvPr id="26" name="Text Placeholder 59">
            <a:extLst>
              <a:ext uri="{FF2B5EF4-FFF2-40B4-BE49-F238E27FC236}">
                <a16:creationId xmlns:a16="http://schemas.microsoft.com/office/drawing/2014/main" id="{90DB92DC-5B96-6947-9102-329E9AD6B4B8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553325" y="4366644"/>
            <a:ext cx="1099118" cy="246016"/>
          </a:xfrm>
        </p:spPr>
        <p:txBody>
          <a:bodyPr lIns="0" bIns="0" anchor="t" anchorCtr="0"/>
          <a:lstStyle>
            <a:lvl1pPr marL="7938" indent="0">
              <a:buNone/>
              <a:defRPr sz="8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27" name="Text Placeholder 59">
            <a:extLst>
              <a:ext uri="{FF2B5EF4-FFF2-40B4-BE49-F238E27FC236}">
                <a16:creationId xmlns:a16="http://schemas.microsoft.com/office/drawing/2014/main" id="{11145940-26F6-D345-AEB5-DB00F76C7F1F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7786116" y="4134438"/>
            <a:ext cx="1099118" cy="218525"/>
          </a:xfr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WHITE. 8 PT.</a:t>
            </a:r>
          </a:p>
        </p:txBody>
      </p:sp>
      <p:sp>
        <p:nvSpPr>
          <p:cNvPr id="28" name="Text Placeholder 59">
            <a:extLst>
              <a:ext uri="{FF2B5EF4-FFF2-40B4-BE49-F238E27FC236}">
                <a16:creationId xmlns:a16="http://schemas.microsoft.com/office/drawing/2014/main" id="{7FC80356-24FA-3340-B9FC-DE1492BFA62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786116" y="4363828"/>
            <a:ext cx="1099118" cy="246016"/>
          </a:xfrm>
        </p:spPr>
        <p:txBody>
          <a:bodyPr lIns="0" bIns="0" anchor="t" anchorCtr="0"/>
          <a:lstStyle>
            <a:lvl1pPr marL="7938" indent="0">
              <a:buNone/>
              <a:defRPr sz="8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29" name="Picture Placeholder 5">
            <a:extLst>
              <a:ext uri="{FF2B5EF4-FFF2-40B4-BE49-F238E27FC236}">
                <a16:creationId xmlns:a16="http://schemas.microsoft.com/office/drawing/2014/main" id="{F8E227CA-C8B1-FD4F-9719-AC576682CC3A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353312" y="2275650"/>
            <a:ext cx="731520" cy="731520"/>
          </a:xfr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30" name="Text Placeholder 59">
            <a:extLst>
              <a:ext uri="{FF2B5EF4-FFF2-40B4-BE49-F238E27FC236}">
                <a16:creationId xmlns:a16="http://schemas.microsoft.com/office/drawing/2014/main" id="{479DAFC0-5785-0446-A3E7-5BF65BCC02A9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754880" y="2411209"/>
            <a:ext cx="1554480" cy="365125"/>
          </a:xfrm>
        </p:spPr>
        <p:txBody>
          <a:bodyPr lIns="0" bIns="0" anchor="b"/>
          <a:lstStyle>
            <a:lvl1pPr marL="7938" indent="0">
              <a:buNone/>
              <a:defRPr sz="9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 HERE. ALL CAPS. WHITE. 9 PT.</a:t>
            </a:r>
          </a:p>
        </p:txBody>
      </p:sp>
      <p:sp>
        <p:nvSpPr>
          <p:cNvPr id="31" name="Text Placeholder 59">
            <a:extLst>
              <a:ext uri="{FF2B5EF4-FFF2-40B4-BE49-F238E27FC236}">
                <a16:creationId xmlns:a16="http://schemas.microsoft.com/office/drawing/2014/main" id="{01FF4553-5F63-074B-8CB3-DF55725FEFB3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4754880" y="2784228"/>
            <a:ext cx="1554480" cy="241715"/>
          </a:xfrm>
        </p:spPr>
        <p:txBody>
          <a:bodyPr lIns="0" bIns="0" anchor="t" anchorCtr="0"/>
          <a:lstStyle>
            <a:lvl1pPr marL="7938" indent="0">
              <a:buNone/>
              <a:defRPr sz="9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9 pt.</a:t>
            </a:r>
          </a:p>
        </p:txBody>
      </p:sp>
      <p:sp>
        <p:nvSpPr>
          <p:cNvPr id="32" name="Text Placeholder 59">
            <a:extLst>
              <a:ext uri="{FF2B5EF4-FFF2-40B4-BE49-F238E27FC236}">
                <a16:creationId xmlns:a16="http://schemas.microsoft.com/office/drawing/2014/main" id="{2ACC479D-100C-AB4A-B437-FFCD18495B7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2188386" y="2395998"/>
            <a:ext cx="1554480" cy="365125"/>
          </a:xfrm>
        </p:spPr>
        <p:txBody>
          <a:bodyPr lIns="0" bIns="0" anchor="b"/>
          <a:lstStyle>
            <a:lvl1pPr marL="7938" indent="0">
              <a:buNone/>
              <a:defRPr sz="9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 HERE. ALL CAPS. WHITE. 9 PT.</a:t>
            </a:r>
          </a:p>
        </p:txBody>
      </p:sp>
      <p:sp>
        <p:nvSpPr>
          <p:cNvPr id="33" name="Text Placeholder 59">
            <a:extLst>
              <a:ext uri="{FF2B5EF4-FFF2-40B4-BE49-F238E27FC236}">
                <a16:creationId xmlns:a16="http://schemas.microsoft.com/office/drawing/2014/main" id="{F88A7EF7-25F7-5349-8978-9A5DA5F31094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2188386" y="2774295"/>
            <a:ext cx="1554480" cy="241715"/>
          </a:xfrm>
        </p:spPr>
        <p:txBody>
          <a:bodyPr lIns="0" bIns="0" anchor="t" anchorCtr="0"/>
          <a:lstStyle>
            <a:lvl1pPr marL="7938" indent="0">
              <a:buNone/>
              <a:defRPr sz="9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9 pt.</a:t>
            </a:r>
          </a:p>
        </p:txBody>
      </p:sp>
      <p:sp>
        <p:nvSpPr>
          <p:cNvPr id="34" name="Text Placeholder 59">
            <a:extLst>
              <a:ext uri="{FF2B5EF4-FFF2-40B4-BE49-F238E27FC236}">
                <a16:creationId xmlns:a16="http://schemas.microsoft.com/office/drawing/2014/main" id="{F442EBC6-A1C6-C446-97E7-801C6B76BA9D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7394802" y="2389659"/>
            <a:ext cx="1554480" cy="365125"/>
          </a:xfrm>
        </p:spPr>
        <p:txBody>
          <a:bodyPr lIns="0" bIns="0" anchor="b"/>
          <a:lstStyle>
            <a:lvl1pPr marL="7938" indent="0">
              <a:buNone/>
              <a:defRPr sz="9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 HERE. ALL CAPS. WHITE. 9 PT.</a:t>
            </a:r>
          </a:p>
        </p:txBody>
      </p:sp>
      <p:sp>
        <p:nvSpPr>
          <p:cNvPr id="35" name="Text Placeholder 59">
            <a:extLst>
              <a:ext uri="{FF2B5EF4-FFF2-40B4-BE49-F238E27FC236}">
                <a16:creationId xmlns:a16="http://schemas.microsoft.com/office/drawing/2014/main" id="{AB54CC23-A2BA-0E4F-BE56-2BD32D275D06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7394802" y="2767956"/>
            <a:ext cx="1554480" cy="241715"/>
          </a:xfrm>
        </p:spPr>
        <p:txBody>
          <a:bodyPr lIns="0" bIns="0" anchor="t" anchorCtr="0"/>
          <a:lstStyle>
            <a:lvl1pPr marL="7938" indent="0">
              <a:buNone/>
              <a:defRPr sz="9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9 pt.</a:t>
            </a:r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EB862910-D742-4D11-A987-CE16A6571602}"/>
              </a:ext>
            </a:extLst>
          </p:cNvPr>
          <p:cNvSpPr>
            <a:spLocks noGrp="1"/>
          </p:cNvSpPr>
          <p:nvPr>
            <p:ph type="sldNum" sz="quarter" idx="75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417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679AB74-2B2F-4AC9-AE75-7BF81C9F8FAB}"/>
              </a:ext>
            </a:extLst>
          </p:cNvPr>
          <p:cNvPicPr>
            <a:picLocks noChangeAspect="1"/>
          </p:cNvPicPr>
          <p:nvPr userDrawn="1"/>
        </p:nvPicPr>
        <p:blipFill>
          <a:blip r:embed="rId5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51560"/>
            <a:ext cx="8229600" cy="35304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0120"/>
            <a:ext cx="8229600" cy="5688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TITLE HERE. ALL CAPS. WHITE. 24 PT.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60F46-2E67-474C-9893-046DAFD1D8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0" y="4828032"/>
            <a:ext cx="3936492" cy="13716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lang="en-US" sz="600" spc="0" baseline="0" dirty="0">
                <a:solidFill>
                  <a:schemeClr val="accent1"/>
                </a:solidFill>
              </a:defRPr>
            </a:lvl1pPr>
          </a:lstStyle>
          <a:p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5CF54B63-FF67-41F9-A6DA-2E8C49D4A399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26748-83C3-467A-9DF6-CC369EE24D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03920" y="4745736"/>
            <a:ext cx="228600" cy="200055"/>
          </a:xfrm>
          <a:prstGeom prst="rect">
            <a:avLst/>
          </a:prstGeom>
        </p:spPr>
        <p:txBody>
          <a:bodyPr wrap="square" lIns="0" rIns="0" anchor="ctr">
            <a:spAutoFit/>
          </a:bodyPr>
          <a:lstStyle>
            <a:lvl1pPr>
              <a:defRPr lang="en-US" sz="700" b="0" i="0" smtClean="0">
                <a:latin typeface="Arial Regular"/>
                <a:cs typeface="DIN-Light"/>
              </a:defRPr>
            </a:lvl1pPr>
          </a:lstStyle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6254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01" r:id="rId1"/>
    <p:sldLayoutId id="2147484104" r:id="rId2"/>
    <p:sldLayoutId id="2147484106" r:id="rId3"/>
    <p:sldLayoutId id="2147484108" r:id="rId4"/>
    <p:sldLayoutId id="2147484328" r:id="rId5"/>
    <p:sldLayoutId id="2147484133" r:id="rId6"/>
    <p:sldLayoutId id="2147484329" r:id="rId7"/>
    <p:sldLayoutId id="2147484335" r:id="rId8"/>
    <p:sldLayoutId id="2147484343" r:id="rId9"/>
    <p:sldLayoutId id="2147484351" r:id="rId10"/>
    <p:sldLayoutId id="2147484353" r:id="rId11"/>
    <p:sldLayoutId id="2147484404" r:id="rId12"/>
    <p:sldLayoutId id="2147484405" r:id="rId13"/>
    <p:sldLayoutId id="2147484383" r:id="rId14"/>
    <p:sldLayoutId id="2147484384" r:id="rId15"/>
    <p:sldLayoutId id="2147484385" r:id="rId16"/>
    <p:sldLayoutId id="2147484386" r:id="rId17"/>
    <p:sldLayoutId id="2147484387" r:id="rId18"/>
    <p:sldLayoutId id="2147484389" r:id="rId19"/>
    <p:sldLayoutId id="2147484390" r:id="rId20"/>
    <p:sldLayoutId id="2147484391" r:id="rId21"/>
    <p:sldLayoutId id="2147484342" r:id="rId22"/>
    <p:sldLayoutId id="2147484393" r:id="rId23"/>
    <p:sldLayoutId id="2147484406" r:id="rId24"/>
    <p:sldLayoutId id="2147484183" r:id="rId25"/>
    <p:sldLayoutId id="2147484398" r:id="rId26"/>
    <p:sldLayoutId id="2147484399" r:id="rId27"/>
    <p:sldLayoutId id="2147484243" r:id="rId28"/>
    <p:sldLayoutId id="2147484244" r:id="rId29"/>
    <p:sldLayoutId id="2147484245" r:id="rId30"/>
    <p:sldLayoutId id="2147484246" r:id="rId31"/>
    <p:sldLayoutId id="2147484357" r:id="rId32"/>
    <p:sldLayoutId id="2147484358" r:id="rId33"/>
    <p:sldLayoutId id="2147484247" r:id="rId34"/>
    <p:sldLayoutId id="2147484248" r:id="rId35"/>
    <p:sldLayoutId id="2147484316" r:id="rId36"/>
    <p:sldLayoutId id="2147484252" r:id="rId37"/>
    <p:sldLayoutId id="2147484407" r:id="rId38"/>
    <p:sldLayoutId id="2147484409" r:id="rId39"/>
    <p:sldLayoutId id="2147484410" r:id="rId40"/>
    <p:sldLayoutId id="2147484411" r:id="rId41"/>
    <p:sldLayoutId id="2147484412" r:id="rId42"/>
    <p:sldLayoutId id="2147484425" r:id="rId43"/>
    <p:sldLayoutId id="2147484426" r:id="rId44"/>
    <p:sldLayoutId id="2147484417" r:id="rId45"/>
    <p:sldLayoutId id="2147484418" r:id="rId46"/>
    <p:sldLayoutId id="2147484420" r:id="rId47"/>
    <p:sldLayoutId id="2147484421" r:id="rId48"/>
    <p:sldLayoutId id="2147484422" r:id="rId49"/>
    <p:sldLayoutId id="2147484423" r:id="rId50"/>
    <p:sldLayoutId id="2147484424" r:id="rId51"/>
  </p:sldLayoutIdLst>
  <p:hf sldNum="0" hdr="0" dt="0"/>
  <p:txStyles>
    <p:titleStyle>
      <a:lvl1pPr algn="l" defTabSz="457178" rtl="0" eaLnBrk="1" latinLnBrk="0" hangingPunct="1">
        <a:spcBef>
          <a:spcPct val="0"/>
        </a:spcBef>
        <a:buNone/>
        <a:defRPr sz="2400" b="0" i="0" kern="1200" cap="all" spc="3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33363" indent="-233363" algn="l" defTabSz="457178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5425" algn="l" defTabSz="457178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4" indent="-228588" algn="l" defTabSz="457178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8" algn="l" defTabSz="457178" rtl="0" eaLnBrk="1" latinLnBrk="0" hangingPunct="1">
        <a:spcBef>
          <a:spcPct val="20000"/>
        </a:spcBef>
        <a:buClr>
          <a:schemeClr val="accent1"/>
        </a:buClr>
        <a:buFont typeface="Arial"/>
        <a:buChar char="–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8" algn="l" defTabSz="457178" rtl="0" eaLnBrk="1" latinLnBrk="0" hangingPunct="1">
        <a:spcBef>
          <a:spcPct val="20000"/>
        </a:spcBef>
        <a:buClr>
          <a:schemeClr val="accent2"/>
        </a:buClr>
        <a:buFont typeface="Arial"/>
        <a:buChar char="»"/>
        <a:defRPr sz="1200" kern="1200">
          <a:solidFill>
            <a:schemeClr val="accent6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4" indent="-228588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1.png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26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48.PNG"/><Relationship Id="rId5" Type="http://schemas.openxmlformats.org/officeDocument/2006/relationships/image" Target="../media/image35.png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2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1A0DA5B-153E-4AFD-AA74-E41B1469F4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20A2CDF-3DD7-E541-A880-CC726881D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Safety Annex for Architecture Analysis and Design Language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B12D8-7BFE-1F4C-A24C-87EFF07805C7}"/>
              </a:ext>
            </a:extLst>
          </p:cNvPr>
          <p:cNvSpPr>
            <a:spLocks noGrp="1"/>
          </p:cNvSpPr>
          <p:nvPr>
            <p:ph idx="28"/>
          </p:nvPr>
        </p:nvSpPr>
        <p:spPr/>
        <p:txBody>
          <a:bodyPr/>
          <a:lstStyle/>
          <a:p>
            <a:r>
              <a:rPr lang="en-US" dirty="0"/>
              <a:t>January </a:t>
            </a:r>
            <a:r>
              <a:rPr lang="en-US" dirty="0" smtClean="0"/>
              <a:t>2020</a:t>
            </a:r>
          </a:p>
          <a:p>
            <a:r>
              <a:rPr lang="en-US" dirty="0" smtClean="0"/>
              <a:t>AADL Standards Meeting</a:t>
            </a:r>
            <a:endParaRPr lang="en-US" dirty="0"/>
          </a:p>
        </p:txBody>
      </p:sp>
      <p:sp>
        <p:nvSpPr>
          <p:cNvPr id="5" name="Subtitle 2"/>
          <p:cNvSpPr txBox="1">
            <a:spLocks/>
          </p:cNvSpPr>
          <p:nvPr/>
        </p:nvSpPr>
        <p:spPr bwMode="auto">
          <a:xfrm>
            <a:off x="457200" y="2064504"/>
            <a:ext cx="571500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en-US" sz="1200" b="1" dirty="0"/>
              <a:t>Danielle Stewart</a:t>
            </a:r>
            <a:r>
              <a:rPr lang="en-US" sz="1200" dirty="0"/>
              <a:t>, </a:t>
            </a:r>
            <a:r>
              <a:rPr lang="en-US" sz="1200" dirty="0"/>
              <a:t>Jing (Janet) </a:t>
            </a:r>
            <a:r>
              <a:rPr lang="en-US" sz="1200" dirty="0"/>
              <a:t>Liu, Darren </a:t>
            </a:r>
            <a:r>
              <a:rPr lang="en-US" sz="1200" dirty="0" err="1"/>
              <a:t>Cofer</a:t>
            </a:r>
            <a:r>
              <a:rPr lang="en-US" sz="1200" dirty="0"/>
              <a:t>, </a:t>
            </a:r>
            <a:endParaRPr lang="en-US" sz="1200" dirty="0"/>
          </a:p>
          <a:p>
            <a:r>
              <a:rPr lang="en-US" sz="1200" dirty="0"/>
              <a:t>Mats </a:t>
            </a:r>
            <a:r>
              <a:rPr lang="en-US" sz="1200" dirty="0" err="1"/>
              <a:t>Heimdahl</a:t>
            </a:r>
            <a:r>
              <a:rPr lang="en-US" sz="1200" dirty="0"/>
              <a:t>, </a:t>
            </a:r>
            <a:r>
              <a:rPr lang="en-US" sz="1200" dirty="0"/>
              <a:t>Michael </a:t>
            </a:r>
            <a:r>
              <a:rPr lang="en-US" sz="1200" dirty="0"/>
              <a:t>Whalen, Michael Peterson</a:t>
            </a:r>
          </a:p>
          <a:p>
            <a:endParaRPr lang="en-US" sz="12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504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MBSA process in safety assessment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1550"/>
            <a:ext cx="6096001" cy="3429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sz="half" idx="2"/>
          </p:nvPr>
        </p:nvSpPr>
        <p:spPr>
          <a:xfrm>
            <a:off x="5869942" y="1161288"/>
            <a:ext cx="3159758" cy="667512"/>
          </a:xfrm>
        </p:spPr>
        <p:txBody>
          <a:bodyPr/>
          <a:lstStyle/>
          <a:p>
            <a:r>
              <a:rPr lang="en-US" sz="1350" dirty="0"/>
              <a:t>Have system developers and safety engineers use the same system models created during a model-based development process</a:t>
            </a:r>
          </a:p>
          <a:p>
            <a:r>
              <a:rPr lang="en-US" sz="1350" dirty="0"/>
              <a:t>Extend system model to add capabilities for reasoning about faulty behaviors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72232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457700" y="1037844"/>
            <a:ext cx="4576061" cy="3362706"/>
          </a:xfrm>
        </p:spPr>
        <p:txBody>
          <a:bodyPr/>
          <a:lstStyle/>
          <a:p>
            <a:r>
              <a:rPr lang="en-US" dirty="0" smtClean="0"/>
              <a:t>What </a:t>
            </a:r>
            <a:r>
              <a:rPr lang="en-US" dirty="0"/>
              <a:t>is the overall behavior of the system when faults are present?   </a:t>
            </a:r>
          </a:p>
          <a:p>
            <a:r>
              <a:rPr lang="en-US" dirty="0" smtClean="0"/>
              <a:t>It </a:t>
            </a:r>
            <a:r>
              <a:rPr lang="en-US" dirty="0"/>
              <a:t>is difficult to know all complex interactions between HW and SW components. How to determine fault propagation through the system?</a:t>
            </a:r>
          </a:p>
          <a:p>
            <a:pPr lvl="1"/>
            <a:r>
              <a:rPr lang="en-US" dirty="0" smtClean="0"/>
              <a:t>Can </a:t>
            </a:r>
            <a:r>
              <a:rPr lang="en-US" dirty="0"/>
              <a:t>we leverage model checking capabilities to provide answers? </a:t>
            </a:r>
            <a:endParaRPr lang="en-US" dirty="0"/>
          </a:p>
          <a:p>
            <a:pPr lvl="1"/>
            <a:r>
              <a:rPr lang="en-US" dirty="0" smtClean="0"/>
              <a:t>Many </a:t>
            </a:r>
            <a:r>
              <a:rPr lang="en-US" dirty="0"/>
              <a:t>types of model checking techniques suffer from </a:t>
            </a:r>
            <a:r>
              <a:rPr lang="en-US" dirty="0" smtClean="0"/>
              <a:t>scalability.</a:t>
            </a:r>
          </a:p>
          <a:p>
            <a:r>
              <a:rPr lang="en-US" dirty="0" smtClean="0"/>
              <a:t>Numerous </a:t>
            </a:r>
            <a:r>
              <a:rPr lang="en-US" dirty="0"/>
              <a:t>types of components require flexible fault modeling capabilities.</a:t>
            </a:r>
          </a:p>
          <a:p>
            <a:endParaRPr lang="en-US" sz="1350" dirty="0"/>
          </a:p>
          <a:p>
            <a:endParaRPr lang="en-US" sz="135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size and complexity of industrial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79294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MBSA process Steps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28823" y="866152"/>
            <a:ext cx="1314451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Safety </a:t>
            </a:r>
            <a:r>
              <a:rPr lang="en-US" sz="1200" dirty="0"/>
              <a:t>Engineers</a:t>
            </a:r>
            <a:endParaRPr lang="en-US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5715000" y="908097"/>
            <a:ext cx="1428750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System </a:t>
            </a:r>
            <a:r>
              <a:rPr lang="en-US" sz="1200" dirty="0"/>
              <a:t>Engineers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9424" y="1348463"/>
            <a:ext cx="1584711" cy="138499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pPr algn="l"/>
            <a:r>
              <a:rPr lang="en-US" sz="1200" dirty="0"/>
              <a:t>Capture Design Information in a shared </a:t>
            </a:r>
            <a:r>
              <a:rPr lang="en-US" sz="1200" dirty="0"/>
              <a:t>model </a:t>
            </a:r>
            <a:r>
              <a:rPr lang="en-US" sz="1200" dirty="0"/>
              <a:t>(architecture, nominal behavior, system level safety requirements)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2364" y="1256131"/>
            <a:ext cx="1199616" cy="1754326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200" dirty="0"/>
              <a:t>Check that safety requirements are satisfied by the nominal design model with the backend model checker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25253" y="1358651"/>
            <a:ext cx="3232446" cy="46166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200" dirty="0"/>
              <a:t>Augment the nominal model with the component failure modes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25253" y="2102794"/>
            <a:ext cx="3232446" cy="276999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Specify the fault hypothesis for the analysis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6231979" y="1589483"/>
            <a:ext cx="597446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225254" y="2663409"/>
            <a:ext cx="3197863" cy="1015663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Analyze if the safety requirements are satisfied by the design in the presence of faults with the backend model checker, using counterexamples and fault trees produced for diagnosis</a:t>
            </a:r>
          </a:p>
        </p:txBody>
      </p:sp>
      <p:cxnSp>
        <p:nvCxnSpPr>
          <p:cNvPr id="80" name="Straight Arrow Connector 79"/>
          <p:cNvCxnSpPr>
            <a:endCxn id="47" idx="3"/>
          </p:cNvCxnSpPr>
          <p:nvPr/>
        </p:nvCxnSpPr>
        <p:spPr>
          <a:xfrm flipH="1">
            <a:off x="4457699" y="1589483"/>
            <a:ext cx="597446" cy="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2686048" y="2338618"/>
            <a:ext cx="2" cy="31211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>
            <a:off x="2686050" y="1785690"/>
            <a:ext cx="2" cy="31710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1241256" y="3946685"/>
            <a:ext cx="3197863" cy="646331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Examine the results to assess the validity of the fault combinations and the fault tolerance level of the system design</a:t>
            </a:r>
          </a:p>
        </p:txBody>
      </p:sp>
      <p:cxnSp>
        <p:nvCxnSpPr>
          <p:cNvPr id="120" name="Straight Arrow Connector 119"/>
          <p:cNvCxnSpPr/>
          <p:nvPr/>
        </p:nvCxnSpPr>
        <p:spPr>
          <a:xfrm flipH="1">
            <a:off x="2686049" y="3669539"/>
            <a:ext cx="1" cy="25605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6857999" y="4039018"/>
            <a:ext cx="1527561" cy="46166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Drive for design change</a:t>
            </a:r>
          </a:p>
        </p:txBody>
      </p:sp>
      <p:cxnSp>
        <p:nvCxnSpPr>
          <p:cNvPr id="122" name="Straight Arrow Connector 121"/>
          <p:cNvCxnSpPr>
            <a:stCxn id="119" idx="3"/>
            <a:endCxn id="121" idx="1"/>
          </p:cNvCxnSpPr>
          <p:nvPr/>
        </p:nvCxnSpPr>
        <p:spPr>
          <a:xfrm flipV="1">
            <a:off x="4439119" y="4258308"/>
            <a:ext cx="2418881" cy="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stCxn id="121" idx="0"/>
            <a:endCxn id="9" idx="2"/>
          </p:cNvCxnSpPr>
          <p:nvPr/>
        </p:nvCxnSpPr>
        <p:spPr>
          <a:xfrm flipV="1">
            <a:off x="7621780" y="2721916"/>
            <a:ext cx="0" cy="131710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 rot="2096469">
            <a:off x="7694162" y="113373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Starts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 rot="1640165">
            <a:off x="3989462" y="3731854"/>
            <a:ext cx="93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</a:rPr>
              <a:t>Ends</a:t>
            </a:r>
            <a:endParaRPr 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9464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will help safety analysts do this?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200150"/>
            <a:ext cx="8046720" cy="3086100"/>
          </a:xfrm>
        </p:spPr>
        <p:txBody>
          <a:bodyPr/>
          <a:lstStyle/>
          <a:p>
            <a:r>
              <a:rPr lang="en-US" dirty="0"/>
              <a:t>Shared model</a:t>
            </a:r>
          </a:p>
          <a:p>
            <a:pPr lvl="1"/>
            <a:r>
              <a:rPr lang="en-US" dirty="0"/>
              <a:t>Modeling language expressive enough to capture HW/SW, standard language</a:t>
            </a:r>
          </a:p>
          <a:p>
            <a:r>
              <a:rPr lang="en-US" dirty="0" smtClean="0"/>
              <a:t>Flexible </a:t>
            </a:r>
            <a:r>
              <a:rPr lang="en-US" dirty="0"/>
              <a:t>error propagations</a:t>
            </a:r>
          </a:p>
          <a:p>
            <a:pPr lvl="1"/>
            <a:r>
              <a:rPr lang="en-US" dirty="0"/>
              <a:t>Behavioral AND explicit propagations</a:t>
            </a:r>
          </a:p>
          <a:p>
            <a:r>
              <a:rPr lang="en-US" dirty="0" smtClean="0"/>
              <a:t>Flexible </a:t>
            </a:r>
            <a:r>
              <a:rPr lang="en-US" dirty="0"/>
              <a:t>fault modeling</a:t>
            </a:r>
          </a:p>
          <a:p>
            <a:pPr lvl="1"/>
            <a:r>
              <a:rPr lang="en-US" dirty="0"/>
              <a:t>Symmetric, asymmetric, dependent, independent</a:t>
            </a:r>
          </a:p>
          <a:p>
            <a:r>
              <a:rPr lang="en-US" dirty="0" smtClean="0"/>
              <a:t>Backend </a:t>
            </a:r>
            <a:r>
              <a:rPr lang="en-US" dirty="0"/>
              <a:t>model checker</a:t>
            </a:r>
          </a:p>
          <a:p>
            <a:pPr lvl="1"/>
            <a:r>
              <a:rPr lang="en-US" dirty="0"/>
              <a:t>Used to assess design with or without active faults</a:t>
            </a:r>
          </a:p>
          <a:p>
            <a:r>
              <a:rPr lang="en-US" dirty="0" smtClean="0"/>
              <a:t>Ability </a:t>
            </a:r>
            <a:r>
              <a:rPr lang="en-US" dirty="0"/>
              <a:t>to generate assessment artifacts</a:t>
            </a:r>
          </a:p>
          <a:p>
            <a:pPr lvl="1"/>
            <a:r>
              <a:rPr lang="en-US" dirty="0"/>
              <a:t>System traces, counterexamples, minimal cut sets, fault trees, etc.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98419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Closely Related 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200150"/>
            <a:ext cx="8046720" cy="3086100"/>
          </a:xfrm>
        </p:spPr>
        <p:txBody>
          <a:bodyPr/>
          <a:lstStyle/>
          <a:p>
            <a:r>
              <a:rPr lang="en-US" dirty="0"/>
              <a:t>EMV2:</a:t>
            </a:r>
          </a:p>
          <a:p>
            <a:pPr lvl="1"/>
            <a:r>
              <a:rPr lang="en-US" dirty="0"/>
              <a:t>Model based, generates artifacts, captures propagations </a:t>
            </a:r>
            <a:r>
              <a:rPr lang="en-US" dirty="0" smtClean="0"/>
              <a:t>explicitly</a:t>
            </a:r>
            <a:endParaRPr lang="en-US" dirty="0"/>
          </a:p>
          <a:p>
            <a:endParaRPr lang="en-US" dirty="0"/>
          </a:p>
          <a:p>
            <a:r>
              <a:rPr lang="en-US" dirty="0"/>
              <a:t>COMPASS:</a:t>
            </a:r>
          </a:p>
          <a:p>
            <a:pPr lvl="1"/>
            <a:r>
              <a:rPr lang="en-US" dirty="0"/>
              <a:t>Model based, generates artifacts, captures behavioral and explicit propagations, </a:t>
            </a:r>
            <a:r>
              <a:rPr lang="en-US" dirty="0" smtClean="0"/>
              <a:t>is not an </a:t>
            </a:r>
            <a:r>
              <a:rPr lang="en-US" dirty="0"/>
              <a:t>SAE standard language: not as </a:t>
            </a:r>
            <a:r>
              <a:rPr lang="en-US" dirty="0" smtClean="0"/>
              <a:t>descriptive </a:t>
            </a:r>
            <a:r>
              <a:rPr lang="en-US" dirty="0"/>
              <a:t>as AADL for real-time embedded systems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04173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AADL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grpSp>
        <p:nvGrpSpPr>
          <p:cNvPr id="22" name="Group 3"/>
          <p:cNvGrpSpPr/>
          <p:nvPr/>
        </p:nvGrpSpPr>
        <p:grpSpPr>
          <a:xfrm>
            <a:off x="400050" y="1257300"/>
            <a:ext cx="4857750" cy="2457450"/>
            <a:chOff x="1371600" y="1389376"/>
            <a:chExt cx="6553200" cy="3462753"/>
          </a:xfrm>
        </p:grpSpPr>
        <p:pic>
          <p:nvPicPr>
            <p:cNvPr id="23" name="Picture 3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1600" y="1389376"/>
              <a:ext cx="6553200" cy="34627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4" name="Picture 23" descr="pixhawk.jpg"/>
            <p:cNvPicPr>
              <a:picLocks noChangeAspect="1"/>
            </p:cNvPicPr>
            <p:nvPr/>
          </p:nvPicPr>
          <p:blipFill>
            <a:blip r:embed="rId4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297057" y="3581400"/>
              <a:ext cx="838200" cy="838200"/>
            </a:xfrm>
            <a:prstGeom prst="rect">
              <a:avLst/>
            </a:prstGeom>
          </p:spPr>
        </p:pic>
        <p:pic>
          <p:nvPicPr>
            <p:cNvPr id="25" name="Picture 2" descr="http://dn.odroid.com/homebackup/ODROID-XU3.jpg"/>
            <p:cNvPicPr>
              <a:picLocks noChangeAspect="1" noChangeArrowheads="1"/>
            </p:cNvPicPr>
            <p:nvPr/>
          </p:nvPicPr>
          <p:blipFill>
            <a:blip r:embed="rId5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4400" y="3581400"/>
              <a:ext cx="1161394" cy="6736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Rectangle 19"/>
          <p:cNvSpPr/>
          <p:nvPr/>
        </p:nvSpPr>
        <p:spPr>
          <a:xfrm>
            <a:off x="4834581" y="3371850"/>
            <a:ext cx="4286250" cy="10287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AADL = SAE AS5506 standard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dirty="0"/>
              <a:t>Target: Embedded, real-time, distributed systems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dirty="0"/>
              <a:t>Describes both hardware and software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dirty="0"/>
              <a:t>Extensible syntax (annex)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dirty="0"/>
              <a:t>Open source tools, supported by SEI</a:t>
            </a:r>
            <a:endParaRPr lang="en-US" sz="1200" dirty="0"/>
          </a:p>
        </p:txBody>
      </p:sp>
      <p:grpSp>
        <p:nvGrpSpPr>
          <p:cNvPr id="26" name="Group 2049"/>
          <p:cNvGrpSpPr/>
          <p:nvPr/>
        </p:nvGrpSpPr>
        <p:grpSpPr>
          <a:xfrm>
            <a:off x="3086099" y="483459"/>
            <a:ext cx="5498144" cy="2576345"/>
            <a:chOff x="4195157" y="1392808"/>
            <a:chExt cx="4753920" cy="2080852"/>
          </a:xfrm>
        </p:grpSpPr>
        <p:pic>
          <p:nvPicPr>
            <p:cNvPr id="27" name="Picture 7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44154" y="1392808"/>
              <a:ext cx="3604923" cy="20808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28" name="Straight Connector 27"/>
            <p:cNvCxnSpPr/>
            <p:nvPr/>
          </p:nvCxnSpPr>
          <p:spPr>
            <a:xfrm flipV="1">
              <a:off x="4195157" y="1485139"/>
              <a:ext cx="1553086" cy="624999"/>
            </a:xfrm>
            <a:prstGeom prst="line">
              <a:avLst/>
            </a:prstGeom>
            <a:ln w="57150">
              <a:solidFill>
                <a:srgbClr val="FFC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4280410" y="2574213"/>
              <a:ext cx="1447800" cy="838200"/>
            </a:xfrm>
            <a:prstGeom prst="line">
              <a:avLst/>
            </a:prstGeom>
            <a:ln w="57150">
              <a:solidFill>
                <a:srgbClr val="FFC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" name="Picture 2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5401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550"/>
            <a:ext cx="8229600" cy="568875"/>
          </a:xfrm>
        </p:spPr>
        <p:txBody>
          <a:bodyPr/>
          <a:lstStyle/>
          <a:p>
            <a:r>
              <a:rPr lang="en-US" dirty="0"/>
              <a:t>Assume-Guarantee Reasoning Environment (AGREE)</a:t>
            </a:r>
            <a:endParaRPr lang="en-US" sz="135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>
          <a:xfrm>
            <a:off x="285750" y="2571750"/>
            <a:ext cx="5005559" cy="1714728"/>
          </a:xfrm>
        </p:spPr>
        <p:txBody>
          <a:bodyPr/>
          <a:lstStyle/>
          <a:p>
            <a:r>
              <a:rPr lang="en-US" sz="1500" dirty="0"/>
              <a:t>Each component has a contract consisting of assumptions and </a:t>
            </a:r>
            <a:r>
              <a:rPr lang="en-US" sz="1500" dirty="0"/>
              <a:t>guarantees</a:t>
            </a:r>
          </a:p>
          <a:p>
            <a:pPr lvl="1"/>
            <a:r>
              <a:rPr lang="en-US" dirty="0" smtClean="0"/>
              <a:t>Assumptions</a:t>
            </a:r>
            <a:r>
              <a:rPr lang="en-US" dirty="0"/>
              <a:t>: Constraints over what a component expects from its environment</a:t>
            </a:r>
          </a:p>
          <a:p>
            <a:pPr lvl="1"/>
            <a:r>
              <a:rPr lang="en-US" dirty="0"/>
              <a:t>Guarantees: Constraints over how a component behaves in response to its environment (requirements</a:t>
            </a:r>
            <a:r>
              <a:rPr lang="en-US" dirty="0" smtClean="0"/>
              <a:t>)</a:t>
            </a:r>
            <a:endParaRPr lang="en-US" sz="13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7130E-3FF9-455A-A1CC-4E75A71694C4}" type="slidenum">
              <a:rPr lang="en-US" smtClean="0">
                <a:solidFill>
                  <a:srgbClr val="000000"/>
                </a:solidFill>
              </a:rPr>
              <a:pPr/>
              <a:t>8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  <p:pic>
        <p:nvPicPr>
          <p:cNvPr id="38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866"/>
          <a:stretch/>
        </p:blipFill>
        <p:spPr bwMode="auto">
          <a:xfrm>
            <a:off x="996939" y="1282762"/>
            <a:ext cx="1490329" cy="11101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39" name="Picture 8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5" t="3514" r="8140" b="15359"/>
          <a:stretch/>
        </p:blipFill>
        <p:spPr bwMode="auto">
          <a:xfrm>
            <a:off x="2544418" y="1257956"/>
            <a:ext cx="1371600" cy="1134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0" name="TextBox 39"/>
          <p:cNvSpPr txBox="1"/>
          <p:nvPr/>
        </p:nvSpPr>
        <p:spPr>
          <a:xfrm>
            <a:off x="1250390" y="971550"/>
            <a:ext cx="247375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1"/>
                </a:solidFill>
              </a:rPr>
              <a:t>Component Implementation</a:t>
            </a:r>
            <a:endParaRPr lang="en-US" sz="1350" b="1" dirty="0">
              <a:solidFill>
                <a:schemeClr val="accent1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252682" y="1591121"/>
            <a:ext cx="2051896" cy="108585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421605" y="1762571"/>
            <a:ext cx="629756" cy="40005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7379974" y="1705421"/>
            <a:ext cx="629756" cy="40005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086526" y="2219771"/>
            <a:ext cx="629756" cy="40005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45" name="Down Arrow 44"/>
          <p:cNvSpPr/>
          <p:nvPr/>
        </p:nvSpPr>
        <p:spPr>
          <a:xfrm>
            <a:off x="7265007" y="2485192"/>
            <a:ext cx="272794" cy="39547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46" name="Freeform 45"/>
          <p:cNvSpPr/>
          <p:nvPr/>
        </p:nvSpPr>
        <p:spPr>
          <a:xfrm>
            <a:off x="5689843" y="1185820"/>
            <a:ext cx="164306" cy="2907506"/>
          </a:xfrm>
          <a:custGeom>
            <a:avLst/>
            <a:gdLst>
              <a:gd name="connsiteX0" fmla="*/ 219075 w 219075"/>
              <a:gd name="connsiteY0" fmla="*/ 0 h 3876675"/>
              <a:gd name="connsiteX1" fmla="*/ 0 w 219075"/>
              <a:gd name="connsiteY1" fmla="*/ 0 h 3876675"/>
              <a:gd name="connsiteX2" fmla="*/ 9525 w 219075"/>
              <a:gd name="connsiteY2" fmla="*/ 3876675 h 3876675"/>
              <a:gd name="connsiteX3" fmla="*/ 200025 w 219075"/>
              <a:gd name="connsiteY3" fmla="*/ 3876675 h 387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075" h="3876675">
                <a:moveTo>
                  <a:pt x="219075" y="0"/>
                </a:moveTo>
                <a:lnTo>
                  <a:pt x="0" y="0"/>
                </a:lnTo>
                <a:lnTo>
                  <a:pt x="9525" y="3876675"/>
                </a:lnTo>
                <a:lnTo>
                  <a:pt x="200025" y="3876675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 rot="16200000">
            <a:off x="5032748" y="2404097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AGREE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454446" y="1746610"/>
            <a:ext cx="526106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75" b="1" dirty="0">
                <a:solidFill>
                  <a:schemeClr val="accent1"/>
                </a:solidFill>
              </a:rPr>
              <a:t>contract</a:t>
            </a:r>
            <a:endParaRPr lang="en-US" sz="675" b="1" dirty="0">
              <a:solidFill>
                <a:schemeClr val="accent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424824" y="1705421"/>
            <a:ext cx="526106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75" b="1" dirty="0">
                <a:solidFill>
                  <a:schemeClr val="accent1"/>
                </a:solidFill>
              </a:rPr>
              <a:t>contract</a:t>
            </a:r>
            <a:endParaRPr lang="en-US" sz="675" b="1" dirty="0">
              <a:solidFill>
                <a:schemeClr val="accent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109947" y="2219771"/>
            <a:ext cx="526106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75" b="1" dirty="0">
                <a:solidFill>
                  <a:schemeClr val="accent1"/>
                </a:solidFill>
              </a:rPr>
              <a:t>contract</a:t>
            </a:r>
            <a:endParaRPr lang="en-US" sz="675" b="1" dirty="0">
              <a:solidFill>
                <a:schemeClr val="accent1"/>
              </a:solidFill>
            </a:endParaRPr>
          </a:p>
        </p:txBody>
      </p:sp>
      <p:sp>
        <p:nvSpPr>
          <p:cNvPr id="51" name="Down Arrow 50"/>
          <p:cNvSpPr/>
          <p:nvPr/>
        </p:nvSpPr>
        <p:spPr>
          <a:xfrm rot="16200000">
            <a:off x="4556560" y="1568733"/>
            <a:ext cx="405863" cy="46879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6443588" y="3160549"/>
            <a:ext cx="1816386" cy="9327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599231" y="3191123"/>
            <a:ext cx="16834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</a:rPr>
              <a:t>Assumptions (input)</a:t>
            </a:r>
            <a:endParaRPr lang="en-US" sz="1200" b="1" dirty="0">
              <a:solidFill>
                <a:schemeClr val="accent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6517516" y="3791836"/>
            <a:ext cx="1656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</a:rPr>
              <a:t>Guarantees (output)</a:t>
            </a:r>
            <a:endParaRPr lang="en-US" sz="1200" b="1" dirty="0">
              <a:solidFill>
                <a:schemeClr val="accent1"/>
              </a:solidFill>
            </a:endParaRPr>
          </a:p>
        </p:txBody>
      </p:sp>
      <p:cxnSp>
        <p:nvCxnSpPr>
          <p:cNvPr id="85" name="Straight Arrow Connector 84"/>
          <p:cNvCxnSpPr/>
          <p:nvPr/>
        </p:nvCxnSpPr>
        <p:spPr>
          <a:xfrm>
            <a:off x="6297851" y="3314956"/>
            <a:ext cx="39365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>
            <a:off x="8085980" y="3928002"/>
            <a:ext cx="39706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6297851" y="1307169"/>
            <a:ext cx="24456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</a:rPr>
              <a:t>A system with subcomponents</a:t>
            </a:r>
            <a:endParaRPr lang="en-US" sz="12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2058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550"/>
            <a:ext cx="8229600" cy="568875"/>
          </a:xfrm>
        </p:spPr>
        <p:txBody>
          <a:bodyPr/>
          <a:lstStyle/>
          <a:p>
            <a:r>
              <a:rPr lang="en-US" dirty="0" smtClean="0"/>
              <a:t>Compositional Reasoning</a:t>
            </a:r>
            <a:endParaRPr lang="en-US" sz="135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>
          <a:xfrm>
            <a:off x="241887" y="1085622"/>
            <a:ext cx="6320300" cy="3301320"/>
          </a:xfrm>
        </p:spPr>
        <p:txBody>
          <a:bodyPr/>
          <a:lstStyle/>
          <a:p>
            <a:r>
              <a:rPr lang="en-US" sz="1350" dirty="0"/>
              <a:t>Each component has a contract consisting of assumptions and guarantees</a:t>
            </a:r>
          </a:p>
          <a:p>
            <a:r>
              <a:rPr lang="en-US" sz="1350" dirty="0"/>
              <a:t>The </a:t>
            </a:r>
            <a:r>
              <a:rPr lang="en-US" sz="1350" dirty="0"/>
              <a:t>contract of a component abstracts the behavior of its implementation</a:t>
            </a:r>
          </a:p>
          <a:p>
            <a:r>
              <a:rPr lang="en-US" sz="1350" dirty="0"/>
              <a:t>Contracts at each layer must be satisfied by contracts of its components </a:t>
            </a:r>
          </a:p>
          <a:p>
            <a:r>
              <a:rPr lang="en-US" sz="1350" dirty="0"/>
              <a:t>Leaf component contracts must be satisfied by implementation</a:t>
            </a:r>
          </a:p>
          <a:p>
            <a:r>
              <a:rPr lang="en-US" sz="1350" dirty="0"/>
              <a:t>Compositional analysis provides </a:t>
            </a:r>
            <a:r>
              <a:rPr lang="en-US" sz="1350" b="1" dirty="0" smtClean="0">
                <a:solidFill>
                  <a:schemeClr val="accent1"/>
                </a:solidFill>
              </a:rPr>
              <a:t>scalability </a:t>
            </a:r>
            <a:r>
              <a:rPr lang="en-US" sz="1350" dirty="0" smtClean="0"/>
              <a:t>in verification</a:t>
            </a:r>
            <a:endParaRPr lang="en-US" sz="13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7130E-3FF9-455A-A1CC-4E75A71694C4}" type="slidenum">
              <a:rPr lang="en-US" smtClean="0">
                <a:solidFill>
                  <a:srgbClr val="000000"/>
                </a:solidFill>
              </a:rPr>
              <a:pPr/>
              <a:t>9</a:t>
            </a:fld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82" name="Group 81"/>
          <p:cNvGrpSpPr/>
          <p:nvPr/>
        </p:nvGrpSpPr>
        <p:grpSpPr>
          <a:xfrm>
            <a:off x="6358145" y="692154"/>
            <a:ext cx="2232484" cy="2522579"/>
            <a:chOff x="6073587" y="827562"/>
            <a:chExt cx="2976645" cy="3363438"/>
          </a:xfrm>
        </p:grpSpPr>
        <p:sp>
          <p:nvSpPr>
            <p:cNvPr id="52" name="Rounded Rectangle 51"/>
            <p:cNvSpPr/>
            <p:nvPr/>
          </p:nvSpPr>
          <p:spPr>
            <a:xfrm>
              <a:off x="6755924" y="2406975"/>
              <a:ext cx="2036258" cy="919600"/>
            </a:xfrm>
            <a:prstGeom prst="roundRect">
              <a:avLst/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1200">
                <a:solidFill>
                  <a:srgbClr val="FFFFFF"/>
                </a:solidFill>
                <a:latin typeface="Verdana"/>
                <a:cs typeface="Arial"/>
                <a:sym typeface="Arial"/>
              </a:endParaRPr>
            </a:p>
          </p:txBody>
        </p:sp>
        <p:sp>
          <p:nvSpPr>
            <p:cNvPr id="53" name="Flowchart: Data 52"/>
            <p:cNvSpPr/>
            <p:nvPr/>
          </p:nvSpPr>
          <p:spPr>
            <a:xfrm>
              <a:off x="7018667" y="2669718"/>
              <a:ext cx="821072" cy="459800"/>
            </a:xfrm>
            <a:prstGeom prst="flowChartInputOutput">
              <a:avLst/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1200">
                <a:solidFill>
                  <a:srgbClr val="FFFFFF"/>
                </a:solidFill>
                <a:latin typeface="Verdana"/>
                <a:cs typeface="Arial"/>
                <a:sym typeface="Arial"/>
              </a:endParaRPr>
            </a:p>
          </p:txBody>
        </p:sp>
        <p:sp>
          <p:nvSpPr>
            <p:cNvPr id="54" name="Flowchart: Data 53"/>
            <p:cNvSpPr/>
            <p:nvPr/>
          </p:nvSpPr>
          <p:spPr>
            <a:xfrm>
              <a:off x="7774053" y="2669718"/>
              <a:ext cx="821072" cy="459800"/>
            </a:xfrm>
            <a:prstGeom prst="flowChartInputOutput">
              <a:avLst/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1200">
                <a:solidFill>
                  <a:srgbClr val="FFFFFF"/>
                </a:solidFill>
                <a:latin typeface="Verdana"/>
                <a:cs typeface="Arial"/>
                <a:sym typeface="Arial"/>
              </a:endParaRPr>
            </a:p>
          </p:txBody>
        </p:sp>
        <p:sp>
          <p:nvSpPr>
            <p:cNvPr id="55" name="Flowchart: Data 54"/>
            <p:cNvSpPr/>
            <p:nvPr/>
          </p:nvSpPr>
          <p:spPr>
            <a:xfrm>
              <a:off x="6887296" y="3528888"/>
              <a:ext cx="1642143" cy="662112"/>
            </a:xfrm>
            <a:prstGeom prst="flowChartInputOutput">
              <a:avLst/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1200">
                <a:solidFill>
                  <a:srgbClr val="FFFFFF"/>
                </a:solidFill>
                <a:latin typeface="Verdana"/>
                <a:cs typeface="Arial"/>
                <a:sym typeface="Arial"/>
              </a:endParaRPr>
            </a:p>
          </p:txBody>
        </p:sp>
        <p:sp>
          <p:nvSpPr>
            <p:cNvPr id="56" name="Flowchart: Data 55"/>
            <p:cNvSpPr/>
            <p:nvPr/>
          </p:nvSpPr>
          <p:spPr>
            <a:xfrm>
              <a:off x="7051510" y="3725945"/>
              <a:ext cx="624014" cy="262743"/>
            </a:xfrm>
            <a:prstGeom prst="flowChartInputOutput">
              <a:avLst/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ysDash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1200">
                <a:solidFill>
                  <a:srgbClr val="FFFFFF"/>
                </a:solidFill>
                <a:latin typeface="Verdana"/>
                <a:cs typeface="Arial"/>
                <a:sym typeface="Arial"/>
              </a:endParaRPr>
            </a:p>
          </p:txBody>
        </p:sp>
        <p:sp>
          <p:nvSpPr>
            <p:cNvPr id="57" name="Flowchart: Data 56"/>
            <p:cNvSpPr/>
            <p:nvPr/>
          </p:nvSpPr>
          <p:spPr>
            <a:xfrm>
              <a:off x="7675525" y="3725945"/>
              <a:ext cx="624014" cy="262743"/>
            </a:xfrm>
            <a:prstGeom prst="flowChartInputOutput">
              <a:avLst/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ysDash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1200">
                <a:solidFill>
                  <a:srgbClr val="FFFFFF"/>
                </a:solidFill>
                <a:latin typeface="Verdana"/>
                <a:cs typeface="Arial"/>
                <a:sym typeface="Arial"/>
              </a:endParaRP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6691872" y="835773"/>
              <a:ext cx="2358360" cy="1248029"/>
            </a:xfrm>
            <a:prstGeom prst="roundRect">
              <a:avLst/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1200">
                <a:solidFill>
                  <a:srgbClr val="FFFFFF"/>
                </a:solidFill>
                <a:latin typeface="Verdana"/>
                <a:cs typeface="Arial"/>
                <a:sym typeface="Arial"/>
              </a:endParaRPr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6886024" y="1032830"/>
              <a:ext cx="723814" cy="459800"/>
            </a:xfrm>
            <a:prstGeom prst="roundRect">
              <a:avLst/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1200">
                <a:solidFill>
                  <a:srgbClr val="FFFFFF"/>
                </a:solidFill>
                <a:latin typeface="Verdana"/>
                <a:cs typeface="Arial"/>
                <a:sym typeface="Arial"/>
              </a:endParaRP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7987532" y="967144"/>
              <a:ext cx="723814" cy="459800"/>
            </a:xfrm>
            <a:prstGeom prst="roundRect">
              <a:avLst/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1200">
                <a:solidFill>
                  <a:srgbClr val="FFFFFF"/>
                </a:solidFill>
                <a:latin typeface="Verdana"/>
                <a:cs typeface="Arial"/>
                <a:sym typeface="Arial"/>
              </a:endParaRPr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7650256" y="1558316"/>
              <a:ext cx="723814" cy="459800"/>
            </a:xfrm>
            <a:prstGeom prst="roundRect">
              <a:avLst/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1200">
                <a:solidFill>
                  <a:srgbClr val="FFFFFF"/>
                </a:solidFill>
                <a:latin typeface="Verdana"/>
                <a:cs typeface="Arial"/>
                <a:sym typeface="Arial"/>
              </a:endParaRPr>
            </a:p>
          </p:txBody>
        </p:sp>
        <p:sp>
          <p:nvSpPr>
            <p:cNvPr id="62" name="Down Arrow 61"/>
            <p:cNvSpPr/>
            <p:nvPr/>
          </p:nvSpPr>
          <p:spPr>
            <a:xfrm>
              <a:off x="7871052" y="1952430"/>
              <a:ext cx="313537" cy="454545"/>
            </a:xfrm>
            <a:prstGeom prst="downArrow">
              <a:avLst/>
            </a:prstGeom>
            <a:solidFill>
              <a:srgbClr val="ABB41D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1200">
                <a:solidFill>
                  <a:srgbClr val="FFFFFF"/>
                </a:solidFill>
                <a:latin typeface="Verdana"/>
                <a:cs typeface="Arial"/>
                <a:sym typeface="Arial"/>
              </a:endParaRPr>
            </a:p>
          </p:txBody>
        </p:sp>
        <p:sp>
          <p:nvSpPr>
            <p:cNvPr id="63" name="Down Arrow 62"/>
            <p:cNvSpPr/>
            <p:nvPr/>
          </p:nvSpPr>
          <p:spPr>
            <a:xfrm>
              <a:off x="7871052" y="3074342"/>
              <a:ext cx="313537" cy="454545"/>
            </a:xfrm>
            <a:prstGeom prst="downArrow">
              <a:avLst/>
            </a:prstGeom>
            <a:solidFill>
              <a:srgbClr val="ABB41D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1200">
                <a:solidFill>
                  <a:srgbClr val="FFFFFF"/>
                </a:solidFill>
                <a:latin typeface="Verdana"/>
                <a:cs typeface="Arial"/>
                <a:sym typeface="Arial"/>
              </a:endParaRPr>
            </a:p>
          </p:txBody>
        </p:sp>
        <p:sp>
          <p:nvSpPr>
            <p:cNvPr id="64" name="Freeform 63"/>
            <p:cNvSpPr/>
            <p:nvPr/>
          </p:nvSpPr>
          <p:spPr>
            <a:xfrm>
              <a:off x="6435706" y="827562"/>
              <a:ext cx="188846" cy="3341762"/>
            </a:xfrm>
            <a:custGeom>
              <a:avLst/>
              <a:gdLst>
                <a:gd name="connsiteX0" fmla="*/ 219075 w 219075"/>
                <a:gd name="connsiteY0" fmla="*/ 0 h 3876675"/>
                <a:gd name="connsiteX1" fmla="*/ 0 w 219075"/>
                <a:gd name="connsiteY1" fmla="*/ 0 h 3876675"/>
                <a:gd name="connsiteX2" fmla="*/ 9525 w 219075"/>
                <a:gd name="connsiteY2" fmla="*/ 3876675 h 3876675"/>
                <a:gd name="connsiteX3" fmla="*/ 200025 w 219075"/>
                <a:gd name="connsiteY3" fmla="*/ 3876675 h 387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075" h="3876675">
                  <a:moveTo>
                    <a:pt x="219075" y="0"/>
                  </a:moveTo>
                  <a:lnTo>
                    <a:pt x="0" y="0"/>
                  </a:lnTo>
                  <a:lnTo>
                    <a:pt x="9525" y="3876675"/>
                  </a:lnTo>
                  <a:lnTo>
                    <a:pt x="200025" y="3876675"/>
                  </a:lnTo>
                </a:path>
              </a:pathLst>
            </a:custGeom>
            <a:noFill/>
            <a:ln w="25400" cap="flat" cmpd="sng" algn="ctr">
              <a:solidFill>
                <a:srgbClr val="ABB41D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1200">
                <a:solidFill>
                  <a:srgbClr val="FFFFFF"/>
                </a:solidFill>
                <a:latin typeface="Verdana"/>
                <a:cs typeface="Arial"/>
                <a:sym typeface="Arial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 rot="16200000">
              <a:off x="5247078" y="2255378"/>
              <a:ext cx="20223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1200" b="1" dirty="0">
                  <a:solidFill>
                    <a:srgbClr val="ABB41D"/>
                  </a:solidFill>
                  <a:latin typeface="Verdana"/>
                  <a:cs typeface="Arial" pitchFamily="34" charset="0"/>
                  <a:sym typeface="Arial"/>
                </a:rPr>
                <a:t>AGREE analysis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923771" y="1014485"/>
              <a:ext cx="72284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600" b="1" dirty="0">
                  <a:solidFill>
                    <a:srgbClr val="ABB41D"/>
                  </a:solidFill>
                  <a:latin typeface="Verdana"/>
                  <a:cs typeface="Arial" pitchFamily="34" charset="0"/>
                  <a:sym typeface="Arial"/>
                </a:rPr>
                <a:t>contract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039081" y="967145"/>
              <a:ext cx="72284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600" b="1" dirty="0">
                  <a:solidFill>
                    <a:srgbClr val="ABB41D"/>
                  </a:solidFill>
                  <a:latin typeface="Verdana"/>
                  <a:cs typeface="Arial" pitchFamily="34" charset="0"/>
                  <a:sym typeface="Arial"/>
                </a:rPr>
                <a:t>contract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677175" y="1558317"/>
              <a:ext cx="72284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600" b="1" dirty="0">
                  <a:solidFill>
                    <a:srgbClr val="ABB41D"/>
                  </a:solidFill>
                  <a:latin typeface="Verdana"/>
                  <a:cs typeface="Arial" pitchFamily="34" charset="0"/>
                  <a:sym typeface="Arial"/>
                </a:rPr>
                <a:t>contract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150039" y="2667794"/>
              <a:ext cx="72284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600" b="1" dirty="0">
                  <a:solidFill>
                    <a:srgbClr val="ABB41D"/>
                  </a:solidFill>
                  <a:latin typeface="Verdana"/>
                  <a:cs typeface="Arial" pitchFamily="34" charset="0"/>
                  <a:sym typeface="Arial"/>
                </a:rPr>
                <a:t>contract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915581" y="2678962"/>
              <a:ext cx="72284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600" b="1" dirty="0">
                  <a:solidFill>
                    <a:srgbClr val="ABB41D"/>
                  </a:solidFill>
                  <a:latin typeface="Verdana"/>
                  <a:cs typeface="Arial" pitchFamily="34" charset="0"/>
                  <a:sym typeface="Arial"/>
                </a:rPr>
                <a:t>contract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086450" y="3710005"/>
              <a:ext cx="66514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525" b="1" dirty="0">
                  <a:solidFill>
                    <a:srgbClr val="ABB41D"/>
                  </a:solidFill>
                  <a:latin typeface="Verdana"/>
                  <a:cs typeface="Arial" pitchFamily="34" charset="0"/>
                  <a:sym typeface="Arial"/>
                </a:rPr>
                <a:t>contract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7716577" y="3710005"/>
              <a:ext cx="66514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525" b="1" dirty="0">
                  <a:solidFill>
                    <a:srgbClr val="ABB41D"/>
                  </a:solidFill>
                  <a:latin typeface="Verdana"/>
                  <a:cs typeface="Arial" pitchFamily="34" charset="0"/>
                  <a:sym typeface="Arial"/>
                </a:rPr>
                <a:t>contract</a:t>
              </a:r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5800895" y="3123748"/>
            <a:ext cx="2789734" cy="1506557"/>
            <a:chOff x="5330587" y="4069688"/>
            <a:chExt cx="3719645" cy="2008742"/>
          </a:xfrm>
        </p:grpSpPr>
        <p:grpSp>
          <p:nvGrpSpPr>
            <p:cNvPr id="83" name="Group 82"/>
            <p:cNvGrpSpPr/>
            <p:nvPr/>
          </p:nvGrpSpPr>
          <p:grpSpPr>
            <a:xfrm>
              <a:off x="6011836" y="4069688"/>
              <a:ext cx="3038396" cy="1839006"/>
              <a:chOff x="6011836" y="4069688"/>
              <a:chExt cx="3038396" cy="1839006"/>
            </a:xfrm>
          </p:grpSpPr>
          <p:sp>
            <p:nvSpPr>
              <p:cNvPr id="78" name="Down Arrow 77"/>
              <p:cNvSpPr/>
              <p:nvPr/>
            </p:nvSpPr>
            <p:spPr>
              <a:xfrm rot="1150697">
                <a:off x="7011902" y="4069688"/>
                <a:ext cx="313537" cy="454545"/>
              </a:xfrm>
              <a:prstGeom prst="downArrow">
                <a:avLst/>
              </a:prstGeom>
              <a:solidFill>
                <a:srgbClr val="ABB41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sz="1200">
                  <a:solidFill>
                    <a:srgbClr val="FFFFFF"/>
                  </a:solidFill>
                  <a:latin typeface="Verdana"/>
                  <a:cs typeface="Arial"/>
                  <a:sym typeface="Arial"/>
                </a:endParaRPr>
              </a:p>
            </p:txBody>
          </p:sp>
          <p:sp>
            <p:nvSpPr>
              <p:cNvPr id="80" name="Down Arrow 79"/>
              <p:cNvSpPr/>
              <p:nvPr/>
            </p:nvSpPr>
            <p:spPr>
              <a:xfrm rot="21136898">
                <a:off x="8039359" y="4073140"/>
                <a:ext cx="313537" cy="454545"/>
              </a:xfrm>
              <a:prstGeom prst="downArrow">
                <a:avLst/>
              </a:prstGeom>
              <a:solidFill>
                <a:srgbClr val="ABB41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sz="1200">
                  <a:solidFill>
                    <a:srgbClr val="FFFFFF"/>
                  </a:solidFill>
                  <a:latin typeface="Verdana"/>
                  <a:cs typeface="Arial"/>
                  <a:sym typeface="Arial"/>
                </a:endParaRPr>
              </a:p>
            </p:txBody>
          </p:sp>
          <p:pic>
            <p:nvPicPr>
              <p:cNvPr id="74" name="Picture 2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4866"/>
              <a:stretch/>
            </p:blipFill>
            <p:spPr bwMode="auto">
              <a:xfrm>
                <a:off x="6011836" y="4613294"/>
                <a:ext cx="1531964" cy="12954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</p:pic>
          <p:pic>
            <p:nvPicPr>
              <p:cNvPr id="75" name="Picture 8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155" t="3514" r="8140" b="15359"/>
              <a:stretch/>
            </p:blipFill>
            <p:spPr bwMode="auto">
              <a:xfrm>
                <a:off x="7618812" y="4572000"/>
                <a:ext cx="1431420" cy="13366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76" name="TextBox 75"/>
            <p:cNvSpPr txBox="1"/>
            <p:nvPr/>
          </p:nvSpPr>
          <p:spPr>
            <a:xfrm rot="16200000">
              <a:off x="4821900" y="5015746"/>
              <a:ext cx="1571371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BB41D"/>
                  </a:solidFill>
                </a:rPr>
                <a:t>Component</a:t>
              </a:r>
            </a:p>
            <a:p>
              <a:pPr algn="ctr"/>
              <a:r>
                <a:rPr lang="en-US" sz="1050" b="1" dirty="0">
                  <a:solidFill>
                    <a:srgbClr val="ABB41D"/>
                  </a:solidFill>
                </a:rPr>
                <a:t>Implementation</a:t>
              </a:r>
            </a:p>
          </p:txBody>
        </p:sp>
      </p:grpSp>
      <p:pic>
        <p:nvPicPr>
          <p:cNvPr id="36" name="Picture 3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637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550"/>
            <a:ext cx="8229600" cy="568875"/>
          </a:xfrm>
        </p:spPr>
        <p:txBody>
          <a:bodyPr/>
          <a:lstStyle/>
          <a:p>
            <a:r>
              <a:rPr lang="en-US" dirty="0"/>
              <a:t>JKind Model Checker</a:t>
            </a:r>
            <a:endParaRPr lang="en-US" sz="1350" dirty="0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  <p:sp>
        <p:nvSpPr>
          <p:cNvPr id="27" name="Content Placeholder 2"/>
          <p:cNvSpPr>
            <a:spLocks noGrp="1"/>
          </p:cNvSpPr>
          <p:nvPr>
            <p:ph sz="half" idx="4294967295"/>
          </p:nvPr>
        </p:nvSpPr>
        <p:spPr>
          <a:xfrm>
            <a:off x="509977" y="1075174"/>
            <a:ext cx="7852410" cy="1932992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Structured as parallel engines that coordinate to prove properties and perform other verification tasks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6414112" y="2000250"/>
            <a:ext cx="234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System and Behavioral Model</a:t>
            </a:r>
          </a:p>
          <a:p>
            <a:pPr algn="ctr"/>
            <a:r>
              <a:rPr lang="en-US" sz="1200" b="1" dirty="0">
                <a:solidFill>
                  <a:schemeClr val="accent1"/>
                </a:solidFill>
              </a:rPr>
              <a:t>(.lus)</a:t>
            </a:r>
            <a:endParaRPr lang="en-US" sz="1200" b="1" dirty="0">
              <a:solidFill>
                <a:schemeClr val="accent1"/>
              </a:solidFill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2091721" y="2735872"/>
            <a:ext cx="512114" cy="1946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0" name="Rounded Rectangle 29"/>
          <p:cNvSpPr/>
          <p:nvPr/>
        </p:nvSpPr>
        <p:spPr>
          <a:xfrm>
            <a:off x="2591658" y="2445369"/>
            <a:ext cx="1579832" cy="68545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350" dirty="0">
              <a:solidFill>
                <a:schemeClr val="tx1"/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657049" y="2638542"/>
            <a:ext cx="145066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Lucida Console" panose="020B0609040504020204" pitchFamily="49" charset="0"/>
              </a:rPr>
              <a:t>AGREE Parser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172565" y="2720014"/>
            <a:ext cx="512114" cy="1946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3" name="Right Arrow 32"/>
          <p:cNvSpPr/>
          <p:nvPr/>
        </p:nvSpPr>
        <p:spPr>
          <a:xfrm>
            <a:off x="6176995" y="2716286"/>
            <a:ext cx="512114" cy="1946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4" name="Rectangle 33"/>
          <p:cNvSpPr/>
          <p:nvPr/>
        </p:nvSpPr>
        <p:spPr>
          <a:xfrm>
            <a:off x="4695626" y="2481375"/>
            <a:ext cx="1493339" cy="6494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5" name="Rectangle 34"/>
          <p:cNvSpPr/>
          <p:nvPr/>
        </p:nvSpPr>
        <p:spPr>
          <a:xfrm>
            <a:off x="391676" y="2445368"/>
            <a:ext cx="1699287" cy="2161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7" name="TextBox 36"/>
          <p:cNvSpPr txBox="1"/>
          <p:nvPr/>
        </p:nvSpPr>
        <p:spPr>
          <a:xfrm>
            <a:off x="426404" y="2556749"/>
            <a:ext cx="1668414" cy="1962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Lucida Console" panose="020B0609040504020204" pitchFamily="49" charset="0"/>
              </a:rPr>
              <a:t>AADL type and </a:t>
            </a:r>
          </a:p>
          <a:p>
            <a:r>
              <a:rPr lang="en-US" sz="1350" dirty="0">
                <a:latin typeface="Lucida Console" panose="020B0609040504020204" pitchFamily="49" charset="0"/>
              </a:rPr>
              <a:t>Implementation</a:t>
            </a:r>
          </a:p>
          <a:p>
            <a:endParaRPr lang="en-US" sz="1350" dirty="0">
              <a:latin typeface="Lucida Console" panose="020B0609040504020204" pitchFamily="49" charset="0"/>
            </a:endParaRPr>
          </a:p>
          <a:p>
            <a:endParaRPr lang="en-US" sz="1350" dirty="0">
              <a:latin typeface="Lucida Console" panose="020B0609040504020204" pitchFamily="49" charset="0"/>
            </a:endParaRPr>
          </a:p>
          <a:p>
            <a:endParaRPr lang="en-US" sz="1350" dirty="0">
              <a:latin typeface="Lucida Console" panose="020B0609040504020204" pitchFamily="49" charset="0"/>
            </a:endParaRPr>
          </a:p>
          <a:p>
            <a:r>
              <a:rPr lang="en-US" sz="1350" dirty="0">
                <a:latin typeface="Lucida Console" panose="020B0609040504020204" pitchFamily="49" charset="0"/>
              </a:rPr>
              <a:t>annex agree{**</a:t>
            </a:r>
          </a:p>
          <a:p>
            <a:r>
              <a:rPr lang="en-US" sz="1350" dirty="0">
                <a:latin typeface="Lucida Console" panose="020B0609040504020204" pitchFamily="49" charset="0"/>
              </a:rPr>
              <a:t>    contracts</a:t>
            </a:r>
          </a:p>
          <a:p>
            <a:r>
              <a:rPr lang="en-US" sz="1350" dirty="0">
                <a:latin typeface="Lucida Console" panose="020B0609040504020204" pitchFamily="49" charset="0"/>
              </a:rPr>
              <a:t>**};</a:t>
            </a:r>
          </a:p>
          <a:p>
            <a:endParaRPr lang="en-US" sz="1350" dirty="0"/>
          </a:p>
        </p:txBody>
      </p:sp>
      <p:sp>
        <p:nvSpPr>
          <p:cNvPr id="52" name="TextBox 51"/>
          <p:cNvSpPr txBox="1"/>
          <p:nvPr/>
        </p:nvSpPr>
        <p:spPr>
          <a:xfrm>
            <a:off x="4643140" y="2638542"/>
            <a:ext cx="166841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latin typeface="Lucida Console" panose="020B0609040504020204" pitchFamily="49" charset="0"/>
              </a:rPr>
              <a:t>AGREE Program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3932" y="1915821"/>
            <a:ext cx="1830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AADL System Model </a:t>
            </a:r>
          </a:p>
          <a:p>
            <a:pPr algn="ctr"/>
            <a:r>
              <a:rPr lang="en-US" sz="1200" b="1" dirty="0">
                <a:solidFill>
                  <a:schemeClr val="accent1"/>
                </a:solidFill>
              </a:rPr>
              <a:t>(.aadl)</a:t>
            </a:r>
            <a:endParaRPr lang="en-US" sz="1200" b="1" dirty="0">
              <a:solidFill>
                <a:schemeClr val="accent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516638" y="1964029"/>
            <a:ext cx="1884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Abstract Syntax Tree</a:t>
            </a:r>
          </a:p>
          <a:p>
            <a:pPr algn="ctr"/>
            <a:r>
              <a:rPr lang="en-US" sz="1200" b="1" dirty="0">
                <a:solidFill>
                  <a:schemeClr val="accent1"/>
                </a:solidFill>
              </a:rPr>
              <a:t>(.java)</a:t>
            </a:r>
            <a:endParaRPr lang="en-US" sz="1200" b="1" dirty="0">
              <a:solidFill>
                <a:schemeClr val="accent1"/>
              </a:solidFill>
            </a:endParaRPr>
          </a:p>
        </p:txBody>
      </p:sp>
      <p:sp>
        <p:nvSpPr>
          <p:cNvPr id="55" name="Right Arrow 54"/>
          <p:cNvSpPr/>
          <p:nvPr/>
        </p:nvSpPr>
        <p:spPr>
          <a:xfrm rot="5400000">
            <a:off x="7278198" y="3265991"/>
            <a:ext cx="558521" cy="1784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6" name="Rectangle 55"/>
          <p:cNvSpPr/>
          <p:nvPr/>
        </p:nvSpPr>
        <p:spPr>
          <a:xfrm>
            <a:off x="6761189" y="2538536"/>
            <a:ext cx="1514960" cy="5893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7" name="TextBox 56"/>
          <p:cNvSpPr txBox="1"/>
          <p:nvPr/>
        </p:nvSpPr>
        <p:spPr>
          <a:xfrm>
            <a:off x="6693973" y="2553534"/>
            <a:ext cx="1668414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latin typeface="Lucida Console" panose="020B0609040504020204" pitchFamily="49" charset="0"/>
              </a:rPr>
              <a:t>JKind Program </a:t>
            </a:r>
          </a:p>
          <a:p>
            <a:pPr algn="ctr"/>
            <a:r>
              <a:rPr lang="en-US" sz="1350" dirty="0">
                <a:latin typeface="Lucida Console" panose="020B0609040504020204" pitchFamily="49" charset="0"/>
              </a:rPr>
              <a:t>(Lustre)</a:t>
            </a:r>
          </a:p>
          <a:p>
            <a:endParaRPr lang="en-US" sz="1350" dirty="0"/>
          </a:p>
        </p:txBody>
      </p:sp>
      <p:sp>
        <p:nvSpPr>
          <p:cNvPr id="58" name="Rounded Rectangle 57"/>
          <p:cNvSpPr/>
          <p:nvPr/>
        </p:nvSpPr>
        <p:spPr>
          <a:xfrm>
            <a:off x="7015051" y="3649731"/>
            <a:ext cx="1125098" cy="55348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350" dirty="0">
              <a:solidFill>
                <a:schemeClr val="tx1"/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151759" y="3766910"/>
            <a:ext cx="81139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latin typeface="Lucida Console" panose="020B0609040504020204" pitchFamily="49" charset="0"/>
              </a:rPr>
              <a:t>JKind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619735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550"/>
            <a:ext cx="8229600" cy="568875"/>
          </a:xfrm>
        </p:spPr>
        <p:txBody>
          <a:bodyPr/>
          <a:lstStyle/>
          <a:p>
            <a:r>
              <a:rPr lang="en-US" dirty="0" smtClean="0"/>
              <a:t>Implementation of the safety annex</a:t>
            </a:r>
            <a:endParaRPr lang="en-US" sz="1350" dirty="0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21778" y="1505282"/>
            <a:ext cx="2364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System and Behavioral Model</a:t>
            </a:r>
          </a:p>
          <a:p>
            <a:pPr algn="ctr"/>
            <a:r>
              <a:rPr lang="en-US" sz="1200" b="1" dirty="0">
                <a:solidFill>
                  <a:schemeClr val="accent1"/>
                </a:solidFill>
              </a:rPr>
              <a:t>(.lus)</a:t>
            </a:r>
            <a:endParaRPr lang="en-US" sz="1200" b="1" dirty="0">
              <a:solidFill>
                <a:schemeClr val="accent1"/>
              </a:solidFill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1862771" y="2125439"/>
            <a:ext cx="491987" cy="1714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4" name="Rounded Rectangle 23"/>
          <p:cNvSpPr/>
          <p:nvPr/>
        </p:nvSpPr>
        <p:spPr>
          <a:xfrm>
            <a:off x="2404671" y="1893405"/>
            <a:ext cx="1517742" cy="60380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350" dirty="0">
              <a:solidFill>
                <a:schemeClr val="tx1"/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64985" y="2042383"/>
            <a:ext cx="143500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latin typeface="Lucida Console" panose="020B0609040504020204" pitchFamily="49" charset="0"/>
              </a:rPr>
              <a:t>AGREE Parser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943615" y="2109580"/>
            <a:ext cx="491987" cy="1714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8" name="Right Arrow 37"/>
          <p:cNvSpPr/>
          <p:nvPr/>
        </p:nvSpPr>
        <p:spPr>
          <a:xfrm>
            <a:off x="5948045" y="2105852"/>
            <a:ext cx="491987" cy="1714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9" name="Rectangle 38"/>
          <p:cNvSpPr/>
          <p:nvPr/>
        </p:nvSpPr>
        <p:spPr>
          <a:xfrm>
            <a:off x="4505240" y="1925121"/>
            <a:ext cx="1434648" cy="5720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0" name="Rectangle 39"/>
          <p:cNvSpPr/>
          <p:nvPr/>
        </p:nvSpPr>
        <p:spPr>
          <a:xfrm>
            <a:off x="209384" y="1893405"/>
            <a:ext cx="1653387" cy="22586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1" name="TextBox 40"/>
          <p:cNvSpPr txBox="1"/>
          <p:nvPr/>
        </p:nvSpPr>
        <p:spPr>
          <a:xfrm>
            <a:off x="242910" y="1975124"/>
            <a:ext cx="1747594" cy="23775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latin typeface="Lucida Console" panose="020B0609040504020204" pitchFamily="49" charset="0"/>
              </a:rPr>
              <a:t>AADL type and </a:t>
            </a:r>
          </a:p>
          <a:p>
            <a:r>
              <a:rPr lang="en-US" sz="1350" dirty="0">
                <a:latin typeface="Lucida Console" panose="020B0609040504020204" pitchFamily="49" charset="0"/>
              </a:rPr>
              <a:t>Implementation</a:t>
            </a:r>
          </a:p>
          <a:p>
            <a:endParaRPr lang="en-US" sz="1350" dirty="0">
              <a:latin typeface="Lucida Console" panose="020B0609040504020204" pitchFamily="49" charset="0"/>
            </a:endParaRPr>
          </a:p>
          <a:p>
            <a:r>
              <a:rPr lang="en-US" sz="1350" dirty="0">
                <a:latin typeface="Lucida Console" panose="020B0609040504020204" pitchFamily="49" charset="0"/>
              </a:rPr>
              <a:t>annex agree{**</a:t>
            </a:r>
          </a:p>
          <a:p>
            <a:r>
              <a:rPr lang="en-US" sz="1350" dirty="0">
                <a:latin typeface="Lucida Console" panose="020B0609040504020204" pitchFamily="49" charset="0"/>
              </a:rPr>
              <a:t>    contracts</a:t>
            </a:r>
          </a:p>
          <a:p>
            <a:r>
              <a:rPr lang="en-US" sz="1350" dirty="0">
                <a:latin typeface="Lucida Console" panose="020B0609040504020204" pitchFamily="49" charset="0"/>
              </a:rPr>
              <a:t>**};</a:t>
            </a:r>
          </a:p>
          <a:p>
            <a:endParaRPr lang="en-US" sz="1350" dirty="0"/>
          </a:p>
          <a:p>
            <a:r>
              <a:rPr lang="en-US" sz="1350" dirty="0">
                <a:latin typeface="Lucida Console" panose="020B0609040504020204" pitchFamily="49" charset="0"/>
              </a:rPr>
              <a:t>annex </a:t>
            </a:r>
            <a:r>
              <a:rPr lang="en-US" sz="1350" dirty="0">
                <a:latin typeface="Lucida Console" panose="020B0609040504020204" pitchFamily="49" charset="0"/>
              </a:rPr>
              <a:t>safety{**</a:t>
            </a:r>
            <a:endParaRPr lang="en-US" sz="1350" dirty="0">
              <a:latin typeface="Lucida Console" panose="020B0609040504020204" pitchFamily="49" charset="0"/>
            </a:endParaRPr>
          </a:p>
          <a:p>
            <a:r>
              <a:rPr lang="en-US" sz="1350" dirty="0">
                <a:latin typeface="Lucida Console" panose="020B0609040504020204" pitchFamily="49" charset="0"/>
              </a:rPr>
              <a:t>    </a:t>
            </a:r>
            <a:r>
              <a:rPr lang="en-US" sz="1350" dirty="0">
                <a:latin typeface="Lucida Console" panose="020B0609040504020204" pitchFamily="49" charset="0"/>
              </a:rPr>
              <a:t>faults</a:t>
            </a:r>
            <a:endParaRPr lang="en-US" sz="1350" dirty="0">
              <a:latin typeface="Lucida Console" panose="020B0609040504020204" pitchFamily="49" charset="0"/>
            </a:endParaRPr>
          </a:p>
          <a:p>
            <a:r>
              <a:rPr lang="en-US" sz="1350" dirty="0">
                <a:latin typeface="Lucida Console" panose="020B0609040504020204" pitchFamily="49" charset="0"/>
              </a:rPr>
              <a:t>**};</a:t>
            </a:r>
          </a:p>
          <a:p>
            <a:endParaRPr lang="en-US" sz="1350" dirty="0"/>
          </a:p>
        </p:txBody>
      </p:sp>
      <p:sp>
        <p:nvSpPr>
          <p:cNvPr id="42" name="TextBox 41"/>
          <p:cNvSpPr txBox="1"/>
          <p:nvPr/>
        </p:nvSpPr>
        <p:spPr>
          <a:xfrm>
            <a:off x="4439356" y="2042383"/>
            <a:ext cx="164339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latin typeface="Lucida Console" panose="020B0609040504020204" pitchFamily="49" charset="0"/>
              </a:rPr>
              <a:t>AGREE Program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1232" y="1454823"/>
            <a:ext cx="1728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AADL System Model </a:t>
            </a:r>
          </a:p>
          <a:p>
            <a:pPr algn="ctr"/>
            <a:r>
              <a:rPr lang="en-US" sz="1200" b="1" dirty="0">
                <a:solidFill>
                  <a:schemeClr val="accent1"/>
                </a:solidFill>
              </a:rPr>
              <a:t>(.aadl)</a:t>
            </a:r>
            <a:endParaRPr lang="en-US" sz="1200" b="1" dirty="0">
              <a:solidFill>
                <a:schemeClr val="accent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388834" y="1454823"/>
            <a:ext cx="17118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Abstract Syntax Tree</a:t>
            </a:r>
          </a:p>
          <a:p>
            <a:pPr algn="ctr"/>
            <a:r>
              <a:rPr lang="en-US" sz="1200" b="1" dirty="0">
                <a:solidFill>
                  <a:schemeClr val="accent1"/>
                </a:solidFill>
              </a:rPr>
              <a:t>(.java)</a:t>
            </a:r>
            <a:endParaRPr lang="en-US" sz="1200" b="1" dirty="0">
              <a:solidFill>
                <a:schemeClr val="accent1"/>
              </a:solidFill>
            </a:endParaRPr>
          </a:p>
        </p:txBody>
      </p:sp>
      <p:sp>
        <p:nvSpPr>
          <p:cNvPr id="45" name="Right Arrow 44"/>
          <p:cNvSpPr/>
          <p:nvPr/>
        </p:nvSpPr>
        <p:spPr>
          <a:xfrm rot="5400000">
            <a:off x="8190511" y="2697963"/>
            <a:ext cx="491987" cy="1714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6" name="Rectangle 45"/>
          <p:cNvSpPr/>
          <p:nvPr/>
        </p:nvSpPr>
        <p:spPr>
          <a:xfrm>
            <a:off x="7263917" y="2003943"/>
            <a:ext cx="1455420" cy="5191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7" name="TextBox 46"/>
          <p:cNvSpPr txBox="1"/>
          <p:nvPr/>
        </p:nvSpPr>
        <p:spPr>
          <a:xfrm>
            <a:off x="7182454" y="2042383"/>
            <a:ext cx="1643399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latin typeface="Lucida Console" panose="020B0609040504020204" pitchFamily="49" charset="0"/>
              </a:rPr>
              <a:t>JKind Program </a:t>
            </a:r>
          </a:p>
          <a:p>
            <a:pPr algn="ctr"/>
            <a:r>
              <a:rPr lang="en-US" sz="1350" dirty="0">
                <a:latin typeface="Lucida Console" panose="020B0609040504020204" pitchFamily="49" charset="0"/>
              </a:rPr>
              <a:t>(Lustre)</a:t>
            </a:r>
          </a:p>
          <a:p>
            <a:endParaRPr lang="en-US" sz="1350" dirty="0"/>
          </a:p>
        </p:txBody>
      </p:sp>
      <p:sp>
        <p:nvSpPr>
          <p:cNvPr id="48" name="Rounded Rectangle 47"/>
          <p:cNvSpPr/>
          <p:nvPr/>
        </p:nvSpPr>
        <p:spPr>
          <a:xfrm>
            <a:off x="7934808" y="3110863"/>
            <a:ext cx="1080880" cy="4875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350" dirty="0">
              <a:solidFill>
                <a:schemeClr val="tx1"/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083684" y="3199569"/>
            <a:ext cx="70564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latin typeface="Lucida Console" panose="020B0609040504020204" pitchFamily="49" charset="0"/>
              </a:rPr>
              <a:t>JKind</a:t>
            </a:r>
            <a:endParaRPr lang="en-US" sz="1350" dirty="0"/>
          </a:p>
        </p:txBody>
      </p:sp>
      <p:sp>
        <p:nvSpPr>
          <p:cNvPr id="50" name="Oval 49"/>
          <p:cNvSpPr/>
          <p:nvPr/>
        </p:nvSpPr>
        <p:spPr>
          <a:xfrm>
            <a:off x="6448189" y="1975125"/>
            <a:ext cx="544333" cy="4548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1" name="Right Arrow 50"/>
          <p:cNvSpPr/>
          <p:nvPr/>
        </p:nvSpPr>
        <p:spPr>
          <a:xfrm>
            <a:off x="7009585" y="2106802"/>
            <a:ext cx="254332" cy="1705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0" name="TextBox 59"/>
          <p:cNvSpPr txBox="1"/>
          <p:nvPr/>
        </p:nvSpPr>
        <p:spPr>
          <a:xfrm>
            <a:off x="6053945" y="2456519"/>
            <a:ext cx="12474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AGREE Plugin</a:t>
            </a:r>
            <a:endParaRPr lang="en-US" sz="1200" b="1" dirty="0">
              <a:solidFill>
                <a:schemeClr val="accent1"/>
              </a:solidFill>
            </a:endParaRPr>
          </a:p>
        </p:txBody>
      </p:sp>
      <p:sp>
        <p:nvSpPr>
          <p:cNvPr id="61" name="Right Arrow 60"/>
          <p:cNvSpPr/>
          <p:nvPr/>
        </p:nvSpPr>
        <p:spPr>
          <a:xfrm>
            <a:off x="1862771" y="3780305"/>
            <a:ext cx="491987" cy="1714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2" name="Rounded Rectangle 61"/>
          <p:cNvSpPr/>
          <p:nvPr/>
        </p:nvSpPr>
        <p:spPr>
          <a:xfrm>
            <a:off x="2404671" y="3548271"/>
            <a:ext cx="1517742" cy="60380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350" dirty="0">
              <a:solidFill>
                <a:schemeClr val="tx1"/>
              </a:solidFill>
              <a:latin typeface="Lucida Sans Typewriter" panose="020B0509030504030204" pitchFamily="49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464985" y="3697249"/>
            <a:ext cx="153920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latin typeface="Lucida Console" panose="020B0609040504020204" pitchFamily="49" charset="0"/>
              </a:rPr>
              <a:t>Safety Parser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3936161" y="3764446"/>
            <a:ext cx="491987" cy="1714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5" name="Rectangle 64"/>
          <p:cNvSpPr/>
          <p:nvPr/>
        </p:nvSpPr>
        <p:spPr>
          <a:xfrm>
            <a:off x="4505240" y="3579987"/>
            <a:ext cx="1434648" cy="5720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6" name="TextBox 65"/>
          <p:cNvSpPr txBox="1"/>
          <p:nvPr/>
        </p:nvSpPr>
        <p:spPr>
          <a:xfrm>
            <a:off x="4551479" y="3704465"/>
            <a:ext cx="133081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latin typeface="Lucida Console" panose="020B0609040504020204" pitchFamily="49" charset="0"/>
              </a:rPr>
              <a:t>Fault Model</a:t>
            </a:r>
            <a:endParaRPr lang="en-US" sz="1350" dirty="0">
              <a:latin typeface="Lucida Console" panose="020B0609040504020204" pitchFamily="49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360946" y="4201143"/>
            <a:ext cx="17118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Abstract Syntax Tree</a:t>
            </a:r>
          </a:p>
          <a:p>
            <a:pPr algn="ctr"/>
            <a:r>
              <a:rPr lang="en-US" sz="1200" b="1" dirty="0">
                <a:solidFill>
                  <a:schemeClr val="accent1"/>
                </a:solidFill>
              </a:rPr>
              <a:t>(.java)</a:t>
            </a:r>
            <a:endParaRPr lang="en-US" sz="1200" b="1" dirty="0">
              <a:solidFill>
                <a:schemeClr val="accent1"/>
              </a:solidFill>
            </a:endParaRPr>
          </a:p>
        </p:txBody>
      </p:sp>
      <p:sp>
        <p:nvSpPr>
          <p:cNvPr id="68" name="Right Arrow 67"/>
          <p:cNvSpPr/>
          <p:nvPr/>
        </p:nvSpPr>
        <p:spPr>
          <a:xfrm>
            <a:off x="5957396" y="3765395"/>
            <a:ext cx="491987" cy="1714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9" name="Oval 68"/>
          <p:cNvSpPr/>
          <p:nvPr/>
        </p:nvSpPr>
        <p:spPr>
          <a:xfrm>
            <a:off x="6465252" y="3636521"/>
            <a:ext cx="544333" cy="4548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0" name="TextBox 69"/>
          <p:cNvSpPr txBox="1"/>
          <p:nvPr/>
        </p:nvSpPr>
        <p:spPr>
          <a:xfrm>
            <a:off x="6139908" y="4166519"/>
            <a:ext cx="11608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Safety Plugin</a:t>
            </a:r>
            <a:endParaRPr lang="en-US" sz="1200" b="1" dirty="0">
              <a:solidFill>
                <a:schemeClr val="accent1"/>
              </a:solidFill>
            </a:endParaRPr>
          </a:p>
        </p:txBody>
      </p:sp>
      <p:cxnSp>
        <p:nvCxnSpPr>
          <p:cNvPr id="71" name="Straight Arrow Connector 70"/>
          <p:cNvCxnSpPr/>
          <p:nvPr/>
        </p:nvCxnSpPr>
        <p:spPr>
          <a:xfrm flipH="1">
            <a:off x="6440032" y="2734881"/>
            <a:ext cx="8157" cy="7416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flipV="1">
            <a:off x="6954289" y="2759105"/>
            <a:ext cx="0" cy="7258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5543551" y="2865289"/>
            <a:ext cx="99257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Extension </a:t>
            </a:r>
          </a:p>
          <a:p>
            <a:r>
              <a:rPr lang="en-US" sz="1350" dirty="0"/>
              <a:t>Point</a:t>
            </a:r>
            <a:endParaRPr lang="en-US" sz="1350" dirty="0"/>
          </a:p>
        </p:txBody>
      </p:sp>
      <p:sp>
        <p:nvSpPr>
          <p:cNvPr id="74" name="TextBox 73"/>
          <p:cNvSpPr txBox="1"/>
          <p:nvPr/>
        </p:nvSpPr>
        <p:spPr>
          <a:xfrm>
            <a:off x="6922481" y="2810262"/>
            <a:ext cx="1566583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AGREE AST with </a:t>
            </a:r>
          </a:p>
          <a:p>
            <a:r>
              <a:rPr lang="en-US" sz="1350" dirty="0"/>
              <a:t>fault</a:t>
            </a:r>
          </a:p>
          <a:p>
            <a:r>
              <a:rPr lang="en-US" sz="1350" dirty="0"/>
              <a:t>information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16778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550"/>
            <a:ext cx="8229600" cy="568875"/>
          </a:xfrm>
        </p:spPr>
        <p:txBody>
          <a:bodyPr/>
          <a:lstStyle/>
          <a:p>
            <a:r>
              <a:rPr lang="en-US" dirty="0"/>
              <a:t>Behavioral error propagation</a:t>
            </a:r>
            <a:endParaRPr lang="en-US" sz="1350" dirty="0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  <p:sp>
        <p:nvSpPr>
          <p:cNvPr id="52" name="Content Placeholder 2"/>
          <p:cNvSpPr>
            <a:spLocks noGrp="1"/>
          </p:cNvSpPr>
          <p:nvPr>
            <p:ph sz="half" idx="4294967295"/>
          </p:nvPr>
        </p:nvSpPr>
        <p:spPr>
          <a:xfrm>
            <a:off x="5122514" y="1169420"/>
            <a:ext cx="3674540" cy="315421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Allows faults to be injected into the AGREE program and then verified by the model checker. </a:t>
            </a:r>
          </a:p>
          <a:p>
            <a:endParaRPr lang="en-US" dirty="0" smtClean="0"/>
          </a:p>
          <a:p>
            <a:r>
              <a:rPr lang="en-US" dirty="0"/>
              <a:t>Wrap nominal component output in </a:t>
            </a:r>
            <a:r>
              <a:rPr lang="en-US" dirty="0" smtClean="0"/>
              <a:t>fault</a:t>
            </a:r>
          </a:p>
          <a:p>
            <a:endParaRPr lang="en-US" dirty="0"/>
          </a:p>
          <a:p>
            <a:r>
              <a:rPr lang="en-US" dirty="0"/>
              <a:t>Watch behavior of system through AGREE contracts when fault is activated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3" name="Rectangle 52"/>
          <p:cNvSpPr/>
          <p:nvPr/>
        </p:nvSpPr>
        <p:spPr>
          <a:xfrm>
            <a:off x="711987" y="1760924"/>
            <a:ext cx="685800" cy="685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54" name="Rectangle 53"/>
          <p:cNvSpPr/>
          <p:nvPr/>
        </p:nvSpPr>
        <p:spPr>
          <a:xfrm>
            <a:off x="3336656" y="1777716"/>
            <a:ext cx="685800" cy="685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55" name="TextBox 54"/>
          <p:cNvSpPr txBox="1"/>
          <p:nvPr/>
        </p:nvSpPr>
        <p:spPr>
          <a:xfrm>
            <a:off x="457200" y="1485900"/>
            <a:ext cx="123309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Component A</a:t>
            </a:r>
            <a:endParaRPr lang="en-US" sz="1350" dirty="0"/>
          </a:p>
        </p:txBody>
      </p:sp>
      <p:sp>
        <p:nvSpPr>
          <p:cNvPr id="56" name="TextBox 55"/>
          <p:cNvSpPr txBox="1"/>
          <p:nvPr/>
        </p:nvSpPr>
        <p:spPr>
          <a:xfrm>
            <a:off x="3064144" y="1491966"/>
            <a:ext cx="124264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Component B</a:t>
            </a:r>
            <a:endParaRPr lang="en-US" sz="1350" dirty="0"/>
          </a:p>
        </p:txBody>
      </p:sp>
      <p:cxnSp>
        <p:nvCxnSpPr>
          <p:cNvPr id="57" name="Straight Arrow Connector 56"/>
          <p:cNvCxnSpPr>
            <a:stCxn id="53" idx="3"/>
          </p:cNvCxnSpPr>
          <p:nvPr/>
        </p:nvCxnSpPr>
        <p:spPr>
          <a:xfrm>
            <a:off x="1397787" y="2103824"/>
            <a:ext cx="19431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397786" y="1852084"/>
            <a:ext cx="46358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Out</a:t>
            </a:r>
            <a:endParaRPr lang="en-US" sz="1350" dirty="0"/>
          </a:p>
        </p:txBody>
      </p:sp>
      <p:sp>
        <p:nvSpPr>
          <p:cNvPr id="59" name="TextBox 58"/>
          <p:cNvSpPr txBox="1"/>
          <p:nvPr/>
        </p:nvSpPr>
        <p:spPr>
          <a:xfrm>
            <a:off x="3053886" y="1852084"/>
            <a:ext cx="32893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In</a:t>
            </a:r>
            <a:endParaRPr lang="en-US" sz="1350" dirty="0"/>
          </a:p>
        </p:txBody>
      </p:sp>
      <p:sp>
        <p:nvSpPr>
          <p:cNvPr id="75" name="Rectangle 74"/>
          <p:cNvSpPr/>
          <p:nvPr/>
        </p:nvSpPr>
        <p:spPr>
          <a:xfrm>
            <a:off x="711987" y="3568874"/>
            <a:ext cx="685800" cy="685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76" name="Rectangle 75"/>
          <p:cNvSpPr/>
          <p:nvPr/>
        </p:nvSpPr>
        <p:spPr>
          <a:xfrm>
            <a:off x="3336656" y="3585666"/>
            <a:ext cx="685800" cy="685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77" name="TextBox 76"/>
          <p:cNvSpPr txBox="1"/>
          <p:nvPr/>
        </p:nvSpPr>
        <p:spPr>
          <a:xfrm>
            <a:off x="457200" y="3293850"/>
            <a:ext cx="123309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Component A</a:t>
            </a:r>
            <a:endParaRPr lang="en-US" sz="1350" dirty="0"/>
          </a:p>
        </p:txBody>
      </p:sp>
      <p:sp>
        <p:nvSpPr>
          <p:cNvPr id="78" name="TextBox 77"/>
          <p:cNvSpPr txBox="1"/>
          <p:nvPr/>
        </p:nvSpPr>
        <p:spPr>
          <a:xfrm>
            <a:off x="3086100" y="3299916"/>
            <a:ext cx="124264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Component B</a:t>
            </a:r>
            <a:endParaRPr lang="en-US" sz="1350" dirty="0"/>
          </a:p>
        </p:txBody>
      </p:sp>
      <p:cxnSp>
        <p:nvCxnSpPr>
          <p:cNvPr id="79" name="Straight Arrow Connector 78"/>
          <p:cNvCxnSpPr>
            <a:stCxn id="75" idx="3"/>
          </p:cNvCxnSpPr>
          <p:nvPr/>
        </p:nvCxnSpPr>
        <p:spPr>
          <a:xfrm>
            <a:off x="1397787" y="3911774"/>
            <a:ext cx="19431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1397786" y="3660034"/>
            <a:ext cx="46358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Out</a:t>
            </a:r>
            <a:endParaRPr lang="en-US" sz="1350" dirty="0"/>
          </a:p>
        </p:txBody>
      </p:sp>
      <p:sp>
        <p:nvSpPr>
          <p:cNvPr id="81" name="TextBox 80"/>
          <p:cNvSpPr txBox="1"/>
          <p:nvPr/>
        </p:nvSpPr>
        <p:spPr>
          <a:xfrm>
            <a:off x="3053886" y="3660034"/>
            <a:ext cx="32893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In</a:t>
            </a:r>
            <a:endParaRPr lang="en-US" sz="1350" dirty="0"/>
          </a:p>
        </p:txBody>
      </p:sp>
      <p:sp>
        <p:nvSpPr>
          <p:cNvPr id="82" name="TextBox 81"/>
          <p:cNvSpPr txBox="1"/>
          <p:nvPr/>
        </p:nvSpPr>
        <p:spPr>
          <a:xfrm>
            <a:off x="1548713" y="1025351"/>
            <a:ext cx="164660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Nominal Behavior: </a:t>
            </a:r>
            <a:endParaRPr lang="en-US" sz="1350" dirty="0"/>
          </a:p>
        </p:txBody>
      </p:sp>
      <p:sp>
        <p:nvSpPr>
          <p:cNvPr id="83" name="TextBox 82"/>
          <p:cNvSpPr txBox="1"/>
          <p:nvPr/>
        </p:nvSpPr>
        <p:spPr>
          <a:xfrm>
            <a:off x="1798781" y="2839825"/>
            <a:ext cx="139653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Fault Behavior: </a:t>
            </a:r>
            <a:endParaRPr lang="en-US" sz="1350" dirty="0"/>
          </a:p>
        </p:txBody>
      </p:sp>
      <p:sp>
        <p:nvSpPr>
          <p:cNvPr id="84" name="Oval 83"/>
          <p:cNvSpPr/>
          <p:nvPr/>
        </p:nvSpPr>
        <p:spPr>
          <a:xfrm>
            <a:off x="2057476" y="3594133"/>
            <a:ext cx="685800" cy="6858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Fault</a:t>
            </a:r>
            <a:endParaRPr lang="en-US" sz="1050" dirty="0"/>
          </a:p>
        </p:txBody>
      </p:sp>
      <p:sp>
        <p:nvSpPr>
          <p:cNvPr id="3" name="Rounded Rectangle 2"/>
          <p:cNvSpPr/>
          <p:nvPr/>
        </p:nvSpPr>
        <p:spPr>
          <a:xfrm>
            <a:off x="285750" y="3110299"/>
            <a:ext cx="4263808" cy="140455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5" name="Rounded Rectangle 84"/>
          <p:cNvSpPr/>
          <p:nvPr/>
        </p:nvSpPr>
        <p:spPr>
          <a:xfrm>
            <a:off x="265326" y="1317548"/>
            <a:ext cx="4263808" cy="140455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766178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Transform proof cores into Minimal cut sets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sz="half" idx="4294967295"/>
          </p:nvPr>
        </p:nvSpPr>
        <p:spPr>
          <a:xfrm>
            <a:off x="514350" y="1267307"/>
            <a:ext cx="8339854" cy="315421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JKind can compositionally find minimal sets of model elements required to prove safety property</a:t>
            </a:r>
          </a:p>
          <a:p>
            <a:endParaRPr lang="en-US" dirty="0" smtClean="0"/>
          </a:p>
          <a:p>
            <a:r>
              <a:rPr lang="en-US" dirty="0" smtClean="0"/>
              <a:t>These can be transformed into </a:t>
            </a:r>
            <a:r>
              <a:rPr lang="en-US" b="1" dirty="0" smtClean="0">
                <a:solidFill>
                  <a:schemeClr val="accent1"/>
                </a:solidFill>
              </a:rPr>
              <a:t>minimal cut sets</a:t>
            </a:r>
            <a:r>
              <a:rPr lang="en-US" dirty="0" smtClean="0"/>
              <a:t>: </a:t>
            </a:r>
          </a:p>
          <a:p>
            <a:pPr lvl="1"/>
            <a:r>
              <a:rPr lang="en-US" dirty="0" smtClean="0"/>
              <a:t>The minimal sets of faults required to violate the safety property</a:t>
            </a:r>
          </a:p>
          <a:p>
            <a:endParaRPr lang="en-US" dirty="0"/>
          </a:p>
          <a:p>
            <a:r>
              <a:rPr lang="en-US" dirty="0" smtClean="0"/>
              <a:t>Compositional generation of minimal cut sets promises to be more scalable than alternatives.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21244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Sensor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937285"/>
            <a:ext cx="7658100" cy="380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20605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Voting mechanisms in agree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  <p:sp>
        <p:nvSpPr>
          <p:cNvPr id="8" name="Content Placeholder 4"/>
          <p:cNvSpPr>
            <a:spLocks noGrp="1"/>
          </p:cNvSpPr>
          <p:nvPr>
            <p:ph sz="half" idx="2"/>
          </p:nvPr>
        </p:nvSpPr>
        <p:spPr>
          <a:xfrm>
            <a:off x="390906" y="1143000"/>
            <a:ext cx="6172200" cy="328393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350" dirty="0"/>
              <a:t>Temperature and pressure sensors have majority voter.</a:t>
            </a:r>
          </a:p>
          <a:p>
            <a:pPr>
              <a:lnSpc>
                <a:spcPct val="150000"/>
              </a:lnSpc>
            </a:pPr>
            <a:endParaRPr lang="en-US" sz="1350" dirty="0"/>
          </a:p>
          <a:p>
            <a:pPr>
              <a:lnSpc>
                <a:spcPct val="150000"/>
              </a:lnSpc>
            </a:pPr>
            <a:endParaRPr lang="en-US" sz="1350" dirty="0"/>
          </a:p>
          <a:p>
            <a:pPr marL="5954" indent="0">
              <a:lnSpc>
                <a:spcPct val="150000"/>
              </a:lnSpc>
              <a:buNone/>
            </a:pPr>
            <a:endParaRPr lang="en-US" sz="1350" dirty="0"/>
          </a:p>
          <a:p>
            <a:pPr marL="5954" indent="0">
              <a:lnSpc>
                <a:spcPct val="150000"/>
              </a:lnSpc>
              <a:buNone/>
            </a:pPr>
            <a:endParaRPr lang="en-US" sz="1350" dirty="0"/>
          </a:p>
          <a:p>
            <a:pPr>
              <a:lnSpc>
                <a:spcPct val="150000"/>
              </a:lnSpc>
            </a:pPr>
            <a:r>
              <a:rPr lang="en-US" sz="1350" dirty="0"/>
              <a:t>Radiation sensor : All three must agree to send shutdown command.</a:t>
            </a:r>
            <a:endParaRPr lang="en-US" sz="135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1" y="1771650"/>
            <a:ext cx="7698917" cy="7429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3486150"/>
            <a:ext cx="7641777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77678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Temperature sensor in aadl and agree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1" y="1600200"/>
            <a:ext cx="7602593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2332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Sensor Example: Faults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86D9C8-0CDB-4BF0-99FF-D7490CE4EFA3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110318"/>
            <a:ext cx="6858000" cy="3404532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1885950" y="1828800"/>
            <a:ext cx="171450" cy="17145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Oval 13"/>
          <p:cNvSpPr/>
          <p:nvPr/>
        </p:nvSpPr>
        <p:spPr>
          <a:xfrm>
            <a:off x="2714625" y="1828800"/>
            <a:ext cx="171450" cy="17145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Oval 14"/>
          <p:cNvSpPr/>
          <p:nvPr/>
        </p:nvSpPr>
        <p:spPr>
          <a:xfrm>
            <a:off x="3457575" y="1828800"/>
            <a:ext cx="171450" cy="17145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Oval 15"/>
          <p:cNvSpPr/>
          <p:nvPr/>
        </p:nvSpPr>
        <p:spPr>
          <a:xfrm>
            <a:off x="5672558" y="1754841"/>
            <a:ext cx="171450" cy="17145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7" name="Oval 16"/>
          <p:cNvSpPr/>
          <p:nvPr/>
        </p:nvSpPr>
        <p:spPr>
          <a:xfrm>
            <a:off x="6236494" y="1743075"/>
            <a:ext cx="171450" cy="17145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Oval 17"/>
          <p:cNvSpPr/>
          <p:nvPr/>
        </p:nvSpPr>
        <p:spPr>
          <a:xfrm>
            <a:off x="6779419" y="1754841"/>
            <a:ext cx="171450" cy="17145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9" name="Oval 18"/>
          <p:cNvSpPr/>
          <p:nvPr/>
        </p:nvSpPr>
        <p:spPr>
          <a:xfrm>
            <a:off x="5200650" y="3200400"/>
            <a:ext cx="171450" cy="17145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0" name="Oval 19"/>
          <p:cNvSpPr/>
          <p:nvPr/>
        </p:nvSpPr>
        <p:spPr>
          <a:xfrm>
            <a:off x="4629150" y="3163421"/>
            <a:ext cx="171450" cy="17145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Oval 20"/>
          <p:cNvSpPr/>
          <p:nvPr/>
        </p:nvSpPr>
        <p:spPr>
          <a:xfrm>
            <a:off x="4057650" y="3210485"/>
            <a:ext cx="171450" cy="17145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269681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Fault definition in safety annex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86D9C8-0CDB-4BF0-99FF-D7490CE4EFA3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" y="2114550"/>
            <a:ext cx="8506762" cy="1600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86050" y="1771650"/>
            <a:ext cx="385881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350" dirty="0">
                <a:latin typeface="Arial" panose="020B0604020202020204" pitchFamily="34" charset="0"/>
                <a:cs typeface="Arial" panose="020B0604020202020204" pitchFamily="34" charset="0"/>
              </a:rPr>
              <a:t>Two faults on each sensor: Fail high and fail low</a:t>
            </a:r>
          </a:p>
        </p:txBody>
      </p:sp>
    </p:spTree>
    <p:extLst>
      <p:ext uri="{BB962C8B-B14F-4D97-AF65-F5344CB8AC3E}">
        <p14:creationId xmlns:p14="http://schemas.microsoft.com/office/powerpoint/2010/main" val="4220743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Fault definition in safety annex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86D9C8-0CDB-4BF0-99FF-D7490CE4EFA3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" y="2114550"/>
            <a:ext cx="8506762" cy="1600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40903" y="1128648"/>
            <a:ext cx="72635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dirty="0" err="1"/>
              <a:t>Common_Faults</a:t>
            </a:r>
            <a:r>
              <a:rPr lang="en-US" dirty="0"/>
              <a:t>: an .aadl file with commonly used fault nodes</a:t>
            </a:r>
          </a:p>
          <a:p>
            <a:pPr algn="l"/>
            <a:r>
              <a:rPr lang="en-US" b="1" dirty="0" err="1"/>
              <a:t>s</a:t>
            </a:r>
            <a:r>
              <a:rPr lang="en-US" b="1" dirty="0" err="1"/>
              <a:t>tuck_true</a:t>
            </a:r>
            <a:r>
              <a:rPr lang="en-US" dirty="0"/>
              <a:t>: an AGREE node definition that determines fault behavior</a:t>
            </a:r>
          </a:p>
        </p:txBody>
      </p:sp>
      <p:sp>
        <p:nvSpPr>
          <p:cNvPr id="7" name="Oval 6"/>
          <p:cNvSpPr/>
          <p:nvPr/>
        </p:nvSpPr>
        <p:spPr>
          <a:xfrm>
            <a:off x="6229350" y="2171700"/>
            <a:ext cx="2563162" cy="514350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330162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Fault node in safety annex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86D9C8-0CDB-4BF0-99FF-D7490CE4EFA3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00051" y="1485900"/>
            <a:ext cx="7041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The AGREE node definition that determines fault behavior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" y="2400300"/>
            <a:ext cx="8094517" cy="112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064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Explicit vs implicit propagation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86D9C8-0CDB-4BF0-99FF-D7490CE4EFA3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half" idx="2"/>
          </p:nvPr>
        </p:nvSpPr>
        <p:spPr>
          <a:xfrm>
            <a:off x="479120" y="1170887"/>
            <a:ext cx="8576561" cy="3362706"/>
          </a:xfrm>
        </p:spPr>
        <p:txBody>
          <a:bodyPr/>
          <a:lstStyle/>
          <a:p>
            <a:r>
              <a:rPr lang="en-US" sz="1500" dirty="0"/>
              <a:t>The default propagation is implicit, but not all interactions can be captured in this way.</a:t>
            </a:r>
          </a:p>
          <a:p>
            <a:pPr lvl="1"/>
            <a:r>
              <a:rPr lang="en-US" sz="1301" dirty="0" smtClean="0"/>
              <a:t>e.g</a:t>
            </a:r>
            <a:r>
              <a:rPr lang="en-US" sz="1301" dirty="0"/>
              <a:t>., co-located components</a:t>
            </a:r>
          </a:p>
          <a:p>
            <a:r>
              <a:rPr lang="en-US" sz="1350" dirty="0"/>
              <a:t>Dependencies defined through a source </a:t>
            </a:r>
            <a:r>
              <a:rPr lang="en-US" sz="1350" dirty="0" err="1"/>
              <a:t>hw</a:t>
            </a:r>
            <a:r>
              <a:rPr lang="en-US" sz="1350" dirty="0"/>
              <a:t> fault and a propagation statement</a:t>
            </a:r>
          </a:p>
          <a:p>
            <a:endParaRPr lang="en-US" sz="1350" dirty="0"/>
          </a:p>
          <a:p>
            <a:endParaRPr lang="en-US" sz="1350" dirty="0"/>
          </a:p>
          <a:p>
            <a:r>
              <a:rPr lang="en-US" sz="1350" b="1" dirty="0">
                <a:solidFill>
                  <a:schemeClr val="accent1"/>
                </a:solidFill>
              </a:rPr>
              <a:t>Hardware Fault Definition</a:t>
            </a:r>
            <a:r>
              <a:rPr lang="en-US" sz="1350" dirty="0"/>
              <a:t>:</a:t>
            </a:r>
          </a:p>
          <a:p>
            <a:endParaRPr lang="en-US" sz="1350" dirty="0"/>
          </a:p>
          <a:p>
            <a:endParaRPr lang="en-US" sz="1350" dirty="0"/>
          </a:p>
          <a:p>
            <a:endParaRPr lang="en-US" sz="1350" dirty="0"/>
          </a:p>
          <a:p>
            <a:pPr marL="7938" indent="0">
              <a:buNone/>
            </a:pPr>
            <a:endParaRPr lang="en-US" sz="1350" dirty="0"/>
          </a:p>
          <a:p>
            <a:r>
              <a:rPr lang="en-US" sz="1350" b="1" dirty="0">
                <a:solidFill>
                  <a:schemeClr val="accent1"/>
                </a:solidFill>
              </a:rPr>
              <a:t>Propagation Statement</a:t>
            </a:r>
            <a:r>
              <a:rPr lang="en-US" sz="1350" dirty="0"/>
              <a:t>:</a:t>
            </a:r>
          </a:p>
          <a:p>
            <a:endParaRPr lang="en-US" sz="135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900" y="2743200"/>
            <a:ext cx="3543301" cy="84364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0" y="4334551"/>
            <a:ext cx="1428750" cy="19904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/>
          <p:cNvSpPr/>
          <p:nvPr/>
        </p:nvSpPr>
        <p:spPr>
          <a:xfrm>
            <a:off x="6836074" y="4171950"/>
            <a:ext cx="1406836" cy="2645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4065629"/>
            <a:ext cx="7254919" cy="32172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657600" y="4254470"/>
            <a:ext cx="1428750" cy="9952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Rectangle 12"/>
          <p:cNvSpPr/>
          <p:nvPr/>
        </p:nvSpPr>
        <p:spPr>
          <a:xfrm>
            <a:off x="6854868" y="4254469"/>
            <a:ext cx="1428750" cy="9952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784369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Symmetric vs asymmetric faults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86D9C8-0CDB-4BF0-99FF-D7490CE4EFA3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half" idx="2"/>
          </p:nvPr>
        </p:nvSpPr>
        <p:spPr>
          <a:xfrm>
            <a:off x="479121" y="1170887"/>
            <a:ext cx="3578530" cy="3362706"/>
          </a:xfrm>
        </p:spPr>
        <p:txBody>
          <a:bodyPr/>
          <a:lstStyle/>
          <a:p>
            <a:r>
              <a:rPr lang="en-US" sz="1500" dirty="0"/>
              <a:t>The default fault type is symmetric: output is one-to-one</a:t>
            </a:r>
          </a:p>
          <a:p>
            <a:r>
              <a:rPr lang="en-US" sz="1500" dirty="0"/>
              <a:t>Support for asymmetric faults: output is one-to-many</a:t>
            </a:r>
          </a:p>
          <a:p>
            <a:r>
              <a:rPr lang="en-US" sz="1500" dirty="0"/>
              <a:t>Asymmetric fault causes output to reflect different values for different observers.</a:t>
            </a:r>
            <a:endParaRPr lang="en-US" sz="1350" dirty="0"/>
          </a:p>
          <a:p>
            <a:endParaRPr lang="en-US" sz="1350" dirty="0"/>
          </a:p>
          <a:p>
            <a:endParaRPr lang="en-US" sz="1350" dirty="0"/>
          </a:p>
          <a:p>
            <a:endParaRPr lang="en-US" sz="1350" dirty="0"/>
          </a:p>
        </p:txBody>
      </p:sp>
      <p:sp>
        <p:nvSpPr>
          <p:cNvPr id="12" name="Rectangle 11"/>
          <p:cNvSpPr/>
          <p:nvPr/>
        </p:nvSpPr>
        <p:spPr>
          <a:xfrm>
            <a:off x="3657600" y="4254470"/>
            <a:ext cx="1428750" cy="9952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Rectangle 12"/>
          <p:cNvSpPr/>
          <p:nvPr/>
        </p:nvSpPr>
        <p:spPr>
          <a:xfrm>
            <a:off x="6854868" y="4254469"/>
            <a:ext cx="1428750" cy="9952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4" name="Content Placeholder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874" y="1151115"/>
            <a:ext cx="4888340" cy="320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946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085851"/>
            <a:ext cx="7393706" cy="3314699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Two types of analysis are available</a:t>
            </a:r>
          </a:p>
          <a:p>
            <a:pPr marL="0" indent="0">
              <a:buNone/>
            </a:pPr>
            <a:endParaRPr lang="en-US" dirty="0" smtClean="0"/>
          </a:p>
          <a:p>
            <a:pPr marL="214313" indent="-214313"/>
            <a:r>
              <a:rPr lang="en-US" dirty="0" smtClean="0"/>
              <a:t>Max N Fault Analysis</a:t>
            </a:r>
          </a:p>
          <a:p>
            <a:pPr marL="214313" indent="-214313"/>
            <a:endParaRPr lang="en-US" dirty="0"/>
          </a:p>
          <a:p>
            <a:pPr marL="214313" indent="-214313"/>
            <a:endParaRPr lang="en-US" dirty="0" smtClean="0"/>
          </a:p>
          <a:p>
            <a:pPr marL="214313" indent="-214313"/>
            <a:endParaRPr lang="en-US" dirty="0"/>
          </a:p>
          <a:p>
            <a:pPr marL="214313" indent="-214313"/>
            <a:endParaRPr lang="en-US" dirty="0" smtClean="0"/>
          </a:p>
          <a:p>
            <a:pPr marL="257175" indent="-257175"/>
            <a:r>
              <a:rPr lang="en-US" dirty="0" smtClean="0"/>
              <a:t>Probabilistic Analysis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1" y="3657600"/>
            <a:ext cx="3383648" cy="77154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555" y="2150554"/>
            <a:ext cx="2929033" cy="76409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143001" y="7908"/>
            <a:ext cx="1490024" cy="3290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0350" y="4629151"/>
            <a:ext cx="500088" cy="395308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Fault analysis statements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50234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Nominal model analysis output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6" name="Content Placeholder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1" y="918996"/>
            <a:ext cx="7249937" cy="351470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00427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Fault Analysis results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200150"/>
            <a:ext cx="8046720" cy="3086100"/>
          </a:xfrm>
        </p:spPr>
        <p:txBody>
          <a:bodyPr/>
          <a:lstStyle/>
          <a:p>
            <a:r>
              <a:rPr lang="en-US" dirty="0" smtClean="0"/>
              <a:t>Max 3 Fault Analysis for Sensor Example</a:t>
            </a:r>
          </a:p>
          <a:p>
            <a:endParaRPr lang="en-US" dirty="0"/>
          </a:p>
          <a:p>
            <a:pPr marL="7938" indent="0">
              <a:buNone/>
            </a:pPr>
            <a:endParaRPr lang="en-US" dirty="0" smtClean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931" y="1581164"/>
            <a:ext cx="5515259" cy="298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2550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Counterexamples: traces of the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86D9C8-0CDB-4BF0-99FF-D7490CE4EFA3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228600" y="1218156"/>
            <a:ext cx="2971800" cy="308610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11143" indent="-300559" algn="l" defTabSz="609555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133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377" indent="-300559" algn="l" defTabSz="609555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67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523887" indent="-304776" algn="l" defTabSz="609555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2133440" indent="-304776" algn="l" defTabSz="609555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–"/>
              <a:defRPr sz="16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742994" indent="-304776" algn="l" defTabSz="609555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»"/>
              <a:defRPr sz="16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35254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Provides information on the propagation of the error</a:t>
            </a:r>
          </a:p>
          <a:p>
            <a:pPr marL="460364" lvl="1" indent="0">
              <a:buNone/>
            </a:pPr>
            <a:endParaRPr lang="en-US" sz="1400" dirty="0"/>
          </a:p>
          <a:p>
            <a:r>
              <a:rPr lang="en-US" sz="1600" dirty="0"/>
              <a:t>Shows the state of the system when faults are active</a:t>
            </a:r>
          </a:p>
          <a:p>
            <a:pPr marL="7938" indent="0">
              <a:buNone/>
            </a:pPr>
            <a:endParaRPr lang="en-US" sz="1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950" y="1033552"/>
            <a:ext cx="5684527" cy="325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7616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457200" y="1288068"/>
            <a:ext cx="3886200" cy="3569683"/>
          </a:xfrm>
        </p:spPr>
        <p:txBody>
          <a:bodyPr/>
          <a:lstStyle/>
          <a:p>
            <a:r>
              <a:rPr lang="en-US" dirty="0" smtClean="0"/>
              <a:t>The minimal sets of fault combinations that cause violation of the safety property.</a:t>
            </a:r>
          </a:p>
          <a:p>
            <a:endParaRPr lang="en-US" dirty="0" smtClean="0"/>
          </a:p>
          <a:p>
            <a:r>
              <a:rPr lang="en-US" dirty="0" smtClean="0"/>
              <a:t>Used in Fault Tree Analysis for PSSA/SSA.</a:t>
            </a:r>
          </a:p>
          <a:p>
            <a:endParaRPr lang="en-US" dirty="0" smtClean="0"/>
          </a:p>
          <a:p>
            <a:r>
              <a:rPr lang="en-US" dirty="0" smtClean="0"/>
              <a:t>Gives insight into problematic subcomponents of the system, single points of failure, etc.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Minimal Cut Set 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5" name="Content Placeholder 1"/>
          <p:cNvSpPr txBox="1">
            <a:spLocks/>
          </p:cNvSpPr>
          <p:nvPr/>
        </p:nvSpPr>
        <p:spPr bwMode="auto">
          <a:xfrm>
            <a:off x="4572000" y="1288068"/>
            <a:ext cx="3714750" cy="3569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>
            <a:lvl1pPr marL="233363" indent="-2254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54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  <a:latin typeface="+mn-lt"/>
                <a:cs typeface="+mn-cs"/>
              </a:defRPr>
            </a:lvl2pPr>
            <a:lvl3pPr marL="1142944" indent="-2285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>
                <a:solidFill>
                  <a:srgbClr val="FFFFFF"/>
                </a:solidFill>
                <a:latin typeface="+mn-lt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FFFFFF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5954" indent="0">
              <a:buNone/>
            </a:pPr>
            <a:r>
              <a:rPr lang="en-US" sz="1500" kern="0" dirty="0"/>
              <a:t>Results from Safety Annex comes in 3 forms: </a:t>
            </a:r>
          </a:p>
          <a:p>
            <a:pPr marL="5954" indent="0">
              <a:buNone/>
            </a:pPr>
            <a:endParaRPr lang="en-US" sz="1500" kern="0" dirty="0"/>
          </a:p>
          <a:p>
            <a:r>
              <a:rPr lang="en-US" sz="1500" kern="0" dirty="0"/>
              <a:t>Tally of how many cut sets with certain cardinality</a:t>
            </a:r>
          </a:p>
          <a:p>
            <a:endParaRPr lang="en-US" sz="1500" kern="0" dirty="0"/>
          </a:p>
          <a:p>
            <a:r>
              <a:rPr lang="en-US" sz="1500" kern="0" dirty="0"/>
              <a:t>Text file giving description of each cut set, what component they effect, and which faults are in the sets</a:t>
            </a:r>
          </a:p>
          <a:p>
            <a:endParaRPr lang="en-US" sz="1500" kern="0" dirty="0"/>
          </a:p>
          <a:p>
            <a:r>
              <a:rPr lang="en-US" sz="1500" kern="0" dirty="0"/>
              <a:t>SOTERIA input file used to generate graphical fault trees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65733"/>
            <a:ext cx="3886200" cy="32575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/>
          <p:cNvSpPr/>
          <p:nvPr/>
        </p:nvSpPr>
        <p:spPr>
          <a:xfrm>
            <a:off x="4572000" y="1265733"/>
            <a:ext cx="4057650" cy="32575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1143001" y="7908"/>
            <a:ext cx="1974669" cy="3290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0350" y="4629151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896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200150"/>
            <a:ext cx="8046720" cy="3086100"/>
          </a:xfrm>
        </p:spPr>
        <p:txBody>
          <a:bodyPr/>
          <a:lstStyle/>
          <a:p>
            <a:r>
              <a:rPr lang="en-US" dirty="0" smtClean="0"/>
              <a:t>Maturation </a:t>
            </a:r>
            <a:r>
              <a:rPr lang="en-US" dirty="0"/>
              <a:t>of the tool</a:t>
            </a:r>
          </a:p>
          <a:p>
            <a:r>
              <a:rPr lang="en-US" dirty="0" smtClean="0"/>
              <a:t>Evaluate </a:t>
            </a:r>
            <a:r>
              <a:rPr lang="en-US" dirty="0"/>
              <a:t>the tool and approach on real avionics systems</a:t>
            </a:r>
          </a:p>
          <a:p>
            <a:pPr marL="7938" indent="0">
              <a:buNone/>
            </a:pPr>
            <a:endParaRPr lang="en-US" dirty="0"/>
          </a:p>
          <a:p>
            <a:pPr marL="7938" indent="0">
              <a:buNone/>
            </a:pPr>
            <a:endParaRPr lang="en-US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21570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114" y="971550"/>
            <a:ext cx="4591286" cy="164791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418" y="2642753"/>
            <a:ext cx="4025533" cy="1998404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682" y="2148646"/>
            <a:ext cx="4441832" cy="2541626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5812" y="646301"/>
            <a:ext cx="3314700" cy="2659622"/>
          </a:xfrm>
          <a:prstGeom prst="rect">
            <a:avLst/>
          </a:prstGeom>
        </p:spPr>
      </p:pic>
      <p:sp>
        <p:nvSpPr>
          <p:cNvPr id="14" name="Action Button: Help 13">
            <a:hlinkClick r:id="" action="ppaction://noaction" highlightClick="1"/>
          </p:cNvPr>
          <p:cNvSpPr/>
          <p:nvPr/>
        </p:nvSpPr>
        <p:spPr>
          <a:xfrm>
            <a:off x="3803518" y="1557054"/>
            <a:ext cx="1822649" cy="1856183"/>
          </a:xfrm>
          <a:prstGeom prst="actionButtonHelp">
            <a:avLst/>
          </a:prstGeom>
          <a:solidFill>
            <a:schemeClr val="accent3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81781180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914333" lvl="2" indent="0">
              <a:buNone/>
            </a:pPr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Safety Artifacts Generated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86D9C8-0CDB-4BF0-99FF-D7490CE4EFA3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943600" y="963457"/>
            <a:ext cx="177165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/>
              <a:t>Fault Trees</a:t>
            </a:r>
            <a:endParaRPr lang="en-US" sz="12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42950" y="963457"/>
            <a:ext cx="228600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/>
              <a:t>Minimal Cut Sets</a:t>
            </a:r>
            <a:endParaRPr lang="en-US" sz="1200" b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795" y="4196465"/>
            <a:ext cx="4286250" cy="44347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571" y="1261833"/>
            <a:ext cx="3637955" cy="163450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7676" y="1720867"/>
            <a:ext cx="50484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/>
              <a:t>Text</a:t>
            </a:r>
            <a:endParaRPr lang="en-US" sz="1200" b="1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3030569"/>
            <a:ext cx="4248130" cy="76133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28264" y="3004008"/>
            <a:ext cx="120535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 smtClean="0"/>
              <a:t>Probabilities</a:t>
            </a:r>
            <a:endParaRPr lang="en-US" sz="12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8132445" y="4075923"/>
            <a:ext cx="97155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/>
              <a:t>Graph</a:t>
            </a:r>
            <a:endParaRPr lang="en-US" sz="1200" b="1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238" y="1218916"/>
            <a:ext cx="4268233" cy="182719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314700" y="1350424"/>
            <a:ext cx="57150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/>
              <a:t>List</a:t>
            </a:r>
            <a:endParaRPr lang="en-US" sz="1200" b="1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237" y="3373989"/>
            <a:ext cx="2992313" cy="63654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338620" y="3256624"/>
            <a:ext cx="52366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/>
              <a:t>Tally</a:t>
            </a:r>
            <a:endParaRPr lang="en-US" sz="1200" b="1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46928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llins Aerospace 16x9">
  <a:themeElements>
    <a:clrScheme name="Collins">
      <a:dk1>
        <a:srgbClr val="000000"/>
      </a:dk1>
      <a:lt1>
        <a:srgbClr val="FFFFFF"/>
      </a:lt1>
      <a:dk2>
        <a:srgbClr val="333333"/>
      </a:dk2>
      <a:lt2>
        <a:srgbClr val="DCDCDC"/>
      </a:lt2>
      <a:accent1>
        <a:srgbClr val="E4551F"/>
      </a:accent1>
      <a:accent2>
        <a:srgbClr val="00AB8E"/>
      </a:accent2>
      <a:accent3>
        <a:srgbClr val="F2A900"/>
      </a:accent3>
      <a:accent4>
        <a:srgbClr val="555555"/>
      </a:accent4>
      <a:accent5>
        <a:srgbClr val="898989"/>
      </a:accent5>
      <a:accent6>
        <a:srgbClr val="BBBBBB"/>
      </a:accent6>
      <a:hlink>
        <a:srgbClr val="CF4520"/>
      </a:hlink>
      <a:folHlink>
        <a:srgbClr val="F2A9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6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_Collins_No_Tech_Data_16x9.potx" id="{FDF7590F-1AA1-4D58-839A-1A0052E3703F}" vid="{402F7B85-A400-4211-83C4-4FBA84020D6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</TotalTime>
  <Words>1279</Words>
  <Application>Microsoft Office PowerPoint</Application>
  <PresentationFormat>On-screen Show (16:9)</PresentationFormat>
  <Paragraphs>292</Paragraphs>
  <Slides>30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Arial Regular</vt:lpstr>
      <vt:lpstr>DIN-Light</vt:lpstr>
      <vt:lpstr>Lucida Console</vt:lpstr>
      <vt:lpstr>Lucida Sans Typewriter</vt:lpstr>
      <vt:lpstr>Verdana</vt:lpstr>
      <vt:lpstr>Collins Aerospace 16x9</vt:lpstr>
      <vt:lpstr>The Safety Annex for Architecture Analysis and Design Language</vt:lpstr>
      <vt:lpstr>MBSA process in safety assessment</vt:lpstr>
      <vt:lpstr>size and complexity of industrial models</vt:lpstr>
      <vt:lpstr>MBSA process Steps</vt:lpstr>
      <vt:lpstr>What will help safety analysts do this?</vt:lpstr>
      <vt:lpstr>Closely Related work</vt:lpstr>
      <vt:lpstr>AADL</vt:lpstr>
      <vt:lpstr>Assume-Guarantee Reasoning Environment (AGREE)</vt:lpstr>
      <vt:lpstr>Compositional Reasoning</vt:lpstr>
      <vt:lpstr>JKind Model Checker</vt:lpstr>
      <vt:lpstr>Implementation of the safety annex</vt:lpstr>
      <vt:lpstr>Behavioral error propagation</vt:lpstr>
      <vt:lpstr>Transform proof cores into Minimal cut sets</vt:lpstr>
      <vt:lpstr>Sensor example</vt:lpstr>
      <vt:lpstr>Voting mechanisms in agree</vt:lpstr>
      <vt:lpstr>Temperature sensor in aadl and agree</vt:lpstr>
      <vt:lpstr>Sensor Example: Faults</vt:lpstr>
      <vt:lpstr>Fault definition in safety annex</vt:lpstr>
      <vt:lpstr>Fault definition in safety annex</vt:lpstr>
      <vt:lpstr>Fault node in safety annex</vt:lpstr>
      <vt:lpstr>Explicit vs implicit propagation</vt:lpstr>
      <vt:lpstr>Symmetric vs asymmetric faults</vt:lpstr>
      <vt:lpstr>Fault analysis statements</vt:lpstr>
      <vt:lpstr>Nominal model analysis output</vt:lpstr>
      <vt:lpstr>Fault Analysis results</vt:lpstr>
      <vt:lpstr>Counterexamples: traces of the system</vt:lpstr>
      <vt:lpstr>Minimal Cut Set Analysis</vt:lpstr>
      <vt:lpstr>Future work</vt:lpstr>
      <vt:lpstr>questions</vt:lpstr>
      <vt:lpstr>Example Safety Artifacts Generated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COLLINS AEROSPACE Non Technical STARTER PRESENTATION</dc:title>
  <dc:creator>Beth Melton</dc:creator>
  <cp:keywords>Non Technical</cp:keywords>
  <cp:lastModifiedBy>Danielle Stewart</cp:lastModifiedBy>
  <cp:revision>30</cp:revision>
  <cp:lastPrinted>2018-05-24T22:27:42Z</cp:lastPrinted>
  <dcterms:created xsi:type="dcterms:W3CDTF">2018-10-17T20:48:40Z</dcterms:created>
  <dcterms:modified xsi:type="dcterms:W3CDTF">2020-01-14T17:24:57Z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ize">
    <vt:lpwstr>W</vt:lpwstr>
  </property>
  <property fmtid="{D5CDD505-2E9C-101B-9397-08002B2CF9AE}" pid="3" name="CATech">
    <vt:lpwstr>None</vt:lpwstr>
  </property>
</Properties>
</file>