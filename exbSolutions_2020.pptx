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03" r:id="rId2"/>
  </p:sldMasterIdLst>
  <p:notesMasterIdLst>
    <p:notesMasterId r:id="rId48"/>
  </p:notesMasterIdLst>
  <p:handoutMasterIdLst>
    <p:handoutMasterId r:id="rId49"/>
  </p:handoutMasterIdLst>
  <p:sldIdLst>
    <p:sldId id="257" r:id="rId3"/>
    <p:sldId id="830" r:id="rId4"/>
    <p:sldId id="836" r:id="rId5"/>
    <p:sldId id="838" r:id="rId6"/>
    <p:sldId id="847" r:id="rId7"/>
    <p:sldId id="832" r:id="rId8"/>
    <p:sldId id="833" r:id="rId9"/>
    <p:sldId id="839" r:id="rId10"/>
    <p:sldId id="840" r:id="rId11"/>
    <p:sldId id="841" r:id="rId12"/>
    <p:sldId id="842" r:id="rId13"/>
    <p:sldId id="843" r:id="rId14"/>
    <p:sldId id="844" r:id="rId15"/>
    <p:sldId id="845" r:id="rId16"/>
    <p:sldId id="837" r:id="rId17"/>
    <p:sldId id="790" r:id="rId18"/>
    <p:sldId id="829" r:id="rId19"/>
    <p:sldId id="766" r:id="rId20"/>
    <p:sldId id="769" r:id="rId21"/>
    <p:sldId id="799" r:id="rId22"/>
    <p:sldId id="796" r:id="rId23"/>
    <p:sldId id="811" r:id="rId24"/>
    <p:sldId id="800" r:id="rId25"/>
    <p:sldId id="803" r:id="rId26"/>
    <p:sldId id="819" r:id="rId27"/>
    <p:sldId id="804" r:id="rId28"/>
    <p:sldId id="817" r:id="rId29"/>
    <p:sldId id="846" r:id="rId30"/>
    <p:sldId id="818" r:id="rId31"/>
    <p:sldId id="805" r:id="rId32"/>
    <p:sldId id="821" r:id="rId33"/>
    <p:sldId id="822" r:id="rId34"/>
    <p:sldId id="823" r:id="rId35"/>
    <p:sldId id="806" r:id="rId36"/>
    <p:sldId id="810" r:id="rId37"/>
    <p:sldId id="807" r:id="rId38"/>
    <p:sldId id="812" r:id="rId39"/>
    <p:sldId id="824" r:id="rId40"/>
    <p:sldId id="808" r:id="rId41"/>
    <p:sldId id="814" r:id="rId42"/>
    <p:sldId id="809" r:id="rId43"/>
    <p:sldId id="815" r:id="rId44"/>
    <p:sldId id="816" r:id="rId45"/>
    <p:sldId id="848" r:id="rId46"/>
    <p:sldId id="827" r:id="rId4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dcofer" initials="d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0066FF"/>
    <a:srgbClr val="8693B8"/>
    <a:srgbClr val="990000"/>
    <a:srgbClr val="FF9900"/>
    <a:srgbClr val="A3A3FF"/>
    <a:srgbClr val="9999FF"/>
    <a:srgbClr val="9393FF"/>
    <a:srgbClr val="BDBDFF"/>
    <a:srgbClr val="C3D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2" autoAdjust="0"/>
    <p:restoredTop sz="93036" autoAdjust="0"/>
  </p:normalViewPr>
  <p:slideViewPr>
    <p:cSldViewPr>
      <p:cViewPr varScale="1">
        <p:scale>
          <a:sx n="69" d="100"/>
          <a:sy n="69" d="100"/>
        </p:scale>
        <p:origin x="109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832" cy="452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8027" y="0"/>
            <a:ext cx="3009832" cy="452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9017"/>
            <a:ext cx="3009832" cy="452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8027" y="8819017"/>
            <a:ext cx="3009832" cy="452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4DD4B8B-0B08-4E22-96F0-6475601545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540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04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2036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84" y="0"/>
            <a:ext cx="303804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2036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727" y="4415790"/>
            <a:ext cx="5608947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010"/>
            <a:ext cx="303804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2036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784" y="8830010"/>
            <a:ext cx="303804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2036">
              <a:defRPr sz="1200" smtClean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2D8EB32-0A30-4BE1-8F61-0C745B9291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31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036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34332" indent="-282435" defTabSz="932036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9741" indent="-225948" defTabSz="932036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81638" indent="-225948" defTabSz="932036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33534" indent="-225948" defTabSz="932036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85431" indent="-225948" defTabSz="93203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37327" indent="-225948" defTabSz="93203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89224" indent="-225948" defTabSz="93203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41120" indent="-225948" defTabSz="93203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951DB-2D6E-497D-83D0-D1AFA43BF5B7}" type="slidenum">
              <a:rPr lang="en-US"/>
              <a:pPr eaLnBrk="1" hangingPunct="1"/>
              <a:t>1</a:t>
            </a:fld>
            <a:endParaRPr lang="en-US" dirty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3438" cy="3484563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0727" y="4414220"/>
            <a:ext cx="5608947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The large WBS </a:t>
            </a:r>
            <a:r>
              <a:rPr lang="de-DE" dirty="0" err="1" smtClean="0"/>
              <a:t>example</a:t>
            </a:r>
            <a:r>
              <a:rPr lang="de-DE" dirty="0" smtClean="0"/>
              <a:t>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6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179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581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 AGREE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6F4145-9A54-8B4E-B462-B59B3AACC30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575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546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30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69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497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444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50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386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503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298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64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This figure presents our proposed use of this shared system design and safety analysis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model in the context of the ARP4754A Safety Assessment Process Model (derived from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Figure 7 of ARP4754A). The shared model is one of the system development artifacts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from the “Development of System Architecture” and “Allocation of System Requirements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to Item” activities in the System Development Process, which interacts with the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PSSAs and SSAs activities in the Safety Assessment Process. The shared model can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serve as an interface to capture the information from the system design and implementation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Arial" charset="0"/>
              </a:rPr>
              <a:t>that is relevant for the safety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1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4"/>
          <p:cNvSpPr>
            <a:spLocks/>
          </p:cNvSpPr>
          <p:nvPr/>
        </p:nvSpPr>
        <p:spPr bwMode="auto">
          <a:xfrm>
            <a:off x="-31750" y="0"/>
            <a:ext cx="3781425" cy="6861175"/>
          </a:xfrm>
          <a:custGeom>
            <a:avLst/>
            <a:gdLst/>
            <a:ahLst/>
            <a:cxnLst>
              <a:cxn ang="0">
                <a:pos x="0" y="4320"/>
              </a:cxn>
              <a:cxn ang="0">
                <a:pos x="0" y="0"/>
              </a:cxn>
              <a:cxn ang="0">
                <a:pos x="2382" y="0"/>
              </a:cxn>
              <a:cxn ang="0">
                <a:pos x="446" y="4322"/>
              </a:cxn>
              <a:cxn ang="0">
                <a:pos x="0" y="4320"/>
              </a:cxn>
            </a:cxnLst>
            <a:rect l="0" t="0" r="r" b="b"/>
            <a:pathLst>
              <a:path w="2382" h="4322">
                <a:moveTo>
                  <a:pt x="0" y="4320"/>
                </a:moveTo>
                <a:lnTo>
                  <a:pt x="0" y="0"/>
                </a:lnTo>
                <a:lnTo>
                  <a:pt x="2382" y="0"/>
                </a:lnTo>
                <a:lnTo>
                  <a:pt x="446" y="4322"/>
                </a:lnTo>
                <a:lnTo>
                  <a:pt x="0" y="4320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7172325" y="0"/>
            <a:ext cx="1562100" cy="209550"/>
            <a:chOff x="4518" y="0"/>
            <a:chExt cx="984" cy="132"/>
          </a:xfrm>
        </p:grpSpPr>
        <p:sp>
          <p:nvSpPr>
            <p:cNvPr id="6" name="Freeform 27"/>
            <p:cNvSpPr>
              <a:spLocks/>
            </p:cNvSpPr>
            <p:nvPr/>
          </p:nvSpPr>
          <p:spPr bwMode="auto">
            <a:xfrm>
              <a:off x="4518" y="0"/>
              <a:ext cx="284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60" y="0"/>
                </a:cxn>
                <a:cxn ang="0">
                  <a:pos x="284" y="0"/>
                </a:cxn>
                <a:cxn ang="0">
                  <a:pos x="228" y="132"/>
                </a:cxn>
                <a:cxn ang="0">
                  <a:pos x="0" y="132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DDDDDD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7" name="Freeform 28"/>
            <p:cNvSpPr>
              <a:spLocks/>
            </p:cNvSpPr>
            <p:nvPr/>
          </p:nvSpPr>
          <p:spPr bwMode="auto">
            <a:xfrm>
              <a:off x="4870" y="0"/>
              <a:ext cx="284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60" y="0"/>
                </a:cxn>
                <a:cxn ang="0">
                  <a:pos x="284" y="0"/>
                </a:cxn>
                <a:cxn ang="0">
                  <a:pos x="228" y="132"/>
                </a:cxn>
                <a:cxn ang="0">
                  <a:pos x="0" y="132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DDDDDD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8" name="Freeform 29"/>
            <p:cNvSpPr>
              <a:spLocks/>
            </p:cNvSpPr>
            <p:nvPr/>
          </p:nvSpPr>
          <p:spPr bwMode="auto">
            <a:xfrm>
              <a:off x="5218" y="0"/>
              <a:ext cx="284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60" y="0"/>
                </a:cxn>
                <a:cxn ang="0">
                  <a:pos x="284" y="0"/>
                </a:cxn>
                <a:cxn ang="0">
                  <a:pos x="228" y="132"/>
                </a:cxn>
                <a:cxn ang="0">
                  <a:pos x="0" y="132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DDDDDD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</p:grpSp>
      <p:pic>
        <p:nvPicPr>
          <p:cNvPr id="9" name="Picture 20" descr="RClogo_col_spot"/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11900" y="5895975"/>
            <a:ext cx="2403475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609600" y="2130425"/>
            <a:ext cx="7848600" cy="612775"/>
          </a:xfrm>
        </p:spPr>
        <p:txBody>
          <a:bodyPr/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0905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609600" y="3124200"/>
            <a:ext cx="6477000" cy="1371600"/>
          </a:xfrm>
        </p:spPr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1031" name="Picture 7" descr="C:\Documents and Settings\ddcofer\My Documents\Projects\hacms\logos\UMN-v2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14900" y="5928898"/>
            <a:ext cx="952500" cy="624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85432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6D9C8-0CDB-4BF0-99FF-D7490CE4EF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1700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BAD3-AF3F-4A89-9B03-21F6ECFAE9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309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86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3886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30389-1DEC-4A7E-9278-B25F5FA25E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658915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B2711-254E-440B-8ED8-5AE118580B8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51647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3AD8B-6753-4D8D-9DCF-DBA38AAB59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449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DEF6D-193A-43B9-A88F-EFE847976A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9393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3AFB3-A7A9-4065-A543-86CB957461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9021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0F6297-55CF-46FA-BCD9-C51E80AB2E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239697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33AE0-5302-4CC4-8AE7-7FEAC9BB32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38178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868363"/>
            <a:ext cx="1981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868363"/>
            <a:ext cx="5791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38E08D-5B21-43BE-BFE9-88252EB91A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391497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68363"/>
            <a:ext cx="7772400" cy="5032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762000" y="1600200"/>
            <a:ext cx="7924800" cy="4525963"/>
          </a:xfrm>
        </p:spPr>
        <p:txBody>
          <a:bodyPr/>
          <a:lstStyle/>
          <a:p>
            <a:pPr lvl="0"/>
            <a:r>
              <a:rPr lang="en-US" noProof="0" dirty="0" smtClean="0"/>
              <a:t>Click icon to add chart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BFFDF-0626-469B-AB2D-9C367C48781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958768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68363"/>
            <a:ext cx="7772400" cy="5032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62000" y="1600200"/>
            <a:ext cx="7924800" cy="4525963"/>
          </a:xfrm>
        </p:spPr>
        <p:txBody>
          <a:bodyPr/>
          <a:lstStyle/>
          <a:p>
            <a:pPr lvl="0"/>
            <a:r>
              <a:rPr lang="en-US" noProof="0" dirty="0" smtClean="0"/>
              <a:t>Click icon to add table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C41CE-CB0A-4C53-9688-B3615EF8FC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998175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130" y="457201"/>
            <a:ext cx="8485556" cy="29546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36130" y="777241"/>
            <a:ext cx="8485556" cy="253916"/>
          </a:xfrm>
        </p:spPr>
        <p:txBody>
          <a:bodyPr tIns="45720"/>
          <a:lstStyle>
            <a:lvl1pPr>
              <a:buNone/>
              <a:defRPr b="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/>
          </p:nvPr>
        </p:nvSpPr>
        <p:spPr>
          <a:xfrm>
            <a:off x="304117" y="1283209"/>
            <a:ext cx="8485556" cy="1001813"/>
          </a:xfrm>
        </p:spPr>
        <p:txBody>
          <a:bodyPr/>
          <a:lstStyle>
            <a:lvl3pPr>
              <a:defRPr sz="1050"/>
            </a:lvl3pPr>
            <a:lvl4pPr>
              <a:defRPr sz="1050"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0718189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| Headline + Body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CF2EFB-1FFD-0640-A59A-CE7F226354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401379"/>
            <a:ext cx="8229600" cy="4759577"/>
          </a:xfr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39C789-234B-0041-B311-916160AEF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AFC4B-EA51-4E06-B32B-14201ADECE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60" y="6325900"/>
            <a:ext cx="1500696" cy="2743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0BE380-6A30-4078-BE20-05F4863545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11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-76200" y="0"/>
            <a:ext cx="9220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Freeform 23"/>
          <p:cNvSpPr>
            <a:spLocks/>
          </p:cNvSpPr>
          <p:nvPr/>
        </p:nvSpPr>
        <p:spPr bwMode="auto">
          <a:xfrm>
            <a:off x="-98622" y="-30269"/>
            <a:ext cx="3793892" cy="6902620"/>
          </a:xfrm>
          <a:custGeom>
            <a:avLst/>
            <a:gdLst>
              <a:gd name="T0" fmla="*/ 12700 w 2381"/>
              <a:gd name="T1" fmla="*/ 0 h 4332"/>
              <a:gd name="T2" fmla="*/ 0 w 2381"/>
              <a:gd name="T3" fmla="*/ 6877050 h 4332"/>
              <a:gd name="T4" fmla="*/ 711200 w 2381"/>
              <a:gd name="T5" fmla="*/ 6870700 h 4332"/>
              <a:gd name="T6" fmla="*/ 3779838 w 2381"/>
              <a:gd name="T7" fmla="*/ 12700 h 4332"/>
              <a:gd name="T8" fmla="*/ 12700 w 2381"/>
              <a:gd name="T9" fmla="*/ 0 h 43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381" h="4332">
                <a:moveTo>
                  <a:pt x="8" y="0"/>
                </a:moveTo>
                <a:lnTo>
                  <a:pt x="0" y="4332"/>
                </a:lnTo>
                <a:lnTo>
                  <a:pt x="448" y="4328"/>
                </a:lnTo>
                <a:lnTo>
                  <a:pt x="2381" y="8"/>
                </a:lnTo>
                <a:lnTo>
                  <a:pt x="8" y="0"/>
                </a:lnTo>
                <a:close/>
              </a:path>
            </a:pathLst>
          </a:custGeom>
          <a:solidFill>
            <a:srgbClr val="E4551F"/>
          </a:solidFill>
          <a:ln>
            <a:noFill/>
          </a:ln>
          <a:effectLst/>
        </p:spPr>
        <p:txBody>
          <a:bodyPr/>
          <a:lstStyle/>
          <a:p>
            <a:endParaRPr lang="en-US" sz="2400" dirty="0">
              <a:solidFill>
                <a:srgbClr val="E4551F"/>
              </a:solidFill>
              <a:cs typeface="Arial"/>
            </a:endParaRPr>
          </a:p>
        </p:txBody>
      </p:sp>
      <p:grpSp>
        <p:nvGrpSpPr>
          <p:cNvPr id="10" name="Group 9"/>
          <p:cNvGrpSpPr>
            <a:grpSpLocks/>
          </p:cNvGrpSpPr>
          <p:nvPr userDrawn="1"/>
        </p:nvGrpSpPr>
        <p:grpSpPr bwMode="auto">
          <a:xfrm>
            <a:off x="7204714" y="-4122"/>
            <a:ext cx="1562100" cy="209550"/>
            <a:chOff x="4518" y="0"/>
            <a:chExt cx="984" cy="132"/>
          </a:xfrm>
          <a:solidFill>
            <a:srgbClr val="E4551F"/>
          </a:solidFill>
        </p:grpSpPr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4518" y="0"/>
              <a:ext cx="284" cy="132"/>
            </a:xfrm>
            <a:custGeom>
              <a:avLst/>
              <a:gdLst>
                <a:gd name="T0" fmla="*/ 0 w 284"/>
                <a:gd name="T1" fmla="*/ 132 h 132"/>
                <a:gd name="T2" fmla="*/ 60 w 284"/>
                <a:gd name="T3" fmla="*/ 0 h 132"/>
                <a:gd name="T4" fmla="*/ 284 w 284"/>
                <a:gd name="T5" fmla="*/ 0 h 132"/>
                <a:gd name="T6" fmla="*/ 228 w 284"/>
                <a:gd name="T7" fmla="*/ 132 h 132"/>
                <a:gd name="T8" fmla="*/ 0 w 284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4870" y="0"/>
              <a:ext cx="284" cy="132"/>
            </a:xfrm>
            <a:custGeom>
              <a:avLst/>
              <a:gdLst>
                <a:gd name="T0" fmla="*/ 0 w 284"/>
                <a:gd name="T1" fmla="*/ 132 h 132"/>
                <a:gd name="T2" fmla="*/ 60 w 284"/>
                <a:gd name="T3" fmla="*/ 0 h 132"/>
                <a:gd name="T4" fmla="*/ 284 w 284"/>
                <a:gd name="T5" fmla="*/ 0 h 132"/>
                <a:gd name="T6" fmla="*/ 228 w 284"/>
                <a:gd name="T7" fmla="*/ 132 h 132"/>
                <a:gd name="T8" fmla="*/ 0 w 284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5218" y="0"/>
              <a:ext cx="284" cy="132"/>
            </a:xfrm>
            <a:custGeom>
              <a:avLst/>
              <a:gdLst>
                <a:gd name="T0" fmla="*/ 0 w 284"/>
                <a:gd name="T1" fmla="*/ 132 h 132"/>
                <a:gd name="T2" fmla="*/ 60 w 284"/>
                <a:gd name="T3" fmla="*/ 0 h 132"/>
                <a:gd name="T4" fmla="*/ 284 w 284"/>
                <a:gd name="T5" fmla="*/ 0 h 132"/>
                <a:gd name="T6" fmla="*/ 228 w 284"/>
                <a:gd name="T7" fmla="*/ 132 h 132"/>
                <a:gd name="T8" fmla="*/ 0 w 284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  <a:cs typeface="+mn-cs"/>
                </a:defRPr>
              </a:lvl9pPr>
            </a:lstStyle>
            <a:p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914400" y="6491288"/>
            <a:ext cx="14770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© </a:t>
            </a:r>
            <a:r>
              <a:rPr lang="en-US" altLang="en-US" sz="800" dirty="0" smtClean="0">
                <a:solidFill>
                  <a:srgbClr val="000000"/>
                </a:solidFill>
                <a:latin typeface="Verdana" pitchFamily="34" charset="0"/>
                <a:cs typeface="Arial"/>
              </a:rPr>
              <a:t>2016 </a:t>
            </a:r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Rockwell Collins. </a:t>
            </a:r>
          </a:p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All rights reserved.</a:t>
            </a:r>
          </a:p>
        </p:txBody>
      </p:sp>
      <p:pic>
        <p:nvPicPr>
          <p:cNvPr id="8" name="Picture 11" descr="RCsig2_tag_col_cmyk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916613"/>
            <a:ext cx="2319338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2890838" y="2130425"/>
            <a:ext cx="5567362" cy="612775"/>
          </a:xfrm>
        </p:spPr>
        <p:txBody>
          <a:bodyPr/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80905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906713" y="3124200"/>
            <a:ext cx="4179887" cy="1371600"/>
          </a:xfr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8853689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4" name="Freeform 23"/>
          <p:cNvSpPr>
            <a:spLocks/>
          </p:cNvSpPr>
          <p:nvPr userDrawn="1"/>
        </p:nvSpPr>
        <p:spPr bwMode="auto">
          <a:xfrm>
            <a:off x="-25400" y="-12700"/>
            <a:ext cx="3779838" cy="6877050"/>
          </a:xfrm>
          <a:custGeom>
            <a:avLst/>
            <a:gdLst>
              <a:gd name="T0" fmla="*/ 12700 w 2381"/>
              <a:gd name="T1" fmla="*/ 0 h 4332"/>
              <a:gd name="T2" fmla="*/ 0 w 2381"/>
              <a:gd name="T3" fmla="*/ 6877050 h 4332"/>
              <a:gd name="T4" fmla="*/ 711200 w 2381"/>
              <a:gd name="T5" fmla="*/ 6870700 h 4332"/>
              <a:gd name="T6" fmla="*/ 3779838 w 2381"/>
              <a:gd name="T7" fmla="*/ 12700 h 4332"/>
              <a:gd name="T8" fmla="*/ 12700 w 2381"/>
              <a:gd name="T9" fmla="*/ 0 h 43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381" h="4332">
                <a:moveTo>
                  <a:pt x="8" y="0"/>
                </a:moveTo>
                <a:lnTo>
                  <a:pt x="0" y="4332"/>
                </a:lnTo>
                <a:lnTo>
                  <a:pt x="448" y="4328"/>
                </a:lnTo>
                <a:lnTo>
                  <a:pt x="2381" y="8"/>
                </a:lnTo>
                <a:lnTo>
                  <a:pt x="8" y="0"/>
                </a:lnTo>
                <a:close/>
              </a:path>
            </a:pathLst>
          </a:custGeom>
          <a:solidFill>
            <a:schemeClr val="accent1">
              <a:alpha val="89803"/>
            </a:schemeClr>
          </a:solidFill>
          <a:ln>
            <a:noFill/>
          </a:ln>
          <a:effectLst/>
          <a:extLst/>
        </p:spPr>
        <p:txBody>
          <a:bodyPr/>
          <a:lstStyle/>
          <a:p>
            <a:endParaRPr lang="en-US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5" name="Freeform 19"/>
          <p:cNvSpPr>
            <a:spLocks/>
          </p:cNvSpPr>
          <p:nvPr userDrawn="1"/>
        </p:nvSpPr>
        <p:spPr bwMode="auto">
          <a:xfrm>
            <a:off x="668338" y="-3175"/>
            <a:ext cx="8475662" cy="6869113"/>
          </a:xfrm>
          <a:custGeom>
            <a:avLst/>
            <a:gdLst>
              <a:gd name="T0" fmla="*/ 3062287 w 5339"/>
              <a:gd name="T1" fmla="*/ 3175 h 4327"/>
              <a:gd name="T2" fmla="*/ 0 w 5339"/>
              <a:gd name="T3" fmla="*/ 6869113 h 4327"/>
              <a:gd name="T4" fmla="*/ 8475662 w 5339"/>
              <a:gd name="T5" fmla="*/ 6861175 h 4327"/>
              <a:gd name="T6" fmla="*/ 8475662 w 5339"/>
              <a:gd name="T7" fmla="*/ 3175 h 4327"/>
              <a:gd name="T8" fmla="*/ 8085137 w 5339"/>
              <a:gd name="T9" fmla="*/ 0 h 4327"/>
              <a:gd name="T10" fmla="*/ 7994650 w 5339"/>
              <a:gd name="T11" fmla="*/ 212725 h 4327"/>
              <a:gd name="T12" fmla="*/ 7646987 w 5339"/>
              <a:gd name="T13" fmla="*/ 212725 h 4327"/>
              <a:gd name="T14" fmla="*/ 7740650 w 5339"/>
              <a:gd name="T15" fmla="*/ 0 h 4327"/>
              <a:gd name="T16" fmla="*/ 7535862 w 5339"/>
              <a:gd name="T17" fmla="*/ 3175 h 4327"/>
              <a:gd name="T18" fmla="*/ 7440612 w 5339"/>
              <a:gd name="T19" fmla="*/ 212725 h 4327"/>
              <a:gd name="T20" fmla="*/ 7092950 w 5339"/>
              <a:gd name="T21" fmla="*/ 212725 h 4327"/>
              <a:gd name="T22" fmla="*/ 7188200 w 5339"/>
              <a:gd name="T23" fmla="*/ 3175 h 4327"/>
              <a:gd name="T24" fmla="*/ 6983412 w 5339"/>
              <a:gd name="T25" fmla="*/ 3175 h 4327"/>
              <a:gd name="T26" fmla="*/ 6894512 w 5339"/>
              <a:gd name="T27" fmla="*/ 212725 h 4327"/>
              <a:gd name="T28" fmla="*/ 6535737 w 5339"/>
              <a:gd name="T29" fmla="*/ 212725 h 4327"/>
              <a:gd name="T30" fmla="*/ 6637337 w 5339"/>
              <a:gd name="T31" fmla="*/ 3175 h 4327"/>
              <a:gd name="T32" fmla="*/ 3062287 w 5339"/>
              <a:gd name="T33" fmla="*/ 3175 h 4327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5339" h="4327">
                <a:moveTo>
                  <a:pt x="1929" y="2"/>
                </a:moveTo>
                <a:lnTo>
                  <a:pt x="0" y="4327"/>
                </a:lnTo>
                <a:lnTo>
                  <a:pt x="5339" y="4322"/>
                </a:lnTo>
                <a:lnTo>
                  <a:pt x="5339" y="2"/>
                </a:lnTo>
                <a:lnTo>
                  <a:pt x="5093" y="0"/>
                </a:lnTo>
                <a:lnTo>
                  <a:pt x="5036" y="134"/>
                </a:lnTo>
                <a:lnTo>
                  <a:pt x="4817" y="134"/>
                </a:lnTo>
                <a:lnTo>
                  <a:pt x="4876" y="0"/>
                </a:lnTo>
                <a:lnTo>
                  <a:pt x="4747" y="2"/>
                </a:lnTo>
                <a:lnTo>
                  <a:pt x="4687" y="134"/>
                </a:lnTo>
                <a:lnTo>
                  <a:pt x="4468" y="134"/>
                </a:lnTo>
                <a:lnTo>
                  <a:pt x="4528" y="2"/>
                </a:lnTo>
                <a:lnTo>
                  <a:pt x="4399" y="2"/>
                </a:lnTo>
                <a:lnTo>
                  <a:pt x="4343" y="134"/>
                </a:lnTo>
                <a:lnTo>
                  <a:pt x="4117" y="134"/>
                </a:lnTo>
                <a:lnTo>
                  <a:pt x="4181" y="2"/>
                </a:lnTo>
                <a:lnTo>
                  <a:pt x="1929" y="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/>
        </p:spPr>
        <p:txBody>
          <a:bodyPr/>
          <a:lstStyle/>
          <a:p>
            <a:endParaRPr lang="en-US" sz="2400" dirty="0">
              <a:solidFill>
                <a:srgbClr val="D7451A"/>
              </a:solidFill>
              <a:cs typeface="Arial"/>
            </a:endParaRPr>
          </a:p>
        </p:txBody>
      </p:sp>
      <p:pic>
        <p:nvPicPr>
          <p:cNvPr id="9" name="Picture 8" descr="RCsig2_tag_col_bw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924550"/>
            <a:ext cx="2309813" cy="74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/>
          <p:cNvSpPr>
            <a:spLocks noChangeArrowheads="1"/>
          </p:cNvSpPr>
          <p:nvPr userDrawn="1"/>
        </p:nvSpPr>
        <p:spPr bwMode="auto">
          <a:xfrm>
            <a:off x="-7175" y="914400"/>
            <a:ext cx="9151175" cy="3135313"/>
          </a:xfrm>
          <a:prstGeom prst="rect">
            <a:avLst/>
          </a:prstGeom>
          <a:solidFill>
            <a:schemeClr val="accent6"/>
          </a:solidFill>
          <a:ln w="12700" cmpd="sng">
            <a:noFill/>
          </a:ln>
          <a:effectLst/>
          <a:ex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/>
            </a:endParaRPr>
          </a:p>
        </p:txBody>
      </p:sp>
      <p:sp>
        <p:nvSpPr>
          <p:cNvPr id="17" name="Line 21"/>
          <p:cNvSpPr>
            <a:spLocks noChangeShapeType="1"/>
          </p:cNvSpPr>
          <p:nvPr userDrawn="1"/>
        </p:nvSpPr>
        <p:spPr bwMode="auto">
          <a:xfrm>
            <a:off x="-7175" y="914400"/>
            <a:ext cx="915117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/>
            </a:endParaRPr>
          </a:p>
        </p:txBody>
      </p:sp>
      <p:sp>
        <p:nvSpPr>
          <p:cNvPr id="18" name="Line 22"/>
          <p:cNvSpPr>
            <a:spLocks noChangeShapeType="1"/>
          </p:cNvSpPr>
          <p:nvPr userDrawn="1"/>
        </p:nvSpPr>
        <p:spPr bwMode="auto">
          <a:xfrm>
            <a:off x="-7175" y="4048125"/>
            <a:ext cx="9151175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Arial" charset="0"/>
              <a:cs typeface="Arial"/>
            </a:endParaRPr>
          </a:p>
        </p:txBody>
      </p:sp>
      <p:sp>
        <p:nvSpPr>
          <p:cNvPr id="19" name="Rectangle 31"/>
          <p:cNvSpPr>
            <a:spLocks noChangeArrowheads="1"/>
          </p:cNvSpPr>
          <p:nvPr userDrawn="1"/>
        </p:nvSpPr>
        <p:spPr bwMode="auto">
          <a:xfrm>
            <a:off x="920750" y="6491288"/>
            <a:ext cx="14770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© </a:t>
            </a:r>
            <a:r>
              <a:rPr lang="en-US" altLang="en-US" sz="800" dirty="0" smtClean="0">
                <a:solidFill>
                  <a:srgbClr val="000000"/>
                </a:solidFill>
                <a:latin typeface="Verdana" pitchFamily="34" charset="0"/>
                <a:cs typeface="Arial"/>
              </a:rPr>
              <a:t>2016 </a:t>
            </a:r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Rockwell Collins. </a:t>
            </a:r>
          </a:p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57719889"/>
      </p:ext>
    </p:extLst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4551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B38293-AEBC-48C9-B732-3290CCE0D0E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120624"/>
      </p:ext>
    </p:extLst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E4551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862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38862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D3C076-B1AA-47AB-ABBA-4FF62BCC70E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963761"/>
      </p:ext>
    </p:extLst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7DEF6D-193A-43B9-A88F-EFE847976A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516565"/>
      </p:ext>
    </p:extLst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-page Content - 1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375" y="1600200"/>
            <a:ext cx="8229600" cy="1283428"/>
          </a:xfrm>
        </p:spPr>
        <p:txBody>
          <a:bodyPr/>
          <a:lstStyle>
            <a:lvl1pPr>
              <a:defRPr/>
            </a:lvl1pPr>
            <a:lvl2pPr marL="182880" indent="-182880"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320040"/>
            <a:ext cx="8229600" cy="35729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4841"/>
            <a:ext cx="8229601" cy="307777"/>
          </a:xfrm>
        </p:spPr>
        <p:txBody>
          <a:bodyPr tIns="45720"/>
          <a:lstStyle>
            <a:lvl1pPr marL="0" marR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1020763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add subtitle – font size to 20 pt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731852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868363"/>
            <a:ext cx="77724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924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48600" y="6477000"/>
            <a:ext cx="8493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>
                <a:latin typeface="+mn-lt"/>
                <a:cs typeface="Arial" charset="0"/>
              </a:defRPr>
            </a:lvl1pPr>
          </a:lstStyle>
          <a:p>
            <a:pPr>
              <a:defRPr/>
            </a:pPr>
            <a:fld id="{BE15C076-9075-4B49-A4B0-DACF630C78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101" name="Picture 15" descr="gray-header"/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764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2" name="Freeform 20"/>
          <p:cNvSpPr>
            <a:spLocks/>
          </p:cNvSpPr>
          <p:nvPr/>
        </p:nvSpPr>
        <p:spPr bwMode="auto">
          <a:xfrm>
            <a:off x="1752600" y="0"/>
            <a:ext cx="7391400" cy="419100"/>
          </a:xfrm>
          <a:custGeom>
            <a:avLst/>
            <a:gdLst/>
            <a:ahLst/>
            <a:cxnLst>
              <a:cxn ang="0">
                <a:pos x="0" y="264"/>
              </a:cxn>
              <a:cxn ang="0">
                <a:pos x="4656" y="264"/>
              </a:cxn>
              <a:cxn ang="0">
                <a:pos x="4656" y="0"/>
              </a:cxn>
              <a:cxn ang="0">
                <a:pos x="120" y="0"/>
              </a:cxn>
              <a:cxn ang="0">
                <a:pos x="0" y="264"/>
              </a:cxn>
            </a:cxnLst>
            <a:rect l="0" t="0" r="r" b="b"/>
            <a:pathLst>
              <a:path w="4656" h="264">
                <a:moveTo>
                  <a:pt x="0" y="264"/>
                </a:moveTo>
                <a:lnTo>
                  <a:pt x="4656" y="264"/>
                </a:lnTo>
                <a:lnTo>
                  <a:pt x="4656" y="0"/>
                </a:lnTo>
                <a:lnTo>
                  <a:pt x="120" y="0"/>
                </a:lnTo>
                <a:lnTo>
                  <a:pt x="0" y="264"/>
                </a:lnTo>
                <a:close/>
              </a:path>
            </a:pathLst>
          </a:custGeom>
          <a:solidFill>
            <a:srgbClr val="DDDDDD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grpSp>
        <p:nvGrpSpPr>
          <p:cNvPr id="4105" name="Group 21"/>
          <p:cNvGrpSpPr>
            <a:grpSpLocks/>
          </p:cNvGrpSpPr>
          <p:nvPr/>
        </p:nvGrpSpPr>
        <p:grpSpPr bwMode="auto">
          <a:xfrm>
            <a:off x="7772400" y="0"/>
            <a:ext cx="962025" cy="128588"/>
            <a:chOff x="4518" y="0"/>
            <a:chExt cx="984" cy="132"/>
          </a:xfrm>
        </p:grpSpPr>
        <p:sp>
          <p:nvSpPr>
            <p:cNvPr id="3094" name="Freeform 22"/>
            <p:cNvSpPr>
              <a:spLocks/>
            </p:cNvSpPr>
            <p:nvPr/>
          </p:nvSpPr>
          <p:spPr bwMode="auto">
            <a:xfrm>
              <a:off x="4518" y="0"/>
              <a:ext cx="284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60" y="0"/>
                </a:cxn>
                <a:cxn ang="0">
                  <a:pos x="284" y="0"/>
                </a:cxn>
                <a:cxn ang="0">
                  <a:pos x="228" y="132"/>
                </a:cxn>
                <a:cxn ang="0">
                  <a:pos x="0" y="132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095" name="Freeform 23"/>
            <p:cNvSpPr>
              <a:spLocks/>
            </p:cNvSpPr>
            <p:nvPr/>
          </p:nvSpPr>
          <p:spPr bwMode="auto">
            <a:xfrm>
              <a:off x="4870" y="0"/>
              <a:ext cx="284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60" y="0"/>
                </a:cxn>
                <a:cxn ang="0">
                  <a:pos x="284" y="0"/>
                </a:cxn>
                <a:cxn ang="0">
                  <a:pos x="228" y="132"/>
                </a:cxn>
                <a:cxn ang="0">
                  <a:pos x="0" y="132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auto">
            <a:xfrm>
              <a:off x="5218" y="0"/>
              <a:ext cx="284" cy="132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60" y="0"/>
                </a:cxn>
                <a:cxn ang="0">
                  <a:pos x="284" y="0"/>
                </a:cxn>
                <a:cxn ang="0">
                  <a:pos x="228" y="132"/>
                </a:cxn>
                <a:cxn ang="0">
                  <a:pos x="0" y="132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Arial" charset="0"/>
                <a:cs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701" r:id="rId14"/>
    <p:sldLayoutId id="2147483711" r:id="rId15"/>
  </p:sldLayoutIdLst>
  <p:transition>
    <p:wipe dir="r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777777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5" descr="gray-heade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667"/>
          <a:stretch>
            <a:fillRect/>
          </a:stretch>
        </p:blipFill>
        <p:spPr bwMode="auto">
          <a:xfrm>
            <a:off x="0" y="0"/>
            <a:ext cx="167640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reeform 20"/>
          <p:cNvSpPr>
            <a:spLocks/>
          </p:cNvSpPr>
          <p:nvPr/>
        </p:nvSpPr>
        <p:spPr bwMode="auto">
          <a:xfrm>
            <a:off x="1752600" y="0"/>
            <a:ext cx="7391400" cy="419100"/>
          </a:xfrm>
          <a:custGeom>
            <a:avLst/>
            <a:gdLst>
              <a:gd name="T0" fmla="*/ 0 w 4656"/>
              <a:gd name="T1" fmla="*/ 419100 h 264"/>
              <a:gd name="T2" fmla="*/ 7391400 w 4656"/>
              <a:gd name="T3" fmla="*/ 419100 h 264"/>
              <a:gd name="T4" fmla="*/ 7391400 w 4656"/>
              <a:gd name="T5" fmla="*/ 0 h 264"/>
              <a:gd name="T6" fmla="*/ 190500 w 4656"/>
              <a:gd name="T7" fmla="*/ 0 h 264"/>
              <a:gd name="T8" fmla="*/ 0 w 4656"/>
              <a:gd name="T9" fmla="*/ 419100 h 2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656" h="264">
                <a:moveTo>
                  <a:pt x="0" y="264"/>
                </a:moveTo>
                <a:lnTo>
                  <a:pt x="4656" y="264"/>
                </a:lnTo>
                <a:lnTo>
                  <a:pt x="4656" y="0"/>
                </a:lnTo>
                <a:lnTo>
                  <a:pt x="120" y="0"/>
                </a:lnTo>
                <a:lnTo>
                  <a:pt x="0" y="2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868363"/>
            <a:ext cx="77724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924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48600" y="6477000"/>
            <a:ext cx="849313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Verdana" pitchFamily="34" charset="0"/>
              </a:defRPr>
            </a:lvl1pPr>
          </a:lstStyle>
          <a:p>
            <a:fld id="{84BE33A8-B07C-4AE5-8AD6-5B92B3138622}" type="slidenum">
              <a:rPr lang="en-US" altLang="en-US">
                <a:solidFill>
                  <a:srgbClr val="000000"/>
                </a:solidFill>
                <a:cs typeface="Arial"/>
              </a:rPr>
              <a:pPr/>
              <a:t>‹#›</a:t>
            </a:fld>
            <a:endParaRPr lang="en-US" alt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381000" y="6491288"/>
            <a:ext cx="14770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© </a:t>
            </a:r>
            <a:r>
              <a:rPr lang="en-US" altLang="en-US" sz="800" dirty="0" smtClean="0">
                <a:solidFill>
                  <a:srgbClr val="000000"/>
                </a:solidFill>
                <a:latin typeface="Verdana" pitchFamily="34" charset="0"/>
                <a:cs typeface="Arial"/>
              </a:rPr>
              <a:t>2016 </a:t>
            </a:r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Rockwell Collins. </a:t>
            </a:r>
          </a:p>
          <a:p>
            <a:pPr eaLnBrk="1" hangingPunct="1"/>
            <a:r>
              <a:rPr lang="en-US" altLang="en-US" sz="800" dirty="0">
                <a:solidFill>
                  <a:srgbClr val="000000"/>
                </a:solidFill>
                <a:latin typeface="Verdana" pitchFamily="34" charset="0"/>
                <a:cs typeface="Arial"/>
              </a:rPr>
              <a:t>All rights reserved.</a:t>
            </a:r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7697795" y="1"/>
            <a:ext cx="1036629" cy="139060"/>
            <a:chOff x="4518" y="0"/>
            <a:chExt cx="984" cy="132"/>
          </a:xfrm>
        </p:grpSpPr>
        <p:sp>
          <p:nvSpPr>
            <p:cNvPr id="10" name="Freeform 27"/>
            <p:cNvSpPr>
              <a:spLocks/>
            </p:cNvSpPr>
            <p:nvPr/>
          </p:nvSpPr>
          <p:spPr bwMode="auto">
            <a:xfrm>
              <a:off x="4518" y="0"/>
              <a:ext cx="284" cy="132"/>
            </a:xfrm>
            <a:custGeom>
              <a:avLst/>
              <a:gdLst>
                <a:gd name="T0" fmla="*/ 0 w 284"/>
                <a:gd name="T1" fmla="*/ 132 h 132"/>
                <a:gd name="T2" fmla="*/ 60 w 284"/>
                <a:gd name="T3" fmla="*/ 0 h 132"/>
                <a:gd name="T4" fmla="*/ 284 w 284"/>
                <a:gd name="T5" fmla="*/ 0 h 132"/>
                <a:gd name="T6" fmla="*/ 228 w 284"/>
                <a:gd name="T7" fmla="*/ 132 h 132"/>
                <a:gd name="T8" fmla="*/ 0 w 284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11" name="Freeform 28"/>
            <p:cNvSpPr>
              <a:spLocks/>
            </p:cNvSpPr>
            <p:nvPr/>
          </p:nvSpPr>
          <p:spPr bwMode="auto">
            <a:xfrm>
              <a:off x="4870" y="0"/>
              <a:ext cx="284" cy="132"/>
            </a:xfrm>
            <a:custGeom>
              <a:avLst/>
              <a:gdLst>
                <a:gd name="T0" fmla="*/ 0 w 284"/>
                <a:gd name="T1" fmla="*/ 132 h 132"/>
                <a:gd name="T2" fmla="*/ 60 w 284"/>
                <a:gd name="T3" fmla="*/ 0 h 132"/>
                <a:gd name="T4" fmla="*/ 284 w 284"/>
                <a:gd name="T5" fmla="*/ 0 h 132"/>
                <a:gd name="T6" fmla="*/ 228 w 284"/>
                <a:gd name="T7" fmla="*/ 132 h 132"/>
                <a:gd name="T8" fmla="*/ 0 w 284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solidFill>
                  <a:srgbClr val="000000"/>
                </a:solidFill>
                <a:cs typeface="Arial"/>
              </a:endParaRPr>
            </a:p>
          </p:txBody>
        </p:sp>
        <p:sp>
          <p:nvSpPr>
            <p:cNvPr id="12" name="Freeform 29"/>
            <p:cNvSpPr>
              <a:spLocks/>
            </p:cNvSpPr>
            <p:nvPr/>
          </p:nvSpPr>
          <p:spPr bwMode="auto">
            <a:xfrm>
              <a:off x="5218" y="0"/>
              <a:ext cx="284" cy="132"/>
            </a:xfrm>
            <a:custGeom>
              <a:avLst/>
              <a:gdLst>
                <a:gd name="T0" fmla="*/ 0 w 284"/>
                <a:gd name="T1" fmla="*/ 132 h 132"/>
                <a:gd name="T2" fmla="*/ 60 w 284"/>
                <a:gd name="T3" fmla="*/ 0 h 132"/>
                <a:gd name="T4" fmla="*/ 284 w 284"/>
                <a:gd name="T5" fmla="*/ 0 h 132"/>
                <a:gd name="T6" fmla="*/ 228 w 284"/>
                <a:gd name="T7" fmla="*/ 132 h 132"/>
                <a:gd name="T8" fmla="*/ 0 w 284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4" h="132">
                  <a:moveTo>
                    <a:pt x="0" y="132"/>
                  </a:moveTo>
                  <a:lnTo>
                    <a:pt x="60" y="0"/>
                  </a:lnTo>
                  <a:lnTo>
                    <a:pt x="284" y="0"/>
                  </a:lnTo>
                  <a:lnTo>
                    <a:pt x="228" y="132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solidFill>
                  <a:srgbClr val="000000"/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56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10" r:id="rId6"/>
  </p:sldLayoutIdLst>
  <p:transition>
    <p:wipe dir="r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folHlink"/>
          </a:solidFill>
          <a:latin typeface="Verdana" charset="0"/>
          <a:ea typeface="ＭＳ Ｐゴシック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Arial" charset="0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Arial" charset="0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Arial" charset="0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wmf"/><Relationship Id="rId9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9.emf"/><Relationship Id="rId7" Type="http://schemas.openxmlformats.org/officeDocument/2006/relationships/image" Target="../media/image8.PN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981200"/>
            <a:ext cx="7848600" cy="993775"/>
          </a:xfrm>
        </p:spPr>
        <p:txBody>
          <a:bodyPr/>
          <a:lstStyle/>
          <a:p>
            <a:r>
              <a:rPr lang="en-US" dirty="0" smtClean="0"/>
              <a:t>Formal Methods and </a:t>
            </a:r>
            <a:r>
              <a:rPr lang="en-US" dirty="0" smtClean="0"/>
              <a:t>Safety </a:t>
            </a:r>
            <a:r>
              <a:rPr lang="en-US" dirty="0" smtClean="0"/>
              <a:t>Analysis </a:t>
            </a: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267200"/>
            <a:ext cx="3962400" cy="1066800"/>
          </a:xfrm>
        </p:spPr>
        <p:txBody>
          <a:bodyPr/>
          <a:lstStyle/>
          <a:p>
            <a:r>
              <a:rPr lang="en-US" sz="1600" dirty="0" smtClean="0"/>
              <a:t>University of Minnesota</a:t>
            </a:r>
          </a:p>
          <a:p>
            <a:r>
              <a:rPr lang="en-US" sz="1600" dirty="0" smtClean="0"/>
              <a:t>Danielle </a:t>
            </a:r>
            <a:r>
              <a:rPr lang="en-US" sz="1600" dirty="0" smtClean="0"/>
              <a:t>Stewart</a:t>
            </a:r>
          </a:p>
          <a:p>
            <a:r>
              <a:rPr lang="en-US" sz="1600" dirty="0" smtClean="0"/>
              <a:t>dkstewar@umn.edu</a:t>
            </a:r>
            <a:endParaRPr lang="en-US" sz="1600" dirty="0"/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762000" y="3203575"/>
            <a:ext cx="7620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dirty="0" smtClean="0"/>
              <a:t>Development of </a:t>
            </a:r>
            <a:r>
              <a:rPr lang="en-US" dirty="0"/>
              <a:t>highly complex safety critical systems</a:t>
            </a:r>
          </a:p>
          <a:p>
            <a:endParaRPr lang="en-US" sz="1800" b="1" dirty="0"/>
          </a:p>
        </p:txBody>
      </p:sp>
      <p:sp>
        <p:nvSpPr>
          <p:cNvPr id="5" name="Rectangle 4"/>
          <p:cNvSpPr/>
          <p:nvPr/>
        </p:nvSpPr>
        <p:spPr>
          <a:xfrm>
            <a:off x="6172200" y="5715000"/>
            <a:ext cx="26670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494" y="5789608"/>
            <a:ext cx="2846411" cy="8382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Methods in Model-based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 reliable complex systems… how? </a:t>
            </a:r>
            <a:endParaRPr lang="en-US" dirty="0"/>
          </a:p>
          <a:p>
            <a:pPr lvl="1"/>
            <a:r>
              <a:rPr lang="en-US" dirty="0"/>
              <a:t>User requirements</a:t>
            </a:r>
          </a:p>
          <a:p>
            <a:pPr lvl="1"/>
            <a:r>
              <a:rPr lang="en-US" dirty="0" smtClean="0"/>
              <a:t>Decompose </a:t>
            </a:r>
            <a:r>
              <a:rPr lang="en-US" dirty="0"/>
              <a:t>user requirements into lower level functional </a:t>
            </a:r>
            <a:r>
              <a:rPr lang="en-US" dirty="0" smtClean="0"/>
              <a:t>requirements</a:t>
            </a:r>
          </a:p>
          <a:p>
            <a:pPr lvl="1"/>
            <a:r>
              <a:rPr lang="en-US" dirty="0" smtClean="0"/>
              <a:t>Build system architecture</a:t>
            </a:r>
            <a:endParaRPr lang="en-US" dirty="0"/>
          </a:p>
          <a:p>
            <a:pPr lvl="1"/>
            <a:r>
              <a:rPr lang="en-US" dirty="0"/>
              <a:t>Test that the system works as intended</a:t>
            </a:r>
          </a:p>
          <a:p>
            <a:endParaRPr lang="en-US" dirty="0" smtClean="0"/>
          </a:p>
          <a:p>
            <a:r>
              <a:rPr lang="en-US" dirty="0"/>
              <a:t>What about formal methods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An additional method used to verify that the system behavior meets the specified requirements</a:t>
            </a:r>
          </a:p>
          <a:p>
            <a:pPr lvl="1"/>
            <a:r>
              <a:rPr lang="en-US" dirty="0" smtClean="0"/>
              <a:t>Using formal models allows some verification objectives to be satisfied by use of formal analysis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734886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8604"/>
          </a:xfrm>
        </p:spPr>
        <p:txBody>
          <a:bodyPr>
            <a:normAutofit/>
          </a:bodyPr>
          <a:lstStyle/>
          <a:p>
            <a:r>
              <a:rPr lang="en-US" dirty="0" smtClean="0"/>
              <a:t>Wheel Brake System : Preliminary System Diagram</a:t>
            </a:r>
            <a:endParaRPr lang="en-US" dirty="0"/>
          </a:p>
        </p:txBody>
      </p:sp>
      <p:pic>
        <p:nvPicPr>
          <p:cNvPr id="4" name="Content Placeholder 3" descr="wbs_sae.ppm"/>
          <p:cNvPicPr>
            <a:picLocks noGrp="1" noChangeAspect="1"/>
          </p:cNvPicPr>
          <p:nvPr>
            <p:ph idx="1"/>
          </p:nvPr>
        </p:nvPicPr>
        <p:blipFill>
          <a:blip r:embed="rId2"/>
          <a:srcRect l="-25397" r="-25397"/>
          <a:stretch>
            <a:fillRect/>
          </a:stretch>
        </p:blipFill>
        <p:spPr>
          <a:xfrm>
            <a:off x="1" y="1127344"/>
            <a:ext cx="9317322" cy="5219106"/>
          </a:xfrm>
        </p:spPr>
      </p:pic>
      <p:pic>
        <p:nvPicPr>
          <p:cNvPr id="5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970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8604"/>
          </a:xfrm>
        </p:spPr>
        <p:txBody>
          <a:bodyPr>
            <a:normAutofit/>
          </a:bodyPr>
          <a:lstStyle/>
          <a:p>
            <a:r>
              <a:rPr lang="en-US" dirty="0" smtClean="0"/>
              <a:t>Modeling </a:t>
            </a:r>
            <a:r>
              <a:rPr lang="en-US" dirty="0" smtClean="0"/>
              <a:t>th</a:t>
            </a:r>
            <a:r>
              <a:rPr lang="en-US" dirty="0" smtClean="0"/>
              <a:t>e </a:t>
            </a:r>
            <a:r>
              <a:rPr lang="en-US" dirty="0" smtClean="0"/>
              <a:t>System</a:t>
            </a:r>
            <a:endParaRPr lang="en-US" dirty="0"/>
          </a:p>
        </p:txBody>
      </p:sp>
      <p:pic>
        <p:nvPicPr>
          <p:cNvPr id="5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1986699" y="1653004"/>
            <a:ext cx="4800600" cy="4724400"/>
            <a:chOff x="384" y="1008"/>
            <a:chExt cx="3024" cy="2976"/>
          </a:xfrm>
        </p:grpSpPr>
        <p:grpSp>
          <p:nvGrpSpPr>
            <p:cNvPr id="15" name="Group 5"/>
            <p:cNvGrpSpPr>
              <a:grpSpLocks/>
            </p:cNvGrpSpPr>
            <p:nvPr/>
          </p:nvGrpSpPr>
          <p:grpSpPr bwMode="auto">
            <a:xfrm>
              <a:off x="384" y="1008"/>
              <a:ext cx="3024" cy="2232"/>
              <a:chOff x="3120" y="960"/>
              <a:chExt cx="2476" cy="1752"/>
            </a:xfrm>
          </p:grpSpPr>
          <p:graphicFrame>
            <p:nvGraphicFramePr>
              <p:cNvPr id="17" name="Object 6"/>
              <p:cNvGraphicFramePr>
                <a:graphicFrameLocks noChangeAspect="1"/>
              </p:cNvGraphicFramePr>
              <p:nvPr/>
            </p:nvGraphicFramePr>
            <p:xfrm>
              <a:off x="3120" y="960"/>
              <a:ext cx="2476" cy="17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4" name="VISIO" r:id="rId4" imgW="3937000" imgH="2781300" progId="">
                      <p:embed/>
                    </p:oleObj>
                  </mc:Choice>
                  <mc:Fallback>
                    <p:oleObj name="VISIO" r:id="rId4" imgW="3937000" imgH="2781300" progId="">
                      <p:embed/>
                      <p:pic>
                        <p:nvPicPr>
                          <p:cNvPr id="23450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20" y="960"/>
                            <a:ext cx="2476" cy="17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7" descr="c2sdocs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6358087"/>
                  </p:ext>
                </p:extLst>
              </p:nvPr>
            </p:nvGraphicFramePr>
            <p:xfrm>
              <a:off x="3972" y="1374"/>
              <a:ext cx="737" cy="7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5" name="VISIO" r:id="rId6" imgW="2336800" imgH="2108200" progId="">
                      <p:embed/>
                    </p:oleObj>
                  </mc:Choice>
                  <mc:Fallback>
                    <p:oleObj name="VISIO" r:id="rId6" imgW="2336800" imgH="2108200" progId="">
                      <p:embed/>
                      <p:pic>
                        <p:nvPicPr>
                          <p:cNvPr id="234503" name="Object 7" descr="c2sdocs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11728" t="8691" r="11728" b="4346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72" y="1374"/>
                            <a:ext cx="737" cy="75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924" y="3344"/>
              <a:ext cx="1901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7526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We Base the Entire 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Development Cycle</a:t>
              </a:r>
            </a:p>
            <a:p>
              <a:pPr algn="ctr"/>
              <a:r>
                <a:rPr lang="en-US" altLang="en-US" sz="2000" b="1" dirty="0">
                  <a:solidFill>
                    <a:schemeClr val="tx2"/>
                  </a:solidFill>
                  <a:latin typeface="+mn-lt"/>
                </a:rPr>
                <a:t>Around the Model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571324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8604"/>
          </a:xfrm>
        </p:spPr>
        <p:txBody>
          <a:bodyPr>
            <a:normAutofit/>
          </a:bodyPr>
          <a:lstStyle/>
          <a:p>
            <a:r>
              <a:rPr lang="en-US" dirty="0" smtClean="0"/>
              <a:t>A Simple Model </a:t>
            </a:r>
            <a:r>
              <a:rPr lang="en-US" dirty="0" smtClean="0"/>
              <a:t>of the System</a:t>
            </a:r>
            <a:endParaRPr lang="en-US" dirty="0"/>
          </a:p>
        </p:txBody>
      </p:sp>
      <p:pic>
        <p:nvPicPr>
          <p:cNvPr id="4" name="Content Placeholder 3" descr="wbs_sae.ppm"/>
          <p:cNvPicPr>
            <a:picLocks noGrp="1" noChangeAspect="1"/>
          </p:cNvPicPr>
          <p:nvPr>
            <p:ph idx="1"/>
          </p:nvPr>
        </p:nvPicPr>
        <p:blipFill>
          <a:blip r:embed="rId2"/>
          <a:srcRect l="-25397" r="-25397"/>
          <a:stretch>
            <a:fillRect/>
          </a:stretch>
        </p:blipFill>
        <p:spPr>
          <a:xfrm>
            <a:off x="-416200" y="2708937"/>
            <a:ext cx="3292784" cy="1844456"/>
          </a:xfrm>
        </p:spPr>
      </p:pic>
      <p:pic>
        <p:nvPicPr>
          <p:cNvPr id="5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876584" y="1371600"/>
            <a:ext cx="6038816" cy="51187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352800" y="2286001"/>
            <a:ext cx="2362200" cy="3657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Control/Digital System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248400" y="2286002"/>
            <a:ext cx="2286000" cy="36575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Mechanical System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21712" y="1468338"/>
            <a:ext cx="3450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Wheel Brake System: Top Level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2257408" y="3429001"/>
            <a:ext cx="762000" cy="6858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9610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Considerations for Formal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Given a verification objective: 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b="1" dirty="0" smtClean="0"/>
              <a:t>All notations must be precise and unambiguous</a:t>
            </a:r>
          </a:p>
          <a:p>
            <a:r>
              <a:rPr lang="en-US" sz="2000" dirty="0" smtClean="0"/>
              <a:t>The soundness method should be justified</a:t>
            </a:r>
          </a:p>
          <a:p>
            <a:r>
              <a:rPr lang="en-US" sz="2000" dirty="0" smtClean="0"/>
              <a:t>All assumptions should be described and justified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0" y="76200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172200"/>
            <a:ext cx="666784" cy="527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18240"/>
            <a:ext cx="1848160" cy="544245"/>
          </a:xfrm>
          <a:prstGeom prst="rect">
            <a:avLst/>
          </a:prstGeom>
        </p:spPr>
      </p:pic>
      <p:pic>
        <p:nvPicPr>
          <p:cNvPr id="10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624427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Specification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High level requirement; a verification objective. Show that the system design supports the following: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b="1" i="1" dirty="0" smtClean="0"/>
                  <a:t>There will never be inadvertent braking at the wheel</a:t>
                </a:r>
                <a:r>
                  <a:rPr lang="en-US" i="1" dirty="0" smtClean="0"/>
                  <a:t>.</a:t>
                </a:r>
                <a:endParaRPr lang="en-US" i="1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Specification in mathematical notation: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𝑏𝑟𝑎𝑘𝑖𝑛𝑔𝐶𝑜𝑚𝑚𝑎𝑛𝑑𝑒𝑑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𝑤h𝑒𝑒𝑙𝐵𝑟𝑎𝑘𝑒𝑃𝑟𝑒𝑠𝑠𝑢𝑟𝑒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5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219200" y="2819400"/>
            <a:ext cx="7010400" cy="45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262856" y="5105400"/>
            <a:ext cx="7010400" cy="457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300392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8604"/>
          </a:xfrm>
        </p:spPr>
        <p:txBody>
          <a:bodyPr>
            <a:normAutofit/>
          </a:bodyPr>
          <a:lstStyle/>
          <a:p>
            <a:r>
              <a:rPr lang="en-US" dirty="0" smtClean="0"/>
              <a:t>A Simple Model of the System</a:t>
            </a:r>
            <a:endParaRPr lang="en-US" dirty="0"/>
          </a:p>
        </p:txBody>
      </p:sp>
      <p:pic>
        <p:nvPicPr>
          <p:cNvPr id="4" name="Content Placeholder 3" descr="wbs_sae.ppm"/>
          <p:cNvPicPr>
            <a:picLocks noGrp="1" noChangeAspect="1"/>
          </p:cNvPicPr>
          <p:nvPr>
            <p:ph idx="1"/>
          </p:nvPr>
        </p:nvPicPr>
        <p:blipFill>
          <a:blip r:embed="rId2"/>
          <a:srcRect l="-25397" r="-25397"/>
          <a:stretch>
            <a:fillRect/>
          </a:stretch>
        </p:blipFill>
        <p:spPr>
          <a:xfrm>
            <a:off x="-416200" y="2708937"/>
            <a:ext cx="3292784" cy="1844456"/>
          </a:xfrm>
        </p:spPr>
      </p:pic>
      <p:pic>
        <p:nvPicPr>
          <p:cNvPr id="5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6172200"/>
            <a:ext cx="666784" cy="5270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18240"/>
            <a:ext cx="1848160" cy="54424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876584" y="1371600"/>
            <a:ext cx="6038816" cy="51187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352800" y="2286001"/>
            <a:ext cx="2362200" cy="3657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Control/Digital System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248400" y="2286002"/>
            <a:ext cx="2286000" cy="36575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Mechanical System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13027" y="1448514"/>
                <a:ext cx="592758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/>
                  <a:t>Wheel Brake System: Top Level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𝑏𝑟𝑎𝑘𝑖𝑛𝑔𝐶𝑜𝑚𝑚𝑎𝑛𝑑𝑒𝑑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𝑤h𝑒𝑒𝑙𝐵𝑟𝑎𝑘𝑒𝑃𝑟𝑒𝑠𝑠𝑢𝑟𝑒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027" y="1448514"/>
                <a:ext cx="5927585" cy="923330"/>
              </a:xfrm>
              <a:prstGeom prst="rect">
                <a:avLst/>
              </a:prstGeom>
              <a:blipFill>
                <a:blip r:embed="rId6"/>
                <a:stretch>
                  <a:fillRect t="-3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Arrow 11"/>
          <p:cNvSpPr/>
          <p:nvPr/>
        </p:nvSpPr>
        <p:spPr>
          <a:xfrm>
            <a:off x="2257408" y="3429001"/>
            <a:ext cx="762000" cy="6858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227188" y="4700848"/>
            <a:ext cx="4524392" cy="208065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Subcomponent requirements must support verification objective.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0619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8604"/>
          </a:xfrm>
        </p:spPr>
        <p:txBody>
          <a:bodyPr>
            <a:normAutofit/>
          </a:bodyPr>
          <a:lstStyle/>
          <a:p>
            <a:r>
              <a:rPr lang="en-US" dirty="0" smtClean="0"/>
              <a:t>A Simple Model of the System</a:t>
            </a:r>
            <a:endParaRPr lang="en-US" dirty="0"/>
          </a:p>
        </p:txBody>
      </p:sp>
      <p:pic>
        <p:nvPicPr>
          <p:cNvPr id="5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228600" y="1195804"/>
                <a:ext cx="3962400" cy="49001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Control/Digital System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𝑝𝑒𝑑𝑎𝑙𝑆𝑒𝑛𝑠𝑜𝑟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𝑏𝑟𝑎𝑘𝑖𝑛𝑔𝐶𝑜𝑚𝑚𝑎𝑛𝑑</m:t>
                      </m:r>
                    </m:oMath>
                  </m:oMathPara>
                </a14:m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195804"/>
                <a:ext cx="3962400" cy="490019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715785" y="1195804"/>
                <a:ext cx="4123415" cy="489357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Mechanical System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𝑏𝑟𝑎𝑘𝑖𝑛𝑔𝐶𝑜𝑚𝑚𝑎𝑛𝑑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𝑤h𝑒𝑒𝑙𝐵𝑟𝑎𝑘𝑒𝑃𝑟𝑒𝑠𝑠𝑢𝑟𝑒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&gt;0)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 smtClean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785" y="1195804"/>
                <a:ext cx="4123415" cy="4893570"/>
              </a:xfrm>
              <a:prstGeom prst="roundRect">
                <a:avLst/>
              </a:prstGeom>
              <a:blipFill>
                <a:blip r:embed="rId6"/>
                <a:stretch>
                  <a:fillRect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14"/>
          <p:cNvSpPr/>
          <p:nvPr/>
        </p:nvSpPr>
        <p:spPr>
          <a:xfrm>
            <a:off x="228600" y="2362200"/>
            <a:ext cx="2286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22523" y="229183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Pedal Sensor Input</a:t>
            </a:r>
            <a:endParaRPr lang="en-US" dirty="0"/>
          </a:p>
        </p:txBody>
      </p:sp>
      <p:sp>
        <p:nvSpPr>
          <p:cNvPr id="17" name="Right Arrow 16"/>
          <p:cNvSpPr/>
          <p:nvPr/>
        </p:nvSpPr>
        <p:spPr>
          <a:xfrm>
            <a:off x="3944972" y="5058225"/>
            <a:ext cx="2286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046161" y="4987859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Command Braking Output</a:t>
            </a:r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>
            <a:off x="4728708" y="2309191"/>
            <a:ext cx="2286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996126" y="2221468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Braking Command Input</a:t>
            </a:r>
            <a:endParaRPr lang="en-US" dirty="0"/>
          </a:p>
        </p:txBody>
      </p:sp>
      <p:sp>
        <p:nvSpPr>
          <p:cNvPr id="21" name="Right Arrow 20"/>
          <p:cNvSpPr/>
          <p:nvPr/>
        </p:nvSpPr>
        <p:spPr>
          <a:xfrm>
            <a:off x="8572500" y="5016812"/>
            <a:ext cx="2286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322892" y="4946446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Wheel Brake Pressure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9354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7924800" cy="52117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Lower level component contracts with assumptions on environment used to prove the verification objective: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696200" y="6019800"/>
            <a:ext cx="849313" cy="244475"/>
          </a:xfrm>
        </p:spPr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02081" y="2665127"/>
                <a:ext cx="519982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𝑝𝑒𝑑𝑎𝑙𝑃𝑟𝑒𝑠𝑠𝑒𝑑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𝑤h𝑒𝑒𝑙𝐵𝑟𝑎𝑘𝑒𝑃𝑟𝑒𝑠𝑠𝑢𝑟𝑒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81" y="2665127"/>
                <a:ext cx="5199821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14600" y="4358885"/>
                <a:ext cx="37541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𝑝𝑒𝑑𝑎𝑙𝑆𝑒𝑛𝑠𝑜𝑟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𝑏𝑟𝑎𝑘𝑖𝑛𝑔𝐶𝑜𝑚𝑚𝑎𝑛𝑑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4358885"/>
                <a:ext cx="3754105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5375" y="4728217"/>
                <a:ext cx="531324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𝑏𝑟𝑎𝑘𝑖𝑛𝑔𝐶𝑜𝑚𝑚𝑎𝑛𝑑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⇒(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𝑤h𝑒𝑒𝑙𝐵𝑟𝑎𝑘𝑒𝑃𝑟𝑒𝑠𝑠𝑢𝑟𝑒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&gt;0)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375" y="4728217"/>
                <a:ext cx="5313249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 rot="16200000">
            <a:off x="3997192" y="3686625"/>
            <a:ext cx="6096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447800" y="2286000"/>
            <a:ext cx="6172200" cy="3657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692475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Considerations for Formal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Given a verification objective: 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All notations must be precise and unambiguous</a:t>
            </a:r>
          </a:p>
          <a:p>
            <a:r>
              <a:rPr lang="en-US" sz="2000" b="1" dirty="0" smtClean="0"/>
              <a:t>The soundness method should be justified</a:t>
            </a:r>
          </a:p>
          <a:p>
            <a:r>
              <a:rPr lang="en-US" sz="2000" dirty="0" smtClean="0"/>
              <a:t>All assumptions should be described and justified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885022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 the results sound?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Know your tools and verification engines. </a:t>
            </a:r>
          </a:p>
          <a:p>
            <a:r>
              <a:rPr lang="en-US" sz="2000" dirty="0" smtClean="0"/>
              <a:t>Enter “obvious” properties into the model to test your specifications.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95400" y="3352800"/>
                <a:ext cx="18387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𝑝𝑒𝑑𝑎𝑙𝑃𝑟𝑒𝑠𝑠𝑒𝑑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352800"/>
                <a:ext cx="1838772" cy="276999"/>
              </a:xfrm>
              <a:prstGeom prst="rect">
                <a:avLst/>
              </a:prstGeom>
              <a:blipFill>
                <a:blip r:embed="rId2"/>
                <a:stretch>
                  <a:fillRect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95400" y="4281102"/>
                <a:ext cx="28544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𝑤h𝑒𝑒𝑙𝐵𝑟𝑎𝑘𝑒𝑃𝑟𝑒𝑠𝑠𝑢𝑟𝑒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281102"/>
                <a:ext cx="2854436" cy="276999"/>
              </a:xfrm>
              <a:prstGeom prst="rect">
                <a:avLst/>
              </a:prstGeom>
              <a:blipFill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318591" y="5158581"/>
                <a:ext cx="25633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𝑏𝑟𝑎𝑘𝑖𝑛𝑔𝐶𝑜𝑚𝑚𝑎𝑛𝑑𝑒𝑑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591" y="5158581"/>
                <a:ext cx="2563330" cy="276999"/>
              </a:xfrm>
              <a:prstGeom prst="rect">
                <a:avLst/>
              </a:prstGeom>
              <a:blipFill>
                <a:blip r:embed="rId4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295400" y="3276600"/>
            <a:ext cx="2854436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95400" y="4191000"/>
            <a:ext cx="2854436" cy="471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94696" y="5068480"/>
            <a:ext cx="2855140" cy="494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9" idx="3"/>
          </p:cNvCxnSpPr>
          <p:nvPr/>
        </p:nvCxnSpPr>
        <p:spPr>
          <a:xfrm>
            <a:off x="4149836" y="3505200"/>
            <a:ext cx="1717564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</p:cNvCxnSpPr>
          <p:nvPr/>
        </p:nvCxnSpPr>
        <p:spPr>
          <a:xfrm flipV="1">
            <a:off x="4149836" y="4419600"/>
            <a:ext cx="1717564" cy="6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3"/>
          </p:cNvCxnSpPr>
          <p:nvPr/>
        </p:nvCxnSpPr>
        <p:spPr>
          <a:xfrm flipV="1">
            <a:off x="4149836" y="4662101"/>
            <a:ext cx="1717564" cy="653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35315" y="4134162"/>
            <a:ext cx="1506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FALSE</a:t>
            </a:r>
            <a:endParaRPr lang="en-US" sz="3200" b="1" dirty="0"/>
          </a:p>
        </p:txBody>
      </p: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375199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Considerations for Formal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Given a verification objective: 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All notations must be precise and unambiguous</a:t>
            </a:r>
          </a:p>
          <a:p>
            <a:r>
              <a:rPr lang="en-US" sz="2000" dirty="0" smtClean="0"/>
              <a:t>The soundness method should be justified</a:t>
            </a:r>
          </a:p>
          <a:p>
            <a:r>
              <a:rPr lang="en-US" sz="2000" b="1" dirty="0" smtClean="0"/>
              <a:t>All assumptions should be described and justified</a:t>
            </a:r>
            <a:endParaRPr 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645943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Assumptions: Constrain the Environment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Assumptions are used as axioms in the proof. A stronger assumption makes things easier to prove… but is the assumption valid?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Make sure assumptions are reasonable.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678218" y="4936908"/>
                <a:ext cx="3051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𝑎𝑠𝑠𝑢𝑚𝑒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(0≤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𝑠𝑝𝑒𝑒𝑑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&lt;100)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218" y="4936908"/>
                <a:ext cx="3051989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85800" y="4953000"/>
                <a:ext cx="2365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𝑎𝑠𝑠𝑢𝑚𝑒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𝑠𝑝𝑒𝑒𝑑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 0)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953000"/>
                <a:ext cx="2365904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504" y="4848127"/>
            <a:ext cx="509161" cy="525781"/>
          </a:xfrm>
          <a:prstGeom prst="rect">
            <a:avLst/>
          </a:prstGeom>
        </p:spPr>
      </p:pic>
      <p:sp>
        <p:nvSpPr>
          <p:cNvPr id="12" name="Title 2"/>
          <p:cNvSpPr txBox="1">
            <a:spLocks/>
          </p:cNvSpPr>
          <p:nvPr/>
        </p:nvSpPr>
        <p:spPr bwMode="auto">
          <a:xfrm>
            <a:off x="7010400" y="4859571"/>
            <a:ext cx="1981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en-US" sz="3200" kern="0" dirty="0" smtClean="0"/>
              <a:t>?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900568832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C:\Users\stew_da\Downloads\Unbenannt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218062" y="-677536"/>
            <a:ext cx="4851094" cy="900078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62109" y="451775"/>
            <a:ext cx="8763000" cy="758500"/>
          </a:xfrm>
        </p:spPr>
        <p:txBody>
          <a:bodyPr/>
          <a:lstStyle/>
          <a:p>
            <a:r>
              <a:rPr lang="en-US" dirty="0" smtClean="0"/>
              <a:t>Iterations of the Process Throughout Development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7DEF6D-193A-43B9-A88F-EFE847976AC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60347" y="6131869"/>
            <a:ext cx="28258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FBK: AIR6110 Case Study</a:t>
            </a:r>
            <a:endParaRPr lang="en-US" sz="900" dirty="0"/>
          </a:p>
        </p:txBody>
      </p:sp>
      <p:sp>
        <p:nvSpPr>
          <p:cNvPr id="7" name="Rectangle 6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8476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Model-based Safety Assessment </a:t>
            </a:r>
            <a:r>
              <a:rPr lang="en-US" dirty="0"/>
              <a:t>P</a:t>
            </a:r>
            <a:r>
              <a:rPr lang="en-US" dirty="0" smtClean="0"/>
              <a:t>rocess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1447800"/>
            <a:ext cx="7667324" cy="34596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    Use </a:t>
            </a:r>
            <a:r>
              <a:rPr lang="en-US" sz="1600" dirty="0"/>
              <a:t>single unified model to support both system design and safety </a:t>
            </a:r>
            <a:r>
              <a:rPr lang="en-US" sz="1600" dirty="0" smtClean="0"/>
              <a:t>analysis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24" y="1883789"/>
            <a:ext cx="7696200" cy="43291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0922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8960" y="1232781"/>
            <a:ext cx="175260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137591"/>
            <a:ext cx="19050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570806"/>
            <a:ext cx="2112948" cy="1384995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</a:t>
            </a:r>
            <a:r>
              <a:rPr lang="en-US" sz="1400" dirty="0" smtClean="0"/>
              <a:t>model </a:t>
            </a:r>
            <a:r>
              <a:rPr lang="en-US" sz="1400" dirty="0" smtClean="0"/>
              <a:t>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686611"/>
            <a:ext cx="1599488" cy="138499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formal verification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1748167"/>
            <a:ext cx="430992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2694191"/>
            <a:ext cx="4309928" cy="30777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1976032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441677"/>
            <a:ext cx="4263817" cy="95410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through formal verification, using system traces and </a:t>
            </a:r>
            <a:r>
              <a:rPr lang="en-US" sz="1400" dirty="0"/>
              <a:t>minimal cut sets produced </a:t>
            </a:r>
            <a:r>
              <a:rPr lang="en-US" sz="1400" dirty="0" smtClean="0"/>
              <a:t>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1955021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008623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271387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4737194"/>
            <a:ext cx="4263817" cy="738664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395784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4737194"/>
            <a:ext cx="203674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106526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179328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 rot="2089161">
            <a:off x="8164428" y="1406527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Starts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2089161">
            <a:off x="3791195" y="4537938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Ends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5228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4825"/>
            <a:ext cx="8305800" cy="503237"/>
          </a:xfrm>
        </p:spPr>
        <p:txBody>
          <a:bodyPr>
            <a:normAutofit/>
          </a:bodyPr>
          <a:lstStyle/>
          <a:p>
            <a:r>
              <a:rPr lang="en-US" dirty="0" smtClean="0"/>
              <a:t>Architecture Analysis and Design Language (AADL)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2971800" y="4953000"/>
            <a:ext cx="5715000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AADL = SAE AS5506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Target: Embedded, real-time, distributed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Describes both hardware and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Extensible syntax (annex)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Open source tools, supported by SEI</a:t>
            </a:r>
            <a:endParaRPr lang="en-US" sz="1600" dirty="0"/>
          </a:p>
        </p:txBody>
      </p:sp>
      <p:grpSp>
        <p:nvGrpSpPr>
          <p:cNvPr id="3" name="Group 3"/>
          <p:cNvGrpSpPr/>
          <p:nvPr/>
        </p:nvGrpSpPr>
        <p:grpSpPr>
          <a:xfrm>
            <a:off x="533400" y="1676400"/>
            <a:ext cx="5734646" cy="3030224"/>
            <a:chOff x="1371600" y="1389376"/>
            <a:chExt cx="6553200" cy="3462753"/>
          </a:xfrm>
        </p:grpSpPr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389376"/>
              <a:ext cx="6553200" cy="3462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5" name="Picture 24" descr="pixhawk.jpg"/>
            <p:cNvPicPr>
              <a:picLocks noChangeAspect="1"/>
            </p:cNvPicPr>
            <p:nvPr/>
          </p:nvPicPr>
          <p:blipFill>
            <a:blip r:embed="rId3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97057" y="3581400"/>
              <a:ext cx="838200" cy="838200"/>
            </a:xfrm>
            <a:prstGeom prst="rect">
              <a:avLst/>
            </a:prstGeom>
          </p:spPr>
        </p:pic>
        <p:pic>
          <p:nvPicPr>
            <p:cNvPr id="26" name="Picture 2" descr="http://dn.odroid.com/homebackup/ODROID-XU3.jpg"/>
            <p:cNvPicPr>
              <a:picLocks noChangeAspect="1" noChangeArrowheads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3581400"/>
              <a:ext cx="1161394" cy="673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2049"/>
          <p:cNvGrpSpPr/>
          <p:nvPr/>
        </p:nvGrpSpPr>
        <p:grpSpPr>
          <a:xfrm>
            <a:off x="4343400" y="1371600"/>
            <a:ext cx="4595523" cy="2080852"/>
            <a:chOff x="4343400" y="1371600"/>
            <a:chExt cx="4595523" cy="2080852"/>
          </a:xfrm>
        </p:grpSpPr>
        <p:pic>
          <p:nvPicPr>
            <p:cNvPr id="27" name="Picture 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0" y="1371600"/>
              <a:ext cx="3604923" cy="2080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8" name="Straight Connector 27"/>
            <p:cNvCxnSpPr/>
            <p:nvPr/>
          </p:nvCxnSpPr>
          <p:spPr>
            <a:xfrm flipV="1">
              <a:off x="4343400" y="1381126"/>
              <a:ext cx="1511930" cy="447674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343400" y="2514600"/>
              <a:ext cx="1447800" cy="838200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18240"/>
            <a:ext cx="1848160" cy="54424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2920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Architecture Modeling and Analysis Tools</a:t>
            </a:r>
            <a:endParaRPr lang="en-US" dirty="0"/>
          </a:p>
        </p:txBody>
      </p:sp>
      <p:pic>
        <p:nvPicPr>
          <p:cNvPr id="94" name="Picture 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524000"/>
            <a:ext cx="3048000" cy="1890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94"/>
          <p:cNvGrpSpPr/>
          <p:nvPr/>
        </p:nvGrpSpPr>
        <p:grpSpPr>
          <a:xfrm>
            <a:off x="1836396" y="2628900"/>
            <a:ext cx="3661087" cy="3870187"/>
            <a:chOff x="1836396" y="2628900"/>
            <a:chExt cx="3661087" cy="3870187"/>
          </a:xfrm>
        </p:grpSpPr>
        <p:grpSp>
          <p:nvGrpSpPr>
            <p:cNvPr id="5" name="Group 95"/>
            <p:cNvGrpSpPr/>
            <p:nvPr/>
          </p:nvGrpSpPr>
          <p:grpSpPr>
            <a:xfrm>
              <a:off x="1873646" y="2628900"/>
              <a:ext cx="1110265" cy="533400"/>
              <a:chOff x="1129973" y="1950482"/>
              <a:chExt cx="1110265" cy="533400"/>
            </a:xfrm>
          </p:grpSpPr>
          <p:grpSp>
            <p:nvGrpSpPr>
              <p:cNvPr id="6" name="Group 102"/>
              <p:cNvGrpSpPr/>
              <p:nvPr/>
            </p:nvGrpSpPr>
            <p:grpSpPr>
              <a:xfrm flipH="1">
                <a:off x="1129973" y="1950482"/>
                <a:ext cx="1110265" cy="533400"/>
                <a:chOff x="6640902" y="1295400"/>
                <a:chExt cx="1110265" cy="533400"/>
              </a:xfrm>
            </p:grpSpPr>
            <p:sp>
              <p:nvSpPr>
                <p:cNvPr id="105" name="Rectangle 104"/>
                <p:cNvSpPr/>
                <p:nvPr/>
              </p:nvSpPr>
              <p:spPr>
                <a:xfrm>
                  <a:off x="6783673" y="1295400"/>
                  <a:ext cx="737505" cy="5334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7239000" y="1295400"/>
                  <a:ext cx="512167" cy="533400"/>
                </a:xfrm>
                <a:prstGeom prst="ellipse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07" name="Rectangle 106"/>
                <p:cNvSpPr/>
                <p:nvPr/>
              </p:nvSpPr>
              <p:spPr>
                <a:xfrm>
                  <a:off x="6640902" y="1371600"/>
                  <a:ext cx="142771" cy="762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6648554" y="1676400"/>
                  <a:ext cx="142771" cy="762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</p:grpSp>
          <p:sp>
            <p:nvSpPr>
              <p:cNvPr id="104" name="TextBox 103"/>
              <p:cNvSpPr txBox="1"/>
              <p:nvPr/>
            </p:nvSpPr>
            <p:spPr>
              <a:xfrm>
                <a:off x="1165880" y="1960662"/>
                <a:ext cx="94769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Console" pitchFamily="49" charset="0"/>
                    <a:ea typeface="ＭＳ Ｐゴシック" pitchFamily="34" charset="-128"/>
                    <a:cs typeface="Times New Roman" pitchFamily="18" charset="0"/>
                  </a:rPr>
                  <a:t>Trusted</a:t>
                </a:r>
              </a:p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Console" pitchFamily="49" charset="0"/>
                    <a:ea typeface="ＭＳ Ｐゴシック" pitchFamily="34" charset="-128"/>
                    <a:cs typeface="Times New Roman" pitchFamily="18" charset="0"/>
                  </a:rPr>
                  <a:t>Build</a:t>
                </a:r>
              </a:p>
            </p:txBody>
          </p:sp>
        </p:grpSp>
        <p:grpSp>
          <p:nvGrpSpPr>
            <p:cNvPr id="7" name="Group 96"/>
            <p:cNvGrpSpPr/>
            <p:nvPr/>
          </p:nvGrpSpPr>
          <p:grpSpPr>
            <a:xfrm>
              <a:off x="1836396" y="3000374"/>
              <a:ext cx="3661087" cy="3498713"/>
              <a:chOff x="1836396" y="3000374"/>
              <a:chExt cx="3661087" cy="3498713"/>
            </a:xfrm>
          </p:grpSpPr>
          <p:pic>
            <p:nvPicPr>
              <p:cNvPr id="98" name="Picture 3" descr="C:\Users\ddcofer\AppData\Local\Microsoft\Windows\Temporary Internet Files\Content.IE5\HWJ81UGS\MC900389552[1].wmf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4805" y="4544457"/>
                <a:ext cx="900112" cy="9302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9" name="TextBox 98"/>
              <p:cNvSpPr txBox="1"/>
              <p:nvPr/>
            </p:nvSpPr>
            <p:spPr>
              <a:xfrm>
                <a:off x="2563025" y="4114800"/>
                <a:ext cx="2934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rPr>
                  <a:t>Architecture Translation</a:t>
                </a:r>
              </a:p>
            </p:txBody>
          </p:sp>
          <p:sp>
            <p:nvSpPr>
              <p:cNvPr id="100" name="Freeform 99"/>
              <p:cNvSpPr/>
              <p:nvPr/>
            </p:nvSpPr>
            <p:spPr>
              <a:xfrm>
                <a:off x="1836396" y="3000374"/>
                <a:ext cx="1883808" cy="1082159"/>
              </a:xfrm>
              <a:custGeom>
                <a:avLst/>
                <a:gdLst>
                  <a:gd name="connsiteX0" fmla="*/ 105442 w 2210467"/>
                  <a:gd name="connsiteY0" fmla="*/ 0 h 866775"/>
                  <a:gd name="connsiteX1" fmla="*/ 191167 w 2210467"/>
                  <a:gd name="connsiteY1" fmla="*/ 333375 h 866775"/>
                  <a:gd name="connsiteX2" fmla="*/ 1858042 w 2210467"/>
                  <a:gd name="connsiteY2" fmla="*/ 609600 h 866775"/>
                  <a:gd name="connsiteX3" fmla="*/ 2210467 w 2210467"/>
                  <a:gd name="connsiteY3" fmla="*/ 866775 h 866775"/>
                  <a:gd name="connsiteX0" fmla="*/ 89354 w 2232479"/>
                  <a:gd name="connsiteY0" fmla="*/ 0 h 914400"/>
                  <a:gd name="connsiteX1" fmla="*/ 213179 w 2232479"/>
                  <a:gd name="connsiteY1" fmla="*/ 381000 h 914400"/>
                  <a:gd name="connsiteX2" fmla="*/ 1880054 w 2232479"/>
                  <a:gd name="connsiteY2" fmla="*/ 657225 h 914400"/>
                  <a:gd name="connsiteX3" fmla="*/ 2232479 w 2232479"/>
                  <a:gd name="connsiteY3" fmla="*/ 914400 h 914400"/>
                  <a:gd name="connsiteX0" fmla="*/ 74468 w 2217593"/>
                  <a:gd name="connsiteY0" fmla="*/ 0 h 914400"/>
                  <a:gd name="connsiteX1" fmla="*/ 198293 w 2217593"/>
                  <a:gd name="connsiteY1" fmla="*/ 381000 h 914400"/>
                  <a:gd name="connsiteX2" fmla="*/ 1865168 w 2217593"/>
                  <a:gd name="connsiteY2" fmla="*/ 657225 h 914400"/>
                  <a:gd name="connsiteX3" fmla="*/ 2217593 w 2217593"/>
                  <a:gd name="connsiteY3" fmla="*/ 914400 h 914400"/>
                  <a:gd name="connsiteX0" fmla="*/ 78130 w 2221255"/>
                  <a:gd name="connsiteY0" fmla="*/ 0 h 914400"/>
                  <a:gd name="connsiteX1" fmla="*/ 201955 w 2221255"/>
                  <a:gd name="connsiteY1" fmla="*/ 381000 h 914400"/>
                  <a:gd name="connsiteX2" fmla="*/ 1868830 w 2221255"/>
                  <a:gd name="connsiteY2" fmla="*/ 657225 h 914400"/>
                  <a:gd name="connsiteX3" fmla="*/ 2221255 w 2221255"/>
                  <a:gd name="connsiteY3" fmla="*/ 91440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21255" h="914400">
                    <a:moveTo>
                      <a:pt x="78130" y="0"/>
                    </a:moveTo>
                    <a:cubicBezTo>
                      <a:pt x="3517" y="77787"/>
                      <a:pt x="-96495" y="271463"/>
                      <a:pt x="201955" y="381000"/>
                    </a:cubicBezTo>
                    <a:cubicBezTo>
                      <a:pt x="500405" y="490538"/>
                      <a:pt x="1532280" y="568325"/>
                      <a:pt x="1868830" y="657225"/>
                    </a:cubicBezTo>
                    <a:cubicBezTo>
                      <a:pt x="2205380" y="746125"/>
                      <a:pt x="2213317" y="830262"/>
                      <a:pt x="2221255" y="914400"/>
                    </a:cubicBezTo>
                  </a:path>
                </a:pathLst>
              </a:custGeom>
              <a:noFill/>
              <a:ln w="57150" cap="flat" cmpd="sng" algn="ctr">
                <a:solidFill>
                  <a:srgbClr val="ABB41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3225271" y="5486400"/>
                <a:ext cx="8531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rPr>
                  <a:t>seL4</a:t>
                </a: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3200400" y="5791201"/>
                <a:ext cx="138371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Arial"/>
                  </a:rPr>
                  <a:t>eChronos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ＭＳ Ｐゴシック" pitchFamily="34" charset="-128"/>
                    <a:cs typeface="Arial"/>
                  </a:rPr>
                  <a:t>VxWorks</a:t>
                </a:r>
              </a:p>
            </p:txBody>
          </p:sp>
        </p:grpSp>
      </p:grpSp>
      <p:grpSp>
        <p:nvGrpSpPr>
          <p:cNvPr id="8" name="Group 108"/>
          <p:cNvGrpSpPr/>
          <p:nvPr/>
        </p:nvGrpSpPr>
        <p:grpSpPr>
          <a:xfrm>
            <a:off x="5035675" y="4126468"/>
            <a:ext cx="3651125" cy="2277770"/>
            <a:chOff x="5035675" y="4126468"/>
            <a:chExt cx="3651125" cy="2277770"/>
          </a:xfrm>
        </p:grpSpPr>
        <p:grpSp>
          <p:nvGrpSpPr>
            <p:cNvPr id="9" name="Group 109"/>
            <p:cNvGrpSpPr/>
            <p:nvPr/>
          </p:nvGrpSpPr>
          <p:grpSpPr>
            <a:xfrm>
              <a:off x="6028890" y="4474379"/>
              <a:ext cx="2657910" cy="1181292"/>
              <a:chOff x="4038600" y="3886200"/>
              <a:chExt cx="4800601" cy="2133600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4038600" y="3886200"/>
                <a:ext cx="4800599" cy="2133600"/>
              </a:xfrm>
              <a:prstGeom prst="rect">
                <a:avLst/>
              </a:prstGeom>
              <a:solidFill>
                <a:srgbClr val="F8F8F8"/>
              </a:solidFill>
              <a:ln w="25400" cap="flat" cmpd="sng" algn="ctr">
                <a:solidFill>
                  <a:schemeClr val="tx2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cxnSp>
            <p:nvCxnSpPr>
              <p:cNvPr id="114" name="Straight Connector 113"/>
              <p:cNvCxnSpPr>
                <a:stCxn id="127" idx="0"/>
                <a:endCxn id="136" idx="3"/>
              </p:cNvCxnSpPr>
              <p:nvPr/>
            </p:nvCxnSpPr>
            <p:spPr>
              <a:xfrm>
                <a:off x="4090988" y="4279900"/>
                <a:ext cx="357187" cy="3175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115" name="Straight Connector 34"/>
              <p:cNvCxnSpPr>
                <a:stCxn id="137" idx="0"/>
                <a:endCxn id="133" idx="3"/>
              </p:cNvCxnSpPr>
              <p:nvPr/>
            </p:nvCxnSpPr>
            <p:spPr>
              <a:xfrm>
                <a:off x="5562601" y="4283075"/>
                <a:ext cx="333375" cy="1125538"/>
              </a:xfrm>
              <a:prstGeom prst="bentConnector3">
                <a:avLst>
                  <a:gd name="adj1" fmla="val 50000"/>
                </a:avLst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116" name="Straight Connector 36"/>
              <p:cNvCxnSpPr>
                <a:stCxn id="134" idx="0"/>
                <a:endCxn id="129" idx="3"/>
              </p:cNvCxnSpPr>
              <p:nvPr/>
            </p:nvCxnSpPr>
            <p:spPr>
              <a:xfrm flipV="1">
                <a:off x="7010401" y="4487069"/>
                <a:ext cx="380999" cy="921544"/>
              </a:xfrm>
              <a:prstGeom prst="bentConnector3">
                <a:avLst>
                  <a:gd name="adj1" fmla="val 50000"/>
                </a:avLst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117" name="Straight Connector 116"/>
              <p:cNvCxnSpPr>
                <a:stCxn id="137" idx="0"/>
                <a:endCxn id="130" idx="3"/>
              </p:cNvCxnSpPr>
              <p:nvPr/>
            </p:nvCxnSpPr>
            <p:spPr>
              <a:xfrm flipV="1">
                <a:off x="5562601" y="4282283"/>
                <a:ext cx="1828799" cy="792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118" name="Straight Connector 117"/>
              <p:cNvCxnSpPr>
                <a:stCxn id="131" idx="0"/>
                <a:endCxn id="122" idx="3"/>
              </p:cNvCxnSpPr>
              <p:nvPr/>
            </p:nvCxnSpPr>
            <p:spPr>
              <a:xfrm>
                <a:off x="8504238" y="4384675"/>
                <a:ext cx="282576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grpSp>
            <p:nvGrpSpPr>
              <p:cNvPr id="10" name="Group 118"/>
              <p:cNvGrpSpPr/>
              <p:nvPr/>
            </p:nvGrpSpPr>
            <p:grpSpPr>
              <a:xfrm>
                <a:off x="4448175" y="3975100"/>
                <a:ext cx="1114425" cy="614363"/>
                <a:chOff x="3800475" y="4076700"/>
                <a:chExt cx="1114425" cy="614363"/>
              </a:xfrm>
            </p:grpSpPr>
            <p:sp>
              <p:nvSpPr>
                <p:cNvPr id="135" name="Rectangle 134"/>
                <p:cNvSpPr>
                  <a:spLocks noChangeArrowheads="1"/>
                </p:cNvSpPr>
                <p:nvPr/>
              </p:nvSpPr>
              <p:spPr bwMode="auto">
                <a:xfrm>
                  <a:off x="3800475" y="4076700"/>
                  <a:ext cx="1114425" cy="614363"/>
                </a:xfrm>
                <a:prstGeom prst="rect">
                  <a:avLst/>
                </a:prstGeom>
                <a:solidFill>
                  <a:srgbClr val="EEB1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385D8A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dana" pitchFamily="34" charset="0"/>
                      <a:ea typeface="ＭＳ Ｐゴシック" pitchFamily="34" charset="-128"/>
                      <a:cs typeface="Arial"/>
                    </a:rPr>
                    <a:t>A</a:t>
                  </a:r>
                </a:p>
              </p:txBody>
            </p:sp>
            <p:sp>
              <p:nvSpPr>
                <p:cNvPr id="136" name="Isosceles Triangle 135"/>
                <p:cNvSpPr>
                  <a:spLocks noChangeArrowheads="1"/>
                </p:cNvSpPr>
                <p:nvPr/>
              </p:nvSpPr>
              <p:spPr bwMode="auto">
                <a:xfrm rot="5400000">
                  <a:off x="3801269" y="4358481"/>
                  <a:ext cx="50800" cy="52388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2540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endParaRPr>
                </a:p>
              </p:txBody>
            </p:sp>
            <p:sp>
              <p:nvSpPr>
                <p:cNvPr id="137" name="Isosceles Triangle 136"/>
                <p:cNvSpPr>
                  <a:spLocks noChangeArrowheads="1"/>
                </p:cNvSpPr>
                <p:nvPr/>
              </p:nvSpPr>
              <p:spPr bwMode="auto">
                <a:xfrm rot="5400000">
                  <a:off x="4862513" y="4357687"/>
                  <a:ext cx="50800" cy="53975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2540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endParaRPr>
                </a:p>
              </p:txBody>
            </p:sp>
          </p:grpSp>
          <p:grpSp>
            <p:nvGrpSpPr>
              <p:cNvPr id="11" name="Group 119"/>
              <p:cNvGrpSpPr/>
              <p:nvPr/>
            </p:nvGrpSpPr>
            <p:grpSpPr>
              <a:xfrm>
                <a:off x="5884862" y="5075238"/>
                <a:ext cx="1125538" cy="614362"/>
                <a:chOff x="5486400" y="5075238"/>
                <a:chExt cx="1125538" cy="614362"/>
              </a:xfrm>
            </p:grpSpPr>
            <p:sp>
              <p:nvSpPr>
                <p:cNvPr id="132" name="Rectangle 131"/>
                <p:cNvSpPr>
                  <a:spLocks noChangeArrowheads="1"/>
                </p:cNvSpPr>
                <p:nvPr/>
              </p:nvSpPr>
              <p:spPr bwMode="auto">
                <a:xfrm>
                  <a:off x="5486400" y="5075238"/>
                  <a:ext cx="1114425" cy="614362"/>
                </a:xfrm>
                <a:prstGeom prst="rect">
                  <a:avLst/>
                </a:prstGeom>
                <a:solidFill>
                  <a:srgbClr val="EEB1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385D8A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dana" pitchFamily="34" charset="0"/>
                      <a:ea typeface="ＭＳ Ｐゴシック" pitchFamily="34" charset="-128"/>
                      <a:cs typeface="Arial"/>
                    </a:rPr>
                    <a:t>B</a:t>
                  </a:r>
                </a:p>
              </p:txBody>
            </p:sp>
            <p:sp>
              <p:nvSpPr>
                <p:cNvPr id="133" name="Isosceles Triangle 132"/>
                <p:cNvSpPr>
                  <a:spLocks noChangeArrowheads="1"/>
                </p:cNvSpPr>
                <p:nvPr/>
              </p:nvSpPr>
              <p:spPr bwMode="auto">
                <a:xfrm rot="5400000">
                  <a:off x="5498307" y="5382419"/>
                  <a:ext cx="50800" cy="52387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2540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endParaRPr>
                </a:p>
              </p:txBody>
            </p:sp>
            <p:sp>
              <p:nvSpPr>
                <p:cNvPr id="134" name="Isosceles Triangle 133"/>
                <p:cNvSpPr>
                  <a:spLocks noChangeArrowheads="1"/>
                </p:cNvSpPr>
                <p:nvPr/>
              </p:nvSpPr>
              <p:spPr bwMode="auto">
                <a:xfrm rot="5400000">
                  <a:off x="6559551" y="5381625"/>
                  <a:ext cx="50800" cy="53975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2540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endParaRPr>
                </a:p>
              </p:txBody>
            </p:sp>
          </p:grpSp>
          <p:grpSp>
            <p:nvGrpSpPr>
              <p:cNvPr id="12" name="Group 120"/>
              <p:cNvGrpSpPr/>
              <p:nvPr/>
            </p:nvGrpSpPr>
            <p:grpSpPr>
              <a:xfrm>
                <a:off x="7391400" y="4051300"/>
                <a:ext cx="1112838" cy="614363"/>
                <a:chOff x="7248525" y="4051300"/>
                <a:chExt cx="1112838" cy="614363"/>
              </a:xfrm>
            </p:grpSpPr>
            <p:sp>
              <p:nvSpPr>
                <p:cNvPr id="128" name="Rectangle 127"/>
                <p:cNvSpPr>
                  <a:spLocks noChangeArrowheads="1"/>
                </p:cNvSpPr>
                <p:nvPr/>
              </p:nvSpPr>
              <p:spPr bwMode="auto">
                <a:xfrm>
                  <a:off x="7248525" y="4051300"/>
                  <a:ext cx="1112838" cy="614363"/>
                </a:xfrm>
                <a:prstGeom prst="rect">
                  <a:avLst/>
                </a:prstGeom>
                <a:solidFill>
                  <a:srgbClr val="EEB1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algn="ctr">
                      <a:solidFill>
                        <a:srgbClr val="385D8A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1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dana" pitchFamily="34" charset="0"/>
                      <a:ea typeface="ＭＳ Ｐゴシック" pitchFamily="34" charset="-128"/>
                      <a:cs typeface="Arial"/>
                    </a:rPr>
                    <a:t>C</a:t>
                  </a:r>
                </a:p>
              </p:txBody>
            </p:sp>
            <p:sp>
              <p:nvSpPr>
                <p:cNvPr id="129" name="Isosceles Triangle 128"/>
                <p:cNvSpPr>
                  <a:spLocks noChangeArrowheads="1"/>
                </p:cNvSpPr>
                <p:nvPr/>
              </p:nvSpPr>
              <p:spPr bwMode="auto">
                <a:xfrm rot="5400000">
                  <a:off x="7248525" y="4460875"/>
                  <a:ext cx="52388" cy="52388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2540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endParaRPr>
                </a:p>
              </p:txBody>
            </p:sp>
            <p:sp>
              <p:nvSpPr>
                <p:cNvPr id="130" name="Isosceles Triangle 129"/>
                <p:cNvSpPr>
                  <a:spLocks noChangeArrowheads="1"/>
                </p:cNvSpPr>
                <p:nvPr/>
              </p:nvSpPr>
              <p:spPr bwMode="auto">
                <a:xfrm rot="5400000">
                  <a:off x="7248525" y="4256088"/>
                  <a:ext cx="52387" cy="52388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2540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endParaRPr>
                </a:p>
              </p:txBody>
            </p:sp>
            <p:sp>
              <p:nvSpPr>
                <p:cNvPr id="131" name="Isosceles Triangle 130"/>
                <p:cNvSpPr>
                  <a:spLocks noChangeArrowheads="1"/>
                </p:cNvSpPr>
                <p:nvPr/>
              </p:nvSpPr>
              <p:spPr bwMode="auto">
                <a:xfrm rot="5400000">
                  <a:off x="8309769" y="4358481"/>
                  <a:ext cx="50800" cy="52388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00"/>
                </a:solidFill>
                <a:ln w="25400" algn="ctr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10800000" vert="eaVert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endParaRPr>
                </a:p>
              </p:txBody>
            </p:sp>
          </p:grpSp>
          <p:sp>
            <p:nvSpPr>
              <p:cNvPr id="122" name="Isosceles Triangle 121"/>
              <p:cNvSpPr>
                <a:spLocks noChangeArrowheads="1"/>
              </p:cNvSpPr>
              <p:nvPr/>
            </p:nvSpPr>
            <p:spPr bwMode="auto">
              <a:xfrm rot="5400000">
                <a:off x="8787607" y="4358481"/>
                <a:ext cx="50800" cy="52387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254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vert="eaVert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 pitchFamily="34" charset="-128"/>
                  <a:cs typeface="Arial"/>
                </a:endParaRPr>
              </a:p>
            </p:txBody>
          </p:sp>
          <p:sp>
            <p:nvSpPr>
              <p:cNvPr id="123" name="TextBox 43"/>
              <p:cNvSpPr txBox="1">
                <a:spLocks noChangeArrowheads="1"/>
              </p:cNvSpPr>
              <p:nvPr/>
            </p:nvSpPr>
            <p:spPr bwMode="auto">
              <a:xfrm>
                <a:off x="4227513" y="4572000"/>
                <a:ext cx="1639889" cy="3335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Assumption: Input &lt; 20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Guarantee: Output &lt; 2*Input</a:t>
                </a:r>
              </a:p>
            </p:txBody>
          </p:sp>
          <p:sp>
            <p:nvSpPr>
              <p:cNvPr id="124" name="TextBox 44"/>
              <p:cNvSpPr txBox="1">
                <a:spLocks noChangeArrowheads="1"/>
              </p:cNvSpPr>
              <p:nvPr/>
            </p:nvSpPr>
            <p:spPr bwMode="auto">
              <a:xfrm>
                <a:off x="5724524" y="5654675"/>
                <a:ext cx="1743075" cy="3335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Assumption: Input &lt; 20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Guarantee: Output &lt; Input + 15</a:t>
                </a:r>
              </a:p>
            </p:txBody>
          </p:sp>
          <p:sp>
            <p:nvSpPr>
              <p:cNvPr id="125" name="TextBox 45"/>
              <p:cNvSpPr txBox="1">
                <a:spLocks noChangeArrowheads="1"/>
              </p:cNvSpPr>
              <p:nvPr/>
            </p:nvSpPr>
            <p:spPr bwMode="auto">
              <a:xfrm>
                <a:off x="7300912" y="4648200"/>
                <a:ext cx="1538287" cy="3335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Assumption: none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Guarantee: Output = Input1 + Input2</a:t>
                </a:r>
              </a:p>
            </p:txBody>
          </p:sp>
          <p:sp>
            <p:nvSpPr>
              <p:cNvPr id="126" name="TextBox 46"/>
              <p:cNvSpPr txBox="1">
                <a:spLocks noChangeArrowheads="1"/>
              </p:cNvSpPr>
              <p:nvPr/>
            </p:nvSpPr>
            <p:spPr bwMode="auto">
              <a:xfrm>
                <a:off x="7443790" y="5650467"/>
                <a:ext cx="1395411" cy="33353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Assumption: Input &lt; 10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Arial" charset="0"/>
                  </a:rPr>
                  <a:t>Guarantee: Output &lt; 50</a:t>
                </a:r>
              </a:p>
            </p:txBody>
          </p:sp>
          <p:sp>
            <p:nvSpPr>
              <p:cNvPr id="127" name="Isosceles Triangle 17"/>
              <p:cNvSpPr>
                <a:spLocks noChangeArrowheads="1"/>
              </p:cNvSpPr>
              <p:nvPr/>
            </p:nvSpPr>
            <p:spPr bwMode="auto">
              <a:xfrm rot="5400000">
                <a:off x="4039394" y="4253706"/>
                <a:ext cx="50800" cy="52388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254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vert="eaVert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 pitchFamily="34" charset="-128"/>
                  <a:cs typeface="Arial"/>
                </a:endParaRPr>
              </a:p>
            </p:txBody>
          </p:sp>
        </p:grpSp>
        <p:sp>
          <p:nvSpPr>
            <p:cNvPr id="111" name="TextBox 110"/>
            <p:cNvSpPr txBox="1"/>
            <p:nvPr/>
          </p:nvSpPr>
          <p:spPr>
            <a:xfrm>
              <a:off x="6019800" y="4126468"/>
              <a:ext cx="26196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/>
                  <a:ea typeface="ＭＳ Ｐゴシック" pitchFamily="34" charset="-128"/>
                  <a:cs typeface="Arial"/>
                </a:rPr>
                <a:t>Architecture Analysis</a:t>
              </a:r>
            </a:p>
          </p:txBody>
        </p:sp>
        <p:pic>
          <p:nvPicPr>
            <p:cNvPr id="112" name="Picture 2" descr="C:\Users\ddcofer\Documents\Projects\hacms\svn_smaccm\meetings\2013-July-PI-meeting\slides\Rockwell\resolute_screen_shots\verbose_graph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5675" y="5090293"/>
              <a:ext cx="1796847" cy="1313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37"/>
          <p:cNvGrpSpPr/>
          <p:nvPr/>
        </p:nvGrpSpPr>
        <p:grpSpPr>
          <a:xfrm>
            <a:off x="306132" y="1752600"/>
            <a:ext cx="2624822" cy="4304874"/>
            <a:chOff x="306132" y="1752600"/>
            <a:chExt cx="2624822" cy="4304874"/>
          </a:xfrm>
        </p:grpSpPr>
        <p:grpSp>
          <p:nvGrpSpPr>
            <p:cNvPr id="14" name="Group 138"/>
            <p:cNvGrpSpPr/>
            <p:nvPr/>
          </p:nvGrpSpPr>
          <p:grpSpPr>
            <a:xfrm>
              <a:off x="457200" y="1752600"/>
              <a:ext cx="2473754" cy="2895601"/>
              <a:chOff x="457200" y="1752600"/>
              <a:chExt cx="2473754" cy="2895601"/>
            </a:xfrm>
          </p:grpSpPr>
          <p:pic>
            <p:nvPicPr>
              <p:cNvPr id="141" name="Picture 2" descr="https://encrypted-tbn0.gstatic.com/images?q=tbn:ANd9GcQyR5lXe_e8Fx9HyDitWCJgBJAjBpV0KbUBCI4CfK9l44Rg0zi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4267200"/>
                <a:ext cx="1476375" cy="3810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2" name="TextBox 141"/>
              <p:cNvSpPr txBox="1"/>
              <p:nvPr/>
            </p:nvSpPr>
            <p:spPr>
              <a:xfrm>
                <a:off x="457200" y="3810000"/>
                <a:ext cx="2473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/>
                    <a:ea typeface="ＭＳ Ｐゴシック" pitchFamily="34" charset="-128"/>
                    <a:cs typeface="Arial"/>
                  </a:rPr>
                  <a:t>Architecture Models</a:t>
                </a:r>
              </a:p>
            </p:txBody>
          </p:sp>
          <p:grpSp>
            <p:nvGrpSpPr>
              <p:cNvPr id="15" name="Group 142"/>
              <p:cNvGrpSpPr/>
              <p:nvPr/>
            </p:nvGrpSpPr>
            <p:grpSpPr>
              <a:xfrm>
                <a:off x="1469873" y="1752600"/>
                <a:ext cx="1112138" cy="533400"/>
                <a:chOff x="1129973" y="1950482"/>
                <a:chExt cx="1112138" cy="533400"/>
              </a:xfrm>
            </p:grpSpPr>
            <p:grpSp>
              <p:nvGrpSpPr>
                <p:cNvPr id="16" name="Group 144"/>
                <p:cNvGrpSpPr/>
                <p:nvPr/>
              </p:nvGrpSpPr>
              <p:grpSpPr>
                <a:xfrm flipH="1">
                  <a:off x="1129973" y="1950482"/>
                  <a:ext cx="1112138" cy="533400"/>
                  <a:chOff x="6639029" y="1295400"/>
                  <a:chExt cx="1112138" cy="533400"/>
                </a:xfrm>
              </p:grpSpPr>
              <p:sp>
                <p:nvSpPr>
                  <p:cNvPr id="147" name="Rectangle 146"/>
                  <p:cNvSpPr/>
                  <p:nvPr/>
                </p:nvSpPr>
                <p:spPr>
                  <a:xfrm>
                    <a:off x="6783673" y="1295400"/>
                    <a:ext cx="737505" cy="533400"/>
                  </a:xfrm>
                  <a:prstGeom prst="rect">
                    <a:avLst/>
                  </a:prstGeom>
                  <a:solidFill>
                    <a:srgbClr val="AFBC1F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F8F8F8"/>
                      </a:solidFill>
                      <a:effectLst/>
                      <a:uLnTx/>
                      <a:uFillTx/>
                      <a:latin typeface="Verdana"/>
                      <a:ea typeface="ＭＳ Ｐゴシック"/>
                      <a:cs typeface="Arial"/>
                    </a:endParaRPr>
                  </a:p>
                </p:txBody>
              </p:sp>
              <p:sp>
                <p:nvSpPr>
                  <p:cNvPr id="148" name="Oval 147"/>
                  <p:cNvSpPr/>
                  <p:nvPr/>
                </p:nvSpPr>
                <p:spPr>
                  <a:xfrm>
                    <a:off x="7239000" y="1295400"/>
                    <a:ext cx="512167" cy="533400"/>
                  </a:xfrm>
                  <a:prstGeom prst="ellipse">
                    <a:avLst/>
                  </a:prstGeom>
                  <a:solidFill>
                    <a:srgbClr val="AFBC1F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F8F8F8"/>
                      </a:solidFill>
                      <a:effectLst/>
                      <a:uLnTx/>
                      <a:uFillTx/>
                      <a:latin typeface="Verdana"/>
                      <a:ea typeface="ＭＳ Ｐゴシック"/>
                      <a:cs typeface="Arial"/>
                    </a:endParaRPr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6640902" y="1371600"/>
                    <a:ext cx="142771" cy="76200"/>
                  </a:xfrm>
                  <a:prstGeom prst="rect">
                    <a:avLst/>
                  </a:prstGeom>
                  <a:solidFill>
                    <a:srgbClr val="AFBC1F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F8F8F8"/>
                      </a:solidFill>
                      <a:effectLst/>
                      <a:uLnTx/>
                      <a:uFillTx/>
                      <a:latin typeface="Verdana"/>
                      <a:ea typeface="ＭＳ Ｐゴシック"/>
                      <a:cs typeface="Arial"/>
                    </a:endParaRPr>
                  </a:p>
                </p:txBody>
              </p:sp>
              <p:sp>
                <p:nvSpPr>
                  <p:cNvPr id="150" name="Rectangle 149"/>
                  <p:cNvSpPr/>
                  <p:nvPr/>
                </p:nvSpPr>
                <p:spPr>
                  <a:xfrm>
                    <a:off x="6639029" y="1676400"/>
                    <a:ext cx="142771" cy="76200"/>
                  </a:xfrm>
                  <a:prstGeom prst="rect">
                    <a:avLst/>
                  </a:prstGeom>
                  <a:solidFill>
                    <a:srgbClr val="AFBC1F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F8F8F8"/>
                      </a:solidFill>
                      <a:effectLst/>
                      <a:uLnTx/>
                      <a:uFillTx/>
                      <a:latin typeface="Verdana"/>
                      <a:ea typeface="ＭＳ Ｐゴシック"/>
                      <a:cs typeface="Arial"/>
                    </a:endParaRPr>
                  </a:p>
                </p:txBody>
              </p:sp>
            </p:grpSp>
            <p:sp>
              <p:nvSpPr>
                <p:cNvPr id="146" name="TextBox 145"/>
                <p:cNvSpPr txBox="1"/>
                <p:nvPr/>
              </p:nvSpPr>
              <p:spPr>
                <a:xfrm>
                  <a:off x="1245236" y="2017157"/>
                  <a:ext cx="86357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itchFamily="34" charset="0"/>
                      <a:ea typeface="ＭＳ Ｐゴシック" pitchFamily="34" charset="-128"/>
                      <a:cs typeface="Times New Roman" pitchFamily="18" charset="0"/>
                    </a:rPr>
                    <a:t>OSATE</a:t>
                  </a:r>
                  <a:endParaRPr kumimoji="0" lang="en-US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itchFamily="34" charset="0"/>
                    <a:ea typeface="ＭＳ Ｐゴシック" pitchFamily="34" charset="-128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44" name="Freeform 143"/>
              <p:cNvSpPr/>
              <p:nvPr/>
            </p:nvSpPr>
            <p:spPr>
              <a:xfrm>
                <a:off x="1143000" y="2032517"/>
                <a:ext cx="403073" cy="1739384"/>
              </a:xfrm>
              <a:custGeom>
                <a:avLst/>
                <a:gdLst>
                  <a:gd name="connsiteX0" fmla="*/ 400072 w 400072"/>
                  <a:gd name="connsiteY0" fmla="*/ 55644 h 1179594"/>
                  <a:gd name="connsiteX1" fmla="*/ 22 w 400072"/>
                  <a:gd name="connsiteY1" fmla="*/ 84219 h 1179594"/>
                  <a:gd name="connsiteX2" fmla="*/ 381022 w 400072"/>
                  <a:gd name="connsiteY2" fmla="*/ 855744 h 1179594"/>
                  <a:gd name="connsiteX3" fmla="*/ 304822 w 400072"/>
                  <a:gd name="connsiteY3" fmla="*/ 1160544 h 1179594"/>
                  <a:gd name="connsiteX4" fmla="*/ 304822 w 400072"/>
                  <a:gd name="connsiteY4" fmla="*/ 1160544 h 1179594"/>
                  <a:gd name="connsiteX5" fmla="*/ 304822 w 400072"/>
                  <a:gd name="connsiteY5" fmla="*/ 1179594 h 1179594"/>
                  <a:gd name="connsiteX0" fmla="*/ 409597 w 409597"/>
                  <a:gd name="connsiteY0" fmla="*/ 14182 h 1138132"/>
                  <a:gd name="connsiteX1" fmla="*/ 22 w 409597"/>
                  <a:gd name="connsiteY1" fmla="*/ 195157 h 1138132"/>
                  <a:gd name="connsiteX2" fmla="*/ 390547 w 409597"/>
                  <a:gd name="connsiteY2" fmla="*/ 814282 h 1138132"/>
                  <a:gd name="connsiteX3" fmla="*/ 314347 w 409597"/>
                  <a:gd name="connsiteY3" fmla="*/ 1119082 h 1138132"/>
                  <a:gd name="connsiteX4" fmla="*/ 314347 w 409597"/>
                  <a:gd name="connsiteY4" fmla="*/ 1119082 h 1138132"/>
                  <a:gd name="connsiteX5" fmla="*/ 314347 w 409597"/>
                  <a:gd name="connsiteY5" fmla="*/ 1138132 h 1138132"/>
                  <a:gd name="connsiteX0" fmla="*/ 390525 w 403073"/>
                  <a:gd name="connsiteY0" fmla="*/ 11255 h 1182830"/>
                  <a:gd name="connsiteX1" fmla="*/ 0 w 403073"/>
                  <a:gd name="connsiteY1" fmla="*/ 239855 h 1182830"/>
                  <a:gd name="connsiteX2" fmla="*/ 390525 w 403073"/>
                  <a:gd name="connsiteY2" fmla="*/ 858980 h 1182830"/>
                  <a:gd name="connsiteX3" fmla="*/ 314325 w 403073"/>
                  <a:gd name="connsiteY3" fmla="*/ 1163780 h 1182830"/>
                  <a:gd name="connsiteX4" fmla="*/ 314325 w 403073"/>
                  <a:gd name="connsiteY4" fmla="*/ 1163780 h 1182830"/>
                  <a:gd name="connsiteX5" fmla="*/ 314325 w 403073"/>
                  <a:gd name="connsiteY5" fmla="*/ 1182830 h 1182830"/>
                  <a:gd name="connsiteX0" fmla="*/ 390525 w 403073"/>
                  <a:gd name="connsiteY0" fmla="*/ 0 h 1171575"/>
                  <a:gd name="connsiteX1" fmla="*/ 0 w 403073"/>
                  <a:gd name="connsiteY1" fmla="*/ 228600 h 1171575"/>
                  <a:gd name="connsiteX2" fmla="*/ 390525 w 403073"/>
                  <a:gd name="connsiteY2" fmla="*/ 847725 h 1171575"/>
                  <a:gd name="connsiteX3" fmla="*/ 314325 w 403073"/>
                  <a:gd name="connsiteY3" fmla="*/ 1152525 h 1171575"/>
                  <a:gd name="connsiteX4" fmla="*/ 314325 w 403073"/>
                  <a:gd name="connsiteY4" fmla="*/ 1152525 h 1171575"/>
                  <a:gd name="connsiteX5" fmla="*/ 314325 w 403073"/>
                  <a:gd name="connsiteY5" fmla="*/ 1171575 h 117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3073" h="1171575">
                    <a:moveTo>
                      <a:pt x="390525" y="0"/>
                    </a:moveTo>
                    <a:cubicBezTo>
                      <a:pt x="201612" y="23812"/>
                      <a:pt x="0" y="87313"/>
                      <a:pt x="0" y="228600"/>
                    </a:cubicBezTo>
                    <a:cubicBezTo>
                      <a:pt x="0" y="369887"/>
                      <a:pt x="338137" y="693737"/>
                      <a:pt x="390525" y="847725"/>
                    </a:cubicBezTo>
                    <a:cubicBezTo>
                      <a:pt x="442913" y="1001713"/>
                      <a:pt x="314325" y="1152525"/>
                      <a:pt x="314325" y="1152525"/>
                    </a:cubicBezTo>
                    <a:lnTo>
                      <a:pt x="314325" y="1152525"/>
                    </a:lnTo>
                    <a:lnTo>
                      <a:pt x="314325" y="1171575"/>
                    </a:lnTo>
                  </a:path>
                </a:pathLst>
              </a:custGeom>
              <a:noFill/>
              <a:ln w="57150" cap="flat" cmpd="sng" algn="ctr">
                <a:solidFill>
                  <a:srgbClr val="ABB41D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</p:grpSp>
        <p:pic>
          <p:nvPicPr>
            <p:cNvPr id="140" name="Picture 7"/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132" y="4807057"/>
              <a:ext cx="2166255" cy="1250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7" name="Group 150"/>
          <p:cNvGrpSpPr/>
          <p:nvPr/>
        </p:nvGrpSpPr>
        <p:grpSpPr>
          <a:xfrm>
            <a:off x="6497183" y="1381125"/>
            <a:ext cx="2099617" cy="2790825"/>
            <a:chOff x="6497183" y="1381125"/>
            <a:chExt cx="2099617" cy="2790825"/>
          </a:xfrm>
        </p:grpSpPr>
        <p:sp>
          <p:nvSpPr>
            <p:cNvPr id="152" name="Freeform 151"/>
            <p:cNvSpPr/>
            <p:nvPr/>
          </p:nvSpPr>
          <p:spPr>
            <a:xfrm>
              <a:off x="7580508" y="1647825"/>
              <a:ext cx="1016292" cy="2524125"/>
            </a:xfrm>
            <a:custGeom>
              <a:avLst/>
              <a:gdLst>
                <a:gd name="connsiteX0" fmla="*/ 0 w 586671"/>
                <a:gd name="connsiteY0" fmla="*/ 3888 h 1661238"/>
                <a:gd name="connsiteX1" fmla="*/ 581025 w 586671"/>
                <a:gd name="connsiteY1" fmla="*/ 203913 h 1661238"/>
                <a:gd name="connsiteX2" fmla="*/ 295275 w 586671"/>
                <a:gd name="connsiteY2" fmla="*/ 1318338 h 1661238"/>
                <a:gd name="connsiteX3" fmla="*/ 295275 w 586671"/>
                <a:gd name="connsiteY3" fmla="*/ 1661238 h 1661238"/>
                <a:gd name="connsiteX0" fmla="*/ 0 w 586671"/>
                <a:gd name="connsiteY0" fmla="*/ 0 h 1657350"/>
                <a:gd name="connsiteX1" fmla="*/ 581025 w 586671"/>
                <a:gd name="connsiteY1" fmla="*/ 200025 h 1657350"/>
                <a:gd name="connsiteX2" fmla="*/ 295275 w 586671"/>
                <a:gd name="connsiteY2" fmla="*/ 1314450 h 1657350"/>
                <a:gd name="connsiteX3" fmla="*/ 295275 w 586671"/>
                <a:gd name="connsiteY3" fmla="*/ 1657350 h 1657350"/>
                <a:gd name="connsiteX0" fmla="*/ 0 w 598001"/>
                <a:gd name="connsiteY0" fmla="*/ 0 h 1657350"/>
                <a:gd name="connsiteX1" fmla="*/ 581025 w 598001"/>
                <a:gd name="connsiteY1" fmla="*/ 200025 h 1657350"/>
                <a:gd name="connsiteX2" fmla="*/ 429787 w 598001"/>
                <a:gd name="connsiteY2" fmla="*/ 1301296 h 1657350"/>
                <a:gd name="connsiteX3" fmla="*/ 295275 w 598001"/>
                <a:gd name="connsiteY3" fmla="*/ 1657350 h 1657350"/>
                <a:gd name="connsiteX0" fmla="*/ 0 w 598001"/>
                <a:gd name="connsiteY0" fmla="*/ 0 h 1742848"/>
                <a:gd name="connsiteX1" fmla="*/ 581025 w 598001"/>
                <a:gd name="connsiteY1" fmla="*/ 200025 h 1742848"/>
                <a:gd name="connsiteX2" fmla="*/ 429787 w 598001"/>
                <a:gd name="connsiteY2" fmla="*/ 1301296 h 1742848"/>
                <a:gd name="connsiteX3" fmla="*/ 463415 w 598001"/>
                <a:gd name="connsiteY3" fmla="*/ 1742848 h 174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8001" h="1742848">
                  <a:moveTo>
                    <a:pt x="0" y="0"/>
                  </a:moveTo>
                  <a:cubicBezTo>
                    <a:pt x="265906" y="19050"/>
                    <a:pt x="509394" y="-16858"/>
                    <a:pt x="581025" y="200025"/>
                  </a:cubicBezTo>
                  <a:cubicBezTo>
                    <a:pt x="652656" y="416908"/>
                    <a:pt x="477412" y="1058409"/>
                    <a:pt x="429787" y="1301296"/>
                  </a:cubicBezTo>
                  <a:cubicBezTo>
                    <a:pt x="382162" y="1544184"/>
                    <a:pt x="439602" y="1692842"/>
                    <a:pt x="463415" y="1742848"/>
                  </a:cubicBezTo>
                </a:path>
              </a:pathLst>
            </a:custGeom>
            <a:noFill/>
            <a:ln w="57150" cap="flat" cmpd="sng" algn="ctr">
              <a:solidFill>
                <a:srgbClr val="ABB41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Verdana"/>
                <a:ea typeface="ＭＳ Ｐゴシック"/>
                <a:cs typeface="Arial"/>
              </a:endParaRPr>
            </a:p>
          </p:txBody>
        </p:sp>
        <p:grpSp>
          <p:nvGrpSpPr>
            <p:cNvPr id="18" name="Group 152"/>
            <p:cNvGrpSpPr/>
            <p:nvPr/>
          </p:nvGrpSpPr>
          <p:grpSpPr>
            <a:xfrm>
              <a:off x="6497183" y="1381125"/>
              <a:ext cx="1503817" cy="533400"/>
              <a:chOff x="6640902" y="1295400"/>
              <a:chExt cx="1503817" cy="533400"/>
            </a:xfrm>
          </p:grpSpPr>
          <p:grpSp>
            <p:nvGrpSpPr>
              <p:cNvPr id="19" name="Group 153"/>
              <p:cNvGrpSpPr/>
              <p:nvPr/>
            </p:nvGrpSpPr>
            <p:grpSpPr>
              <a:xfrm>
                <a:off x="6640902" y="1295400"/>
                <a:ext cx="1503817" cy="533400"/>
                <a:chOff x="6640902" y="1295400"/>
                <a:chExt cx="1503817" cy="533400"/>
              </a:xfrm>
            </p:grpSpPr>
            <p:sp>
              <p:nvSpPr>
                <p:cNvPr id="156" name="Rectangle 155"/>
                <p:cNvSpPr/>
                <p:nvPr/>
              </p:nvSpPr>
              <p:spPr>
                <a:xfrm>
                  <a:off x="6783673" y="1295400"/>
                  <a:ext cx="1095567" cy="5334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57" name="Oval 156"/>
                <p:cNvSpPr/>
                <p:nvPr/>
              </p:nvSpPr>
              <p:spPr>
                <a:xfrm>
                  <a:off x="7632552" y="1295400"/>
                  <a:ext cx="512167" cy="533400"/>
                </a:xfrm>
                <a:prstGeom prst="ellipse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6640902" y="1371600"/>
                  <a:ext cx="142771" cy="762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6648554" y="1676400"/>
                  <a:ext cx="142771" cy="762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</p:grpSp>
          <p:sp>
            <p:nvSpPr>
              <p:cNvPr id="155" name="TextBox 154"/>
              <p:cNvSpPr txBox="1"/>
              <p:nvPr/>
            </p:nvSpPr>
            <p:spPr>
              <a:xfrm>
                <a:off x="6766755" y="1329035"/>
                <a:ext cx="13528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w Cen MT" pitchFamily="34" charset="0"/>
                    <a:ea typeface="ＭＳ Ｐゴシック" pitchFamily="34" charset="-128"/>
                    <a:cs typeface="Arial"/>
                  </a:rPr>
                  <a:t>Resolute</a:t>
                </a:r>
              </a:p>
            </p:txBody>
          </p:sp>
        </p:grpSp>
      </p:grpSp>
      <p:grpSp>
        <p:nvGrpSpPr>
          <p:cNvPr id="20" name="Group 159"/>
          <p:cNvGrpSpPr/>
          <p:nvPr/>
        </p:nvGrpSpPr>
        <p:grpSpPr>
          <a:xfrm>
            <a:off x="6477000" y="1981200"/>
            <a:ext cx="1807644" cy="2199650"/>
            <a:chOff x="6540793" y="2133600"/>
            <a:chExt cx="1807644" cy="2199650"/>
          </a:xfrm>
        </p:grpSpPr>
        <p:grpSp>
          <p:nvGrpSpPr>
            <p:cNvPr id="21" name="Group 160"/>
            <p:cNvGrpSpPr/>
            <p:nvPr/>
          </p:nvGrpSpPr>
          <p:grpSpPr>
            <a:xfrm>
              <a:off x="6540793" y="2133600"/>
              <a:ext cx="1110265" cy="533400"/>
              <a:chOff x="6640902" y="1295400"/>
              <a:chExt cx="1110265" cy="533400"/>
            </a:xfrm>
          </p:grpSpPr>
          <p:grpSp>
            <p:nvGrpSpPr>
              <p:cNvPr id="22" name="Group 162"/>
              <p:cNvGrpSpPr/>
              <p:nvPr/>
            </p:nvGrpSpPr>
            <p:grpSpPr>
              <a:xfrm>
                <a:off x="6640902" y="1295400"/>
                <a:ext cx="1110265" cy="533400"/>
                <a:chOff x="6640902" y="1295400"/>
                <a:chExt cx="1110265" cy="533400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6783673" y="1295400"/>
                  <a:ext cx="737505" cy="5334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66" name="Oval 165"/>
                <p:cNvSpPr/>
                <p:nvPr/>
              </p:nvSpPr>
              <p:spPr>
                <a:xfrm>
                  <a:off x="7239000" y="1295400"/>
                  <a:ext cx="512167" cy="533400"/>
                </a:xfrm>
                <a:prstGeom prst="ellipse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67" name="Rectangle 166"/>
                <p:cNvSpPr/>
                <p:nvPr/>
              </p:nvSpPr>
              <p:spPr>
                <a:xfrm>
                  <a:off x="6640902" y="1371600"/>
                  <a:ext cx="142771" cy="762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  <p:sp>
              <p:nvSpPr>
                <p:cNvPr id="168" name="Rectangle 167"/>
                <p:cNvSpPr/>
                <p:nvPr/>
              </p:nvSpPr>
              <p:spPr>
                <a:xfrm>
                  <a:off x="6648554" y="1676400"/>
                  <a:ext cx="142771" cy="76200"/>
                </a:xfrm>
                <a:prstGeom prst="rect">
                  <a:avLst/>
                </a:prstGeom>
                <a:solidFill>
                  <a:srgbClr val="AFBC1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Verdana"/>
                    <a:ea typeface="ＭＳ Ｐゴシック"/>
                    <a:cs typeface="Arial"/>
                  </a:endParaRPr>
                </a:p>
              </p:txBody>
            </p:sp>
          </p:grpSp>
          <p:sp>
            <p:nvSpPr>
              <p:cNvPr id="164" name="TextBox 163"/>
              <p:cNvSpPr txBox="1"/>
              <p:nvPr/>
            </p:nvSpPr>
            <p:spPr>
              <a:xfrm>
                <a:off x="6766755" y="1371600"/>
                <a:ext cx="925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entury Gothic" pitchFamily="34" charset="0"/>
                    <a:ea typeface="ＭＳ Ｐゴシック" pitchFamily="34" charset="-128"/>
                    <a:cs typeface="Arial"/>
                  </a:rPr>
                  <a:t>AGREE</a:t>
                </a:r>
                <a:endParaRPr kumimoji="0" lang="en-US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entury Gothic" pitchFamily="34" charset="0"/>
                  <a:ea typeface="ＭＳ Ｐゴシック" pitchFamily="34" charset="-128"/>
                  <a:cs typeface="Arial"/>
                </a:endParaRPr>
              </a:p>
            </p:txBody>
          </p:sp>
        </p:grpSp>
        <p:sp>
          <p:nvSpPr>
            <p:cNvPr id="162" name="Freeform 161"/>
            <p:cNvSpPr/>
            <p:nvPr/>
          </p:nvSpPr>
          <p:spPr>
            <a:xfrm>
              <a:off x="7589076" y="2400299"/>
              <a:ext cx="759361" cy="1932951"/>
            </a:xfrm>
            <a:custGeom>
              <a:avLst/>
              <a:gdLst>
                <a:gd name="connsiteX0" fmla="*/ 0 w 586671"/>
                <a:gd name="connsiteY0" fmla="*/ 3888 h 1661238"/>
                <a:gd name="connsiteX1" fmla="*/ 581025 w 586671"/>
                <a:gd name="connsiteY1" fmla="*/ 203913 h 1661238"/>
                <a:gd name="connsiteX2" fmla="*/ 295275 w 586671"/>
                <a:gd name="connsiteY2" fmla="*/ 1318338 h 1661238"/>
                <a:gd name="connsiteX3" fmla="*/ 295275 w 586671"/>
                <a:gd name="connsiteY3" fmla="*/ 1661238 h 1661238"/>
                <a:gd name="connsiteX0" fmla="*/ 0 w 586671"/>
                <a:gd name="connsiteY0" fmla="*/ 0 h 1657350"/>
                <a:gd name="connsiteX1" fmla="*/ 581025 w 586671"/>
                <a:gd name="connsiteY1" fmla="*/ 200025 h 1657350"/>
                <a:gd name="connsiteX2" fmla="*/ 295275 w 586671"/>
                <a:gd name="connsiteY2" fmla="*/ 1314450 h 1657350"/>
                <a:gd name="connsiteX3" fmla="*/ 295275 w 586671"/>
                <a:gd name="connsiteY3" fmla="*/ 1657350 h 1657350"/>
                <a:gd name="connsiteX0" fmla="*/ 0 w 598294"/>
                <a:gd name="connsiteY0" fmla="*/ 0 h 1657350"/>
                <a:gd name="connsiteX1" fmla="*/ 581025 w 598294"/>
                <a:gd name="connsiteY1" fmla="*/ 200025 h 1657350"/>
                <a:gd name="connsiteX2" fmla="*/ 432001 w 598294"/>
                <a:gd name="connsiteY2" fmla="*/ 1287852 h 1657350"/>
                <a:gd name="connsiteX3" fmla="*/ 295275 w 598294"/>
                <a:gd name="connsiteY3" fmla="*/ 1657350 h 1657350"/>
                <a:gd name="connsiteX0" fmla="*/ 0 w 598294"/>
                <a:gd name="connsiteY0" fmla="*/ 0 h 1799205"/>
                <a:gd name="connsiteX1" fmla="*/ 581025 w 598294"/>
                <a:gd name="connsiteY1" fmla="*/ 200025 h 1799205"/>
                <a:gd name="connsiteX2" fmla="*/ 432001 w 598294"/>
                <a:gd name="connsiteY2" fmla="*/ 1287852 h 1799205"/>
                <a:gd name="connsiteX3" fmla="*/ 530746 w 598294"/>
                <a:gd name="connsiteY3" fmla="*/ 1799205 h 1799205"/>
                <a:gd name="connsiteX0" fmla="*/ 0 w 605563"/>
                <a:gd name="connsiteY0" fmla="*/ 0 h 1799205"/>
                <a:gd name="connsiteX1" fmla="*/ 581025 w 605563"/>
                <a:gd name="connsiteY1" fmla="*/ 200025 h 1799205"/>
                <a:gd name="connsiteX2" fmla="*/ 477576 w 605563"/>
                <a:gd name="connsiteY2" fmla="*/ 1287852 h 1799205"/>
                <a:gd name="connsiteX3" fmla="*/ 530746 w 605563"/>
                <a:gd name="connsiteY3" fmla="*/ 1799205 h 179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5563" h="1799205">
                  <a:moveTo>
                    <a:pt x="0" y="0"/>
                  </a:moveTo>
                  <a:cubicBezTo>
                    <a:pt x="265906" y="19050"/>
                    <a:pt x="501429" y="-14617"/>
                    <a:pt x="581025" y="200025"/>
                  </a:cubicBezTo>
                  <a:cubicBezTo>
                    <a:pt x="660621" y="414667"/>
                    <a:pt x="525201" y="1044965"/>
                    <a:pt x="477576" y="1287852"/>
                  </a:cubicBezTo>
                  <a:cubicBezTo>
                    <a:pt x="429951" y="1530740"/>
                    <a:pt x="506933" y="1749199"/>
                    <a:pt x="530746" y="1799205"/>
                  </a:cubicBezTo>
                </a:path>
              </a:pathLst>
            </a:custGeom>
            <a:noFill/>
            <a:ln w="57150" cap="flat" cmpd="sng" algn="ctr">
              <a:solidFill>
                <a:srgbClr val="ABB41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Verdana"/>
                <a:ea typeface="ＭＳ Ｐゴシック"/>
                <a:cs typeface="Arial"/>
              </a:endParaRPr>
            </a:p>
          </p:txBody>
        </p:sp>
      </p:grpSp>
      <p:grpSp>
        <p:nvGrpSpPr>
          <p:cNvPr id="23" name="Group 168"/>
          <p:cNvGrpSpPr/>
          <p:nvPr/>
        </p:nvGrpSpPr>
        <p:grpSpPr>
          <a:xfrm>
            <a:off x="6477000" y="2590800"/>
            <a:ext cx="1504101" cy="1590675"/>
            <a:chOff x="6387559" y="2933700"/>
            <a:chExt cx="1504101" cy="1590675"/>
          </a:xfrm>
        </p:grpSpPr>
        <p:grpSp>
          <p:nvGrpSpPr>
            <p:cNvPr id="24" name="Group 169"/>
            <p:cNvGrpSpPr/>
            <p:nvPr/>
          </p:nvGrpSpPr>
          <p:grpSpPr>
            <a:xfrm>
              <a:off x="6387559" y="2933700"/>
              <a:ext cx="1110265" cy="533400"/>
              <a:chOff x="6640902" y="1295400"/>
              <a:chExt cx="1110265" cy="533400"/>
            </a:xfrm>
          </p:grpSpPr>
          <p:sp>
            <p:nvSpPr>
              <p:cNvPr id="172" name="Oval 171"/>
              <p:cNvSpPr/>
              <p:nvPr/>
            </p:nvSpPr>
            <p:spPr>
              <a:xfrm>
                <a:off x="7239000" y="1295400"/>
                <a:ext cx="512167" cy="533400"/>
              </a:xfrm>
              <a:prstGeom prst="ellipse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sp>
            <p:nvSpPr>
              <p:cNvPr id="173" name="Rectangle 172"/>
              <p:cNvSpPr/>
              <p:nvPr/>
            </p:nvSpPr>
            <p:spPr>
              <a:xfrm>
                <a:off x="6640902" y="1371600"/>
                <a:ext cx="142771" cy="76200"/>
              </a:xfrm>
              <a:prstGeom prst="rect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6648554" y="1676400"/>
                <a:ext cx="142771" cy="76200"/>
              </a:xfrm>
              <a:prstGeom prst="rect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6783673" y="1295400"/>
                <a:ext cx="737505" cy="533400"/>
              </a:xfrm>
              <a:prstGeom prst="rect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ＭＳ Ｐゴシック"/>
                    <a:cs typeface="Aharoni" panose="02010803020104030203" pitchFamily="2" charset="-79"/>
                  </a:rPr>
                  <a:t>SIM</a:t>
                </a:r>
              </a:p>
            </p:txBody>
          </p:sp>
        </p:grpSp>
        <p:sp>
          <p:nvSpPr>
            <p:cNvPr id="171" name="Freeform 170"/>
            <p:cNvSpPr/>
            <p:nvPr/>
          </p:nvSpPr>
          <p:spPr>
            <a:xfrm>
              <a:off x="7467017" y="3180070"/>
              <a:ext cx="424643" cy="1344305"/>
            </a:xfrm>
            <a:custGeom>
              <a:avLst/>
              <a:gdLst>
                <a:gd name="connsiteX0" fmla="*/ 0 w 302886"/>
                <a:gd name="connsiteY0" fmla="*/ 0 h 866775"/>
                <a:gd name="connsiteX1" fmla="*/ 295275 w 302886"/>
                <a:gd name="connsiteY1" fmla="*/ 247650 h 866775"/>
                <a:gd name="connsiteX2" fmla="*/ 219075 w 302886"/>
                <a:gd name="connsiteY2" fmla="*/ 638175 h 866775"/>
                <a:gd name="connsiteX3" fmla="*/ 257175 w 302886"/>
                <a:gd name="connsiteY3" fmla="*/ 866775 h 866775"/>
                <a:gd name="connsiteX0" fmla="*/ 0 w 267236"/>
                <a:gd name="connsiteY0" fmla="*/ 0 h 866775"/>
                <a:gd name="connsiteX1" fmla="*/ 257175 w 267236"/>
                <a:gd name="connsiteY1" fmla="*/ 133350 h 866775"/>
                <a:gd name="connsiteX2" fmla="*/ 219075 w 267236"/>
                <a:gd name="connsiteY2" fmla="*/ 638175 h 866775"/>
                <a:gd name="connsiteX3" fmla="*/ 257175 w 267236"/>
                <a:gd name="connsiteY3" fmla="*/ 866775 h 866775"/>
                <a:gd name="connsiteX0" fmla="*/ 0 w 267236"/>
                <a:gd name="connsiteY0" fmla="*/ 594 h 867369"/>
                <a:gd name="connsiteX1" fmla="*/ 257175 w 267236"/>
                <a:gd name="connsiteY1" fmla="*/ 133944 h 867369"/>
                <a:gd name="connsiteX2" fmla="*/ 219075 w 267236"/>
                <a:gd name="connsiteY2" fmla="*/ 638769 h 867369"/>
                <a:gd name="connsiteX3" fmla="*/ 257175 w 267236"/>
                <a:gd name="connsiteY3" fmla="*/ 867369 h 867369"/>
                <a:gd name="connsiteX0" fmla="*/ 0 w 413550"/>
                <a:gd name="connsiteY0" fmla="*/ 594 h 867369"/>
                <a:gd name="connsiteX1" fmla="*/ 409575 w 413550"/>
                <a:gd name="connsiteY1" fmla="*/ 133944 h 867369"/>
                <a:gd name="connsiteX2" fmla="*/ 219075 w 413550"/>
                <a:gd name="connsiteY2" fmla="*/ 638769 h 867369"/>
                <a:gd name="connsiteX3" fmla="*/ 257175 w 413550"/>
                <a:gd name="connsiteY3" fmla="*/ 867369 h 867369"/>
                <a:gd name="connsiteX0" fmla="*/ 0 w 434273"/>
                <a:gd name="connsiteY0" fmla="*/ 1280 h 868055"/>
                <a:gd name="connsiteX1" fmla="*/ 409575 w 434273"/>
                <a:gd name="connsiteY1" fmla="*/ 134630 h 868055"/>
                <a:gd name="connsiteX2" fmla="*/ 390525 w 434273"/>
                <a:gd name="connsiteY2" fmla="*/ 791855 h 868055"/>
                <a:gd name="connsiteX3" fmla="*/ 257175 w 434273"/>
                <a:gd name="connsiteY3" fmla="*/ 868055 h 868055"/>
                <a:gd name="connsiteX0" fmla="*/ 0 w 434273"/>
                <a:gd name="connsiteY0" fmla="*/ 1280 h 1344305"/>
                <a:gd name="connsiteX1" fmla="*/ 409575 w 434273"/>
                <a:gd name="connsiteY1" fmla="*/ 134630 h 1344305"/>
                <a:gd name="connsiteX2" fmla="*/ 390525 w 434273"/>
                <a:gd name="connsiteY2" fmla="*/ 791855 h 1344305"/>
                <a:gd name="connsiteX3" fmla="*/ 400050 w 434273"/>
                <a:gd name="connsiteY3" fmla="*/ 1344305 h 1344305"/>
                <a:gd name="connsiteX0" fmla="*/ 0 w 424643"/>
                <a:gd name="connsiteY0" fmla="*/ 1280 h 1344305"/>
                <a:gd name="connsiteX1" fmla="*/ 409575 w 424643"/>
                <a:gd name="connsiteY1" fmla="*/ 134630 h 1344305"/>
                <a:gd name="connsiteX2" fmla="*/ 342900 w 424643"/>
                <a:gd name="connsiteY2" fmla="*/ 791855 h 1344305"/>
                <a:gd name="connsiteX3" fmla="*/ 400050 w 424643"/>
                <a:gd name="connsiteY3" fmla="*/ 1344305 h 134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643" h="1344305">
                  <a:moveTo>
                    <a:pt x="0" y="1280"/>
                  </a:moveTo>
                  <a:cubicBezTo>
                    <a:pt x="157956" y="-4276"/>
                    <a:pt x="352425" y="2868"/>
                    <a:pt x="409575" y="134630"/>
                  </a:cubicBezTo>
                  <a:cubicBezTo>
                    <a:pt x="466725" y="266392"/>
                    <a:pt x="342900" y="669618"/>
                    <a:pt x="342900" y="791855"/>
                  </a:cubicBezTo>
                  <a:cubicBezTo>
                    <a:pt x="342900" y="914092"/>
                    <a:pt x="377825" y="1281599"/>
                    <a:pt x="400050" y="1344305"/>
                  </a:cubicBezTo>
                </a:path>
              </a:pathLst>
            </a:custGeom>
            <a:noFill/>
            <a:ln w="57150" cap="flat" cmpd="sng" algn="ctr">
              <a:solidFill>
                <a:srgbClr val="ABB41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Verdana"/>
                <a:ea typeface="ＭＳ Ｐゴシック"/>
                <a:cs typeface="Arial"/>
              </a:endParaRPr>
            </a:p>
          </p:txBody>
        </p:sp>
      </p:grpSp>
      <p:sp>
        <p:nvSpPr>
          <p:cNvPr id="176" name="Rectangle 175"/>
          <p:cNvSpPr/>
          <p:nvPr/>
        </p:nvSpPr>
        <p:spPr>
          <a:xfrm>
            <a:off x="6985656" y="5747265"/>
            <a:ext cx="1701144" cy="656973"/>
          </a:xfrm>
          <a:prstGeom prst="rect">
            <a:avLst/>
          </a:prstGeom>
          <a:solidFill>
            <a:srgbClr val="AFBC1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Verdana"/>
                <a:ea typeface="ＭＳ Ｐゴシック"/>
                <a:cs typeface="Arial"/>
              </a:rPr>
              <a:t>Kind/JKind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Verdana"/>
                <a:ea typeface="ＭＳ Ｐゴシック"/>
                <a:cs typeface="Arial"/>
              </a:rPr>
              <a:t>Model Checker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Verdana"/>
              <a:ea typeface="ＭＳ Ｐゴシック"/>
              <a:cs typeface="Arial"/>
            </a:endParaRPr>
          </a:p>
        </p:txBody>
      </p:sp>
      <p:grpSp>
        <p:nvGrpSpPr>
          <p:cNvPr id="25" name="Group 176"/>
          <p:cNvGrpSpPr/>
          <p:nvPr/>
        </p:nvGrpSpPr>
        <p:grpSpPr>
          <a:xfrm>
            <a:off x="6477000" y="3200400"/>
            <a:ext cx="1288220" cy="1000126"/>
            <a:chOff x="6387559" y="2933700"/>
            <a:chExt cx="1288220" cy="1000126"/>
          </a:xfrm>
        </p:grpSpPr>
        <p:grpSp>
          <p:nvGrpSpPr>
            <p:cNvPr id="26" name="Group 177"/>
            <p:cNvGrpSpPr/>
            <p:nvPr/>
          </p:nvGrpSpPr>
          <p:grpSpPr>
            <a:xfrm>
              <a:off x="6387559" y="2933700"/>
              <a:ext cx="1110265" cy="533400"/>
              <a:chOff x="6640902" y="1295400"/>
              <a:chExt cx="1110265" cy="533400"/>
            </a:xfrm>
          </p:grpSpPr>
          <p:sp>
            <p:nvSpPr>
              <p:cNvPr id="180" name="Oval 179"/>
              <p:cNvSpPr/>
              <p:nvPr/>
            </p:nvSpPr>
            <p:spPr>
              <a:xfrm>
                <a:off x="7239000" y="1295400"/>
                <a:ext cx="512167" cy="533400"/>
              </a:xfrm>
              <a:prstGeom prst="ellipse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6640902" y="1371600"/>
                <a:ext cx="142771" cy="76200"/>
              </a:xfrm>
              <a:prstGeom prst="rect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sp>
            <p:nvSpPr>
              <p:cNvPr id="182" name="Rectangle 181"/>
              <p:cNvSpPr/>
              <p:nvPr/>
            </p:nvSpPr>
            <p:spPr>
              <a:xfrm>
                <a:off x="6648554" y="1676400"/>
                <a:ext cx="142771" cy="76200"/>
              </a:xfrm>
              <a:prstGeom prst="rect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Verdana"/>
                  <a:ea typeface="ＭＳ Ｐゴシック"/>
                  <a:cs typeface="Arial"/>
                </a:endParaRPr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6783673" y="1295400"/>
                <a:ext cx="737505" cy="533400"/>
              </a:xfrm>
              <a:prstGeom prst="rect">
                <a:avLst/>
              </a:prstGeom>
              <a:solidFill>
                <a:srgbClr val="AFBC1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w Cen MT" panose="020B0602020104020603" pitchFamily="34" charset="0"/>
                    <a:ea typeface="ＭＳ Ｐゴシック"/>
                    <a:cs typeface="Arial"/>
                  </a:rPr>
                  <a:t>TCG</a:t>
                </a:r>
              </a:p>
            </p:txBody>
          </p:sp>
        </p:grpSp>
        <p:sp>
          <p:nvSpPr>
            <p:cNvPr id="179" name="Freeform 178"/>
            <p:cNvSpPr/>
            <p:nvPr/>
          </p:nvSpPr>
          <p:spPr>
            <a:xfrm>
              <a:off x="7467017" y="3180964"/>
              <a:ext cx="208762" cy="752862"/>
            </a:xfrm>
            <a:custGeom>
              <a:avLst/>
              <a:gdLst>
                <a:gd name="connsiteX0" fmla="*/ 0 w 302886"/>
                <a:gd name="connsiteY0" fmla="*/ 0 h 866775"/>
                <a:gd name="connsiteX1" fmla="*/ 295275 w 302886"/>
                <a:gd name="connsiteY1" fmla="*/ 247650 h 866775"/>
                <a:gd name="connsiteX2" fmla="*/ 219075 w 302886"/>
                <a:gd name="connsiteY2" fmla="*/ 638175 h 866775"/>
                <a:gd name="connsiteX3" fmla="*/ 257175 w 302886"/>
                <a:gd name="connsiteY3" fmla="*/ 866775 h 866775"/>
                <a:gd name="connsiteX0" fmla="*/ 0 w 267236"/>
                <a:gd name="connsiteY0" fmla="*/ 0 h 866775"/>
                <a:gd name="connsiteX1" fmla="*/ 257175 w 267236"/>
                <a:gd name="connsiteY1" fmla="*/ 133350 h 866775"/>
                <a:gd name="connsiteX2" fmla="*/ 219075 w 267236"/>
                <a:gd name="connsiteY2" fmla="*/ 638175 h 866775"/>
                <a:gd name="connsiteX3" fmla="*/ 257175 w 267236"/>
                <a:gd name="connsiteY3" fmla="*/ 866775 h 866775"/>
                <a:gd name="connsiteX0" fmla="*/ 0 w 267236"/>
                <a:gd name="connsiteY0" fmla="*/ 594 h 867369"/>
                <a:gd name="connsiteX1" fmla="*/ 257175 w 267236"/>
                <a:gd name="connsiteY1" fmla="*/ 133944 h 867369"/>
                <a:gd name="connsiteX2" fmla="*/ 219075 w 267236"/>
                <a:gd name="connsiteY2" fmla="*/ 638769 h 867369"/>
                <a:gd name="connsiteX3" fmla="*/ 257175 w 267236"/>
                <a:gd name="connsiteY3" fmla="*/ 867369 h 867369"/>
                <a:gd name="connsiteX0" fmla="*/ 0 w 262756"/>
                <a:gd name="connsiteY0" fmla="*/ 387 h 867162"/>
                <a:gd name="connsiteX1" fmla="*/ 257175 w 262756"/>
                <a:gd name="connsiteY1" fmla="*/ 133737 h 867162"/>
                <a:gd name="connsiteX2" fmla="*/ 183110 w 262756"/>
                <a:gd name="connsiteY2" fmla="*/ 505212 h 867162"/>
                <a:gd name="connsiteX3" fmla="*/ 257175 w 262756"/>
                <a:gd name="connsiteY3" fmla="*/ 867162 h 867162"/>
                <a:gd name="connsiteX0" fmla="*/ 0 w 262756"/>
                <a:gd name="connsiteY0" fmla="*/ 387 h 752862"/>
                <a:gd name="connsiteX1" fmla="*/ 257175 w 262756"/>
                <a:gd name="connsiteY1" fmla="*/ 133737 h 752862"/>
                <a:gd name="connsiteX2" fmla="*/ 183110 w 262756"/>
                <a:gd name="connsiteY2" fmla="*/ 505212 h 752862"/>
                <a:gd name="connsiteX3" fmla="*/ 197233 w 262756"/>
                <a:gd name="connsiteY3" fmla="*/ 752862 h 752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756" h="752862">
                  <a:moveTo>
                    <a:pt x="0" y="387"/>
                  </a:moveTo>
                  <a:cubicBezTo>
                    <a:pt x="157956" y="-5169"/>
                    <a:pt x="226657" y="49600"/>
                    <a:pt x="257175" y="133737"/>
                  </a:cubicBezTo>
                  <a:cubicBezTo>
                    <a:pt x="287693" y="217874"/>
                    <a:pt x="183110" y="382975"/>
                    <a:pt x="183110" y="505212"/>
                  </a:cubicBezTo>
                  <a:cubicBezTo>
                    <a:pt x="183110" y="627449"/>
                    <a:pt x="175008" y="690156"/>
                    <a:pt x="197233" y="752862"/>
                  </a:cubicBezTo>
                </a:path>
              </a:pathLst>
            </a:custGeom>
            <a:noFill/>
            <a:ln w="57150" cap="flat" cmpd="sng" algn="ctr">
              <a:solidFill>
                <a:srgbClr val="ABB41D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Verdana"/>
                <a:ea typeface="ＭＳ Ｐゴシック"/>
                <a:cs typeface="Arial"/>
              </a:endParaRPr>
            </a:p>
          </p:txBody>
        </p:sp>
      </p:grpSp>
      <p:sp>
        <p:nvSpPr>
          <p:cNvPr id="95" name="Rectangle 94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18240"/>
            <a:ext cx="1848160" cy="544245"/>
          </a:xfrm>
          <a:prstGeom prst="rect">
            <a:avLst/>
          </a:prstGeom>
        </p:spPr>
      </p:pic>
      <p:sp>
        <p:nvSpPr>
          <p:cNvPr id="103" name="Rectangle 102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2684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717423"/>
            <a:ext cx="8382000" cy="4759577"/>
          </a:xfrm>
        </p:spPr>
        <p:txBody>
          <a:bodyPr/>
          <a:lstStyle/>
          <a:p>
            <a:r>
              <a:rPr lang="en-US" dirty="0"/>
              <a:t>Each component has a contract consisting of assumptions and guarantees</a:t>
            </a:r>
          </a:p>
          <a:p>
            <a:pPr lvl="1"/>
            <a:r>
              <a:rPr lang="en-US" dirty="0"/>
              <a:t>Assumptions: Constraints over what a component expects </a:t>
            </a:r>
            <a:r>
              <a:rPr lang="en-US" dirty="0" smtClean="0"/>
              <a:t>from </a:t>
            </a:r>
            <a:r>
              <a:rPr lang="en-US" dirty="0"/>
              <a:t>its environment</a:t>
            </a:r>
          </a:p>
          <a:p>
            <a:pPr lvl="1"/>
            <a:r>
              <a:rPr lang="en-US" dirty="0"/>
              <a:t>Guarantees: Constraints over how a component behaves in response to its </a:t>
            </a:r>
            <a:r>
              <a:rPr lang="en-US" dirty="0" smtClean="0"/>
              <a:t>environment (requirements)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AGREE:</a:t>
            </a:r>
            <a:br>
              <a:rPr lang="en-US" dirty="0" smtClean="0"/>
            </a:br>
            <a:r>
              <a:rPr lang="en-US" sz="2000" dirty="0" smtClean="0"/>
              <a:t>Assume Guarantee</a:t>
            </a:r>
            <a:br>
              <a:rPr lang="en-US" sz="2000" dirty="0" smtClean="0"/>
            </a:br>
            <a:r>
              <a:rPr lang="en-US" sz="2000" dirty="0" smtClean="0"/>
              <a:t>Reasoning Environment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654" y="2883264"/>
            <a:ext cx="6627091" cy="37807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00200" y="3810000"/>
            <a:ext cx="4953000" cy="838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34654" y="4708525"/>
            <a:ext cx="6627091" cy="2073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9494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95400"/>
            <a:ext cx="8458200" cy="441959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285750" indent="-285750"/>
            <a:r>
              <a:rPr lang="en-US" dirty="0" smtClean="0"/>
              <a:t>Define faults on component output</a:t>
            </a:r>
          </a:p>
          <a:p>
            <a:pPr marL="285750" indent="-285750"/>
            <a:r>
              <a:rPr lang="en-US" dirty="0" smtClean="0"/>
              <a:t>Behavioral propagation through AGREE contracts</a:t>
            </a:r>
          </a:p>
          <a:p>
            <a:pPr marL="285750" indent="-285750"/>
            <a:r>
              <a:rPr lang="en-US" dirty="0" smtClean="0"/>
              <a:t>Independence or dependence between faults can be captured</a:t>
            </a:r>
          </a:p>
          <a:p>
            <a:pPr marL="285750" indent="-285750"/>
            <a:r>
              <a:rPr lang="en-US" dirty="0" smtClean="0"/>
              <a:t>Generates output such as: </a:t>
            </a:r>
          </a:p>
          <a:p>
            <a:pPr marL="738187" lvl="1" indent="-285750"/>
            <a:r>
              <a:rPr lang="en-US" dirty="0" smtClean="0"/>
              <a:t>Counterexamples showing active faults and how they propagate</a:t>
            </a:r>
          </a:p>
          <a:p>
            <a:pPr marL="738187" lvl="1" indent="-285750"/>
            <a:r>
              <a:rPr lang="en-US" dirty="0" smtClean="0"/>
              <a:t>Probabilistic analysis using a probability threshold</a:t>
            </a:r>
          </a:p>
          <a:p>
            <a:pPr marL="738187" lvl="1" indent="-285750"/>
            <a:r>
              <a:rPr lang="en-US" dirty="0" smtClean="0"/>
              <a:t>Minimal Cut Sets in terms of cardinality or probability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Annex for AADL </a:t>
            </a:r>
            <a:endParaRPr lang="en-US" sz="2200" dirty="0"/>
          </a:p>
        </p:txBody>
      </p:sp>
      <p:sp>
        <p:nvSpPr>
          <p:cNvPr id="4" name="Rectangle 3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33073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Annex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Safety syntax is incorporated as an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annex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of AADL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2057400"/>
            <a:ext cx="7162800" cy="403227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6477000"/>
            <a:ext cx="23622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326"/>
            <a:ext cx="1524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27" y="2491230"/>
            <a:ext cx="5877745" cy="33532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24000" y="4038600"/>
            <a:ext cx="5943600" cy="1600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18240"/>
            <a:ext cx="1848160" cy="5442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7728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Wrap nominal component output in fault</a:t>
            </a:r>
          </a:p>
          <a:p>
            <a:r>
              <a:rPr lang="en-US" dirty="0" smtClean="0"/>
              <a:t>Watch behavior of system through AGREE contracts when fault is activated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Failure </a:t>
            </a:r>
            <a:r>
              <a:rPr lang="en-US" dirty="0" smtClean="0"/>
              <a:t>Propagation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86D9C8-0CDB-4BF0-99FF-D7490CE4EFA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65485" y="2800618"/>
            <a:ext cx="914400" cy="9144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65044" y="2823007"/>
            <a:ext cx="914400" cy="9144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25769" y="2433919"/>
            <a:ext cx="158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01694" y="244200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B</a:t>
            </a:r>
            <a:endParaRPr lang="en-US" dirty="0"/>
          </a:p>
        </p:txBody>
      </p:sp>
      <p:cxnSp>
        <p:nvCxnSpPr>
          <p:cNvPr id="10" name="Straight Arrow Connector 9"/>
          <p:cNvCxnSpPr>
            <a:stCxn id="6" idx="3"/>
          </p:cNvCxnSpPr>
          <p:nvPr/>
        </p:nvCxnSpPr>
        <p:spPr>
          <a:xfrm>
            <a:off x="4079885" y="3257818"/>
            <a:ext cx="2590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79884" y="292216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288017" y="292216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170376" y="5109007"/>
            <a:ext cx="914400" cy="9144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6669935" y="5131396"/>
            <a:ext cx="914400" cy="9144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830660" y="4742308"/>
            <a:ext cx="158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A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335860" y="4750396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Component B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13" idx="3"/>
          </p:cNvCxnSpPr>
          <p:nvPr/>
        </p:nvCxnSpPr>
        <p:spPr>
          <a:xfrm>
            <a:off x="4084776" y="5566207"/>
            <a:ext cx="2590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84775" y="523055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Out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292908" y="523055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02904" y="3106830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Nominal Behavior: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5398" y="541521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Fault Behavior: 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4964361" y="5142685"/>
            <a:ext cx="914400" cy="9144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Fault</a:t>
            </a:r>
            <a:endParaRPr lang="en-US" sz="1400" dirty="0"/>
          </a:p>
        </p:txBody>
      </p:sp>
      <p:sp>
        <p:nvSpPr>
          <p:cNvPr id="23" name="Rectangle 22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67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MBSA Steps: WBS and AADL/AGREE/Safety Annex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8960" y="1700523"/>
            <a:ext cx="175260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605333"/>
            <a:ext cx="190500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38548"/>
            <a:ext cx="2112948" cy="1384995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046632"/>
            <a:ext cx="1599488" cy="1600438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2215909"/>
            <a:ext cx="430992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3161933"/>
            <a:ext cx="4309928" cy="30777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2443774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909419"/>
            <a:ext cx="4263817" cy="95410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with the backend model checker, using counterexamples and </a:t>
            </a:r>
            <a:r>
              <a:rPr lang="en-US" sz="1400" dirty="0"/>
              <a:t>minimal cut sets produced </a:t>
            </a:r>
            <a:r>
              <a:rPr lang="en-US" sz="1400" dirty="0" smtClean="0"/>
              <a:t>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2422763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476365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739129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5204936"/>
            <a:ext cx="4263817" cy="738664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863526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5204936"/>
            <a:ext cx="203674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574268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647070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5885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00200"/>
            <a:ext cx="6494865" cy="421656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 in AADL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70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MBSA Steps: WBS and AADL/AGREE/Safety Annex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8960" y="1700523"/>
            <a:ext cx="175260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605333"/>
            <a:ext cx="190500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44005"/>
            <a:ext cx="2112948" cy="1384995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046632"/>
            <a:ext cx="1599488" cy="1600438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2215909"/>
            <a:ext cx="430992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3161933"/>
            <a:ext cx="4309928" cy="30777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2443774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909419"/>
            <a:ext cx="4263817" cy="95410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with the backend model checker, using counterexamples and </a:t>
            </a:r>
            <a:r>
              <a:rPr lang="en-US" sz="1400" dirty="0"/>
              <a:t>minimal cut sets produced </a:t>
            </a:r>
            <a:r>
              <a:rPr lang="en-US" sz="1400" dirty="0" smtClean="0"/>
              <a:t>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2422763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476365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739129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5204936"/>
            <a:ext cx="4263817" cy="738664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863526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5204936"/>
            <a:ext cx="203674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574268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647070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3267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Level Safety Properties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09800"/>
            <a:ext cx="7712651" cy="3181468"/>
          </a:xfrm>
        </p:spPr>
      </p:pic>
      <p:sp>
        <p:nvSpPr>
          <p:cNvPr id="8" name="Rectangle 7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94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Level Safety Properties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200"/>
            <a:ext cx="9052994" cy="1789129"/>
          </a:xfrm>
        </p:spPr>
      </p:pic>
      <p:sp>
        <p:nvSpPr>
          <p:cNvPr id="7" name="Rectangle 6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12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7" y="1752600"/>
            <a:ext cx="8252355" cy="4000666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Nominal Model Analysis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96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MBSA Steps: WBS and AADL/AGREE/Safety Annex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8960" y="1700523"/>
            <a:ext cx="175260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605333"/>
            <a:ext cx="190500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38548"/>
            <a:ext cx="2112948" cy="1384995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046632"/>
            <a:ext cx="1599488" cy="1600438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2215909"/>
            <a:ext cx="4309928" cy="523220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3161933"/>
            <a:ext cx="4309928" cy="30777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2443774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909419"/>
            <a:ext cx="4263817" cy="95410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with the backend model checker, using counterexamples and </a:t>
            </a:r>
            <a:r>
              <a:rPr lang="en-US" sz="1400" dirty="0"/>
              <a:t>minimal cut sets produced </a:t>
            </a:r>
            <a:r>
              <a:rPr lang="en-US" sz="1400" dirty="0" smtClean="0"/>
              <a:t>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2422763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476365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739129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5204936"/>
            <a:ext cx="4263817" cy="738664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863526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5204936"/>
            <a:ext cx="203674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574268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647070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01714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Valves</a:t>
            </a:r>
          </a:p>
          <a:p>
            <a:pPr lvl="1"/>
            <a:r>
              <a:rPr lang="en-US" dirty="0"/>
              <a:t>Stuck open</a:t>
            </a:r>
          </a:p>
          <a:p>
            <a:pPr lvl="1"/>
            <a:r>
              <a:rPr lang="en-US" dirty="0"/>
              <a:t>Stuck closed</a:t>
            </a:r>
          </a:p>
          <a:p>
            <a:pPr lvl="1"/>
            <a:r>
              <a:rPr lang="en-US" dirty="0"/>
              <a:t>Stuck </a:t>
            </a:r>
            <a:r>
              <a:rPr lang="en-US" dirty="0" err="1" smtClean="0"/>
              <a:t>nondeterministically</a:t>
            </a:r>
            <a:endParaRPr lang="en-US" dirty="0" smtClean="0"/>
          </a:p>
          <a:p>
            <a:r>
              <a:rPr lang="en-US" dirty="0" smtClean="0"/>
              <a:t>Sensors</a:t>
            </a:r>
          </a:p>
          <a:p>
            <a:pPr lvl="1"/>
            <a:r>
              <a:rPr lang="en-US" dirty="0" smtClean="0"/>
              <a:t>Output inverted</a:t>
            </a:r>
          </a:p>
          <a:p>
            <a:r>
              <a:rPr lang="en-US" dirty="0" smtClean="0"/>
              <a:t>Pumps</a:t>
            </a:r>
          </a:p>
          <a:p>
            <a:pPr lvl="1"/>
            <a:r>
              <a:rPr lang="en-US" dirty="0" smtClean="0"/>
              <a:t>Output zero</a:t>
            </a:r>
          </a:p>
          <a:p>
            <a:r>
              <a:rPr lang="en-US" dirty="0"/>
              <a:t>Calculating </a:t>
            </a:r>
            <a:r>
              <a:rPr lang="en-US" dirty="0" smtClean="0"/>
              <a:t>components and Gates</a:t>
            </a:r>
          </a:p>
          <a:p>
            <a:pPr lvl="1"/>
            <a:r>
              <a:rPr lang="en-US" dirty="0" smtClean="0"/>
              <a:t>Erroneous data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Faults on Component Outputs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3400" y="64008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905000"/>
            <a:ext cx="8819430" cy="144782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Fault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29000" y="3886200"/>
            <a:ext cx="21336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Selector Valve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362200" y="4114800"/>
            <a:ext cx="1066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562600" y="4114800"/>
            <a:ext cx="838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562600" y="4648200"/>
            <a:ext cx="8382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362200" y="4648200"/>
            <a:ext cx="1066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7909" y="393013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Blue pump in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31852" y="4421059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Green pump in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0" y="3662116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Blue line out</a:t>
            </a:r>
          </a:p>
          <a:p>
            <a:r>
              <a:rPr lang="en-US" dirty="0" smtClean="0"/>
              <a:t>(blue_select_out)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0" y="4482503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Green line out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5429250" y="3984367"/>
            <a:ext cx="266700" cy="26086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934200" y="1752600"/>
            <a:ext cx="2133600" cy="609600"/>
          </a:xfrm>
          <a:prstGeom prst="ellipse">
            <a:avLst/>
          </a:prstGeom>
          <a:noFill/>
          <a:ln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56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85" y="2209800"/>
            <a:ext cx="8471992" cy="990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Node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533400" y="1524000"/>
            <a:ext cx="8229600" cy="396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33363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54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  <a:latin typeface="+mn-lt"/>
                <a:cs typeface="+mn-cs"/>
              </a:defRPr>
            </a:lvl2pPr>
            <a:lvl3pPr marL="1142944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rgbClr val="FFFFFF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FFFFFF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kern="0" dirty="0" smtClean="0"/>
              <a:t>Fault node defines behavior of fault when activated</a:t>
            </a:r>
          </a:p>
          <a:p>
            <a:endParaRPr lang="en-US" kern="0" dirty="0"/>
          </a:p>
          <a:p>
            <a:endParaRPr lang="en-US" kern="0" dirty="0" smtClean="0"/>
          </a:p>
          <a:p>
            <a:endParaRPr lang="en-US" kern="0" dirty="0"/>
          </a:p>
          <a:p>
            <a:endParaRPr lang="en-US" kern="0" dirty="0" smtClean="0"/>
          </a:p>
          <a:p>
            <a:endParaRPr lang="en-US" kern="0" dirty="0"/>
          </a:p>
          <a:p>
            <a:endParaRPr lang="en-US" kern="0" dirty="0" smtClean="0"/>
          </a:p>
          <a:p>
            <a:endParaRPr lang="en-US" kern="0" dirty="0"/>
          </a:p>
          <a:p>
            <a:endParaRPr lang="en-US" kern="0" dirty="0" smtClean="0"/>
          </a:p>
          <a:p>
            <a:r>
              <a:rPr lang="en-US" kern="0" dirty="0" smtClean="0"/>
              <a:t>Commonly used fault nodes held in library</a:t>
            </a:r>
          </a:p>
          <a:p>
            <a:r>
              <a:rPr lang="en-US" kern="0" dirty="0" smtClean="0"/>
              <a:t>Users can define nodes specific to a domain</a:t>
            </a:r>
            <a:endParaRPr lang="en-US" kern="0" dirty="0"/>
          </a:p>
        </p:txBody>
      </p:sp>
      <p:sp>
        <p:nvSpPr>
          <p:cNvPr id="7" name="Rectangle 6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95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MBSA Steps: WBS and AADL/AGREE/Safety Annex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8960" y="1700523"/>
            <a:ext cx="175260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605333"/>
            <a:ext cx="190500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38548"/>
            <a:ext cx="2112948" cy="1384995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046632"/>
            <a:ext cx="1599488" cy="1600438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2215909"/>
            <a:ext cx="4309928" cy="523220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3161933"/>
            <a:ext cx="4309928" cy="307777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2443774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909419"/>
            <a:ext cx="4263817" cy="954107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with the backend model checker, using counterexamples and </a:t>
            </a:r>
            <a:r>
              <a:rPr lang="en-US" sz="1400" dirty="0"/>
              <a:t>minimal cut sets produced </a:t>
            </a:r>
            <a:r>
              <a:rPr lang="en-US" sz="1400" dirty="0" smtClean="0"/>
              <a:t>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2422763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476365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739129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5204936"/>
            <a:ext cx="4263817" cy="738664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863526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5204936"/>
            <a:ext cx="203674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574268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647070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5938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Specify Fault Hypothesis Statement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2"/>
          </p:nvPr>
        </p:nvSpPr>
        <p:spPr>
          <a:xfrm>
            <a:off x="485674" y="1447800"/>
            <a:ext cx="8458200" cy="44195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Located in system implementation</a:t>
            </a:r>
          </a:p>
          <a:p>
            <a:pPr marL="0" indent="0">
              <a:buNone/>
            </a:pPr>
            <a:endParaRPr lang="en-US" dirty="0" smtClean="0"/>
          </a:p>
          <a:p>
            <a:pPr marL="285750" indent="-285750"/>
            <a:r>
              <a:rPr lang="en-US" dirty="0" smtClean="0"/>
              <a:t>Max N Fault Analysis</a:t>
            </a:r>
          </a:p>
          <a:p>
            <a:pPr marL="285750" indent="-285750"/>
            <a:endParaRPr lang="en-US" dirty="0"/>
          </a:p>
          <a:p>
            <a:pPr marL="285750" indent="-285750"/>
            <a:endParaRPr lang="en-US" dirty="0" smtClean="0"/>
          </a:p>
          <a:p>
            <a:pPr marL="285750" indent="-285750"/>
            <a:endParaRPr lang="en-US" dirty="0"/>
          </a:p>
          <a:p>
            <a:pPr marL="285750" indent="-285750"/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285750" indent="-285750"/>
            <a:r>
              <a:rPr lang="en-US" dirty="0" smtClean="0"/>
              <a:t>Probabilistic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610072"/>
            <a:ext cx="3508996" cy="8001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99" y="2590800"/>
            <a:ext cx="2852502" cy="74413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76979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MBSA Steps: WBS and AADL/AGREE/Safety Annex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8960" y="1700523"/>
            <a:ext cx="175260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605333"/>
            <a:ext cx="190500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38548"/>
            <a:ext cx="2112948" cy="1384995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046632"/>
            <a:ext cx="1599488" cy="1600438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2215909"/>
            <a:ext cx="4309928" cy="523220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3161933"/>
            <a:ext cx="4309928" cy="307777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2443774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909419"/>
            <a:ext cx="4263817" cy="954107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with the backend model checker, using counterexamples and minimal cut sets produced 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2422763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476365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739129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5204936"/>
            <a:ext cx="4263817" cy="738664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863526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5204936"/>
            <a:ext cx="203674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574268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647070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14457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Analysis Results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95400"/>
            <a:ext cx="8458200" cy="441959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285750" indent="-285750"/>
            <a:r>
              <a:rPr lang="en-US" dirty="0" smtClean="0"/>
              <a:t>Max 1 Fault Analysis: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0"/>
            <a:ext cx="7714343" cy="3962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48180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52600"/>
            <a:ext cx="8692359" cy="2514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Counterexample 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86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MBSA Steps: WBS and AADL/AGREE/Safety Annex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8960" y="1700523"/>
            <a:ext cx="175260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605333"/>
            <a:ext cx="190500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38548"/>
            <a:ext cx="2112948" cy="1384995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046632"/>
            <a:ext cx="1599488" cy="1600438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2215909"/>
            <a:ext cx="4309928" cy="523220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3161933"/>
            <a:ext cx="4309928" cy="307777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2443774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909419"/>
            <a:ext cx="4263817" cy="954107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with the backend model checker, using counterexamples and </a:t>
            </a:r>
            <a:r>
              <a:rPr lang="en-US" sz="1400" dirty="0"/>
              <a:t>minimal cut sets produced </a:t>
            </a:r>
            <a:r>
              <a:rPr lang="en-US" sz="1400" dirty="0" smtClean="0"/>
              <a:t>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2422763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476365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739129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5204936"/>
            <a:ext cx="4263817" cy="738664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863526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5204936"/>
            <a:ext cx="2036748" cy="52322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574268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647070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3527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Annex 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620125" y="6400800"/>
            <a:ext cx="228600" cy="200055"/>
          </a:xfrm>
        </p:spPr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76400"/>
            <a:ext cx="8458200" cy="15715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2" y="3257436"/>
            <a:ext cx="8331708" cy="4919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641" y="3886200"/>
            <a:ext cx="7184084" cy="9906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895600" y="2483011"/>
            <a:ext cx="152400" cy="1839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43" y="5013613"/>
            <a:ext cx="7015757" cy="7775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254" y="5950013"/>
            <a:ext cx="7011746" cy="65084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8600" y="6172200"/>
            <a:ext cx="1758099" cy="527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18240"/>
            <a:ext cx="1848160" cy="54424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64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MBSA Steps: WBS and AADL/AGREE/Safety Annex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38960" y="1700523"/>
            <a:ext cx="1752601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474" y="1605333"/>
            <a:ext cx="1905000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38548"/>
            <a:ext cx="2112948" cy="1384995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400" dirty="0" smtClean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046632"/>
            <a:ext cx="1599488" cy="1600438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/>
              <a:t>C</a:t>
            </a:r>
            <a:r>
              <a:rPr lang="en-US" sz="1400" dirty="0" smtClean="0"/>
              <a:t>heck that safety requirements are satisfied by the nominal </a:t>
            </a:r>
            <a:r>
              <a:rPr lang="en-US" sz="1400" dirty="0"/>
              <a:t>design </a:t>
            </a:r>
            <a:r>
              <a:rPr lang="en-US" sz="1400" dirty="0" smtClean="0"/>
              <a:t>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671" y="2215909"/>
            <a:ext cx="4309928" cy="523220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400" dirty="0" smtClean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671" y="3161933"/>
            <a:ext cx="4309928" cy="307777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Specify </a:t>
            </a:r>
            <a:r>
              <a:rPr lang="en-US" sz="1400" dirty="0"/>
              <a:t>the fault hypothesis for the </a:t>
            </a:r>
            <a:r>
              <a:rPr lang="en-US" sz="1400" dirty="0" smtClean="0"/>
              <a:t>analysis</a:t>
            </a:r>
            <a:endParaRPr lang="en-US" sz="1400" dirty="0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400088" y="2443774"/>
            <a:ext cx="4579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9670" y="3909419"/>
            <a:ext cx="4263817" cy="954107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Analyze if the safety requirements are satisfied by the design in the presence of faults with the backend model checker, using counterexamples and </a:t>
            </a:r>
            <a:r>
              <a:rPr lang="en-US" sz="1400" dirty="0"/>
              <a:t>minimal cut sets produced </a:t>
            </a:r>
            <a:r>
              <a:rPr lang="en-US" sz="1400" dirty="0" smtClean="0"/>
              <a:t>for diagnosis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H="1">
            <a:off x="4419599" y="2422763"/>
            <a:ext cx="3810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057398" y="3476365"/>
            <a:ext cx="2" cy="41614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057398" y="2739129"/>
            <a:ext cx="3" cy="42280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09670" y="5204936"/>
            <a:ext cx="4263817" cy="738664"/>
          </a:xfrm>
          <a:prstGeom prst="rect">
            <a:avLst/>
          </a:prstGeom>
          <a:noFill/>
          <a:ln w="127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Examine the results to assess the validity of the fault combinations and the fault tolerance level of the system design 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057398" y="4863526"/>
            <a:ext cx="1" cy="3414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934199" y="5204936"/>
            <a:ext cx="2036748" cy="523220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</p:cNvCxnSpPr>
          <p:nvPr/>
        </p:nvCxnSpPr>
        <p:spPr>
          <a:xfrm>
            <a:off x="4373487" y="5574268"/>
            <a:ext cx="256071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914474" y="3647070"/>
            <a:ext cx="0" cy="15578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17635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Design Change Option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95400"/>
            <a:ext cx="8458200" cy="441959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285750" indent="-285750"/>
            <a:r>
              <a:rPr lang="en-US" dirty="0" smtClean="0"/>
              <a:t>Redundancy in the Pedal Sensor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62186"/>
            <a:ext cx="7841031" cy="291941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3400" y="64008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55424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299" y="760995"/>
            <a:ext cx="8229600" cy="503237"/>
          </a:xfrm>
        </p:spPr>
        <p:txBody>
          <a:bodyPr/>
          <a:lstStyle/>
          <a:p>
            <a:r>
              <a:rPr lang="en-US" dirty="0" smtClean="0"/>
              <a:t>Results of Design Change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95400"/>
            <a:ext cx="8458200" cy="4419599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285750" indent="-285750"/>
            <a:r>
              <a:rPr lang="en-US" dirty="0" smtClean="0"/>
              <a:t>Now resilient against this fault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62" y="1981200"/>
            <a:ext cx="7405838" cy="38691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8477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15546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Formal methods is an additional way to add confidence to the development of a complex critical system.</a:t>
            </a:r>
          </a:p>
          <a:p>
            <a:pPr marL="7938" indent="0">
              <a:buNone/>
            </a:pPr>
            <a:endParaRPr lang="en-US" dirty="0" smtClean="0"/>
          </a:p>
          <a:p>
            <a:r>
              <a:rPr lang="en-US" dirty="0" smtClean="0"/>
              <a:t>Model-based safety assessment can take advantage of the formal methods used to provide more information on faulty behavior.</a:t>
            </a:r>
          </a:p>
          <a:p>
            <a:pPr marL="793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16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0229" y="582614"/>
            <a:ext cx="7772400" cy="503237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200"/>
            <a:ext cx="3352799" cy="188594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9" y="4174393"/>
            <a:ext cx="3870462" cy="199780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897" y="1295400"/>
            <a:ext cx="4153016" cy="215863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659" y="3934057"/>
            <a:ext cx="3664084" cy="2342685"/>
          </a:xfrm>
          <a:prstGeom prst="rect">
            <a:avLst/>
          </a:prstGeom>
        </p:spPr>
      </p:pic>
      <p:sp>
        <p:nvSpPr>
          <p:cNvPr id="29" name="Title 2"/>
          <p:cNvSpPr txBox="1">
            <a:spLocks/>
          </p:cNvSpPr>
          <p:nvPr/>
        </p:nvSpPr>
        <p:spPr bwMode="auto">
          <a:xfrm>
            <a:off x="5105400" y="1066800"/>
            <a:ext cx="3167856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1050" kern="0" dirty="0" smtClean="0"/>
              <a:t>Fault Modeling</a:t>
            </a:r>
            <a:endParaRPr lang="en-US" sz="1050" kern="0" dirty="0"/>
          </a:p>
        </p:txBody>
      </p:sp>
      <p:sp>
        <p:nvSpPr>
          <p:cNvPr id="30" name="Title 2"/>
          <p:cNvSpPr txBox="1">
            <a:spLocks/>
          </p:cNvSpPr>
          <p:nvPr/>
        </p:nvSpPr>
        <p:spPr bwMode="auto">
          <a:xfrm>
            <a:off x="609600" y="838200"/>
            <a:ext cx="3167856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1050" kern="0" dirty="0" smtClean="0"/>
              <a:t>MBSA Approach</a:t>
            </a:r>
            <a:endParaRPr lang="en-US" sz="1050" kern="0" dirty="0"/>
          </a:p>
        </p:txBody>
      </p:sp>
      <p:sp>
        <p:nvSpPr>
          <p:cNvPr id="31" name="Title 2"/>
          <p:cNvSpPr txBox="1">
            <a:spLocks/>
          </p:cNvSpPr>
          <p:nvPr/>
        </p:nvSpPr>
        <p:spPr bwMode="auto">
          <a:xfrm>
            <a:off x="478971" y="3810000"/>
            <a:ext cx="3167856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777777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1050" kern="0" dirty="0" smtClean="0"/>
              <a:t>Safety Assessment Process</a:t>
            </a:r>
            <a:endParaRPr lang="en-US" sz="1050" kern="0" dirty="0"/>
          </a:p>
        </p:txBody>
      </p:sp>
      <p:sp>
        <p:nvSpPr>
          <p:cNvPr id="32" name="Rectangle 31"/>
          <p:cNvSpPr/>
          <p:nvPr/>
        </p:nvSpPr>
        <p:spPr>
          <a:xfrm>
            <a:off x="0" y="10542"/>
            <a:ext cx="1986699" cy="43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" y="6248402"/>
            <a:ext cx="1605699" cy="3809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stew_da\Desktop\DLR_presentations\current_work\images\Unbenannt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0"/>
            <a:ext cx="971550" cy="65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8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C_standard_grey">
  <a:themeElements>
    <a:clrScheme name="RC_standard_grey 2">
      <a:dk1>
        <a:srgbClr val="000000"/>
      </a:dk1>
      <a:lt1>
        <a:srgbClr val="FFFFFF"/>
      </a:lt1>
      <a:dk2>
        <a:srgbClr val="D39100"/>
      </a:dk2>
      <a:lt2>
        <a:srgbClr val="F8F8F8"/>
      </a:lt2>
      <a:accent1>
        <a:srgbClr val="ABB41D"/>
      </a:accent1>
      <a:accent2>
        <a:srgbClr val="4A5F1D"/>
      </a:accent2>
      <a:accent3>
        <a:srgbClr val="FFFFFF"/>
      </a:accent3>
      <a:accent4>
        <a:srgbClr val="000000"/>
      </a:accent4>
      <a:accent5>
        <a:srgbClr val="D2D6AB"/>
      </a:accent5>
      <a:accent6>
        <a:srgbClr val="425519"/>
      </a:accent6>
      <a:hlink>
        <a:srgbClr val="63B5E8"/>
      </a:hlink>
      <a:folHlink>
        <a:srgbClr val="0068C6"/>
      </a:folHlink>
    </a:clrScheme>
    <a:fontScheme name="RC_standard_grey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C_standard_grey 1">
        <a:dk1>
          <a:srgbClr val="000000"/>
        </a:dk1>
        <a:lt1>
          <a:srgbClr val="FFFFFF"/>
        </a:lt1>
        <a:dk2>
          <a:srgbClr val="D39100"/>
        </a:dk2>
        <a:lt2>
          <a:srgbClr val="F8F8F8"/>
        </a:lt2>
        <a:accent1>
          <a:srgbClr val="C0C0C0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C_standard_grey 2">
        <a:dk1>
          <a:srgbClr val="000000"/>
        </a:dk1>
        <a:lt1>
          <a:srgbClr val="FFFFFF"/>
        </a:lt1>
        <a:dk2>
          <a:srgbClr val="D39100"/>
        </a:dk2>
        <a:lt2>
          <a:srgbClr val="F8F8F8"/>
        </a:lt2>
        <a:accent1>
          <a:srgbClr val="ABB41D"/>
        </a:accent1>
        <a:accent2>
          <a:srgbClr val="4A5F1D"/>
        </a:accent2>
        <a:accent3>
          <a:srgbClr val="FFFFFF"/>
        </a:accent3>
        <a:accent4>
          <a:srgbClr val="000000"/>
        </a:accent4>
        <a:accent5>
          <a:srgbClr val="D2D6AB"/>
        </a:accent5>
        <a:accent6>
          <a:srgbClr val="425519"/>
        </a:accent6>
        <a:hlink>
          <a:srgbClr val="63B5E8"/>
        </a:hlink>
        <a:folHlink>
          <a:srgbClr val="0068C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RC_presentation_terra_cotta">
  <a:themeElements>
    <a:clrScheme name="Custom 3">
      <a:dk1>
        <a:srgbClr val="000000"/>
      </a:dk1>
      <a:lt1>
        <a:srgbClr val="F8F8F8"/>
      </a:lt1>
      <a:dk2>
        <a:srgbClr val="F8F8F8"/>
      </a:dk2>
      <a:lt2>
        <a:srgbClr val="F8F8F8"/>
      </a:lt2>
      <a:accent1>
        <a:srgbClr val="E4551F"/>
      </a:accent1>
      <a:accent2>
        <a:srgbClr val="EEB10F"/>
      </a:accent2>
      <a:accent3>
        <a:srgbClr val="8B6900"/>
      </a:accent3>
      <a:accent4>
        <a:srgbClr val="AFBC1F"/>
      </a:accent4>
      <a:accent5>
        <a:srgbClr val="007DC5"/>
      </a:accent5>
      <a:accent6>
        <a:srgbClr val="C9C1B8"/>
      </a:accent6>
      <a:hlink>
        <a:srgbClr val="005288"/>
      </a:hlink>
      <a:folHlink>
        <a:srgbClr val="A1958A"/>
      </a:folHlink>
    </a:clrScheme>
    <a:fontScheme name="Custom Design">
      <a:majorFont>
        <a:latin typeface="Verdana"/>
        <a:ea typeface="ＭＳ Ｐゴシック"/>
        <a:cs typeface="Arial"/>
      </a:majorFont>
      <a:minorFont>
        <a:latin typeface="Verdana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D39100"/>
        </a:dk2>
        <a:lt2>
          <a:srgbClr val="F8F8F8"/>
        </a:lt2>
        <a:accent1>
          <a:srgbClr val="C0C0C0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D39100"/>
        </a:dk2>
        <a:lt2>
          <a:srgbClr val="F8F8F8"/>
        </a:lt2>
        <a:accent1>
          <a:srgbClr val="ABB41D"/>
        </a:accent1>
        <a:accent2>
          <a:srgbClr val="4A5F1D"/>
        </a:accent2>
        <a:accent3>
          <a:srgbClr val="FFFFFF"/>
        </a:accent3>
        <a:accent4>
          <a:srgbClr val="000000"/>
        </a:accent4>
        <a:accent5>
          <a:srgbClr val="D2D6AB"/>
        </a:accent5>
        <a:accent6>
          <a:srgbClr val="425519"/>
        </a:accent6>
        <a:hlink>
          <a:srgbClr val="63B5E8"/>
        </a:hlink>
        <a:folHlink>
          <a:srgbClr val="0068C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C_standard_grey 1">
    <a:dk1>
      <a:srgbClr val="000000"/>
    </a:dk1>
    <a:lt1>
      <a:srgbClr val="FFFFFF"/>
    </a:lt1>
    <a:dk2>
      <a:srgbClr val="D39100"/>
    </a:dk2>
    <a:lt2>
      <a:srgbClr val="F8F8F8"/>
    </a:lt2>
    <a:accent1>
      <a:srgbClr val="C0C0C0"/>
    </a:accent1>
    <a:accent2>
      <a:srgbClr val="969696"/>
    </a:accent2>
    <a:accent3>
      <a:srgbClr val="FFFFFF"/>
    </a:accent3>
    <a:accent4>
      <a:srgbClr val="000000"/>
    </a:accent4>
    <a:accent5>
      <a:srgbClr val="DCDCDC"/>
    </a:accent5>
    <a:accent6>
      <a:srgbClr val="878787"/>
    </a:accent6>
    <a:hlink>
      <a:srgbClr val="777777"/>
    </a:hlink>
    <a:folHlink>
      <a:srgbClr val="4D4D4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RC_standard_grey</Template>
  <TotalTime>11247</TotalTime>
  <Words>3330</Words>
  <Application>Microsoft Office PowerPoint</Application>
  <PresentationFormat>On-screen Show (4:3)</PresentationFormat>
  <Paragraphs>479</Paragraphs>
  <Slides>45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9" baseType="lpstr">
      <vt:lpstr>ＭＳ Ｐゴシック</vt:lpstr>
      <vt:lpstr>Aharoni</vt:lpstr>
      <vt:lpstr>Arial</vt:lpstr>
      <vt:lpstr>Arial Black</vt:lpstr>
      <vt:lpstr>Calibri</vt:lpstr>
      <vt:lpstr>Cambria Math</vt:lpstr>
      <vt:lpstr>Century Gothic</vt:lpstr>
      <vt:lpstr>Lucida Console</vt:lpstr>
      <vt:lpstr>Times New Roman</vt:lpstr>
      <vt:lpstr>Tw Cen MT</vt:lpstr>
      <vt:lpstr>Verdana</vt:lpstr>
      <vt:lpstr>RC_standard_grey</vt:lpstr>
      <vt:lpstr>RC_presentation_terra_cotta</vt:lpstr>
      <vt:lpstr>VISIO</vt:lpstr>
      <vt:lpstr>Formal Methods and Safety Analysis </vt:lpstr>
      <vt:lpstr>Formal Methods in Model-based Engineering</vt:lpstr>
      <vt:lpstr>Wheel Brake System : Preliminary System Diagram</vt:lpstr>
      <vt:lpstr>Modeling the System</vt:lpstr>
      <vt:lpstr>A Simple Model of the System</vt:lpstr>
      <vt:lpstr>Considerations for Formal Methods</vt:lpstr>
      <vt:lpstr>Requirement Specification</vt:lpstr>
      <vt:lpstr>A Simple Model of the System</vt:lpstr>
      <vt:lpstr>A Simple Model of the System</vt:lpstr>
      <vt:lpstr>PowerPoint Presentation</vt:lpstr>
      <vt:lpstr>Considerations for Formal Methods</vt:lpstr>
      <vt:lpstr>Are the results sound?</vt:lpstr>
      <vt:lpstr>Considerations for Formal Methods</vt:lpstr>
      <vt:lpstr>Assumptions: Constrain the Environment</vt:lpstr>
      <vt:lpstr>Iterations of the Process Throughout Development</vt:lpstr>
      <vt:lpstr>Model-based Safety Assessment Process</vt:lpstr>
      <vt:lpstr>PowerPoint Presentation</vt:lpstr>
      <vt:lpstr>Architecture Analysis and Design Language (AADL)</vt:lpstr>
      <vt:lpstr>Architecture Modeling and Analysis Tools</vt:lpstr>
      <vt:lpstr>AGREE: Assume Guarantee Reasoning Environment</vt:lpstr>
      <vt:lpstr>Safety Annex for AADL </vt:lpstr>
      <vt:lpstr>Safety Annex </vt:lpstr>
      <vt:lpstr>Behavioral Failure Propagation</vt:lpstr>
      <vt:lpstr>MBSA Steps: WBS and AADL/AGREE/Safety Annex</vt:lpstr>
      <vt:lpstr>System Architecture in AADL</vt:lpstr>
      <vt:lpstr>MBSA Steps: WBS and AADL/AGREE/Safety Annex</vt:lpstr>
      <vt:lpstr>Top Level Safety Properties</vt:lpstr>
      <vt:lpstr>Top Level Safety Properties</vt:lpstr>
      <vt:lpstr>Nominal Model Analysis Output</vt:lpstr>
      <vt:lpstr>MBSA Steps: WBS and AADL/AGREE/Safety Annex</vt:lpstr>
      <vt:lpstr>Defining Faults on Component Outputs</vt:lpstr>
      <vt:lpstr>A Fault Definition</vt:lpstr>
      <vt:lpstr>Fault Node Definition</vt:lpstr>
      <vt:lpstr>MBSA Steps: WBS and AADL/AGREE/Safety Annex</vt:lpstr>
      <vt:lpstr>Specify Fault Hypothesis Statement</vt:lpstr>
      <vt:lpstr>MBSA Steps: WBS and AADL/AGREE/Safety Annex</vt:lpstr>
      <vt:lpstr>Analysis Results</vt:lpstr>
      <vt:lpstr>Counterexample View</vt:lpstr>
      <vt:lpstr>MBSA Steps: WBS and AADL/AGREE/Safety Annex</vt:lpstr>
      <vt:lpstr>Safety Annex Approach</vt:lpstr>
      <vt:lpstr>MBSA Steps: WBS and AADL/AGREE/Safety Annex</vt:lpstr>
      <vt:lpstr>Design Change Option</vt:lpstr>
      <vt:lpstr>Results of Design Change</vt:lpstr>
      <vt:lpstr>Summary</vt:lpstr>
      <vt:lpstr>Questions?</vt:lpstr>
    </vt:vector>
  </TitlesOfParts>
  <Company>Rockwell Collins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ddcofer</dc:creator>
  <cp:lastModifiedBy>Danielle Stewart</cp:lastModifiedBy>
  <cp:revision>751</cp:revision>
  <cp:lastPrinted>2015-07-31T15:07:47Z</cp:lastPrinted>
  <dcterms:created xsi:type="dcterms:W3CDTF">2012-01-31T16:19:15Z</dcterms:created>
  <dcterms:modified xsi:type="dcterms:W3CDTF">2020-07-09T16:38:16Z</dcterms:modified>
</cp:coreProperties>
</file>